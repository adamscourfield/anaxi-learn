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7"/>
  </p:notesMasterIdLst>
  <p:sldIdLst>
    <p:sldId id="313" r:id="rId5"/>
    <p:sldId id="2771" r:id="rId6"/>
    <p:sldId id="2772" r:id="rId7"/>
    <p:sldId id="356" r:id="rId8"/>
    <p:sldId id="372" r:id="rId9"/>
    <p:sldId id="314" r:id="rId10"/>
    <p:sldId id="357" r:id="rId11"/>
    <p:sldId id="358" r:id="rId12"/>
    <p:sldId id="373" r:id="rId13"/>
    <p:sldId id="2773" r:id="rId14"/>
    <p:sldId id="2753" r:id="rId15"/>
    <p:sldId id="2774" r:id="rId16"/>
  </p:sldIdLst>
  <p:sldSz cx="6858000" cy="9906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98" autoAdjust="0"/>
    <p:restoredTop sz="94660"/>
  </p:normalViewPr>
  <p:slideViewPr>
    <p:cSldViewPr snapToGrid="0">
      <p:cViewPr varScale="1">
        <p:scale>
          <a:sx n="77" d="100"/>
          <a:sy n="77" d="100"/>
        </p:scale>
        <p:origin x="325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Brown (Astrea Central)" userId="e4577f1c-a0ea-4eef-9851-9bdbe8619e58" providerId="ADAL" clId="{9579784B-B82A-460D-B442-9F71D125919D}"/>
    <pc:docChg chg="delSld">
      <pc:chgData name="Adam Brown (Astrea Central)" userId="e4577f1c-a0ea-4eef-9851-9bdbe8619e58" providerId="ADAL" clId="{9579784B-B82A-460D-B442-9F71D125919D}" dt="2025-08-06T14:29:40.545" v="0" actId="47"/>
      <pc:docMkLst>
        <pc:docMk/>
      </pc:docMkLst>
      <pc:sldChg chg="del">
        <pc:chgData name="Adam Brown (Astrea Central)" userId="e4577f1c-a0ea-4eef-9851-9bdbe8619e58" providerId="ADAL" clId="{9579784B-B82A-460D-B442-9F71D125919D}" dt="2025-08-06T14:29:40.545" v="0" actId="47"/>
        <pc:sldMkLst>
          <pc:docMk/>
          <pc:sldMk cId="2420724009" sldId="257"/>
        </pc:sldMkLst>
      </pc:sldChg>
      <pc:sldChg chg="del">
        <pc:chgData name="Adam Brown (Astrea Central)" userId="e4577f1c-a0ea-4eef-9851-9bdbe8619e58" providerId="ADAL" clId="{9579784B-B82A-460D-B442-9F71D125919D}" dt="2025-08-06T14:29:40.545" v="0" actId="47"/>
        <pc:sldMkLst>
          <pc:docMk/>
          <pc:sldMk cId="1005434100" sldId="258"/>
        </pc:sldMkLst>
      </pc:sldChg>
      <pc:sldChg chg="del">
        <pc:chgData name="Adam Brown (Astrea Central)" userId="e4577f1c-a0ea-4eef-9851-9bdbe8619e58" providerId="ADAL" clId="{9579784B-B82A-460D-B442-9F71D125919D}" dt="2025-08-06T14:29:40.545" v="0" actId="47"/>
        <pc:sldMkLst>
          <pc:docMk/>
          <pc:sldMk cId="171837948" sldId="264"/>
        </pc:sldMkLst>
      </pc:sldChg>
      <pc:sldChg chg="del">
        <pc:chgData name="Adam Brown (Astrea Central)" userId="e4577f1c-a0ea-4eef-9851-9bdbe8619e58" providerId="ADAL" clId="{9579784B-B82A-460D-B442-9F71D125919D}" dt="2025-08-06T14:29:40.545" v="0" actId="47"/>
        <pc:sldMkLst>
          <pc:docMk/>
          <pc:sldMk cId="1580091344" sldId="265"/>
        </pc:sldMkLst>
      </pc:sldChg>
      <pc:sldChg chg="del">
        <pc:chgData name="Adam Brown (Astrea Central)" userId="e4577f1c-a0ea-4eef-9851-9bdbe8619e58" providerId="ADAL" clId="{9579784B-B82A-460D-B442-9F71D125919D}" dt="2025-08-06T14:29:40.545" v="0" actId="47"/>
        <pc:sldMkLst>
          <pc:docMk/>
          <pc:sldMk cId="2414722630" sldId="266"/>
        </pc:sldMkLst>
      </pc:sldChg>
      <pc:sldChg chg="del">
        <pc:chgData name="Adam Brown (Astrea Central)" userId="e4577f1c-a0ea-4eef-9851-9bdbe8619e58" providerId="ADAL" clId="{9579784B-B82A-460D-B442-9F71D125919D}" dt="2025-08-06T14:29:40.545" v="0" actId="47"/>
        <pc:sldMkLst>
          <pc:docMk/>
          <pc:sldMk cId="3426703939" sldId="267"/>
        </pc:sldMkLst>
      </pc:sldChg>
      <pc:sldChg chg="del">
        <pc:chgData name="Adam Brown (Astrea Central)" userId="e4577f1c-a0ea-4eef-9851-9bdbe8619e58" providerId="ADAL" clId="{9579784B-B82A-460D-B442-9F71D125919D}" dt="2025-08-06T14:29:40.545" v="0" actId="47"/>
        <pc:sldMkLst>
          <pc:docMk/>
          <pc:sldMk cId="937638385" sldId="268"/>
        </pc:sldMkLst>
      </pc:sldChg>
      <pc:sldChg chg="del">
        <pc:chgData name="Adam Brown (Astrea Central)" userId="e4577f1c-a0ea-4eef-9851-9bdbe8619e58" providerId="ADAL" clId="{9579784B-B82A-460D-B442-9F71D125919D}" dt="2025-08-06T14:29:40.545" v="0" actId="47"/>
        <pc:sldMkLst>
          <pc:docMk/>
          <pc:sldMk cId="2931845994" sldId="269"/>
        </pc:sldMkLst>
      </pc:sldChg>
      <pc:sldChg chg="del">
        <pc:chgData name="Adam Brown (Astrea Central)" userId="e4577f1c-a0ea-4eef-9851-9bdbe8619e58" providerId="ADAL" clId="{9579784B-B82A-460D-B442-9F71D125919D}" dt="2025-08-06T14:29:40.545" v="0" actId="47"/>
        <pc:sldMkLst>
          <pc:docMk/>
          <pc:sldMk cId="57951128" sldId="277"/>
        </pc:sldMkLst>
      </pc:sldChg>
      <pc:sldChg chg="del">
        <pc:chgData name="Adam Brown (Astrea Central)" userId="e4577f1c-a0ea-4eef-9851-9bdbe8619e58" providerId="ADAL" clId="{9579784B-B82A-460D-B442-9F71D125919D}" dt="2025-08-06T14:29:40.545" v="0" actId="47"/>
        <pc:sldMkLst>
          <pc:docMk/>
          <pc:sldMk cId="2917533864" sldId="286"/>
        </pc:sldMkLst>
      </pc:sldChg>
      <pc:sldChg chg="del">
        <pc:chgData name="Adam Brown (Astrea Central)" userId="e4577f1c-a0ea-4eef-9851-9bdbe8619e58" providerId="ADAL" clId="{9579784B-B82A-460D-B442-9F71D125919D}" dt="2025-08-06T14:29:40.545" v="0" actId="47"/>
        <pc:sldMkLst>
          <pc:docMk/>
          <pc:sldMk cId="1859692058" sldId="287"/>
        </pc:sldMkLst>
      </pc:sldChg>
      <pc:sldChg chg="del">
        <pc:chgData name="Adam Brown (Astrea Central)" userId="e4577f1c-a0ea-4eef-9851-9bdbe8619e58" providerId="ADAL" clId="{9579784B-B82A-460D-B442-9F71D125919D}" dt="2025-08-06T14:29:40.545" v="0" actId="47"/>
        <pc:sldMkLst>
          <pc:docMk/>
          <pc:sldMk cId="1926886564" sldId="288"/>
        </pc:sldMkLst>
      </pc:sldChg>
      <pc:sldChg chg="del">
        <pc:chgData name="Adam Brown (Astrea Central)" userId="e4577f1c-a0ea-4eef-9851-9bdbe8619e58" providerId="ADAL" clId="{9579784B-B82A-460D-B442-9F71D125919D}" dt="2025-08-06T14:29:40.545" v="0" actId="47"/>
        <pc:sldMkLst>
          <pc:docMk/>
          <pc:sldMk cId="1337681295" sldId="289"/>
        </pc:sldMkLst>
      </pc:sldChg>
      <pc:sldChg chg="del">
        <pc:chgData name="Adam Brown (Astrea Central)" userId="e4577f1c-a0ea-4eef-9851-9bdbe8619e58" providerId="ADAL" clId="{9579784B-B82A-460D-B442-9F71D125919D}" dt="2025-08-06T14:29:40.545" v="0" actId="47"/>
        <pc:sldMkLst>
          <pc:docMk/>
          <pc:sldMk cId="2141734747" sldId="290"/>
        </pc:sldMkLst>
      </pc:sldChg>
      <pc:sldChg chg="del">
        <pc:chgData name="Adam Brown (Astrea Central)" userId="e4577f1c-a0ea-4eef-9851-9bdbe8619e58" providerId="ADAL" clId="{9579784B-B82A-460D-B442-9F71D125919D}" dt="2025-08-06T14:29:40.545" v="0" actId="47"/>
        <pc:sldMkLst>
          <pc:docMk/>
          <pc:sldMk cId="3777180378" sldId="291"/>
        </pc:sldMkLst>
      </pc:sldChg>
      <pc:sldChg chg="del">
        <pc:chgData name="Adam Brown (Astrea Central)" userId="e4577f1c-a0ea-4eef-9851-9bdbe8619e58" providerId="ADAL" clId="{9579784B-B82A-460D-B442-9F71D125919D}" dt="2025-08-06T14:29:40.545" v="0" actId="47"/>
        <pc:sldMkLst>
          <pc:docMk/>
          <pc:sldMk cId="706008046" sldId="292"/>
        </pc:sldMkLst>
      </pc:sldChg>
      <pc:sldChg chg="del">
        <pc:chgData name="Adam Brown (Astrea Central)" userId="e4577f1c-a0ea-4eef-9851-9bdbe8619e58" providerId="ADAL" clId="{9579784B-B82A-460D-B442-9F71D125919D}" dt="2025-08-06T14:29:40.545" v="0" actId="47"/>
        <pc:sldMkLst>
          <pc:docMk/>
          <pc:sldMk cId="2905413640" sldId="293"/>
        </pc:sldMkLst>
      </pc:sldChg>
      <pc:sldChg chg="del">
        <pc:chgData name="Adam Brown (Astrea Central)" userId="e4577f1c-a0ea-4eef-9851-9bdbe8619e58" providerId="ADAL" clId="{9579784B-B82A-460D-B442-9F71D125919D}" dt="2025-08-06T14:29:40.545" v="0" actId="47"/>
        <pc:sldMkLst>
          <pc:docMk/>
          <pc:sldMk cId="2324741368" sldId="294"/>
        </pc:sldMkLst>
      </pc:sldChg>
      <pc:sldChg chg="del">
        <pc:chgData name="Adam Brown (Astrea Central)" userId="e4577f1c-a0ea-4eef-9851-9bdbe8619e58" providerId="ADAL" clId="{9579784B-B82A-460D-B442-9F71D125919D}" dt="2025-08-06T14:29:40.545" v="0" actId="47"/>
        <pc:sldMkLst>
          <pc:docMk/>
          <pc:sldMk cId="92328800" sldId="296"/>
        </pc:sldMkLst>
      </pc:sldChg>
      <pc:sldChg chg="del">
        <pc:chgData name="Adam Brown (Astrea Central)" userId="e4577f1c-a0ea-4eef-9851-9bdbe8619e58" providerId="ADAL" clId="{9579784B-B82A-460D-B442-9F71D125919D}" dt="2025-08-06T14:29:40.545" v="0" actId="47"/>
        <pc:sldMkLst>
          <pc:docMk/>
          <pc:sldMk cId="2815565918" sldId="303"/>
        </pc:sldMkLst>
      </pc:sldChg>
      <pc:sldChg chg="del">
        <pc:chgData name="Adam Brown (Astrea Central)" userId="e4577f1c-a0ea-4eef-9851-9bdbe8619e58" providerId="ADAL" clId="{9579784B-B82A-460D-B442-9F71D125919D}" dt="2025-08-06T14:29:40.545" v="0" actId="47"/>
        <pc:sldMkLst>
          <pc:docMk/>
          <pc:sldMk cId="826102320" sldId="322"/>
        </pc:sldMkLst>
      </pc:sldChg>
      <pc:sldChg chg="del">
        <pc:chgData name="Adam Brown (Astrea Central)" userId="e4577f1c-a0ea-4eef-9851-9bdbe8619e58" providerId="ADAL" clId="{9579784B-B82A-460D-B442-9F71D125919D}" dt="2025-08-06T14:29:40.545" v="0" actId="47"/>
        <pc:sldMkLst>
          <pc:docMk/>
          <pc:sldMk cId="2304709194" sldId="323"/>
        </pc:sldMkLst>
      </pc:sldChg>
      <pc:sldChg chg="del">
        <pc:chgData name="Adam Brown (Astrea Central)" userId="e4577f1c-a0ea-4eef-9851-9bdbe8619e58" providerId="ADAL" clId="{9579784B-B82A-460D-B442-9F71D125919D}" dt="2025-08-06T14:29:40.545" v="0" actId="47"/>
        <pc:sldMkLst>
          <pc:docMk/>
          <pc:sldMk cId="969948017" sldId="324"/>
        </pc:sldMkLst>
      </pc:sldChg>
      <pc:sldChg chg="del">
        <pc:chgData name="Adam Brown (Astrea Central)" userId="e4577f1c-a0ea-4eef-9851-9bdbe8619e58" providerId="ADAL" clId="{9579784B-B82A-460D-B442-9F71D125919D}" dt="2025-08-06T14:29:40.545" v="0" actId="47"/>
        <pc:sldMkLst>
          <pc:docMk/>
          <pc:sldMk cId="4032890790" sldId="325"/>
        </pc:sldMkLst>
      </pc:sldChg>
      <pc:sldChg chg="del">
        <pc:chgData name="Adam Brown (Astrea Central)" userId="e4577f1c-a0ea-4eef-9851-9bdbe8619e58" providerId="ADAL" clId="{9579784B-B82A-460D-B442-9F71D125919D}" dt="2025-08-06T14:29:40.545" v="0" actId="47"/>
        <pc:sldMkLst>
          <pc:docMk/>
          <pc:sldMk cId="2502521823" sldId="326"/>
        </pc:sldMkLst>
      </pc:sldChg>
      <pc:sldChg chg="del">
        <pc:chgData name="Adam Brown (Astrea Central)" userId="e4577f1c-a0ea-4eef-9851-9bdbe8619e58" providerId="ADAL" clId="{9579784B-B82A-460D-B442-9F71D125919D}" dt="2025-08-06T14:29:40.545" v="0" actId="47"/>
        <pc:sldMkLst>
          <pc:docMk/>
          <pc:sldMk cId="3767051523" sldId="327"/>
        </pc:sldMkLst>
      </pc:sldChg>
      <pc:sldChg chg="del">
        <pc:chgData name="Adam Brown (Astrea Central)" userId="e4577f1c-a0ea-4eef-9851-9bdbe8619e58" providerId="ADAL" clId="{9579784B-B82A-460D-B442-9F71D125919D}" dt="2025-08-06T14:29:40.545" v="0" actId="47"/>
        <pc:sldMkLst>
          <pc:docMk/>
          <pc:sldMk cId="4281584568" sldId="328"/>
        </pc:sldMkLst>
      </pc:sldChg>
      <pc:sldChg chg="del">
        <pc:chgData name="Adam Brown (Astrea Central)" userId="e4577f1c-a0ea-4eef-9851-9bdbe8619e58" providerId="ADAL" clId="{9579784B-B82A-460D-B442-9F71D125919D}" dt="2025-08-06T14:29:40.545" v="0" actId="47"/>
        <pc:sldMkLst>
          <pc:docMk/>
          <pc:sldMk cId="2219975397" sldId="329"/>
        </pc:sldMkLst>
      </pc:sldChg>
      <pc:sldChg chg="del">
        <pc:chgData name="Adam Brown (Astrea Central)" userId="e4577f1c-a0ea-4eef-9851-9bdbe8619e58" providerId="ADAL" clId="{9579784B-B82A-460D-B442-9F71D125919D}" dt="2025-08-06T14:29:40.545" v="0" actId="47"/>
        <pc:sldMkLst>
          <pc:docMk/>
          <pc:sldMk cId="2599370368" sldId="330"/>
        </pc:sldMkLst>
      </pc:sldChg>
      <pc:sldChg chg="del">
        <pc:chgData name="Adam Brown (Astrea Central)" userId="e4577f1c-a0ea-4eef-9851-9bdbe8619e58" providerId="ADAL" clId="{9579784B-B82A-460D-B442-9F71D125919D}" dt="2025-08-06T14:29:40.545" v="0" actId="47"/>
        <pc:sldMkLst>
          <pc:docMk/>
          <pc:sldMk cId="962353856" sldId="331"/>
        </pc:sldMkLst>
      </pc:sldChg>
      <pc:sldChg chg="del">
        <pc:chgData name="Adam Brown (Astrea Central)" userId="e4577f1c-a0ea-4eef-9851-9bdbe8619e58" providerId="ADAL" clId="{9579784B-B82A-460D-B442-9F71D125919D}" dt="2025-08-06T14:29:40.545" v="0" actId="47"/>
        <pc:sldMkLst>
          <pc:docMk/>
          <pc:sldMk cId="1908346100" sldId="334"/>
        </pc:sldMkLst>
      </pc:sldChg>
      <pc:sldChg chg="del">
        <pc:chgData name="Adam Brown (Astrea Central)" userId="e4577f1c-a0ea-4eef-9851-9bdbe8619e58" providerId="ADAL" clId="{9579784B-B82A-460D-B442-9F71D125919D}" dt="2025-08-06T14:29:40.545" v="0" actId="47"/>
        <pc:sldMkLst>
          <pc:docMk/>
          <pc:sldMk cId="3525067124" sldId="335"/>
        </pc:sldMkLst>
      </pc:sldChg>
      <pc:sldChg chg="del">
        <pc:chgData name="Adam Brown (Astrea Central)" userId="e4577f1c-a0ea-4eef-9851-9bdbe8619e58" providerId="ADAL" clId="{9579784B-B82A-460D-B442-9F71D125919D}" dt="2025-08-06T14:29:40.545" v="0" actId="47"/>
        <pc:sldMkLst>
          <pc:docMk/>
          <pc:sldMk cId="724810248" sldId="336"/>
        </pc:sldMkLst>
      </pc:sldChg>
      <pc:sldChg chg="del">
        <pc:chgData name="Adam Brown (Astrea Central)" userId="e4577f1c-a0ea-4eef-9851-9bdbe8619e58" providerId="ADAL" clId="{9579784B-B82A-460D-B442-9F71D125919D}" dt="2025-08-06T14:29:40.545" v="0" actId="47"/>
        <pc:sldMkLst>
          <pc:docMk/>
          <pc:sldMk cId="1629160325" sldId="344"/>
        </pc:sldMkLst>
      </pc:sldChg>
      <pc:sldChg chg="del">
        <pc:chgData name="Adam Brown (Astrea Central)" userId="e4577f1c-a0ea-4eef-9851-9bdbe8619e58" providerId="ADAL" clId="{9579784B-B82A-460D-B442-9F71D125919D}" dt="2025-08-06T14:29:40.545" v="0" actId="47"/>
        <pc:sldMkLst>
          <pc:docMk/>
          <pc:sldMk cId="4174300119" sldId="345"/>
        </pc:sldMkLst>
      </pc:sldChg>
      <pc:sldChg chg="del">
        <pc:chgData name="Adam Brown (Astrea Central)" userId="e4577f1c-a0ea-4eef-9851-9bdbe8619e58" providerId="ADAL" clId="{9579784B-B82A-460D-B442-9F71D125919D}" dt="2025-08-06T14:29:40.545" v="0" actId="47"/>
        <pc:sldMkLst>
          <pc:docMk/>
          <pc:sldMk cId="329431369" sldId="346"/>
        </pc:sldMkLst>
      </pc:sldChg>
      <pc:sldChg chg="del">
        <pc:chgData name="Adam Brown (Astrea Central)" userId="e4577f1c-a0ea-4eef-9851-9bdbe8619e58" providerId="ADAL" clId="{9579784B-B82A-460D-B442-9F71D125919D}" dt="2025-08-06T14:29:40.545" v="0" actId="47"/>
        <pc:sldMkLst>
          <pc:docMk/>
          <pc:sldMk cId="542520032" sldId="347"/>
        </pc:sldMkLst>
      </pc:sldChg>
      <pc:sldChg chg="del">
        <pc:chgData name="Adam Brown (Astrea Central)" userId="e4577f1c-a0ea-4eef-9851-9bdbe8619e58" providerId="ADAL" clId="{9579784B-B82A-460D-B442-9F71D125919D}" dt="2025-08-06T14:29:40.545" v="0" actId="47"/>
        <pc:sldMkLst>
          <pc:docMk/>
          <pc:sldMk cId="1042596037" sldId="348"/>
        </pc:sldMkLst>
      </pc:sldChg>
      <pc:sldChg chg="del">
        <pc:chgData name="Adam Brown (Astrea Central)" userId="e4577f1c-a0ea-4eef-9851-9bdbe8619e58" providerId="ADAL" clId="{9579784B-B82A-460D-B442-9F71D125919D}" dt="2025-08-06T14:29:40.545" v="0" actId="47"/>
        <pc:sldMkLst>
          <pc:docMk/>
          <pc:sldMk cId="3186429579" sldId="349"/>
        </pc:sldMkLst>
      </pc:sldChg>
      <pc:sldChg chg="del">
        <pc:chgData name="Adam Brown (Astrea Central)" userId="e4577f1c-a0ea-4eef-9851-9bdbe8619e58" providerId="ADAL" clId="{9579784B-B82A-460D-B442-9F71D125919D}" dt="2025-08-06T14:29:40.545" v="0" actId="47"/>
        <pc:sldMkLst>
          <pc:docMk/>
          <pc:sldMk cId="1856237109" sldId="350"/>
        </pc:sldMkLst>
      </pc:sldChg>
      <pc:sldChg chg="del">
        <pc:chgData name="Adam Brown (Astrea Central)" userId="e4577f1c-a0ea-4eef-9851-9bdbe8619e58" providerId="ADAL" clId="{9579784B-B82A-460D-B442-9F71D125919D}" dt="2025-08-06T14:29:40.545" v="0" actId="47"/>
        <pc:sldMkLst>
          <pc:docMk/>
          <pc:sldMk cId="1190930630" sldId="353"/>
        </pc:sldMkLst>
      </pc:sldChg>
      <pc:sldChg chg="del">
        <pc:chgData name="Adam Brown (Astrea Central)" userId="e4577f1c-a0ea-4eef-9851-9bdbe8619e58" providerId="ADAL" clId="{9579784B-B82A-460D-B442-9F71D125919D}" dt="2025-08-06T14:29:40.545" v="0" actId="47"/>
        <pc:sldMkLst>
          <pc:docMk/>
          <pc:sldMk cId="4096746058" sldId="355"/>
        </pc:sldMkLst>
      </pc:sldChg>
      <pc:sldChg chg="del">
        <pc:chgData name="Adam Brown (Astrea Central)" userId="e4577f1c-a0ea-4eef-9851-9bdbe8619e58" providerId="ADAL" clId="{9579784B-B82A-460D-B442-9F71D125919D}" dt="2025-08-06T14:29:40.545" v="0" actId="47"/>
        <pc:sldMkLst>
          <pc:docMk/>
          <pc:sldMk cId="4144469883" sldId="374"/>
        </pc:sldMkLst>
      </pc:sldChg>
      <pc:sldChg chg="del">
        <pc:chgData name="Adam Brown (Astrea Central)" userId="e4577f1c-a0ea-4eef-9851-9bdbe8619e58" providerId="ADAL" clId="{9579784B-B82A-460D-B442-9F71D125919D}" dt="2025-08-06T14:29:40.545" v="0" actId="47"/>
        <pc:sldMkLst>
          <pc:docMk/>
          <pc:sldMk cId="1627169086" sldId="375"/>
        </pc:sldMkLst>
      </pc:sldChg>
      <pc:sldChg chg="del">
        <pc:chgData name="Adam Brown (Astrea Central)" userId="e4577f1c-a0ea-4eef-9851-9bdbe8619e58" providerId="ADAL" clId="{9579784B-B82A-460D-B442-9F71D125919D}" dt="2025-08-06T14:29:40.545" v="0" actId="47"/>
        <pc:sldMkLst>
          <pc:docMk/>
          <pc:sldMk cId="3692886486" sldId="376"/>
        </pc:sldMkLst>
      </pc:sldChg>
      <pc:sldChg chg="del">
        <pc:chgData name="Adam Brown (Astrea Central)" userId="e4577f1c-a0ea-4eef-9851-9bdbe8619e58" providerId="ADAL" clId="{9579784B-B82A-460D-B442-9F71D125919D}" dt="2025-08-06T14:29:40.545" v="0" actId="47"/>
        <pc:sldMkLst>
          <pc:docMk/>
          <pc:sldMk cId="508847688" sldId="377"/>
        </pc:sldMkLst>
      </pc:sldChg>
      <pc:sldChg chg="del">
        <pc:chgData name="Adam Brown (Astrea Central)" userId="e4577f1c-a0ea-4eef-9851-9bdbe8619e58" providerId="ADAL" clId="{9579784B-B82A-460D-B442-9F71D125919D}" dt="2025-08-06T14:29:40.545" v="0" actId="47"/>
        <pc:sldMkLst>
          <pc:docMk/>
          <pc:sldMk cId="688274044" sldId="378"/>
        </pc:sldMkLst>
      </pc:sldChg>
      <pc:sldChg chg="del">
        <pc:chgData name="Adam Brown (Astrea Central)" userId="e4577f1c-a0ea-4eef-9851-9bdbe8619e58" providerId="ADAL" clId="{9579784B-B82A-460D-B442-9F71D125919D}" dt="2025-08-06T14:29:40.545" v="0" actId="47"/>
        <pc:sldMkLst>
          <pc:docMk/>
          <pc:sldMk cId="421593374" sldId="379"/>
        </pc:sldMkLst>
      </pc:sldChg>
      <pc:sldChg chg="del">
        <pc:chgData name="Adam Brown (Astrea Central)" userId="e4577f1c-a0ea-4eef-9851-9bdbe8619e58" providerId="ADAL" clId="{9579784B-B82A-460D-B442-9F71D125919D}" dt="2025-08-06T14:29:40.545" v="0" actId="47"/>
        <pc:sldMkLst>
          <pc:docMk/>
          <pc:sldMk cId="2538578330" sldId="2719"/>
        </pc:sldMkLst>
      </pc:sldChg>
      <pc:sldChg chg="del">
        <pc:chgData name="Adam Brown (Astrea Central)" userId="e4577f1c-a0ea-4eef-9851-9bdbe8619e58" providerId="ADAL" clId="{9579784B-B82A-460D-B442-9F71D125919D}" dt="2025-08-06T14:29:40.545" v="0" actId="47"/>
        <pc:sldMkLst>
          <pc:docMk/>
          <pc:sldMk cId="1813454950" sldId="2720"/>
        </pc:sldMkLst>
      </pc:sldChg>
      <pc:sldChg chg="del">
        <pc:chgData name="Adam Brown (Astrea Central)" userId="e4577f1c-a0ea-4eef-9851-9bdbe8619e58" providerId="ADAL" clId="{9579784B-B82A-460D-B442-9F71D125919D}" dt="2025-08-06T14:29:40.545" v="0" actId="47"/>
        <pc:sldMkLst>
          <pc:docMk/>
          <pc:sldMk cId="3422141095" sldId="2721"/>
        </pc:sldMkLst>
      </pc:sldChg>
      <pc:sldChg chg="del">
        <pc:chgData name="Adam Brown (Astrea Central)" userId="e4577f1c-a0ea-4eef-9851-9bdbe8619e58" providerId="ADAL" clId="{9579784B-B82A-460D-B442-9F71D125919D}" dt="2025-08-06T14:29:40.545" v="0" actId="47"/>
        <pc:sldMkLst>
          <pc:docMk/>
          <pc:sldMk cId="905767127" sldId="2722"/>
        </pc:sldMkLst>
      </pc:sldChg>
      <pc:sldChg chg="del">
        <pc:chgData name="Adam Brown (Astrea Central)" userId="e4577f1c-a0ea-4eef-9851-9bdbe8619e58" providerId="ADAL" clId="{9579784B-B82A-460D-B442-9F71D125919D}" dt="2025-08-06T14:29:40.545" v="0" actId="47"/>
        <pc:sldMkLst>
          <pc:docMk/>
          <pc:sldMk cId="509849628" sldId="2723"/>
        </pc:sldMkLst>
      </pc:sldChg>
      <pc:sldChg chg="del">
        <pc:chgData name="Adam Brown (Astrea Central)" userId="e4577f1c-a0ea-4eef-9851-9bdbe8619e58" providerId="ADAL" clId="{9579784B-B82A-460D-B442-9F71D125919D}" dt="2025-08-06T14:29:40.545" v="0" actId="47"/>
        <pc:sldMkLst>
          <pc:docMk/>
          <pc:sldMk cId="675915942" sldId="2724"/>
        </pc:sldMkLst>
      </pc:sldChg>
      <pc:sldChg chg="del">
        <pc:chgData name="Adam Brown (Astrea Central)" userId="e4577f1c-a0ea-4eef-9851-9bdbe8619e58" providerId="ADAL" clId="{9579784B-B82A-460D-B442-9F71D125919D}" dt="2025-08-06T14:29:40.545" v="0" actId="47"/>
        <pc:sldMkLst>
          <pc:docMk/>
          <pc:sldMk cId="1096353866" sldId="2725"/>
        </pc:sldMkLst>
      </pc:sldChg>
      <pc:sldChg chg="del">
        <pc:chgData name="Adam Brown (Astrea Central)" userId="e4577f1c-a0ea-4eef-9851-9bdbe8619e58" providerId="ADAL" clId="{9579784B-B82A-460D-B442-9F71D125919D}" dt="2025-08-06T14:29:40.545" v="0" actId="47"/>
        <pc:sldMkLst>
          <pc:docMk/>
          <pc:sldMk cId="240355490" sldId="2726"/>
        </pc:sldMkLst>
      </pc:sldChg>
      <pc:sldChg chg="del">
        <pc:chgData name="Adam Brown (Astrea Central)" userId="e4577f1c-a0ea-4eef-9851-9bdbe8619e58" providerId="ADAL" clId="{9579784B-B82A-460D-B442-9F71D125919D}" dt="2025-08-06T14:29:40.545" v="0" actId="47"/>
        <pc:sldMkLst>
          <pc:docMk/>
          <pc:sldMk cId="967788092" sldId="2727"/>
        </pc:sldMkLst>
      </pc:sldChg>
      <pc:sldChg chg="del">
        <pc:chgData name="Adam Brown (Astrea Central)" userId="e4577f1c-a0ea-4eef-9851-9bdbe8619e58" providerId="ADAL" clId="{9579784B-B82A-460D-B442-9F71D125919D}" dt="2025-08-06T14:29:40.545" v="0" actId="47"/>
        <pc:sldMkLst>
          <pc:docMk/>
          <pc:sldMk cId="933153135" sldId="2728"/>
        </pc:sldMkLst>
      </pc:sldChg>
      <pc:sldChg chg="del">
        <pc:chgData name="Adam Brown (Astrea Central)" userId="e4577f1c-a0ea-4eef-9851-9bdbe8619e58" providerId="ADAL" clId="{9579784B-B82A-460D-B442-9F71D125919D}" dt="2025-08-06T14:29:40.545" v="0" actId="47"/>
        <pc:sldMkLst>
          <pc:docMk/>
          <pc:sldMk cId="1290489478" sldId="2729"/>
        </pc:sldMkLst>
      </pc:sldChg>
      <pc:sldChg chg="del">
        <pc:chgData name="Adam Brown (Astrea Central)" userId="e4577f1c-a0ea-4eef-9851-9bdbe8619e58" providerId="ADAL" clId="{9579784B-B82A-460D-B442-9F71D125919D}" dt="2025-08-06T14:29:40.545" v="0" actId="47"/>
        <pc:sldMkLst>
          <pc:docMk/>
          <pc:sldMk cId="759071522" sldId="2750"/>
        </pc:sldMkLst>
      </pc:sldChg>
      <pc:sldChg chg="del">
        <pc:chgData name="Adam Brown (Astrea Central)" userId="e4577f1c-a0ea-4eef-9851-9bdbe8619e58" providerId="ADAL" clId="{9579784B-B82A-460D-B442-9F71D125919D}" dt="2025-08-06T14:29:40.545" v="0" actId="47"/>
        <pc:sldMkLst>
          <pc:docMk/>
          <pc:sldMk cId="1546075972" sldId="2751"/>
        </pc:sldMkLst>
      </pc:sldChg>
      <pc:sldChg chg="del">
        <pc:chgData name="Adam Brown (Astrea Central)" userId="e4577f1c-a0ea-4eef-9851-9bdbe8619e58" providerId="ADAL" clId="{9579784B-B82A-460D-B442-9F71D125919D}" dt="2025-08-06T14:29:40.545" v="0" actId="47"/>
        <pc:sldMkLst>
          <pc:docMk/>
          <pc:sldMk cId="3552589205" sldId="2752"/>
        </pc:sldMkLst>
      </pc:sldChg>
      <pc:sldChg chg="del">
        <pc:chgData name="Adam Brown (Astrea Central)" userId="e4577f1c-a0ea-4eef-9851-9bdbe8619e58" providerId="ADAL" clId="{9579784B-B82A-460D-B442-9F71D125919D}" dt="2025-08-06T14:29:40.545" v="0" actId="47"/>
        <pc:sldMkLst>
          <pc:docMk/>
          <pc:sldMk cId="1389947671" sldId="2759"/>
        </pc:sldMkLst>
      </pc:sldChg>
      <pc:sldChg chg="del">
        <pc:chgData name="Adam Brown (Astrea Central)" userId="e4577f1c-a0ea-4eef-9851-9bdbe8619e58" providerId="ADAL" clId="{9579784B-B82A-460D-B442-9F71D125919D}" dt="2025-08-06T14:29:40.545" v="0" actId="47"/>
        <pc:sldMkLst>
          <pc:docMk/>
          <pc:sldMk cId="2290734628" sldId="2760"/>
        </pc:sldMkLst>
      </pc:sldChg>
      <pc:sldChg chg="del">
        <pc:chgData name="Adam Brown (Astrea Central)" userId="e4577f1c-a0ea-4eef-9851-9bdbe8619e58" providerId="ADAL" clId="{9579784B-B82A-460D-B442-9F71D125919D}" dt="2025-08-06T14:29:40.545" v="0" actId="47"/>
        <pc:sldMkLst>
          <pc:docMk/>
          <pc:sldMk cId="1729915234" sldId="2761"/>
        </pc:sldMkLst>
      </pc:sldChg>
      <pc:sldChg chg="del">
        <pc:chgData name="Adam Brown (Astrea Central)" userId="e4577f1c-a0ea-4eef-9851-9bdbe8619e58" providerId="ADAL" clId="{9579784B-B82A-460D-B442-9F71D125919D}" dt="2025-08-06T14:29:40.545" v="0" actId="47"/>
        <pc:sldMkLst>
          <pc:docMk/>
          <pc:sldMk cId="3135394857" sldId="2762"/>
        </pc:sldMkLst>
      </pc:sldChg>
      <pc:sldChg chg="del">
        <pc:chgData name="Adam Brown (Astrea Central)" userId="e4577f1c-a0ea-4eef-9851-9bdbe8619e58" providerId="ADAL" clId="{9579784B-B82A-460D-B442-9F71D125919D}" dt="2025-08-06T14:29:40.545" v="0" actId="47"/>
        <pc:sldMkLst>
          <pc:docMk/>
          <pc:sldMk cId="2000600415" sldId="2763"/>
        </pc:sldMkLst>
      </pc:sldChg>
      <pc:sldChg chg="del">
        <pc:chgData name="Adam Brown (Astrea Central)" userId="e4577f1c-a0ea-4eef-9851-9bdbe8619e58" providerId="ADAL" clId="{9579784B-B82A-460D-B442-9F71D125919D}" dt="2025-08-06T14:29:40.545" v="0" actId="47"/>
        <pc:sldMkLst>
          <pc:docMk/>
          <pc:sldMk cId="2547779968" sldId="2764"/>
        </pc:sldMkLst>
      </pc:sldChg>
      <pc:sldChg chg="del">
        <pc:chgData name="Adam Brown (Astrea Central)" userId="e4577f1c-a0ea-4eef-9851-9bdbe8619e58" providerId="ADAL" clId="{9579784B-B82A-460D-B442-9F71D125919D}" dt="2025-08-06T14:29:40.545" v="0" actId="47"/>
        <pc:sldMkLst>
          <pc:docMk/>
          <pc:sldMk cId="649580854" sldId="2765"/>
        </pc:sldMkLst>
      </pc:sldChg>
      <pc:sldChg chg="del">
        <pc:chgData name="Adam Brown (Astrea Central)" userId="e4577f1c-a0ea-4eef-9851-9bdbe8619e58" providerId="ADAL" clId="{9579784B-B82A-460D-B442-9F71D125919D}" dt="2025-08-06T14:29:40.545" v="0" actId="47"/>
        <pc:sldMkLst>
          <pc:docMk/>
          <pc:sldMk cId="2109098751" sldId="2766"/>
        </pc:sldMkLst>
      </pc:sldChg>
      <pc:sldChg chg="del">
        <pc:chgData name="Adam Brown (Astrea Central)" userId="e4577f1c-a0ea-4eef-9851-9bdbe8619e58" providerId="ADAL" clId="{9579784B-B82A-460D-B442-9F71D125919D}" dt="2025-08-06T14:29:40.545" v="0" actId="47"/>
        <pc:sldMkLst>
          <pc:docMk/>
          <pc:sldMk cId="2673872755" sldId="2767"/>
        </pc:sldMkLst>
      </pc:sldChg>
      <pc:sldChg chg="del">
        <pc:chgData name="Adam Brown (Astrea Central)" userId="e4577f1c-a0ea-4eef-9851-9bdbe8619e58" providerId="ADAL" clId="{9579784B-B82A-460D-B442-9F71D125919D}" dt="2025-08-06T14:29:40.545" v="0" actId="47"/>
        <pc:sldMkLst>
          <pc:docMk/>
          <pc:sldMk cId="4276921759" sldId="2768"/>
        </pc:sldMkLst>
      </pc:sldChg>
      <pc:sldChg chg="del">
        <pc:chgData name="Adam Brown (Astrea Central)" userId="e4577f1c-a0ea-4eef-9851-9bdbe8619e58" providerId="ADAL" clId="{9579784B-B82A-460D-B442-9F71D125919D}" dt="2025-08-06T14:29:40.545" v="0" actId="47"/>
        <pc:sldMkLst>
          <pc:docMk/>
          <pc:sldMk cId="4072467659" sldId="2769"/>
        </pc:sldMkLst>
      </pc:sldChg>
      <pc:sldChg chg="del">
        <pc:chgData name="Adam Brown (Astrea Central)" userId="e4577f1c-a0ea-4eef-9851-9bdbe8619e58" providerId="ADAL" clId="{9579784B-B82A-460D-B442-9F71D125919D}" dt="2025-08-06T14:29:40.545" v="0" actId="47"/>
        <pc:sldMkLst>
          <pc:docMk/>
          <pc:sldMk cId="2116641321" sldId="27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BD887872-9236-460B-BC2A-E44A8AC6C1EB}" type="datetimeFigureOut">
              <a:rPr lang="en-GB" smtClean="0"/>
              <a:t>06/08/2025</a:t>
            </a:fld>
            <a:endParaRPr lang="en-GB"/>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A65AC23A-D8C2-4808-8C51-A2299E24BAA4}" type="slidenum">
              <a:rPr lang="en-GB" smtClean="0"/>
              <a:t>‹#›</a:t>
            </a:fld>
            <a:endParaRPr lang="en-GB"/>
          </a:p>
        </p:txBody>
      </p:sp>
    </p:spTree>
    <p:extLst>
      <p:ext uri="{BB962C8B-B14F-4D97-AF65-F5344CB8AC3E}">
        <p14:creationId xmlns:p14="http://schemas.microsoft.com/office/powerpoint/2010/main" val="3461726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68538" y="1243013"/>
            <a:ext cx="2320925" cy="33559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C24A783-C653-C444-A1FE-7D3BC73388DB}" type="slidenum">
              <a:rPr lang="en-GB" smtClean="0">
                <a:solidFill>
                  <a:prstClr val="black"/>
                </a:solidFill>
              </a:rPr>
              <a:pPr/>
              <a:t>1</a:t>
            </a:fld>
            <a:endParaRPr lang="en-GB">
              <a:solidFill>
                <a:prstClr val="black"/>
              </a:solidFill>
            </a:endParaRPr>
          </a:p>
        </p:txBody>
      </p:sp>
    </p:spTree>
    <p:extLst>
      <p:ext uri="{BB962C8B-B14F-4D97-AF65-F5344CB8AC3E}">
        <p14:creationId xmlns:p14="http://schemas.microsoft.com/office/powerpoint/2010/main" val="4143223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BECCA-2026-881E-26E6-A258BF8DA1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AC5ADD-9A4D-7EF7-20F3-C9CCC304966B}"/>
              </a:ext>
            </a:extLst>
          </p:cNvPr>
          <p:cNvSpPr>
            <a:spLocks noGrp="1" noRot="1" noChangeAspect="1"/>
          </p:cNvSpPr>
          <p:nvPr>
            <p:ph type="sldImg"/>
          </p:nvPr>
        </p:nvSpPr>
        <p:spPr>
          <a:xfrm>
            <a:off x="2268538" y="1243013"/>
            <a:ext cx="2320925" cy="3355975"/>
          </a:xfrm>
        </p:spPr>
      </p:sp>
      <p:sp>
        <p:nvSpPr>
          <p:cNvPr id="3" name="Notes Placeholder 2">
            <a:extLst>
              <a:ext uri="{FF2B5EF4-FFF2-40B4-BE49-F238E27FC236}">
                <a16:creationId xmlns:a16="http://schemas.microsoft.com/office/drawing/2014/main" id="{0EEFA98E-7D60-5AD9-2F4A-1F633EFD6F4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FE18A46-262C-7A32-59A4-F5D54F5C07DA}"/>
              </a:ext>
            </a:extLst>
          </p:cNvPr>
          <p:cNvSpPr>
            <a:spLocks noGrp="1"/>
          </p:cNvSpPr>
          <p:nvPr>
            <p:ph type="sldNum" sz="quarter" idx="5"/>
          </p:nvPr>
        </p:nvSpPr>
        <p:spPr/>
        <p:txBody>
          <a:bodyPr/>
          <a:lstStyle/>
          <a:p>
            <a:fld id="{6C24A783-C653-C444-A1FE-7D3BC73388DB}" type="slidenum">
              <a:rPr lang="en-GB" smtClean="0">
                <a:solidFill>
                  <a:prstClr val="black"/>
                </a:solidFill>
              </a:rPr>
              <a:pPr/>
              <a:t>2</a:t>
            </a:fld>
            <a:endParaRPr lang="en-GB">
              <a:solidFill>
                <a:prstClr val="black"/>
              </a:solidFill>
            </a:endParaRPr>
          </a:p>
        </p:txBody>
      </p:sp>
    </p:spTree>
    <p:extLst>
      <p:ext uri="{BB962C8B-B14F-4D97-AF65-F5344CB8AC3E}">
        <p14:creationId xmlns:p14="http://schemas.microsoft.com/office/powerpoint/2010/main" val="1594808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D98A6-BF0B-60CF-47EA-6910119010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A4ED14-81C7-1DF1-080D-847CEA385290}"/>
              </a:ext>
            </a:extLst>
          </p:cNvPr>
          <p:cNvSpPr>
            <a:spLocks noGrp="1" noRot="1" noChangeAspect="1"/>
          </p:cNvSpPr>
          <p:nvPr>
            <p:ph type="sldImg"/>
          </p:nvPr>
        </p:nvSpPr>
        <p:spPr>
          <a:xfrm>
            <a:off x="2268538" y="1243013"/>
            <a:ext cx="2320925" cy="3355975"/>
          </a:xfrm>
        </p:spPr>
      </p:sp>
      <p:sp>
        <p:nvSpPr>
          <p:cNvPr id="3" name="Notes Placeholder 2">
            <a:extLst>
              <a:ext uri="{FF2B5EF4-FFF2-40B4-BE49-F238E27FC236}">
                <a16:creationId xmlns:a16="http://schemas.microsoft.com/office/drawing/2014/main" id="{A698E7DD-C1F7-C38A-80C2-2C1CF8B487F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7166F1C-A9B4-6E76-ACE3-586683D107B8}"/>
              </a:ext>
            </a:extLst>
          </p:cNvPr>
          <p:cNvSpPr>
            <a:spLocks noGrp="1"/>
          </p:cNvSpPr>
          <p:nvPr>
            <p:ph type="sldNum" sz="quarter" idx="5"/>
          </p:nvPr>
        </p:nvSpPr>
        <p:spPr/>
        <p:txBody>
          <a:bodyPr/>
          <a:lstStyle/>
          <a:p>
            <a:fld id="{6C24A783-C653-C444-A1FE-7D3BC73388DB}" type="slidenum">
              <a:rPr lang="en-GB" smtClean="0">
                <a:solidFill>
                  <a:prstClr val="black"/>
                </a:solidFill>
              </a:rPr>
              <a:pPr/>
              <a:t>3</a:t>
            </a:fld>
            <a:endParaRPr lang="en-GB">
              <a:solidFill>
                <a:prstClr val="black"/>
              </a:solidFill>
            </a:endParaRPr>
          </a:p>
        </p:txBody>
      </p:sp>
    </p:spTree>
    <p:extLst>
      <p:ext uri="{BB962C8B-B14F-4D97-AF65-F5344CB8AC3E}">
        <p14:creationId xmlns:p14="http://schemas.microsoft.com/office/powerpoint/2010/main" val="2789686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36645BB-F530-4C6B-ABAE-E32F8A251980}"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868696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EDB0C-8CB1-4E4B-A7D2-72D1E989F74F}"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628738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418B7CF-AD3A-412E-A236-AD334123F5DC}"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965247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5F8CF75-DE73-4975-8438-DCC60FF5A9C7}"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642259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D433DA-9DCC-4C1C-BE87-1B843446F1E2}" type="datetime1">
              <a:rPr lang="en-GB" smtClean="0"/>
              <a:t>06/08/2025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66026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036B931-B1B4-4301-9FA3-4AC76251F969}" type="datetime1">
              <a:rPr lang="en-GB" smtClean="0"/>
              <a:t>06/08/2025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416073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4EB317-EAB0-4C19-A195-2782EA19078C}" type="datetime1">
              <a:rPr lang="en-GB" smtClean="0"/>
              <a:t>06/08/2025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77690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EEE7F5A2-2F3B-430C-BD43-6D2323C7CD6A}"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032427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3D6AD09F-1297-4193-9BA9-680759B76EE0}"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235885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ED7873-3A83-4840-BD06-EB3A5B53B6DA}"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130277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E7EED6-F9AB-4871-A4A9-4EB7B43E5F99}"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883891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80118337-BCAC-4A6B-9508-65A0DEBA7F58}" type="datetime1">
              <a:rPr lang="en-GB" smtClean="0"/>
              <a:t>06/08/2025</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9BD3B4A0-BFF9-422C-B253-48BA94BE2F5B}" type="slidenum">
              <a:rPr lang="en-GB" smtClean="0"/>
              <a:t>‹#›</a:t>
            </a:fld>
            <a:endParaRPr lang="en-GB"/>
          </a:p>
        </p:txBody>
      </p:sp>
    </p:spTree>
    <p:extLst>
      <p:ext uri="{BB962C8B-B14F-4D97-AF65-F5344CB8AC3E}">
        <p14:creationId xmlns:p14="http://schemas.microsoft.com/office/powerpoint/2010/main" val="28197563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4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943.png"/><Relationship Id="rId5" Type="http://schemas.openxmlformats.org/officeDocument/2006/relationships/image" Target="../media/image942.png"/><Relationship Id="rId4" Type="http://schemas.openxmlformats.org/officeDocument/2006/relationships/image" Target="../media/image941.png"/></Relationships>
</file>

<file path=ppt/slides/_rels/slide2.xml.rels><?xml version="1.0" encoding="UTF-8" standalone="yes"?>
<Relationships xmlns="http://schemas.openxmlformats.org/package/2006/relationships"><Relationship Id="rId3" Type="http://schemas.openxmlformats.org/officeDocument/2006/relationships/image" Target="../media/image940.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945.png"/><Relationship Id="rId5" Type="http://schemas.openxmlformats.org/officeDocument/2006/relationships/image" Target="../media/image944.png"/><Relationship Id="rId4" Type="http://schemas.openxmlformats.org/officeDocument/2006/relationships/image" Target="../media/image941.png"/></Relationships>
</file>

<file path=ppt/slides/_rels/slide3.xml.rels><?xml version="1.0" encoding="UTF-8" standalone="yes"?>
<Relationships xmlns="http://schemas.openxmlformats.org/package/2006/relationships"><Relationship Id="rId3" Type="http://schemas.openxmlformats.org/officeDocument/2006/relationships/image" Target="../media/image946.png"/><Relationship Id="rId7" Type="http://schemas.openxmlformats.org/officeDocument/2006/relationships/image" Target="../media/image94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47.png"/><Relationship Id="rId5" Type="http://schemas.openxmlformats.org/officeDocument/2006/relationships/image" Target="../media/image941.png"/><Relationship Id="rId4" Type="http://schemas.openxmlformats.org/officeDocument/2006/relationships/image" Target="../media/image94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49.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951.png"/><Relationship Id="rId2" Type="http://schemas.openxmlformats.org/officeDocument/2006/relationships/image" Target="../media/image20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7F1A3AF-9DF9-429F-95F4-AB8E1E426D51}"/>
              </a:ext>
            </a:extLst>
          </p:cNvPr>
          <p:cNvSpPr/>
          <p:nvPr/>
        </p:nvSpPr>
        <p:spPr>
          <a:xfrm>
            <a:off x="102618" y="317359"/>
            <a:ext cx="6647773" cy="11491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ysClr val="windowText" lastClr="000000"/>
              </a:solidFill>
            </a:endParaRPr>
          </a:p>
        </p:txBody>
      </p:sp>
      <p:sp>
        <p:nvSpPr>
          <p:cNvPr id="11" name="Rectangle 10">
            <a:extLst>
              <a:ext uri="{FF2B5EF4-FFF2-40B4-BE49-F238E27FC236}">
                <a16:creationId xmlns:a16="http://schemas.microsoft.com/office/drawing/2014/main" id="{9554F5C1-D21B-4CDE-B4FD-998FDBB2B0D6}"/>
              </a:ext>
            </a:extLst>
          </p:cNvPr>
          <p:cNvSpPr/>
          <p:nvPr/>
        </p:nvSpPr>
        <p:spPr>
          <a:xfrm>
            <a:off x="-9365" y="6061"/>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solidFill>
                  <a:prstClr val="white"/>
                </a:solidFill>
              </a:rPr>
              <a:t>Subtopic 7 – Algebraic Proof</a:t>
            </a:r>
            <a:endParaRPr lang="en-GB" b="1" noProof="0" dirty="0">
              <a:solidFill>
                <a:prstClr val="white"/>
              </a:solidFill>
            </a:endParaRPr>
          </a:p>
        </p:txBody>
      </p:sp>
      <p:sp>
        <p:nvSpPr>
          <p:cNvPr id="13" name="TextBox 12">
            <a:extLst>
              <a:ext uri="{FF2B5EF4-FFF2-40B4-BE49-F238E27FC236}">
                <a16:creationId xmlns:a16="http://schemas.microsoft.com/office/drawing/2014/main" id="{BEC5D410-9446-41B2-BEF5-E64D48C58308}"/>
              </a:ext>
            </a:extLst>
          </p:cNvPr>
          <p:cNvSpPr txBox="1"/>
          <p:nvPr/>
        </p:nvSpPr>
        <p:spPr>
          <a:xfrm>
            <a:off x="265577" y="780711"/>
            <a:ext cx="2647189" cy="307777"/>
          </a:xfrm>
          <a:prstGeom prst="rect">
            <a:avLst/>
          </a:prstGeom>
          <a:noFill/>
        </p:spPr>
        <p:txBody>
          <a:bodyPr wrap="square" rtlCol="0">
            <a:spAutoFit/>
          </a:bodyPr>
          <a:lstStyle/>
          <a:p>
            <a:r>
              <a:rPr lang="en-GB" sz="1400" b="1" noProof="0" dirty="0"/>
              <a:t>Objectives:</a:t>
            </a:r>
          </a:p>
        </p:txBody>
      </p:sp>
      <p:sp>
        <p:nvSpPr>
          <p:cNvPr id="59" name="TextBox 58">
            <a:extLst>
              <a:ext uri="{FF2B5EF4-FFF2-40B4-BE49-F238E27FC236}">
                <a16:creationId xmlns:a16="http://schemas.microsoft.com/office/drawing/2014/main" id="{D58F4060-A0FD-C84C-8A22-502E16E49D73}"/>
              </a:ext>
            </a:extLst>
          </p:cNvPr>
          <p:cNvSpPr txBox="1"/>
          <p:nvPr/>
        </p:nvSpPr>
        <p:spPr>
          <a:xfrm>
            <a:off x="910807" y="420236"/>
            <a:ext cx="4991042" cy="276999"/>
          </a:xfrm>
          <a:prstGeom prst="rect">
            <a:avLst/>
          </a:prstGeom>
          <a:noFill/>
          <a:ln>
            <a:solidFill>
              <a:schemeClr val="tx1"/>
            </a:solidFill>
          </a:ln>
        </p:spPr>
        <p:txBody>
          <a:bodyPr wrap="square" rtlCol="0">
            <a:spAutoFit/>
          </a:bodyPr>
          <a:lstStyle/>
          <a:p>
            <a:pPr algn="ctr"/>
            <a:r>
              <a:rPr lang="en-GB" sz="1200" noProof="0" dirty="0"/>
              <a:t>LEARNING OUTCOME:  To understand algebraic proof. </a:t>
            </a:r>
          </a:p>
        </p:txBody>
      </p:sp>
      <p:sp>
        <p:nvSpPr>
          <p:cNvPr id="61" name="TextBox 60">
            <a:extLst>
              <a:ext uri="{FF2B5EF4-FFF2-40B4-BE49-F238E27FC236}">
                <a16:creationId xmlns:a16="http://schemas.microsoft.com/office/drawing/2014/main" id="{AA176BCB-F2F4-854D-9A37-B7D4A0081FB0}"/>
              </a:ext>
            </a:extLst>
          </p:cNvPr>
          <p:cNvSpPr txBox="1"/>
          <p:nvPr/>
        </p:nvSpPr>
        <p:spPr>
          <a:xfrm>
            <a:off x="840920" y="1065117"/>
            <a:ext cx="3888646" cy="461665"/>
          </a:xfrm>
          <a:prstGeom prst="rect">
            <a:avLst/>
          </a:prstGeom>
          <a:noFill/>
        </p:spPr>
        <p:txBody>
          <a:bodyPr wrap="square" rtlCol="0">
            <a:spAutoFit/>
          </a:bodyPr>
          <a:lstStyle/>
          <a:p>
            <a:pPr marL="228600" indent="-228600">
              <a:buFont typeface="+mj-lt"/>
              <a:buAutoNum type="arabicPeriod"/>
              <a:defRPr/>
            </a:pPr>
            <a:r>
              <a:rPr lang="en-GB" sz="1200" noProof="0" dirty="0"/>
              <a:t>To be able to prove statements algebraically. </a:t>
            </a:r>
          </a:p>
          <a:p>
            <a:pPr marL="228600" indent="-228600">
              <a:buFont typeface="+mj-lt"/>
              <a:buAutoNum type="arabicPeriod"/>
              <a:defRPr/>
            </a:pPr>
            <a:endParaRPr lang="en-GB" sz="1200" noProof="0" dirty="0"/>
          </a:p>
        </p:txBody>
      </p:sp>
      <p:sp>
        <p:nvSpPr>
          <p:cNvPr id="74" name="TextBox 73">
            <a:extLst>
              <a:ext uri="{FF2B5EF4-FFF2-40B4-BE49-F238E27FC236}">
                <a16:creationId xmlns:a16="http://schemas.microsoft.com/office/drawing/2014/main" id="{6DE260F4-7858-F54C-9B2A-3736C7864E2E}"/>
              </a:ext>
            </a:extLst>
          </p:cNvPr>
          <p:cNvSpPr txBox="1"/>
          <p:nvPr/>
        </p:nvSpPr>
        <p:spPr>
          <a:xfrm>
            <a:off x="5386356" y="757676"/>
            <a:ext cx="1235531" cy="646331"/>
          </a:xfrm>
          <a:prstGeom prst="rect">
            <a:avLst/>
          </a:prstGeom>
          <a:noFill/>
          <a:ln w="12700">
            <a:solidFill>
              <a:schemeClr val="tx1"/>
            </a:solidFill>
          </a:ln>
        </p:spPr>
        <p:txBody>
          <a:bodyPr wrap="square" rtlCol="0">
            <a:spAutoFit/>
          </a:bodyPr>
          <a:lstStyle/>
          <a:p>
            <a:r>
              <a:rPr lang="en-GB" sz="1200" b="1" u="sng" noProof="0" dirty="0"/>
              <a:t>Keywords:</a:t>
            </a:r>
          </a:p>
          <a:p>
            <a:pPr marL="171450" indent="-171450">
              <a:buFontTx/>
              <a:buChar char="-"/>
            </a:pPr>
            <a:r>
              <a:rPr lang="en-GB" sz="1200" noProof="0" dirty="0"/>
              <a:t>Proof</a:t>
            </a:r>
          </a:p>
          <a:p>
            <a:pPr marL="171450" indent="-171450">
              <a:buFontTx/>
              <a:buChar char="-"/>
            </a:pPr>
            <a:endParaRPr lang="en-GB" sz="1200" noProof="0" dirty="0"/>
          </a:p>
        </p:txBody>
      </p:sp>
      <p:sp>
        <p:nvSpPr>
          <p:cNvPr id="18" name="Slide Number Placeholder 17"/>
          <p:cNvSpPr>
            <a:spLocks noGrp="1"/>
          </p:cNvSpPr>
          <p:nvPr>
            <p:ph type="sldNum" sz="quarter" idx="12"/>
          </p:nvPr>
        </p:nvSpPr>
        <p:spPr>
          <a:xfrm>
            <a:off x="5309271" y="9548817"/>
            <a:ext cx="1543050" cy="527403"/>
          </a:xfrm>
        </p:spPr>
        <p:txBody>
          <a:bodyPr/>
          <a:lstStyle/>
          <a:p>
            <a:fld id="{19F1D9CC-7119-45EC-A96C-D8C0660F3AAB}" type="slidenum">
              <a:rPr lang="en-GB" noProof="0" smtClean="0">
                <a:solidFill>
                  <a:schemeClr val="bg1"/>
                </a:solidFill>
              </a:rPr>
              <a:t>1</a:t>
            </a:fld>
            <a:endParaRPr lang="en-GB" noProof="0" dirty="0">
              <a:solidFill>
                <a:schemeClr val="bg1"/>
              </a:solidFill>
            </a:endParaRPr>
          </a:p>
        </p:txBody>
      </p:sp>
      <p:sp>
        <p:nvSpPr>
          <p:cNvPr id="21" name="Slide Number Placeholder 16"/>
          <p:cNvSpPr txBox="1">
            <a:spLocks/>
          </p:cNvSpPr>
          <p:nvPr/>
        </p:nvSpPr>
        <p:spPr>
          <a:xfrm>
            <a:off x="5257814" y="9488376"/>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1</a:t>
            </a:fld>
            <a:endParaRPr lang="en-GB" noProof="0" dirty="0"/>
          </a:p>
        </p:txBody>
      </p:sp>
      <p:cxnSp>
        <p:nvCxnSpPr>
          <p:cNvPr id="22" name="Straight Connector 21">
            <a:extLst>
              <a:ext uri="{FF2B5EF4-FFF2-40B4-BE49-F238E27FC236}">
                <a16:creationId xmlns:a16="http://schemas.microsoft.com/office/drawing/2014/main" id="{FE7EDCC2-ABAA-434F-8C0E-6C3A1F76BAE7}"/>
              </a:ext>
            </a:extLst>
          </p:cNvPr>
          <p:cNvCxnSpPr/>
          <p:nvPr/>
        </p:nvCxnSpPr>
        <p:spPr>
          <a:xfrm flipV="1">
            <a:off x="8181122" y="426883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7326442" y="2508490"/>
            <a:ext cx="6643204" cy="232125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24" name="Straight Connector 23"/>
          <p:cNvCxnSpPr/>
          <p:nvPr/>
        </p:nvCxnSpPr>
        <p:spPr>
          <a:xfrm flipV="1">
            <a:off x="7332812" y="3571869"/>
            <a:ext cx="6632615" cy="40322"/>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p:cNvCxnSpPr>
            <a:stCxn id="23" idx="2"/>
            <a:endCxn id="23" idx="0"/>
          </p:cNvCxnSpPr>
          <p:nvPr/>
        </p:nvCxnSpPr>
        <p:spPr>
          <a:xfrm flipV="1">
            <a:off x="10648044" y="2508490"/>
            <a:ext cx="0" cy="2321252"/>
          </a:xfrm>
          <a:prstGeom prst="line">
            <a:avLst/>
          </a:prstGeom>
        </p:spPr>
        <p:style>
          <a:lnRef idx="1">
            <a:schemeClr val="dk1"/>
          </a:lnRef>
          <a:fillRef idx="0">
            <a:schemeClr val="dk1"/>
          </a:fillRef>
          <a:effectRef idx="0">
            <a:schemeClr val="dk1"/>
          </a:effectRef>
          <a:fontRef idx="minor">
            <a:schemeClr val="tx1"/>
          </a:fontRef>
        </p:style>
      </p:cxnSp>
      <p:sp>
        <p:nvSpPr>
          <p:cNvPr id="28" name="TextBox 27"/>
          <p:cNvSpPr txBox="1"/>
          <p:nvPr/>
        </p:nvSpPr>
        <p:spPr>
          <a:xfrm>
            <a:off x="7344196" y="2499112"/>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29" name="TextBox 28"/>
          <p:cNvSpPr txBox="1"/>
          <p:nvPr/>
        </p:nvSpPr>
        <p:spPr>
          <a:xfrm>
            <a:off x="12868247" y="2466726"/>
            <a:ext cx="1112228" cy="276999"/>
          </a:xfrm>
          <a:prstGeom prst="rect">
            <a:avLst/>
          </a:prstGeom>
          <a:noFill/>
        </p:spPr>
        <p:txBody>
          <a:bodyPr wrap="none" rtlCol="0">
            <a:spAutoFit/>
          </a:bodyPr>
          <a:lstStyle/>
          <a:p>
            <a:r>
              <a:rPr lang="en-GB" sz="1200" b="1" noProof="0" dirty="0"/>
              <a:t>Characteristics</a:t>
            </a:r>
          </a:p>
        </p:txBody>
      </p:sp>
      <p:sp>
        <p:nvSpPr>
          <p:cNvPr id="30" name="TextBox 29"/>
          <p:cNvSpPr txBox="1"/>
          <p:nvPr/>
        </p:nvSpPr>
        <p:spPr>
          <a:xfrm>
            <a:off x="7359343" y="3596250"/>
            <a:ext cx="788164" cy="276999"/>
          </a:xfrm>
          <a:prstGeom prst="rect">
            <a:avLst/>
          </a:prstGeom>
          <a:noFill/>
        </p:spPr>
        <p:txBody>
          <a:bodyPr wrap="none" rtlCol="0">
            <a:spAutoFit/>
          </a:bodyPr>
          <a:lstStyle/>
          <a:p>
            <a:r>
              <a:rPr lang="en-GB" sz="1200" b="1" noProof="0" dirty="0"/>
              <a:t>Examples</a:t>
            </a:r>
          </a:p>
        </p:txBody>
      </p:sp>
      <p:sp>
        <p:nvSpPr>
          <p:cNvPr id="31" name="TextBox 30"/>
          <p:cNvSpPr txBox="1"/>
          <p:nvPr/>
        </p:nvSpPr>
        <p:spPr>
          <a:xfrm>
            <a:off x="12796760" y="3571869"/>
            <a:ext cx="1172885" cy="276999"/>
          </a:xfrm>
          <a:prstGeom prst="rect">
            <a:avLst/>
          </a:prstGeom>
          <a:noFill/>
        </p:spPr>
        <p:txBody>
          <a:bodyPr wrap="none" rtlCol="0">
            <a:spAutoFit/>
          </a:bodyPr>
          <a:lstStyle/>
          <a:p>
            <a:r>
              <a:rPr lang="en-GB" sz="1200" b="1" noProof="0" dirty="0"/>
              <a:t>Non - Examples</a:t>
            </a:r>
          </a:p>
        </p:txBody>
      </p:sp>
      <p:sp>
        <p:nvSpPr>
          <p:cNvPr id="32" name="TextBox 31"/>
          <p:cNvSpPr txBox="1"/>
          <p:nvPr/>
        </p:nvSpPr>
        <p:spPr>
          <a:xfrm>
            <a:off x="7364975" y="2740169"/>
            <a:ext cx="3230335" cy="646331"/>
          </a:xfrm>
          <a:prstGeom prst="rect">
            <a:avLst/>
          </a:prstGeom>
          <a:noFill/>
        </p:spPr>
        <p:txBody>
          <a:bodyPr wrap="square" rtlCol="0">
            <a:spAutoFit/>
          </a:bodyPr>
          <a:lstStyle/>
          <a:p>
            <a:r>
              <a:rPr lang="en-GB" sz="1200" noProof="0" dirty="0"/>
              <a:t>A structured argument that follows a sequence of logical steps using facts and theorems to prove if a mathematical statement is true.</a:t>
            </a:r>
            <a:endParaRPr lang="en-GB" sz="600" noProof="0" dirty="0"/>
          </a:p>
        </p:txBody>
      </p:sp>
      <mc:AlternateContent xmlns:mc="http://schemas.openxmlformats.org/markup-compatibility/2006" xmlns:a14="http://schemas.microsoft.com/office/drawing/2010/main">
        <mc:Choice Requires="a14">
          <p:sp>
            <p:nvSpPr>
              <p:cNvPr id="33" name="TextBox 32"/>
              <p:cNvSpPr txBox="1"/>
              <p:nvPr/>
            </p:nvSpPr>
            <p:spPr>
              <a:xfrm>
                <a:off x="10739310" y="2690130"/>
                <a:ext cx="3230335" cy="600164"/>
              </a:xfrm>
              <a:prstGeom prst="rect">
                <a:avLst/>
              </a:prstGeom>
              <a:noFill/>
            </p:spPr>
            <p:txBody>
              <a:bodyPr wrap="square" rtlCol="0">
                <a:spAutoFit/>
              </a:bodyPr>
              <a:lstStyle/>
              <a:p>
                <a:r>
                  <a:rPr lang="en-GB" sz="1100" noProof="0" dirty="0"/>
                  <a:t>For algebraic proof we perform proof by induction, this means it is true for </a:t>
                </a:r>
                <a:r>
                  <a:rPr lang="en-GB" sz="1100" b="1" noProof="0" dirty="0"/>
                  <a:t>any value. </a:t>
                </a:r>
              </a:p>
              <a:p>
                <a:r>
                  <a:rPr lang="en-GB" sz="1100" noProof="0" dirty="0"/>
                  <a:t>We tend to use </a:t>
                </a:r>
                <a14:m>
                  <m:oMath xmlns:m="http://schemas.openxmlformats.org/officeDocument/2006/math">
                    <m:r>
                      <a:rPr lang="en-GB" sz="1100" b="0" i="1" noProof="0" smtClean="0">
                        <a:latin typeface="Cambria Math" panose="02040503050406030204" pitchFamily="18" charset="0"/>
                      </a:rPr>
                      <m:t>𝑛</m:t>
                    </m:r>
                  </m:oMath>
                </a14:m>
                <a:r>
                  <a:rPr lang="en-GB" sz="1100" noProof="0" dirty="0"/>
                  <a:t> to denote </a:t>
                </a:r>
                <a:r>
                  <a:rPr lang="en-GB" sz="1100" b="1" noProof="0" dirty="0"/>
                  <a:t>any value. </a:t>
                </a:r>
              </a:p>
            </p:txBody>
          </p:sp>
        </mc:Choice>
        <mc:Fallback xmlns="">
          <p:sp>
            <p:nvSpPr>
              <p:cNvPr id="33" name="TextBox 32"/>
              <p:cNvSpPr txBox="1">
                <a:spLocks noRot="1" noChangeAspect="1" noMove="1" noResize="1" noEditPoints="1" noAdjustHandles="1" noChangeArrowheads="1" noChangeShapeType="1" noTextEdit="1"/>
              </p:cNvSpPr>
              <p:nvPr/>
            </p:nvSpPr>
            <p:spPr>
              <a:xfrm>
                <a:off x="10739310" y="2690130"/>
                <a:ext cx="3230335" cy="600164"/>
              </a:xfrm>
              <a:prstGeom prst="rect">
                <a:avLst/>
              </a:prstGeom>
              <a:blipFill>
                <a:blip r:embed="rId3"/>
                <a:stretch>
                  <a:fillRect t="-1010" b="-6061"/>
                </a:stretch>
              </a:blipFill>
            </p:spPr>
            <p:txBody>
              <a:bodyPr/>
              <a:lstStyle/>
              <a:p>
                <a:r>
                  <a:rPr lang="en-US">
                    <a:noFill/>
                  </a:rPr>
                  <a:t> </a:t>
                </a:r>
              </a:p>
            </p:txBody>
          </p:sp>
        </mc:Fallback>
      </mc:AlternateContent>
      <p:sp>
        <p:nvSpPr>
          <p:cNvPr id="34" name="TextBox 33"/>
          <p:cNvSpPr txBox="1"/>
          <p:nvPr/>
        </p:nvSpPr>
        <p:spPr>
          <a:xfrm>
            <a:off x="10301096" y="3465729"/>
            <a:ext cx="693908" cy="369332"/>
          </a:xfrm>
          <a:prstGeom prst="rect">
            <a:avLst/>
          </a:prstGeom>
          <a:solidFill>
            <a:schemeClr val="bg1"/>
          </a:solidFill>
          <a:ln>
            <a:solidFill>
              <a:schemeClr val="tx1"/>
            </a:solidFill>
          </a:ln>
        </p:spPr>
        <p:txBody>
          <a:bodyPr wrap="none" rtlCol="0">
            <a:spAutoFit/>
          </a:bodyPr>
          <a:lstStyle/>
          <a:p>
            <a:r>
              <a:rPr lang="en-GB" noProof="0" dirty="0"/>
              <a:t>Proof</a:t>
            </a:r>
          </a:p>
        </p:txBody>
      </p:sp>
      <p:sp>
        <p:nvSpPr>
          <p:cNvPr id="35" name="Rectangle 34"/>
          <p:cNvSpPr/>
          <p:nvPr/>
        </p:nvSpPr>
        <p:spPr>
          <a:xfrm>
            <a:off x="7359343" y="3862441"/>
            <a:ext cx="3273285" cy="830997"/>
          </a:xfrm>
          <a:prstGeom prst="rect">
            <a:avLst/>
          </a:prstGeom>
        </p:spPr>
        <p:txBody>
          <a:bodyPr wrap="square">
            <a:spAutoFit/>
          </a:bodyPr>
          <a:lstStyle/>
          <a:p>
            <a:r>
              <a:rPr lang="en-GB" sz="1200" noProof="0" dirty="0"/>
              <a:t>Prove algebraically that the sum of two consecutive odd numbers is divisible by 4</a:t>
            </a:r>
          </a:p>
          <a:p>
            <a:endParaRPr lang="en-GB" sz="1200" noProof="0" dirty="0"/>
          </a:p>
          <a:p>
            <a:r>
              <a:rPr lang="en-GB" sz="1200" noProof="0" dirty="0"/>
              <a:t>2n + 1 + 2n + 3 = 4n + 4 = 4(n + 1)</a:t>
            </a:r>
          </a:p>
        </p:txBody>
      </p:sp>
      <mc:AlternateContent xmlns:mc="http://schemas.openxmlformats.org/markup-compatibility/2006" xmlns:a14="http://schemas.microsoft.com/office/drawing/2010/main">
        <mc:Choice Requires="a14">
          <p:sp>
            <p:nvSpPr>
              <p:cNvPr id="41" name="Rectangle 40"/>
              <p:cNvSpPr/>
              <p:nvPr/>
            </p:nvSpPr>
            <p:spPr>
              <a:xfrm>
                <a:off x="10652804" y="3820501"/>
                <a:ext cx="3273285" cy="1015663"/>
              </a:xfrm>
              <a:prstGeom prst="rect">
                <a:avLst/>
              </a:prstGeom>
            </p:spPr>
            <p:txBody>
              <a:bodyPr wrap="square">
                <a:spAutoFit/>
              </a:bodyPr>
              <a:lstStyle/>
              <a:p>
                <a:r>
                  <a:rPr lang="en-GB" sz="1200" noProof="0" dirty="0"/>
                  <a:t>Prove algebraically that the sum of two consecutive odd numbers is divisible by 4</a:t>
                </a:r>
              </a:p>
              <a:p>
                <a:endParaRPr lang="en-GB" sz="1200" noProof="0" dirty="0"/>
              </a:p>
              <a:p>
                <a:r>
                  <a:rPr lang="en-GB" sz="1200" noProof="0" dirty="0"/>
                  <a:t>3 + 5 = 8   8 </a:t>
                </a:r>
                <a14:m>
                  <m:oMath xmlns:m="http://schemas.openxmlformats.org/officeDocument/2006/math">
                    <m:r>
                      <a:rPr lang="en-GB" sz="1200" i="1" noProof="0" smtClean="0">
                        <a:latin typeface="Cambria Math" panose="02040503050406030204" pitchFamily="18" charset="0"/>
                        <a:ea typeface="Cambria Math" panose="02040503050406030204" pitchFamily="18" charset="0"/>
                      </a:rPr>
                      <m:t>÷</m:t>
                    </m:r>
                  </m:oMath>
                </a14:m>
                <a:r>
                  <a:rPr lang="en-GB" sz="1200" noProof="0" dirty="0"/>
                  <a:t> 4 = 2 so it is proved. (Why is this incorrect?</a:t>
                </a:r>
              </a:p>
            </p:txBody>
          </p:sp>
        </mc:Choice>
        <mc:Fallback xmlns="">
          <p:sp>
            <p:nvSpPr>
              <p:cNvPr id="41" name="Rectangle 40"/>
              <p:cNvSpPr>
                <a:spLocks noRot="1" noChangeAspect="1" noMove="1" noResize="1" noEditPoints="1" noAdjustHandles="1" noChangeArrowheads="1" noChangeShapeType="1" noTextEdit="1"/>
              </p:cNvSpPr>
              <p:nvPr/>
            </p:nvSpPr>
            <p:spPr>
              <a:xfrm>
                <a:off x="10652804" y="3820501"/>
                <a:ext cx="3273285" cy="1015663"/>
              </a:xfrm>
              <a:prstGeom prst="rect">
                <a:avLst/>
              </a:prstGeom>
              <a:blipFill>
                <a:blip r:embed="rId4"/>
                <a:stretch>
                  <a:fillRect l="-187" t="-602" b="-4217"/>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01EE147A-3B7E-E7E6-418C-0D2314934CDD}"/>
              </a:ext>
            </a:extLst>
          </p:cNvPr>
          <p:cNvSpPr txBox="1"/>
          <p:nvPr/>
        </p:nvSpPr>
        <p:spPr>
          <a:xfrm>
            <a:off x="102618" y="1526782"/>
            <a:ext cx="6643204" cy="1938992"/>
          </a:xfrm>
          <a:prstGeom prst="rect">
            <a:avLst/>
          </a:prstGeom>
          <a:noFill/>
          <a:ln>
            <a:solidFill>
              <a:schemeClr val="tx1"/>
            </a:solidFill>
          </a:ln>
        </p:spPr>
        <p:txBody>
          <a:bodyPr wrap="square" rtlCol="0">
            <a:spAutoFit/>
          </a:bodyPr>
          <a:lstStyle/>
          <a:p>
            <a:r>
              <a:rPr lang="en-GB" sz="1200" noProof="0" dirty="0"/>
              <a:t>You will have encountered the word “proof” many times in your life. To prove something mathematically can be very challenging. You formally met this concept in a tricky context in in Year 10 with the algebraic approach to proving that </a:t>
            </a:r>
            <a:r>
              <a:rPr lang="en-GB" sz="1200" b="1" noProof="0" dirty="0"/>
              <a:t>recurring decimals can be written as equivalent fractions</a:t>
            </a:r>
            <a:r>
              <a:rPr lang="en-GB" sz="1200" noProof="0" dirty="0"/>
              <a:t>. GCSE exams may ask you to prove other statements are true.</a:t>
            </a:r>
          </a:p>
          <a:p>
            <a:endParaRPr lang="en-GB" sz="1200" noProof="0" dirty="0"/>
          </a:p>
          <a:p>
            <a:r>
              <a:rPr lang="en-GB" sz="1200" noProof="0" dirty="0"/>
              <a:t>Direct algebraic proof works by manipulating one side of a </a:t>
            </a:r>
            <a:r>
              <a:rPr lang="en-GB" sz="1200" b="1" noProof="0" dirty="0"/>
              <a:t>mathematical identity</a:t>
            </a:r>
            <a:r>
              <a:rPr lang="en-GB" sz="1200" noProof="0" dirty="0"/>
              <a:t> in order to make it exactly equal to the other to the other side.  Whilst working through these proofs we will refer to the LHS (left hand side) and RHS (right hand side) of the identity, the first statement we make is ‘Consider the LHS’. We then manipulate the LHS until it equals the RHS. This is a helpful introduction to the idea of proof.</a:t>
            </a:r>
          </a:p>
        </p:txBody>
      </p:sp>
      <p:sp>
        <p:nvSpPr>
          <p:cNvPr id="4" name="TextBox 3">
            <a:extLst>
              <a:ext uri="{FF2B5EF4-FFF2-40B4-BE49-F238E27FC236}">
                <a16:creationId xmlns:a16="http://schemas.microsoft.com/office/drawing/2014/main" id="{E8BE3F84-0B70-C0A3-FFD8-065669362951}"/>
              </a:ext>
            </a:extLst>
          </p:cNvPr>
          <p:cNvSpPr txBox="1"/>
          <p:nvPr/>
        </p:nvSpPr>
        <p:spPr>
          <a:xfrm>
            <a:off x="5120796" y="3539474"/>
            <a:ext cx="1498808" cy="276999"/>
          </a:xfrm>
          <a:prstGeom prst="rect">
            <a:avLst/>
          </a:prstGeom>
          <a:noFill/>
          <a:ln>
            <a:noFill/>
          </a:ln>
        </p:spPr>
        <p:txBody>
          <a:bodyPr wrap="none" rtlCol="0">
            <a:spAutoFit/>
          </a:bodyPr>
          <a:lstStyle/>
          <a:p>
            <a:r>
              <a:rPr lang="en-GB" sz="1200" b="1" i="1" noProof="0" dirty="0">
                <a:solidFill>
                  <a:srgbClr val="00B050"/>
                </a:solidFill>
              </a:rPr>
              <a:t>Example 3 - You do…</a:t>
            </a:r>
          </a:p>
        </p:txBody>
      </p:sp>
      <p:sp>
        <p:nvSpPr>
          <p:cNvPr id="5" name="TextBox 4">
            <a:extLst>
              <a:ext uri="{FF2B5EF4-FFF2-40B4-BE49-F238E27FC236}">
                <a16:creationId xmlns:a16="http://schemas.microsoft.com/office/drawing/2014/main" id="{69C0A3BC-DF3A-DAE7-EF08-DCC8ECF74A57}"/>
              </a:ext>
            </a:extLst>
          </p:cNvPr>
          <p:cNvSpPr txBox="1"/>
          <p:nvPr/>
        </p:nvSpPr>
        <p:spPr>
          <a:xfrm>
            <a:off x="3284112" y="3508977"/>
            <a:ext cx="1475789" cy="276999"/>
          </a:xfrm>
          <a:prstGeom prst="rect">
            <a:avLst/>
          </a:prstGeom>
          <a:noFill/>
          <a:ln>
            <a:noFill/>
          </a:ln>
        </p:spPr>
        <p:txBody>
          <a:bodyPr wrap="none" rtlCol="0">
            <a:spAutoFit/>
          </a:bodyPr>
          <a:lstStyle/>
          <a:p>
            <a:r>
              <a:rPr lang="en-GB" sz="1200" b="1" i="1" noProof="0" dirty="0">
                <a:solidFill>
                  <a:schemeClr val="accent2"/>
                </a:solidFill>
              </a:rPr>
              <a:t>Example 2 - We do…</a:t>
            </a:r>
          </a:p>
        </p:txBody>
      </p:sp>
      <p:sp>
        <p:nvSpPr>
          <p:cNvPr id="6" name="TextBox 5">
            <a:extLst>
              <a:ext uri="{FF2B5EF4-FFF2-40B4-BE49-F238E27FC236}">
                <a16:creationId xmlns:a16="http://schemas.microsoft.com/office/drawing/2014/main" id="{CD89D17B-C8AD-6764-0424-F229F094C67A}"/>
              </a:ext>
            </a:extLst>
          </p:cNvPr>
          <p:cNvSpPr txBox="1"/>
          <p:nvPr/>
        </p:nvSpPr>
        <p:spPr>
          <a:xfrm>
            <a:off x="1509726" y="3556276"/>
            <a:ext cx="1273234" cy="276999"/>
          </a:xfrm>
          <a:prstGeom prst="rect">
            <a:avLst/>
          </a:prstGeom>
          <a:noFill/>
          <a:ln>
            <a:noFill/>
          </a:ln>
        </p:spPr>
        <p:txBody>
          <a:bodyPr wrap="none" rtlCol="0">
            <a:spAutoFit/>
          </a:bodyPr>
          <a:lstStyle/>
          <a:p>
            <a:r>
              <a:rPr lang="en-GB" sz="1200" b="1" i="1" noProof="0" dirty="0">
                <a:solidFill>
                  <a:srgbClr val="FF0000"/>
                </a:solidFill>
              </a:rPr>
              <a:t>Example 1- I do…</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30698097-9540-F248-785F-7AB03183A33B}"/>
                  </a:ext>
                </a:extLst>
              </p:cNvPr>
              <p:cNvGraphicFramePr>
                <a:graphicFrameLocks noGrp="1"/>
              </p:cNvGraphicFramePr>
              <p:nvPr>
                <p:extLst>
                  <p:ext uri="{D42A27DB-BD31-4B8C-83A1-F6EECF244321}">
                    <p14:modId xmlns:p14="http://schemas.microsoft.com/office/powerpoint/2010/main" val="4036245852"/>
                  </p:ext>
                </p:extLst>
              </p:nvPr>
            </p:nvGraphicFramePr>
            <p:xfrm>
              <a:off x="97859" y="3820501"/>
              <a:ext cx="6638985" cy="3548824"/>
            </p:xfrm>
            <a:graphic>
              <a:graphicData uri="http://schemas.openxmlformats.org/drawingml/2006/table">
                <a:tbl>
                  <a:tblPr firstRow="1" bandRow="1">
                    <a:tableStyleId>{5C22544A-7EE6-4342-B048-85BDC9FD1C3A}</a:tableStyleId>
                  </a:tblPr>
                  <a:tblGrid>
                    <a:gridCol w="1451541">
                      <a:extLst>
                        <a:ext uri="{9D8B030D-6E8A-4147-A177-3AD203B41FA5}">
                          <a16:colId xmlns:a16="http://schemas.microsoft.com/office/drawing/2014/main" val="1568142362"/>
                        </a:ext>
                      </a:extLst>
                    </a:gridCol>
                    <a:gridCol w="1544960">
                      <a:extLst>
                        <a:ext uri="{9D8B030D-6E8A-4147-A177-3AD203B41FA5}">
                          <a16:colId xmlns:a16="http://schemas.microsoft.com/office/drawing/2014/main" val="3551711160"/>
                        </a:ext>
                      </a:extLst>
                    </a:gridCol>
                    <a:gridCol w="1851950">
                      <a:extLst>
                        <a:ext uri="{9D8B030D-6E8A-4147-A177-3AD203B41FA5}">
                          <a16:colId xmlns:a16="http://schemas.microsoft.com/office/drawing/2014/main" val="772331842"/>
                        </a:ext>
                      </a:extLst>
                    </a:gridCol>
                    <a:gridCol w="1790534">
                      <a:extLst>
                        <a:ext uri="{9D8B030D-6E8A-4147-A177-3AD203B41FA5}">
                          <a16:colId xmlns:a16="http://schemas.microsoft.com/office/drawing/2014/main" val="1506195925"/>
                        </a:ext>
                      </a:extLst>
                    </a:gridCol>
                  </a:tblGrid>
                  <a:tr h="641762">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Prove that </a:t>
                          </a:r>
                        </a:p>
                        <a:p>
                          <a:pPr algn="ctr"/>
                          <a14:m>
                            <m:oMath xmlns:m="http://schemas.openxmlformats.org/officeDocument/2006/math">
                              <m:r>
                                <a:rPr lang="en-GB" sz="1200" b="0" i="1" noProof="0" smtClean="0">
                                  <a:solidFill>
                                    <a:schemeClr val="tx1"/>
                                  </a:solidFill>
                                  <a:latin typeface="Cambria Math" panose="02040503050406030204" pitchFamily="18" charset="0"/>
                                </a:rPr>
                                <m:t>7</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−9</m:t>
                                  </m:r>
                                </m:e>
                              </m:d>
                              <m:r>
                                <a:rPr lang="en-GB" sz="1200" b="0" i="1" noProof="0" smtClean="0">
                                  <a:solidFill>
                                    <a:schemeClr val="tx1"/>
                                  </a:solidFill>
                                  <a:latin typeface="Cambria Math" panose="02040503050406030204" pitchFamily="18" charset="0"/>
                                </a:rPr>
                                <m:t>−3</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−4</m:t>
                                  </m:r>
                                </m:e>
                              </m:d>
                              <m:r>
                                <a:rPr lang="en-GB" sz="1200" b="0" i="1" noProof="0" smtClean="0">
                                  <a:solidFill>
                                    <a:schemeClr val="tx1"/>
                                  </a:solidFill>
                                  <a:latin typeface="Cambria Math" panose="02040503050406030204" pitchFamily="18" charset="0"/>
                                  <a:ea typeface="Cambria Math" panose="02040503050406030204" pitchFamily="18" charset="0"/>
                                </a:rPr>
                                <m:t>≡4</m:t>
                              </m:r>
                              <m:r>
                                <a:rPr lang="en-GB" sz="1200" b="0" i="1" noProof="0" smtClean="0">
                                  <a:solidFill>
                                    <a:schemeClr val="tx1"/>
                                  </a:solidFill>
                                  <a:latin typeface="Cambria Math" panose="02040503050406030204" pitchFamily="18" charset="0"/>
                                  <a:ea typeface="Cambria Math" panose="02040503050406030204" pitchFamily="18" charset="0"/>
                                </a:rPr>
                                <m:t>𝑥</m:t>
                              </m:r>
                              <m:r>
                                <a:rPr lang="en-GB" sz="1200" b="0" i="1" noProof="0" smtClean="0">
                                  <a:solidFill>
                                    <a:schemeClr val="tx1"/>
                                  </a:solidFill>
                                  <a:latin typeface="Cambria Math" panose="02040503050406030204" pitchFamily="18" charset="0"/>
                                  <a:ea typeface="Cambria Math" panose="02040503050406030204" pitchFamily="18" charset="0"/>
                                </a:rPr>
                                <m:t>−51</m:t>
                              </m:r>
                            </m:oMath>
                          </a14:m>
                          <a:r>
                            <a:rPr lang="en-GB" sz="1200" b="0" baseline="0" noProof="0" dirty="0">
                              <a:solidFill>
                                <a:schemeClr val="tx1"/>
                              </a:solidFill>
                            </a:rPr>
                            <a:t> </a:t>
                          </a: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Prove that </a:t>
                          </a:r>
                          <a14:m>
                            <m:oMath xmlns:m="http://schemas.openxmlformats.org/officeDocument/2006/math">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−4</m:t>
                                  </m:r>
                                </m:e>
                              </m:d>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+5</m:t>
                                  </m:r>
                                </m:e>
                              </m:d>
                              <m:r>
                                <a:rPr lang="en-GB" sz="1200" b="0" i="1" noProof="0" smtClean="0">
                                  <a:solidFill>
                                    <a:schemeClr val="tx1"/>
                                  </a:solidFill>
                                  <a:latin typeface="Cambria Math" panose="02040503050406030204" pitchFamily="18" charset="0"/>
                                </a:rPr>
                                <m:t>≡</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𝑦</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 −20</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Prove that </a:t>
                          </a:r>
                        </a:p>
                        <a:p>
                          <a:pPr algn="ctr"/>
                          <a14:m>
                            <m:oMath xmlns:m="http://schemas.openxmlformats.org/officeDocument/2006/math">
                              <m:r>
                                <a:rPr lang="en-GB" sz="1200" b="0" i="1" noProof="0" smtClean="0">
                                  <a:solidFill>
                                    <a:schemeClr val="tx1"/>
                                  </a:solidFill>
                                  <a:latin typeface="Cambria Math" panose="02040503050406030204" pitchFamily="18" charset="0"/>
                                </a:rPr>
                                <m:t>5</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m:t>
                                  </m:r>
                                </m:e>
                              </m:d>
                              <m:r>
                                <a:rPr lang="en-GB" sz="1200" b="0" i="1" noProof="0" smtClean="0">
                                  <a:solidFill>
                                    <a:schemeClr val="tx1"/>
                                  </a:solidFill>
                                  <a:latin typeface="Cambria Math" panose="02040503050406030204" pitchFamily="18" charset="0"/>
                                </a:rPr>
                                <m:t>−4</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e>
                              </m: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−7</m:t>
                              </m:r>
                            </m:oMath>
                          </a14:m>
                          <a:r>
                            <a:rPr lang="en-GB" sz="1200" b="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63227">
                    <a:tc>
                      <a:txBody>
                        <a:bodyPr/>
                        <a:lstStyle/>
                        <a:p>
                          <a:r>
                            <a:rPr lang="en-GB" sz="1200" noProof="0" dirty="0"/>
                            <a:t>Consider the side of the identity that is most obvious to manipulate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2445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Simplify by expanding and collecting</a:t>
                          </a:r>
                          <a:r>
                            <a:rPr lang="en-GB" sz="1200" baseline="0" noProof="0" dirty="0"/>
                            <a:t> like terms. </a:t>
                          </a:r>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26114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Write a statement that you have proven as required – you can write QED to save ink!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4202962597"/>
                      </a:ext>
                    </a:extLst>
                  </a:tr>
                </a:tbl>
              </a:graphicData>
            </a:graphic>
          </p:graphicFrame>
        </mc:Choice>
        <mc:Fallback xmlns="">
          <p:graphicFrame>
            <p:nvGraphicFramePr>
              <p:cNvPr id="7" name="Table 6">
                <a:extLst>
                  <a:ext uri="{FF2B5EF4-FFF2-40B4-BE49-F238E27FC236}">
                    <a16:creationId xmlns:a16="http://schemas.microsoft.com/office/drawing/2014/main" id="{30698097-9540-F248-785F-7AB03183A33B}"/>
                  </a:ext>
                </a:extLst>
              </p:cNvPr>
              <p:cNvGraphicFramePr>
                <a:graphicFrameLocks noGrp="1"/>
              </p:cNvGraphicFramePr>
              <p:nvPr>
                <p:extLst>
                  <p:ext uri="{D42A27DB-BD31-4B8C-83A1-F6EECF244321}">
                    <p14:modId xmlns:p14="http://schemas.microsoft.com/office/powerpoint/2010/main" val="4036245852"/>
                  </p:ext>
                </p:extLst>
              </p:nvPr>
            </p:nvGraphicFramePr>
            <p:xfrm>
              <a:off x="97859" y="3820501"/>
              <a:ext cx="6638985" cy="3548824"/>
            </p:xfrm>
            <a:graphic>
              <a:graphicData uri="http://schemas.openxmlformats.org/drawingml/2006/table">
                <a:tbl>
                  <a:tblPr firstRow="1" bandRow="1">
                    <a:tableStyleId>{5C22544A-7EE6-4342-B048-85BDC9FD1C3A}</a:tableStyleId>
                  </a:tblPr>
                  <a:tblGrid>
                    <a:gridCol w="1451541">
                      <a:extLst>
                        <a:ext uri="{9D8B030D-6E8A-4147-A177-3AD203B41FA5}">
                          <a16:colId xmlns:a16="http://schemas.microsoft.com/office/drawing/2014/main" val="1568142362"/>
                        </a:ext>
                      </a:extLst>
                    </a:gridCol>
                    <a:gridCol w="1544960">
                      <a:extLst>
                        <a:ext uri="{9D8B030D-6E8A-4147-A177-3AD203B41FA5}">
                          <a16:colId xmlns:a16="http://schemas.microsoft.com/office/drawing/2014/main" val="3551711160"/>
                        </a:ext>
                      </a:extLst>
                    </a:gridCol>
                    <a:gridCol w="1851950">
                      <a:extLst>
                        <a:ext uri="{9D8B030D-6E8A-4147-A177-3AD203B41FA5}">
                          <a16:colId xmlns:a16="http://schemas.microsoft.com/office/drawing/2014/main" val="772331842"/>
                        </a:ext>
                      </a:extLst>
                    </a:gridCol>
                    <a:gridCol w="1790534">
                      <a:extLst>
                        <a:ext uri="{9D8B030D-6E8A-4147-A177-3AD203B41FA5}">
                          <a16:colId xmlns:a16="http://schemas.microsoft.com/office/drawing/2014/main" val="1506195925"/>
                        </a:ext>
                      </a:extLst>
                    </a:gridCol>
                  </a:tblGrid>
                  <a:tr h="641762">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4094" t="-45714" r="-236220" b="-45714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62171" t="-45714" r="-97368" b="-45714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1088" t="-45714" r="-680" b="-457143"/>
                          </a:stretch>
                        </a:blipFill>
                      </a:tcPr>
                    </a:tc>
                    <a:extLst>
                      <a:ext uri="{0D108BD9-81ED-4DB2-BD59-A6C34878D82A}">
                        <a16:rowId xmlns:a16="http://schemas.microsoft.com/office/drawing/2014/main" val="2357201933"/>
                      </a:ext>
                    </a:extLst>
                  </a:tr>
                  <a:tr h="822960">
                    <a:tc>
                      <a:txBody>
                        <a:bodyPr/>
                        <a:lstStyle/>
                        <a:p>
                          <a:r>
                            <a:rPr lang="en-GB" sz="1200" noProof="0"/>
                            <a:t>Consider the side of the identity that is most obvious to manipulate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2296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t>Simplify by expanding and collecting</a:t>
                          </a:r>
                          <a:r>
                            <a:rPr lang="en-GB" sz="1200" baseline="0" noProof="0"/>
                            <a:t> like terms. </a:t>
                          </a:r>
                          <a:endParaRPr lang="en-GB" sz="12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26114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t>Write a statement that you have proven as required – you can write QED to save ink!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4202962597"/>
                      </a:ext>
                    </a:extLst>
                  </a:tr>
                </a:tbl>
              </a:graphicData>
            </a:graphic>
          </p:graphicFrame>
        </mc:Fallback>
      </mc:AlternateContent>
      <p:sp>
        <p:nvSpPr>
          <p:cNvPr id="9" name="TextBox 8">
            <a:extLst>
              <a:ext uri="{FF2B5EF4-FFF2-40B4-BE49-F238E27FC236}">
                <a16:creationId xmlns:a16="http://schemas.microsoft.com/office/drawing/2014/main" id="{5736A3CD-509D-2EF6-DAC4-EF65993CD000}"/>
              </a:ext>
            </a:extLst>
          </p:cNvPr>
          <p:cNvSpPr txBox="1"/>
          <p:nvPr/>
        </p:nvSpPr>
        <p:spPr>
          <a:xfrm>
            <a:off x="97859" y="7314517"/>
            <a:ext cx="1762598" cy="276999"/>
          </a:xfrm>
          <a:prstGeom prst="rect">
            <a:avLst/>
          </a:prstGeom>
          <a:solidFill>
            <a:srgbClr val="0070C0"/>
          </a:solidFill>
        </p:spPr>
        <p:txBody>
          <a:bodyPr wrap="none" rtlCol="0" anchor="ctr">
            <a:spAutoFit/>
          </a:bodyPr>
          <a:lstStyle/>
          <a:p>
            <a:pPr algn="r"/>
            <a:r>
              <a:rPr lang="en-GB" sz="1200" b="1" noProof="0" dirty="0">
                <a:solidFill>
                  <a:schemeClr val="bg1"/>
                </a:solidFill>
              </a:rPr>
              <a:t>INDEPENDENT PRACTICE</a:t>
            </a:r>
          </a:p>
        </p:txBody>
      </p:sp>
      <p:sp>
        <p:nvSpPr>
          <p:cNvPr id="12" name="TextBox 11">
            <a:extLst>
              <a:ext uri="{FF2B5EF4-FFF2-40B4-BE49-F238E27FC236}">
                <a16:creationId xmlns:a16="http://schemas.microsoft.com/office/drawing/2014/main" id="{F5C4CE41-CD67-B613-516C-242ABF984053}"/>
              </a:ext>
            </a:extLst>
          </p:cNvPr>
          <p:cNvSpPr txBox="1"/>
          <p:nvPr/>
        </p:nvSpPr>
        <p:spPr>
          <a:xfrm>
            <a:off x="1955800" y="7314517"/>
            <a:ext cx="3164996" cy="276999"/>
          </a:xfrm>
          <a:prstGeom prst="rect">
            <a:avLst/>
          </a:prstGeom>
          <a:noFill/>
        </p:spPr>
        <p:txBody>
          <a:bodyPr wrap="square" rtlCol="0">
            <a:spAutoFit/>
          </a:bodyPr>
          <a:lstStyle/>
          <a:p>
            <a:r>
              <a:rPr lang="en-GB" sz="1200" noProof="0" dirty="0"/>
              <a:t>1. Prove the following statements are true:</a:t>
            </a:r>
          </a:p>
        </p:txBody>
      </p:sp>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D343574A-2C47-85AD-47E4-D26B3F938E2C}"/>
                  </a:ext>
                </a:extLst>
              </p:cNvPr>
              <p:cNvGraphicFramePr>
                <a:graphicFrameLocks noGrp="1"/>
              </p:cNvGraphicFramePr>
              <p:nvPr>
                <p:extLst>
                  <p:ext uri="{D42A27DB-BD31-4B8C-83A1-F6EECF244321}">
                    <p14:modId xmlns:p14="http://schemas.microsoft.com/office/powerpoint/2010/main" val="1954762222"/>
                  </p:ext>
                </p:extLst>
              </p:nvPr>
            </p:nvGraphicFramePr>
            <p:xfrm>
              <a:off x="97859" y="7634719"/>
              <a:ext cx="6638985" cy="2204356"/>
            </p:xfrm>
            <a:graphic>
              <a:graphicData uri="http://schemas.openxmlformats.org/drawingml/2006/table">
                <a:tbl>
                  <a:tblPr firstRow="1" bandRow="1">
                    <a:tableStyleId>{5C22544A-7EE6-4342-B048-85BDC9FD1C3A}</a:tableStyleId>
                  </a:tblPr>
                  <a:tblGrid>
                    <a:gridCol w="1451541">
                      <a:extLst>
                        <a:ext uri="{9D8B030D-6E8A-4147-A177-3AD203B41FA5}">
                          <a16:colId xmlns:a16="http://schemas.microsoft.com/office/drawing/2014/main" val="1901797026"/>
                        </a:ext>
                      </a:extLst>
                    </a:gridCol>
                    <a:gridCol w="1803400">
                      <a:extLst>
                        <a:ext uri="{9D8B030D-6E8A-4147-A177-3AD203B41FA5}">
                          <a16:colId xmlns:a16="http://schemas.microsoft.com/office/drawing/2014/main" val="1097336017"/>
                        </a:ext>
                      </a:extLst>
                    </a:gridCol>
                    <a:gridCol w="3384044">
                      <a:extLst>
                        <a:ext uri="{9D8B030D-6E8A-4147-A177-3AD203B41FA5}">
                          <a16:colId xmlns:a16="http://schemas.microsoft.com/office/drawing/2014/main" val="3465043989"/>
                        </a:ext>
                      </a:extLst>
                    </a:gridCol>
                  </a:tblGrid>
                  <a:tr h="2204356">
                    <a:tc>
                      <a:txBody>
                        <a:bodyPr/>
                        <a:lstStyle/>
                        <a:p>
                          <a:pPr marL="228600" indent="-228600">
                            <a:buAutoNum type="alphaLcPeriod"/>
                          </a:pPr>
                          <a14:m>
                            <m:oMath xmlns:m="http://schemas.openxmlformats.org/officeDocument/2006/math">
                              <m:r>
                                <a:rPr lang="en-GB" sz="1200" b="0" i="1" noProof="0" smtClean="0">
                                  <a:solidFill>
                                    <a:schemeClr val="tx1"/>
                                  </a:solidFill>
                                  <a:latin typeface="Cambria Math" panose="02040503050406030204" pitchFamily="18" charset="0"/>
                                </a:rPr>
                                <m:t>6</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−7</m:t>
                                  </m:r>
                                </m:e>
                              </m:d>
                              <m:r>
                                <a:rPr lang="en-GB" sz="1200" b="0" i="1" noProof="0" smtClean="0">
                                  <a:solidFill>
                                    <a:schemeClr val="tx1"/>
                                  </a:solidFill>
                                  <a:latin typeface="Cambria Math" panose="02040503050406030204" pitchFamily="18" charset="0"/>
                                </a:rPr>
                                <m:t>+ 5</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11</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14:m>
                            <m:oMath xmlns:m="http://schemas.openxmlformats.org/officeDocument/2006/math">
                              <m:r>
                                <a:rPr lang="en-GB" sz="1200" b="0" i="1" noProof="0" smtClean="0">
                                  <a:solidFill>
                                    <a:schemeClr val="tx1"/>
                                  </a:solidFill>
                                  <a:latin typeface="Cambria Math" panose="02040503050406030204" pitchFamily="18" charset="0"/>
                                </a:rPr>
                                <m:t>6</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−4</m:t>
                                  </m:r>
                                </m:e>
                              </m:d>
                              <m:r>
                                <a:rPr lang="en-GB" sz="1200" b="0" i="1" noProof="0" smtClean="0">
                                  <a:solidFill>
                                    <a:schemeClr val="tx1"/>
                                  </a:solidFill>
                                  <a:latin typeface="Cambria Math" panose="02040503050406030204" pitchFamily="18" charset="0"/>
                                </a:rPr>
                                <m:t>−5</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e>
                              </m:d>
                              <m:r>
                                <a:rPr lang="en-GB" sz="1200" b="0" i="1" noProof="0" smtClean="0">
                                  <a:solidFill>
                                    <a:schemeClr val="tx1"/>
                                  </a:solidFill>
                                  <a:latin typeface="Cambria Math" panose="02040503050406030204" pitchFamily="18" charset="0"/>
                                </a:rPr>
                                <m:t>≡</m:t>
                              </m:r>
                            </m:oMath>
                          </a14:m>
                          <a:endParaRPr lang="en-GB" sz="1200" b="0" i="1" noProof="0"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−14</m:t>
                                </m:r>
                              </m:oMath>
                            </m:oMathPara>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 </a:t>
                          </a:r>
                          <a14:m>
                            <m:oMath xmlns:m="http://schemas.openxmlformats.org/officeDocument/2006/math">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e>
                              </m:d>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−4</m:t>
                                  </m:r>
                                </m:e>
                              </m:d>
                              <m:r>
                                <a:rPr lang="en-GB" sz="1200" b="0" i="1" noProof="0" smtClean="0">
                                  <a:solidFill>
                                    <a:schemeClr val="tx1"/>
                                  </a:solidFill>
                                  <a:latin typeface="Cambria Math" panose="02040503050406030204" pitchFamily="18" charset="0"/>
                                </a:rPr>
                                <m:t>−</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m:t>
                                  </m:r>
                                </m:e>
                              </m:d>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e>
                              </m:d>
                              <m:r>
                                <a:rPr lang="en-GB" sz="1200" b="0" i="1" noProof="0" smtClean="0">
                                  <a:solidFill>
                                    <a:schemeClr val="tx1"/>
                                  </a:solidFill>
                                  <a:latin typeface="Cambria Math" panose="02040503050406030204" pitchFamily="18" charset="0"/>
                                </a:rPr>
                                <m:t>≡</m:t>
                              </m:r>
                            </m:oMath>
                          </a14:m>
                          <a:endParaRPr lang="en-GB" sz="1200" b="0" i="1" noProof="0"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−6</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−2 </m:t>
                                </m:r>
                              </m:oMath>
                            </m:oMathPara>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6478195"/>
                      </a:ext>
                    </a:extLst>
                  </a:tr>
                </a:tbl>
              </a:graphicData>
            </a:graphic>
          </p:graphicFrame>
        </mc:Choice>
        <mc:Fallback xmlns="">
          <p:graphicFrame>
            <p:nvGraphicFramePr>
              <p:cNvPr id="14" name="Table 13">
                <a:extLst>
                  <a:ext uri="{FF2B5EF4-FFF2-40B4-BE49-F238E27FC236}">
                    <a16:creationId xmlns:a16="http://schemas.microsoft.com/office/drawing/2014/main" id="{D343574A-2C47-85AD-47E4-D26B3F938E2C}"/>
                  </a:ext>
                </a:extLst>
              </p:cNvPr>
              <p:cNvGraphicFramePr>
                <a:graphicFrameLocks noGrp="1"/>
              </p:cNvGraphicFramePr>
              <p:nvPr>
                <p:extLst>
                  <p:ext uri="{D42A27DB-BD31-4B8C-83A1-F6EECF244321}">
                    <p14:modId xmlns:p14="http://schemas.microsoft.com/office/powerpoint/2010/main" val="1954762222"/>
                  </p:ext>
                </p:extLst>
              </p:nvPr>
            </p:nvGraphicFramePr>
            <p:xfrm>
              <a:off x="97859" y="7634719"/>
              <a:ext cx="6638985" cy="2204356"/>
            </p:xfrm>
            <a:graphic>
              <a:graphicData uri="http://schemas.openxmlformats.org/drawingml/2006/table">
                <a:tbl>
                  <a:tblPr firstRow="1" bandRow="1">
                    <a:tableStyleId>{5C22544A-7EE6-4342-B048-85BDC9FD1C3A}</a:tableStyleId>
                  </a:tblPr>
                  <a:tblGrid>
                    <a:gridCol w="1451541">
                      <a:extLst>
                        <a:ext uri="{9D8B030D-6E8A-4147-A177-3AD203B41FA5}">
                          <a16:colId xmlns:a16="http://schemas.microsoft.com/office/drawing/2014/main" val="1901797026"/>
                        </a:ext>
                      </a:extLst>
                    </a:gridCol>
                    <a:gridCol w="1803400">
                      <a:extLst>
                        <a:ext uri="{9D8B030D-6E8A-4147-A177-3AD203B41FA5}">
                          <a16:colId xmlns:a16="http://schemas.microsoft.com/office/drawing/2014/main" val="1097336017"/>
                        </a:ext>
                      </a:extLst>
                    </a:gridCol>
                    <a:gridCol w="3384044">
                      <a:extLst>
                        <a:ext uri="{9D8B030D-6E8A-4147-A177-3AD203B41FA5}">
                          <a16:colId xmlns:a16="http://schemas.microsoft.com/office/drawing/2014/main" val="3465043989"/>
                        </a:ext>
                      </a:extLst>
                    </a:gridCol>
                  </a:tblGrid>
                  <a:tr h="220435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20" t="-275" r="-358824" b="-5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0743" t="-275" r="-188514" b="-55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6223" t="-275" r="-360" b="-551"/>
                          </a:stretch>
                        </a:blipFill>
                      </a:tcPr>
                    </a:tc>
                    <a:extLst>
                      <a:ext uri="{0D108BD9-81ED-4DB2-BD59-A6C34878D82A}">
                        <a16:rowId xmlns:a16="http://schemas.microsoft.com/office/drawing/2014/main" val="756478195"/>
                      </a:ext>
                    </a:extLst>
                  </a:tr>
                </a:tbl>
              </a:graphicData>
            </a:graphic>
          </p:graphicFrame>
        </mc:Fallback>
      </mc:AlternateContent>
    </p:spTree>
    <p:extLst>
      <p:ext uri="{BB962C8B-B14F-4D97-AF65-F5344CB8AC3E}">
        <p14:creationId xmlns:p14="http://schemas.microsoft.com/office/powerpoint/2010/main" val="4216146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5BFEE-DDB6-7E97-62FD-AAA5C7B245CA}"/>
            </a:ext>
          </a:extLst>
        </p:cNvPr>
        <p:cNvGrpSpPr/>
        <p:nvPr/>
      </p:nvGrpSpPr>
      <p:grpSpPr>
        <a:xfrm>
          <a:off x="0" y="0"/>
          <a:ext cx="0" cy="0"/>
          <a:chOff x="0" y="0"/>
          <a:chExt cx="0" cy="0"/>
        </a:xfrm>
      </p:grpSpPr>
      <p:sp>
        <p:nvSpPr>
          <p:cNvPr id="18" name="Slide Number Placeholder 17">
            <a:extLst>
              <a:ext uri="{FF2B5EF4-FFF2-40B4-BE49-F238E27FC236}">
                <a16:creationId xmlns:a16="http://schemas.microsoft.com/office/drawing/2014/main" id="{023C1AAC-8378-98F3-6A5C-0DF351E58EBA}"/>
              </a:ext>
            </a:extLst>
          </p:cNvPr>
          <p:cNvSpPr>
            <a:spLocks noGrp="1"/>
          </p:cNvSpPr>
          <p:nvPr>
            <p:ph type="sldNum" sz="quarter" idx="12"/>
          </p:nvPr>
        </p:nvSpPr>
        <p:spPr>
          <a:xfrm>
            <a:off x="5309271" y="9548817"/>
            <a:ext cx="1543050" cy="527403"/>
          </a:xfrm>
        </p:spPr>
        <p:txBody>
          <a:bodyPr/>
          <a:lstStyle/>
          <a:p>
            <a:fld id="{19F1D9CC-7119-45EC-A96C-D8C0660F3AAB}" type="slidenum">
              <a:rPr lang="en-GB" noProof="0" smtClean="0">
                <a:solidFill>
                  <a:schemeClr val="bg1"/>
                </a:solidFill>
              </a:rPr>
              <a:t>2</a:t>
            </a:fld>
            <a:endParaRPr lang="en-GB" noProof="0" dirty="0">
              <a:solidFill>
                <a:schemeClr val="bg1"/>
              </a:solidFill>
            </a:endParaRPr>
          </a:p>
        </p:txBody>
      </p:sp>
      <p:sp>
        <p:nvSpPr>
          <p:cNvPr id="26" name="TextBox 25">
            <a:extLst>
              <a:ext uri="{FF2B5EF4-FFF2-40B4-BE49-F238E27FC236}">
                <a16:creationId xmlns:a16="http://schemas.microsoft.com/office/drawing/2014/main" id="{B41107AA-CC7B-97DE-1B4B-DA832C946506}"/>
              </a:ext>
            </a:extLst>
          </p:cNvPr>
          <p:cNvSpPr txBox="1"/>
          <p:nvPr/>
        </p:nvSpPr>
        <p:spPr>
          <a:xfrm>
            <a:off x="0" y="0"/>
            <a:ext cx="3105467" cy="276999"/>
          </a:xfrm>
          <a:prstGeom prst="rect">
            <a:avLst/>
          </a:prstGeom>
          <a:solidFill>
            <a:srgbClr val="0070C0"/>
          </a:solidFill>
        </p:spPr>
        <p:txBody>
          <a:bodyPr wrap="none" rtlCol="0" anchor="ctr">
            <a:spAutoFit/>
          </a:bodyPr>
          <a:lstStyle/>
          <a:p>
            <a:pPr algn="ctr"/>
            <a:r>
              <a:rPr lang="en-GB" sz="1200" b="1" noProof="0" dirty="0">
                <a:solidFill>
                  <a:schemeClr val="bg1"/>
                </a:solidFill>
              </a:rPr>
              <a:t>ALGEBRAIC PROOF: PRINCIPLES OF NOTATION</a:t>
            </a:r>
          </a:p>
        </p:txBody>
      </p:sp>
      <p:sp>
        <p:nvSpPr>
          <p:cNvPr id="21" name="Slide Number Placeholder 16">
            <a:extLst>
              <a:ext uri="{FF2B5EF4-FFF2-40B4-BE49-F238E27FC236}">
                <a16:creationId xmlns:a16="http://schemas.microsoft.com/office/drawing/2014/main" id="{CC151D64-4E5C-BDB0-351E-4550737FBFB4}"/>
              </a:ext>
            </a:extLst>
          </p:cNvPr>
          <p:cNvSpPr txBox="1">
            <a:spLocks/>
          </p:cNvSpPr>
          <p:nvPr/>
        </p:nvSpPr>
        <p:spPr>
          <a:xfrm>
            <a:off x="5257814" y="9488376"/>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2</a:t>
            </a:fld>
            <a:endParaRPr lang="en-GB" noProof="0" dirty="0"/>
          </a:p>
        </p:txBody>
      </p:sp>
      <p:cxnSp>
        <p:nvCxnSpPr>
          <p:cNvPr id="22" name="Straight Connector 21">
            <a:extLst>
              <a:ext uri="{FF2B5EF4-FFF2-40B4-BE49-F238E27FC236}">
                <a16:creationId xmlns:a16="http://schemas.microsoft.com/office/drawing/2014/main" id="{EFECC7B6-1A08-F47B-659E-F9A70E074E75}"/>
              </a:ext>
            </a:extLst>
          </p:cNvPr>
          <p:cNvCxnSpPr/>
          <p:nvPr/>
        </p:nvCxnSpPr>
        <p:spPr>
          <a:xfrm flipV="1">
            <a:off x="8181122" y="426883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ECB5C65E-4549-B883-C00C-7505A49CBF2B}"/>
              </a:ext>
            </a:extLst>
          </p:cNvPr>
          <p:cNvSpPr/>
          <p:nvPr/>
        </p:nvSpPr>
        <p:spPr>
          <a:xfrm>
            <a:off x="7326442" y="2508490"/>
            <a:ext cx="6643204" cy="232125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24" name="Straight Connector 23">
            <a:extLst>
              <a:ext uri="{FF2B5EF4-FFF2-40B4-BE49-F238E27FC236}">
                <a16:creationId xmlns:a16="http://schemas.microsoft.com/office/drawing/2014/main" id="{E00DF9A8-5AF5-DD8B-5E4B-A69E6837A1DE}"/>
              </a:ext>
            </a:extLst>
          </p:cNvPr>
          <p:cNvCxnSpPr/>
          <p:nvPr/>
        </p:nvCxnSpPr>
        <p:spPr>
          <a:xfrm flipV="1">
            <a:off x="7332812" y="3571869"/>
            <a:ext cx="6632615" cy="40322"/>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2160A77D-47C5-B20E-EFBA-EF692F58AE53}"/>
              </a:ext>
            </a:extLst>
          </p:cNvPr>
          <p:cNvCxnSpPr>
            <a:stCxn id="23" idx="2"/>
            <a:endCxn id="23" idx="0"/>
          </p:cNvCxnSpPr>
          <p:nvPr/>
        </p:nvCxnSpPr>
        <p:spPr>
          <a:xfrm flipV="1">
            <a:off x="10648044" y="2508490"/>
            <a:ext cx="0" cy="2321252"/>
          </a:xfrm>
          <a:prstGeom prst="line">
            <a:avLst/>
          </a:prstGeom>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75882DBF-5E9A-DC92-7F6D-CCEBAC49636E}"/>
              </a:ext>
            </a:extLst>
          </p:cNvPr>
          <p:cNvSpPr txBox="1"/>
          <p:nvPr/>
        </p:nvSpPr>
        <p:spPr>
          <a:xfrm>
            <a:off x="7344196" y="2499112"/>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29" name="TextBox 28">
            <a:extLst>
              <a:ext uri="{FF2B5EF4-FFF2-40B4-BE49-F238E27FC236}">
                <a16:creationId xmlns:a16="http://schemas.microsoft.com/office/drawing/2014/main" id="{925D0E25-09DC-74A3-80B5-8C1B1E955DC2}"/>
              </a:ext>
            </a:extLst>
          </p:cNvPr>
          <p:cNvSpPr txBox="1"/>
          <p:nvPr/>
        </p:nvSpPr>
        <p:spPr>
          <a:xfrm>
            <a:off x="12868247" y="2466726"/>
            <a:ext cx="1112228" cy="276999"/>
          </a:xfrm>
          <a:prstGeom prst="rect">
            <a:avLst/>
          </a:prstGeom>
          <a:noFill/>
        </p:spPr>
        <p:txBody>
          <a:bodyPr wrap="none" rtlCol="0">
            <a:spAutoFit/>
          </a:bodyPr>
          <a:lstStyle/>
          <a:p>
            <a:r>
              <a:rPr lang="en-GB" sz="1200" b="1" noProof="0" dirty="0"/>
              <a:t>Characteristics</a:t>
            </a:r>
          </a:p>
        </p:txBody>
      </p:sp>
      <p:sp>
        <p:nvSpPr>
          <p:cNvPr id="30" name="TextBox 29">
            <a:extLst>
              <a:ext uri="{FF2B5EF4-FFF2-40B4-BE49-F238E27FC236}">
                <a16:creationId xmlns:a16="http://schemas.microsoft.com/office/drawing/2014/main" id="{528EC95B-7C7C-1082-CA31-44ACF5D4CBEA}"/>
              </a:ext>
            </a:extLst>
          </p:cNvPr>
          <p:cNvSpPr txBox="1"/>
          <p:nvPr/>
        </p:nvSpPr>
        <p:spPr>
          <a:xfrm>
            <a:off x="7359343" y="3596250"/>
            <a:ext cx="788164" cy="276999"/>
          </a:xfrm>
          <a:prstGeom prst="rect">
            <a:avLst/>
          </a:prstGeom>
          <a:noFill/>
        </p:spPr>
        <p:txBody>
          <a:bodyPr wrap="none" rtlCol="0">
            <a:spAutoFit/>
          </a:bodyPr>
          <a:lstStyle/>
          <a:p>
            <a:r>
              <a:rPr lang="en-GB" sz="1200" b="1" noProof="0" dirty="0"/>
              <a:t>Examples</a:t>
            </a:r>
          </a:p>
        </p:txBody>
      </p:sp>
      <p:sp>
        <p:nvSpPr>
          <p:cNvPr id="31" name="TextBox 30">
            <a:extLst>
              <a:ext uri="{FF2B5EF4-FFF2-40B4-BE49-F238E27FC236}">
                <a16:creationId xmlns:a16="http://schemas.microsoft.com/office/drawing/2014/main" id="{9700E8D7-436B-DF7B-F3F0-450725C67481}"/>
              </a:ext>
            </a:extLst>
          </p:cNvPr>
          <p:cNvSpPr txBox="1"/>
          <p:nvPr/>
        </p:nvSpPr>
        <p:spPr>
          <a:xfrm>
            <a:off x="12796760" y="3571869"/>
            <a:ext cx="1172885" cy="276999"/>
          </a:xfrm>
          <a:prstGeom prst="rect">
            <a:avLst/>
          </a:prstGeom>
          <a:noFill/>
        </p:spPr>
        <p:txBody>
          <a:bodyPr wrap="none" rtlCol="0">
            <a:spAutoFit/>
          </a:bodyPr>
          <a:lstStyle/>
          <a:p>
            <a:r>
              <a:rPr lang="en-GB" sz="1200" b="1" noProof="0" dirty="0"/>
              <a:t>Non - Examples</a:t>
            </a:r>
          </a:p>
        </p:txBody>
      </p:sp>
      <p:sp>
        <p:nvSpPr>
          <p:cNvPr id="32" name="TextBox 31">
            <a:extLst>
              <a:ext uri="{FF2B5EF4-FFF2-40B4-BE49-F238E27FC236}">
                <a16:creationId xmlns:a16="http://schemas.microsoft.com/office/drawing/2014/main" id="{E48A0392-5024-1BE2-64E5-832EDC6E95AA}"/>
              </a:ext>
            </a:extLst>
          </p:cNvPr>
          <p:cNvSpPr txBox="1"/>
          <p:nvPr/>
        </p:nvSpPr>
        <p:spPr>
          <a:xfrm>
            <a:off x="7364975" y="2740169"/>
            <a:ext cx="3230335" cy="646331"/>
          </a:xfrm>
          <a:prstGeom prst="rect">
            <a:avLst/>
          </a:prstGeom>
          <a:noFill/>
        </p:spPr>
        <p:txBody>
          <a:bodyPr wrap="square" rtlCol="0">
            <a:spAutoFit/>
          </a:bodyPr>
          <a:lstStyle/>
          <a:p>
            <a:r>
              <a:rPr lang="en-GB" sz="1200" noProof="0" dirty="0"/>
              <a:t>A structured argument that follows a sequence of logical steps using facts and theorems to prove if a mathematical statement is true.</a:t>
            </a:r>
            <a:endParaRPr lang="en-GB" sz="600" noProof="0" dirty="0"/>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9CEC90F-0021-4DE2-E22E-4C3D23220366}"/>
                  </a:ext>
                </a:extLst>
              </p:cNvPr>
              <p:cNvSpPr txBox="1"/>
              <p:nvPr/>
            </p:nvSpPr>
            <p:spPr>
              <a:xfrm>
                <a:off x="10739310" y="2690130"/>
                <a:ext cx="3230335" cy="600164"/>
              </a:xfrm>
              <a:prstGeom prst="rect">
                <a:avLst/>
              </a:prstGeom>
              <a:noFill/>
            </p:spPr>
            <p:txBody>
              <a:bodyPr wrap="square" rtlCol="0">
                <a:spAutoFit/>
              </a:bodyPr>
              <a:lstStyle/>
              <a:p>
                <a:r>
                  <a:rPr lang="en-GB" sz="1100" noProof="0" dirty="0"/>
                  <a:t>For algebraic proof we perform proof by induction, this means it is true for </a:t>
                </a:r>
                <a:r>
                  <a:rPr lang="en-GB" sz="1100" b="1" noProof="0" dirty="0"/>
                  <a:t>any value. </a:t>
                </a:r>
              </a:p>
              <a:p>
                <a:r>
                  <a:rPr lang="en-GB" sz="1100" noProof="0" dirty="0"/>
                  <a:t>We tend to use </a:t>
                </a:r>
                <a14:m>
                  <m:oMath xmlns:m="http://schemas.openxmlformats.org/officeDocument/2006/math">
                    <m:r>
                      <a:rPr lang="en-GB" sz="1100" b="0" i="1" noProof="0" smtClean="0">
                        <a:latin typeface="Cambria Math" panose="02040503050406030204" pitchFamily="18" charset="0"/>
                      </a:rPr>
                      <m:t>𝑛</m:t>
                    </m:r>
                  </m:oMath>
                </a14:m>
                <a:r>
                  <a:rPr lang="en-GB" sz="1100" noProof="0" dirty="0"/>
                  <a:t> to denote </a:t>
                </a:r>
                <a:r>
                  <a:rPr lang="en-GB" sz="1100" b="1" noProof="0" dirty="0"/>
                  <a:t>any value. </a:t>
                </a:r>
              </a:p>
            </p:txBody>
          </p:sp>
        </mc:Choice>
        <mc:Fallback xmlns="">
          <p:sp>
            <p:nvSpPr>
              <p:cNvPr id="33" name="TextBox 32">
                <a:extLst>
                  <a:ext uri="{FF2B5EF4-FFF2-40B4-BE49-F238E27FC236}">
                    <a16:creationId xmlns:a16="http://schemas.microsoft.com/office/drawing/2014/main" id="{F9CEC90F-0021-4DE2-E22E-4C3D23220366}"/>
                  </a:ext>
                </a:extLst>
              </p:cNvPr>
              <p:cNvSpPr txBox="1">
                <a:spLocks noRot="1" noChangeAspect="1" noMove="1" noResize="1" noEditPoints="1" noAdjustHandles="1" noChangeArrowheads="1" noChangeShapeType="1" noTextEdit="1"/>
              </p:cNvSpPr>
              <p:nvPr/>
            </p:nvSpPr>
            <p:spPr>
              <a:xfrm>
                <a:off x="10739310" y="2690130"/>
                <a:ext cx="3230335" cy="600164"/>
              </a:xfrm>
              <a:prstGeom prst="rect">
                <a:avLst/>
              </a:prstGeom>
              <a:blipFill>
                <a:blip r:embed="rId3"/>
                <a:stretch>
                  <a:fillRect t="-1010" b="-6061"/>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213B43DF-2FE4-CB1A-4088-B86FED49DF35}"/>
              </a:ext>
            </a:extLst>
          </p:cNvPr>
          <p:cNvSpPr txBox="1"/>
          <p:nvPr/>
        </p:nvSpPr>
        <p:spPr>
          <a:xfrm>
            <a:off x="10301096" y="3465729"/>
            <a:ext cx="693908" cy="369332"/>
          </a:xfrm>
          <a:prstGeom prst="rect">
            <a:avLst/>
          </a:prstGeom>
          <a:solidFill>
            <a:schemeClr val="bg1"/>
          </a:solidFill>
          <a:ln>
            <a:solidFill>
              <a:schemeClr val="tx1"/>
            </a:solidFill>
          </a:ln>
        </p:spPr>
        <p:txBody>
          <a:bodyPr wrap="none" rtlCol="0">
            <a:spAutoFit/>
          </a:bodyPr>
          <a:lstStyle/>
          <a:p>
            <a:r>
              <a:rPr lang="en-GB" noProof="0" dirty="0"/>
              <a:t>Proof</a:t>
            </a:r>
          </a:p>
        </p:txBody>
      </p:sp>
      <p:sp>
        <p:nvSpPr>
          <p:cNvPr id="35" name="Rectangle 34">
            <a:extLst>
              <a:ext uri="{FF2B5EF4-FFF2-40B4-BE49-F238E27FC236}">
                <a16:creationId xmlns:a16="http://schemas.microsoft.com/office/drawing/2014/main" id="{34AFEAAD-2C70-4D29-4DB4-60DCDF4F9255}"/>
              </a:ext>
            </a:extLst>
          </p:cNvPr>
          <p:cNvSpPr/>
          <p:nvPr/>
        </p:nvSpPr>
        <p:spPr>
          <a:xfrm>
            <a:off x="7359343" y="3862441"/>
            <a:ext cx="3273285" cy="830997"/>
          </a:xfrm>
          <a:prstGeom prst="rect">
            <a:avLst/>
          </a:prstGeom>
        </p:spPr>
        <p:txBody>
          <a:bodyPr wrap="square">
            <a:spAutoFit/>
          </a:bodyPr>
          <a:lstStyle/>
          <a:p>
            <a:r>
              <a:rPr lang="en-GB" sz="1200" noProof="0" dirty="0"/>
              <a:t>Prove algebraically that the sum of two consecutive odd numbers is divisible by 4</a:t>
            </a:r>
          </a:p>
          <a:p>
            <a:endParaRPr lang="en-GB" sz="1200" noProof="0" dirty="0"/>
          </a:p>
          <a:p>
            <a:r>
              <a:rPr lang="en-GB" sz="1200" noProof="0" dirty="0"/>
              <a:t>2n + 1 + 2n + 3 = 4n + 4 = 4(n + 1)</a:t>
            </a:r>
          </a:p>
        </p:txBody>
      </p:sp>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F1F628D3-D920-B80D-C427-FDA6A0D205C4}"/>
                  </a:ext>
                </a:extLst>
              </p:cNvPr>
              <p:cNvSpPr/>
              <p:nvPr/>
            </p:nvSpPr>
            <p:spPr>
              <a:xfrm>
                <a:off x="10652804" y="3820501"/>
                <a:ext cx="3273285" cy="1015663"/>
              </a:xfrm>
              <a:prstGeom prst="rect">
                <a:avLst/>
              </a:prstGeom>
            </p:spPr>
            <p:txBody>
              <a:bodyPr wrap="square">
                <a:spAutoFit/>
              </a:bodyPr>
              <a:lstStyle/>
              <a:p>
                <a:r>
                  <a:rPr lang="en-GB" sz="1200" noProof="0" dirty="0"/>
                  <a:t>Prove algebraically that the sum of two consecutive odd numbers is divisible by 4</a:t>
                </a:r>
              </a:p>
              <a:p>
                <a:endParaRPr lang="en-GB" sz="1200" noProof="0" dirty="0"/>
              </a:p>
              <a:p>
                <a:r>
                  <a:rPr lang="en-GB" sz="1200" noProof="0" dirty="0"/>
                  <a:t>3 + 5 = 8   8 </a:t>
                </a:r>
                <a14:m>
                  <m:oMath xmlns:m="http://schemas.openxmlformats.org/officeDocument/2006/math">
                    <m:r>
                      <a:rPr lang="en-GB" sz="1200" i="1" noProof="0" smtClean="0">
                        <a:latin typeface="Cambria Math" panose="02040503050406030204" pitchFamily="18" charset="0"/>
                        <a:ea typeface="Cambria Math" panose="02040503050406030204" pitchFamily="18" charset="0"/>
                      </a:rPr>
                      <m:t>÷</m:t>
                    </m:r>
                  </m:oMath>
                </a14:m>
                <a:r>
                  <a:rPr lang="en-GB" sz="1200" noProof="0" dirty="0"/>
                  <a:t> 4 = 2 so it is proved. (Why is this incorrect?</a:t>
                </a:r>
              </a:p>
            </p:txBody>
          </p:sp>
        </mc:Choice>
        <mc:Fallback xmlns="">
          <p:sp>
            <p:nvSpPr>
              <p:cNvPr id="41" name="Rectangle 40">
                <a:extLst>
                  <a:ext uri="{FF2B5EF4-FFF2-40B4-BE49-F238E27FC236}">
                    <a16:creationId xmlns:a16="http://schemas.microsoft.com/office/drawing/2014/main" id="{F1F628D3-D920-B80D-C427-FDA6A0D205C4}"/>
                  </a:ext>
                </a:extLst>
              </p:cNvPr>
              <p:cNvSpPr>
                <a:spLocks noRot="1" noChangeAspect="1" noMove="1" noResize="1" noEditPoints="1" noAdjustHandles="1" noChangeArrowheads="1" noChangeShapeType="1" noTextEdit="1"/>
              </p:cNvSpPr>
              <p:nvPr/>
            </p:nvSpPr>
            <p:spPr>
              <a:xfrm>
                <a:off x="10652804" y="3820501"/>
                <a:ext cx="3273285" cy="1015663"/>
              </a:xfrm>
              <a:prstGeom prst="rect">
                <a:avLst/>
              </a:prstGeom>
              <a:blipFill>
                <a:blip r:embed="rId4"/>
                <a:stretch>
                  <a:fillRect l="-187" t="-602" b="-4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BACA989-F4F8-201F-8594-C7D7F4A458CD}"/>
                  </a:ext>
                </a:extLst>
              </p:cNvPr>
              <p:cNvSpPr txBox="1"/>
              <p:nvPr/>
            </p:nvSpPr>
            <p:spPr>
              <a:xfrm>
                <a:off x="107398" y="371082"/>
                <a:ext cx="6643204" cy="3231654"/>
              </a:xfrm>
              <a:prstGeom prst="rect">
                <a:avLst/>
              </a:prstGeom>
              <a:noFill/>
              <a:ln>
                <a:solidFill>
                  <a:schemeClr val="tx1"/>
                </a:solidFill>
              </a:ln>
            </p:spPr>
            <p:txBody>
              <a:bodyPr wrap="square" rtlCol="0">
                <a:spAutoFit/>
              </a:bodyPr>
              <a:lstStyle/>
              <a:p>
                <a:r>
                  <a:rPr lang="en-GB" sz="1200" noProof="0" dirty="0"/>
                  <a:t>To become adept at writing and forming mathematical proofs you need to first understand the basic principles that all mathematicians will use:</a:t>
                </a:r>
              </a:p>
              <a:p>
                <a:endParaRPr lang="en-GB" sz="1200" noProof="0" dirty="0"/>
              </a:p>
              <a:p>
                <a:pPr marL="171450" indent="-171450">
                  <a:buFont typeface="Arial" panose="020B0604020202020204" pitchFamily="34" charset="0"/>
                  <a:buChar char="•"/>
                </a:pPr>
                <a:r>
                  <a:rPr lang="en-GB" sz="1200" noProof="0" dirty="0"/>
                  <a:t>Any integer will be denoted by the variable</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𝑛</m:t>
                    </m:r>
                  </m:oMath>
                </a14:m>
                <a:r>
                  <a:rPr lang="en-GB" sz="1200" noProof="0" dirty="0"/>
                  <a:t>.</a:t>
                </a:r>
              </a:p>
              <a:p>
                <a:pPr marL="171450" indent="-171450">
                  <a:buFont typeface="Arial" panose="020B0604020202020204" pitchFamily="34" charset="0"/>
                  <a:buChar char="•"/>
                </a:pPr>
                <a:r>
                  <a:rPr lang="en-GB" sz="1200" noProof="0" dirty="0"/>
                  <a:t>Any integer multiplied by 2 becomes an even number, therefore we use </a:t>
                </a:r>
                <a14:m>
                  <m:oMath xmlns:m="http://schemas.openxmlformats.org/officeDocument/2006/math">
                    <m:r>
                      <a:rPr lang="en-GB" sz="1200" i="1" noProof="0">
                        <a:latin typeface="Cambria Math" panose="02040503050406030204" pitchFamily="18" charset="0"/>
                      </a:rPr>
                      <m:t>2</m:t>
                    </m:r>
                    <m:r>
                      <a:rPr lang="en-GB" sz="1200" i="1" noProof="0">
                        <a:latin typeface="Cambria Math" panose="02040503050406030204" pitchFamily="18" charset="0"/>
                      </a:rPr>
                      <m:t>𝑛</m:t>
                    </m:r>
                  </m:oMath>
                </a14:m>
                <a:r>
                  <a:rPr lang="en-GB" sz="1200" noProof="0" dirty="0"/>
                  <a:t> to represent any even number. If you are asked about “any two even numbers” then use </a:t>
                </a:r>
                <a14:m>
                  <m:oMath xmlns:m="http://schemas.openxmlformats.org/officeDocument/2006/math">
                    <m:r>
                      <a:rPr lang="en-GB" sz="1200" b="0" i="1" noProof="0" smtClean="0">
                        <a:latin typeface="Cambria Math" panose="02040503050406030204" pitchFamily="18" charset="0"/>
                      </a:rPr>
                      <m:t>2</m:t>
                    </m:r>
                    <m:r>
                      <a:rPr lang="en-GB" sz="1200" b="0" i="1" noProof="0" smtClean="0">
                        <a:latin typeface="Cambria Math" panose="02040503050406030204" pitchFamily="18" charset="0"/>
                      </a:rPr>
                      <m:t>𝑛</m:t>
                    </m:r>
                    <m:r>
                      <a:rPr lang="en-GB" sz="1200" b="0" i="1" noProof="0" smtClean="0">
                        <a:latin typeface="Cambria Math" panose="02040503050406030204" pitchFamily="18" charset="0"/>
                      </a:rPr>
                      <m:t> </m:t>
                    </m:r>
                  </m:oMath>
                </a14:m>
                <a:r>
                  <a:rPr lang="en-GB" sz="1200" noProof="0" dirty="0"/>
                  <a:t>and </a:t>
                </a:r>
                <a14:m>
                  <m:oMath xmlns:m="http://schemas.openxmlformats.org/officeDocument/2006/math">
                    <m:r>
                      <a:rPr lang="en-GB" sz="1200" b="0" i="1" noProof="0" smtClean="0">
                        <a:latin typeface="Cambria Math" panose="02040503050406030204" pitchFamily="18" charset="0"/>
                      </a:rPr>
                      <m:t>2</m:t>
                    </m:r>
                    <m:r>
                      <a:rPr lang="en-GB" sz="1200" b="0" i="1" noProof="0" smtClean="0">
                        <a:latin typeface="Cambria Math" panose="02040503050406030204" pitchFamily="18" charset="0"/>
                      </a:rPr>
                      <m:t>𝑚</m:t>
                    </m:r>
                  </m:oMath>
                </a14:m>
                <a:endParaRPr lang="en-GB" sz="1200" noProof="0" dirty="0"/>
              </a:p>
              <a:p>
                <a:pPr marL="171450" indent="-171450">
                  <a:buFont typeface="Arial" panose="020B0604020202020204" pitchFamily="34" charset="0"/>
                  <a:buChar char="•"/>
                </a:pPr>
                <a:r>
                  <a:rPr lang="en-GB" sz="1200" noProof="0" dirty="0"/>
                  <a:t>One more or less than any even number is an odd number, therefore </a:t>
                </a:r>
                <a14:m>
                  <m:oMath xmlns:m="http://schemas.openxmlformats.org/officeDocument/2006/math">
                    <m:r>
                      <a:rPr lang="en-GB" sz="1200" i="1" noProof="0">
                        <a:latin typeface="Cambria Math" panose="02040503050406030204" pitchFamily="18" charset="0"/>
                      </a:rPr>
                      <m:t>2</m:t>
                    </m:r>
                    <m:r>
                      <a:rPr lang="en-GB" sz="1200" i="1" noProof="0">
                        <a:latin typeface="Cambria Math" panose="02040503050406030204" pitchFamily="18" charset="0"/>
                      </a:rPr>
                      <m:t>𝑛</m:t>
                    </m:r>
                    <m:r>
                      <a:rPr lang="en-GB" sz="1200" i="1" noProof="0">
                        <a:latin typeface="Cambria Math" panose="02040503050406030204" pitchFamily="18" charset="0"/>
                      </a:rPr>
                      <m:t>±1 </m:t>
                    </m:r>
                  </m:oMath>
                </a14:m>
                <a:r>
                  <a:rPr lang="en-GB" sz="1200" noProof="0" dirty="0"/>
                  <a:t>represents any odd number. A ‘different’ odd number could then be </a:t>
                </a:r>
                <a14:m>
                  <m:oMath xmlns:m="http://schemas.openxmlformats.org/officeDocument/2006/math">
                    <m:r>
                      <a:rPr lang="en-GB" sz="1200" b="0" i="1" noProof="0" smtClean="0">
                        <a:latin typeface="Cambria Math" panose="02040503050406030204" pitchFamily="18" charset="0"/>
                      </a:rPr>
                      <m:t>2</m:t>
                    </m:r>
                    <m:r>
                      <a:rPr lang="en-GB" sz="1200" b="0" i="1" noProof="0" smtClean="0">
                        <a:latin typeface="Cambria Math" panose="02040503050406030204" pitchFamily="18" charset="0"/>
                      </a:rPr>
                      <m:t>𝑚</m:t>
                    </m:r>
                    <m:r>
                      <a:rPr lang="en-GB" sz="1200" b="0" i="1" noProof="0" smtClean="0">
                        <a:latin typeface="Cambria Math" panose="02040503050406030204" pitchFamily="18" charset="0"/>
                      </a:rPr>
                      <m:t>+1</m:t>
                    </m:r>
                  </m:oMath>
                </a14:m>
                <a:endParaRPr lang="en-GB" sz="1200" noProof="0" dirty="0"/>
              </a:p>
              <a:p>
                <a:pPr marL="171450" indent="-171450">
                  <a:buFont typeface="Arial" panose="020B0604020202020204" pitchFamily="34" charset="0"/>
                  <a:buChar char="•"/>
                </a:pPr>
                <a:r>
                  <a:rPr lang="en-GB" sz="1200" noProof="0" dirty="0"/>
                  <a:t>If </a:t>
                </a:r>
                <a14:m>
                  <m:oMath xmlns:m="http://schemas.openxmlformats.org/officeDocument/2006/math">
                    <m:r>
                      <a:rPr lang="en-GB" sz="1200" i="1" noProof="0">
                        <a:latin typeface="Cambria Math" panose="02040503050406030204" pitchFamily="18" charset="0"/>
                      </a:rPr>
                      <m:t>𝑛</m:t>
                    </m:r>
                  </m:oMath>
                </a14:m>
                <a:r>
                  <a:rPr lang="en-GB" sz="1200" noProof="0" dirty="0"/>
                  <a:t> is used to denote any integer then a series of consecutive integers would be </a:t>
                </a:r>
                <a14:m>
                  <m:oMath xmlns:m="http://schemas.openxmlformats.org/officeDocument/2006/math">
                    <m:r>
                      <a:rPr lang="en-GB" sz="1200" i="1" noProof="0">
                        <a:latin typeface="Cambria Math" panose="02040503050406030204" pitchFamily="18" charset="0"/>
                      </a:rPr>
                      <m:t>𝑛</m:t>
                    </m:r>
                    <m:r>
                      <a:rPr lang="en-GB" sz="1200" i="1" noProof="0">
                        <a:latin typeface="Cambria Math" panose="02040503050406030204" pitchFamily="18" charset="0"/>
                      </a:rPr>
                      <m:t>−1,</m:t>
                    </m:r>
                    <m:r>
                      <a:rPr lang="en-GB" sz="1200" i="1" noProof="0">
                        <a:latin typeface="Cambria Math" panose="02040503050406030204" pitchFamily="18" charset="0"/>
                      </a:rPr>
                      <m:t>𝑛</m:t>
                    </m:r>
                    <m:r>
                      <a:rPr lang="en-GB" sz="1200" i="1" noProof="0">
                        <a:latin typeface="Cambria Math" panose="02040503050406030204" pitchFamily="18" charset="0"/>
                      </a:rPr>
                      <m:t>,</m:t>
                    </m:r>
                    <m:r>
                      <a:rPr lang="en-GB" sz="1200" i="1" noProof="0">
                        <a:latin typeface="Cambria Math" panose="02040503050406030204" pitchFamily="18" charset="0"/>
                      </a:rPr>
                      <m:t>𝑛</m:t>
                    </m:r>
                    <m:r>
                      <a:rPr lang="en-GB" sz="1200" i="1" noProof="0">
                        <a:latin typeface="Cambria Math" panose="02040503050406030204" pitchFamily="18" charset="0"/>
                      </a:rPr>
                      <m:t>+1,</m:t>
                    </m:r>
                    <m:r>
                      <a:rPr lang="en-GB" sz="1200" i="1" noProof="0">
                        <a:latin typeface="Cambria Math" panose="02040503050406030204" pitchFamily="18" charset="0"/>
                      </a:rPr>
                      <m:t>𝑛</m:t>
                    </m:r>
                    <m:r>
                      <a:rPr lang="en-GB" sz="1200" i="1" noProof="0">
                        <a:latin typeface="Cambria Math" panose="02040503050406030204" pitchFamily="18" charset="0"/>
                      </a:rPr>
                      <m:t>+2,</m:t>
                    </m:r>
                    <m:r>
                      <a:rPr lang="en-GB" sz="1200" i="1" noProof="0">
                        <a:latin typeface="Cambria Math" panose="02040503050406030204" pitchFamily="18" charset="0"/>
                      </a:rPr>
                      <m:t>𝑛</m:t>
                    </m:r>
                    <m:r>
                      <a:rPr lang="en-GB" sz="1200" i="1" noProof="0">
                        <a:latin typeface="Cambria Math" panose="02040503050406030204" pitchFamily="18" charset="0"/>
                      </a:rPr>
                      <m:t>+3,…</m:t>
                    </m:r>
                  </m:oMath>
                </a14:m>
                <a:endParaRPr lang="en-GB" sz="1200" noProof="0" dirty="0"/>
              </a:p>
              <a:p>
                <a:pPr marL="171450" indent="-171450">
                  <a:buFont typeface="Arial" panose="020B0604020202020204" pitchFamily="34" charset="0"/>
                  <a:buChar char="•"/>
                </a:pPr>
                <a:r>
                  <a:rPr lang="en-GB" sz="1200" noProof="0" dirty="0"/>
                  <a:t>If </a:t>
                </a:r>
                <a14:m>
                  <m:oMath xmlns:m="http://schemas.openxmlformats.org/officeDocument/2006/math">
                    <m:r>
                      <a:rPr lang="en-GB" sz="1200" i="1" noProof="0">
                        <a:latin typeface="Cambria Math" panose="02040503050406030204" pitchFamily="18" charset="0"/>
                      </a:rPr>
                      <m:t>2</m:t>
                    </m:r>
                    <m:r>
                      <a:rPr lang="en-GB" sz="1200" i="1" noProof="0">
                        <a:latin typeface="Cambria Math" panose="02040503050406030204" pitchFamily="18" charset="0"/>
                      </a:rPr>
                      <m:t>𝑛</m:t>
                    </m:r>
                  </m:oMath>
                </a14:m>
                <a:r>
                  <a:rPr lang="en-GB" sz="1200" noProof="0" dirty="0"/>
                  <a:t> is used to denote any even number then a series of consecutive even integers would be </a:t>
                </a:r>
                <a14:m>
                  <m:oMath xmlns:m="http://schemas.openxmlformats.org/officeDocument/2006/math">
                    <m:r>
                      <a:rPr lang="en-GB" sz="1200" i="1" noProof="0">
                        <a:latin typeface="Cambria Math" panose="02040503050406030204" pitchFamily="18" charset="0"/>
                      </a:rPr>
                      <m:t>2</m:t>
                    </m:r>
                    <m:r>
                      <a:rPr lang="en-GB" sz="1200" i="1" noProof="0">
                        <a:latin typeface="Cambria Math" panose="02040503050406030204" pitchFamily="18" charset="0"/>
                      </a:rPr>
                      <m:t>𝑛</m:t>
                    </m:r>
                    <m:r>
                      <a:rPr lang="en-GB" sz="1200" i="1" noProof="0">
                        <a:latin typeface="Cambria Math" panose="02040503050406030204" pitchFamily="18" charset="0"/>
                      </a:rPr>
                      <m:t>−2,   2</m:t>
                    </m:r>
                    <m:r>
                      <a:rPr lang="en-GB" sz="1200" i="1" noProof="0">
                        <a:latin typeface="Cambria Math" panose="02040503050406030204" pitchFamily="18" charset="0"/>
                      </a:rPr>
                      <m:t>𝑛</m:t>
                    </m:r>
                    <m:r>
                      <a:rPr lang="en-GB" sz="1200" i="1" noProof="0">
                        <a:latin typeface="Cambria Math" panose="02040503050406030204" pitchFamily="18" charset="0"/>
                      </a:rPr>
                      <m:t>,  2</m:t>
                    </m:r>
                    <m:r>
                      <a:rPr lang="en-GB" sz="1200" i="1" noProof="0">
                        <a:latin typeface="Cambria Math" panose="02040503050406030204" pitchFamily="18" charset="0"/>
                      </a:rPr>
                      <m:t>𝑛</m:t>
                    </m:r>
                    <m:r>
                      <a:rPr lang="en-GB" sz="1200" i="1" noProof="0">
                        <a:latin typeface="Cambria Math" panose="02040503050406030204" pitchFamily="18" charset="0"/>
                      </a:rPr>
                      <m:t>+2,  2</m:t>
                    </m:r>
                    <m:r>
                      <a:rPr lang="en-GB" sz="1200" i="1" noProof="0">
                        <a:latin typeface="Cambria Math" panose="02040503050406030204" pitchFamily="18" charset="0"/>
                      </a:rPr>
                      <m:t>𝑛</m:t>
                    </m:r>
                    <m:r>
                      <a:rPr lang="en-GB" sz="1200" i="1" noProof="0">
                        <a:latin typeface="Cambria Math" panose="02040503050406030204" pitchFamily="18" charset="0"/>
                      </a:rPr>
                      <m:t>+2,…</m:t>
                    </m:r>
                  </m:oMath>
                </a14:m>
                <a:endParaRPr lang="en-GB" sz="1200" noProof="0" dirty="0"/>
              </a:p>
              <a:p>
                <a:pPr marL="171450" indent="-171450">
                  <a:buFont typeface="Arial" panose="020B0604020202020204" pitchFamily="34" charset="0"/>
                  <a:buChar char="•"/>
                </a:pPr>
                <a:r>
                  <a:rPr lang="en-GB" sz="1200" noProof="0" dirty="0"/>
                  <a:t>If </a:t>
                </a:r>
                <a14:m>
                  <m:oMath xmlns:m="http://schemas.openxmlformats.org/officeDocument/2006/math">
                    <m:r>
                      <a:rPr lang="en-GB" sz="1200" i="1" noProof="0">
                        <a:latin typeface="Cambria Math" panose="02040503050406030204" pitchFamily="18" charset="0"/>
                      </a:rPr>
                      <m:t>2</m:t>
                    </m:r>
                    <m:r>
                      <a:rPr lang="en-GB" sz="1200" i="1" noProof="0">
                        <a:latin typeface="Cambria Math" panose="02040503050406030204" pitchFamily="18" charset="0"/>
                      </a:rPr>
                      <m:t>𝑛</m:t>
                    </m:r>
                    <m:r>
                      <a:rPr lang="en-GB" sz="1200" i="1" noProof="0">
                        <a:latin typeface="Cambria Math" panose="02040503050406030204" pitchFamily="18" charset="0"/>
                      </a:rPr>
                      <m:t>+1</m:t>
                    </m:r>
                  </m:oMath>
                </a14:m>
                <a:r>
                  <a:rPr lang="en-GB" sz="1200" noProof="0" dirty="0"/>
                  <a:t> is used to denote any odd number then a series of consecutive odd integers would be </a:t>
                </a:r>
                <a14:m>
                  <m:oMath xmlns:m="http://schemas.openxmlformats.org/officeDocument/2006/math">
                    <m:r>
                      <a:rPr lang="en-GB" sz="1200" i="1" noProof="0">
                        <a:latin typeface="Cambria Math" panose="02040503050406030204" pitchFamily="18" charset="0"/>
                      </a:rPr>
                      <m:t>2</m:t>
                    </m:r>
                    <m:r>
                      <a:rPr lang="en-GB" sz="1200" i="1" noProof="0">
                        <a:latin typeface="Cambria Math" panose="02040503050406030204" pitchFamily="18" charset="0"/>
                      </a:rPr>
                      <m:t>𝑛</m:t>
                    </m:r>
                    <m:r>
                      <a:rPr lang="en-GB" sz="1200" i="1" noProof="0">
                        <a:latin typeface="Cambria Math" panose="02040503050406030204" pitchFamily="18" charset="0"/>
                      </a:rPr>
                      <m:t>−1, 2</m:t>
                    </m:r>
                    <m:r>
                      <a:rPr lang="en-GB" sz="1200" i="1" noProof="0">
                        <a:latin typeface="Cambria Math" panose="02040503050406030204" pitchFamily="18" charset="0"/>
                      </a:rPr>
                      <m:t>𝑛</m:t>
                    </m:r>
                    <m:r>
                      <a:rPr lang="en-GB" sz="1200" i="1" noProof="0">
                        <a:latin typeface="Cambria Math" panose="02040503050406030204" pitchFamily="18" charset="0"/>
                      </a:rPr>
                      <m:t>+1,  2</m:t>
                    </m:r>
                    <m:r>
                      <a:rPr lang="en-GB" sz="1200" i="1" noProof="0">
                        <a:latin typeface="Cambria Math" panose="02040503050406030204" pitchFamily="18" charset="0"/>
                      </a:rPr>
                      <m:t>𝑛</m:t>
                    </m:r>
                    <m:r>
                      <a:rPr lang="en-GB" sz="1200" i="1" noProof="0">
                        <a:latin typeface="Cambria Math" panose="02040503050406030204" pitchFamily="18" charset="0"/>
                      </a:rPr>
                      <m:t>+3,…</m:t>
                    </m:r>
                  </m:oMath>
                </a14:m>
                <a:endParaRPr lang="en-GB" sz="1200" noProof="0" dirty="0"/>
              </a:p>
              <a:p>
                <a:pPr marL="171450" indent="-171450">
                  <a:buFont typeface="Arial" panose="020B0604020202020204" pitchFamily="34" charset="0"/>
                  <a:buChar char="•"/>
                </a:pPr>
                <a:endParaRPr lang="en-GB" sz="1200" noProof="0" dirty="0"/>
              </a:p>
              <a:p>
                <a:r>
                  <a:rPr lang="en-GB" sz="1200" noProof="0" dirty="0"/>
                  <a:t>It follows from the above that if you can factorise a “2” out of an algebraic expression, then you have shown that the original expression was even. This can be seen in some of the examples below:</a:t>
                </a:r>
              </a:p>
            </p:txBody>
          </p:sp>
        </mc:Choice>
        <mc:Fallback xmlns="">
          <p:sp>
            <p:nvSpPr>
              <p:cNvPr id="2" name="TextBox 1">
                <a:extLst>
                  <a:ext uri="{FF2B5EF4-FFF2-40B4-BE49-F238E27FC236}">
                    <a16:creationId xmlns:a16="http://schemas.microsoft.com/office/drawing/2014/main" id="{3BACA989-F4F8-201F-8594-C7D7F4A458CD}"/>
                  </a:ext>
                </a:extLst>
              </p:cNvPr>
              <p:cNvSpPr txBox="1">
                <a:spLocks noRot="1" noChangeAspect="1" noMove="1" noResize="1" noEditPoints="1" noAdjustHandles="1" noChangeArrowheads="1" noChangeShapeType="1" noTextEdit="1"/>
              </p:cNvSpPr>
              <p:nvPr/>
            </p:nvSpPr>
            <p:spPr>
              <a:xfrm>
                <a:off x="107398" y="371082"/>
                <a:ext cx="6643204" cy="3231654"/>
              </a:xfrm>
              <a:prstGeom prst="rect">
                <a:avLst/>
              </a:prstGeom>
              <a:blipFill>
                <a:blip r:embed="rId5"/>
                <a:stretch>
                  <a:fillRect b="-376"/>
                </a:stretch>
              </a:blipFill>
              <a:ln>
                <a:solidFill>
                  <a:schemeClr val="tx1"/>
                </a:solidFill>
              </a:ln>
            </p:spPr>
            <p:txBody>
              <a:bodyPr/>
              <a:lstStyle/>
              <a:p>
                <a:r>
                  <a:rPr lang="en-US">
                    <a:noFill/>
                  </a:rPr>
                  <a:t> </a:t>
                </a:r>
              </a:p>
            </p:txBody>
          </p:sp>
        </mc:Fallback>
      </mc:AlternateContent>
      <p:sp>
        <p:nvSpPr>
          <p:cNvPr id="3" name="TextBox 2">
            <a:extLst>
              <a:ext uri="{FF2B5EF4-FFF2-40B4-BE49-F238E27FC236}">
                <a16:creationId xmlns:a16="http://schemas.microsoft.com/office/drawing/2014/main" id="{24FCEBC7-925D-AB29-1BA5-7CEF6140C7F3}"/>
              </a:ext>
            </a:extLst>
          </p:cNvPr>
          <p:cNvSpPr txBox="1"/>
          <p:nvPr/>
        </p:nvSpPr>
        <p:spPr>
          <a:xfrm>
            <a:off x="5130335" y="3693674"/>
            <a:ext cx="1498808" cy="276999"/>
          </a:xfrm>
          <a:prstGeom prst="rect">
            <a:avLst/>
          </a:prstGeom>
          <a:noFill/>
          <a:ln>
            <a:noFill/>
          </a:ln>
        </p:spPr>
        <p:txBody>
          <a:bodyPr wrap="none" rtlCol="0">
            <a:spAutoFit/>
          </a:bodyPr>
          <a:lstStyle/>
          <a:p>
            <a:r>
              <a:rPr lang="en-GB" sz="1200" b="1" i="1" noProof="0" dirty="0">
                <a:solidFill>
                  <a:srgbClr val="00B050"/>
                </a:solidFill>
              </a:rPr>
              <a:t>Example 6 - You do…</a:t>
            </a:r>
          </a:p>
        </p:txBody>
      </p:sp>
      <p:sp>
        <p:nvSpPr>
          <p:cNvPr id="4" name="TextBox 3">
            <a:extLst>
              <a:ext uri="{FF2B5EF4-FFF2-40B4-BE49-F238E27FC236}">
                <a16:creationId xmlns:a16="http://schemas.microsoft.com/office/drawing/2014/main" id="{E2A16817-4E2B-47FC-7F0F-7A620C7B3052}"/>
              </a:ext>
            </a:extLst>
          </p:cNvPr>
          <p:cNvSpPr txBox="1"/>
          <p:nvPr/>
        </p:nvSpPr>
        <p:spPr>
          <a:xfrm>
            <a:off x="3293651" y="3663177"/>
            <a:ext cx="1475789" cy="276999"/>
          </a:xfrm>
          <a:prstGeom prst="rect">
            <a:avLst/>
          </a:prstGeom>
          <a:noFill/>
          <a:ln>
            <a:noFill/>
          </a:ln>
        </p:spPr>
        <p:txBody>
          <a:bodyPr wrap="none" rtlCol="0">
            <a:spAutoFit/>
          </a:bodyPr>
          <a:lstStyle/>
          <a:p>
            <a:r>
              <a:rPr lang="en-GB" sz="1200" b="1" i="1" noProof="0" dirty="0">
                <a:solidFill>
                  <a:schemeClr val="accent2"/>
                </a:solidFill>
              </a:rPr>
              <a:t>Example 5 - We do…</a:t>
            </a:r>
          </a:p>
        </p:txBody>
      </p:sp>
      <p:sp>
        <p:nvSpPr>
          <p:cNvPr id="5" name="TextBox 4">
            <a:extLst>
              <a:ext uri="{FF2B5EF4-FFF2-40B4-BE49-F238E27FC236}">
                <a16:creationId xmlns:a16="http://schemas.microsoft.com/office/drawing/2014/main" id="{9CF6CBCC-410E-630C-428F-5143350AB353}"/>
              </a:ext>
            </a:extLst>
          </p:cNvPr>
          <p:cNvSpPr txBox="1"/>
          <p:nvPr/>
        </p:nvSpPr>
        <p:spPr>
          <a:xfrm>
            <a:off x="1650877" y="3680439"/>
            <a:ext cx="1308500" cy="276999"/>
          </a:xfrm>
          <a:prstGeom prst="rect">
            <a:avLst/>
          </a:prstGeom>
          <a:noFill/>
          <a:ln>
            <a:noFill/>
          </a:ln>
        </p:spPr>
        <p:txBody>
          <a:bodyPr wrap="none" rtlCol="0">
            <a:spAutoFit/>
          </a:bodyPr>
          <a:lstStyle/>
          <a:p>
            <a:r>
              <a:rPr lang="en-GB" sz="1200" b="1" i="1" noProof="0" dirty="0">
                <a:solidFill>
                  <a:srgbClr val="FF0000"/>
                </a:solidFill>
              </a:rPr>
              <a:t>Example 4 - I do…</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D60E749-DAD5-01C1-F6D6-0EB5E6313779}"/>
                  </a:ext>
                </a:extLst>
              </p:cNvPr>
              <p:cNvGraphicFramePr>
                <a:graphicFrameLocks noGrp="1"/>
              </p:cNvGraphicFramePr>
              <p:nvPr>
                <p:extLst>
                  <p:ext uri="{D42A27DB-BD31-4B8C-83A1-F6EECF244321}">
                    <p14:modId xmlns:p14="http://schemas.microsoft.com/office/powerpoint/2010/main" val="2679958761"/>
                  </p:ext>
                </p:extLst>
              </p:nvPr>
            </p:nvGraphicFramePr>
            <p:xfrm>
              <a:off x="107398" y="3974701"/>
              <a:ext cx="6638985" cy="5827750"/>
            </p:xfrm>
            <a:graphic>
              <a:graphicData uri="http://schemas.openxmlformats.org/drawingml/2006/table">
                <a:tbl>
                  <a:tblPr firstRow="1" bandRow="1">
                    <a:tableStyleId>{5C22544A-7EE6-4342-B048-85BDC9FD1C3A}</a:tableStyleId>
                  </a:tblPr>
                  <a:tblGrid>
                    <a:gridCol w="1451541">
                      <a:extLst>
                        <a:ext uri="{9D8B030D-6E8A-4147-A177-3AD203B41FA5}">
                          <a16:colId xmlns:a16="http://schemas.microsoft.com/office/drawing/2014/main" val="1568142362"/>
                        </a:ext>
                      </a:extLst>
                    </a:gridCol>
                    <a:gridCol w="1692261">
                      <a:extLst>
                        <a:ext uri="{9D8B030D-6E8A-4147-A177-3AD203B41FA5}">
                          <a16:colId xmlns:a16="http://schemas.microsoft.com/office/drawing/2014/main" val="3551711160"/>
                        </a:ext>
                      </a:extLst>
                    </a:gridCol>
                    <a:gridCol w="1704649">
                      <a:extLst>
                        <a:ext uri="{9D8B030D-6E8A-4147-A177-3AD203B41FA5}">
                          <a16:colId xmlns:a16="http://schemas.microsoft.com/office/drawing/2014/main" val="772331842"/>
                        </a:ext>
                      </a:extLst>
                    </a:gridCol>
                    <a:gridCol w="1790534">
                      <a:extLst>
                        <a:ext uri="{9D8B030D-6E8A-4147-A177-3AD203B41FA5}">
                          <a16:colId xmlns:a16="http://schemas.microsoft.com/office/drawing/2014/main" val="1506195925"/>
                        </a:ext>
                      </a:extLst>
                    </a:gridCol>
                  </a:tblGrid>
                  <a:tr h="914799">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kern="1200" noProof="0" dirty="0">
                              <a:solidFill>
                                <a:schemeClr val="tx1"/>
                              </a:solidFill>
                              <a:effectLst/>
                              <a:latin typeface="+mn-lt"/>
                              <a:ea typeface="+mn-ea"/>
                              <a:cs typeface="+mn-cs"/>
                            </a:rPr>
                            <a:t>Prove that the sum of an odd number and an odd number is always an even number.</a:t>
                          </a: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kern="1200" noProof="0" dirty="0">
                              <a:solidFill>
                                <a:schemeClr val="tx1"/>
                              </a:solidFill>
                              <a:effectLst/>
                              <a:latin typeface="+mn-lt"/>
                              <a:ea typeface="+mn-ea"/>
                              <a:cs typeface="+mn-cs"/>
                            </a:rPr>
                            <a:t>Prove that </a:t>
                          </a:r>
                          <a14:m>
                            <m:oMath xmlns:m="http://schemas.openxmlformats.org/officeDocument/2006/math">
                              <m:r>
                                <a:rPr lang="en-GB" sz="1200" b="0" i="1" kern="1200" noProof="0" smtClean="0">
                                  <a:solidFill>
                                    <a:schemeClr val="tx1"/>
                                  </a:solidFill>
                                  <a:effectLst/>
                                  <a:latin typeface="Cambria Math" panose="02040503050406030204" pitchFamily="18" charset="0"/>
                                  <a:ea typeface="+mn-ea"/>
                                  <a:cs typeface="+mn-cs"/>
                                </a:rPr>
                                <m:t>5</m:t>
                              </m:r>
                              <m:d>
                                <m:dPr>
                                  <m:ctrlPr>
                                    <a:rPr lang="en-GB" sz="1200" b="0" i="1" kern="1200" noProof="0" smtClean="0">
                                      <a:solidFill>
                                        <a:schemeClr val="tx1"/>
                                      </a:solidFill>
                                      <a:effectLst/>
                                      <a:latin typeface="Cambria Math" panose="02040503050406030204" pitchFamily="18" charset="0"/>
                                      <a:ea typeface="+mn-ea"/>
                                      <a:cs typeface="+mn-cs"/>
                                    </a:rPr>
                                  </m:ctrlPr>
                                </m:dPr>
                                <m:e>
                                  <m:r>
                                    <a:rPr lang="en-GB" sz="1200" b="0" i="1" kern="1200" noProof="0" smtClean="0">
                                      <a:solidFill>
                                        <a:schemeClr val="tx1"/>
                                      </a:solidFill>
                                      <a:effectLst/>
                                      <a:latin typeface="Cambria Math" panose="02040503050406030204" pitchFamily="18" charset="0"/>
                                      <a:ea typeface="+mn-ea"/>
                                      <a:cs typeface="+mn-cs"/>
                                    </a:rPr>
                                    <m:t>𝑥</m:t>
                                  </m:r>
                                  <m:r>
                                    <a:rPr lang="en-GB" sz="1200" b="0" i="1" kern="1200" noProof="0" smtClean="0">
                                      <a:solidFill>
                                        <a:schemeClr val="tx1"/>
                                      </a:solidFill>
                                      <a:effectLst/>
                                      <a:latin typeface="Cambria Math" panose="02040503050406030204" pitchFamily="18" charset="0"/>
                                      <a:ea typeface="+mn-ea"/>
                                      <a:cs typeface="+mn-cs"/>
                                    </a:rPr>
                                    <m:t>−3</m:t>
                                  </m:r>
                                </m:e>
                              </m:d>
                              <m:r>
                                <a:rPr lang="en-GB" sz="1200" b="0" i="1" kern="1200" noProof="0" smtClean="0">
                                  <a:solidFill>
                                    <a:schemeClr val="tx1"/>
                                  </a:solidFill>
                                  <a:effectLst/>
                                  <a:latin typeface="Cambria Math" panose="02040503050406030204" pitchFamily="18" charset="0"/>
                                  <a:ea typeface="+mn-ea"/>
                                  <a:cs typeface="+mn-cs"/>
                                </a:rPr>
                                <m:t>+3(</m:t>
                              </m:r>
                              <m:r>
                                <a:rPr lang="en-GB" sz="1200" b="0" i="1" kern="1200" noProof="0" smtClean="0">
                                  <a:solidFill>
                                    <a:schemeClr val="tx1"/>
                                  </a:solidFill>
                                  <a:effectLst/>
                                  <a:latin typeface="Cambria Math" panose="02040503050406030204" pitchFamily="18" charset="0"/>
                                  <a:ea typeface="+mn-ea"/>
                                  <a:cs typeface="+mn-cs"/>
                                </a:rPr>
                                <m:t>𝑥</m:t>
                              </m:r>
                              <m:r>
                                <a:rPr lang="en-GB" sz="1200" b="0" i="1" kern="1200" noProof="0" smtClean="0">
                                  <a:solidFill>
                                    <a:schemeClr val="tx1"/>
                                  </a:solidFill>
                                  <a:effectLst/>
                                  <a:latin typeface="Cambria Math" panose="02040503050406030204" pitchFamily="18" charset="0"/>
                                  <a:ea typeface="+mn-ea"/>
                                  <a:cs typeface="+mn-cs"/>
                                </a:rPr>
                                <m:t>+1)</m:t>
                              </m:r>
                            </m:oMath>
                          </a14:m>
                          <a:r>
                            <a:rPr lang="en-GB" sz="1200" b="0" kern="1200" noProof="0" dirty="0">
                              <a:solidFill>
                                <a:schemeClr val="tx1"/>
                              </a:solidFill>
                              <a:effectLst/>
                              <a:latin typeface="+mn-lt"/>
                              <a:ea typeface="+mn-ea"/>
                              <a:cs typeface="+mn-cs"/>
                            </a:rPr>
                            <a:t> is even for all values of </a:t>
                          </a:r>
                          <a14:m>
                            <m:oMath xmlns:m="http://schemas.openxmlformats.org/officeDocument/2006/math">
                              <m:r>
                                <a:rPr lang="en-GB" sz="1200" b="0" i="1" kern="1200" noProof="0" smtClean="0">
                                  <a:solidFill>
                                    <a:schemeClr val="tx1"/>
                                  </a:solidFill>
                                  <a:effectLst/>
                                  <a:latin typeface="Cambria Math" panose="02040503050406030204" pitchFamily="18" charset="0"/>
                                  <a:ea typeface="+mn-ea"/>
                                  <a:cs typeface="+mn-cs"/>
                                </a:rPr>
                                <m:t>𝑛</m:t>
                              </m:r>
                              <m:r>
                                <a:rPr lang="en-GB" sz="1200" b="0" i="1" kern="1200" noProof="0" smtClean="0">
                                  <a:solidFill>
                                    <a:schemeClr val="tx1"/>
                                  </a:solidFill>
                                  <a:effectLst/>
                                  <a:latin typeface="Cambria Math" panose="02040503050406030204" pitchFamily="18" charset="0"/>
                                  <a:ea typeface="+mn-ea"/>
                                  <a:cs typeface="+mn-cs"/>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kern="1200" noProof="0" dirty="0">
                              <a:solidFill>
                                <a:schemeClr val="tx1"/>
                              </a:solidFill>
                              <a:effectLst/>
                              <a:latin typeface="+mn-lt"/>
                              <a:ea typeface="+mn-ea"/>
                              <a:cs typeface="+mn-cs"/>
                            </a:rPr>
                            <a:t>Prove that the sum of an odd number and an even number is an odd number.</a:t>
                          </a:r>
                        </a:p>
                        <a:p>
                          <a:pPr algn="ct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93583">
                    <a:tc>
                      <a:txBody>
                        <a:bodyPr/>
                        <a:lstStyle/>
                        <a:p>
                          <a:r>
                            <a:rPr lang="en-GB" sz="1200" noProof="0" dirty="0"/>
                            <a:t>Write the statements/terms in algebraic form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r>
                            <a:rPr lang="en-GB" sz="1200" kern="1200" noProof="0" dirty="0">
                              <a:solidFill>
                                <a:schemeClr val="dk1"/>
                              </a:solidFill>
                              <a:effectLst/>
                              <a:latin typeface="+mn-lt"/>
                              <a:ea typeface="+mn-ea"/>
                              <a:cs typeface="+mn-cs"/>
                            </a:rPr>
                            <a:t>Prove that </a:t>
                          </a:r>
                          <a14:m>
                            <m:oMath xmlns:m="http://schemas.openxmlformats.org/officeDocument/2006/math">
                              <m:sSup>
                                <m:sSupPr>
                                  <m:ctrlPr>
                                    <a:rPr lang="en-GB" sz="1200" i="1" kern="1200" noProof="0" smtClean="0">
                                      <a:solidFill>
                                        <a:schemeClr val="dk1"/>
                                      </a:solidFill>
                                      <a:effectLst/>
                                      <a:latin typeface="Cambria Math" panose="02040503050406030204" pitchFamily="18" charset="0"/>
                                      <a:ea typeface="+mn-ea"/>
                                      <a:cs typeface="+mn-cs"/>
                                    </a:rPr>
                                  </m:ctrlPr>
                                </m:sSupPr>
                                <m:e>
                                  <m:d>
                                    <m:dPr>
                                      <m:ctrlPr>
                                        <a:rPr lang="en-GB" sz="1200" i="1" kern="1200" noProof="0" smtClean="0">
                                          <a:solidFill>
                                            <a:schemeClr val="dk1"/>
                                          </a:solidFill>
                                          <a:effectLst/>
                                          <a:latin typeface="Cambria Math" panose="02040503050406030204" pitchFamily="18" charset="0"/>
                                          <a:ea typeface="+mn-ea"/>
                                          <a:cs typeface="+mn-cs"/>
                                        </a:rPr>
                                      </m:ctrlPr>
                                    </m:dPr>
                                    <m:e>
                                      <m:r>
                                        <a:rPr lang="en-GB" sz="1200" i="1" kern="1200" noProof="0">
                                          <a:solidFill>
                                            <a:schemeClr val="dk1"/>
                                          </a:solidFill>
                                          <a:effectLst/>
                                          <a:latin typeface="Cambria Math" panose="02040503050406030204" pitchFamily="18" charset="0"/>
                                          <a:ea typeface="+mn-ea"/>
                                          <a:cs typeface="+mn-cs"/>
                                        </a:rPr>
                                        <m:t>2</m:t>
                                      </m:r>
                                      <m:r>
                                        <a:rPr lang="en-GB" sz="1200" i="1" kern="1200" noProof="0">
                                          <a:solidFill>
                                            <a:schemeClr val="dk1"/>
                                          </a:solidFill>
                                          <a:effectLst/>
                                          <a:latin typeface="Cambria Math" panose="02040503050406030204" pitchFamily="18" charset="0"/>
                                          <a:ea typeface="+mn-ea"/>
                                          <a:cs typeface="+mn-cs"/>
                                        </a:rPr>
                                        <m:t>𝑛</m:t>
                                      </m:r>
                                      <m:r>
                                        <a:rPr lang="en-GB" sz="1200" i="1" kern="1200" noProof="0">
                                          <a:solidFill>
                                            <a:schemeClr val="dk1"/>
                                          </a:solidFill>
                                          <a:effectLst/>
                                          <a:latin typeface="Cambria Math" panose="02040503050406030204" pitchFamily="18" charset="0"/>
                                          <a:ea typeface="+mn-ea"/>
                                          <a:cs typeface="+mn-cs"/>
                                        </a:rPr>
                                        <m:t>+1</m:t>
                                      </m:r>
                                    </m:e>
                                  </m:d>
                                </m:e>
                                <m:sup>
                                  <m:r>
                                    <a:rPr lang="en-GB" sz="1200" i="1" kern="1200" noProof="0">
                                      <a:solidFill>
                                        <a:schemeClr val="dk1"/>
                                      </a:solidFill>
                                      <a:effectLst/>
                                      <a:latin typeface="Cambria Math" panose="02040503050406030204" pitchFamily="18" charset="0"/>
                                      <a:ea typeface="+mn-ea"/>
                                      <a:cs typeface="+mn-cs"/>
                                    </a:rPr>
                                    <m:t>2</m:t>
                                  </m:r>
                                </m:sup>
                              </m:sSup>
                            </m:oMath>
                          </a14:m>
                          <a:r>
                            <a:rPr lang="en-GB" sz="1200" kern="1200" noProof="0" dirty="0">
                              <a:solidFill>
                                <a:schemeClr val="dk1"/>
                              </a:solidFill>
                              <a:effectLst/>
                              <a:latin typeface="+mn-lt"/>
                              <a:ea typeface="+mn-ea"/>
                              <a:cs typeface="+mn-cs"/>
                            </a:rPr>
                            <a:t> is odd for all values of </a:t>
                          </a:r>
                          <a14:m>
                            <m:oMath xmlns:m="http://schemas.openxmlformats.org/officeDocument/2006/math">
                              <m:r>
                                <a:rPr lang="en-GB" sz="1200" i="1" kern="1200" noProof="0">
                                  <a:solidFill>
                                    <a:schemeClr val="dk1"/>
                                  </a:solidFill>
                                  <a:effectLst/>
                                  <a:latin typeface="Cambria Math" panose="02040503050406030204" pitchFamily="18" charset="0"/>
                                  <a:ea typeface="+mn-ea"/>
                                  <a:cs typeface="+mn-cs"/>
                                </a:rPr>
                                <m:t>𝑛</m:t>
                              </m:r>
                              <m:r>
                                <a:rPr lang="en-GB" sz="1200" i="1" kern="1200" noProof="0">
                                  <a:solidFill>
                                    <a:schemeClr val="dk1"/>
                                  </a:solidFill>
                                  <a:effectLst/>
                                  <a:latin typeface="Cambria Math" panose="02040503050406030204" pitchFamily="18" charset="0"/>
                                  <a:ea typeface="+mn-ea"/>
                                  <a:cs typeface="+mn-cs"/>
                                </a:rPr>
                                <m:t>.</m:t>
                              </m:r>
                            </m:oMath>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r>
                            <a:rPr lang="en-GB" sz="1200" kern="1200" noProof="0" dirty="0">
                              <a:solidFill>
                                <a:schemeClr val="dk1"/>
                              </a:solidFill>
                              <a:effectLst/>
                              <a:latin typeface="+mn-lt"/>
                              <a:ea typeface="+mn-ea"/>
                              <a:cs typeface="+mn-cs"/>
                            </a:rPr>
                            <a:t>Prove that the difference between the squares of two consecutive even numbers is even.</a:t>
                          </a: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endParaRPr lang="en-GB" sz="1200" noProof="0" dirty="0">
                            <a:solidFill>
                              <a:schemeClr val="tx1"/>
                            </a:solidFill>
                          </a:endParaRPr>
                        </a:p>
                        <a:p>
                          <a:r>
                            <a:rPr lang="en-GB" sz="1200" kern="1200" noProof="0" dirty="0">
                              <a:solidFill>
                                <a:schemeClr val="dk1"/>
                              </a:solidFill>
                              <a:effectLst/>
                              <a:latin typeface="+mn-lt"/>
                              <a:ea typeface="+mn-ea"/>
                              <a:cs typeface="+mn-cs"/>
                            </a:rPr>
                            <a:t>Prove that </a:t>
                          </a:r>
                          <a14:m>
                            <m:oMath xmlns:m="http://schemas.openxmlformats.org/officeDocument/2006/math">
                              <m:sSup>
                                <m:sSupPr>
                                  <m:ctrlPr>
                                    <a:rPr lang="en-GB" sz="1200" i="1" kern="1200" noProof="0" smtClean="0">
                                      <a:solidFill>
                                        <a:schemeClr val="dk1"/>
                                      </a:solidFill>
                                      <a:effectLst/>
                                      <a:latin typeface="Cambria Math" panose="02040503050406030204" pitchFamily="18" charset="0"/>
                                      <a:ea typeface="+mn-ea"/>
                                      <a:cs typeface="+mn-cs"/>
                                    </a:rPr>
                                  </m:ctrlPr>
                                </m:sSupPr>
                                <m:e>
                                  <m:d>
                                    <m:dPr>
                                      <m:ctrlPr>
                                        <a:rPr lang="en-GB" sz="1200" i="1" kern="1200" noProof="0" smtClean="0">
                                          <a:solidFill>
                                            <a:schemeClr val="dk1"/>
                                          </a:solidFill>
                                          <a:effectLst/>
                                          <a:latin typeface="Cambria Math" panose="02040503050406030204" pitchFamily="18" charset="0"/>
                                          <a:ea typeface="+mn-ea"/>
                                          <a:cs typeface="+mn-cs"/>
                                        </a:rPr>
                                      </m:ctrlPr>
                                    </m:dPr>
                                    <m:e>
                                      <m:r>
                                        <a:rPr lang="en-GB" sz="1200" i="1" kern="1200" noProof="0">
                                          <a:solidFill>
                                            <a:schemeClr val="dk1"/>
                                          </a:solidFill>
                                          <a:effectLst/>
                                          <a:latin typeface="Cambria Math" panose="02040503050406030204" pitchFamily="18" charset="0"/>
                                          <a:ea typeface="+mn-ea"/>
                                          <a:cs typeface="+mn-cs"/>
                                        </a:rPr>
                                        <m:t>𝑛</m:t>
                                      </m:r>
                                      <m:r>
                                        <a:rPr lang="en-GB" sz="1200" i="1" kern="1200" noProof="0">
                                          <a:solidFill>
                                            <a:schemeClr val="dk1"/>
                                          </a:solidFill>
                                          <a:effectLst/>
                                          <a:latin typeface="Cambria Math" panose="02040503050406030204" pitchFamily="18" charset="0"/>
                                          <a:ea typeface="+mn-ea"/>
                                          <a:cs typeface="+mn-cs"/>
                                        </a:rPr>
                                        <m:t>+1</m:t>
                                      </m:r>
                                    </m:e>
                                  </m:d>
                                </m:e>
                                <m:sup>
                                  <m:r>
                                    <a:rPr lang="en-GB" sz="1200" i="1" kern="1200" noProof="0">
                                      <a:solidFill>
                                        <a:schemeClr val="dk1"/>
                                      </a:solidFill>
                                      <a:effectLst/>
                                      <a:latin typeface="Cambria Math" panose="02040503050406030204" pitchFamily="18" charset="0"/>
                                      <a:ea typeface="+mn-ea"/>
                                      <a:cs typeface="+mn-cs"/>
                                    </a:rPr>
                                    <m:t>2</m:t>
                                  </m:r>
                                </m:sup>
                              </m:sSup>
                              <m:r>
                                <a:rPr lang="en-GB" sz="1200" i="1" kern="1200" noProof="0">
                                  <a:solidFill>
                                    <a:schemeClr val="dk1"/>
                                  </a:solidFill>
                                  <a:effectLst/>
                                  <a:latin typeface="Cambria Math" panose="02040503050406030204" pitchFamily="18" charset="0"/>
                                  <a:ea typeface="+mn-ea"/>
                                  <a:cs typeface="+mn-cs"/>
                                </a:rPr>
                                <m:t>−</m:t>
                              </m:r>
                              <m:sSup>
                                <m:sSupPr>
                                  <m:ctrlPr>
                                    <a:rPr lang="en-GB" sz="1200" i="1" kern="1200" noProof="0" smtClean="0">
                                      <a:solidFill>
                                        <a:schemeClr val="dk1"/>
                                      </a:solidFill>
                                      <a:effectLst/>
                                      <a:latin typeface="Cambria Math" panose="02040503050406030204" pitchFamily="18" charset="0"/>
                                      <a:ea typeface="+mn-ea"/>
                                      <a:cs typeface="+mn-cs"/>
                                    </a:rPr>
                                  </m:ctrlPr>
                                </m:sSupPr>
                                <m:e>
                                  <m:r>
                                    <a:rPr lang="en-GB" sz="1200" i="1" kern="1200" noProof="0">
                                      <a:solidFill>
                                        <a:schemeClr val="dk1"/>
                                      </a:solidFill>
                                      <a:effectLst/>
                                      <a:latin typeface="Cambria Math" panose="02040503050406030204" pitchFamily="18" charset="0"/>
                                      <a:ea typeface="+mn-ea"/>
                                      <a:cs typeface="+mn-cs"/>
                                    </a:rPr>
                                    <m:t>𝑛</m:t>
                                  </m:r>
                                </m:e>
                                <m:sup>
                                  <m:r>
                                    <a:rPr lang="en-GB" sz="1200" i="1" kern="1200" noProof="0">
                                      <a:solidFill>
                                        <a:schemeClr val="dk1"/>
                                      </a:solidFill>
                                      <a:effectLst/>
                                      <a:latin typeface="Cambria Math" panose="02040503050406030204" pitchFamily="18" charset="0"/>
                                      <a:ea typeface="+mn-ea"/>
                                      <a:cs typeface="+mn-cs"/>
                                    </a:rPr>
                                    <m:t>2</m:t>
                                  </m:r>
                                </m:sup>
                              </m:sSup>
                            </m:oMath>
                          </a14:m>
                          <a:r>
                            <a:rPr lang="en-GB" sz="1200" kern="1200" noProof="0" dirty="0">
                              <a:solidFill>
                                <a:schemeClr val="dk1"/>
                              </a:solidFill>
                              <a:effectLst/>
                              <a:latin typeface="+mn-lt"/>
                              <a:ea typeface="+mn-ea"/>
                              <a:cs typeface="+mn-cs"/>
                            </a:rPr>
                            <a:t> is odd for all values of </a:t>
                          </a:r>
                          <a14:m>
                            <m:oMath xmlns:m="http://schemas.openxmlformats.org/officeDocument/2006/math">
                              <m:r>
                                <a:rPr lang="en-GB" sz="1200" i="1" kern="1200" noProof="0">
                                  <a:solidFill>
                                    <a:schemeClr val="dk1"/>
                                  </a:solidFill>
                                  <a:effectLst/>
                                  <a:latin typeface="Cambria Math" panose="02040503050406030204" pitchFamily="18" charset="0"/>
                                  <a:ea typeface="+mn-ea"/>
                                  <a:cs typeface="+mn-cs"/>
                                </a:rPr>
                                <m:t>𝑛</m:t>
                              </m:r>
                              <m:r>
                                <a:rPr lang="en-GB" sz="1200" i="1" kern="1200" noProof="0">
                                  <a:solidFill>
                                    <a:schemeClr val="dk1"/>
                                  </a:solidFill>
                                  <a:effectLst/>
                                  <a:latin typeface="Cambria Math" panose="02040503050406030204" pitchFamily="18" charset="0"/>
                                  <a:ea typeface="+mn-ea"/>
                                  <a:cs typeface="+mn-cs"/>
                                </a:rPr>
                                <m:t>.</m:t>
                              </m:r>
                            </m:oMath>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7656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i="0" noProof="0" dirty="0"/>
                            <a:t>It may help to write “</a:t>
                          </a:r>
                          <a:r>
                            <a:rPr lang="en-GB" sz="1200" i="1" noProof="0" dirty="0"/>
                            <a:t>let </a:t>
                          </a:r>
                          <a14:m>
                            <m:oMath xmlns:m="http://schemas.openxmlformats.org/officeDocument/2006/math">
                              <m:r>
                                <a:rPr lang="en-GB" sz="1200" b="0" i="1" noProof="0" smtClean="0">
                                  <a:latin typeface="Cambria Math" panose="02040503050406030204" pitchFamily="18" charset="0"/>
                                </a:rPr>
                                <m:t>𝑛</m:t>
                              </m:r>
                              <m:r>
                                <a:rPr lang="en-GB" sz="1200" b="0" i="1" noProof="0" smtClean="0">
                                  <a:latin typeface="Cambria Math" panose="02040503050406030204" pitchFamily="18" charset="0"/>
                                </a:rPr>
                                <m:t> </m:t>
                              </m:r>
                            </m:oMath>
                          </a14:m>
                          <a:r>
                            <a:rPr lang="en-GB" sz="1200" i="1" noProof="0" dirty="0"/>
                            <a:t>be an</a:t>
                          </a:r>
                          <a:r>
                            <a:rPr lang="en-GB" sz="1200" i="1" baseline="0" noProof="0" dirty="0"/>
                            <a:t> integer”</a:t>
                          </a:r>
                          <a:endParaRPr lang="en-GB" sz="1200" i="1"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97225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Write a statement that you have proven as required – you can write QED to save ink!</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4202962597"/>
                      </a:ext>
                    </a:extLst>
                  </a:tr>
                </a:tbl>
              </a:graphicData>
            </a:graphic>
          </p:graphicFrame>
        </mc:Choice>
        <mc:Fallback xmlns="">
          <p:graphicFrame>
            <p:nvGraphicFramePr>
              <p:cNvPr id="6" name="Table 5">
                <a:extLst>
                  <a:ext uri="{FF2B5EF4-FFF2-40B4-BE49-F238E27FC236}">
                    <a16:creationId xmlns:a16="http://schemas.microsoft.com/office/drawing/2014/main" id="{7D60E749-DAD5-01C1-F6D6-0EB5E6313779}"/>
                  </a:ext>
                </a:extLst>
              </p:cNvPr>
              <p:cNvGraphicFramePr>
                <a:graphicFrameLocks noGrp="1"/>
              </p:cNvGraphicFramePr>
              <p:nvPr>
                <p:extLst>
                  <p:ext uri="{D42A27DB-BD31-4B8C-83A1-F6EECF244321}">
                    <p14:modId xmlns:p14="http://schemas.microsoft.com/office/powerpoint/2010/main" val="2679958761"/>
                  </p:ext>
                </p:extLst>
              </p:nvPr>
            </p:nvGraphicFramePr>
            <p:xfrm>
              <a:off x="107398" y="3974701"/>
              <a:ext cx="6638985" cy="5827750"/>
            </p:xfrm>
            <a:graphic>
              <a:graphicData uri="http://schemas.openxmlformats.org/drawingml/2006/table">
                <a:tbl>
                  <a:tblPr firstRow="1" bandRow="1">
                    <a:tableStyleId>{5C22544A-7EE6-4342-B048-85BDC9FD1C3A}</a:tableStyleId>
                  </a:tblPr>
                  <a:tblGrid>
                    <a:gridCol w="1451541">
                      <a:extLst>
                        <a:ext uri="{9D8B030D-6E8A-4147-A177-3AD203B41FA5}">
                          <a16:colId xmlns:a16="http://schemas.microsoft.com/office/drawing/2014/main" val="1568142362"/>
                        </a:ext>
                      </a:extLst>
                    </a:gridCol>
                    <a:gridCol w="1692261">
                      <a:extLst>
                        <a:ext uri="{9D8B030D-6E8A-4147-A177-3AD203B41FA5}">
                          <a16:colId xmlns:a16="http://schemas.microsoft.com/office/drawing/2014/main" val="3551711160"/>
                        </a:ext>
                      </a:extLst>
                    </a:gridCol>
                    <a:gridCol w="1704649">
                      <a:extLst>
                        <a:ext uri="{9D8B030D-6E8A-4147-A177-3AD203B41FA5}">
                          <a16:colId xmlns:a16="http://schemas.microsoft.com/office/drawing/2014/main" val="772331842"/>
                        </a:ext>
                      </a:extLst>
                    </a:gridCol>
                    <a:gridCol w="1790534">
                      <a:extLst>
                        <a:ext uri="{9D8B030D-6E8A-4147-A177-3AD203B41FA5}">
                          <a16:colId xmlns:a16="http://schemas.microsoft.com/office/drawing/2014/main" val="1506195925"/>
                        </a:ext>
                      </a:extLst>
                    </a:gridCol>
                  </a:tblGrid>
                  <a:tr h="1005840">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kern="1200" noProof="0">
                              <a:solidFill>
                                <a:schemeClr val="tx1"/>
                              </a:solidFill>
                              <a:effectLst/>
                              <a:latin typeface="+mn-lt"/>
                              <a:ea typeface="+mn-ea"/>
                              <a:cs typeface="+mn-cs"/>
                            </a:rPr>
                            <a:t>Prove that the sum of an odd number and an odd number is always an even number.</a:t>
                          </a:r>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84643" t="-1212" r="-105714" b="-481212"/>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kern="1200" noProof="0">
                              <a:solidFill>
                                <a:schemeClr val="tx1"/>
                              </a:solidFill>
                              <a:effectLst/>
                              <a:latin typeface="+mn-lt"/>
                              <a:ea typeface="+mn-ea"/>
                              <a:cs typeface="+mn-cs"/>
                            </a:rPr>
                            <a:t>Prove that the sum of an odd number and an even number is an odd number.</a:t>
                          </a:r>
                        </a:p>
                        <a:p>
                          <a:pPr algn="ctr"/>
                          <a:endParaRPr lang="en-GB" sz="1200" b="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93583">
                    <a:tc>
                      <a:txBody>
                        <a:bodyPr/>
                        <a:lstStyle/>
                        <a:p>
                          <a:r>
                            <a:rPr lang="en-GB" sz="1200" noProof="0"/>
                            <a:t>Write the statements/terms in algebraic form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5971" t="-21086" r="-207194" b="-253"/>
                          </a:stretch>
                        </a:blipFill>
                      </a:tcPr>
                    </a:tc>
                    <a:tc rowSpan="3">
                      <a:txBody>
                        <a:bodyPr/>
                        <a:lstStyle/>
                        <a:p>
                          <a:endParaRPr lang="en-GB" sz="1200" noProof="0">
                            <a:solidFill>
                              <a:schemeClr val="tx1"/>
                            </a:solidFill>
                          </a:endParaRPr>
                        </a:p>
                        <a:p>
                          <a:endParaRPr lang="en-GB" sz="1200" noProof="0">
                            <a:solidFill>
                              <a:schemeClr val="tx1"/>
                            </a:solidFill>
                          </a:endParaRPr>
                        </a:p>
                        <a:p>
                          <a:endParaRPr lang="en-GB" sz="1200" noProof="0">
                            <a:solidFill>
                              <a:schemeClr val="tx1"/>
                            </a:solidFill>
                          </a:endParaRPr>
                        </a:p>
                        <a:p>
                          <a:endParaRPr lang="en-GB" sz="1200" noProof="0">
                            <a:solidFill>
                              <a:schemeClr val="tx1"/>
                            </a:solidFill>
                          </a:endParaRPr>
                        </a:p>
                        <a:p>
                          <a:endParaRPr lang="en-GB" sz="1200" noProof="0">
                            <a:solidFill>
                              <a:schemeClr val="tx1"/>
                            </a:solidFill>
                          </a:endParaRPr>
                        </a:p>
                        <a:p>
                          <a:endParaRPr lang="en-GB" sz="1200" noProof="0">
                            <a:solidFill>
                              <a:schemeClr val="tx1"/>
                            </a:solidFill>
                          </a:endParaRPr>
                        </a:p>
                        <a:p>
                          <a:endParaRPr lang="en-GB" sz="1200" noProof="0">
                            <a:solidFill>
                              <a:schemeClr val="tx1"/>
                            </a:solidFill>
                          </a:endParaRPr>
                        </a:p>
                        <a:p>
                          <a:endParaRPr lang="en-GB" sz="1200" noProof="0">
                            <a:solidFill>
                              <a:schemeClr val="tx1"/>
                            </a:solidFill>
                          </a:endParaRPr>
                        </a:p>
                        <a:p>
                          <a:endParaRPr lang="en-GB" sz="1200" noProof="0">
                            <a:solidFill>
                              <a:schemeClr val="tx1"/>
                            </a:solidFill>
                          </a:endParaRPr>
                        </a:p>
                        <a:p>
                          <a:endParaRPr lang="en-GB" sz="1200" noProof="0">
                            <a:solidFill>
                              <a:schemeClr val="tx1"/>
                            </a:solidFill>
                          </a:endParaRPr>
                        </a:p>
                        <a:p>
                          <a:r>
                            <a:rPr lang="en-GB" sz="1200" kern="1200" noProof="0">
                              <a:solidFill>
                                <a:schemeClr val="dk1"/>
                              </a:solidFill>
                              <a:effectLst/>
                              <a:latin typeface="+mn-lt"/>
                              <a:ea typeface="+mn-ea"/>
                              <a:cs typeface="+mn-cs"/>
                            </a:rPr>
                            <a:t>Prove that the difference between the squares of two consecutive even numbers is even.</a:t>
                          </a:r>
                          <a:endParaRPr lang="en-GB" sz="12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71088" t="-21086" r="-680" b="-253"/>
                          </a:stretch>
                        </a:blipFill>
                      </a:tcPr>
                    </a:tc>
                    <a:extLst>
                      <a:ext uri="{0D108BD9-81ED-4DB2-BD59-A6C34878D82A}">
                        <a16:rowId xmlns:a16="http://schemas.microsoft.com/office/drawing/2014/main" val="3293625240"/>
                      </a:ext>
                    </a:extLst>
                  </a:tr>
                  <a:tr h="97656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20" t="-225466" r="-358824" b="-271429"/>
                          </a:stretch>
                        </a:blip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265176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t>Write a statement that you have proven as required – you can write QED to save ink!</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4202962597"/>
                      </a:ext>
                    </a:extLst>
                  </a:tr>
                </a:tbl>
              </a:graphicData>
            </a:graphic>
          </p:graphicFrame>
        </mc:Fallback>
      </mc:AlternateContent>
      <p:cxnSp>
        <p:nvCxnSpPr>
          <p:cNvPr id="8" name="Straight Connector 7">
            <a:extLst>
              <a:ext uri="{FF2B5EF4-FFF2-40B4-BE49-F238E27FC236}">
                <a16:creationId xmlns:a16="http://schemas.microsoft.com/office/drawing/2014/main" id="{106A5487-2378-8231-C5FF-1AD74D2D834E}"/>
              </a:ext>
            </a:extLst>
          </p:cNvPr>
          <p:cNvCxnSpPr/>
          <p:nvPr/>
        </p:nvCxnSpPr>
        <p:spPr>
          <a:xfrm>
            <a:off x="1576021" y="6781800"/>
            <a:ext cx="51703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5AAD920-7931-7372-36BE-C72C4B1C1087}"/>
              </a:ext>
            </a:extLst>
          </p:cNvPr>
          <p:cNvCxnSpPr/>
          <p:nvPr/>
        </p:nvCxnSpPr>
        <p:spPr>
          <a:xfrm>
            <a:off x="1576021" y="7848600"/>
            <a:ext cx="51703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3684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1873F-C626-2DF0-619F-3798DA3A5B09}"/>
            </a:ext>
          </a:extLst>
        </p:cNvPr>
        <p:cNvGrpSpPr/>
        <p:nvPr/>
      </p:nvGrpSpPr>
      <p:grpSpPr>
        <a:xfrm>
          <a:off x="0" y="0"/>
          <a:ext cx="0" cy="0"/>
          <a:chOff x="0" y="0"/>
          <a:chExt cx="0" cy="0"/>
        </a:xfrm>
      </p:grpSpPr>
      <p:sp>
        <p:nvSpPr>
          <p:cNvPr id="18" name="Slide Number Placeholder 17">
            <a:extLst>
              <a:ext uri="{FF2B5EF4-FFF2-40B4-BE49-F238E27FC236}">
                <a16:creationId xmlns:a16="http://schemas.microsoft.com/office/drawing/2014/main" id="{6B8C47BB-EB04-E52A-570E-BFC1CF7A3EDB}"/>
              </a:ext>
            </a:extLst>
          </p:cNvPr>
          <p:cNvSpPr>
            <a:spLocks noGrp="1"/>
          </p:cNvSpPr>
          <p:nvPr>
            <p:ph type="sldNum" sz="quarter" idx="12"/>
          </p:nvPr>
        </p:nvSpPr>
        <p:spPr>
          <a:xfrm>
            <a:off x="5309271" y="9548817"/>
            <a:ext cx="1543050" cy="527403"/>
          </a:xfrm>
        </p:spPr>
        <p:txBody>
          <a:bodyPr/>
          <a:lstStyle/>
          <a:p>
            <a:fld id="{19F1D9CC-7119-45EC-A96C-D8C0660F3AAB}" type="slidenum">
              <a:rPr lang="en-GB" noProof="0" smtClean="0">
                <a:solidFill>
                  <a:schemeClr val="bg1"/>
                </a:solidFill>
              </a:rPr>
              <a:t>3</a:t>
            </a:fld>
            <a:endParaRPr lang="en-GB" noProof="0" dirty="0">
              <a:solidFill>
                <a:schemeClr val="bg1"/>
              </a:solidFill>
            </a:endParaRPr>
          </a:p>
        </p:txBody>
      </p:sp>
      <p:sp>
        <p:nvSpPr>
          <p:cNvPr id="50" name="TextBox 49">
            <a:extLst>
              <a:ext uri="{FF2B5EF4-FFF2-40B4-BE49-F238E27FC236}">
                <a16:creationId xmlns:a16="http://schemas.microsoft.com/office/drawing/2014/main" id="{245B1565-F82E-5F56-553D-503C9D3CAD72}"/>
              </a:ext>
            </a:extLst>
          </p:cNvPr>
          <p:cNvSpPr txBox="1"/>
          <p:nvPr/>
        </p:nvSpPr>
        <p:spPr>
          <a:xfrm>
            <a:off x="5123079" y="4937943"/>
            <a:ext cx="1498808" cy="276999"/>
          </a:xfrm>
          <a:prstGeom prst="rect">
            <a:avLst/>
          </a:prstGeom>
          <a:noFill/>
          <a:ln>
            <a:noFill/>
          </a:ln>
        </p:spPr>
        <p:txBody>
          <a:bodyPr wrap="none" rtlCol="0">
            <a:spAutoFit/>
          </a:bodyPr>
          <a:lstStyle/>
          <a:p>
            <a:r>
              <a:rPr lang="en-GB" sz="1200" b="1" i="1" noProof="0" dirty="0">
                <a:solidFill>
                  <a:srgbClr val="00B050"/>
                </a:solidFill>
              </a:rPr>
              <a:t>Example 3 - You do…</a:t>
            </a:r>
          </a:p>
        </p:txBody>
      </p:sp>
      <p:sp>
        <p:nvSpPr>
          <p:cNvPr id="52" name="TextBox 51">
            <a:extLst>
              <a:ext uri="{FF2B5EF4-FFF2-40B4-BE49-F238E27FC236}">
                <a16:creationId xmlns:a16="http://schemas.microsoft.com/office/drawing/2014/main" id="{E15D8A29-2062-F451-B255-34E17BA68085}"/>
              </a:ext>
            </a:extLst>
          </p:cNvPr>
          <p:cNvSpPr txBox="1"/>
          <p:nvPr/>
        </p:nvSpPr>
        <p:spPr>
          <a:xfrm>
            <a:off x="3286395" y="4907446"/>
            <a:ext cx="1475789" cy="276999"/>
          </a:xfrm>
          <a:prstGeom prst="rect">
            <a:avLst/>
          </a:prstGeom>
          <a:noFill/>
          <a:ln>
            <a:noFill/>
          </a:ln>
        </p:spPr>
        <p:txBody>
          <a:bodyPr wrap="none" rtlCol="0">
            <a:spAutoFit/>
          </a:bodyPr>
          <a:lstStyle/>
          <a:p>
            <a:r>
              <a:rPr lang="en-GB" sz="1200" b="1" i="1" noProof="0" dirty="0">
                <a:solidFill>
                  <a:schemeClr val="accent2"/>
                </a:solidFill>
              </a:rPr>
              <a:t>Example 2 - We do…</a:t>
            </a:r>
          </a:p>
        </p:txBody>
      </p:sp>
      <p:sp>
        <p:nvSpPr>
          <p:cNvPr id="53" name="TextBox 52">
            <a:extLst>
              <a:ext uri="{FF2B5EF4-FFF2-40B4-BE49-F238E27FC236}">
                <a16:creationId xmlns:a16="http://schemas.microsoft.com/office/drawing/2014/main" id="{62676814-720D-EBF9-3A17-67B7C9DE6887}"/>
              </a:ext>
            </a:extLst>
          </p:cNvPr>
          <p:cNvSpPr txBox="1"/>
          <p:nvPr/>
        </p:nvSpPr>
        <p:spPr>
          <a:xfrm>
            <a:off x="1512009" y="4954745"/>
            <a:ext cx="1273234" cy="276999"/>
          </a:xfrm>
          <a:prstGeom prst="rect">
            <a:avLst/>
          </a:prstGeom>
          <a:noFill/>
          <a:ln>
            <a:noFill/>
          </a:ln>
        </p:spPr>
        <p:txBody>
          <a:bodyPr wrap="none" rtlCol="0">
            <a:spAutoFit/>
          </a:bodyPr>
          <a:lstStyle/>
          <a:p>
            <a:r>
              <a:rPr lang="en-GB" sz="1200" b="1" i="1" noProof="0" dirty="0">
                <a:solidFill>
                  <a:srgbClr val="FF0000"/>
                </a:solidFill>
              </a:rPr>
              <a:t>Example 1- I do…</a:t>
            </a:r>
          </a:p>
        </p:txBody>
      </p:sp>
      <mc:AlternateContent xmlns:mc="http://schemas.openxmlformats.org/markup-compatibility/2006" xmlns:a14="http://schemas.microsoft.com/office/drawing/2010/main">
        <mc:Choice Requires="a14">
          <p:graphicFrame>
            <p:nvGraphicFramePr>
              <p:cNvPr id="25" name="Table 24">
                <a:extLst>
                  <a:ext uri="{FF2B5EF4-FFF2-40B4-BE49-F238E27FC236}">
                    <a16:creationId xmlns:a16="http://schemas.microsoft.com/office/drawing/2014/main" id="{E2D38399-261A-ECC7-939A-43E0D5EAC9CD}"/>
                  </a:ext>
                </a:extLst>
              </p:cNvPr>
              <p:cNvGraphicFramePr>
                <a:graphicFrameLocks noGrp="1"/>
              </p:cNvGraphicFramePr>
              <p:nvPr>
                <p:extLst>
                  <p:ext uri="{D42A27DB-BD31-4B8C-83A1-F6EECF244321}">
                    <p14:modId xmlns:p14="http://schemas.microsoft.com/office/powerpoint/2010/main" val="1785752425"/>
                  </p:ext>
                </p:extLst>
              </p:nvPr>
            </p:nvGraphicFramePr>
            <p:xfrm>
              <a:off x="100142" y="5218970"/>
              <a:ext cx="6638985" cy="4477658"/>
            </p:xfrm>
            <a:graphic>
              <a:graphicData uri="http://schemas.openxmlformats.org/drawingml/2006/table">
                <a:tbl>
                  <a:tblPr firstRow="1" bandRow="1">
                    <a:tableStyleId>{5C22544A-7EE6-4342-B048-85BDC9FD1C3A}</a:tableStyleId>
                  </a:tblPr>
                  <a:tblGrid>
                    <a:gridCol w="1179276">
                      <a:extLst>
                        <a:ext uri="{9D8B030D-6E8A-4147-A177-3AD203B41FA5}">
                          <a16:colId xmlns:a16="http://schemas.microsoft.com/office/drawing/2014/main" val="1568142362"/>
                        </a:ext>
                      </a:extLst>
                    </a:gridCol>
                    <a:gridCol w="1817225">
                      <a:extLst>
                        <a:ext uri="{9D8B030D-6E8A-4147-A177-3AD203B41FA5}">
                          <a16:colId xmlns:a16="http://schemas.microsoft.com/office/drawing/2014/main" val="3551711160"/>
                        </a:ext>
                      </a:extLst>
                    </a:gridCol>
                    <a:gridCol w="1851950">
                      <a:extLst>
                        <a:ext uri="{9D8B030D-6E8A-4147-A177-3AD203B41FA5}">
                          <a16:colId xmlns:a16="http://schemas.microsoft.com/office/drawing/2014/main" val="772331842"/>
                        </a:ext>
                      </a:extLst>
                    </a:gridCol>
                    <a:gridCol w="1790534">
                      <a:extLst>
                        <a:ext uri="{9D8B030D-6E8A-4147-A177-3AD203B41FA5}">
                          <a16:colId xmlns:a16="http://schemas.microsoft.com/office/drawing/2014/main" val="1506195925"/>
                        </a:ext>
                      </a:extLst>
                    </a:gridCol>
                  </a:tblGrid>
                  <a:tr h="711930">
                    <a:tc>
                      <a:txBody>
                        <a:bodyPr/>
                        <a:lstStyle/>
                        <a:p>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kern="1200" dirty="0">
                              <a:solidFill>
                                <a:schemeClr val="tx1"/>
                              </a:solidFill>
                              <a:effectLst/>
                              <a:latin typeface="+mn-lt"/>
                              <a:ea typeface="+mn-ea"/>
                              <a:cs typeface="+mn-cs"/>
                            </a:rPr>
                            <a:t>Prove that </a:t>
                          </a:r>
                          <a14:m>
                            <m:oMath xmlns:m="http://schemas.openxmlformats.org/officeDocument/2006/math">
                              <m:r>
                                <a:rPr lang="en-GB" sz="1200" b="0" i="1" kern="1200">
                                  <a:solidFill>
                                    <a:schemeClr val="tx1"/>
                                  </a:solidFill>
                                  <a:effectLst/>
                                  <a:latin typeface="Cambria Math" panose="02040503050406030204" pitchFamily="18" charset="0"/>
                                  <a:ea typeface="+mn-ea"/>
                                  <a:cs typeface="+mn-cs"/>
                                </a:rPr>
                                <m:t>5</m:t>
                              </m:r>
                              <m:d>
                                <m:dPr>
                                  <m:ctrlPr>
                                    <a:rPr lang="en-US" sz="1200" b="0" i="1" kern="1200">
                                      <a:solidFill>
                                        <a:schemeClr val="tx1"/>
                                      </a:solidFill>
                                      <a:effectLst/>
                                      <a:latin typeface="Cambria Math" panose="02040503050406030204" pitchFamily="18" charset="0"/>
                                      <a:ea typeface="+mn-ea"/>
                                      <a:cs typeface="+mn-cs"/>
                                    </a:rPr>
                                  </m:ctrlPr>
                                </m:dPr>
                                <m:e>
                                  <m:r>
                                    <a:rPr lang="en-GB" sz="1200" b="0" i="1" kern="1200">
                                      <a:solidFill>
                                        <a:schemeClr val="tx1"/>
                                      </a:solidFill>
                                      <a:effectLst/>
                                      <a:latin typeface="Cambria Math" panose="02040503050406030204" pitchFamily="18" charset="0"/>
                                      <a:ea typeface="+mn-ea"/>
                                      <a:cs typeface="+mn-cs"/>
                                    </a:rPr>
                                    <m:t>𝑥</m:t>
                                  </m:r>
                                  <m:r>
                                    <a:rPr lang="en-GB" sz="1200" b="0" i="1" kern="1200">
                                      <a:solidFill>
                                        <a:schemeClr val="tx1"/>
                                      </a:solidFill>
                                      <a:effectLst/>
                                      <a:latin typeface="Cambria Math" panose="02040503050406030204" pitchFamily="18" charset="0"/>
                                      <a:ea typeface="+mn-ea"/>
                                      <a:cs typeface="+mn-cs"/>
                                    </a:rPr>
                                    <m:t>−3</m:t>
                                  </m:r>
                                </m:e>
                              </m:d>
                              <m:r>
                                <a:rPr lang="en-GB" sz="1200" b="0" i="1" kern="1200">
                                  <a:solidFill>
                                    <a:schemeClr val="tx1"/>
                                  </a:solidFill>
                                  <a:effectLst/>
                                  <a:latin typeface="Cambria Math" panose="02040503050406030204" pitchFamily="18" charset="0"/>
                                  <a:ea typeface="+mn-ea"/>
                                  <a:cs typeface="+mn-cs"/>
                                </a:rPr>
                                <m:t>+3(</m:t>
                              </m:r>
                              <m:r>
                                <a:rPr lang="en-GB" sz="1200" b="0" i="1" kern="1200">
                                  <a:solidFill>
                                    <a:schemeClr val="tx1"/>
                                  </a:solidFill>
                                  <a:effectLst/>
                                  <a:latin typeface="Cambria Math" panose="02040503050406030204" pitchFamily="18" charset="0"/>
                                  <a:ea typeface="+mn-ea"/>
                                  <a:cs typeface="+mn-cs"/>
                                </a:rPr>
                                <m:t>𝑥</m:t>
                              </m:r>
                              <m:r>
                                <a:rPr lang="en-GB" sz="1200" b="0" i="1" kern="1200">
                                  <a:solidFill>
                                    <a:schemeClr val="tx1"/>
                                  </a:solidFill>
                                  <a:effectLst/>
                                  <a:latin typeface="Cambria Math" panose="02040503050406030204" pitchFamily="18" charset="0"/>
                                  <a:ea typeface="+mn-ea"/>
                                  <a:cs typeface="+mn-cs"/>
                                </a:rPr>
                                <m:t>+1)</m:t>
                              </m:r>
                            </m:oMath>
                          </a14:m>
                          <a:r>
                            <a:rPr lang="en-GB" sz="1200" b="0" kern="1200" dirty="0">
                              <a:solidFill>
                                <a:schemeClr val="tx1"/>
                              </a:solidFill>
                              <a:effectLst/>
                              <a:latin typeface="+mn-lt"/>
                              <a:ea typeface="+mn-ea"/>
                              <a:cs typeface="+mn-cs"/>
                            </a:rPr>
                            <a:t> is divisible by</a:t>
                          </a:r>
                          <a14:m>
                            <m:oMath xmlns:m="http://schemas.openxmlformats.org/officeDocument/2006/math">
                              <m:r>
                                <a:rPr lang="en-GB" sz="1200" b="0" i="1" kern="1200">
                                  <a:solidFill>
                                    <a:schemeClr val="tx1"/>
                                  </a:solidFill>
                                  <a:effectLst/>
                                  <a:latin typeface="Cambria Math" panose="02040503050406030204" pitchFamily="18" charset="0"/>
                                  <a:ea typeface="+mn-ea"/>
                                  <a:cs typeface="+mn-cs"/>
                                </a:rPr>
                                <m:t> 4</m:t>
                              </m:r>
                            </m:oMath>
                          </a14:m>
                          <a:r>
                            <a:rPr lang="en-GB" sz="1200" b="0" noProof="0" dirty="0">
                              <a:solidFill>
                                <a:schemeClr val="tx1"/>
                              </a:solidFill>
                            </a:rPr>
                            <a:t>.</a:t>
                          </a:r>
                          <a:r>
                            <a:rPr lang="en-GB" sz="1200" b="0" baseline="0" noProof="0" dirty="0">
                              <a:solidFill>
                                <a:schemeClr val="tx1"/>
                              </a:solidFill>
                            </a:rPr>
                            <a:t> </a:t>
                          </a: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Prove that the sum of three consecutive </a:t>
                          </a:r>
                          <a:r>
                            <a:rPr lang="en-GB" sz="1200" b="1" noProof="0" dirty="0">
                              <a:solidFill>
                                <a:schemeClr val="tx1"/>
                              </a:solidFill>
                            </a:rPr>
                            <a:t>even </a:t>
                          </a:r>
                          <a:r>
                            <a:rPr lang="en-GB" sz="1200" b="0" noProof="0" dirty="0">
                              <a:solidFill>
                                <a:schemeClr val="tx1"/>
                              </a:solidFill>
                            </a:rPr>
                            <a:t>numbers is a multiple of 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kern="1200" dirty="0">
                              <a:solidFill>
                                <a:schemeClr val="tx1"/>
                              </a:solidFill>
                              <a:effectLst/>
                              <a:latin typeface="+mn-lt"/>
                              <a:ea typeface="+mn-ea"/>
                              <a:cs typeface="+mn-cs"/>
                            </a:rPr>
                            <a:t>Prove that the sum of any three consecutive integers is a multiple of 3</a:t>
                          </a:r>
                          <a:r>
                            <a:rPr lang="en-GB" sz="1200" b="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38951">
                    <a:tc>
                      <a:txBody>
                        <a:bodyPr/>
                        <a:lstStyle/>
                        <a:p>
                          <a:r>
                            <a:rPr lang="en-GB" sz="1200" noProof="0" dirty="0"/>
                            <a:t>Write out the</a:t>
                          </a:r>
                          <a:r>
                            <a:rPr lang="en-GB" sz="1200" baseline="0" noProof="0" dirty="0"/>
                            <a:t> values algebraically using n. </a:t>
                          </a:r>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GB" sz="11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3029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Simplify by collecting</a:t>
                          </a:r>
                          <a:r>
                            <a:rPr lang="en-GB" sz="1200" baseline="0" noProof="0" dirty="0"/>
                            <a:t> like terms. </a:t>
                          </a:r>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72488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Factorise.</a:t>
                          </a:r>
                          <a:r>
                            <a:rPr lang="en-GB" sz="1200" baseline="0" noProof="0" dirty="0"/>
                            <a:t> </a:t>
                          </a:r>
                          <a:endParaRPr lang="en-GB" sz="1200" noProof="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4202962597"/>
                      </a:ext>
                    </a:extLst>
                  </a:tr>
                  <a:tr h="1120271">
                    <a:tc>
                      <a:txBody>
                        <a:bodyPr/>
                        <a:lstStyle/>
                        <a:p>
                          <a:r>
                            <a:rPr lang="en-GB" sz="1200" noProof="0" dirty="0"/>
                            <a:t>Prove</a:t>
                          </a:r>
                          <a:r>
                            <a:rPr lang="en-GB" sz="1200" baseline="0" noProof="0" dirty="0"/>
                            <a:t> with a statement. </a:t>
                          </a:r>
                        </a:p>
                        <a:p>
                          <a:endParaRPr lang="en-GB" sz="1200" baseline="0" noProof="0" dirty="0"/>
                        </a:p>
                        <a:p>
                          <a:endParaRPr lang="en-GB" sz="1200" baseline="0" noProof="0" dirty="0"/>
                        </a:p>
                        <a:p>
                          <a:endParaRPr lang="en-GB" sz="1200" baseline="0" noProof="0" dirty="0"/>
                        </a:p>
                        <a:p>
                          <a:endParaRPr lang="en-GB" sz="1200" baseline="0" noProof="0" dirty="0"/>
                        </a:p>
                        <a:p>
                          <a:endParaRPr lang="en-GB" sz="12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0276359"/>
                      </a:ext>
                    </a:extLst>
                  </a:tr>
                </a:tbl>
              </a:graphicData>
            </a:graphic>
          </p:graphicFrame>
        </mc:Choice>
        <mc:Fallback xmlns="">
          <p:graphicFrame>
            <p:nvGraphicFramePr>
              <p:cNvPr id="25" name="Table 24">
                <a:extLst>
                  <a:ext uri="{FF2B5EF4-FFF2-40B4-BE49-F238E27FC236}">
                    <a16:creationId xmlns:a16="http://schemas.microsoft.com/office/drawing/2014/main" id="{E2D38399-261A-ECC7-939A-43E0D5EAC9CD}"/>
                  </a:ext>
                </a:extLst>
              </p:cNvPr>
              <p:cNvGraphicFramePr>
                <a:graphicFrameLocks noGrp="1"/>
              </p:cNvGraphicFramePr>
              <p:nvPr>
                <p:extLst>
                  <p:ext uri="{D42A27DB-BD31-4B8C-83A1-F6EECF244321}">
                    <p14:modId xmlns:p14="http://schemas.microsoft.com/office/powerpoint/2010/main" val="1785752425"/>
                  </p:ext>
                </p:extLst>
              </p:nvPr>
            </p:nvGraphicFramePr>
            <p:xfrm>
              <a:off x="100142" y="5218970"/>
              <a:ext cx="6638985" cy="4477658"/>
            </p:xfrm>
            <a:graphic>
              <a:graphicData uri="http://schemas.openxmlformats.org/drawingml/2006/table">
                <a:tbl>
                  <a:tblPr firstRow="1" bandRow="1">
                    <a:tableStyleId>{5C22544A-7EE6-4342-B048-85BDC9FD1C3A}</a:tableStyleId>
                  </a:tblPr>
                  <a:tblGrid>
                    <a:gridCol w="1179276">
                      <a:extLst>
                        <a:ext uri="{9D8B030D-6E8A-4147-A177-3AD203B41FA5}">
                          <a16:colId xmlns:a16="http://schemas.microsoft.com/office/drawing/2014/main" val="1568142362"/>
                        </a:ext>
                      </a:extLst>
                    </a:gridCol>
                    <a:gridCol w="1817225">
                      <a:extLst>
                        <a:ext uri="{9D8B030D-6E8A-4147-A177-3AD203B41FA5}">
                          <a16:colId xmlns:a16="http://schemas.microsoft.com/office/drawing/2014/main" val="3551711160"/>
                        </a:ext>
                      </a:extLst>
                    </a:gridCol>
                    <a:gridCol w="1851950">
                      <a:extLst>
                        <a:ext uri="{9D8B030D-6E8A-4147-A177-3AD203B41FA5}">
                          <a16:colId xmlns:a16="http://schemas.microsoft.com/office/drawing/2014/main" val="772331842"/>
                        </a:ext>
                      </a:extLst>
                    </a:gridCol>
                    <a:gridCol w="1790534">
                      <a:extLst>
                        <a:ext uri="{9D8B030D-6E8A-4147-A177-3AD203B41FA5}">
                          <a16:colId xmlns:a16="http://schemas.microsoft.com/office/drawing/2014/main" val="1506195925"/>
                        </a:ext>
                      </a:extLst>
                    </a:gridCol>
                  </a:tblGrid>
                  <a:tr h="711930">
                    <a:tc>
                      <a:txBody>
                        <a:bodyPr/>
                        <a:lstStyle/>
                        <a:p>
                          <a:r>
                            <a:rPr lang="en-GB" sz="11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5436" t="-855" r="-201342" b="-529915"/>
                          </a:stretch>
                        </a:blipFill>
                      </a:tcPr>
                    </a:tc>
                    <a:tc>
                      <a:txBody>
                        <a:bodyPr/>
                        <a:lstStyle/>
                        <a:p>
                          <a:pPr algn="ctr"/>
                          <a:r>
                            <a:rPr lang="en-GB" sz="1200" b="0" noProof="0">
                              <a:solidFill>
                                <a:schemeClr val="tx1"/>
                              </a:solidFill>
                            </a:rPr>
                            <a:t>Prove that the sum of three consecutive </a:t>
                          </a:r>
                          <a:r>
                            <a:rPr lang="en-GB" sz="1200" b="1" noProof="0">
                              <a:solidFill>
                                <a:schemeClr val="tx1"/>
                              </a:solidFill>
                            </a:rPr>
                            <a:t>even </a:t>
                          </a:r>
                          <a:r>
                            <a:rPr lang="en-GB" sz="1200" b="0" noProof="0">
                              <a:solidFill>
                                <a:schemeClr val="tx1"/>
                              </a:solidFill>
                            </a:rPr>
                            <a:t>numbers is a multiple of 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kern="1200">
                              <a:solidFill>
                                <a:schemeClr val="tx1"/>
                              </a:solidFill>
                              <a:effectLst/>
                              <a:latin typeface="+mn-lt"/>
                              <a:ea typeface="+mn-ea"/>
                              <a:cs typeface="+mn-cs"/>
                            </a:rPr>
                            <a:t>Prove that the sum of any three consecutive integers is a multiple of 3</a:t>
                          </a:r>
                          <a:r>
                            <a:rPr lang="en-GB" sz="1200" b="0" noProof="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38951">
                    <a:tc>
                      <a:txBody>
                        <a:bodyPr/>
                        <a:lstStyle/>
                        <a:p>
                          <a:r>
                            <a:rPr lang="en-GB" sz="1200" noProof="0"/>
                            <a:t>Write out the</a:t>
                          </a:r>
                          <a:r>
                            <a:rPr lang="en-GB" sz="1200" baseline="0" noProof="0"/>
                            <a:t> values algebraically using n. </a:t>
                          </a:r>
                          <a:endParaRPr lang="en-GB" sz="12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GB" sz="11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3029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t>Simplify by collecting</a:t>
                          </a:r>
                          <a:r>
                            <a:rPr lang="en-GB" sz="1200" baseline="0" noProof="0"/>
                            <a:t> like terms. </a:t>
                          </a:r>
                          <a:endParaRPr lang="en-GB" sz="12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72488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t>Factorise.</a:t>
                          </a:r>
                          <a:r>
                            <a:rPr lang="en-GB" sz="1200" baseline="0" noProof="0"/>
                            <a:t> </a:t>
                          </a:r>
                          <a:endParaRPr lang="en-GB" sz="1200" noProof="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4202962597"/>
                      </a:ext>
                    </a:extLst>
                  </a:tr>
                  <a:tr h="1371600">
                    <a:tc>
                      <a:txBody>
                        <a:bodyPr/>
                        <a:lstStyle/>
                        <a:p>
                          <a:r>
                            <a:rPr lang="en-GB" sz="1200" noProof="0"/>
                            <a:t>Prove</a:t>
                          </a:r>
                          <a:r>
                            <a:rPr lang="en-GB" sz="1200" baseline="0" noProof="0"/>
                            <a:t> with a statement. </a:t>
                          </a:r>
                        </a:p>
                        <a:p>
                          <a:endParaRPr lang="en-GB" sz="1200" baseline="0" noProof="0"/>
                        </a:p>
                        <a:p>
                          <a:endParaRPr lang="en-GB" sz="1200" baseline="0" noProof="0"/>
                        </a:p>
                        <a:p>
                          <a:endParaRPr lang="en-GB" sz="1200" baseline="0" noProof="0"/>
                        </a:p>
                        <a:p>
                          <a:endParaRPr lang="en-GB" sz="1200" baseline="0" noProof="0"/>
                        </a:p>
                        <a:p>
                          <a:endParaRPr lang="en-GB" sz="12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0276359"/>
                      </a:ext>
                    </a:extLst>
                  </a:tr>
                </a:tbl>
              </a:graphicData>
            </a:graphic>
          </p:graphicFrame>
        </mc:Fallback>
      </mc:AlternateContent>
      <p:sp>
        <p:nvSpPr>
          <p:cNvPr id="26" name="TextBox 25">
            <a:extLst>
              <a:ext uri="{FF2B5EF4-FFF2-40B4-BE49-F238E27FC236}">
                <a16:creationId xmlns:a16="http://schemas.microsoft.com/office/drawing/2014/main" id="{B3D28BA5-94BB-102C-7FD4-9EA876385D9E}"/>
              </a:ext>
            </a:extLst>
          </p:cNvPr>
          <p:cNvSpPr txBox="1"/>
          <p:nvPr/>
        </p:nvSpPr>
        <p:spPr>
          <a:xfrm>
            <a:off x="0" y="0"/>
            <a:ext cx="2931059" cy="276999"/>
          </a:xfrm>
          <a:prstGeom prst="rect">
            <a:avLst/>
          </a:prstGeom>
          <a:solidFill>
            <a:srgbClr val="0070C0"/>
          </a:solidFill>
        </p:spPr>
        <p:txBody>
          <a:bodyPr wrap="none" rtlCol="0" anchor="ctr">
            <a:spAutoFit/>
          </a:bodyPr>
          <a:lstStyle/>
          <a:p>
            <a:pPr algn="ctr"/>
            <a:r>
              <a:rPr lang="en-GB" sz="1200" b="1" noProof="0" dirty="0">
                <a:solidFill>
                  <a:schemeClr val="bg1"/>
                </a:solidFill>
              </a:rPr>
              <a:t>ALGEBRAIC PROOF: PROOF OF DIVISIBILITY</a:t>
            </a:r>
          </a:p>
        </p:txBody>
      </p:sp>
      <p:sp>
        <p:nvSpPr>
          <p:cNvPr id="21" name="Slide Number Placeholder 16">
            <a:extLst>
              <a:ext uri="{FF2B5EF4-FFF2-40B4-BE49-F238E27FC236}">
                <a16:creationId xmlns:a16="http://schemas.microsoft.com/office/drawing/2014/main" id="{6FE77926-4EBF-C1C0-E231-B93CB3F9DA21}"/>
              </a:ext>
            </a:extLst>
          </p:cNvPr>
          <p:cNvSpPr txBox="1">
            <a:spLocks/>
          </p:cNvSpPr>
          <p:nvPr/>
        </p:nvSpPr>
        <p:spPr>
          <a:xfrm>
            <a:off x="5257814" y="9488376"/>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3</a:t>
            </a:fld>
            <a:endParaRPr lang="en-GB" noProof="0" dirty="0"/>
          </a:p>
        </p:txBody>
      </p:sp>
      <p:cxnSp>
        <p:nvCxnSpPr>
          <p:cNvPr id="22" name="Straight Connector 21">
            <a:extLst>
              <a:ext uri="{FF2B5EF4-FFF2-40B4-BE49-F238E27FC236}">
                <a16:creationId xmlns:a16="http://schemas.microsoft.com/office/drawing/2014/main" id="{AA968BAB-46B6-3234-19B4-B3D1AE456CC8}"/>
              </a:ext>
            </a:extLst>
          </p:cNvPr>
          <p:cNvCxnSpPr/>
          <p:nvPr/>
        </p:nvCxnSpPr>
        <p:spPr>
          <a:xfrm flipV="1">
            <a:off x="8181122" y="426883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F7C7B74B-3922-7527-07AD-71F7AB5B7E48}"/>
              </a:ext>
            </a:extLst>
          </p:cNvPr>
          <p:cNvSpPr/>
          <p:nvPr/>
        </p:nvSpPr>
        <p:spPr>
          <a:xfrm>
            <a:off x="7326442" y="2508490"/>
            <a:ext cx="6643204" cy="232125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24" name="Straight Connector 23">
            <a:extLst>
              <a:ext uri="{FF2B5EF4-FFF2-40B4-BE49-F238E27FC236}">
                <a16:creationId xmlns:a16="http://schemas.microsoft.com/office/drawing/2014/main" id="{4724149B-F847-4A1C-126C-607A1A8B5E20}"/>
              </a:ext>
            </a:extLst>
          </p:cNvPr>
          <p:cNvCxnSpPr/>
          <p:nvPr/>
        </p:nvCxnSpPr>
        <p:spPr>
          <a:xfrm flipV="1">
            <a:off x="7332812" y="3571869"/>
            <a:ext cx="6632615" cy="40322"/>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31C49DE0-22B5-2F6F-64E1-2D32DBD50E4B}"/>
              </a:ext>
            </a:extLst>
          </p:cNvPr>
          <p:cNvCxnSpPr>
            <a:stCxn id="23" idx="2"/>
            <a:endCxn id="23" idx="0"/>
          </p:cNvCxnSpPr>
          <p:nvPr/>
        </p:nvCxnSpPr>
        <p:spPr>
          <a:xfrm flipV="1">
            <a:off x="10648044" y="2508490"/>
            <a:ext cx="0" cy="2321252"/>
          </a:xfrm>
          <a:prstGeom prst="line">
            <a:avLst/>
          </a:prstGeom>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9CC79AE3-AE1E-EB18-3653-915B47431202}"/>
              </a:ext>
            </a:extLst>
          </p:cNvPr>
          <p:cNvSpPr txBox="1"/>
          <p:nvPr/>
        </p:nvSpPr>
        <p:spPr>
          <a:xfrm>
            <a:off x="7344196" y="2499112"/>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29" name="TextBox 28">
            <a:extLst>
              <a:ext uri="{FF2B5EF4-FFF2-40B4-BE49-F238E27FC236}">
                <a16:creationId xmlns:a16="http://schemas.microsoft.com/office/drawing/2014/main" id="{3B82B980-0260-A5F3-0D46-138BB3A8122F}"/>
              </a:ext>
            </a:extLst>
          </p:cNvPr>
          <p:cNvSpPr txBox="1"/>
          <p:nvPr/>
        </p:nvSpPr>
        <p:spPr>
          <a:xfrm>
            <a:off x="12868247" y="2466726"/>
            <a:ext cx="1112228" cy="276999"/>
          </a:xfrm>
          <a:prstGeom prst="rect">
            <a:avLst/>
          </a:prstGeom>
          <a:noFill/>
        </p:spPr>
        <p:txBody>
          <a:bodyPr wrap="none" rtlCol="0">
            <a:spAutoFit/>
          </a:bodyPr>
          <a:lstStyle/>
          <a:p>
            <a:r>
              <a:rPr lang="en-GB" sz="1200" b="1" noProof="0" dirty="0"/>
              <a:t>Characteristics</a:t>
            </a:r>
          </a:p>
        </p:txBody>
      </p:sp>
      <p:sp>
        <p:nvSpPr>
          <p:cNvPr id="30" name="TextBox 29">
            <a:extLst>
              <a:ext uri="{FF2B5EF4-FFF2-40B4-BE49-F238E27FC236}">
                <a16:creationId xmlns:a16="http://schemas.microsoft.com/office/drawing/2014/main" id="{E0127CD0-A30A-3E4B-80D2-EC7891FFBF89}"/>
              </a:ext>
            </a:extLst>
          </p:cNvPr>
          <p:cNvSpPr txBox="1"/>
          <p:nvPr/>
        </p:nvSpPr>
        <p:spPr>
          <a:xfrm>
            <a:off x="7359343" y="3596250"/>
            <a:ext cx="788164" cy="276999"/>
          </a:xfrm>
          <a:prstGeom prst="rect">
            <a:avLst/>
          </a:prstGeom>
          <a:noFill/>
        </p:spPr>
        <p:txBody>
          <a:bodyPr wrap="none" rtlCol="0">
            <a:spAutoFit/>
          </a:bodyPr>
          <a:lstStyle/>
          <a:p>
            <a:r>
              <a:rPr lang="en-GB" sz="1200" b="1" noProof="0" dirty="0"/>
              <a:t>Examples</a:t>
            </a:r>
          </a:p>
        </p:txBody>
      </p:sp>
      <p:sp>
        <p:nvSpPr>
          <p:cNvPr id="31" name="TextBox 30">
            <a:extLst>
              <a:ext uri="{FF2B5EF4-FFF2-40B4-BE49-F238E27FC236}">
                <a16:creationId xmlns:a16="http://schemas.microsoft.com/office/drawing/2014/main" id="{236EA4B5-685F-FB9D-170E-96DE654B5E77}"/>
              </a:ext>
            </a:extLst>
          </p:cNvPr>
          <p:cNvSpPr txBox="1"/>
          <p:nvPr/>
        </p:nvSpPr>
        <p:spPr>
          <a:xfrm>
            <a:off x="12796760" y="3571869"/>
            <a:ext cx="1172885" cy="276999"/>
          </a:xfrm>
          <a:prstGeom prst="rect">
            <a:avLst/>
          </a:prstGeom>
          <a:noFill/>
        </p:spPr>
        <p:txBody>
          <a:bodyPr wrap="none" rtlCol="0">
            <a:spAutoFit/>
          </a:bodyPr>
          <a:lstStyle/>
          <a:p>
            <a:r>
              <a:rPr lang="en-GB" sz="1200" b="1" noProof="0" dirty="0"/>
              <a:t>Non - Examples</a:t>
            </a:r>
          </a:p>
        </p:txBody>
      </p:sp>
      <p:sp>
        <p:nvSpPr>
          <p:cNvPr id="32" name="TextBox 31">
            <a:extLst>
              <a:ext uri="{FF2B5EF4-FFF2-40B4-BE49-F238E27FC236}">
                <a16:creationId xmlns:a16="http://schemas.microsoft.com/office/drawing/2014/main" id="{94F9D4A4-B330-827A-EB98-258FBB3C55EA}"/>
              </a:ext>
            </a:extLst>
          </p:cNvPr>
          <p:cNvSpPr txBox="1"/>
          <p:nvPr/>
        </p:nvSpPr>
        <p:spPr>
          <a:xfrm>
            <a:off x="7364975" y="2740169"/>
            <a:ext cx="3230335" cy="646331"/>
          </a:xfrm>
          <a:prstGeom prst="rect">
            <a:avLst/>
          </a:prstGeom>
          <a:noFill/>
        </p:spPr>
        <p:txBody>
          <a:bodyPr wrap="square" rtlCol="0">
            <a:spAutoFit/>
          </a:bodyPr>
          <a:lstStyle/>
          <a:p>
            <a:r>
              <a:rPr lang="en-GB" sz="1200" noProof="0" dirty="0"/>
              <a:t>A structured argument that follows a sequence of logical steps using facts and theorems to prove if a mathematical statement is true.</a:t>
            </a:r>
            <a:endParaRPr lang="en-GB" sz="600" noProof="0" dirty="0"/>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7D71C54-4428-2713-1F50-D9EA079F4E5F}"/>
                  </a:ext>
                </a:extLst>
              </p:cNvPr>
              <p:cNvSpPr txBox="1"/>
              <p:nvPr/>
            </p:nvSpPr>
            <p:spPr>
              <a:xfrm>
                <a:off x="10739310" y="2690130"/>
                <a:ext cx="3230335" cy="600164"/>
              </a:xfrm>
              <a:prstGeom prst="rect">
                <a:avLst/>
              </a:prstGeom>
              <a:noFill/>
            </p:spPr>
            <p:txBody>
              <a:bodyPr wrap="square" rtlCol="0">
                <a:spAutoFit/>
              </a:bodyPr>
              <a:lstStyle/>
              <a:p>
                <a:r>
                  <a:rPr lang="en-GB" sz="1100" noProof="0" dirty="0"/>
                  <a:t>For algebraic proof we perform proof by induction, this means it is true for </a:t>
                </a:r>
                <a:r>
                  <a:rPr lang="en-GB" sz="1100" b="1" noProof="0" dirty="0"/>
                  <a:t>any value. </a:t>
                </a:r>
              </a:p>
              <a:p>
                <a:r>
                  <a:rPr lang="en-GB" sz="1100" noProof="0" dirty="0"/>
                  <a:t>We tend to use </a:t>
                </a:r>
                <a14:m>
                  <m:oMath xmlns:m="http://schemas.openxmlformats.org/officeDocument/2006/math">
                    <m:r>
                      <a:rPr lang="en-GB" sz="1100" b="0" i="1" noProof="0" smtClean="0">
                        <a:latin typeface="Cambria Math" panose="02040503050406030204" pitchFamily="18" charset="0"/>
                      </a:rPr>
                      <m:t>𝑛</m:t>
                    </m:r>
                  </m:oMath>
                </a14:m>
                <a:r>
                  <a:rPr lang="en-GB" sz="1100" noProof="0" dirty="0"/>
                  <a:t> to denote </a:t>
                </a:r>
                <a:r>
                  <a:rPr lang="en-GB" sz="1100" b="1" noProof="0" dirty="0"/>
                  <a:t>any value. </a:t>
                </a:r>
              </a:p>
            </p:txBody>
          </p:sp>
        </mc:Choice>
        <mc:Fallback xmlns="">
          <p:sp>
            <p:nvSpPr>
              <p:cNvPr id="33" name="TextBox 32">
                <a:extLst>
                  <a:ext uri="{FF2B5EF4-FFF2-40B4-BE49-F238E27FC236}">
                    <a16:creationId xmlns:a16="http://schemas.microsoft.com/office/drawing/2014/main" id="{C7D71C54-4428-2713-1F50-D9EA079F4E5F}"/>
                  </a:ext>
                </a:extLst>
              </p:cNvPr>
              <p:cNvSpPr txBox="1">
                <a:spLocks noRot="1" noChangeAspect="1" noMove="1" noResize="1" noEditPoints="1" noAdjustHandles="1" noChangeArrowheads="1" noChangeShapeType="1" noTextEdit="1"/>
              </p:cNvSpPr>
              <p:nvPr/>
            </p:nvSpPr>
            <p:spPr>
              <a:xfrm>
                <a:off x="10739310" y="2690130"/>
                <a:ext cx="3230335" cy="600164"/>
              </a:xfrm>
              <a:prstGeom prst="rect">
                <a:avLst/>
              </a:prstGeom>
              <a:blipFill>
                <a:blip r:embed="rId4"/>
                <a:stretch>
                  <a:fillRect t="-1010" b="-6061"/>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3B6101FF-CD8B-F040-BC57-5B4DB18247F8}"/>
              </a:ext>
            </a:extLst>
          </p:cNvPr>
          <p:cNvSpPr txBox="1"/>
          <p:nvPr/>
        </p:nvSpPr>
        <p:spPr>
          <a:xfrm>
            <a:off x="10301096" y="3465729"/>
            <a:ext cx="693908" cy="369332"/>
          </a:xfrm>
          <a:prstGeom prst="rect">
            <a:avLst/>
          </a:prstGeom>
          <a:solidFill>
            <a:schemeClr val="bg1"/>
          </a:solidFill>
          <a:ln>
            <a:solidFill>
              <a:schemeClr val="tx1"/>
            </a:solidFill>
          </a:ln>
        </p:spPr>
        <p:txBody>
          <a:bodyPr wrap="none" rtlCol="0">
            <a:spAutoFit/>
          </a:bodyPr>
          <a:lstStyle/>
          <a:p>
            <a:r>
              <a:rPr lang="en-GB" noProof="0" dirty="0"/>
              <a:t>Proof</a:t>
            </a:r>
          </a:p>
        </p:txBody>
      </p:sp>
      <p:sp>
        <p:nvSpPr>
          <p:cNvPr id="35" name="Rectangle 34">
            <a:extLst>
              <a:ext uri="{FF2B5EF4-FFF2-40B4-BE49-F238E27FC236}">
                <a16:creationId xmlns:a16="http://schemas.microsoft.com/office/drawing/2014/main" id="{591A46C5-8A1A-0454-DDDF-EC783C3496A7}"/>
              </a:ext>
            </a:extLst>
          </p:cNvPr>
          <p:cNvSpPr/>
          <p:nvPr/>
        </p:nvSpPr>
        <p:spPr>
          <a:xfrm>
            <a:off x="7359343" y="3862441"/>
            <a:ext cx="3273285" cy="830997"/>
          </a:xfrm>
          <a:prstGeom prst="rect">
            <a:avLst/>
          </a:prstGeom>
        </p:spPr>
        <p:txBody>
          <a:bodyPr wrap="square">
            <a:spAutoFit/>
          </a:bodyPr>
          <a:lstStyle/>
          <a:p>
            <a:r>
              <a:rPr lang="en-GB" sz="1200" noProof="0" dirty="0"/>
              <a:t>Prove algebraically that the sum of two consecutive odd numbers is divisible by 4</a:t>
            </a:r>
          </a:p>
          <a:p>
            <a:endParaRPr lang="en-GB" sz="1200" noProof="0" dirty="0"/>
          </a:p>
          <a:p>
            <a:r>
              <a:rPr lang="en-GB" sz="1200" noProof="0" dirty="0"/>
              <a:t>2n + 1 + 2n + 3 = 4n + 4 = 4(n + 1)</a:t>
            </a:r>
          </a:p>
        </p:txBody>
      </p:sp>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71E2525B-096F-AE29-0F1F-8DA31F587FC1}"/>
                  </a:ext>
                </a:extLst>
              </p:cNvPr>
              <p:cNvSpPr/>
              <p:nvPr/>
            </p:nvSpPr>
            <p:spPr>
              <a:xfrm>
                <a:off x="10652804" y="3820501"/>
                <a:ext cx="3273285" cy="1015663"/>
              </a:xfrm>
              <a:prstGeom prst="rect">
                <a:avLst/>
              </a:prstGeom>
            </p:spPr>
            <p:txBody>
              <a:bodyPr wrap="square">
                <a:spAutoFit/>
              </a:bodyPr>
              <a:lstStyle/>
              <a:p>
                <a:r>
                  <a:rPr lang="en-GB" sz="1200" noProof="0" dirty="0"/>
                  <a:t>Prove algebraically that the sum of two consecutive odd numbers is divisible by 4</a:t>
                </a:r>
              </a:p>
              <a:p>
                <a:endParaRPr lang="en-GB" sz="1200" noProof="0" dirty="0"/>
              </a:p>
              <a:p>
                <a:r>
                  <a:rPr lang="en-GB" sz="1200" noProof="0" dirty="0"/>
                  <a:t>3 + 5 = 8   8 </a:t>
                </a:r>
                <a14:m>
                  <m:oMath xmlns:m="http://schemas.openxmlformats.org/officeDocument/2006/math">
                    <m:r>
                      <a:rPr lang="en-GB" sz="1200" i="1" noProof="0" smtClean="0">
                        <a:latin typeface="Cambria Math" panose="02040503050406030204" pitchFamily="18" charset="0"/>
                        <a:ea typeface="Cambria Math" panose="02040503050406030204" pitchFamily="18" charset="0"/>
                      </a:rPr>
                      <m:t>÷</m:t>
                    </m:r>
                  </m:oMath>
                </a14:m>
                <a:r>
                  <a:rPr lang="en-GB" sz="1200" noProof="0" dirty="0"/>
                  <a:t> 4 = 2 so it is proved. (Why is this incorrect?</a:t>
                </a:r>
              </a:p>
            </p:txBody>
          </p:sp>
        </mc:Choice>
        <mc:Fallback xmlns="">
          <p:sp>
            <p:nvSpPr>
              <p:cNvPr id="41" name="Rectangle 40">
                <a:extLst>
                  <a:ext uri="{FF2B5EF4-FFF2-40B4-BE49-F238E27FC236}">
                    <a16:creationId xmlns:a16="http://schemas.microsoft.com/office/drawing/2014/main" id="{71E2525B-096F-AE29-0F1F-8DA31F587FC1}"/>
                  </a:ext>
                </a:extLst>
              </p:cNvPr>
              <p:cNvSpPr>
                <a:spLocks noRot="1" noChangeAspect="1" noMove="1" noResize="1" noEditPoints="1" noAdjustHandles="1" noChangeArrowheads="1" noChangeShapeType="1" noTextEdit="1"/>
              </p:cNvSpPr>
              <p:nvPr/>
            </p:nvSpPr>
            <p:spPr>
              <a:xfrm>
                <a:off x="10652804" y="3820501"/>
                <a:ext cx="3273285" cy="1015663"/>
              </a:xfrm>
              <a:prstGeom prst="rect">
                <a:avLst/>
              </a:prstGeom>
              <a:blipFill>
                <a:blip r:embed="rId5"/>
                <a:stretch>
                  <a:fillRect l="-187" t="-602" b="-4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3F773D4-8E17-F616-0489-1A15DBC938DE}"/>
                  </a:ext>
                </a:extLst>
              </p:cNvPr>
              <p:cNvSpPr txBox="1"/>
              <p:nvPr/>
            </p:nvSpPr>
            <p:spPr>
              <a:xfrm>
                <a:off x="107398" y="371082"/>
                <a:ext cx="6643204" cy="1938992"/>
              </a:xfrm>
              <a:prstGeom prst="rect">
                <a:avLst/>
              </a:prstGeom>
              <a:noFill/>
              <a:ln>
                <a:solidFill>
                  <a:schemeClr val="tx1"/>
                </a:solidFill>
              </a:ln>
            </p:spPr>
            <p:txBody>
              <a:bodyPr wrap="square" rtlCol="0">
                <a:spAutoFit/>
              </a:bodyPr>
              <a:lstStyle/>
              <a:p>
                <a:r>
                  <a:rPr lang="en-GB" sz="1200" noProof="0" dirty="0"/>
                  <a:t>If a term or an expression is divisible by an integer</a:t>
                </a:r>
                <a14:m>
                  <m:oMath xmlns:m="http://schemas.openxmlformats.org/officeDocument/2006/math">
                    <m:r>
                      <a:rPr lang="en-GB" sz="1200" i="1" noProof="0">
                        <a:latin typeface="Cambria Math" panose="02040503050406030204" pitchFamily="18" charset="0"/>
                      </a:rPr>
                      <m:t> </m:t>
                    </m:r>
                    <m:r>
                      <a:rPr lang="en-GB" sz="1200" i="1" noProof="0">
                        <a:latin typeface="Cambria Math" panose="02040503050406030204" pitchFamily="18" charset="0"/>
                      </a:rPr>
                      <m:t>𝑘</m:t>
                    </m:r>
                  </m:oMath>
                </a14:m>
                <a:r>
                  <a:rPr lang="en-GB" sz="1200" noProof="0" dirty="0"/>
                  <a:t>, it can be written as </a:t>
                </a:r>
                <a14:m>
                  <m:oMath xmlns:m="http://schemas.openxmlformats.org/officeDocument/2006/math">
                    <m:r>
                      <a:rPr lang="en-GB" sz="1200" i="1" noProof="0">
                        <a:latin typeface="Cambria Math" panose="02040503050406030204" pitchFamily="18" charset="0"/>
                      </a:rPr>
                      <m:t>𝑘𝑛</m:t>
                    </m:r>
                  </m:oMath>
                </a14:m>
                <a:r>
                  <a:rPr lang="en-GB" sz="1200" noProof="0" dirty="0"/>
                  <a:t> or  </a:t>
                </a:r>
                <a14:m>
                  <m:oMath xmlns:m="http://schemas.openxmlformats.org/officeDocument/2006/math">
                    <m:r>
                      <a:rPr lang="en-GB" sz="1200" i="1" noProof="0">
                        <a:latin typeface="Cambria Math" panose="02040503050406030204" pitchFamily="18" charset="0"/>
                      </a:rPr>
                      <m:t>𝑘</m:t>
                    </m:r>
                    <m:r>
                      <a:rPr lang="en-GB" sz="1200" i="1" noProof="0">
                        <a:latin typeface="Cambria Math" panose="02040503050406030204" pitchFamily="18" charset="0"/>
                      </a:rPr>
                      <m:t>(…)</m:t>
                    </m:r>
                  </m:oMath>
                </a14:m>
                <a:r>
                  <a:rPr lang="en-GB" sz="1200" noProof="0" dirty="0"/>
                  <a:t> where </a:t>
                </a:r>
                <a14:m>
                  <m:oMath xmlns:m="http://schemas.openxmlformats.org/officeDocument/2006/math">
                    <m:r>
                      <a:rPr lang="en-GB" sz="1200" i="1" noProof="0">
                        <a:latin typeface="Cambria Math" panose="02040503050406030204" pitchFamily="18" charset="0"/>
                      </a:rPr>
                      <m:t>𝑘</m:t>
                    </m:r>
                  </m:oMath>
                </a14:m>
                <a:r>
                  <a:rPr lang="en-GB" sz="1200" noProof="0" dirty="0"/>
                  <a:t> is factorised out as a factor.</a:t>
                </a:r>
              </a:p>
              <a:p>
                <a:endParaRPr lang="en-GB" sz="1200" noProof="0" dirty="0"/>
              </a:p>
              <a:p>
                <a:r>
                  <a:rPr lang="en-GB" sz="1200" noProof="0" dirty="0"/>
                  <a:t>For example, if we are told that </a:t>
                </a:r>
                <a14:m>
                  <m:oMath xmlns:m="http://schemas.openxmlformats.org/officeDocument/2006/math">
                    <m:r>
                      <a:rPr lang="en-GB" sz="1200" b="0" i="1" noProof="0" smtClean="0">
                        <a:latin typeface="Cambria Math" panose="02040503050406030204" pitchFamily="18" charset="0"/>
                      </a:rPr>
                      <m:t>𝑛</m:t>
                    </m:r>
                    <m:r>
                      <a:rPr lang="en-GB" sz="1200" b="0" i="1" noProof="0" smtClean="0">
                        <a:latin typeface="Cambria Math" panose="02040503050406030204" pitchFamily="18" charset="0"/>
                      </a:rPr>
                      <m:t> </m:t>
                    </m:r>
                  </m:oMath>
                </a14:m>
                <a:r>
                  <a:rPr lang="en-GB" sz="1200" noProof="0" dirty="0"/>
                  <a:t>is an integer then to show that </a:t>
                </a:r>
                <a14:m>
                  <m:oMath xmlns:m="http://schemas.openxmlformats.org/officeDocument/2006/math">
                    <m:r>
                      <a:rPr lang="en-GB" sz="1200" b="0" i="1" noProof="0" smtClean="0">
                        <a:latin typeface="Cambria Math" panose="02040503050406030204" pitchFamily="18" charset="0"/>
                      </a:rPr>
                      <m:t>20</m:t>
                    </m:r>
                    <m:r>
                      <a:rPr lang="en-GB" sz="1200" b="0" i="1" noProof="0" smtClean="0">
                        <a:latin typeface="Cambria Math" panose="02040503050406030204" pitchFamily="18" charset="0"/>
                      </a:rPr>
                      <m:t>𝑛</m:t>
                    </m:r>
                    <m:r>
                      <a:rPr lang="en-GB" sz="1200" b="0" i="1" noProof="0" smtClean="0">
                        <a:latin typeface="Cambria Math" panose="02040503050406030204" pitchFamily="18" charset="0"/>
                      </a:rPr>
                      <m:t>−12 </m:t>
                    </m:r>
                  </m:oMath>
                </a14:m>
                <a:r>
                  <a:rPr lang="en-GB" sz="1200" noProof="0" dirty="0"/>
                  <a:t>is divisible by 4 we can factorise out the 4 as follows:</a:t>
                </a:r>
              </a:p>
              <a:p>
                <a:endParaRPr lang="en-GB" sz="1200" noProof="0" dirty="0"/>
              </a:p>
              <a:p>
                <a:endParaRPr lang="en-GB" sz="1200" noProof="0" dirty="0"/>
              </a:p>
              <a:p>
                <a:r>
                  <a:rPr lang="en-GB" sz="1200" noProof="0" dirty="0"/>
                  <a:t>And write our conclusion as follows: __________________________________________________</a:t>
                </a:r>
              </a:p>
              <a:p>
                <a:endParaRPr lang="en-GB" sz="1200" noProof="0" dirty="0"/>
              </a:p>
              <a:p>
                <a:endParaRPr lang="en-GB" sz="1200" noProof="0" dirty="0"/>
              </a:p>
            </p:txBody>
          </p:sp>
        </mc:Choice>
        <mc:Fallback xmlns="">
          <p:sp>
            <p:nvSpPr>
              <p:cNvPr id="2" name="TextBox 1">
                <a:extLst>
                  <a:ext uri="{FF2B5EF4-FFF2-40B4-BE49-F238E27FC236}">
                    <a16:creationId xmlns:a16="http://schemas.microsoft.com/office/drawing/2014/main" id="{33F773D4-8E17-F616-0489-1A15DBC938DE}"/>
                  </a:ext>
                </a:extLst>
              </p:cNvPr>
              <p:cNvSpPr txBox="1">
                <a:spLocks noRot="1" noChangeAspect="1" noMove="1" noResize="1" noEditPoints="1" noAdjustHandles="1" noChangeArrowheads="1" noChangeShapeType="1" noTextEdit="1"/>
              </p:cNvSpPr>
              <p:nvPr/>
            </p:nvSpPr>
            <p:spPr>
              <a:xfrm>
                <a:off x="107398" y="371082"/>
                <a:ext cx="6643204" cy="1938992"/>
              </a:xfrm>
              <a:prstGeom prst="rect">
                <a:avLst/>
              </a:prstGeom>
              <a:blipFill>
                <a:blip r:embed="rId6"/>
                <a:stretch>
                  <a:fillRect/>
                </a:stretch>
              </a:blipFill>
              <a:ln>
                <a:solidFill>
                  <a:schemeClr val="tx1"/>
                </a:solidFill>
              </a:ln>
            </p:spPr>
            <p:txBody>
              <a:bodyPr/>
              <a:lstStyle/>
              <a:p>
                <a:r>
                  <a:rPr lang="en-US">
                    <a:noFill/>
                  </a:rPr>
                  <a:t> </a:t>
                </a:r>
              </a:p>
            </p:txBody>
          </p:sp>
        </mc:Fallback>
      </mc:AlternateContent>
      <p:sp>
        <p:nvSpPr>
          <p:cNvPr id="3" name="TextBox 2">
            <a:extLst>
              <a:ext uri="{FF2B5EF4-FFF2-40B4-BE49-F238E27FC236}">
                <a16:creationId xmlns:a16="http://schemas.microsoft.com/office/drawing/2014/main" id="{68CFD852-7130-84D5-519C-3AEED6263563}"/>
              </a:ext>
            </a:extLst>
          </p:cNvPr>
          <p:cNvSpPr txBox="1"/>
          <p:nvPr/>
        </p:nvSpPr>
        <p:spPr>
          <a:xfrm>
            <a:off x="0" y="2297300"/>
            <a:ext cx="1762598" cy="276999"/>
          </a:xfrm>
          <a:prstGeom prst="rect">
            <a:avLst/>
          </a:prstGeom>
          <a:solidFill>
            <a:srgbClr val="0070C0"/>
          </a:solidFill>
        </p:spPr>
        <p:txBody>
          <a:bodyPr wrap="none" rtlCol="0" anchor="ctr">
            <a:spAutoFit/>
          </a:bodyPr>
          <a:lstStyle/>
          <a:p>
            <a:pPr algn="r"/>
            <a:r>
              <a:rPr lang="en-GB" sz="1200" b="1" noProof="0" dirty="0">
                <a:solidFill>
                  <a:schemeClr val="bg1"/>
                </a:solidFill>
              </a:rPr>
              <a:t>INDEPENDENT PRACTICE</a:t>
            </a:r>
          </a:p>
        </p:txBody>
      </p:sp>
      <p:sp>
        <p:nvSpPr>
          <p:cNvPr id="5" name="TextBox 4">
            <a:extLst>
              <a:ext uri="{FF2B5EF4-FFF2-40B4-BE49-F238E27FC236}">
                <a16:creationId xmlns:a16="http://schemas.microsoft.com/office/drawing/2014/main" id="{FF54C246-65BB-E5A6-D667-860F1AE8599F}"/>
              </a:ext>
            </a:extLst>
          </p:cNvPr>
          <p:cNvSpPr txBox="1"/>
          <p:nvPr/>
        </p:nvSpPr>
        <p:spPr>
          <a:xfrm>
            <a:off x="1701498" y="2344599"/>
            <a:ext cx="5227117" cy="553998"/>
          </a:xfrm>
          <a:prstGeom prst="rect">
            <a:avLst/>
          </a:prstGeom>
          <a:noFill/>
        </p:spPr>
        <p:txBody>
          <a:bodyPr wrap="square" rtlCol="0">
            <a:spAutoFit/>
          </a:bodyPr>
          <a:lstStyle/>
          <a:p>
            <a:r>
              <a:rPr lang="en-GB" sz="1200" noProof="0" dirty="0"/>
              <a:t>1. Prove that the following expressions are divisible by the factors listed in </a:t>
            </a:r>
            <a:r>
              <a:rPr lang="en-GB" sz="1200" b="1" noProof="0" dirty="0"/>
              <a:t>bold</a:t>
            </a:r>
            <a:r>
              <a:rPr lang="en-GB" sz="1200" noProof="0" dirty="0"/>
              <a:t>.</a:t>
            </a:r>
          </a:p>
          <a:p>
            <a:endParaRPr lang="en-GB" noProof="0" dirty="0"/>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05ADDACF-3FA5-F39A-B8F4-E23FB25AE583}"/>
                  </a:ext>
                </a:extLst>
              </p:cNvPr>
              <p:cNvGraphicFramePr>
                <a:graphicFrameLocks noGrp="1"/>
              </p:cNvGraphicFramePr>
              <p:nvPr>
                <p:extLst>
                  <p:ext uri="{D42A27DB-BD31-4B8C-83A1-F6EECF244321}">
                    <p14:modId xmlns:p14="http://schemas.microsoft.com/office/powerpoint/2010/main" val="1225001443"/>
                  </p:ext>
                </p:extLst>
              </p:nvPr>
            </p:nvGraphicFramePr>
            <p:xfrm>
              <a:off x="100142" y="2634740"/>
              <a:ext cx="6621887" cy="2058699"/>
            </p:xfrm>
            <a:graphic>
              <a:graphicData uri="http://schemas.openxmlformats.org/drawingml/2006/table">
                <a:tbl>
                  <a:tblPr firstRow="1" firstCol="1" bandRow="1">
                    <a:tableStyleId>{5C22544A-7EE6-4342-B048-85BDC9FD1C3A}</a:tableStyleId>
                  </a:tblPr>
                  <a:tblGrid>
                    <a:gridCol w="588919">
                      <a:extLst>
                        <a:ext uri="{9D8B030D-6E8A-4147-A177-3AD203B41FA5}">
                          <a16:colId xmlns:a16="http://schemas.microsoft.com/office/drawing/2014/main" val="2170590296"/>
                        </a:ext>
                      </a:extLst>
                    </a:gridCol>
                    <a:gridCol w="1581543">
                      <a:extLst>
                        <a:ext uri="{9D8B030D-6E8A-4147-A177-3AD203B41FA5}">
                          <a16:colId xmlns:a16="http://schemas.microsoft.com/office/drawing/2014/main" val="2281464178"/>
                        </a:ext>
                      </a:extLst>
                    </a:gridCol>
                    <a:gridCol w="588919">
                      <a:extLst>
                        <a:ext uri="{9D8B030D-6E8A-4147-A177-3AD203B41FA5}">
                          <a16:colId xmlns:a16="http://schemas.microsoft.com/office/drawing/2014/main" val="1626324929"/>
                        </a:ext>
                      </a:extLst>
                    </a:gridCol>
                    <a:gridCol w="1585938">
                      <a:extLst>
                        <a:ext uri="{9D8B030D-6E8A-4147-A177-3AD203B41FA5}">
                          <a16:colId xmlns:a16="http://schemas.microsoft.com/office/drawing/2014/main" val="582988560"/>
                        </a:ext>
                      </a:extLst>
                    </a:gridCol>
                    <a:gridCol w="590803">
                      <a:extLst>
                        <a:ext uri="{9D8B030D-6E8A-4147-A177-3AD203B41FA5}">
                          <a16:colId xmlns:a16="http://schemas.microsoft.com/office/drawing/2014/main" val="1205657201"/>
                        </a:ext>
                      </a:extLst>
                    </a:gridCol>
                    <a:gridCol w="1685765">
                      <a:extLst>
                        <a:ext uri="{9D8B030D-6E8A-4147-A177-3AD203B41FA5}">
                          <a16:colId xmlns:a16="http://schemas.microsoft.com/office/drawing/2014/main" val="4074606001"/>
                        </a:ext>
                      </a:extLst>
                    </a:gridCol>
                  </a:tblGrid>
                  <a:tr h="686233">
                    <a:tc>
                      <a:txBody>
                        <a:bodyPr/>
                        <a:lstStyle/>
                        <a:p>
                          <a:pPr algn="ctr">
                            <a:lnSpc>
                              <a:spcPct val="107000"/>
                            </a:lnSpc>
                            <a:spcAft>
                              <a:spcPts val="800"/>
                            </a:spcAft>
                            <a:buNone/>
                          </a:pPr>
                          <a:r>
                            <a:rPr lang="en-GB" sz="1200" noProof="0" dirty="0">
                              <a:solidFill>
                                <a:schemeClr val="tx1"/>
                              </a:solidFill>
                              <a:effectLst/>
                            </a:rPr>
                            <a:t>2</a:t>
                          </a:r>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14−6</m:t>
                                </m:r>
                                <m:r>
                                  <a:rPr lang="en-GB" sz="1200" noProof="0" smtClean="0">
                                    <a:solidFill>
                                      <a:schemeClr val="tx1"/>
                                    </a:solidFill>
                                    <a:effectLst/>
                                    <a:latin typeface="Cambria Math" panose="02040503050406030204" pitchFamily="18" charset="0"/>
                                  </a:rPr>
                                  <m:t>𝑛</m:t>
                                </m:r>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buNone/>
                          </a:pPr>
                          <a:r>
                            <a:rPr lang="en-GB" sz="1200" noProof="0" dirty="0">
                              <a:solidFill>
                                <a:schemeClr val="tx1"/>
                              </a:solidFill>
                              <a:effectLst/>
                            </a:rPr>
                            <a:t>3</a:t>
                          </a:r>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12</m:t>
                                </m:r>
                                <m:sSup>
                                  <m:sSupPr>
                                    <m:ctrlPr>
                                      <a:rPr lang="en-GB" sz="1200" i="1" noProof="0" smtClean="0">
                                        <a:solidFill>
                                          <a:schemeClr val="tx1"/>
                                        </a:solidFill>
                                        <a:effectLst/>
                                        <a:latin typeface="Cambria Math" panose="02040503050406030204" pitchFamily="18" charset="0"/>
                                      </a:rPr>
                                    </m:ctrlPr>
                                  </m:sSupPr>
                                  <m:e>
                                    <m:r>
                                      <a:rPr lang="en-GB" sz="1200" noProof="0">
                                        <a:solidFill>
                                          <a:schemeClr val="tx1"/>
                                        </a:solidFill>
                                        <a:effectLst/>
                                        <a:latin typeface="Cambria Math" panose="02040503050406030204" pitchFamily="18" charset="0"/>
                                      </a:rPr>
                                      <m:t>𝑛</m:t>
                                    </m:r>
                                  </m:e>
                                  <m:sup>
                                    <m:r>
                                      <a:rPr lang="en-GB" sz="1200" noProof="0">
                                        <a:solidFill>
                                          <a:schemeClr val="tx1"/>
                                        </a:solidFill>
                                        <a:effectLst/>
                                        <a:latin typeface="Cambria Math" panose="02040503050406030204" pitchFamily="18" charset="0"/>
                                      </a:rPr>
                                      <m:t>2</m:t>
                                    </m:r>
                                  </m:sup>
                                </m:sSup>
                                <m:r>
                                  <a:rPr lang="en-GB" sz="1200" noProof="0">
                                    <a:solidFill>
                                      <a:schemeClr val="tx1"/>
                                    </a:solidFill>
                                    <a:effectLst/>
                                    <a:latin typeface="Cambria Math" panose="02040503050406030204" pitchFamily="18" charset="0"/>
                                  </a:rPr>
                                  <m:t>−6</m:t>
                                </m:r>
                                <m:r>
                                  <a:rPr lang="en-GB" sz="1200" noProof="0">
                                    <a:solidFill>
                                      <a:schemeClr val="tx1"/>
                                    </a:solidFill>
                                    <a:effectLst/>
                                    <a:latin typeface="Cambria Math" panose="02040503050406030204" pitchFamily="18" charset="0"/>
                                  </a:rPr>
                                  <m:t>𝑛</m:t>
                                </m:r>
                                <m:r>
                                  <a:rPr lang="en-GB" sz="1200" noProof="0">
                                    <a:solidFill>
                                      <a:schemeClr val="tx1"/>
                                    </a:solidFill>
                                    <a:effectLst/>
                                    <a:latin typeface="Cambria Math" panose="02040503050406030204" pitchFamily="18" charset="0"/>
                                  </a:rPr>
                                  <m:t>−9</m:t>
                                </m:r>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buNone/>
                          </a:pPr>
                          <a:r>
                            <a:rPr lang="en-GB" sz="1200" b="1" noProof="0" dirty="0">
                              <a:solidFill>
                                <a:schemeClr val="tx1"/>
                              </a:solidFill>
                              <a:effectLst/>
                            </a:rPr>
                            <a:t>11</a:t>
                          </a:r>
                          <a:endParaRPr lang="en-GB" sz="1100" b="1"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121</m:t>
                                </m:r>
                                <m:r>
                                  <a:rPr lang="en-GB" sz="1200" noProof="0" smtClean="0">
                                    <a:solidFill>
                                      <a:schemeClr val="tx1"/>
                                    </a:solidFill>
                                    <a:effectLst/>
                                    <a:latin typeface="Cambria Math" panose="02040503050406030204" pitchFamily="18" charset="0"/>
                                  </a:rPr>
                                  <m:t>𝑛</m:t>
                                </m:r>
                                <m:r>
                                  <a:rPr lang="en-GB" sz="1200" noProof="0" smtClean="0">
                                    <a:solidFill>
                                      <a:schemeClr val="tx1"/>
                                    </a:solidFill>
                                    <a:effectLst/>
                                    <a:latin typeface="Cambria Math" panose="02040503050406030204" pitchFamily="18" charset="0"/>
                                  </a:rPr>
                                  <m:t>−88</m:t>
                                </m:r>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853345"/>
                      </a:ext>
                    </a:extLst>
                  </a:tr>
                  <a:tr h="686233">
                    <a:tc>
                      <a:txBody>
                        <a:bodyPr/>
                        <a:lstStyle/>
                        <a:p>
                          <a:pPr algn="ctr">
                            <a:lnSpc>
                              <a:spcPct val="107000"/>
                            </a:lnSpc>
                            <a:spcAft>
                              <a:spcPts val="800"/>
                            </a:spcAft>
                            <a:buNone/>
                          </a:pPr>
                          <a:r>
                            <a:rPr lang="en-GB" sz="1200" noProof="0" dirty="0">
                              <a:solidFill>
                                <a:schemeClr val="tx1"/>
                              </a:solidFill>
                              <a:effectLst/>
                            </a:rPr>
                            <a:t>5</a:t>
                          </a:r>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30</m:t>
                                </m:r>
                                <m:r>
                                  <a:rPr lang="en-GB" sz="1200" noProof="0" smtClean="0">
                                    <a:solidFill>
                                      <a:schemeClr val="tx1"/>
                                    </a:solidFill>
                                    <a:effectLst/>
                                    <a:latin typeface="Cambria Math" panose="02040503050406030204" pitchFamily="18" charset="0"/>
                                  </a:rPr>
                                  <m:t>𝑛</m:t>
                                </m:r>
                                <m:r>
                                  <a:rPr lang="en-GB" sz="1200" noProof="0" smtClean="0">
                                    <a:solidFill>
                                      <a:schemeClr val="tx1"/>
                                    </a:solidFill>
                                    <a:effectLst/>
                                    <a:latin typeface="Cambria Math" panose="02040503050406030204" pitchFamily="18" charset="0"/>
                                  </a:rPr>
                                  <m:t>−25</m:t>
                                </m:r>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buNone/>
                          </a:pPr>
                          <a:r>
                            <a:rPr lang="en-GB" sz="1200" noProof="0" dirty="0">
                              <a:solidFill>
                                <a:schemeClr val="tx1"/>
                              </a:solidFill>
                              <a:effectLst/>
                            </a:rPr>
                            <a:t>6</a:t>
                          </a:r>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42−36</m:t>
                                </m:r>
                                <m:sSup>
                                  <m:sSupPr>
                                    <m:ctrlPr>
                                      <a:rPr lang="en-GB" sz="1200" i="1" noProof="0" smtClean="0">
                                        <a:solidFill>
                                          <a:schemeClr val="tx1"/>
                                        </a:solidFill>
                                        <a:effectLst/>
                                        <a:latin typeface="Cambria Math" panose="02040503050406030204" pitchFamily="18" charset="0"/>
                                      </a:rPr>
                                    </m:ctrlPr>
                                  </m:sSupPr>
                                  <m:e>
                                    <m:r>
                                      <a:rPr lang="en-GB" sz="1200" noProof="0">
                                        <a:solidFill>
                                          <a:schemeClr val="tx1"/>
                                        </a:solidFill>
                                        <a:effectLst/>
                                        <a:latin typeface="Cambria Math" panose="02040503050406030204" pitchFamily="18" charset="0"/>
                                      </a:rPr>
                                      <m:t>𝑛</m:t>
                                    </m:r>
                                  </m:e>
                                  <m:sup>
                                    <m:r>
                                      <a:rPr lang="en-GB" sz="1200" noProof="0">
                                        <a:solidFill>
                                          <a:schemeClr val="tx1"/>
                                        </a:solidFill>
                                        <a:effectLst/>
                                        <a:latin typeface="Cambria Math" panose="02040503050406030204" pitchFamily="18" charset="0"/>
                                      </a:rPr>
                                      <m:t>2</m:t>
                                    </m:r>
                                  </m:sup>
                                </m:sSup>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buNone/>
                          </a:pPr>
                          <a:r>
                            <a:rPr lang="en-GB" sz="1200" b="1" noProof="0" dirty="0">
                              <a:solidFill>
                                <a:schemeClr val="tx1"/>
                              </a:solidFill>
                              <a:effectLst/>
                            </a:rPr>
                            <a:t>10</a:t>
                          </a:r>
                          <a:endParaRPr lang="en-GB" sz="1100" b="1"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420−50</m:t>
                                </m:r>
                                <m:r>
                                  <a:rPr lang="en-GB" sz="1200" noProof="0" smtClean="0">
                                    <a:solidFill>
                                      <a:schemeClr val="tx1"/>
                                    </a:solidFill>
                                    <a:effectLst/>
                                    <a:latin typeface="Cambria Math" panose="02040503050406030204" pitchFamily="18" charset="0"/>
                                  </a:rPr>
                                  <m:t>𝑛</m:t>
                                </m:r>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5220457"/>
                      </a:ext>
                    </a:extLst>
                  </a:tr>
                  <a:tr h="686233">
                    <a:tc>
                      <a:txBody>
                        <a:bodyPr/>
                        <a:lstStyle/>
                        <a:p>
                          <a:pPr algn="ctr">
                            <a:lnSpc>
                              <a:spcPct val="107000"/>
                            </a:lnSpc>
                            <a:spcAft>
                              <a:spcPts val="800"/>
                            </a:spcAft>
                            <a:buNone/>
                          </a:pPr>
                          <a:r>
                            <a:rPr lang="en-GB" sz="1200" noProof="0" dirty="0">
                              <a:solidFill>
                                <a:schemeClr val="tx1"/>
                              </a:solidFill>
                              <a:effectLst/>
                            </a:rPr>
                            <a:t>7</a:t>
                          </a:r>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7</m:t>
                                </m:r>
                                <m:sSup>
                                  <m:sSupPr>
                                    <m:ctrlPr>
                                      <a:rPr lang="en-GB" sz="1200" i="1" noProof="0" smtClean="0">
                                        <a:solidFill>
                                          <a:schemeClr val="tx1"/>
                                        </a:solidFill>
                                        <a:effectLst/>
                                        <a:latin typeface="Cambria Math" panose="02040503050406030204" pitchFamily="18" charset="0"/>
                                      </a:rPr>
                                    </m:ctrlPr>
                                  </m:sSupPr>
                                  <m:e>
                                    <m:r>
                                      <a:rPr lang="en-GB" sz="1200" noProof="0">
                                        <a:solidFill>
                                          <a:schemeClr val="tx1"/>
                                        </a:solidFill>
                                        <a:effectLst/>
                                        <a:latin typeface="Cambria Math" panose="02040503050406030204" pitchFamily="18" charset="0"/>
                                      </a:rPr>
                                      <m:t>𝑛</m:t>
                                    </m:r>
                                  </m:e>
                                  <m:sup>
                                    <m:r>
                                      <a:rPr lang="en-GB" sz="1200" noProof="0">
                                        <a:solidFill>
                                          <a:schemeClr val="tx1"/>
                                        </a:solidFill>
                                        <a:effectLst/>
                                        <a:latin typeface="Cambria Math" panose="02040503050406030204" pitchFamily="18" charset="0"/>
                                      </a:rPr>
                                      <m:t>2</m:t>
                                    </m:r>
                                  </m:sup>
                                </m:sSup>
                                <m:r>
                                  <a:rPr lang="en-GB" sz="1200" noProof="0">
                                    <a:solidFill>
                                      <a:schemeClr val="tx1"/>
                                    </a:solidFill>
                                    <a:effectLst/>
                                    <a:latin typeface="Cambria Math" panose="02040503050406030204" pitchFamily="18" charset="0"/>
                                  </a:rPr>
                                  <m:t>−35</m:t>
                                </m:r>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buNone/>
                          </a:pPr>
                          <a:r>
                            <a:rPr lang="en-GB" sz="1200" noProof="0" dirty="0">
                              <a:solidFill>
                                <a:schemeClr val="tx1"/>
                              </a:solidFill>
                              <a:effectLst/>
                            </a:rPr>
                            <a:t>8</a:t>
                          </a:r>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8−16</m:t>
                                </m:r>
                                <m:sSup>
                                  <m:sSupPr>
                                    <m:ctrlPr>
                                      <a:rPr lang="en-GB" sz="1200" i="1" noProof="0" smtClean="0">
                                        <a:solidFill>
                                          <a:schemeClr val="tx1"/>
                                        </a:solidFill>
                                        <a:effectLst/>
                                        <a:latin typeface="Cambria Math" panose="02040503050406030204" pitchFamily="18" charset="0"/>
                                      </a:rPr>
                                    </m:ctrlPr>
                                  </m:sSupPr>
                                  <m:e>
                                    <m:r>
                                      <a:rPr lang="en-GB" sz="1200" noProof="0">
                                        <a:solidFill>
                                          <a:schemeClr val="tx1"/>
                                        </a:solidFill>
                                        <a:effectLst/>
                                        <a:latin typeface="Cambria Math" panose="02040503050406030204" pitchFamily="18" charset="0"/>
                                      </a:rPr>
                                      <m:t>𝑛</m:t>
                                    </m:r>
                                  </m:e>
                                  <m:sup>
                                    <m:r>
                                      <a:rPr lang="en-GB" sz="1200" noProof="0">
                                        <a:solidFill>
                                          <a:schemeClr val="tx1"/>
                                        </a:solidFill>
                                        <a:effectLst/>
                                        <a:latin typeface="Cambria Math" panose="02040503050406030204" pitchFamily="18" charset="0"/>
                                      </a:rPr>
                                      <m:t>2</m:t>
                                    </m:r>
                                  </m:sup>
                                </m:sSup>
                                <m:r>
                                  <a:rPr lang="en-GB" sz="1200" noProof="0">
                                    <a:solidFill>
                                      <a:schemeClr val="tx1"/>
                                    </a:solidFill>
                                    <a:effectLst/>
                                    <a:latin typeface="Cambria Math" panose="02040503050406030204" pitchFamily="18" charset="0"/>
                                  </a:rPr>
                                  <m:t>+24</m:t>
                                </m:r>
                                <m:r>
                                  <a:rPr lang="en-GB" sz="1200" noProof="0">
                                    <a:solidFill>
                                      <a:schemeClr val="tx1"/>
                                    </a:solidFill>
                                    <a:effectLst/>
                                    <a:latin typeface="Cambria Math" panose="02040503050406030204" pitchFamily="18" charset="0"/>
                                  </a:rPr>
                                  <m:t>𝑛</m:t>
                                </m:r>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buNone/>
                          </a:pPr>
                          <a:r>
                            <a:rPr lang="en-GB" sz="1200" b="1" noProof="0" dirty="0">
                              <a:solidFill>
                                <a:schemeClr val="tx1"/>
                              </a:solidFill>
                              <a:effectLst/>
                            </a:rPr>
                            <a:t>2</a:t>
                          </a:r>
                          <a:endParaRPr lang="en-GB" sz="1100" b="1"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n-GB" sz="1200" noProof="0" smtClean="0">
                                    <a:solidFill>
                                      <a:schemeClr val="tx1"/>
                                    </a:solidFill>
                                    <a:effectLst/>
                                    <a:latin typeface="Cambria Math" panose="02040503050406030204" pitchFamily="18" charset="0"/>
                                  </a:rPr>
                                  <m:t>26</m:t>
                                </m:r>
                                <m:sSup>
                                  <m:sSupPr>
                                    <m:ctrlPr>
                                      <a:rPr lang="en-GB" sz="1200" i="1" noProof="0" smtClean="0">
                                        <a:solidFill>
                                          <a:schemeClr val="tx1"/>
                                        </a:solidFill>
                                        <a:effectLst/>
                                        <a:latin typeface="Cambria Math" panose="02040503050406030204" pitchFamily="18" charset="0"/>
                                      </a:rPr>
                                    </m:ctrlPr>
                                  </m:sSupPr>
                                  <m:e>
                                    <m:r>
                                      <a:rPr lang="en-GB" sz="1200" noProof="0">
                                        <a:solidFill>
                                          <a:schemeClr val="tx1"/>
                                        </a:solidFill>
                                        <a:effectLst/>
                                        <a:latin typeface="Cambria Math" panose="02040503050406030204" pitchFamily="18" charset="0"/>
                                      </a:rPr>
                                      <m:t>𝑛</m:t>
                                    </m:r>
                                  </m:e>
                                  <m:sup>
                                    <m:r>
                                      <a:rPr lang="en-GB" sz="1200" noProof="0">
                                        <a:solidFill>
                                          <a:schemeClr val="tx1"/>
                                        </a:solidFill>
                                        <a:effectLst/>
                                        <a:latin typeface="Cambria Math" panose="02040503050406030204" pitchFamily="18" charset="0"/>
                                      </a:rPr>
                                      <m:t>2</m:t>
                                    </m:r>
                                  </m:sup>
                                </m:sSup>
                                <m:r>
                                  <a:rPr lang="en-GB" sz="1200" noProof="0">
                                    <a:solidFill>
                                      <a:schemeClr val="tx1"/>
                                    </a:solidFill>
                                    <a:effectLst/>
                                    <a:latin typeface="Cambria Math" panose="02040503050406030204" pitchFamily="18" charset="0"/>
                                  </a:rPr>
                                  <m:t>−6+18</m:t>
                                </m:r>
                                <m:r>
                                  <a:rPr lang="en-GB" sz="1200" noProof="0">
                                    <a:solidFill>
                                      <a:schemeClr val="tx1"/>
                                    </a:solidFill>
                                    <a:effectLst/>
                                    <a:latin typeface="Cambria Math" panose="02040503050406030204" pitchFamily="18" charset="0"/>
                                  </a:rPr>
                                  <m:t>𝑛</m:t>
                                </m:r>
                              </m:oMath>
                            </m:oMathPara>
                          </a14:m>
                          <a:endParaRPr lang="en-GB" sz="1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5989639"/>
                      </a:ext>
                    </a:extLst>
                  </a:tr>
                </a:tbl>
              </a:graphicData>
            </a:graphic>
          </p:graphicFrame>
        </mc:Choice>
        <mc:Fallback xmlns="">
          <p:graphicFrame>
            <p:nvGraphicFramePr>
              <p:cNvPr id="6" name="Table 5">
                <a:extLst>
                  <a:ext uri="{FF2B5EF4-FFF2-40B4-BE49-F238E27FC236}">
                    <a16:creationId xmlns:a16="http://schemas.microsoft.com/office/drawing/2014/main" id="{05ADDACF-3FA5-F39A-B8F4-E23FB25AE583}"/>
                  </a:ext>
                </a:extLst>
              </p:cNvPr>
              <p:cNvGraphicFramePr>
                <a:graphicFrameLocks noGrp="1"/>
              </p:cNvGraphicFramePr>
              <p:nvPr>
                <p:extLst>
                  <p:ext uri="{D42A27DB-BD31-4B8C-83A1-F6EECF244321}">
                    <p14:modId xmlns:p14="http://schemas.microsoft.com/office/powerpoint/2010/main" val="1225001443"/>
                  </p:ext>
                </p:extLst>
              </p:nvPr>
            </p:nvGraphicFramePr>
            <p:xfrm>
              <a:off x="100142" y="2634740"/>
              <a:ext cx="6621887" cy="2058699"/>
            </p:xfrm>
            <a:graphic>
              <a:graphicData uri="http://schemas.openxmlformats.org/drawingml/2006/table">
                <a:tbl>
                  <a:tblPr firstRow="1" firstCol="1" bandRow="1">
                    <a:tableStyleId>{5C22544A-7EE6-4342-B048-85BDC9FD1C3A}</a:tableStyleId>
                  </a:tblPr>
                  <a:tblGrid>
                    <a:gridCol w="588919">
                      <a:extLst>
                        <a:ext uri="{9D8B030D-6E8A-4147-A177-3AD203B41FA5}">
                          <a16:colId xmlns:a16="http://schemas.microsoft.com/office/drawing/2014/main" val="2170590296"/>
                        </a:ext>
                      </a:extLst>
                    </a:gridCol>
                    <a:gridCol w="1581543">
                      <a:extLst>
                        <a:ext uri="{9D8B030D-6E8A-4147-A177-3AD203B41FA5}">
                          <a16:colId xmlns:a16="http://schemas.microsoft.com/office/drawing/2014/main" val="2281464178"/>
                        </a:ext>
                      </a:extLst>
                    </a:gridCol>
                    <a:gridCol w="588919">
                      <a:extLst>
                        <a:ext uri="{9D8B030D-6E8A-4147-A177-3AD203B41FA5}">
                          <a16:colId xmlns:a16="http://schemas.microsoft.com/office/drawing/2014/main" val="1626324929"/>
                        </a:ext>
                      </a:extLst>
                    </a:gridCol>
                    <a:gridCol w="1585938">
                      <a:extLst>
                        <a:ext uri="{9D8B030D-6E8A-4147-A177-3AD203B41FA5}">
                          <a16:colId xmlns:a16="http://schemas.microsoft.com/office/drawing/2014/main" val="582988560"/>
                        </a:ext>
                      </a:extLst>
                    </a:gridCol>
                    <a:gridCol w="590803">
                      <a:extLst>
                        <a:ext uri="{9D8B030D-6E8A-4147-A177-3AD203B41FA5}">
                          <a16:colId xmlns:a16="http://schemas.microsoft.com/office/drawing/2014/main" val="1205657201"/>
                        </a:ext>
                      </a:extLst>
                    </a:gridCol>
                    <a:gridCol w="1685765">
                      <a:extLst>
                        <a:ext uri="{9D8B030D-6E8A-4147-A177-3AD203B41FA5}">
                          <a16:colId xmlns:a16="http://schemas.microsoft.com/office/drawing/2014/main" val="4074606001"/>
                        </a:ext>
                      </a:extLst>
                    </a:gridCol>
                  </a:tblGrid>
                  <a:tr h="686233">
                    <a:tc>
                      <a:txBody>
                        <a:bodyPr/>
                        <a:lstStyle/>
                        <a:p>
                          <a:pPr algn="ctr">
                            <a:lnSpc>
                              <a:spcPct val="107000"/>
                            </a:lnSpc>
                            <a:spcAft>
                              <a:spcPts val="800"/>
                            </a:spcAft>
                            <a:buNone/>
                          </a:pPr>
                          <a:r>
                            <a:rPr lang="en-GB" sz="1200" noProof="0">
                              <a:solidFill>
                                <a:schemeClr val="tx1"/>
                              </a:solidFill>
                              <a:effectLst/>
                            </a:rPr>
                            <a:t>2</a:t>
                          </a:r>
                          <a:endParaRPr lang="en-GB" sz="1100"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7838" t="-6195" r="-283012" b="-201770"/>
                          </a:stretch>
                        </a:blipFill>
                      </a:tcPr>
                    </a:tc>
                    <a:tc>
                      <a:txBody>
                        <a:bodyPr/>
                        <a:lstStyle/>
                        <a:p>
                          <a:pPr algn="ctr">
                            <a:lnSpc>
                              <a:spcPct val="107000"/>
                            </a:lnSpc>
                            <a:spcAft>
                              <a:spcPts val="800"/>
                            </a:spcAft>
                            <a:buNone/>
                          </a:pPr>
                          <a:r>
                            <a:rPr lang="en-GB" sz="1200" noProof="0">
                              <a:solidFill>
                                <a:schemeClr val="tx1"/>
                              </a:solidFill>
                              <a:effectLst/>
                            </a:rPr>
                            <a:t>3</a:t>
                          </a:r>
                          <a:endParaRPr lang="en-GB" sz="1100"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74615" t="-6195" r="-144615" b="-201770"/>
                          </a:stretch>
                        </a:blipFill>
                      </a:tcPr>
                    </a:tc>
                    <a:tc>
                      <a:txBody>
                        <a:bodyPr/>
                        <a:lstStyle/>
                        <a:p>
                          <a:pPr algn="ctr">
                            <a:lnSpc>
                              <a:spcPct val="107000"/>
                            </a:lnSpc>
                            <a:spcAft>
                              <a:spcPts val="800"/>
                            </a:spcAft>
                            <a:buNone/>
                          </a:pPr>
                          <a:r>
                            <a:rPr lang="en-GB" sz="1200" b="1" noProof="0">
                              <a:solidFill>
                                <a:schemeClr val="tx1"/>
                              </a:solidFill>
                              <a:effectLst/>
                            </a:rPr>
                            <a:t>11</a:t>
                          </a:r>
                          <a:endParaRPr lang="en-GB" sz="1100" b="1"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7"/>
                          <a:stretch>
                            <a:fillRect l="-292780" t="-6195" r="-722" b="-201770"/>
                          </a:stretch>
                        </a:blipFill>
                      </a:tcPr>
                    </a:tc>
                    <a:extLst>
                      <a:ext uri="{0D108BD9-81ED-4DB2-BD59-A6C34878D82A}">
                        <a16:rowId xmlns:a16="http://schemas.microsoft.com/office/drawing/2014/main" val="94853345"/>
                      </a:ext>
                    </a:extLst>
                  </a:tr>
                  <a:tr h="686233">
                    <a:tc>
                      <a:txBody>
                        <a:bodyPr/>
                        <a:lstStyle/>
                        <a:p>
                          <a:pPr algn="ctr">
                            <a:lnSpc>
                              <a:spcPct val="107000"/>
                            </a:lnSpc>
                            <a:spcAft>
                              <a:spcPts val="800"/>
                            </a:spcAft>
                            <a:buNone/>
                          </a:pPr>
                          <a:r>
                            <a:rPr lang="en-GB" sz="1200" noProof="0">
                              <a:solidFill>
                                <a:schemeClr val="tx1"/>
                              </a:solidFill>
                              <a:effectLst/>
                            </a:rPr>
                            <a:t>5</a:t>
                          </a:r>
                          <a:endParaRPr lang="en-GB" sz="1100"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7838" t="-107143" r="-283012" b="-103571"/>
                          </a:stretch>
                        </a:blipFill>
                      </a:tcPr>
                    </a:tc>
                    <a:tc>
                      <a:txBody>
                        <a:bodyPr/>
                        <a:lstStyle/>
                        <a:p>
                          <a:pPr algn="ctr">
                            <a:lnSpc>
                              <a:spcPct val="107000"/>
                            </a:lnSpc>
                            <a:spcAft>
                              <a:spcPts val="800"/>
                            </a:spcAft>
                            <a:buNone/>
                          </a:pPr>
                          <a:r>
                            <a:rPr lang="en-GB" sz="1200" noProof="0">
                              <a:solidFill>
                                <a:schemeClr val="tx1"/>
                              </a:solidFill>
                              <a:effectLst/>
                            </a:rPr>
                            <a:t>6</a:t>
                          </a:r>
                          <a:endParaRPr lang="en-GB" sz="1100"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74615" t="-107143" r="-144615" b="-103571"/>
                          </a:stretch>
                        </a:blipFill>
                      </a:tcPr>
                    </a:tc>
                    <a:tc>
                      <a:txBody>
                        <a:bodyPr/>
                        <a:lstStyle/>
                        <a:p>
                          <a:pPr algn="ctr">
                            <a:lnSpc>
                              <a:spcPct val="107000"/>
                            </a:lnSpc>
                            <a:spcAft>
                              <a:spcPts val="800"/>
                            </a:spcAft>
                            <a:buNone/>
                          </a:pPr>
                          <a:r>
                            <a:rPr lang="en-GB" sz="1200" b="1" noProof="0">
                              <a:solidFill>
                                <a:schemeClr val="tx1"/>
                              </a:solidFill>
                              <a:effectLst/>
                            </a:rPr>
                            <a:t>10</a:t>
                          </a:r>
                          <a:endParaRPr lang="en-GB" sz="1100" b="1"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7"/>
                          <a:stretch>
                            <a:fillRect l="-292780" t="-107143" r="-722" b="-103571"/>
                          </a:stretch>
                        </a:blipFill>
                      </a:tcPr>
                    </a:tc>
                    <a:extLst>
                      <a:ext uri="{0D108BD9-81ED-4DB2-BD59-A6C34878D82A}">
                        <a16:rowId xmlns:a16="http://schemas.microsoft.com/office/drawing/2014/main" val="2305220457"/>
                      </a:ext>
                    </a:extLst>
                  </a:tr>
                  <a:tr h="686233">
                    <a:tc>
                      <a:txBody>
                        <a:bodyPr/>
                        <a:lstStyle/>
                        <a:p>
                          <a:pPr algn="ctr">
                            <a:lnSpc>
                              <a:spcPct val="107000"/>
                            </a:lnSpc>
                            <a:spcAft>
                              <a:spcPts val="800"/>
                            </a:spcAft>
                            <a:buNone/>
                          </a:pPr>
                          <a:r>
                            <a:rPr lang="en-GB" sz="1200" noProof="0">
                              <a:solidFill>
                                <a:schemeClr val="tx1"/>
                              </a:solidFill>
                              <a:effectLst/>
                            </a:rPr>
                            <a:t>7</a:t>
                          </a:r>
                          <a:endParaRPr lang="en-GB" sz="1100"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7838" t="-205310" r="-283012" b="-2655"/>
                          </a:stretch>
                        </a:blipFill>
                      </a:tcPr>
                    </a:tc>
                    <a:tc>
                      <a:txBody>
                        <a:bodyPr/>
                        <a:lstStyle/>
                        <a:p>
                          <a:pPr algn="ctr">
                            <a:lnSpc>
                              <a:spcPct val="107000"/>
                            </a:lnSpc>
                            <a:spcAft>
                              <a:spcPts val="800"/>
                            </a:spcAft>
                            <a:buNone/>
                          </a:pPr>
                          <a:r>
                            <a:rPr lang="en-GB" sz="1200" noProof="0">
                              <a:solidFill>
                                <a:schemeClr val="tx1"/>
                              </a:solidFill>
                              <a:effectLst/>
                            </a:rPr>
                            <a:t>8</a:t>
                          </a:r>
                          <a:endParaRPr lang="en-GB" sz="1100"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74615" t="-205310" r="-144615" b="-2655"/>
                          </a:stretch>
                        </a:blipFill>
                      </a:tcPr>
                    </a:tc>
                    <a:tc>
                      <a:txBody>
                        <a:bodyPr/>
                        <a:lstStyle/>
                        <a:p>
                          <a:pPr algn="ctr">
                            <a:lnSpc>
                              <a:spcPct val="107000"/>
                            </a:lnSpc>
                            <a:spcAft>
                              <a:spcPts val="800"/>
                            </a:spcAft>
                            <a:buNone/>
                          </a:pPr>
                          <a:r>
                            <a:rPr lang="en-GB" sz="1200" b="1" noProof="0">
                              <a:solidFill>
                                <a:schemeClr val="tx1"/>
                              </a:solidFill>
                              <a:effectLst/>
                            </a:rPr>
                            <a:t>2</a:t>
                          </a:r>
                          <a:endParaRPr lang="en-GB" sz="1100" b="1" noProof="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0569" marR="60569"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60569" marR="60569"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7"/>
                          <a:stretch>
                            <a:fillRect l="-292780" t="-205310" r="-722" b="-2655"/>
                          </a:stretch>
                        </a:blipFill>
                      </a:tcPr>
                    </a:tc>
                    <a:extLst>
                      <a:ext uri="{0D108BD9-81ED-4DB2-BD59-A6C34878D82A}">
                        <a16:rowId xmlns:a16="http://schemas.microsoft.com/office/drawing/2014/main" val="4215989639"/>
                      </a:ext>
                    </a:extLst>
                  </a:tr>
                </a:tbl>
              </a:graphicData>
            </a:graphic>
          </p:graphicFrame>
        </mc:Fallback>
      </mc:AlternateContent>
    </p:spTree>
    <p:extLst>
      <p:ext uri="{BB962C8B-B14F-4D97-AF65-F5344CB8AC3E}">
        <p14:creationId xmlns:p14="http://schemas.microsoft.com/office/powerpoint/2010/main" val="2628843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214255" y="9561766"/>
            <a:ext cx="1543050" cy="527403"/>
          </a:xfrm>
        </p:spPr>
        <p:txBody>
          <a:bodyPr/>
          <a:lstStyle/>
          <a:p>
            <a:fld id="{9BD3B4A0-BFF9-422C-B253-48BA94BE2F5B}" type="slidenum">
              <a:rPr lang="en-GB" noProof="0" smtClean="0"/>
              <a:t>4</a:t>
            </a:fld>
            <a:endParaRPr lang="en-GB" noProof="0" dirty="0"/>
          </a:p>
        </p:txBody>
      </p:sp>
      <p:graphicFrame>
        <p:nvGraphicFramePr>
          <p:cNvPr id="6" name="Table 5"/>
          <p:cNvGraphicFramePr>
            <a:graphicFrameLocks noGrp="1"/>
          </p:cNvGraphicFramePr>
          <p:nvPr>
            <p:extLst>
              <p:ext uri="{D42A27DB-BD31-4B8C-83A1-F6EECF244321}">
                <p14:modId xmlns:p14="http://schemas.microsoft.com/office/powerpoint/2010/main" val="1133493495"/>
              </p:ext>
            </p:extLst>
          </p:nvPr>
        </p:nvGraphicFramePr>
        <p:xfrm>
          <a:off x="111717" y="311524"/>
          <a:ext cx="6638985" cy="9024388"/>
        </p:xfrm>
        <a:graphic>
          <a:graphicData uri="http://schemas.openxmlformats.org/drawingml/2006/table">
            <a:tbl>
              <a:tblPr firstRow="1" bandRow="1">
                <a:tableStyleId>{5C22544A-7EE6-4342-B048-85BDC9FD1C3A}</a:tableStyleId>
              </a:tblPr>
              <a:tblGrid>
                <a:gridCol w="1179276">
                  <a:extLst>
                    <a:ext uri="{9D8B030D-6E8A-4147-A177-3AD203B41FA5}">
                      <a16:colId xmlns:a16="http://schemas.microsoft.com/office/drawing/2014/main" val="1568142362"/>
                    </a:ext>
                  </a:extLst>
                </a:gridCol>
                <a:gridCol w="5459709">
                  <a:extLst>
                    <a:ext uri="{9D8B030D-6E8A-4147-A177-3AD203B41FA5}">
                      <a16:colId xmlns:a16="http://schemas.microsoft.com/office/drawing/2014/main" val="3551711160"/>
                    </a:ext>
                  </a:extLst>
                </a:gridCol>
              </a:tblGrid>
              <a:tr h="2919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4-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8161254"/>
                  </a:ext>
                </a:extLst>
              </a:tr>
              <a:tr h="458615">
                <a:tc rowSpan="8">
                  <a:txBody>
                    <a:bodyPr/>
                    <a:lstStyle/>
                    <a:p>
                      <a:r>
                        <a:rPr lang="en-GB" sz="1200" noProof="0" dirty="0"/>
                        <a:t>1) Write out the</a:t>
                      </a:r>
                      <a:r>
                        <a:rPr lang="en-GB" sz="1200" baseline="0" noProof="0" dirty="0"/>
                        <a:t> values algebraically using n. </a:t>
                      </a:r>
                    </a:p>
                    <a:p>
                      <a:endParaRPr lang="en-GB" sz="1200" noProof="0" dirty="0"/>
                    </a:p>
                    <a:p>
                      <a:r>
                        <a:rPr lang="en-GB" sz="1200" noProof="0" dirty="0"/>
                        <a:t>2) Simplify by collecting</a:t>
                      </a:r>
                      <a:r>
                        <a:rPr lang="en-GB" sz="1200" baseline="0" noProof="0" dirty="0"/>
                        <a:t> like terms. </a:t>
                      </a:r>
                    </a:p>
                    <a:p>
                      <a:endParaRPr lang="en-GB" sz="1200" noProof="0" dirty="0"/>
                    </a:p>
                    <a:p>
                      <a:r>
                        <a:rPr lang="en-GB" sz="1200" noProof="0" dirty="0"/>
                        <a:t>3) Factorise</a:t>
                      </a:r>
                      <a:r>
                        <a:rPr lang="en-GB" sz="1200" baseline="0" noProof="0" dirty="0"/>
                        <a:t> (if it is required)</a:t>
                      </a:r>
                    </a:p>
                    <a:p>
                      <a:endParaRPr lang="en-GB" sz="1200" noProof="0" dirty="0"/>
                    </a:p>
                    <a:p>
                      <a:r>
                        <a:rPr lang="en-GB" sz="1200" noProof="0" dirty="0"/>
                        <a:t>4) Prove</a:t>
                      </a:r>
                      <a:r>
                        <a:rPr lang="en-GB" sz="1200" baseline="0" noProof="0" dirty="0"/>
                        <a:t> with a statement. </a:t>
                      </a:r>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Prove algebraically that the sum of any two consecutive integers is always an odd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336984">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1869355"/>
                  </a:ext>
                </a:extLst>
              </a:tr>
              <a:tr h="368325">
                <a:tc vMerge="1">
                  <a:txBody>
                    <a:bodyPr/>
                    <a:lstStyle/>
                    <a:p>
                      <a:endParaRPr lang="en-GB"/>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3975670"/>
                  </a:ext>
                </a:extLst>
              </a:tr>
              <a:tr h="486332">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Prove that the difference between the squares of two consecutive odd numbers is a multiple of 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9470708"/>
                  </a:ext>
                </a:extLst>
              </a:tr>
              <a:tr h="2176048">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3533263"/>
                  </a:ext>
                </a:extLst>
              </a:tr>
              <a:tr h="351448">
                <a:tc vMerge="1">
                  <a:txBody>
                    <a:bodyPr/>
                    <a:lstStyle/>
                    <a:p>
                      <a:endParaRPr lang="en-GB"/>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721803"/>
                  </a:ext>
                </a:extLst>
              </a:tr>
              <a:tr h="548640">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0" noProof="0" dirty="0">
                          <a:solidFill>
                            <a:schemeClr val="tx1"/>
                          </a:solidFill>
                        </a:rPr>
                        <a:t>n is an integer. Prove algebraically that the sum of n(n + 1) and n + 1 is always a square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0665404"/>
                  </a:ext>
                </a:extLst>
              </a:tr>
              <a:tr h="2006016">
                <a:tc vMerge="1">
                  <a:txBody>
                    <a:bodyPr/>
                    <a:lstStyle/>
                    <a:p>
                      <a:endParaRPr lang="en-GB"/>
                    </a:p>
                  </a:txBody>
                  <a:tcPr>
                    <a:lnT w="12700" cap="flat" cmpd="sng" algn="ctr">
                      <a:solidFill>
                        <a:schemeClr val="tx1"/>
                      </a:solidFill>
                      <a:prstDash val="solid"/>
                      <a:round/>
                      <a:headEnd type="none" w="med" len="med"/>
                      <a:tailEnd type="none" w="med" len="med"/>
                    </a:lnT>
                  </a:tcPr>
                </a:tc>
                <a:tc>
                  <a:txBody>
                    <a:bodyPr/>
                    <a:lstStyle/>
                    <a:p>
                      <a:pPr algn="ct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5311752"/>
                  </a:ext>
                </a:extLst>
              </a:tr>
            </a:tbl>
          </a:graphicData>
        </a:graphic>
      </p:graphicFrame>
    </p:spTree>
    <p:extLst>
      <p:ext uri="{BB962C8B-B14F-4D97-AF65-F5344CB8AC3E}">
        <p14:creationId xmlns:p14="http://schemas.microsoft.com/office/powerpoint/2010/main" val="3479034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
            <a:extLst>
              <a:ext uri="{FF2B5EF4-FFF2-40B4-BE49-F238E27FC236}">
                <a16:creationId xmlns:a16="http://schemas.microsoft.com/office/drawing/2014/main" id="{0BB455A5-0A1F-B648-C8BC-102000DB7B73}"/>
              </a:ext>
            </a:extLst>
          </p:cNvPr>
          <p:cNvSpPr txBox="1">
            <a:spLocks/>
          </p:cNvSpPr>
          <p:nvPr/>
        </p:nvSpPr>
        <p:spPr>
          <a:xfrm>
            <a:off x="5287407" y="9378597"/>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D3B4A0-BFF9-422C-B253-48BA94BE2F5B}" type="slidenum">
              <a:rPr lang="en-GB" noProof="0" smtClean="0"/>
              <a:pPr/>
              <a:t>5</a:t>
            </a:fld>
            <a:endParaRPr lang="en-GB" noProof="0" dirty="0"/>
          </a:p>
        </p:txBody>
      </p:sp>
      <p:sp>
        <p:nvSpPr>
          <p:cNvPr id="5" name="Rectangle 4">
            <a:extLst>
              <a:ext uri="{FF2B5EF4-FFF2-40B4-BE49-F238E27FC236}">
                <a16:creationId xmlns:a16="http://schemas.microsoft.com/office/drawing/2014/main" id="{36BD4811-7497-CDB1-EF5F-E5D0B77DD93A}"/>
              </a:ext>
            </a:extLst>
          </p:cNvPr>
          <p:cNvSpPr/>
          <p:nvPr/>
        </p:nvSpPr>
        <p:spPr>
          <a:xfrm>
            <a:off x="-4679739" y="5795167"/>
            <a:ext cx="3102016" cy="276999"/>
          </a:xfrm>
          <a:prstGeom prst="rect">
            <a:avLst/>
          </a:prstGeom>
        </p:spPr>
        <p:txBody>
          <a:bodyPr wrap="square">
            <a:spAutoFit/>
          </a:bodyPr>
          <a:lstStyle/>
          <a:p>
            <a:r>
              <a:rPr lang="en-GB" sz="1200" noProof="0" dirty="0"/>
              <a:t>.</a:t>
            </a:r>
          </a:p>
        </p:txBody>
      </p:sp>
      <p:sp>
        <p:nvSpPr>
          <p:cNvPr id="8" name="TextBox 7">
            <a:extLst>
              <a:ext uri="{FF2B5EF4-FFF2-40B4-BE49-F238E27FC236}">
                <a16:creationId xmlns:a16="http://schemas.microsoft.com/office/drawing/2014/main" id="{5B97A866-FC67-8B32-B964-58564C3F82BF}"/>
              </a:ext>
            </a:extLst>
          </p:cNvPr>
          <p:cNvSpPr txBox="1"/>
          <p:nvPr/>
        </p:nvSpPr>
        <p:spPr>
          <a:xfrm>
            <a:off x="111717" y="91703"/>
            <a:ext cx="1560042" cy="253916"/>
          </a:xfrm>
          <a:prstGeom prst="rect">
            <a:avLst/>
          </a:prstGeom>
          <a:solidFill>
            <a:srgbClr val="0070C0"/>
          </a:solidFill>
        </p:spPr>
        <p:txBody>
          <a:bodyPr wrap="none" rtlCol="0" anchor="ctr">
            <a:spAutoFit/>
          </a:bodyPr>
          <a:lstStyle/>
          <a:p>
            <a:pPr algn="r"/>
            <a:r>
              <a:rPr lang="en-GB" sz="1050" b="1" noProof="0" dirty="0">
                <a:solidFill>
                  <a:schemeClr val="bg1"/>
                </a:solidFill>
              </a:rPr>
              <a:t>INDEPENDENT PRACTICE</a:t>
            </a:r>
          </a:p>
        </p:txBody>
      </p:sp>
      <p:graphicFrame>
        <p:nvGraphicFramePr>
          <p:cNvPr id="9" name="Table 8">
            <a:extLst>
              <a:ext uri="{FF2B5EF4-FFF2-40B4-BE49-F238E27FC236}">
                <a16:creationId xmlns:a16="http://schemas.microsoft.com/office/drawing/2014/main" id="{695ECE51-E3AE-61A7-6A5C-62F257A4F51D}"/>
              </a:ext>
            </a:extLst>
          </p:cNvPr>
          <p:cNvGraphicFramePr>
            <a:graphicFrameLocks noGrp="1"/>
          </p:cNvGraphicFramePr>
          <p:nvPr>
            <p:extLst>
              <p:ext uri="{D42A27DB-BD31-4B8C-83A1-F6EECF244321}">
                <p14:modId xmlns:p14="http://schemas.microsoft.com/office/powerpoint/2010/main" val="1309476296"/>
              </p:ext>
            </p:extLst>
          </p:nvPr>
        </p:nvGraphicFramePr>
        <p:xfrm>
          <a:off x="111717" y="475489"/>
          <a:ext cx="6563403" cy="8903108"/>
        </p:xfrm>
        <a:graphic>
          <a:graphicData uri="http://schemas.openxmlformats.org/drawingml/2006/table">
            <a:tbl>
              <a:tblPr firstRow="1" bandRow="1">
                <a:tableStyleId>{5940675A-B579-460E-94D1-54222C63F5DA}</a:tableStyleId>
              </a:tblPr>
              <a:tblGrid>
                <a:gridCol w="6563403">
                  <a:extLst>
                    <a:ext uri="{9D8B030D-6E8A-4147-A177-3AD203B41FA5}">
                      <a16:colId xmlns:a16="http://schemas.microsoft.com/office/drawing/2014/main" val="721443831"/>
                    </a:ext>
                  </a:extLst>
                </a:gridCol>
              </a:tblGrid>
              <a:tr h="351303">
                <a:tc>
                  <a:txBody>
                    <a:bodyPr/>
                    <a:lstStyle/>
                    <a:p>
                      <a:r>
                        <a:rPr lang="en-GB" sz="1200" noProof="0" dirty="0">
                          <a:ea typeface="Times New Roman" panose="02020603050405020304" pitchFamily="18" charset="0"/>
                          <a:cs typeface="Times New Roman" panose="02020603050405020304" pitchFamily="18" charset="0"/>
                        </a:rPr>
                        <a:t>1) </a:t>
                      </a:r>
                      <a:r>
                        <a:rPr lang="en-GB" sz="1200" noProof="0" dirty="0"/>
                        <a:t>Prove algebraically that the sum of two consecutive odd numbers is divisible by 4</a:t>
                      </a:r>
                    </a:p>
                  </a:txBody>
                  <a:tcPr/>
                </a:tc>
                <a:extLst>
                  <a:ext uri="{0D108BD9-81ED-4DB2-BD59-A6C34878D82A}">
                    <a16:rowId xmlns:a16="http://schemas.microsoft.com/office/drawing/2014/main" val="3225648409"/>
                  </a:ext>
                </a:extLst>
              </a:tr>
              <a:tr h="2527690">
                <a:tc>
                  <a:txBody>
                    <a:bodyPr/>
                    <a:lstStyle/>
                    <a:p>
                      <a:endParaRPr lang="en-GB" sz="1200" noProof="0" dirty="0"/>
                    </a:p>
                  </a:txBody>
                  <a:tcPr/>
                </a:tc>
                <a:extLst>
                  <a:ext uri="{0D108BD9-81ED-4DB2-BD59-A6C34878D82A}">
                    <a16:rowId xmlns:a16="http://schemas.microsoft.com/office/drawing/2014/main" val="3904871108"/>
                  </a:ext>
                </a:extLst>
              </a:tr>
              <a:tr h="62353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ea typeface="Times New Roman" panose="02020603050405020304" pitchFamily="18" charset="0"/>
                          <a:cs typeface="Times New Roman" panose="02020603050405020304" pitchFamily="18" charset="0"/>
                        </a:rPr>
                        <a:t>2) </a:t>
                      </a:r>
                      <a:r>
                        <a:rPr lang="en-GB" sz="1200" noProof="0" dirty="0"/>
                        <a:t>I think of two consecutive integers. Prove that the difference of the squares of these integers is equal to the sum of the two integers. </a:t>
                      </a:r>
                    </a:p>
                  </a:txBody>
                  <a:tcPr/>
                </a:tc>
                <a:extLst>
                  <a:ext uri="{0D108BD9-81ED-4DB2-BD59-A6C34878D82A}">
                    <a16:rowId xmlns:a16="http://schemas.microsoft.com/office/drawing/2014/main" val="2519692335"/>
                  </a:ext>
                </a:extLst>
              </a:tr>
              <a:tr h="2527690">
                <a:tc>
                  <a:txBody>
                    <a:bodyPr/>
                    <a:lstStyle/>
                    <a:p>
                      <a:endParaRPr lang="en-GB" sz="1200" noProof="0" dirty="0"/>
                    </a:p>
                  </a:txBody>
                  <a:tcPr/>
                </a:tc>
                <a:extLst>
                  <a:ext uri="{0D108BD9-81ED-4DB2-BD59-A6C34878D82A}">
                    <a16:rowId xmlns:a16="http://schemas.microsoft.com/office/drawing/2014/main" val="751337645"/>
                  </a:ext>
                </a:extLst>
              </a:tr>
              <a:tr h="34520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3) Prove (n + 6)² − (n + 2)² is always a multiple of 8</a:t>
                      </a:r>
                    </a:p>
                  </a:txBody>
                  <a:tcPr/>
                </a:tc>
                <a:extLst>
                  <a:ext uri="{0D108BD9-81ED-4DB2-BD59-A6C34878D82A}">
                    <a16:rowId xmlns:a16="http://schemas.microsoft.com/office/drawing/2014/main" val="1984450214"/>
                  </a:ext>
                </a:extLst>
              </a:tr>
              <a:tr h="2527690">
                <a:tc>
                  <a:txBody>
                    <a:bodyPr/>
                    <a:lstStyle/>
                    <a:p>
                      <a:endParaRPr lang="en-GB" sz="1200" noProof="0" dirty="0"/>
                    </a:p>
                  </a:txBody>
                  <a:tcPr/>
                </a:tc>
                <a:extLst>
                  <a:ext uri="{0D108BD9-81ED-4DB2-BD59-A6C34878D82A}">
                    <a16:rowId xmlns:a16="http://schemas.microsoft.com/office/drawing/2014/main" val="1943512728"/>
                  </a:ext>
                </a:extLst>
              </a:tr>
            </a:tbl>
          </a:graphicData>
        </a:graphic>
      </p:graphicFrame>
    </p:spTree>
    <p:extLst>
      <p:ext uri="{BB962C8B-B14F-4D97-AF65-F5344CB8AC3E}">
        <p14:creationId xmlns:p14="http://schemas.microsoft.com/office/powerpoint/2010/main" val="1784817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5314950" y="9378597"/>
            <a:ext cx="1543050" cy="527403"/>
          </a:xfrm>
        </p:spPr>
        <p:txBody>
          <a:bodyPr/>
          <a:lstStyle/>
          <a:p>
            <a:fld id="{9BD3B4A0-BFF9-422C-B253-48BA94BE2F5B}" type="slidenum">
              <a:rPr lang="en-GB" noProof="0" smtClean="0"/>
              <a:t>6</a:t>
            </a:fld>
            <a:endParaRPr lang="en-GB" noProof="0"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09EEE1C9-D61A-B8C5-CF8D-52FE70284F27}"/>
                  </a:ext>
                </a:extLst>
              </p:cNvPr>
              <p:cNvGraphicFramePr>
                <a:graphicFrameLocks noGrp="1"/>
              </p:cNvGraphicFramePr>
              <p:nvPr>
                <p:extLst>
                  <p:ext uri="{D42A27DB-BD31-4B8C-83A1-F6EECF244321}">
                    <p14:modId xmlns:p14="http://schemas.microsoft.com/office/powerpoint/2010/main" val="123628032"/>
                  </p:ext>
                </p:extLst>
              </p:nvPr>
            </p:nvGraphicFramePr>
            <p:xfrm>
              <a:off x="147298" y="221488"/>
              <a:ext cx="6507502" cy="9157111"/>
            </p:xfrm>
            <a:graphic>
              <a:graphicData uri="http://schemas.openxmlformats.org/drawingml/2006/table">
                <a:tbl>
                  <a:tblPr firstRow="1" bandRow="1">
                    <a:tableStyleId>{5940675A-B579-460E-94D1-54222C63F5DA}</a:tableStyleId>
                  </a:tblPr>
                  <a:tblGrid>
                    <a:gridCol w="6507502">
                      <a:extLst>
                        <a:ext uri="{9D8B030D-6E8A-4147-A177-3AD203B41FA5}">
                          <a16:colId xmlns:a16="http://schemas.microsoft.com/office/drawing/2014/main" val="721443831"/>
                        </a:ext>
                      </a:extLst>
                    </a:gridCol>
                  </a:tblGrid>
                  <a:tr h="3749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4) Prove (n + 10)² − (n + 5)² is always a multiple of 5</a:t>
                          </a:r>
                        </a:p>
                      </a:txBody>
                      <a:tcPr/>
                    </a:tc>
                    <a:extLst>
                      <a:ext uri="{0D108BD9-81ED-4DB2-BD59-A6C34878D82A}">
                        <a16:rowId xmlns:a16="http://schemas.microsoft.com/office/drawing/2014/main" val="3225648409"/>
                      </a:ext>
                    </a:extLst>
                  </a:tr>
                  <a:tr h="2697762">
                    <a:tc>
                      <a:txBody>
                        <a:bodyPr/>
                        <a:lstStyle/>
                        <a:p>
                          <a:endParaRPr lang="en-GB" sz="1200" noProof="0" dirty="0"/>
                        </a:p>
                      </a:txBody>
                      <a:tcPr/>
                    </a:tc>
                    <a:extLst>
                      <a:ext uri="{0D108BD9-81ED-4DB2-BD59-A6C34878D82A}">
                        <a16:rowId xmlns:a16="http://schemas.microsoft.com/office/drawing/2014/main" val="3904871108"/>
                      </a:ext>
                    </a:extLst>
                  </a:tr>
                  <a:tr h="32045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5) Prove that </a:t>
                          </a:r>
                          <a14:m>
                            <m:oMath xmlns:m="http://schemas.openxmlformats.org/officeDocument/2006/math">
                              <m:sSup>
                                <m:sSupPr>
                                  <m:ctrlPr>
                                    <a:rPr lang="en-GB" sz="1200" b="0" i="1" noProof="0" smtClean="0">
                                      <a:latin typeface="Cambria Math" panose="02040503050406030204" pitchFamily="18" charset="0"/>
                                    </a:rPr>
                                  </m:ctrlPr>
                                </m:sSupPr>
                                <m:e>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3</m:t>
                                      </m:r>
                                      <m:r>
                                        <a:rPr lang="en-GB" sz="1200" i="1" noProof="0" smtClean="0">
                                          <a:latin typeface="Cambria Math" panose="02040503050406030204" pitchFamily="18" charset="0"/>
                                        </a:rPr>
                                        <m:t>𝑛</m:t>
                                      </m:r>
                                      <m:r>
                                        <a:rPr lang="en-GB" sz="1200" i="1" noProof="0" smtClean="0">
                                          <a:latin typeface="Cambria Math" panose="02040503050406030204" pitchFamily="18" charset="0"/>
                                        </a:rPr>
                                        <m:t> + 1</m:t>
                                      </m:r>
                                    </m:e>
                                  </m:d>
                                </m:e>
                                <m:sup>
                                  <m:r>
                                    <a:rPr lang="en-GB" sz="1200" b="0" i="1" noProof="0" smtClean="0">
                                      <a:latin typeface="Cambria Math" panose="02040503050406030204" pitchFamily="18" charset="0"/>
                                    </a:rPr>
                                    <m:t>2</m:t>
                                  </m:r>
                                </m:sup>
                              </m:sSup>
                              <m:r>
                                <a:rPr lang="en-GB" sz="1200" i="1" noProof="0" smtClean="0">
                                  <a:latin typeface="Cambria Math" panose="02040503050406030204" pitchFamily="18" charset="0"/>
                                </a:rPr>
                                <m:t> – </m:t>
                              </m:r>
                              <m:sSup>
                                <m:sSupPr>
                                  <m:ctrlPr>
                                    <a:rPr lang="en-GB" sz="1200" b="0" i="1" noProof="0" smtClean="0">
                                      <a:latin typeface="Cambria Math" panose="02040503050406030204" pitchFamily="18" charset="0"/>
                                    </a:rPr>
                                  </m:ctrlPr>
                                </m:sSupPr>
                                <m:e>
                                  <m:d>
                                    <m:dPr>
                                      <m:ctrlPr>
                                        <a:rPr lang="en-GB" sz="1200" i="1" noProof="0" smtClean="0">
                                          <a:latin typeface="Cambria Math" panose="02040503050406030204" pitchFamily="18" charset="0"/>
                                        </a:rPr>
                                      </m:ctrlPr>
                                    </m:dPr>
                                    <m:e>
                                      <m:r>
                                        <a:rPr lang="en-GB" sz="1200" i="1" noProof="0" smtClean="0">
                                          <a:latin typeface="Cambria Math" panose="02040503050406030204" pitchFamily="18" charset="0"/>
                                        </a:rPr>
                                        <m:t>3</m:t>
                                      </m:r>
                                      <m:r>
                                        <a:rPr lang="en-GB" sz="1200" i="1" noProof="0" smtClean="0">
                                          <a:latin typeface="Cambria Math" panose="02040503050406030204" pitchFamily="18" charset="0"/>
                                        </a:rPr>
                                        <m:t>𝑛</m:t>
                                      </m:r>
                                      <m:r>
                                        <a:rPr lang="en-GB" sz="1200" i="1" noProof="0" smtClean="0">
                                          <a:latin typeface="Cambria Math" panose="02040503050406030204" pitchFamily="18" charset="0"/>
                                        </a:rPr>
                                        <m:t> – 1</m:t>
                                      </m:r>
                                    </m:e>
                                  </m:d>
                                </m:e>
                                <m:sup>
                                  <m:r>
                                    <a:rPr lang="en-GB" sz="1200" b="0" i="1" noProof="0" smtClean="0">
                                      <a:latin typeface="Cambria Math" panose="02040503050406030204" pitchFamily="18" charset="0"/>
                                    </a:rPr>
                                    <m:t>2</m:t>
                                  </m:r>
                                </m:sup>
                              </m:sSup>
                              <m:r>
                                <a:rPr lang="en-GB" sz="1200" i="1" noProof="0" smtClean="0">
                                  <a:latin typeface="Cambria Math" panose="02040503050406030204" pitchFamily="18" charset="0"/>
                                </a:rPr>
                                <m:t> </m:t>
                              </m:r>
                            </m:oMath>
                          </a14:m>
                          <a:r>
                            <a:rPr lang="en-GB" sz="1200" noProof="0" dirty="0"/>
                            <a:t>is always a multiple of 12, for all positive integer values of </a:t>
                          </a:r>
                          <a14:m>
                            <m:oMath xmlns:m="http://schemas.openxmlformats.org/officeDocument/2006/math">
                              <m:r>
                                <a:rPr lang="en-GB" sz="1200" b="0" i="1" noProof="0" smtClean="0">
                                  <a:latin typeface="Cambria Math" panose="02040503050406030204" pitchFamily="18" charset="0"/>
                                </a:rPr>
                                <m:t>𝑛</m:t>
                              </m:r>
                            </m:oMath>
                          </a14:m>
                          <a:r>
                            <a:rPr lang="en-GB" sz="1200" noProof="0" dirty="0"/>
                            <a:t>.</a:t>
                          </a:r>
                        </a:p>
                      </a:txBody>
                      <a:tcPr/>
                    </a:tc>
                    <a:extLst>
                      <a:ext uri="{0D108BD9-81ED-4DB2-BD59-A6C34878D82A}">
                        <a16:rowId xmlns:a16="http://schemas.microsoft.com/office/drawing/2014/main" val="2519692335"/>
                      </a:ext>
                    </a:extLst>
                  </a:tr>
                  <a:tr h="2697762">
                    <a:tc>
                      <a:txBody>
                        <a:bodyPr/>
                        <a:lstStyle/>
                        <a:p>
                          <a:endParaRPr lang="en-GB" sz="1200" noProof="0" dirty="0"/>
                        </a:p>
                      </a:txBody>
                      <a:tcPr/>
                    </a:tc>
                    <a:extLst>
                      <a:ext uri="{0D108BD9-81ED-4DB2-BD59-A6C34878D82A}">
                        <a16:rowId xmlns:a16="http://schemas.microsoft.com/office/drawing/2014/main" val="751337645"/>
                      </a:ext>
                    </a:extLst>
                  </a:tr>
                  <a:tr h="36843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6) Prove (2n + 9)² − (2n + 5)² is always a multiple of 4</a:t>
                          </a:r>
                        </a:p>
                      </a:txBody>
                      <a:tcPr/>
                    </a:tc>
                    <a:extLst>
                      <a:ext uri="{0D108BD9-81ED-4DB2-BD59-A6C34878D82A}">
                        <a16:rowId xmlns:a16="http://schemas.microsoft.com/office/drawing/2014/main" val="1984450214"/>
                      </a:ext>
                    </a:extLst>
                  </a:tr>
                  <a:tr h="2697762">
                    <a:tc>
                      <a:txBody>
                        <a:bodyPr/>
                        <a:lstStyle/>
                        <a:p>
                          <a:endParaRPr lang="en-GB" sz="1200" noProof="0" dirty="0"/>
                        </a:p>
                      </a:txBody>
                      <a:tcPr/>
                    </a:tc>
                    <a:extLst>
                      <a:ext uri="{0D108BD9-81ED-4DB2-BD59-A6C34878D82A}">
                        <a16:rowId xmlns:a16="http://schemas.microsoft.com/office/drawing/2014/main" val="1943512728"/>
                      </a:ext>
                    </a:extLst>
                  </a:tr>
                </a:tbl>
              </a:graphicData>
            </a:graphic>
          </p:graphicFrame>
        </mc:Choice>
        <mc:Fallback xmlns="">
          <p:graphicFrame>
            <p:nvGraphicFramePr>
              <p:cNvPr id="4" name="Table 3">
                <a:extLst>
                  <a:ext uri="{FF2B5EF4-FFF2-40B4-BE49-F238E27FC236}">
                    <a16:creationId xmlns:a16="http://schemas.microsoft.com/office/drawing/2014/main" id="{09EEE1C9-D61A-B8C5-CF8D-52FE70284F27}"/>
                  </a:ext>
                </a:extLst>
              </p:cNvPr>
              <p:cNvGraphicFramePr>
                <a:graphicFrameLocks noGrp="1"/>
              </p:cNvGraphicFramePr>
              <p:nvPr>
                <p:extLst>
                  <p:ext uri="{D42A27DB-BD31-4B8C-83A1-F6EECF244321}">
                    <p14:modId xmlns:p14="http://schemas.microsoft.com/office/powerpoint/2010/main" val="123628032"/>
                  </p:ext>
                </p:extLst>
              </p:nvPr>
            </p:nvGraphicFramePr>
            <p:xfrm>
              <a:off x="147298" y="221488"/>
              <a:ext cx="6507502" cy="9157111"/>
            </p:xfrm>
            <a:graphic>
              <a:graphicData uri="http://schemas.openxmlformats.org/drawingml/2006/table">
                <a:tbl>
                  <a:tblPr firstRow="1" bandRow="1">
                    <a:tableStyleId>{5940675A-B579-460E-94D1-54222C63F5DA}</a:tableStyleId>
                  </a:tblPr>
                  <a:tblGrid>
                    <a:gridCol w="6507502">
                      <a:extLst>
                        <a:ext uri="{9D8B030D-6E8A-4147-A177-3AD203B41FA5}">
                          <a16:colId xmlns:a16="http://schemas.microsoft.com/office/drawing/2014/main" val="721443831"/>
                        </a:ext>
                      </a:extLst>
                    </a:gridCol>
                  </a:tblGrid>
                  <a:tr h="3749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t>4) Prove (n + 10)² − (n + 5)² is always a multiple of 5</a:t>
                          </a:r>
                        </a:p>
                      </a:txBody>
                      <a:tcPr/>
                    </a:tc>
                    <a:extLst>
                      <a:ext uri="{0D108BD9-81ED-4DB2-BD59-A6C34878D82A}">
                        <a16:rowId xmlns:a16="http://schemas.microsoft.com/office/drawing/2014/main" val="3225648409"/>
                      </a:ext>
                    </a:extLst>
                  </a:tr>
                  <a:tr h="2697762">
                    <a:tc>
                      <a:txBody>
                        <a:bodyPr/>
                        <a:lstStyle/>
                        <a:p>
                          <a:endParaRPr lang="en-GB" sz="1200" noProof="0"/>
                        </a:p>
                      </a:txBody>
                      <a:tcPr/>
                    </a:tc>
                    <a:extLst>
                      <a:ext uri="{0D108BD9-81ED-4DB2-BD59-A6C34878D82A}">
                        <a16:rowId xmlns:a16="http://schemas.microsoft.com/office/drawing/2014/main" val="3904871108"/>
                      </a:ext>
                    </a:extLst>
                  </a:tr>
                  <a:tr h="320454">
                    <a:tc>
                      <a:txBody>
                        <a:bodyPr/>
                        <a:lstStyle/>
                        <a:p>
                          <a:endParaRPr lang="en-US"/>
                        </a:p>
                      </a:txBody>
                      <a:tcPr>
                        <a:blipFill>
                          <a:blip r:embed="rId2"/>
                          <a:stretch>
                            <a:fillRect l="-94" t="-952830" r="-187" b="-1788679"/>
                          </a:stretch>
                        </a:blipFill>
                      </a:tcPr>
                    </a:tc>
                    <a:extLst>
                      <a:ext uri="{0D108BD9-81ED-4DB2-BD59-A6C34878D82A}">
                        <a16:rowId xmlns:a16="http://schemas.microsoft.com/office/drawing/2014/main" val="2519692335"/>
                      </a:ext>
                    </a:extLst>
                  </a:tr>
                  <a:tr h="2697762">
                    <a:tc>
                      <a:txBody>
                        <a:bodyPr/>
                        <a:lstStyle/>
                        <a:p>
                          <a:endParaRPr lang="en-GB" sz="1200" noProof="0"/>
                        </a:p>
                      </a:txBody>
                      <a:tcPr/>
                    </a:tc>
                    <a:extLst>
                      <a:ext uri="{0D108BD9-81ED-4DB2-BD59-A6C34878D82A}">
                        <a16:rowId xmlns:a16="http://schemas.microsoft.com/office/drawing/2014/main" val="751337645"/>
                      </a:ext>
                    </a:extLst>
                  </a:tr>
                  <a:tr h="36843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t>6) Prove (2n + 9)² − (2n + 5)² is always a multiple of 4</a:t>
                          </a:r>
                        </a:p>
                      </a:txBody>
                      <a:tcPr/>
                    </a:tc>
                    <a:extLst>
                      <a:ext uri="{0D108BD9-81ED-4DB2-BD59-A6C34878D82A}">
                        <a16:rowId xmlns:a16="http://schemas.microsoft.com/office/drawing/2014/main" val="1984450214"/>
                      </a:ext>
                    </a:extLst>
                  </a:tr>
                  <a:tr h="2697762">
                    <a:tc>
                      <a:txBody>
                        <a:bodyPr/>
                        <a:lstStyle/>
                        <a:p>
                          <a:endParaRPr lang="en-GB" sz="1200" noProof="0"/>
                        </a:p>
                      </a:txBody>
                      <a:tcPr/>
                    </a:tc>
                    <a:extLst>
                      <a:ext uri="{0D108BD9-81ED-4DB2-BD59-A6C34878D82A}">
                        <a16:rowId xmlns:a16="http://schemas.microsoft.com/office/drawing/2014/main" val="1943512728"/>
                      </a:ext>
                    </a:extLst>
                  </a:tr>
                </a:tbl>
              </a:graphicData>
            </a:graphic>
          </p:graphicFrame>
        </mc:Fallback>
      </mc:AlternateContent>
    </p:spTree>
    <p:extLst>
      <p:ext uri="{BB962C8B-B14F-4D97-AF65-F5344CB8AC3E}">
        <p14:creationId xmlns:p14="http://schemas.microsoft.com/office/powerpoint/2010/main" val="1844880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5341076" y="9555935"/>
            <a:ext cx="1543050" cy="527403"/>
          </a:xfrm>
        </p:spPr>
        <p:txBody>
          <a:bodyPr/>
          <a:lstStyle/>
          <a:p>
            <a:fld id="{9BD3B4A0-BFF9-422C-B253-48BA94BE2F5B}" type="slidenum">
              <a:rPr lang="en-GB" noProof="0" smtClean="0"/>
              <a:t>7</a:t>
            </a:fld>
            <a:endParaRPr lang="en-GB" noProof="0" dirty="0"/>
          </a:p>
        </p:txBody>
      </p:sp>
      <p:graphicFrame>
        <p:nvGraphicFramePr>
          <p:cNvPr id="4" name="Table 3">
            <a:extLst>
              <a:ext uri="{FF2B5EF4-FFF2-40B4-BE49-F238E27FC236}">
                <a16:creationId xmlns:a16="http://schemas.microsoft.com/office/drawing/2014/main" id="{DAD1F573-93A1-2614-D6D2-AE7C7DDE4709}"/>
              </a:ext>
            </a:extLst>
          </p:cNvPr>
          <p:cNvGraphicFramePr>
            <a:graphicFrameLocks noGrp="1"/>
          </p:cNvGraphicFramePr>
          <p:nvPr>
            <p:extLst>
              <p:ext uri="{D42A27DB-BD31-4B8C-83A1-F6EECF244321}">
                <p14:modId xmlns:p14="http://schemas.microsoft.com/office/powerpoint/2010/main" val="2727792619"/>
              </p:ext>
            </p:extLst>
          </p:nvPr>
        </p:nvGraphicFramePr>
        <p:xfrm>
          <a:off x="175249" y="316564"/>
          <a:ext cx="6507502" cy="9239371"/>
        </p:xfrm>
        <a:graphic>
          <a:graphicData uri="http://schemas.openxmlformats.org/drawingml/2006/table">
            <a:tbl>
              <a:tblPr firstRow="1" bandRow="1">
                <a:tableStyleId>{5940675A-B579-460E-94D1-54222C63F5DA}</a:tableStyleId>
              </a:tblPr>
              <a:tblGrid>
                <a:gridCol w="6507502">
                  <a:extLst>
                    <a:ext uri="{9D8B030D-6E8A-4147-A177-3AD203B41FA5}">
                      <a16:colId xmlns:a16="http://schemas.microsoft.com/office/drawing/2014/main" val="721443831"/>
                    </a:ext>
                  </a:extLst>
                </a:gridCol>
              </a:tblGrid>
              <a:tr h="195468">
                <a:tc>
                  <a:txBody>
                    <a:bodyPr/>
                    <a:lstStyle/>
                    <a:p>
                      <a:r>
                        <a:rPr lang="en-GB" sz="1200" noProof="0" dirty="0"/>
                        <a:t>7) Prove that when two consecutive integers are squared, that the difference is equal to the sum of the two consecutive integers</a:t>
                      </a:r>
                    </a:p>
                  </a:txBody>
                  <a:tcPr/>
                </a:tc>
                <a:extLst>
                  <a:ext uri="{0D108BD9-81ED-4DB2-BD59-A6C34878D82A}">
                    <a16:rowId xmlns:a16="http://schemas.microsoft.com/office/drawing/2014/main" val="3225648409"/>
                  </a:ext>
                </a:extLst>
              </a:tr>
              <a:tr h="2697762">
                <a:tc>
                  <a:txBody>
                    <a:bodyPr/>
                    <a:lstStyle/>
                    <a:p>
                      <a:endParaRPr lang="en-GB" sz="1200" noProof="0" dirty="0"/>
                    </a:p>
                  </a:txBody>
                  <a:tcPr/>
                </a:tc>
                <a:extLst>
                  <a:ext uri="{0D108BD9-81ED-4DB2-BD59-A6C34878D82A}">
                    <a16:rowId xmlns:a16="http://schemas.microsoft.com/office/drawing/2014/main" val="3904871108"/>
                  </a:ext>
                </a:extLst>
              </a:tr>
              <a:tr h="320454">
                <a:tc>
                  <a:txBody>
                    <a:bodyPr/>
                    <a:lstStyle/>
                    <a:p>
                      <a:r>
                        <a:rPr lang="en-GB" sz="1200" noProof="0" dirty="0"/>
                        <a:t>8)  Prove that (2n + 1)(3n − 2) − (6n − 1)(n − 2) is always even</a:t>
                      </a:r>
                    </a:p>
                  </a:txBody>
                  <a:tcPr/>
                </a:tc>
                <a:extLst>
                  <a:ext uri="{0D108BD9-81ED-4DB2-BD59-A6C34878D82A}">
                    <a16:rowId xmlns:a16="http://schemas.microsoft.com/office/drawing/2014/main" val="2519692335"/>
                  </a:ext>
                </a:extLst>
              </a:tr>
              <a:tr h="2697762">
                <a:tc>
                  <a:txBody>
                    <a:bodyPr/>
                    <a:lstStyle/>
                    <a:p>
                      <a:endParaRPr lang="en-GB" sz="1200" noProof="0" dirty="0"/>
                    </a:p>
                  </a:txBody>
                  <a:tcPr/>
                </a:tc>
                <a:extLst>
                  <a:ext uri="{0D108BD9-81ED-4DB2-BD59-A6C34878D82A}">
                    <a16:rowId xmlns:a16="http://schemas.microsoft.com/office/drawing/2014/main" val="751337645"/>
                  </a:ext>
                </a:extLst>
              </a:tr>
              <a:tr h="368431">
                <a:tc>
                  <a:txBody>
                    <a:bodyPr/>
                    <a:lstStyle/>
                    <a:p>
                      <a:r>
                        <a:rPr lang="en-GB" sz="1200" noProof="0" dirty="0"/>
                        <a:t>9) Prove the product of three consecutive odd numbers is odd</a:t>
                      </a:r>
                    </a:p>
                  </a:txBody>
                  <a:tcPr/>
                </a:tc>
                <a:extLst>
                  <a:ext uri="{0D108BD9-81ED-4DB2-BD59-A6C34878D82A}">
                    <a16:rowId xmlns:a16="http://schemas.microsoft.com/office/drawing/2014/main" val="1984450214"/>
                  </a:ext>
                </a:extLst>
              </a:tr>
              <a:tr h="2697762">
                <a:tc>
                  <a:txBody>
                    <a:bodyPr/>
                    <a:lstStyle/>
                    <a:p>
                      <a:endParaRPr lang="en-GB" sz="1200" noProof="0" dirty="0"/>
                    </a:p>
                  </a:txBody>
                  <a:tcPr/>
                </a:tc>
                <a:extLst>
                  <a:ext uri="{0D108BD9-81ED-4DB2-BD59-A6C34878D82A}">
                    <a16:rowId xmlns:a16="http://schemas.microsoft.com/office/drawing/2014/main" val="1943512728"/>
                  </a:ext>
                </a:extLst>
              </a:tr>
            </a:tbl>
          </a:graphicData>
        </a:graphic>
      </p:graphicFrame>
    </p:spTree>
    <p:extLst>
      <p:ext uri="{BB962C8B-B14F-4D97-AF65-F5344CB8AC3E}">
        <p14:creationId xmlns:p14="http://schemas.microsoft.com/office/powerpoint/2010/main" val="900685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5341076" y="9555935"/>
            <a:ext cx="1543050" cy="527403"/>
          </a:xfrm>
        </p:spPr>
        <p:txBody>
          <a:bodyPr/>
          <a:lstStyle/>
          <a:p>
            <a:fld id="{9BD3B4A0-BFF9-422C-B253-48BA94BE2F5B}" type="slidenum">
              <a:rPr lang="en-GB" noProof="0" smtClean="0"/>
              <a:t>8</a:t>
            </a:fld>
            <a:endParaRPr lang="en-GB" noProof="0" dirty="0"/>
          </a:p>
        </p:txBody>
      </p:sp>
      <p:graphicFrame>
        <p:nvGraphicFramePr>
          <p:cNvPr id="7" name="Table 6">
            <a:extLst>
              <a:ext uri="{FF2B5EF4-FFF2-40B4-BE49-F238E27FC236}">
                <a16:creationId xmlns:a16="http://schemas.microsoft.com/office/drawing/2014/main" id="{65B2C8ED-D705-1A59-8724-880B72E8FA38}"/>
              </a:ext>
            </a:extLst>
          </p:cNvPr>
          <p:cNvGraphicFramePr>
            <a:graphicFrameLocks noGrp="1"/>
          </p:cNvGraphicFramePr>
          <p:nvPr>
            <p:extLst>
              <p:ext uri="{D42A27DB-BD31-4B8C-83A1-F6EECF244321}">
                <p14:modId xmlns:p14="http://schemas.microsoft.com/office/powerpoint/2010/main" val="3878832"/>
              </p:ext>
            </p:extLst>
          </p:nvPr>
        </p:nvGraphicFramePr>
        <p:xfrm>
          <a:off x="175249" y="121058"/>
          <a:ext cx="6443795" cy="9434875"/>
        </p:xfrm>
        <a:graphic>
          <a:graphicData uri="http://schemas.openxmlformats.org/drawingml/2006/table">
            <a:tbl>
              <a:tblPr firstRow="1" bandRow="1">
                <a:tableStyleId>{5940675A-B579-460E-94D1-54222C63F5DA}</a:tableStyleId>
              </a:tblPr>
              <a:tblGrid>
                <a:gridCol w="6443795">
                  <a:extLst>
                    <a:ext uri="{9D8B030D-6E8A-4147-A177-3AD203B41FA5}">
                      <a16:colId xmlns:a16="http://schemas.microsoft.com/office/drawing/2014/main" val="721443831"/>
                    </a:ext>
                  </a:extLst>
                </a:gridCol>
              </a:tblGrid>
              <a:tr h="281530">
                <a:tc>
                  <a:txBody>
                    <a:bodyPr/>
                    <a:lstStyle/>
                    <a:p>
                      <a:r>
                        <a:rPr lang="en-GB" sz="1200" noProof="0" dirty="0"/>
                        <a:t>10) Prove algebraically that (4n + 1)² − (2n − 1) is an even number for all positive integer values of n.</a:t>
                      </a:r>
                    </a:p>
                  </a:txBody>
                  <a:tcPr/>
                </a:tc>
                <a:extLst>
                  <a:ext uri="{0D108BD9-81ED-4DB2-BD59-A6C34878D82A}">
                    <a16:rowId xmlns:a16="http://schemas.microsoft.com/office/drawing/2014/main" val="3225648409"/>
                  </a:ext>
                </a:extLst>
              </a:tr>
              <a:tr h="2768671">
                <a:tc>
                  <a:txBody>
                    <a:bodyPr/>
                    <a:lstStyle/>
                    <a:p>
                      <a:endParaRPr lang="en-GB" sz="1200" noProof="0" dirty="0"/>
                    </a:p>
                  </a:txBody>
                  <a:tcPr/>
                </a:tc>
                <a:extLst>
                  <a:ext uri="{0D108BD9-81ED-4DB2-BD59-A6C34878D82A}">
                    <a16:rowId xmlns:a16="http://schemas.microsoft.com/office/drawing/2014/main" val="3904871108"/>
                  </a:ext>
                </a:extLst>
              </a:tr>
              <a:tr h="469217">
                <a:tc>
                  <a:txBody>
                    <a:bodyPr/>
                    <a:lstStyle/>
                    <a:p>
                      <a:r>
                        <a:rPr lang="en-GB" sz="1200" noProof="0" dirty="0"/>
                        <a:t>11) Prove that the sum of the squares of any three consecutive odd numbers is always 11 more than a multiple of 12.</a:t>
                      </a:r>
                    </a:p>
                  </a:txBody>
                  <a:tcPr/>
                </a:tc>
                <a:extLst>
                  <a:ext uri="{0D108BD9-81ED-4DB2-BD59-A6C34878D82A}">
                    <a16:rowId xmlns:a16="http://schemas.microsoft.com/office/drawing/2014/main" val="2519692335"/>
                  </a:ext>
                </a:extLst>
              </a:tr>
              <a:tr h="2768671">
                <a:tc>
                  <a:txBody>
                    <a:bodyPr/>
                    <a:lstStyle/>
                    <a:p>
                      <a:endParaRPr lang="en-GB" sz="1200" noProof="0" dirty="0"/>
                    </a:p>
                  </a:txBody>
                  <a:tcPr/>
                </a:tc>
                <a:extLst>
                  <a:ext uri="{0D108BD9-81ED-4DB2-BD59-A6C34878D82A}">
                    <a16:rowId xmlns:a16="http://schemas.microsoft.com/office/drawing/2014/main" val="751337645"/>
                  </a:ext>
                </a:extLst>
              </a:tr>
              <a:tr h="378115">
                <a:tc>
                  <a:txBody>
                    <a:bodyPr/>
                    <a:lstStyle/>
                    <a:p>
                      <a:r>
                        <a:rPr lang="en-GB" sz="1200" noProof="0" dirty="0"/>
                        <a:t>12) Prove that the difference between two consecutive cubes is one more than a multiple of 6.</a:t>
                      </a:r>
                    </a:p>
                  </a:txBody>
                  <a:tcPr/>
                </a:tc>
                <a:extLst>
                  <a:ext uri="{0D108BD9-81ED-4DB2-BD59-A6C34878D82A}">
                    <a16:rowId xmlns:a16="http://schemas.microsoft.com/office/drawing/2014/main" val="1984450214"/>
                  </a:ext>
                </a:extLst>
              </a:tr>
              <a:tr h="2768671">
                <a:tc>
                  <a:txBody>
                    <a:bodyPr/>
                    <a:lstStyle/>
                    <a:p>
                      <a:endParaRPr lang="en-GB" sz="1200" noProof="0" dirty="0"/>
                    </a:p>
                  </a:txBody>
                  <a:tcPr/>
                </a:tc>
                <a:extLst>
                  <a:ext uri="{0D108BD9-81ED-4DB2-BD59-A6C34878D82A}">
                    <a16:rowId xmlns:a16="http://schemas.microsoft.com/office/drawing/2014/main" val="1943512728"/>
                  </a:ext>
                </a:extLst>
              </a:tr>
            </a:tbl>
          </a:graphicData>
        </a:graphic>
      </p:graphicFrame>
    </p:spTree>
    <p:extLst>
      <p:ext uri="{BB962C8B-B14F-4D97-AF65-F5344CB8AC3E}">
        <p14:creationId xmlns:p14="http://schemas.microsoft.com/office/powerpoint/2010/main" val="3657856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3197A5F-D0F5-0B96-A0FE-7E6E4B4375ED}"/>
              </a:ext>
            </a:extLst>
          </p:cNvPr>
          <p:cNvSpPr>
            <a:spLocks noGrp="1"/>
          </p:cNvSpPr>
          <p:nvPr>
            <p:ph type="sldNum" sz="quarter" idx="12"/>
          </p:nvPr>
        </p:nvSpPr>
        <p:spPr>
          <a:xfrm>
            <a:off x="5314950" y="9378597"/>
            <a:ext cx="1543050" cy="527403"/>
          </a:xfrm>
        </p:spPr>
        <p:txBody>
          <a:bodyPr/>
          <a:lstStyle/>
          <a:p>
            <a:fld id="{9BD3B4A0-BFF9-422C-B253-48BA94BE2F5B}" type="slidenum">
              <a:rPr lang="en-GB" noProof="0" smtClean="0"/>
              <a:t>9</a:t>
            </a:fld>
            <a:endParaRPr lang="en-GB" noProof="0" dirty="0"/>
          </a:p>
        </p:txBody>
      </p:sp>
      <p:graphicFrame>
        <p:nvGraphicFramePr>
          <p:cNvPr id="6" name="Table 5">
            <a:extLst>
              <a:ext uri="{FF2B5EF4-FFF2-40B4-BE49-F238E27FC236}">
                <a16:creationId xmlns:a16="http://schemas.microsoft.com/office/drawing/2014/main" id="{5190D59D-CAD4-DAD1-7253-432900F5262E}"/>
              </a:ext>
            </a:extLst>
          </p:cNvPr>
          <p:cNvGraphicFramePr>
            <a:graphicFrameLocks noGrp="1"/>
          </p:cNvGraphicFramePr>
          <p:nvPr>
            <p:extLst>
              <p:ext uri="{D42A27DB-BD31-4B8C-83A1-F6EECF244321}">
                <p14:modId xmlns:p14="http://schemas.microsoft.com/office/powerpoint/2010/main" val="479637056"/>
              </p:ext>
            </p:extLst>
          </p:nvPr>
        </p:nvGraphicFramePr>
        <p:xfrm>
          <a:off x="175249" y="179817"/>
          <a:ext cx="6495715" cy="8981137"/>
        </p:xfrm>
        <a:graphic>
          <a:graphicData uri="http://schemas.openxmlformats.org/drawingml/2006/table">
            <a:tbl>
              <a:tblPr firstRow="1" bandRow="1">
                <a:tableStyleId>{5940675A-B579-460E-94D1-54222C63F5DA}</a:tableStyleId>
              </a:tblPr>
              <a:tblGrid>
                <a:gridCol w="6495715">
                  <a:extLst>
                    <a:ext uri="{9D8B030D-6E8A-4147-A177-3AD203B41FA5}">
                      <a16:colId xmlns:a16="http://schemas.microsoft.com/office/drawing/2014/main" val="721443831"/>
                    </a:ext>
                  </a:extLst>
                </a:gridCol>
              </a:tblGrid>
              <a:tr h="52676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t>13) </a:t>
                      </a:r>
                      <a:r>
                        <a:rPr lang="en-GB" sz="1200" noProof="0" dirty="0">
                          <a:latin typeface="Calibri" panose="020F0502020204030204" pitchFamily="34" charset="0"/>
                          <a:ea typeface="Times New Roman" panose="02020603050405020304" pitchFamily="18" charset="0"/>
                          <a:cs typeface="Times New Roman" panose="02020603050405020304" pitchFamily="18" charset="0"/>
                        </a:rPr>
                        <a:t>Prove that there is exactly one sequence of five consecutive positive integers in which the sum of the squares of the first three integers is equal to the sum of the squares of the other two integers.</a:t>
                      </a:r>
                      <a:endParaRPr lang="en-GB" sz="1200" noProof="0" dirty="0"/>
                    </a:p>
                  </a:txBody>
                  <a:tcPr/>
                </a:tc>
                <a:extLst>
                  <a:ext uri="{0D108BD9-81ED-4DB2-BD59-A6C34878D82A}">
                    <a16:rowId xmlns:a16="http://schemas.microsoft.com/office/drawing/2014/main" val="3225648409"/>
                  </a:ext>
                </a:extLst>
              </a:tr>
              <a:tr h="4090026">
                <a:tc>
                  <a:txBody>
                    <a:bodyPr/>
                    <a:lstStyle/>
                    <a:p>
                      <a:endParaRPr lang="en-GB" sz="1200" noProof="0" dirty="0"/>
                    </a:p>
                  </a:txBody>
                  <a:tcPr/>
                </a:tc>
                <a:extLst>
                  <a:ext uri="{0D108BD9-81ED-4DB2-BD59-A6C34878D82A}">
                    <a16:rowId xmlns:a16="http://schemas.microsoft.com/office/drawing/2014/main" val="3904871108"/>
                  </a:ext>
                </a:extLst>
              </a:tr>
              <a:tr h="253241">
                <a:tc>
                  <a:txBody>
                    <a:bodyPr/>
                    <a:lstStyle/>
                    <a:p>
                      <a:r>
                        <a:rPr lang="en-GB" sz="1200" noProof="0" dirty="0"/>
                        <a:t>14) Prove that the product of four consecutive numbers is one less than a square number.</a:t>
                      </a:r>
                    </a:p>
                  </a:txBody>
                  <a:tcPr/>
                </a:tc>
                <a:extLst>
                  <a:ext uri="{0D108BD9-81ED-4DB2-BD59-A6C34878D82A}">
                    <a16:rowId xmlns:a16="http://schemas.microsoft.com/office/drawing/2014/main" val="2519692335"/>
                  </a:ext>
                </a:extLst>
              </a:tr>
              <a:tr h="4090026">
                <a:tc>
                  <a:txBody>
                    <a:bodyPr/>
                    <a:lstStyle/>
                    <a:p>
                      <a:endParaRPr lang="en-GB" sz="1200" noProof="0" dirty="0"/>
                    </a:p>
                  </a:txBody>
                  <a:tcPr/>
                </a:tc>
                <a:extLst>
                  <a:ext uri="{0D108BD9-81ED-4DB2-BD59-A6C34878D82A}">
                    <a16:rowId xmlns:a16="http://schemas.microsoft.com/office/drawing/2014/main" val="751337645"/>
                  </a:ext>
                </a:extLst>
              </a:tr>
            </a:tbl>
          </a:graphicData>
        </a:graphic>
      </p:graphicFrame>
    </p:spTree>
    <p:extLst>
      <p:ext uri="{BB962C8B-B14F-4D97-AF65-F5344CB8AC3E}">
        <p14:creationId xmlns:p14="http://schemas.microsoft.com/office/powerpoint/2010/main" val="1919084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6DD7D-3281-B69F-AA17-22AFD97EAC0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D0FC6E-DD74-FC7C-AB1F-71E0A6982A27}"/>
              </a:ext>
            </a:extLst>
          </p:cNvPr>
          <p:cNvSpPr>
            <a:spLocks noGrp="1"/>
          </p:cNvSpPr>
          <p:nvPr>
            <p:ph type="sldNum" sz="quarter" idx="12"/>
          </p:nvPr>
        </p:nvSpPr>
        <p:spPr>
          <a:xfrm>
            <a:off x="5214255" y="9561766"/>
            <a:ext cx="1543050" cy="527403"/>
          </a:xfrm>
        </p:spPr>
        <p:txBody>
          <a:bodyPr/>
          <a:lstStyle/>
          <a:p>
            <a:fld id="{9BD3B4A0-BFF9-422C-B253-48BA94BE2F5B}" type="slidenum">
              <a:rPr lang="en-GB" noProof="0" smtClean="0"/>
              <a:t>10</a:t>
            </a:fld>
            <a:endParaRPr lang="en-GB" noProof="0" dirty="0"/>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D58AA77D-D96E-DD0D-E18D-9D66A76B81A5}"/>
                  </a:ext>
                </a:extLst>
              </p:cNvPr>
              <p:cNvGraphicFramePr>
                <a:graphicFrameLocks noGrp="1"/>
              </p:cNvGraphicFramePr>
              <p:nvPr>
                <p:extLst>
                  <p:ext uri="{D42A27DB-BD31-4B8C-83A1-F6EECF244321}">
                    <p14:modId xmlns:p14="http://schemas.microsoft.com/office/powerpoint/2010/main" val="3696573522"/>
                  </p:ext>
                </p:extLst>
              </p:nvPr>
            </p:nvGraphicFramePr>
            <p:xfrm>
              <a:off x="118320" y="2749925"/>
              <a:ext cx="6638985" cy="6954877"/>
            </p:xfrm>
            <a:graphic>
              <a:graphicData uri="http://schemas.openxmlformats.org/drawingml/2006/table">
                <a:tbl>
                  <a:tblPr firstRow="1" bandRow="1">
                    <a:tableStyleId>{5C22544A-7EE6-4342-B048-85BDC9FD1C3A}</a:tableStyleId>
                  </a:tblPr>
                  <a:tblGrid>
                    <a:gridCol w="1179276">
                      <a:extLst>
                        <a:ext uri="{9D8B030D-6E8A-4147-A177-3AD203B41FA5}">
                          <a16:colId xmlns:a16="http://schemas.microsoft.com/office/drawing/2014/main" val="1568142362"/>
                        </a:ext>
                      </a:extLst>
                    </a:gridCol>
                    <a:gridCol w="5459709">
                      <a:extLst>
                        <a:ext uri="{9D8B030D-6E8A-4147-A177-3AD203B41FA5}">
                          <a16:colId xmlns:a16="http://schemas.microsoft.com/office/drawing/2014/main" val="3551711160"/>
                        </a:ext>
                      </a:extLst>
                    </a:gridCol>
                  </a:tblGrid>
                  <a:tr h="22189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4-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8161254"/>
                      </a:ext>
                    </a:extLst>
                  </a:tr>
                  <a:tr h="369824">
                    <a:tc rowSpan="8">
                      <a:txBody>
                        <a:bodyPr/>
                        <a:lstStyle/>
                        <a:p>
                          <a:r>
                            <a:rPr lang="en-GB" sz="1200" noProof="0" dirty="0"/>
                            <a:t>1) Write out the</a:t>
                          </a:r>
                          <a:r>
                            <a:rPr lang="en-GB" sz="1200" baseline="0" noProof="0" dirty="0"/>
                            <a:t> numbers in full place value form</a:t>
                          </a:r>
                        </a:p>
                        <a:p>
                          <a:endParaRPr lang="en-GB" sz="1200" noProof="0" dirty="0"/>
                        </a:p>
                        <a:p>
                          <a:r>
                            <a:rPr lang="en-GB" sz="1200" noProof="0" dirty="0"/>
                            <a:t>2)Read the question carefully to work out the algebraic manipulation required</a:t>
                          </a:r>
                          <a:endParaRPr lang="en-GB" sz="1200" baseline="0" noProof="0" dirty="0"/>
                        </a:p>
                        <a:p>
                          <a:endParaRPr lang="en-GB" sz="1200" noProof="0" dirty="0"/>
                        </a:p>
                        <a:p>
                          <a:r>
                            <a:rPr lang="en-GB" sz="1200" noProof="0" dirty="0"/>
                            <a:t>3) Factorise</a:t>
                          </a:r>
                          <a:r>
                            <a:rPr lang="en-GB" sz="1200" baseline="0" noProof="0" dirty="0"/>
                            <a:t> (if it is required)</a:t>
                          </a:r>
                        </a:p>
                        <a:p>
                          <a:endParaRPr lang="en-GB" sz="1200" noProof="0" dirty="0"/>
                        </a:p>
                        <a:p>
                          <a:r>
                            <a:rPr lang="en-GB" sz="1200" noProof="0" dirty="0"/>
                            <a:t>4) Prove</a:t>
                          </a:r>
                          <a:r>
                            <a:rPr lang="en-GB" sz="1200" baseline="0" noProof="0" dirty="0"/>
                            <a:t> with a statement. </a:t>
                          </a:r>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kern="1200" dirty="0">
                              <a:solidFill>
                                <a:schemeClr val="dk1"/>
                              </a:solidFill>
                              <a:effectLst/>
                              <a:latin typeface="+mn-lt"/>
                              <a:ea typeface="+mn-ea"/>
                              <a:cs typeface="+mn-cs"/>
                            </a:rPr>
                            <a:t>Given that </a:t>
                          </a:r>
                          <a14:m>
                            <m:oMath xmlns:m="http://schemas.openxmlformats.org/officeDocument/2006/math">
                              <m:r>
                                <a:rPr lang="en-GB" sz="1200" i="1" kern="1200">
                                  <a:solidFill>
                                    <a:schemeClr val="dk1"/>
                                  </a:solidFill>
                                  <a:effectLst/>
                                  <a:latin typeface="Cambria Math" panose="02040503050406030204" pitchFamily="18" charset="0"/>
                                  <a:ea typeface="+mn-ea"/>
                                  <a:cs typeface="+mn-cs"/>
                                </a:rPr>
                                <m:t>𝑎𝑏𝑐𝑑</m:t>
                              </m:r>
                            </m:oMath>
                          </a14:m>
                          <a:r>
                            <a:rPr lang="en-GB" sz="1200" kern="1200" dirty="0">
                              <a:solidFill>
                                <a:schemeClr val="dk1"/>
                              </a:solidFill>
                              <a:effectLst/>
                              <a:latin typeface="+mn-lt"/>
                              <a:ea typeface="+mn-ea"/>
                              <a:cs typeface="+mn-cs"/>
                            </a:rPr>
                            <a:t> is a 4-digit number, prove that the difference between itself and its reverse is a multiple of 11</a:t>
                          </a: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706504">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1869355"/>
                      </a:ext>
                    </a:extLst>
                  </a:tr>
                  <a:tr h="268957">
                    <a:tc vMerge="1">
                      <a:txBody>
                        <a:bodyPr/>
                        <a:lstStyle/>
                        <a:p>
                          <a:endParaRPr lang="en-GB"/>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3975670"/>
                      </a:ext>
                    </a:extLst>
                  </a:tr>
                  <a:tr h="369824">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r>
                            <a:rPr lang="en-GB" sz="1200" kern="1200" dirty="0">
                              <a:solidFill>
                                <a:schemeClr val="dk1"/>
                              </a:solidFill>
                              <a:effectLst/>
                              <a:latin typeface="+mn-lt"/>
                              <a:ea typeface="+mn-ea"/>
                              <a:cs typeface="+mn-cs"/>
                            </a:rPr>
                            <a:t>I think of a two-digit number. I then reverse the digits. Prove that the difference between the two numbers is a multiple of 9</a:t>
                          </a:r>
                          <a:endParaRPr lang="en-US" sz="12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9470708"/>
                      </a:ext>
                    </a:extLst>
                  </a:tr>
                  <a:tr h="1588987">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3533263"/>
                      </a:ext>
                    </a:extLst>
                  </a:tr>
                  <a:tr h="256633">
                    <a:tc vMerge="1">
                      <a:txBody>
                        <a:bodyPr/>
                        <a:lstStyle/>
                        <a:p>
                          <a:endParaRPr lang="en-GB"/>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721803"/>
                      </a:ext>
                    </a:extLst>
                  </a:tr>
                  <a:tr h="400626">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GB" sz="1200" kern="1200" dirty="0">
                              <a:solidFill>
                                <a:schemeClr val="dk1"/>
                              </a:solidFill>
                              <a:effectLst/>
                              <a:latin typeface="+mn-lt"/>
                              <a:ea typeface="+mn-ea"/>
                              <a:cs typeface="+mn-cs"/>
                            </a:rPr>
                            <a:t>I think of a 3-digit number and then reverse its digits. Prove that the difference between these two numbers is a multiple of 11</a:t>
                          </a: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0665404"/>
                      </a:ext>
                    </a:extLst>
                  </a:tr>
                  <a:tr h="1464826">
                    <a:tc vMerge="1">
                      <a:txBody>
                        <a:bodyPr/>
                        <a:lstStyle/>
                        <a:p>
                          <a:endParaRPr lang="en-GB"/>
                        </a:p>
                      </a:txBody>
                      <a:tcPr>
                        <a:lnT w="12700" cap="flat" cmpd="sng" algn="ctr">
                          <a:solidFill>
                            <a:schemeClr val="tx1"/>
                          </a:solidFill>
                          <a:prstDash val="solid"/>
                          <a:round/>
                          <a:headEnd type="none" w="med" len="med"/>
                          <a:tailEnd type="none" w="med" len="med"/>
                        </a:lnT>
                      </a:tcPr>
                    </a:tc>
                    <a:tc>
                      <a:txBody>
                        <a:bodyPr/>
                        <a:lstStyle/>
                        <a:p>
                          <a:pPr algn="ct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5311752"/>
                      </a:ext>
                    </a:extLst>
                  </a:tr>
                </a:tbl>
              </a:graphicData>
            </a:graphic>
          </p:graphicFrame>
        </mc:Choice>
        <mc:Fallback xmlns="">
          <p:graphicFrame>
            <p:nvGraphicFramePr>
              <p:cNvPr id="6" name="Table 5">
                <a:extLst>
                  <a:ext uri="{FF2B5EF4-FFF2-40B4-BE49-F238E27FC236}">
                    <a16:creationId xmlns:a16="http://schemas.microsoft.com/office/drawing/2014/main" id="{D58AA77D-D96E-DD0D-E18D-9D66A76B81A5}"/>
                  </a:ext>
                </a:extLst>
              </p:cNvPr>
              <p:cNvGraphicFramePr>
                <a:graphicFrameLocks noGrp="1"/>
              </p:cNvGraphicFramePr>
              <p:nvPr>
                <p:extLst>
                  <p:ext uri="{D42A27DB-BD31-4B8C-83A1-F6EECF244321}">
                    <p14:modId xmlns:p14="http://schemas.microsoft.com/office/powerpoint/2010/main" val="3696573522"/>
                  </p:ext>
                </p:extLst>
              </p:nvPr>
            </p:nvGraphicFramePr>
            <p:xfrm>
              <a:off x="118320" y="2749925"/>
              <a:ext cx="6638985" cy="6954877"/>
            </p:xfrm>
            <a:graphic>
              <a:graphicData uri="http://schemas.openxmlformats.org/drawingml/2006/table">
                <a:tbl>
                  <a:tblPr firstRow="1" bandRow="1">
                    <a:tableStyleId>{5C22544A-7EE6-4342-B048-85BDC9FD1C3A}</a:tableStyleId>
                  </a:tblPr>
                  <a:tblGrid>
                    <a:gridCol w="1179276">
                      <a:extLst>
                        <a:ext uri="{9D8B030D-6E8A-4147-A177-3AD203B41FA5}">
                          <a16:colId xmlns:a16="http://schemas.microsoft.com/office/drawing/2014/main" val="1568142362"/>
                        </a:ext>
                      </a:extLst>
                    </a:gridCol>
                    <a:gridCol w="5459709">
                      <a:extLst>
                        <a:ext uri="{9D8B030D-6E8A-4147-A177-3AD203B41FA5}">
                          <a16:colId xmlns:a16="http://schemas.microsoft.com/office/drawing/2014/main" val="3551711160"/>
                        </a:ext>
                      </a:extLst>
                    </a:gridCol>
                  </a:tblGrid>
                  <a:tr h="2743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4- I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8161254"/>
                      </a:ext>
                    </a:extLst>
                  </a:tr>
                  <a:tr h="457200">
                    <a:tc rowSpan="8">
                      <a:txBody>
                        <a:bodyPr/>
                        <a:lstStyle/>
                        <a:p>
                          <a:r>
                            <a:rPr lang="en-GB" sz="1200" noProof="0" dirty="0"/>
                            <a:t>1) Write out the</a:t>
                          </a:r>
                          <a:r>
                            <a:rPr lang="en-GB" sz="1200" baseline="0" noProof="0" dirty="0"/>
                            <a:t> numbers in full place value form</a:t>
                          </a:r>
                        </a:p>
                        <a:p>
                          <a:endParaRPr lang="en-GB" sz="1200" noProof="0" dirty="0"/>
                        </a:p>
                        <a:p>
                          <a:r>
                            <a:rPr lang="en-GB" sz="1200" noProof="0" dirty="0"/>
                            <a:t>2)Read the question carefully to work out the algebraic manipulation required</a:t>
                          </a:r>
                          <a:endParaRPr lang="en-GB" sz="1200" baseline="0" noProof="0" dirty="0"/>
                        </a:p>
                        <a:p>
                          <a:endParaRPr lang="en-GB" sz="1200" noProof="0" dirty="0"/>
                        </a:p>
                        <a:p>
                          <a:r>
                            <a:rPr lang="en-GB" sz="1200" noProof="0" dirty="0"/>
                            <a:t>3) Factorise</a:t>
                          </a:r>
                          <a:r>
                            <a:rPr lang="en-GB" sz="1200" baseline="0" noProof="0" dirty="0"/>
                            <a:t> (if it is required)</a:t>
                          </a:r>
                        </a:p>
                        <a:p>
                          <a:endParaRPr lang="en-GB" sz="1200" noProof="0" dirty="0"/>
                        </a:p>
                        <a:p>
                          <a:r>
                            <a:rPr lang="en-GB" sz="1200" noProof="0" dirty="0"/>
                            <a:t>4) Prove</a:t>
                          </a:r>
                          <a:r>
                            <a:rPr lang="en-GB" sz="1200" baseline="0" noProof="0" dirty="0"/>
                            <a:t> with a statement. </a:t>
                          </a:r>
                          <a:endParaRPr lang="en-GB"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1763" t="-61333" r="-223" b="-1365333"/>
                          </a:stretch>
                        </a:blipFill>
                      </a:tcPr>
                    </a:tc>
                    <a:extLst>
                      <a:ext uri="{0D108BD9-81ED-4DB2-BD59-A6C34878D82A}">
                        <a16:rowId xmlns:a16="http://schemas.microsoft.com/office/drawing/2014/main" val="2357201933"/>
                      </a:ext>
                    </a:extLst>
                  </a:tr>
                  <a:tr h="1706504">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1869355"/>
                      </a:ext>
                    </a:extLst>
                  </a:tr>
                  <a:tr h="274320">
                    <a:tc vMerge="1">
                      <a:txBody>
                        <a:bodyPr/>
                        <a:lstStyle/>
                        <a:p>
                          <a:endParaRPr lang="en-GB"/>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3975670"/>
                      </a:ext>
                    </a:extLst>
                  </a:tr>
                  <a:tr h="457200">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r>
                            <a:rPr lang="en-GB" sz="1200" kern="1200" dirty="0">
                              <a:solidFill>
                                <a:schemeClr val="dk1"/>
                              </a:solidFill>
                              <a:effectLst/>
                              <a:latin typeface="+mn-lt"/>
                              <a:ea typeface="+mn-ea"/>
                              <a:cs typeface="+mn-cs"/>
                            </a:rPr>
                            <a:t>I think of a two-digit number. I then reverse the digits. Prove that the difference between the two numbers is a multiple of 9</a:t>
                          </a:r>
                          <a:endParaRPr lang="en-US" sz="12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9470708"/>
                      </a:ext>
                    </a:extLst>
                  </a:tr>
                  <a:tr h="1588987">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3533263"/>
                      </a:ext>
                    </a:extLst>
                  </a:tr>
                  <a:tr h="274320">
                    <a:tc vMerge="1">
                      <a:txBody>
                        <a:bodyPr/>
                        <a:lstStyle/>
                        <a:p>
                          <a:endParaRPr lang="en-GB"/>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 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721803"/>
                      </a:ext>
                    </a:extLst>
                  </a:tr>
                  <a:tr h="457200">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GB" sz="1200" kern="1200" dirty="0">
                              <a:solidFill>
                                <a:schemeClr val="dk1"/>
                              </a:solidFill>
                              <a:effectLst/>
                              <a:latin typeface="+mn-lt"/>
                              <a:ea typeface="+mn-ea"/>
                              <a:cs typeface="+mn-cs"/>
                            </a:rPr>
                            <a:t>I think of a 3-digit number and then reverse its digits. Prove that the difference between these two numbers is a multiple of 11</a:t>
                          </a: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0665404"/>
                      </a:ext>
                    </a:extLst>
                  </a:tr>
                  <a:tr h="1464826">
                    <a:tc vMerge="1">
                      <a:txBody>
                        <a:bodyPr/>
                        <a:lstStyle/>
                        <a:p>
                          <a:endParaRPr lang="en-GB"/>
                        </a:p>
                      </a:txBody>
                      <a:tcPr>
                        <a:lnT w="12700" cap="flat" cmpd="sng" algn="ctr">
                          <a:solidFill>
                            <a:schemeClr val="tx1"/>
                          </a:solidFill>
                          <a:prstDash val="solid"/>
                          <a:round/>
                          <a:headEnd type="none" w="med" len="med"/>
                          <a:tailEnd type="none" w="med" len="med"/>
                        </a:lnT>
                      </a:tcPr>
                    </a:tc>
                    <a:tc>
                      <a:txBody>
                        <a:bodyPr/>
                        <a:lstStyle/>
                        <a:p>
                          <a:pPr algn="ct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5311752"/>
                      </a:ext>
                    </a:extLst>
                  </a:tr>
                </a:tbl>
              </a:graphicData>
            </a:graphic>
          </p:graphicFrame>
        </mc:Fallback>
      </mc:AlternateContent>
      <p:sp>
        <p:nvSpPr>
          <p:cNvPr id="3" name="TextBox 2">
            <a:extLst>
              <a:ext uri="{FF2B5EF4-FFF2-40B4-BE49-F238E27FC236}">
                <a16:creationId xmlns:a16="http://schemas.microsoft.com/office/drawing/2014/main" id="{40A827B0-8B91-7015-767A-23DCE740B66B}"/>
              </a:ext>
            </a:extLst>
          </p:cNvPr>
          <p:cNvSpPr txBox="1"/>
          <p:nvPr/>
        </p:nvSpPr>
        <p:spPr>
          <a:xfrm>
            <a:off x="0" y="0"/>
            <a:ext cx="2367957" cy="276999"/>
          </a:xfrm>
          <a:prstGeom prst="rect">
            <a:avLst/>
          </a:prstGeom>
          <a:solidFill>
            <a:srgbClr val="0070C0"/>
          </a:solidFill>
        </p:spPr>
        <p:txBody>
          <a:bodyPr wrap="none" rtlCol="0" anchor="ctr">
            <a:spAutoFit/>
          </a:bodyPr>
          <a:lstStyle/>
          <a:p>
            <a:pPr algn="ctr"/>
            <a:r>
              <a:rPr lang="en-GB" sz="1200" b="1" noProof="0" dirty="0">
                <a:solidFill>
                  <a:schemeClr val="bg1"/>
                </a:solidFill>
              </a:rPr>
              <a:t>ALGEBRAIC PROOF: DIGIT PROOFS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90FE7BB-0941-C7C4-B295-6178C4F968BD}"/>
                  </a:ext>
                </a:extLst>
              </p:cNvPr>
              <p:cNvSpPr txBox="1"/>
              <p:nvPr/>
            </p:nvSpPr>
            <p:spPr>
              <a:xfrm>
                <a:off x="118320" y="276999"/>
                <a:ext cx="6638985" cy="2308324"/>
              </a:xfrm>
              <a:prstGeom prst="rect">
                <a:avLst/>
              </a:prstGeom>
              <a:noFill/>
              <a:ln>
                <a:solidFill>
                  <a:schemeClr val="tx1"/>
                </a:solidFill>
              </a:ln>
            </p:spPr>
            <p:txBody>
              <a:bodyPr wrap="square" rtlCol="0">
                <a:spAutoFit/>
              </a:bodyPr>
              <a:lstStyle/>
              <a:p>
                <a:r>
                  <a:rPr lang="en-GB" sz="1200" dirty="0"/>
                  <a:t>Digit proofs work by using place value to prove certain conclusions about numbers. The first thing we will do is practise writing numbers algebraically using place value.</a:t>
                </a:r>
              </a:p>
              <a:p>
                <a:endParaRPr lang="en-US" sz="1200" dirty="0"/>
              </a:p>
              <a:p>
                <a:r>
                  <a:rPr lang="en-GB" sz="1200" b="1" u="sng" dirty="0"/>
                  <a:t>Example:</a:t>
                </a:r>
                <a:r>
                  <a:rPr lang="en-GB" sz="1200" dirty="0"/>
                  <a:t> </a:t>
                </a:r>
                <a14:m>
                  <m:oMath xmlns:m="http://schemas.openxmlformats.org/officeDocument/2006/math">
                    <m:r>
                      <a:rPr lang="en-GB" sz="1200" i="1">
                        <a:latin typeface="Cambria Math" panose="02040503050406030204" pitchFamily="18" charset="0"/>
                      </a:rPr>
                      <m:t>𝑎𝑏𝑐𝑑</m:t>
                    </m:r>
                  </m:oMath>
                </a14:m>
                <a:r>
                  <a:rPr lang="en-GB" sz="1200" dirty="0"/>
                  <a:t> is a four-digit number, write down the value of </a:t>
                </a:r>
                <a14:m>
                  <m:oMath xmlns:m="http://schemas.openxmlformats.org/officeDocument/2006/math">
                    <m:r>
                      <a:rPr lang="en-GB" sz="1200" i="1">
                        <a:latin typeface="Cambria Math" panose="02040503050406030204" pitchFamily="18" charset="0"/>
                      </a:rPr>
                      <m:t>𝑎𝑏𝑐𝑑</m:t>
                    </m:r>
                  </m:oMath>
                </a14:m>
                <a:r>
                  <a:rPr lang="en-GB" sz="1200" dirty="0"/>
                  <a:t> using place value.</a:t>
                </a:r>
                <a:endParaRPr lang="en-US" sz="1200" dirty="0"/>
              </a:p>
              <a:p>
                <a:r>
                  <a:rPr lang="en-GB" sz="1200" b="1" dirty="0"/>
                  <a:t> </a:t>
                </a:r>
                <a:endParaRPr lang="en-US" sz="1200" dirty="0"/>
              </a:p>
              <a:p>
                <a:r>
                  <a:rPr lang="en-GB" sz="1200" b="1" dirty="0"/>
                  <a:t> </a:t>
                </a:r>
                <a:endParaRPr lang="en-US" sz="1200" dirty="0"/>
              </a:p>
              <a:p>
                <a:r>
                  <a:rPr lang="en-GB" sz="1200" b="1" dirty="0"/>
                  <a:t> </a:t>
                </a:r>
                <a:endParaRPr lang="en-US" sz="1200" dirty="0"/>
              </a:p>
              <a:p>
                <a:r>
                  <a:rPr lang="en-GB" sz="1200" b="1" u="sng" dirty="0"/>
                  <a:t>Your Turn:</a:t>
                </a:r>
                <a14:m>
                  <m:oMath xmlns:m="http://schemas.openxmlformats.org/officeDocument/2006/math">
                    <m:r>
                      <a:rPr lang="en-GB" sz="1200" b="1" i="0" smtClean="0">
                        <a:latin typeface="Cambria Math" panose="02040503050406030204" pitchFamily="18" charset="0"/>
                      </a:rPr>
                      <m:t>  </m:t>
                    </m:r>
                    <m:r>
                      <a:rPr lang="en-GB" sz="1200" i="1">
                        <a:latin typeface="Cambria Math" panose="02040503050406030204" pitchFamily="18" charset="0"/>
                      </a:rPr>
                      <m:t>4</m:t>
                    </m:r>
                    <m:r>
                      <a:rPr lang="en-GB" sz="1200" i="1">
                        <a:latin typeface="Cambria Math" panose="02040503050406030204" pitchFamily="18" charset="0"/>
                      </a:rPr>
                      <m:t>𝑎</m:t>
                    </m:r>
                    <m:r>
                      <a:rPr lang="en-GB" sz="1200" i="1">
                        <a:latin typeface="Cambria Math" panose="02040503050406030204" pitchFamily="18" charset="0"/>
                      </a:rPr>
                      <m:t>1</m:t>
                    </m:r>
                    <m:r>
                      <a:rPr lang="en-GB" sz="1200" i="1">
                        <a:latin typeface="Cambria Math" panose="02040503050406030204" pitchFamily="18" charset="0"/>
                      </a:rPr>
                      <m:t>𝑥𝑦</m:t>
                    </m:r>
                  </m:oMath>
                </a14:m>
                <a:r>
                  <a:rPr lang="en-GB" sz="1200" dirty="0"/>
                  <a:t>, is a five-digit number, write down the value of </a:t>
                </a:r>
                <a14:m>
                  <m:oMath xmlns:m="http://schemas.openxmlformats.org/officeDocument/2006/math">
                    <m:r>
                      <a:rPr lang="en-GB" sz="1200" i="1">
                        <a:latin typeface="Cambria Math" panose="02040503050406030204" pitchFamily="18" charset="0"/>
                      </a:rPr>
                      <m:t>421</m:t>
                    </m:r>
                    <m:r>
                      <a:rPr lang="en-GB" sz="1200" i="1">
                        <a:latin typeface="Cambria Math" panose="02040503050406030204" pitchFamily="18" charset="0"/>
                      </a:rPr>
                      <m:t>𝑥𝑦</m:t>
                    </m:r>
                  </m:oMath>
                </a14:m>
                <a:r>
                  <a:rPr lang="en-GB" sz="1200" dirty="0"/>
                  <a:t> using place value</a:t>
                </a:r>
              </a:p>
              <a:p>
                <a:endParaRPr lang="en-GB" sz="1200" dirty="0"/>
              </a:p>
              <a:p>
                <a:endParaRPr lang="en-GB" sz="1200" dirty="0"/>
              </a:p>
              <a:p>
                <a:endParaRPr lang="en-US" sz="1200" dirty="0"/>
              </a:p>
              <a:p>
                <a:endParaRPr lang="en-US" sz="1200" dirty="0"/>
              </a:p>
            </p:txBody>
          </p:sp>
        </mc:Choice>
        <mc:Fallback xmlns="">
          <p:sp>
            <p:nvSpPr>
              <p:cNvPr id="4" name="TextBox 3">
                <a:extLst>
                  <a:ext uri="{FF2B5EF4-FFF2-40B4-BE49-F238E27FC236}">
                    <a16:creationId xmlns:a16="http://schemas.microsoft.com/office/drawing/2014/main" id="{490FE7BB-0941-C7C4-B295-6178C4F968BD}"/>
                  </a:ext>
                </a:extLst>
              </p:cNvPr>
              <p:cNvSpPr txBox="1">
                <a:spLocks noRot="1" noChangeAspect="1" noMove="1" noResize="1" noEditPoints="1" noAdjustHandles="1" noChangeArrowheads="1" noChangeShapeType="1" noTextEdit="1"/>
              </p:cNvSpPr>
              <p:nvPr/>
            </p:nvSpPr>
            <p:spPr>
              <a:xfrm>
                <a:off x="118320" y="276999"/>
                <a:ext cx="6638985" cy="2308324"/>
              </a:xfrm>
              <a:prstGeom prst="rect">
                <a:avLst/>
              </a:prstGeom>
              <a:blipFill>
                <a:blip r:embed="rId3"/>
                <a:stretch>
                  <a:fillRect/>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3901821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0E335-7C87-8978-98F0-A63B8AAAEC77}"/>
            </a:ext>
          </a:extLst>
        </p:cNvPr>
        <p:cNvGrpSpPr/>
        <p:nvPr/>
      </p:nvGrpSpPr>
      <p:grpSpPr>
        <a:xfrm>
          <a:off x="0" y="0"/>
          <a:ext cx="0" cy="0"/>
          <a:chOff x="0" y="0"/>
          <a:chExt cx="0" cy="0"/>
        </a:xfrm>
      </p:grpSpPr>
      <p:pic>
        <p:nvPicPr>
          <p:cNvPr id="12" name="Picture 11" descr="A white background with black text&#10;&#10;AI-generated content may be incorrect.">
            <a:extLst>
              <a:ext uri="{FF2B5EF4-FFF2-40B4-BE49-F238E27FC236}">
                <a16:creationId xmlns:a16="http://schemas.microsoft.com/office/drawing/2014/main" id="{B4F39B40-12FA-2078-E88D-83CE6A4D6B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218" y="6632493"/>
            <a:ext cx="6089963" cy="3168813"/>
          </a:xfrm>
          <a:prstGeom prst="rect">
            <a:avLst/>
          </a:prstGeom>
        </p:spPr>
      </p:pic>
      <p:sp>
        <p:nvSpPr>
          <p:cNvPr id="2" name="Slide Number Placeholder 1">
            <a:extLst>
              <a:ext uri="{FF2B5EF4-FFF2-40B4-BE49-F238E27FC236}">
                <a16:creationId xmlns:a16="http://schemas.microsoft.com/office/drawing/2014/main" id="{52CC5956-AC7A-2BBE-282F-432FF24B377C}"/>
              </a:ext>
            </a:extLst>
          </p:cNvPr>
          <p:cNvSpPr>
            <a:spLocks noGrp="1"/>
          </p:cNvSpPr>
          <p:nvPr>
            <p:ph type="sldNum" sz="quarter" idx="12"/>
          </p:nvPr>
        </p:nvSpPr>
        <p:spPr>
          <a:xfrm>
            <a:off x="5280336" y="9253018"/>
            <a:ext cx="1543050" cy="527403"/>
          </a:xfrm>
        </p:spPr>
        <p:txBody>
          <a:bodyPr/>
          <a:lstStyle/>
          <a:p>
            <a:fld id="{9BD3B4A0-BFF9-422C-B253-48BA94BE2F5B}" type="slidenum">
              <a:rPr lang="en-GB" noProof="0" smtClean="0"/>
              <a:t>11</a:t>
            </a:fld>
            <a:endParaRPr lang="en-GB" noProof="0" dirty="0"/>
          </a:p>
        </p:txBody>
      </p:sp>
      <p:sp>
        <p:nvSpPr>
          <p:cNvPr id="3" name="TextBox 2">
            <a:extLst>
              <a:ext uri="{FF2B5EF4-FFF2-40B4-BE49-F238E27FC236}">
                <a16:creationId xmlns:a16="http://schemas.microsoft.com/office/drawing/2014/main" id="{D959BAE1-7E0E-90A6-D093-9C947C1014F7}"/>
              </a:ext>
            </a:extLst>
          </p:cNvPr>
          <p:cNvSpPr txBox="1"/>
          <p:nvPr/>
        </p:nvSpPr>
        <p:spPr>
          <a:xfrm>
            <a:off x="0" y="-25400"/>
            <a:ext cx="1294200" cy="276999"/>
          </a:xfrm>
          <a:prstGeom prst="rect">
            <a:avLst/>
          </a:prstGeom>
          <a:solidFill>
            <a:srgbClr val="0070C0"/>
          </a:solidFill>
        </p:spPr>
        <p:txBody>
          <a:bodyPr wrap="none" rtlCol="0" anchor="ctr">
            <a:spAutoFit/>
          </a:bodyPr>
          <a:lstStyle/>
          <a:p>
            <a:pPr algn="r"/>
            <a:r>
              <a:rPr lang="en-GB" sz="1200" b="1" noProof="0" dirty="0">
                <a:solidFill>
                  <a:schemeClr val="bg1"/>
                </a:solidFill>
              </a:rPr>
              <a:t>GCSE QUESTIONS</a:t>
            </a:r>
          </a:p>
        </p:txBody>
      </p:sp>
      <p:pic>
        <p:nvPicPr>
          <p:cNvPr id="5" name="Picture 4" descr="A white background with black text&#10;&#10;AI-generated content may be incorrect.">
            <a:extLst>
              <a:ext uri="{FF2B5EF4-FFF2-40B4-BE49-F238E27FC236}">
                <a16:creationId xmlns:a16="http://schemas.microsoft.com/office/drawing/2014/main" id="{792E07F7-8A0C-2864-2B8B-569A398184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51599"/>
            <a:ext cx="6051861" cy="3041806"/>
          </a:xfrm>
          <a:prstGeom prst="rect">
            <a:avLst/>
          </a:prstGeom>
        </p:spPr>
      </p:pic>
      <p:cxnSp>
        <p:nvCxnSpPr>
          <p:cNvPr id="7" name="Straight Connector 6">
            <a:extLst>
              <a:ext uri="{FF2B5EF4-FFF2-40B4-BE49-F238E27FC236}">
                <a16:creationId xmlns:a16="http://schemas.microsoft.com/office/drawing/2014/main" id="{F2D47F10-AD9B-C9B1-5B11-7389191E004F}"/>
              </a:ext>
            </a:extLst>
          </p:cNvPr>
          <p:cNvCxnSpPr/>
          <p:nvPr/>
        </p:nvCxnSpPr>
        <p:spPr>
          <a:xfrm>
            <a:off x="0" y="3344205"/>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screenshot of a math test&#10;&#10;AI-generated content may be incorrect.">
            <a:extLst>
              <a:ext uri="{FF2B5EF4-FFF2-40B4-BE49-F238E27FC236}">
                <a16:creationId xmlns:a16="http://schemas.microsoft.com/office/drawing/2014/main" id="{3962587B-A599-745B-E549-9B81F5A354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051" y="3395006"/>
            <a:ext cx="6032810" cy="3060857"/>
          </a:xfrm>
          <a:prstGeom prst="rect">
            <a:avLst/>
          </a:prstGeom>
        </p:spPr>
      </p:pic>
      <p:cxnSp>
        <p:nvCxnSpPr>
          <p:cNvPr id="10" name="Straight Connector 9">
            <a:extLst>
              <a:ext uri="{FF2B5EF4-FFF2-40B4-BE49-F238E27FC236}">
                <a16:creationId xmlns:a16="http://schemas.microsoft.com/office/drawing/2014/main" id="{7DB2A34A-22A6-D445-FD04-0776C5E49F4A}"/>
              </a:ext>
            </a:extLst>
          </p:cNvPr>
          <p:cNvCxnSpPr/>
          <p:nvPr/>
        </p:nvCxnSpPr>
        <p:spPr>
          <a:xfrm>
            <a:off x="0" y="6455863"/>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6927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FDF31E-7356-B57A-2133-A3C5E7D16754}"/>
              </a:ext>
            </a:extLst>
          </p:cNvPr>
          <p:cNvSpPr>
            <a:spLocks noGrp="1"/>
          </p:cNvSpPr>
          <p:nvPr>
            <p:ph type="sldNum" sz="quarter" idx="12"/>
          </p:nvPr>
        </p:nvSpPr>
        <p:spPr/>
        <p:txBody>
          <a:bodyPr/>
          <a:lstStyle/>
          <a:p>
            <a:fld id="{9BD3B4A0-BFF9-422C-B253-48BA94BE2F5B}" type="slidenum">
              <a:rPr lang="en-GB" smtClean="0"/>
              <a:t>12</a:t>
            </a:fld>
            <a:endParaRPr lang="en-GB"/>
          </a:p>
        </p:txBody>
      </p:sp>
      <p:pic>
        <p:nvPicPr>
          <p:cNvPr id="4" name="Picture 3" descr="A white paper with black text&#10;&#10;AI-generated content may be incorrect.">
            <a:extLst>
              <a:ext uri="{FF2B5EF4-FFF2-40B4-BE49-F238E27FC236}">
                <a16:creationId xmlns:a16="http://schemas.microsoft.com/office/drawing/2014/main" id="{4D04800D-3B37-6CAF-A941-2A296DDEA8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134100" cy="4917420"/>
          </a:xfrm>
          <a:prstGeom prst="rect">
            <a:avLst/>
          </a:prstGeom>
        </p:spPr>
      </p:pic>
      <p:cxnSp>
        <p:nvCxnSpPr>
          <p:cNvPr id="5" name="Straight Connector 4">
            <a:extLst>
              <a:ext uri="{FF2B5EF4-FFF2-40B4-BE49-F238E27FC236}">
                <a16:creationId xmlns:a16="http://schemas.microsoft.com/office/drawing/2014/main" id="{9AFC289D-49E6-C4DB-EAEF-29E6349EC757}"/>
              </a:ext>
            </a:extLst>
          </p:cNvPr>
          <p:cNvCxnSpPr/>
          <p:nvPr/>
        </p:nvCxnSpPr>
        <p:spPr>
          <a:xfrm>
            <a:off x="0" y="4953000"/>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6" descr="A white background with black text&#10;&#10;AI-generated content may be incorrect.">
            <a:extLst>
              <a:ext uri="{FF2B5EF4-FFF2-40B4-BE49-F238E27FC236}">
                <a16:creationId xmlns:a16="http://schemas.microsoft.com/office/drawing/2014/main" id="{89BD90DC-B460-8030-6C6F-8D65DB99A9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18" y="5105400"/>
            <a:ext cx="6292291" cy="3975099"/>
          </a:xfrm>
          <a:prstGeom prst="rect">
            <a:avLst/>
          </a:prstGeom>
        </p:spPr>
      </p:pic>
    </p:spTree>
    <p:extLst>
      <p:ext uri="{BB962C8B-B14F-4D97-AF65-F5344CB8AC3E}">
        <p14:creationId xmlns:p14="http://schemas.microsoft.com/office/powerpoint/2010/main" val="11808885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AB6388F5B3DD48A4F5524A84895604" ma:contentTypeVersion="14" ma:contentTypeDescription="Create a new document." ma:contentTypeScope="" ma:versionID="d122bacdc6e0e52b1daab86e5e474f38">
  <xsd:schema xmlns:xsd="http://www.w3.org/2001/XMLSchema" xmlns:xs="http://www.w3.org/2001/XMLSchema" xmlns:p="http://schemas.microsoft.com/office/2006/metadata/properties" xmlns:ns2="e30b71df-48f4-4db7-95c3-a9033c265cb9" xmlns:ns3="608ebbb4-e88b-4c99-b506-21d9362781c6" targetNamespace="http://schemas.microsoft.com/office/2006/metadata/properties" ma:root="true" ma:fieldsID="c50e756327527929f9f40a94500ed9ef" ns2:_="" ns3:_="">
    <xsd:import namespace="e30b71df-48f4-4db7-95c3-a9033c265cb9"/>
    <xsd:import namespace="608ebbb4-e88b-4c99-b506-21d9362781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0b71df-48f4-4db7-95c3-a9033c265c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8ebbb4-e88b-4c99-b506-21d9362781c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8993FAD-BC98-4BC4-9AAA-9B0B2AFC55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0b71df-48f4-4db7-95c3-a9033c265cb9"/>
    <ds:schemaRef ds:uri="608ebbb4-e88b-4c99-b506-21d9362781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053D74A-5336-454B-8D4D-7A76286864F0}">
  <ds:schemaRefs>
    <ds:schemaRef ds:uri="http://schemas.microsoft.com/sharepoint/v3/contenttype/forms"/>
  </ds:schemaRefs>
</ds:datastoreItem>
</file>

<file path=customXml/itemProps3.xml><?xml version="1.0" encoding="utf-8"?>
<ds:datastoreItem xmlns:ds="http://schemas.openxmlformats.org/officeDocument/2006/customXml" ds:itemID="{00F551DF-02B3-45E2-A83E-993D28DAF02D}">
  <ds:schemaRefs>
    <ds:schemaRef ds:uri="608ebbb4-e88b-4c99-b506-21d9362781c6"/>
    <ds:schemaRef ds:uri="e30b71df-48f4-4db7-95c3-a9033c265cb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1991</Words>
  <Application>Microsoft Office PowerPoint</Application>
  <PresentationFormat>A4 Paper (210x297 mm)</PresentationFormat>
  <Paragraphs>245</Paragraphs>
  <Slides>12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Marcus Lindley (Staff, Astrea Academy Sheffield)</dc:creator>
  <cp:lastModifiedBy>Adam Brown (Astrea Central)</cp:lastModifiedBy>
  <cp:revision>10</cp:revision>
  <cp:lastPrinted>2023-02-02T08:32:36Z</cp:lastPrinted>
  <dcterms:created xsi:type="dcterms:W3CDTF">2022-06-06T15:50:05Z</dcterms:created>
  <dcterms:modified xsi:type="dcterms:W3CDTF">2025-08-06T14:29:49Z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0x010100CAAB6388F5B3DD48A4F5524A84895604</vt:lpwstr>
  </property>
</Properties>
</file>