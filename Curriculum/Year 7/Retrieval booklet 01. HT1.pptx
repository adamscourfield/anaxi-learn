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sldIdLst>
    <p:sldId id="406" r:id="rId5"/>
    <p:sldId id="407" r:id="rId6"/>
    <p:sldId id="470" r:id="rId7"/>
    <p:sldId id="471" r:id="rId8"/>
    <p:sldId id="468" r:id="rId9"/>
    <p:sldId id="472" r:id="rId10"/>
    <p:sldId id="473" r:id="rId11"/>
    <p:sldId id="476" r:id="rId12"/>
    <p:sldId id="480" r:id="rId13"/>
    <p:sldId id="481" r:id="rId14"/>
    <p:sldId id="482" r:id="rId15"/>
    <p:sldId id="507" r:id="rId16"/>
    <p:sldId id="477" r:id="rId17"/>
    <p:sldId id="483" r:id="rId18"/>
    <p:sldId id="484" r:id="rId19"/>
    <p:sldId id="485" r:id="rId20"/>
    <p:sldId id="486" r:id="rId21"/>
    <p:sldId id="487" r:id="rId22"/>
    <p:sldId id="488" r:id="rId23"/>
    <p:sldId id="474" r:id="rId24"/>
    <p:sldId id="475" r:id="rId25"/>
    <p:sldId id="478" r:id="rId26"/>
    <p:sldId id="490" r:id="rId27"/>
    <p:sldId id="492" r:id="rId28"/>
    <p:sldId id="493" r:id="rId29"/>
    <p:sldId id="495" r:id="rId30"/>
    <p:sldId id="497" r:id="rId31"/>
    <p:sldId id="498" r:id="rId32"/>
    <p:sldId id="500" r:id="rId33"/>
    <p:sldId id="501" r:id="rId34"/>
    <p:sldId id="479" r:id="rId35"/>
    <p:sldId id="489" r:id="rId36"/>
    <p:sldId id="491" r:id="rId37"/>
    <p:sldId id="494" r:id="rId38"/>
    <p:sldId id="496" r:id="rId39"/>
    <p:sldId id="499" r:id="rId40"/>
    <p:sldId id="502" r:id="rId41"/>
    <p:sldId id="503" r:id="rId42"/>
    <p:sldId id="504" r:id="rId43"/>
    <p:sldId id="505" r:id="rId44"/>
    <p:sldId id="506" r:id="rId4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7B4E94-E5C1-41C2-B7F2-74CD258D6721}">
          <p14:sldIdLst>
            <p14:sldId id="406"/>
            <p14:sldId id="407"/>
            <p14:sldId id="470"/>
            <p14:sldId id="471"/>
            <p14:sldId id="468"/>
            <p14:sldId id="472"/>
            <p14:sldId id="473"/>
            <p14:sldId id="476"/>
            <p14:sldId id="480"/>
            <p14:sldId id="481"/>
            <p14:sldId id="482"/>
            <p14:sldId id="507"/>
            <p14:sldId id="477"/>
            <p14:sldId id="483"/>
            <p14:sldId id="484"/>
            <p14:sldId id="485"/>
            <p14:sldId id="486"/>
            <p14:sldId id="487"/>
            <p14:sldId id="488"/>
            <p14:sldId id="474"/>
            <p14:sldId id="475"/>
            <p14:sldId id="478"/>
            <p14:sldId id="490"/>
            <p14:sldId id="492"/>
            <p14:sldId id="493"/>
            <p14:sldId id="495"/>
            <p14:sldId id="497"/>
            <p14:sldId id="498"/>
            <p14:sldId id="500"/>
            <p14:sldId id="501"/>
            <p14:sldId id="479"/>
            <p14:sldId id="489"/>
            <p14:sldId id="491"/>
            <p14:sldId id="494"/>
            <p14:sldId id="496"/>
            <p14:sldId id="499"/>
            <p14:sldId id="502"/>
            <p14:sldId id="503"/>
            <p14:sldId id="504"/>
            <p14:sldId id="505"/>
            <p14:sldId id="5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becca Sanders (Astrea Central)" initials="RS(C" lastIdx="1" clrIdx="0">
    <p:extLst>
      <p:ext uri="{19B8F6BF-5375-455C-9EA6-DF929625EA0E}">
        <p15:presenceInfo xmlns:p15="http://schemas.microsoft.com/office/powerpoint/2012/main" userId="S::Rebecca.Sanders@astreaacademytrust.org::e7f5d1b8-ecd1-4a1b-953d-aab670bc35b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275E14-78DB-4866-9DFC-EE1DC0CEB271}" v="8" dt="2025-07-07T08:06:19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becca Sanders (Astrea Central)" userId="e7f5d1b8-ecd1-4a1b-953d-aab670bc35bf" providerId="ADAL" clId="{F7D53C68-E5AF-454C-87A3-C6B66344AC4E}"/>
    <pc:docChg chg="undo redo custSel addSld delSld modSld sldOrd">
      <pc:chgData name="Rebecca Sanders (Astrea Central)" userId="e7f5d1b8-ecd1-4a1b-953d-aab670bc35bf" providerId="ADAL" clId="{F7D53C68-E5AF-454C-87A3-C6B66344AC4E}" dt="2023-06-22T21:23:30.913" v="21543" actId="20577"/>
      <pc:docMkLst>
        <pc:docMk/>
      </pc:docMkLst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230560047" sldId="25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720322259" sldId="25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503571942" sldId="25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926829902" sldId="26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301760843" sldId="26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155157670" sldId="26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800170121" sldId="26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356633090" sldId="26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91665448" sldId="26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263858093" sldId="26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757191438" sldId="26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155686049" sldId="26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191684967" sldId="26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536629095" sldId="29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310205680" sldId="29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97450691" sldId="29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821420675" sldId="29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591512980" sldId="30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344275280" sldId="30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739496363" sldId="34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933885708" sldId="34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0639600" sldId="35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36978347" sldId="35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968139383" sldId="35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742575569" sldId="35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851027349" sldId="36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823519521" sldId="36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793032377" sldId="36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779248792" sldId="36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142362818" sldId="36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614510487" sldId="36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929686973" sldId="36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287716117" sldId="36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961581471" sldId="38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999421770" sldId="38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262149701" sldId="38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061225010" sldId="38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531124522" sldId="38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551501317" sldId="38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238692410" sldId="39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560140445" sldId="39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72734609" sldId="39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91277546" sldId="39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225960241" sldId="39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748634062" sldId="39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856398125" sldId="39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334528086" sldId="39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700706660" sldId="39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772403439" sldId="39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063338402" sldId="40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87438998" sldId="40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071074911" sldId="40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738781452" sldId="403"/>
        </pc:sldMkLst>
      </pc:sldChg>
      <pc:sldChg chg="addSp delSp modSp mod">
        <pc:chgData name="Rebecca Sanders (Astrea Central)" userId="e7f5d1b8-ecd1-4a1b-953d-aab670bc35bf" providerId="ADAL" clId="{F7D53C68-E5AF-454C-87A3-C6B66344AC4E}" dt="2023-06-21T20:01:58.576" v="21464" actId="20577"/>
        <pc:sldMkLst>
          <pc:docMk/>
          <pc:sldMk cId="4004321539" sldId="406"/>
        </pc:sldMkLst>
      </pc:sldChg>
      <pc:sldChg chg="addSp delSp modSp new mod">
        <pc:chgData name="Rebecca Sanders (Astrea Central)" userId="e7f5d1b8-ecd1-4a1b-953d-aab670bc35bf" providerId="ADAL" clId="{F7D53C68-E5AF-454C-87A3-C6B66344AC4E}" dt="2023-06-15T20:26:11.967" v="1979" actId="1076"/>
        <pc:sldMkLst>
          <pc:docMk/>
          <pc:sldMk cId="721893776" sldId="40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069538439" sldId="408"/>
        </pc:sldMkLst>
      </pc:sldChg>
      <pc:sldChg chg="new del">
        <pc:chgData name="Rebecca Sanders (Astrea Central)" userId="e7f5d1b8-ecd1-4a1b-953d-aab670bc35bf" providerId="ADAL" clId="{F7D53C68-E5AF-454C-87A3-C6B66344AC4E}" dt="2023-06-15T15:00:00.345" v="45" actId="47"/>
        <pc:sldMkLst>
          <pc:docMk/>
          <pc:sldMk cId="1124409509" sldId="40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15917946" sldId="40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410815866" sldId="41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756147582" sldId="41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201927741" sldId="41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536208041" sldId="41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991733317" sldId="41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577156873" sldId="41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597543501" sldId="41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906909666" sldId="41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359038672" sldId="41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990791337" sldId="42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279172686" sldId="42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59857889" sldId="42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593616272" sldId="42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376956269" sldId="42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519274271" sldId="42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987029608" sldId="42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953835554" sldId="42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214999142" sldId="42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506233325" sldId="43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426987430" sldId="43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038426764" sldId="43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547348597" sldId="43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999719960" sldId="43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614654516" sldId="43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288967218" sldId="43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669183901" sldId="43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680325740" sldId="43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985158830" sldId="44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687753759" sldId="44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200894185" sldId="44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241262401" sldId="44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837352126" sldId="44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184725572" sldId="44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178161634" sldId="44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817919084" sldId="44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447606412" sldId="44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17239704" sldId="44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065060286" sldId="45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595138769" sldId="45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501385600" sldId="45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355453791" sldId="45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221927218" sldId="45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092506376" sldId="45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153483078" sldId="45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998807876" sldId="45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110695722" sldId="459"/>
        </pc:sldMkLst>
      </pc:sldChg>
      <pc:sldChg chg="addSp delSp modSp add mod">
        <pc:chgData name="Rebecca Sanders (Astrea Central)" userId="e7f5d1b8-ecd1-4a1b-953d-aab670bc35bf" providerId="ADAL" clId="{F7D53C68-E5AF-454C-87A3-C6B66344AC4E}" dt="2023-06-15T20:23:45.654" v="1971" actId="1076"/>
        <pc:sldMkLst>
          <pc:docMk/>
          <pc:sldMk cId="1138909574" sldId="468"/>
        </pc:sldMkLst>
      </pc:sldChg>
      <pc:sldChg chg="addSp delSp modSp add mod">
        <pc:chgData name="Rebecca Sanders (Astrea Central)" userId="e7f5d1b8-ecd1-4a1b-953d-aab670bc35bf" providerId="ADAL" clId="{F7D53C68-E5AF-454C-87A3-C6B66344AC4E}" dt="2023-06-15T20:20:06.352" v="1940" actId="1076"/>
        <pc:sldMkLst>
          <pc:docMk/>
          <pc:sldMk cId="2960135777" sldId="47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036912036" sldId="47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72251764" sldId="471"/>
        </pc:sldMkLst>
      </pc:sldChg>
      <pc:sldChg chg="addSp delSp modSp add mod">
        <pc:chgData name="Rebecca Sanders (Astrea Central)" userId="e7f5d1b8-ecd1-4a1b-953d-aab670bc35bf" providerId="ADAL" clId="{F7D53C68-E5AF-454C-87A3-C6B66344AC4E}" dt="2023-06-15T20:21:45.886" v="1956" actId="1076"/>
        <pc:sldMkLst>
          <pc:docMk/>
          <pc:sldMk cId="2169903179" sldId="471"/>
        </pc:sldMkLst>
      </pc:sldChg>
      <pc:sldChg chg="addSp delSp modSp new mod">
        <pc:chgData name="Rebecca Sanders (Astrea Central)" userId="e7f5d1b8-ecd1-4a1b-953d-aab670bc35bf" providerId="ADAL" clId="{F7D53C68-E5AF-454C-87A3-C6B66344AC4E}" dt="2023-06-22T21:23:30.913" v="21543" actId="20577"/>
        <pc:sldMkLst>
          <pc:docMk/>
          <pc:sldMk cId="1622092957" sldId="47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264394566" sldId="472"/>
        </pc:sldMkLst>
      </pc:sldChg>
      <pc:sldChg chg="modSp add mod">
        <pc:chgData name="Rebecca Sanders (Astrea Central)" userId="e7f5d1b8-ecd1-4a1b-953d-aab670bc35bf" providerId="ADAL" clId="{F7D53C68-E5AF-454C-87A3-C6B66344AC4E}" dt="2023-06-21T20:03:29.371" v="21465" actId="6549"/>
        <pc:sldMkLst>
          <pc:docMk/>
          <pc:sldMk cId="3194221593" sldId="47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686083476" sldId="473"/>
        </pc:sldMkLst>
      </pc:sldChg>
      <pc:sldChg chg="add del">
        <pc:chgData name="Rebecca Sanders (Astrea Central)" userId="e7f5d1b8-ecd1-4a1b-953d-aab670bc35bf" providerId="ADAL" clId="{F7D53C68-E5AF-454C-87A3-C6B66344AC4E}" dt="2023-06-15T15:10:23.702" v="75" actId="47"/>
        <pc:sldMkLst>
          <pc:docMk/>
          <pc:sldMk cId="4136163092" sldId="473"/>
        </pc:sldMkLst>
      </pc:sldChg>
      <pc:sldChg chg="addSp delSp modSp add mod ord">
        <pc:chgData name="Rebecca Sanders (Astrea Central)" userId="e7f5d1b8-ecd1-4a1b-953d-aab670bc35bf" providerId="ADAL" clId="{F7D53C68-E5AF-454C-87A3-C6B66344AC4E}" dt="2023-06-21T12:48:45.225" v="15358" actId="20577"/>
        <pc:sldMkLst>
          <pc:docMk/>
          <pc:sldMk cId="2862913629" sldId="47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767319159" sldId="475"/>
        </pc:sldMkLst>
      </pc:sldChg>
      <pc:sldChg chg="modSp add mod ord">
        <pc:chgData name="Rebecca Sanders (Astrea Central)" userId="e7f5d1b8-ecd1-4a1b-953d-aab670bc35bf" providerId="ADAL" clId="{F7D53C68-E5AF-454C-87A3-C6B66344AC4E}" dt="2023-06-21T20:03:38.637" v="21466" actId="6549"/>
        <pc:sldMkLst>
          <pc:docMk/>
          <pc:sldMk cId="1339840880" sldId="475"/>
        </pc:sldMkLst>
      </pc:sldChg>
      <pc:sldChg chg="addSp delSp modSp new mod">
        <pc:chgData name="Rebecca Sanders (Astrea Central)" userId="e7f5d1b8-ecd1-4a1b-953d-aab670bc35bf" providerId="ADAL" clId="{F7D53C68-E5AF-454C-87A3-C6B66344AC4E}" dt="2023-06-21T12:48:17.824" v="15336" actId="20577"/>
        <pc:sldMkLst>
          <pc:docMk/>
          <pc:sldMk cId="782580183" sldId="47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993571355" sldId="476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8:27.863" v="15344" actId="20577"/>
        <pc:sldMkLst>
          <pc:docMk/>
          <pc:sldMk cId="2417692346" sldId="47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999122475" sldId="47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37617266" sldId="478"/>
        </pc:sldMkLst>
      </pc:sldChg>
      <pc:sldChg chg="addSp delSp modSp new mod">
        <pc:chgData name="Rebecca Sanders (Astrea Central)" userId="e7f5d1b8-ecd1-4a1b-953d-aab670bc35bf" providerId="ADAL" clId="{F7D53C68-E5AF-454C-87A3-C6B66344AC4E}" dt="2023-06-21T21:49:02.941" v="21534" actId="1036"/>
        <pc:sldMkLst>
          <pc:docMk/>
          <pc:sldMk cId="3645784305" sldId="478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9:04.009" v="15372" actId="20577"/>
        <pc:sldMkLst>
          <pc:docMk/>
          <pc:sldMk cId="141128610" sldId="47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689631677" sldId="47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630676088" sldId="480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8:20.106" v="15338" actId="20577"/>
        <pc:sldMkLst>
          <pc:docMk/>
          <pc:sldMk cId="1220952253" sldId="48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310261656" sldId="481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8:22.142" v="15340" actId="20577"/>
        <pc:sldMkLst>
          <pc:docMk/>
          <pc:sldMk cId="2039366649" sldId="481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8:24.583" v="15342" actId="20577"/>
        <pc:sldMkLst>
          <pc:docMk/>
          <pc:sldMk cId="314275256" sldId="48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269173305" sldId="482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8:29.855" v="15346" actId="20577"/>
        <pc:sldMkLst>
          <pc:docMk/>
          <pc:sldMk cId="1406582617" sldId="483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8:32.520" v="15348" actId="20577"/>
        <pc:sldMkLst>
          <pc:docMk/>
          <pc:sldMk cId="708245762" sldId="484"/>
        </pc:sldMkLst>
      </pc:sldChg>
      <pc:sldChg chg="add del">
        <pc:chgData name="Rebecca Sanders (Astrea Central)" userId="e7f5d1b8-ecd1-4a1b-953d-aab670bc35bf" providerId="ADAL" clId="{F7D53C68-E5AF-454C-87A3-C6B66344AC4E}" dt="2023-06-19T21:18:10.262" v="6820" actId="47"/>
        <pc:sldMkLst>
          <pc:docMk/>
          <pc:sldMk cId="2463384367" sldId="484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21:19:22.666" v="21490" actId="20577"/>
        <pc:sldMkLst>
          <pc:docMk/>
          <pc:sldMk cId="2798197141" sldId="485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21:20:03.464" v="21517" actId="20577"/>
        <pc:sldMkLst>
          <pc:docMk/>
          <pc:sldMk cId="75785641" sldId="486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8:39.696" v="15354" actId="20577"/>
        <pc:sldMkLst>
          <pc:docMk/>
          <pc:sldMk cId="3714576648" sldId="487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8:42.352" v="15356" actId="20577"/>
        <pc:sldMkLst>
          <pc:docMk/>
          <pc:sldMk cId="4125566929" sldId="488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9:50:40.608" v="21108" actId="1076"/>
        <pc:sldMkLst>
          <pc:docMk/>
          <pc:sldMk cId="662375845" sldId="489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8:54.769" v="15364" actId="20577"/>
        <pc:sldMkLst>
          <pc:docMk/>
          <pc:sldMk cId="1554072247" sldId="490"/>
        </pc:sldMkLst>
      </pc:sldChg>
      <pc:sldChg chg="addSp delSp modSp add mod">
        <pc:chgData name="Rebecca Sanders (Astrea Central)" userId="e7f5d1b8-ecd1-4a1b-953d-aab670bc35bf" providerId="ADAL" clId="{F7D53C68-E5AF-454C-87A3-C6B66344AC4E}" dt="2023-06-22T13:22:30.573" v="21535" actId="20577"/>
        <pc:sldMkLst>
          <pc:docMk/>
          <pc:sldMk cId="40347696" sldId="49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434988232" sldId="49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751636148" sldId="492"/>
        </pc:sldMkLst>
      </pc:sldChg>
      <pc:sldChg chg="addSp delSp modSp add mod ord">
        <pc:chgData name="Rebecca Sanders (Astrea Central)" userId="e7f5d1b8-ecd1-4a1b-953d-aab670bc35bf" providerId="ADAL" clId="{F7D53C68-E5AF-454C-87A3-C6B66344AC4E}" dt="2023-06-21T12:48:57.073" v="15366" actId="20577"/>
        <pc:sldMkLst>
          <pc:docMk/>
          <pc:sldMk cId="2238107368" sldId="492"/>
        </pc:sldMkLst>
      </pc:sldChg>
      <pc:sldChg chg="addSp delSp modSp add mod ord">
        <pc:chgData name="Rebecca Sanders (Astrea Central)" userId="e7f5d1b8-ecd1-4a1b-953d-aab670bc35bf" providerId="ADAL" clId="{F7D53C68-E5AF-454C-87A3-C6B66344AC4E}" dt="2023-06-21T12:48:59.400" v="15368" actId="20577"/>
        <pc:sldMkLst>
          <pc:docMk/>
          <pc:sldMk cId="2857439696" sldId="49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977971340" sldId="49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853723385" sldId="494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9:11.648" v="15378" actId="20577"/>
        <pc:sldMkLst>
          <pc:docMk/>
          <pc:sldMk cId="4169017499" sldId="49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881376036" sldId="495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2:49:01.480" v="15370" actId="20577"/>
        <pc:sldMkLst>
          <pc:docMk/>
          <pc:sldMk cId="3497792515" sldId="49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370646440" sldId="496"/>
        </pc:sldMkLst>
      </pc:sldChg>
      <pc:sldChg chg="addSp delSp modSp add mod">
        <pc:chgData name="Rebecca Sanders (Astrea Central)" userId="e7f5d1b8-ecd1-4a1b-953d-aab670bc35bf" providerId="ADAL" clId="{F7D53C68-E5AF-454C-87A3-C6B66344AC4E}" dt="2023-06-22T15:15:49.324" v="21539"/>
        <pc:sldMkLst>
          <pc:docMk/>
          <pc:sldMk cId="2784386550" sldId="49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264013423" sldId="497"/>
        </pc:sldMkLst>
      </pc:sldChg>
      <pc:sldChg chg="addSp delSp modSp add mod ord">
        <pc:chgData name="Rebecca Sanders (Astrea Central)" userId="e7f5d1b8-ecd1-4a1b-953d-aab670bc35bf" providerId="ADAL" clId="{F7D53C68-E5AF-454C-87A3-C6B66344AC4E}" dt="2023-06-21T15:07:35.224" v="18484" actId="478"/>
        <pc:sldMkLst>
          <pc:docMk/>
          <pc:sldMk cId="1319124231" sldId="49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239177197" sldId="498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5:07:39.728" v="18492" actId="478"/>
        <pc:sldMkLst>
          <pc:docMk/>
          <pc:sldMk cId="2441465623" sldId="498"/>
        </pc:sldMkLst>
      </pc:sldChg>
      <pc:sldChg chg="new del">
        <pc:chgData name="Rebecca Sanders (Astrea Central)" userId="e7f5d1b8-ecd1-4a1b-953d-aab670bc35bf" providerId="ADAL" clId="{F7D53C68-E5AF-454C-87A3-C6B66344AC4E}" dt="2023-06-21T13:38:29.001" v="16929" actId="680"/>
        <pc:sldMkLst>
          <pc:docMk/>
          <pc:sldMk cId="3443299507" sldId="49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578315577" sldId="499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20:04:00.027" v="21468" actId="478"/>
        <pc:sldMkLst>
          <pc:docMk/>
          <pc:sldMk cId="3609012783" sldId="499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9:17:24.939" v="20635" actId="20577"/>
        <pc:sldMkLst>
          <pc:docMk/>
          <pc:sldMk cId="362208863" sldId="50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191817049" sldId="500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9:28:49.016" v="20777" actId="113"/>
        <pc:sldMkLst>
          <pc:docMk/>
          <pc:sldMk cId="1913126479" sldId="50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990212296" sldId="501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20:04:11.284" v="21471" actId="478"/>
        <pc:sldMkLst>
          <pc:docMk/>
          <pc:sldMk cId="836729500" sldId="50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277004947" sldId="50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527384048" sldId="503"/>
        </pc:sldMkLst>
      </pc:sldChg>
      <pc:sldChg chg="addSp delSp modSp add mod">
        <pc:chgData name="Rebecca Sanders (Astrea Central)" userId="e7f5d1b8-ecd1-4a1b-953d-aab670bc35bf" providerId="ADAL" clId="{F7D53C68-E5AF-454C-87A3-C6B66344AC4E}" dt="2023-06-22T13:50:00.851" v="21536"/>
        <pc:sldMkLst>
          <pc:docMk/>
          <pc:sldMk cId="3888585596" sldId="50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496023238" sldId="504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8:37:27.749" v="19593" actId="1076"/>
        <pc:sldMkLst>
          <pc:docMk/>
          <pc:sldMk cId="3320340701" sldId="504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8:50:09.852" v="20448" actId="1037"/>
        <pc:sldMkLst>
          <pc:docMk/>
          <pc:sldMk cId="1820382320" sldId="50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037953993" sldId="50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144615782" sldId="506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20:04:26.586" v="21472" actId="1366"/>
        <pc:sldMkLst>
          <pc:docMk/>
          <pc:sldMk cId="3706654739" sldId="50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007847084" sldId="507"/>
        </pc:sldMkLst>
      </pc:sldChg>
      <pc:sldChg chg="addSp delSp modSp add mod">
        <pc:chgData name="Rebecca Sanders (Astrea Central)" userId="e7f5d1b8-ecd1-4a1b-953d-aab670bc35bf" providerId="ADAL" clId="{F7D53C68-E5AF-454C-87A3-C6B66344AC4E}" dt="2023-06-21T19:36:13.767" v="20856" actId="20577"/>
        <pc:sldMkLst>
          <pc:docMk/>
          <pc:sldMk cId="1518588887" sldId="50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917383564" sldId="50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705504487" sldId="50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71190815" sldId="51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752574666" sldId="51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640749541" sldId="51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776501930" sldId="51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691502535" sldId="51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266354023" sldId="51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38091696" sldId="51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319060053" sldId="51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636728837" sldId="51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07766504" sldId="51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038868864" sldId="52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080503138" sldId="52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72717052" sldId="52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40979439" sldId="52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024202174" sldId="52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015278940" sldId="52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960476754" sldId="52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916015820" sldId="52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422217618" sldId="52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606390528" sldId="52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796151262" sldId="53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820524172" sldId="53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103737395" sldId="53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80313333" sldId="53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284805271" sldId="53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742060239" sldId="53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719547901" sldId="53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684451224" sldId="53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707257951" sldId="53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705251796" sldId="53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506559433" sldId="540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774363054" sldId="541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2680367150" sldId="542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678699378" sldId="543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4239941239" sldId="544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239826732" sldId="545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757477951" sldId="546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918834693" sldId="547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498719901" sldId="548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1751464151" sldId="549"/>
        </pc:sldMkLst>
      </pc:sldChg>
      <pc:sldChg chg="del">
        <pc:chgData name="Rebecca Sanders (Astrea Central)" userId="e7f5d1b8-ecd1-4a1b-953d-aab670bc35bf" providerId="ADAL" clId="{F7D53C68-E5AF-454C-87A3-C6B66344AC4E}" dt="2023-06-15T14:57:23.773" v="32" actId="47"/>
        <pc:sldMkLst>
          <pc:docMk/>
          <pc:sldMk cId="3364961591" sldId="550"/>
        </pc:sldMkLst>
      </pc:sldChg>
    </pc:docChg>
  </pc:docChgLst>
  <pc:docChgLst>
    <pc:chgData name="Rebecca Sanders (Astrea Central)" userId="e7f5d1b8-ecd1-4a1b-953d-aab670bc35bf" providerId="ADAL" clId="{B1275E14-78DB-4866-9DFC-EE1DC0CEB271}"/>
    <pc:docChg chg="undo custSel modSld addSection delSection modSection">
      <pc:chgData name="Rebecca Sanders (Astrea Central)" userId="e7f5d1b8-ecd1-4a1b-953d-aab670bc35bf" providerId="ADAL" clId="{B1275E14-78DB-4866-9DFC-EE1DC0CEB271}" dt="2025-07-07T08:50:20.409" v="21" actId="17851"/>
      <pc:docMkLst>
        <pc:docMk/>
      </pc:docMkLst>
      <pc:sldChg chg="addSp delSp modSp mod">
        <pc:chgData name="Rebecca Sanders (Astrea Central)" userId="e7f5d1b8-ecd1-4a1b-953d-aab670bc35bf" providerId="ADAL" clId="{B1275E14-78DB-4866-9DFC-EE1DC0CEB271}" dt="2025-07-07T08:06:11.443" v="14"/>
        <pc:sldMkLst>
          <pc:docMk/>
          <pc:sldMk cId="1622092957" sldId="472"/>
        </pc:sldMkLst>
        <pc:graphicFrameChg chg="add del mod">
          <ac:chgData name="Rebecca Sanders (Astrea Central)" userId="e7f5d1b8-ecd1-4a1b-953d-aab670bc35bf" providerId="ADAL" clId="{B1275E14-78DB-4866-9DFC-EE1DC0CEB271}" dt="2025-07-07T08:06:03.419" v="13" actId="478"/>
          <ac:graphicFrameMkLst>
            <pc:docMk/>
            <pc:sldMk cId="1622092957" sldId="472"/>
            <ac:graphicFrameMk id="3" creationId="{D7E3666B-59FD-9750-98FE-7CCFA090BACF}"/>
          </ac:graphicFrameMkLst>
        </pc:graphicFrameChg>
        <pc:graphicFrameChg chg="add mod">
          <ac:chgData name="Rebecca Sanders (Astrea Central)" userId="e7f5d1b8-ecd1-4a1b-953d-aab670bc35bf" providerId="ADAL" clId="{B1275E14-78DB-4866-9DFC-EE1DC0CEB271}" dt="2025-07-07T08:06:11.443" v="14"/>
          <ac:graphicFrameMkLst>
            <pc:docMk/>
            <pc:sldMk cId="1622092957" sldId="472"/>
            <ac:graphicFrameMk id="4" creationId="{E645A732-D0BB-A640-121B-96A8CE5BCC72}"/>
          </ac:graphicFrameMkLst>
        </pc:graphicFrameChg>
      </pc:sldChg>
      <pc:sldChg chg="addSp delSp modSp mod">
        <pc:chgData name="Rebecca Sanders (Astrea Central)" userId="e7f5d1b8-ecd1-4a1b-953d-aab670bc35bf" providerId="ADAL" clId="{B1275E14-78DB-4866-9DFC-EE1DC0CEB271}" dt="2025-07-07T08:06:24.088" v="18" actId="14100"/>
        <pc:sldMkLst>
          <pc:docMk/>
          <pc:sldMk cId="3194221593" sldId="473"/>
        </pc:sldMkLst>
        <pc:graphicFrameChg chg="add del mod">
          <ac:chgData name="Rebecca Sanders (Astrea Central)" userId="e7f5d1b8-ecd1-4a1b-953d-aab670bc35bf" providerId="ADAL" clId="{B1275E14-78DB-4866-9DFC-EE1DC0CEB271}" dt="2025-07-07T08:06:19.005" v="15" actId="478"/>
          <ac:graphicFrameMkLst>
            <pc:docMk/>
            <pc:sldMk cId="3194221593" sldId="473"/>
            <ac:graphicFrameMk id="3" creationId="{A6A5F2DD-8371-D2F1-4B5F-4485D6E8DE66}"/>
          </ac:graphicFrameMkLst>
        </pc:graphicFrameChg>
        <pc:graphicFrameChg chg="add mod modGraphic">
          <ac:chgData name="Rebecca Sanders (Astrea Central)" userId="e7f5d1b8-ecd1-4a1b-953d-aab670bc35bf" providerId="ADAL" clId="{B1275E14-78DB-4866-9DFC-EE1DC0CEB271}" dt="2025-07-07T08:06:24.088" v="18" actId="14100"/>
          <ac:graphicFrameMkLst>
            <pc:docMk/>
            <pc:sldMk cId="3194221593" sldId="473"/>
            <ac:graphicFrameMk id="4" creationId="{2A02FA14-C98C-6378-DC6D-50539BE86FB6}"/>
          </ac:graphicFrameMkLst>
        </pc:graphicFrameChg>
      </pc:sldChg>
      <pc:sldChg chg="addSp delSp modSp mod">
        <pc:chgData name="Rebecca Sanders (Astrea Central)" userId="e7f5d1b8-ecd1-4a1b-953d-aab670bc35bf" providerId="ADAL" clId="{B1275E14-78DB-4866-9DFC-EE1DC0CEB271}" dt="2025-06-30T09:00:09.567" v="12"/>
        <pc:sldMkLst>
          <pc:docMk/>
          <pc:sldMk cId="2862913629" sldId="474"/>
        </pc:sldMkLst>
        <pc:graphicFrameChg chg="add mod">
          <ac:chgData name="Rebecca Sanders (Astrea Central)" userId="e7f5d1b8-ecd1-4a1b-953d-aab670bc35bf" providerId="ADAL" clId="{B1275E14-78DB-4866-9DFC-EE1DC0CEB271}" dt="2025-06-30T09:00:09.567" v="12"/>
          <ac:graphicFrameMkLst>
            <pc:docMk/>
            <pc:sldMk cId="2862913629" sldId="474"/>
            <ac:graphicFrameMk id="3" creationId="{E95E97FC-79DF-9718-8B99-884D0E2E3B28}"/>
          </ac:graphicFrameMkLst>
        </pc:graphicFrameChg>
      </pc:sldChg>
      <pc:sldChg chg="addSp delSp modSp mod">
        <pc:chgData name="Rebecca Sanders (Astrea Central)" userId="e7f5d1b8-ecd1-4a1b-953d-aab670bc35bf" providerId="ADAL" clId="{B1275E14-78DB-4866-9DFC-EE1DC0CEB271}" dt="2025-06-30T09:00:03.878" v="10" actId="6549"/>
        <pc:sldMkLst>
          <pc:docMk/>
          <pc:sldMk cId="1339840880" sldId="475"/>
        </pc:sldMkLst>
        <pc:graphicFrameChg chg="add mod modGraphic">
          <ac:chgData name="Rebecca Sanders (Astrea Central)" userId="e7f5d1b8-ecd1-4a1b-953d-aab670bc35bf" providerId="ADAL" clId="{B1275E14-78DB-4866-9DFC-EE1DC0CEB271}" dt="2025-06-30T09:00:03.878" v="10" actId="6549"/>
          <ac:graphicFrameMkLst>
            <pc:docMk/>
            <pc:sldMk cId="1339840880" sldId="475"/>
            <ac:graphicFrameMk id="3" creationId="{56767F9B-91B5-08B8-390A-2AFF91D3B0B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48600-F307-46A4-BE73-960A21572EAF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0D11F-BD83-4DFE-B0FB-ADB58F218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58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040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31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533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196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398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339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683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55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280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415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750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605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424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71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107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870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119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992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9725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0072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5369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8711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971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D11F-BD83-4DFE-B0FB-ADB58F21858F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95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F4F5D-049A-468C-9D2B-D93C21915F38}" type="datetime1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02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9F600-160C-42EB-8D05-137533A7E67C}" type="datetime1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2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B1D-5A14-47AD-8882-49B3F9B2AA7D}" type="datetime1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59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FA68D-7023-4AC2-8529-AD0AF2BE8448}" type="datetime1">
              <a:rPr lang="en-GB" smtClean="0"/>
              <a:t>07/07/2025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3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0E27-9290-4A58-8450-7CD3395374A5}" type="datetime1">
              <a:rPr lang="en-GB" smtClean="0"/>
              <a:t>07/07/2025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2E7CF-09CD-4081-93DB-05007A2ED651}" type="datetime1">
              <a:rPr lang="en-GB" smtClean="0"/>
              <a:t>07/07/2025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94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C83-9485-4A6A-B5F9-699ED55A70ED}" type="datetime1">
              <a:rPr lang="en-GB" smtClean="0"/>
              <a:t>07/07/2025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12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13860-44DC-4895-8287-5A72F87FF466}" type="datetime1">
              <a:rPr lang="en-GB" smtClean="0"/>
              <a:t>07/07/2025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85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4DF0-E927-4582-8AEE-ABCB9DFA81D6}" type="datetime1">
              <a:rPr lang="en-GB" smtClean="0"/>
              <a:t>07/07/2025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35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E38-1618-4E0D-8EBB-1409E4C82FF7}" type="datetime1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281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5FEF0-E190-44DD-97F7-5CECB3573D5C}" type="datetime1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19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C29FC-BB9A-4542-A129-1EC3EEB351D0}" type="datetime1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C3A38-D272-42AA-9C88-F1FBEAE20D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3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microsoft.com/office/2007/relationships/hdphoto" Target="../media/hdphoto1.wdp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1.png"/><Relationship Id="rId2" Type="http://schemas.openxmlformats.org/officeDocument/2006/relationships/image" Target="../media/image37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49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9.png"/><Relationship Id="rId7" Type="http://schemas.openxmlformats.org/officeDocument/2006/relationships/image" Target="../media/image6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60.png"/><Relationship Id="rId4" Type="http://schemas.microsoft.com/office/2007/relationships/hdphoto" Target="../media/hdphoto2.wdp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microsoft.com/office/2007/relationships/hdphoto" Target="../media/hdphoto6.wdp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microsoft.com/office/2007/relationships/hdphoto" Target="../media/hdphoto4.wdp"/><Relationship Id="rId15" Type="http://schemas.microsoft.com/office/2007/relationships/hdphoto" Target="../media/hdphoto5.wdp"/><Relationship Id="rId10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0.png"/><Relationship Id="rId5" Type="http://schemas.openxmlformats.org/officeDocument/2006/relationships/image" Target="../media/image54.png"/><Relationship Id="rId4" Type="http://schemas.openxmlformats.org/officeDocument/2006/relationships/image" Target="../media/image9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3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microsoft.com/office/2007/relationships/hdphoto" Target="../media/hdphoto7.wdp"/><Relationship Id="rId11" Type="http://schemas.openxmlformats.org/officeDocument/2006/relationships/image" Target="../media/image110.png"/><Relationship Id="rId5" Type="http://schemas.openxmlformats.org/officeDocument/2006/relationships/image" Target="../media/image105.png"/><Relationship Id="rId10" Type="http://schemas.openxmlformats.org/officeDocument/2006/relationships/image" Target="../media/image109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63.png"/><Relationship Id="rId7" Type="http://schemas.openxmlformats.org/officeDocument/2006/relationships/image" Target="../media/image112.png"/><Relationship Id="rId12" Type="http://schemas.microsoft.com/office/2007/relationships/hdphoto" Target="../media/hdphoto11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microsoft.com/office/2007/relationships/hdphoto" Target="../media/hdphoto8.wdp"/><Relationship Id="rId11" Type="http://schemas.openxmlformats.org/officeDocument/2006/relationships/image" Target="../media/image114.png"/><Relationship Id="rId5" Type="http://schemas.openxmlformats.org/officeDocument/2006/relationships/image" Target="../media/image111.png"/><Relationship Id="rId10" Type="http://schemas.microsoft.com/office/2007/relationships/hdphoto" Target="../media/hdphoto10.wdp"/><Relationship Id="rId4" Type="http://schemas.openxmlformats.org/officeDocument/2006/relationships/image" Target="../media/image65.png"/><Relationship Id="rId9" Type="http://schemas.openxmlformats.org/officeDocument/2006/relationships/image" Target="../media/image11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2.png"/><Relationship Id="rId3" Type="http://schemas.openxmlformats.org/officeDocument/2006/relationships/image" Target="../media/image115.png"/><Relationship Id="rId7" Type="http://schemas.openxmlformats.org/officeDocument/2006/relationships/image" Target="../media/image118.png"/><Relationship Id="rId12" Type="http://schemas.microsoft.com/office/2007/relationships/hdphoto" Target="../media/hdphoto14.wd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2.wdp"/><Relationship Id="rId11" Type="http://schemas.openxmlformats.org/officeDocument/2006/relationships/image" Target="../media/image121.png"/><Relationship Id="rId5" Type="http://schemas.openxmlformats.org/officeDocument/2006/relationships/image" Target="../media/image117.png"/><Relationship Id="rId10" Type="http://schemas.openxmlformats.org/officeDocument/2006/relationships/image" Target="../media/image120.png"/><Relationship Id="rId4" Type="http://schemas.openxmlformats.org/officeDocument/2006/relationships/image" Target="../media/image116.png"/><Relationship Id="rId9" Type="http://schemas.microsoft.com/office/2007/relationships/hdphoto" Target="../media/hdphoto13.wdp"/><Relationship Id="rId14" Type="http://schemas.microsoft.com/office/2007/relationships/hdphoto" Target="../media/hdphoto15.wdp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hdphoto" Target="../media/hdphoto18.wdp"/><Relationship Id="rId3" Type="http://schemas.openxmlformats.org/officeDocument/2006/relationships/image" Target="../media/image123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7.wdp"/><Relationship Id="rId11" Type="http://schemas.openxmlformats.org/officeDocument/2006/relationships/image" Target="../media/image127.png"/><Relationship Id="rId5" Type="http://schemas.openxmlformats.org/officeDocument/2006/relationships/image" Target="../media/image124.png"/><Relationship Id="rId10" Type="http://schemas.microsoft.com/office/2007/relationships/hdphoto" Target="../media/hdphoto19.wdp"/><Relationship Id="rId4" Type="http://schemas.microsoft.com/office/2007/relationships/hdphoto" Target="../media/hdphoto16.wdp"/><Relationship Id="rId9" Type="http://schemas.openxmlformats.org/officeDocument/2006/relationships/image" Target="../media/image1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9.png"/><Relationship Id="rId4" Type="http://schemas.openxmlformats.org/officeDocument/2006/relationships/image" Target="../media/image1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3">
            <a:extLst>
              <a:ext uri="{FF2B5EF4-FFF2-40B4-BE49-F238E27FC236}">
                <a16:creationId xmlns:a16="http://schemas.microsoft.com/office/drawing/2014/main" id="{B4C3E696-E1CC-D433-4B88-029280E1C1BC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AutoShape 6" descr="Image result for expression fun maths">
            <a:extLst>
              <a:ext uri="{FF2B5EF4-FFF2-40B4-BE49-F238E27FC236}">
                <a16:creationId xmlns:a16="http://schemas.microsoft.com/office/drawing/2014/main" id="{A1EBA329-358E-E72E-612E-3EF11F0D33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31EAEC-C735-CF3F-107F-93AEF22AB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752367"/>
              </p:ext>
            </p:extLst>
          </p:nvPr>
        </p:nvGraphicFramePr>
        <p:xfrm>
          <a:off x="556381" y="2106816"/>
          <a:ext cx="5862340" cy="15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621499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ysClr val="windowText" lastClr="000000"/>
                          </a:solidFill>
                          <a:latin typeface="+mj-lt"/>
                        </a:rPr>
                        <a:t>YEAR 7 MATHEMATICS</a:t>
                      </a:r>
                      <a:endParaRPr lang="en-GB" sz="40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43220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Retrieval Booklet</a:t>
                      </a:r>
                      <a:endParaRPr lang="en-GB" sz="20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432200"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solidFill>
                            <a:sysClr val="windowText" lastClr="000000"/>
                          </a:solidFill>
                          <a:latin typeface="+mj-lt"/>
                        </a:rPr>
                        <a:t>Half Term 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A21145D-B3BA-5CE1-5AD7-199BCD504495}"/>
              </a:ext>
            </a:extLst>
          </p:cNvPr>
          <p:cNvGraphicFramePr>
            <a:graphicFrameLocks noGrp="1"/>
          </p:cNvGraphicFramePr>
          <p:nvPr/>
        </p:nvGraphicFramePr>
        <p:xfrm>
          <a:off x="3484456" y="305482"/>
          <a:ext cx="29727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861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  <a:gridCol w="1971931">
                  <a:extLst>
                    <a:ext uri="{9D8B030D-6E8A-4147-A177-3AD203B41FA5}">
                      <a16:colId xmlns:a16="http://schemas.microsoft.com/office/drawing/2014/main" val="31253493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ysClr val="windowText" lastClr="000000"/>
                          </a:solidFill>
                          <a:latin typeface="+mj-lt"/>
                        </a:rPr>
                        <a:t>Name</a:t>
                      </a:r>
                      <a:endParaRPr lang="en-GB" sz="1400" b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ysClr val="windowText" lastClr="000000"/>
                          </a:solidFill>
                          <a:latin typeface="+mj-lt"/>
                        </a:rPr>
                        <a:t>Class</a:t>
                      </a:r>
                      <a:endParaRPr lang="en-GB" sz="1400" b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8375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ysClr val="windowText" lastClr="000000"/>
                          </a:solidFill>
                          <a:latin typeface="+mj-lt"/>
                        </a:rPr>
                        <a:t>Tutor Group</a:t>
                      </a:r>
                      <a:endParaRPr lang="en-GB" sz="1400" b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0809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1FB974F-BF26-0860-0F74-96473612975A}"/>
              </a:ext>
            </a:extLst>
          </p:cNvPr>
          <p:cNvSpPr txBox="1"/>
          <p:nvPr/>
        </p:nvSpPr>
        <p:spPr>
          <a:xfrm>
            <a:off x="2438022" y="6403753"/>
            <a:ext cx="17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b="1">
              <a:solidFill>
                <a:srgbClr val="7E2341"/>
              </a:solidFill>
            </a:endParaRPr>
          </a:p>
        </p:txBody>
      </p:sp>
      <p:pic>
        <p:nvPicPr>
          <p:cNvPr id="12" name="Picture 4" descr="Astrea Academy Trust">
            <a:extLst>
              <a:ext uri="{FF2B5EF4-FFF2-40B4-BE49-F238E27FC236}">
                <a16:creationId xmlns:a16="http://schemas.microsoft.com/office/drawing/2014/main" id="{70ACE8D0-7F1C-5F80-484D-89B8BF58B7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t="10183" r="18353" b="17160"/>
          <a:stretch/>
        </p:blipFill>
        <p:spPr bwMode="auto">
          <a:xfrm>
            <a:off x="411234" y="393186"/>
            <a:ext cx="1979272" cy="118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57CD6E-7C18-C913-C3D7-45F7D912E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54" y="3864420"/>
            <a:ext cx="6046014" cy="16196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8EB357-4376-AAD3-5A7F-FFEAEFC0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1</a:t>
            </a:fld>
            <a:endParaRPr lang="en-GB"/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2C7923ED-6921-DEC4-E063-6FB5EDD41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826112"/>
              </p:ext>
            </p:extLst>
          </p:nvPr>
        </p:nvGraphicFramePr>
        <p:xfrm>
          <a:off x="405454" y="5643762"/>
          <a:ext cx="6013267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578">
                  <a:extLst>
                    <a:ext uri="{9D8B030D-6E8A-4147-A177-3AD203B41FA5}">
                      <a16:colId xmlns:a16="http://schemas.microsoft.com/office/drawing/2014/main" val="869545171"/>
                    </a:ext>
                  </a:extLst>
                </a:gridCol>
                <a:gridCol w="691689">
                  <a:extLst>
                    <a:ext uri="{9D8B030D-6E8A-4147-A177-3AD203B41FA5}">
                      <a16:colId xmlns:a16="http://schemas.microsoft.com/office/drawing/2014/main" val="2912245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Page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55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HT1 Retrieve &amp; Retain Starters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330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N1: Place Value - Knowledge Organiser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65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N1: Place Value - Knowledge Organiser Quiz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571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N1: Place Value - End of Booklet 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434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N1: Place Value - End of Booklet Follow Up Qs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86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N2: Addition, Subtraction and their Applications - Knowledge Organiser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748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N2: Addition, Subtraction and their Applications -  Knowledge Organiser Quiz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93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N2: Addition, Subtraction and their Applications -  End of Booklet 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712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N2: Addition, Subtraction and their Applications -  End of Booklet Follow Up Qs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567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321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id="{878DF63C-F112-5ABD-42CD-AD6CAB9DA461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utoShape 6" descr="Image result for expression fun maths">
            <a:extLst>
              <a:ext uri="{FF2B5EF4-FFF2-40B4-BE49-F238E27FC236}">
                <a16:creationId xmlns:a16="http://schemas.microsoft.com/office/drawing/2014/main" id="{C2164700-EF33-3C7F-3FB3-7AAEAEDFCF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476FC5-FFD8-76AB-9535-7A636F89C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782607"/>
              </p:ext>
            </p:extLst>
          </p:nvPr>
        </p:nvGraphicFramePr>
        <p:xfrm>
          <a:off x="377960" y="362558"/>
          <a:ext cx="6102082" cy="4678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2082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594104">
                <a:tc>
                  <a:txBody>
                    <a:bodyPr/>
                    <a:lstStyle/>
                    <a:p>
                      <a:pPr algn="l"/>
                      <a:r>
                        <a:rPr lang="en-US" sz="3200">
                          <a:solidFill>
                            <a:schemeClr val="tx1"/>
                          </a:solidFill>
                          <a:latin typeface="+mj-lt"/>
                        </a:rPr>
                        <a:t>Cumulative R&amp;R: </a:t>
                      </a:r>
                      <a:r>
                        <a:rPr lang="en-US" sz="3200" b="0">
                          <a:solidFill>
                            <a:schemeClr val="tx1"/>
                          </a:solidFill>
                          <a:latin typeface="+mj-lt"/>
                        </a:rPr>
                        <a:t>Retrieve &amp; Retain  </a:t>
                      </a:r>
                      <a:endParaRPr lang="en-GB" sz="32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594104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GB" sz="1800" b="1"/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1">
                        <a:latin typeface="+mj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1">
                        <a:latin typeface="+mj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1">
                        <a:latin typeface="+mj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1">
                        <a:latin typeface="+mj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1">
                        <a:latin typeface="+mj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1">
                        <a:latin typeface="+mj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1">
                        <a:latin typeface="+mj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1">
                        <a:latin typeface="+mj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1">
                        <a:latin typeface="+mj-lt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1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1"/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2000" b="1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66272">
                <a:tc>
                  <a:txBody>
                    <a:bodyPr/>
                    <a:lstStyle/>
                    <a:p>
                      <a:pPr algn="ctr"/>
                      <a:endParaRPr lang="en-GB" sz="20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A632D6E-1C55-F3AD-919D-35E3CA6F74AD}"/>
              </a:ext>
            </a:extLst>
          </p:cNvPr>
          <p:cNvSpPr/>
          <p:nvPr/>
        </p:nvSpPr>
        <p:spPr>
          <a:xfrm>
            <a:off x="0" y="3679328"/>
            <a:ext cx="6858000" cy="14595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FDF3D-3981-117E-F294-461776C324C7}"/>
              </a:ext>
            </a:extLst>
          </p:cNvPr>
          <p:cNvSpPr txBox="1"/>
          <p:nvPr/>
        </p:nvSpPr>
        <p:spPr>
          <a:xfrm>
            <a:off x="303009" y="3927424"/>
            <a:ext cx="88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Week 1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966D5A-E3F1-F1B4-1A71-71BB1B9B33B6}"/>
              </a:ext>
            </a:extLst>
          </p:cNvPr>
          <p:cNvSpPr/>
          <p:nvPr/>
        </p:nvSpPr>
        <p:spPr>
          <a:xfrm>
            <a:off x="673100" y="1054100"/>
            <a:ext cx="1308100" cy="260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3FEFD1-3DA8-827C-3620-0DFA704D4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58" y="4310138"/>
            <a:ext cx="6102082" cy="40556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FB7EFD-89D7-18CD-2D3C-A8889E2CBE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50" t="6019" r="2269" b="9811"/>
          <a:stretch/>
        </p:blipFill>
        <p:spPr>
          <a:xfrm>
            <a:off x="498589" y="1053121"/>
            <a:ext cx="5686311" cy="253398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12C7E8-03E0-4A61-F228-7B9B391A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89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62DF5E-9ACF-A7D8-8895-43A663EEC6BC}"/>
              </a:ext>
            </a:extLst>
          </p:cNvPr>
          <p:cNvSpPr/>
          <p:nvPr/>
        </p:nvSpPr>
        <p:spPr>
          <a:xfrm>
            <a:off x="0" y="4953000"/>
            <a:ext cx="6858000" cy="14595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EFD3F-74EC-8995-6BD7-739AA8296803}"/>
              </a:ext>
            </a:extLst>
          </p:cNvPr>
          <p:cNvSpPr txBox="1"/>
          <p:nvPr/>
        </p:nvSpPr>
        <p:spPr>
          <a:xfrm>
            <a:off x="270925" y="255742"/>
            <a:ext cx="88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Week 2</a:t>
            </a:r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B8925-8340-925D-EDF3-F3051448B05D}"/>
              </a:ext>
            </a:extLst>
          </p:cNvPr>
          <p:cNvSpPr txBox="1"/>
          <p:nvPr/>
        </p:nvSpPr>
        <p:spPr>
          <a:xfrm>
            <a:off x="225121" y="5208742"/>
            <a:ext cx="88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Week 3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F423C-2A64-F98B-6F87-EFFC1FFDE206}"/>
              </a:ext>
            </a:extLst>
          </p:cNvPr>
          <p:cNvSpPr/>
          <p:nvPr/>
        </p:nvSpPr>
        <p:spPr>
          <a:xfrm>
            <a:off x="400271" y="5951149"/>
            <a:ext cx="902825" cy="1099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5365BA-A224-02D3-5B70-9B86ABF51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11" y="734857"/>
            <a:ext cx="5927377" cy="3954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FC233A-FCB2-694F-F54C-26F747757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11" y="5643563"/>
            <a:ext cx="5927377" cy="393721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16A2DE-EB81-4C64-C77A-A949AA37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13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62DF5E-9ACF-A7D8-8895-43A663EEC6BC}"/>
              </a:ext>
            </a:extLst>
          </p:cNvPr>
          <p:cNvSpPr/>
          <p:nvPr/>
        </p:nvSpPr>
        <p:spPr>
          <a:xfrm>
            <a:off x="0" y="4953000"/>
            <a:ext cx="6858000" cy="14595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9FB44-C865-4BA7-7366-8F5BD3A07F59}"/>
              </a:ext>
            </a:extLst>
          </p:cNvPr>
          <p:cNvSpPr txBox="1"/>
          <p:nvPr/>
        </p:nvSpPr>
        <p:spPr>
          <a:xfrm>
            <a:off x="303009" y="314800"/>
            <a:ext cx="88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Week 4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6457A-279B-663F-9D14-335E824D2FE9}"/>
              </a:ext>
            </a:extLst>
          </p:cNvPr>
          <p:cNvSpPr txBox="1"/>
          <p:nvPr/>
        </p:nvSpPr>
        <p:spPr>
          <a:xfrm>
            <a:off x="257205" y="5203632"/>
            <a:ext cx="88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Week 5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7648AC-3C2A-7108-D7F9-9182F8512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28" y="788805"/>
            <a:ext cx="6060943" cy="40381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E30365-0DFB-FF56-56A3-72E1187F1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28" y="5572964"/>
            <a:ext cx="6038954" cy="40137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AC3171-F809-64E3-4BCC-A479713C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903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62DF5E-9ACF-A7D8-8895-43A663EEC6BC}"/>
              </a:ext>
            </a:extLst>
          </p:cNvPr>
          <p:cNvSpPr/>
          <p:nvPr/>
        </p:nvSpPr>
        <p:spPr>
          <a:xfrm>
            <a:off x="0" y="4953000"/>
            <a:ext cx="6858000" cy="14595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00A443-E22B-5A88-6A89-6F6F573F845D}"/>
              </a:ext>
            </a:extLst>
          </p:cNvPr>
          <p:cNvSpPr txBox="1"/>
          <p:nvPr/>
        </p:nvSpPr>
        <p:spPr>
          <a:xfrm>
            <a:off x="311031" y="354906"/>
            <a:ext cx="88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Week 6</a:t>
            </a:r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10ADED-1254-D7FA-FA07-1D3B996EEFE7}"/>
              </a:ext>
            </a:extLst>
          </p:cNvPr>
          <p:cNvSpPr txBox="1"/>
          <p:nvPr/>
        </p:nvSpPr>
        <p:spPr>
          <a:xfrm>
            <a:off x="231267" y="5152308"/>
            <a:ext cx="88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Week 7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FAF5D-0039-BCE4-A326-341CE039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63" y="777587"/>
            <a:ext cx="6007473" cy="4014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348D9B-16F8-6AEF-8BC0-DD0245D34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63" y="5569924"/>
            <a:ext cx="6034905" cy="401346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01B3EE-929B-0DDF-048B-2BF91AFE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90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286477-A3A6-B4AA-8EE8-463948580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988751"/>
              </p:ext>
            </p:extLst>
          </p:nvPr>
        </p:nvGraphicFramePr>
        <p:xfrm>
          <a:off x="497830" y="227852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Knowledge </a:t>
                      </a:r>
                      <a:r>
                        <a:rPr lang="en-US" sz="1600" b="1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Organiser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1A50C2-FC42-17B5-2D78-EB2207E0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45A732-D0BB-A640-121B-96A8CE5BC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423134"/>
              </p:ext>
            </p:extLst>
          </p:nvPr>
        </p:nvGraphicFramePr>
        <p:xfrm>
          <a:off x="497830" y="1334294"/>
          <a:ext cx="5862340" cy="4241800"/>
        </p:xfrm>
        <a:graphic>
          <a:graphicData uri="http://schemas.openxmlformats.org/drawingml/2006/table">
            <a:tbl>
              <a:tblPr/>
              <a:tblGrid>
                <a:gridCol w="375421">
                  <a:extLst>
                    <a:ext uri="{9D8B030D-6E8A-4147-A177-3AD203B41FA5}">
                      <a16:colId xmlns:a16="http://schemas.microsoft.com/office/drawing/2014/main" val="3975040896"/>
                    </a:ext>
                  </a:extLst>
                </a:gridCol>
                <a:gridCol w="2223646">
                  <a:extLst>
                    <a:ext uri="{9D8B030D-6E8A-4147-A177-3AD203B41FA5}">
                      <a16:colId xmlns:a16="http://schemas.microsoft.com/office/drawing/2014/main" val="2785281958"/>
                    </a:ext>
                  </a:extLst>
                </a:gridCol>
                <a:gridCol w="3263273">
                  <a:extLst>
                    <a:ext uri="{9D8B030D-6E8A-4147-A177-3AD203B41FA5}">
                      <a16:colId xmlns:a16="http://schemas.microsoft.com/office/drawing/2014/main" val="175321182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fontAlgn="auto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Knowledge</a:t>
                      </a:r>
                      <a:r>
                        <a:rPr lang="en-GB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Answer</a:t>
                      </a:r>
                      <a:r>
                        <a:rPr lang="en-GB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8148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an integer?​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whole number, positive or negative.​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74381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a digit?​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Any of the numerals 0-9 used to form a number​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47021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are positive numbers?​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Numbers to the right of 0 on a number line.​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05207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an inequality?​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relationship where two values are not equal.​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7855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are decimals?​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Numbers between whole numbers, expressed with a decimal point.​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36284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are negative numbers?​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Numbers to the left of 0 on a number line.​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89635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rounding?​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Approximating a number to a given level of accuracy.​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099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the median of a data set?​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middle value of an ordered list.​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10014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are powers?​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way of expressing repeated multiplication of a number.​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03961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standard form?​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number written as , where 1 ≤ a &lt; 10, and n is an integer.​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06149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binary?​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number system using only 0 and 1.​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811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09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286477-A3A6-B4AA-8EE8-463948580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933137"/>
              </p:ext>
            </p:extLst>
          </p:nvPr>
        </p:nvGraphicFramePr>
        <p:xfrm>
          <a:off x="497830" y="227852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Knowledge </a:t>
                      </a:r>
                      <a:r>
                        <a:rPr lang="en-US" sz="1600" b="1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Organiser</a:t>
                      </a:r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 Quiz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ADA96D-9DB0-FF54-FE60-30029E86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7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02FA14-C98C-6378-DC6D-50539BE86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98661"/>
              </p:ext>
            </p:extLst>
          </p:nvPr>
        </p:nvGraphicFramePr>
        <p:xfrm>
          <a:off x="497830" y="1334294"/>
          <a:ext cx="5862340" cy="4670271"/>
        </p:xfrm>
        <a:graphic>
          <a:graphicData uri="http://schemas.openxmlformats.org/drawingml/2006/table">
            <a:tbl>
              <a:tblPr/>
              <a:tblGrid>
                <a:gridCol w="375421">
                  <a:extLst>
                    <a:ext uri="{9D8B030D-6E8A-4147-A177-3AD203B41FA5}">
                      <a16:colId xmlns:a16="http://schemas.microsoft.com/office/drawing/2014/main" val="3975040896"/>
                    </a:ext>
                  </a:extLst>
                </a:gridCol>
                <a:gridCol w="2223646">
                  <a:extLst>
                    <a:ext uri="{9D8B030D-6E8A-4147-A177-3AD203B41FA5}">
                      <a16:colId xmlns:a16="http://schemas.microsoft.com/office/drawing/2014/main" val="2785281958"/>
                    </a:ext>
                  </a:extLst>
                </a:gridCol>
                <a:gridCol w="3263273">
                  <a:extLst>
                    <a:ext uri="{9D8B030D-6E8A-4147-A177-3AD203B41FA5}">
                      <a16:colId xmlns:a16="http://schemas.microsoft.com/office/drawing/2014/main" val="175321182"/>
                    </a:ext>
                  </a:extLst>
                </a:gridCol>
              </a:tblGrid>
              <a:tr h="348135">
                <a:tc>
                  <a:txBody>
                    <a:bodyPr/>
                    <a:lstStyle/>
                    <a:p>
                      <a:pPr algn="ctr" fontAlgn="auto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Knowledge</a:t>
                      </a:r>
                      <a:r>
                        <a:rPr lang="en-GB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Answer</a:t>
                      </a:r>
                      <a:r>
                        <a:rPr lang="en-GB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814802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an integer?​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743819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a digit?​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470214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are positive numbers?​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052073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an inequality?​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78557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are decimals?​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362843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are negative numbers?​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896359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rounding?​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09956"/>
                  </a:ext>
                </a:extLst>
              </a:tr>
              <a:tr h="57803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the median of a data set?​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100145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are powers?​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039611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standard form?​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061498"/>
                  </a:ext>
                </a:extLst>
              </a:tr>
              <a:tr h="3744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is binary?​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811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221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386046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112E41-59C2-777B-33EB-9051EA7C8C20}"/>
              </a:ext>
            </a:extLst>
          </p:cNvPr>
          <p:cNvSpPr/>
          <p:nvPr/>
        </p:nvSpPr>
        <p:spPr>
          <a:xfrm>
            <a:off x="492089" y="1303165"/>
            <a:ext cx="5862340" cy="11064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en-GB" sz="1200">
                <a:solidFill>
                  <a:schemeClr val="tx1"/>
                </a:solidFill>
              </a:rPr>
              <a:t>a) Write down the value of </a:t>
            </a:r>
            <a:r>
              <a:rPr lang="en-GB" sz="1200" b="1">
                <a:solidFill>
                  <a:schemeClr val="tx1"/>
                </a:solidFill>
              </a:rPr>
              <a:t>6</a:t>
            </a:r>
            <a:r>
              <a:rPr lang="en-GB" sz="1200">
                <a:solidFill>
                  <a:schemeClr val="tx1"/>
                </a:solidFill>
              </a:rPr>
              <a:t> in 5369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 b) Write down the value of </a:t>
            </a:r>
            <a:r>
              <a:rPr lang="en-GB" sz="1200" b="1">
                <a:solidFill>
                  <a:schemeClr val="tx1"/>
                </a:solidFill>
              </a:rPr>
              <a:t>6</a:t>
            </a:r>
            <a:r>
              <a:rPr lang="en-GB" sz="1200">
                <a:solidFill>
                  <a:schemeClr val="tx1"/>
                </a:solidFill>
              </a:rPr>
              <a:t> in 260,000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 c) Write down the value of </a:t>
            </a:r>
            <a:r>
              <a:rPr lang="en-GB" sz="1200" b="1">
                <a:solidFill>
                  <a:schemeClr val="tx1"/>
                </a:solidFill>
              </a:rPr>
              <a:t>6</a:t>
            </a:r>
            <a:r>
              <a:rPr lang="en-GB" sz="1200">
                <a:solidFill>
                  <a:schemeClr val="tx1"/>
                </a:solidFill>
              </a:rPr>
              <a:t> in 62,000,000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02DB1B-3D19-EF92-6BCA-8999931220F4}"/>
              </a:ext>
            </a:extLst>
          </p:cNvPr>
          <p:cNvSpPr/>
          <p:nvPr/>
        </p:nvSpPr>
        <p:spPr>
          <a:xfrm>
            <a:off x="492089" y="2461150"/>
            <a:ext cx="5862340" cy="1248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 startAt="2"/>
            </a:pPr>
            <a:r>
              <a:rPr lang="en-GB" sz="1200">
                <a:solidFill>
                  <a:schemeClr val="tx1"/>
                </a:solidFill>
              </a:rPr>
              <a:t>a) Write down the number </a:t>
            </a:r>
            <a:r>
              <a:rPr lang="en-GB" sz="1200" b="1">
                <a:solidFill>
                  <a:schemeClr val="tx1"/>
                </a:solidFill>
              </a:rPr>
              <a:t>three hundred and nine </a:t>
            </a:r>
            <a:r>
              <a:rPr lang="en-GB" sz="1200">
                <a:solidFill>
                  <a:schemeClr val="tx1"/>
                </a:solidFill>
              </a:rPr>
              <a:t>in figures</a:t>
            </a:r>
          </a:p>
          <a:p>
            <a:pPr marL="228600" indent="-228600">
              <a:buFont typeface="+mj-lt"/>
              <a:buAutoNum type="arabicPeriod" startAt="2"/>
            </a:pPr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b) Write down the number </a:t>
            </a:r>
            <a:r>
              <a:rPr lang="en-GB" sz="1200" b="1">
                <a:solidFill>
                  <a:schemeClr val="tx1"/>
                </a:solidFill>
              </a:rPr>
              <a:t>nine billion </a:t>
            </a:r>
            <a:r>
              <a:rPr lang="en-GB" sz="1200">
                <a:solidFill>
                  <a:schemeClr val="tx1"/>
                </a:solidFill>
              </a:rPr>
              <a:t>in figures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c) Write down the number </a:t>
            </a:r>
            <a:r>
              <a:rPr lang="en-GB" sz="1200" b="1">
                <a:solidFill>
                  <a:schemeClr val="tx1"/>
                </a:solidFill>
              </a:rPr>
              <a:t>seventy two thousand, eight hundred and six</a:t>
            </a:r>
            <a:r>
              <a:rPr lang="en-GB" sz="1200">
                <a:solidFill>
                  <a:schemeClr val="tx1"/>
                </a:solidFill>
              </a:rPr>
              <a:t> in figures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C0AE0B-92C1-FE8F-C138-804C0F3E5086}"/>
              </a:ext>
            </a:extLst>
          </p:cNvPr>
          <p:cNvSpPr/>
          <p:nvPr/>
        </p:nvSpPr>
        <p:spPr>
          <a:xfrm>
            <a:off x="492089" y="5584364"/>
            <a:ext cx="5862340" cy="2163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4. a) Write down the number marked by the arrow on the number line below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b) Mark the number 440 on the number line below.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E6BE4D-6B03-29A6-0613-DB16CAA98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8" y="5882821"/>
            <a:ext cx="4200525" cy="752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88F247-5E2C-00DF-A094-84ED5F24FC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534" t="52381" r="2338" b="13159"/>
          <a:stretch/>
        </p:blipFill>
        <p:spPr>
          <a:xfrm>
            <a:off x="576198" y="7091191"/>
            <a:ext cx="4488681" cy="5678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FDB3EE-9233-9F51-6260-74393DF205DB}"/>
              </a:ext>
            </a:extLst>
          </p:cNvPr>
          <p:cNvSpPr/>
          <p:nvPr/>
        </p:nvSpPr>
        <p:spPr>
          <a:xfrm>
            <a:off x="493844" y="7807601"/>
            <a:ext cx="5862340" cy="151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5. a)    ?  &gt; 6. Circle the numbers that ? could be.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algn="ctr"/>
            <a:r>
              <a:rPr lang="en-GB" sz="1200">
                <a:solidFill>
                  <a:schemeClr val="tx1"/>
                </a:solidFill>
              </a:rPr>
              <a:t>3           9           8          6           7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b)    ?  ≤ 5. Circle the numbers that ? could be.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algn="ctr"/>
            <a:r>
              <a:rPr lang="en-GB" sz="1200">
                <a:solidFill>
                  <a:schemeClr val="tx1"/>
                </a:solidFill>
              </a:rPr>
              <a:t>5           6           3          0           7</a:t>
            </a: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3B434-4EB2-E531-2304-D73CCFF5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8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64F2F8-0EE7-AE83-02B0-E7C2FFB0773A}"/>
              </a:ext>
            </a:extLst>
          </p:cNvPr>
          <p:cNvSpPr/>
          <p:nvPr/>
        </p:nvSpPr>
        <p:spPr>
          <a:xfrm>
            <a:off x="492089" y="3760373"/>
            <a:ext cx="5862340" cy="1759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3. Here are 4 digits               </a:t>
            </a:r>
            <a:r>
              <a:rPr lang="en-GB" sz="1400">
                <a:solidFill>
                  <a:schemeClr val="tx1"/>
                </a:solidFill>
              </a:rPr>
              <a:t>5               1                 4               8</a:t>
            </a:r>
          </a:p>
          <a:p>
            <a:endParaRPr lang="en-GB" sz="1400">
              <a:solidFill>
                <a:schemeClr val="tx1"/>
              </a:solidFill>
            </a:endParaRPr>
          </a:p>
          <a:p>
            <a:pPr algn="ctr"/>
            <a:r>
              <a:rPr lang="en-GB" sz="1200">
                <a:solidFill>
                  <a:schemeClr val="tx1"/>
                </a:solidFill>
              </a:rPr>
              <a:t>The digits can be arranged to make other numbers.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342900" indent="-3429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Write down the largest number that can be made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pPr marL="342900" indent="-3429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Write down the smallest number that can be made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pPr marL="342900" indent="-3429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Write down the smallest three digit number that can be made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6CB3D9-3740-8549-4558-B57D97996028}"/>
              </a:ext>
            </a:extLst>
          </p:cNvPr>
          <p:cNvSpPr/>
          <p:nvPr/>
        </p:nvSpPr>
        <p:spPr>
          <a:xfrm>
            <a:off x="3143872" y="1342211"/>
            <a:ext cx="2603205" cy="2803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E5F6DD-EAF8-7941-B583-0F8058CE2AEE}"/>
              </a:ext>
            </a:extLst>
          </p:cNvPr>
          <p:cNvSpPr/>
          <p:nvPr/>
        </p:nvSpPr>
        <p:spPr>
          <a:xfrm>
            <a:off x="3423259" y="1701213"/>
            <a:ext cx="2603205" cy="2803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464668-50E3-AF03-1B24-242D6425BD98}"/>
              </a:ext>
            </a:extLst>
          </p:cNvPr>
          <p:cNvSpPr/>
          <p:nvPr/>
        </p:nvSpPr>
        <p:spPr>
          <a:xfrm>
            <a:off x="3636514" y="2055401"/>
            <a:ext cx="2603205" cy="2803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7A629-5941-252C-F05B-62FA1DFB2248}"/>
              </a:ext>
            </a:extLst>
          </p:cNvPr>
          <p:cNvSpPr/>
          <p:nvPr/>
        </p:nvSpPr>
        <p:spPr>
          <a:xfrm>
            <a:off x="4656486" y="2501604"/>
            <a:ext cx="1633573" cy="26690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B16E74-37D3-2247-EB41-BD47406B2400}"/>
              </a:ext>
            </a:extLst>
          </p:cNvPr>
          <p:cNvSpPr/>
          <p:nvPr/>
        </p:nvSpPr>
        <p:spPr>
          <a:xfrm>
            <a:off x="3839699" y="2844506"/>
            <a:ext cx="2450360" cy="26690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DD7F6E-66B5-A8F8-75AE-2908D0268DB8}"/>
              </a:ext>
            </a:extLst>
          </p:cNvPr>
          <p:cNvSpPr/>
          <p:nvPr/>
        </p:nvSpPr>
        <p:spPr>
          <a:xfrm>
            <a:off x="963328" y="3415841"/>
            <a:ext cx="5340949" cy="26690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5F6BC1-B3C8-60E5-7FDC-462C2A0FBAFA}"/>
              </a:ext>
            </a:extLst>
          </p:cNvPr>
          <p:cNvSpPr/>
          <p:nvPr/>
        </p:nvSpPr>
        <p:spPr>
          <a:xfrm>
            <a:off x="4037753" y="4561857"/>
            <a:ext cx="2266524" cy="2641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2FA77B-20ED-6B51-F8AE-49953A1E1E63}"/>
              </a:ext>
            </a:extLst>
          </p:cNvPr>
          <p:cNvSpPr/>
          <p:nvPr/>
        </p:nvSpPr>
        <p:spPr>
          <a:xfrm>
            <a:off x="5080074" y="6259058"/>
            <a:ext cx="1133262" cy="4437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7EC55F-C669-ABF1-A694-5DF0E486315A}"/>
              </a:ext>
            </a:extLst>
          </p:cNvPr>
          <p:cNvSpPr/>
          <p:nvPr/>
        </p:nvSpPr>
        <p:spPr>
          <a:xfrm>
            <a:off x="4843463" y="5208879"/>
            <a:ext cx="1446596" cy="28525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1188FE-BB88-609F-0410-488214B8145E}"/>
              </a:ext>
            </a:extLst>
          </p:cNvPr>
          <p:cNvSpPr/>
          <p:nvPr/>
        </p:nvSpPr>
        <p:spPr>
          <a:xfrm>
            <a:off x="4230231" y="4884509"/>
            <a:ext cx="2059828" cy="28525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58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936174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112E41-59C2-777B-33EB-9051EA7C8C20}"/>
              </a:ext>
            </a:extLst>
          </p:cNvPr>
          <p:cNvSpPr/>
          <p:nvPr/>
        </p:nvSpPr>
        <p:spPr>
          <a:xfrm>
            <a:off x="497830" y="1404803"/>
            <a:ext cx="5862340" cy="13102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6. Write the following numbers in order of size, starting with the smallest number.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a)   32      47        18        52        33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b)  132      470        1080        52        1062 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02DB1B-3D19-EF92-6BCA-8999931220F4}"/>
              </a:ext>
            </a:extLst>
          </p:cNvPr>
          <p:cNvSpPr/>
          <p:nvPr/>
        </p:nvSpPr>
        <p:spPr>
          <a:xfrm>
            <a:off x="497829" y="3877380"/>
            <a:ext cx="5862340" cy="21843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8.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C0AE0B-92C1-FE8F-C138-804C0F3E5086}"/>
              </a:ext>
            </a:extLst>
          </p:cNvPr>
          <p:cNvSpPr/>
          <p:nvPr/>
        </p:nvSpPr>
        <p:spPr>
          <a:xfrm>
            <a:off x="497829" y="2771484"/>
            <a:ext cx="5862340" cy="10424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7. Insert the correct symbol, &lt;, &gt;, ≤, ≥, = or ≠ between each pair of numbers: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a)   6.438                                 6.51                                         b)  0.78                       0.705</a:t>
            </a: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E7E63B-C82C-C4A7-FD49-7115F1774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08" y="4152279"/>
            <a:ext cx="4101308" cy="7649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3DCDCCA-B6BC-25BC-DA7B-263195FA7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52" y="3898070"/>
            <a:ext cx="4857750" cy="3238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24547F7-E8BA-ED5D-9A67-6BA9B7B37A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594" r="18718" b="16610"/>
          <a:stretch/>
        </p:blipFill>
        <p:spPr>
          <a:xfrm>
            <a:off x="662595" y="5759035"/>
            <a:ext cx="4591051" cy="1889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1D16A5A-7F2B-78A0-8EBC-60DF4BE2666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0058"/>
          <a:stretch/>
        </p:blipFill>
        <p:spPr>
          <a:xfrm>
            <a:off x="1030866" y="7893705"/>
            <a:ext cx="5065133" cy="21710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FDB3EE-9233-9F51-6260-74393DF205DB}"/>
              </a:ext>
            </a:extLst>
          </p:cNvPr>
          <p:cNvSpPr/>
          <p:nvPr/>
        </p:nvSpPr>
        <p:spPr>
          <a:xfrm>
            <a:off x="497829" y="6101724"/>
            <a:ext cx="5862340" cy="168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9.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3B434-4EB2-E531-2304-D73CCFF5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9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64F2F8-0EE7-AE83-02B0-E7C2FFB0773A}"/>
              </a:ext>
            </a:extLst>
          </p:cNvPr>
          <p:cNvSpPr/>
          <p:nvPr/>
        </p:nvSpPr>
        <p:spPr>
          <a:xfrm>
            <a:off x="497829" y="7830213"/>
            <a:ext cx="5862340" cy="1538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10.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A8F2C5-FA08-82A6-C7AD-79AF98F8D41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8198" b="80333"/>
          <a:stretch/>
        </p:blipFill>
        <p:spPr>
          <a:xfrm>
            <a:off x="894113" y="6126534"/>
            <a:ext cx="4924185" cy="2153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65DD68-683A-CD7C-D8B5-5879841984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380" t="3686" b="33017"/>
          <a:stretch/>
        </p:blipFill>
        <p:spPr>
          <a:xfrm>
            <a:off x="665208" y="5185740"/>
            <a:ext cx="4214813" cy="5486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AB2061-DDE4-55AB-A1E1-A241795552E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1355" t="18017" r="28199" b="62315"/>
          <a:stretch/>
        </p:blipFill>
        <p:spPr>
          <a:xfrm>
            <a:off x="2189272" y="6412886"/>
            <a:ext cx="2773815" cy="2153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080E3B-2C22-B421-4651-59DB1C99261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856" t="66252" r="58186" b="23322"/>
          <a:stretch/>
        </p:blipFill>
        <p:spPr>
          <a:xfrm>
            <a:off x="2308894" y="7061242"/>
            <a:ext cx="2534569" cy="3096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B87F80-B012-76ED-8DA0-4FDB6E15390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8558" t="29734" b="22024"/>
          <a:stretch/>
        </p:blipFill>
        <p:spPr>
          <a:xfrm>
            <a:off x="662595" y="8246301"/>
            <a:ext cx="1820309" cy="3998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F2C1DBD-828B-6B01-877C-57BC645E5C1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503" t="39320" r="73262" b="50913"/>
          <a:stretch/>
        </p:blipFill>
        <p:spPr>
          <a:xfrm>
            <a:off x="590632" y="8908458"/>
            <a:ext cx="1892272" cy="360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9D58117-B42C-8FB1-D9B8-6E7424197A2B}"/>
              </a:ext>
            </a:extLst>
          </p:cNvPr>
          <p:cNvSpPr/>
          <p:nvPr/>
        </p:nvSpPr>
        <p:spPr>
          <a:xfrm>
            <a:off x="4766516" y="4432084"/>
            <a:ext cx="1426276" cy="5486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49A800-4181-B06A-183B-8CCD80DB6579}"/>
              </a:ext>
            </a:extLst>
          </p:cNvPr>
          <p:cNvSpPr/>
          <p:nvPr/>
        </p:nvSpPr>
        <p:spPr>
          <a:xfrm>
            <a:off x="3399527" y="2234783"/>
            <a:ext cx="2887871" cy="40937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12FC2E-F9E7-3E89-282B-5C785FD1AFBD}"/>
              </a:ext>
            </a:extLst>
          </p:cNvPr>
          <p:cNvSpPr/>
          <p:nvPr/>
        </p:nvSpPr>
        <p:spPr>
          <a:xfrm>
            <a:off x="3399527" y="1740272"/>
            <a:ext cx="2887871" cy="41989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7C4D4E-9879-2832-405A-55DCB11B1038}"/>
              </a:ext>
            </a:extLst>
          </p:cNvPr>
          <p:cNvSpPr/>
          <p:nvPr/>
        </p:nvSpPr>
        <p:spPr>
          <a:xfrm>
            <a:off x="955852" y="6616455"/>
            <a:ext cx="5140147" cy="38972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88A7B6-32ED-A266-755B-A8D1342C7922}"/>
              </a:ext>
            </a:extLst>
          </p:cNvPr>
          <p:cNvSpPr/>
          <p:nvPr/>
        </p:nvSpPr>
        <p:spPr>
          <a:xfrm>
            <a:off x="955852" y="7342531"/>
            <a:ext cx="5140147" cy="38972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326D95-1673-ED87-E92A-045182D7F31B}"/>
              </a:ext>
            </a:extLst>
          </p:cNvPr>
          <p:cNvSpPr/>
          <p:nvPr/>
        </p:nvSpPr>
        <p:spPr>
          <a:xfrm>
            <a:off x="2393013" y="8192701"/>
            <a:ext cx="3799779" cy="37554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EB2AFB-0037-2483-699E-14A1416CC6A9}"/>
              </a:ext>
            </a:extLst>
          </p:cNvPr>
          <p:cNvSpPr/>
          <p:nvPr/>
        </p:nvSpPr>
        <p:spPr>
          <a:xfrm>
            <a:off x="2393013" y="8864449"/>
            <a:ext cx="3799779" cy="37554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397E82E-A69B-9E50-2BF6-250A7D3B889D}"/>
              </a:ext>
            </a:extLst>
          </p:cNvPr>
          <p:cNvSpPr/>
          <p:nvPr/>
        </p:nvSpPr>
        <p:spPr>
          <a:xfrm>
            <a:off x="1443789" y="3064808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FA35A16-00B8-CCA5-9A26-546EA17FB24C}"/>
              </a:ext>
            </a:extLst>
          </p:cNvPr>
          <p:cNvSpPr/>
          <p:nvPr/>
        </p:nvSpPr>
        <p:spPr>
          <a:xfrm>
            <a:off x="4626893" y="3071262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952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702084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112E41-59C2-777B-33EB-9051EA7C8C20}"/>
              </a:ext>
            </a:extLst>
          </p:cNvPr>
          <p:cNvSpPr/>
          <p:nvPr/>
        </p:nvSpPr>
        <p:spPr>
          <a:xfrm>
            <a:off x="497830" y="1387321"/>
            <a:ext cx="5862340" cy="21055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11. a) Round 3289 correct to the nearest thousand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b)  Write 104.735 to the nearest 100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c)  Round 6.45 to the nearest integer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02DB1B-3D19-EF92-6BCA-8999931220F4}"/>
              </a:ext>
            </a:extLst>
          </p:cNvPr>
          <p:cNvSpPr/>
          <p:nvPr/>
        </p:nvSpPr>
        <p:spPr>
          <a:xfrm>
            <a:off x="497830" y="3597267"/>
            <a:ext cx="5862340" cy="1725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12. a) Write 104.735 correct to 2 decimal places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b) Round 105.735 correct to 1 decimal place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c) Write 2.49 correct to 1 decimal place.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C0AE0B-92C1-FE8F-C138-804C0F3E5086}"/>
              </a:ext>
            </a:extLst>
          </p:cNvPr>
          <p:cNvSpPr/>
          <p:nvPr/>
        </p:nvSpPr>
        <p:spPr>
          <a:xfrm>
            <a:off x="497829" y="5384716"/>
            <a:ext cx="5862340" cy="17541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 startAt="13"/>
            </a:pPr>
            <a:r>
              <a:rPr lang="en-GB" sz="1200">
                <a:solidFill>
                  <a:schemeClr val="tx1"/>
                </a:solidFill>
              </a:rPr>
              <a:t>a) Write the number 104.735 to 3 significant figures.</a:t>
            </a:r>
          </a:p>
          <a:p>
            <a:pPr marL="228600" indent="-228600">
              <a:buAutoNum type="arabicPeriod" startAt="13"/>
            </a:pPr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 b) 0.05076 to two significant figures.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0B84986-B280-588C-8251-2476E6B482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916"/>
          <a:stretch/>
        </p:blipFill>
        <p:spPr>
          <a:xfrm>
            <a:off x="870523" y="7237374"/>
            <a:ext cx="5305688" cy="71238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3B434-4EB2-E531-2304-D73CCFF5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10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64F2F8-0EE7-AE83-02B0-E7C2FFB0773A}"/>
              </a:ext>
            </a:extLst>
          </p:cNvPr>
          <p:cNvSpPr/>
          <p:nvPr/>
        </p:nvSpPr>
        <p:spPr>
          <a:xfrm>
            <a:off x="497829" y="7191038"/>
            <a:ext cx="5862340" cy="2065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14.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A838CB-77E8-FF3B-7BC8-3E0C07DB371D}"/>
              </a:ext>
            </a:extLst>
          </p:cNvPr>
          <p:cNvSpPr/>
          <p:nvPr/>
        </p:nvSpPr>
        <p:spPr>
          <a:xfrm>
            <a:off x="1043684" y="1690380"/>
            <a:ext cx="5132527" cy="34696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255EA2-4EDB-1BC2-BCAE-8EAE89CFB84D}"/>
              </a:ext>
            </a:extLst>
          </p:cNvPr>
          <p:cNvSpPr/>
          <p:nvPr/>
        </p:nvSpPr>
        <p:spPr>
          <a:xfrm>
            <a:off x="1043684" y="2453201"/>
            <a:ext cx="5132527" cy="34696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DD214D-4D11-0642-79CA-3C3B8DA5AEB7}"/>
              </a:ext>
            </a:extLst>
          </p:cNvPr>
          <p:cNvSpPr/>
          <p:nvPr/>
        </p:nvSpPr>
        <p:spPr>
          <a:xfrm>
            <a:off x="1043683" y="3084038"/>
            <a:ext cx="5132527" cy="34696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498C82-72E6-19F0-07D6-4A45083BF73B}"/>
              </a:ext>
            </a:extLst>
          </p:cNvPr>
          <p:cNvSpPr/>
          <p:nvPr/>
        </p:nvSpPr>
        <p:spPr>
          <a:xfrm>
            <a:off x="3769894" y="3714875"/>
            <a:ext cx="2406314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0EE245-F46B-575B-84E7-A110928B8C8E}"/>
              </a:ext>
            </a:extLst>
          </p:cNvPr>
          <p:cNvSpPr/>
          <p:nvPr/>
        </p:nvSpPr>
        <p:spPr>
          <a:xfrm>
            <a:off x="3769894" y="4348287"/>
            <a:ext cx="2406314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D98CA9-9476-0227-3804-42810958AE21}"/>
              </a:ext>
            </a:extLst>
          </p:cNvPr>
          <p:cNvSpPr/>
          <p:nvPr/>
        </p:nvSpPr>
        <p:spPr>
          <a:xfrm>
            <a:off x="3769894" y="4906484"/>
            <a:ext cx="2406314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EFDBE8-CB82-06D4-9CCD-4ED3520520B5}"/>
              </a:ext>
            </a:extLst>
          </p:cNvPr>
          <p:cNvSpPr/>
          <p:nvPr/>
        </p:nvSpPr>
        <p:spPr>
          <a:xfrm>
            <a:off x="3769894" y="5716013"/>
            <a:ext cx="2406314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3ACCED-85D2-D854-27FA-D7C5D70F83E8}"/>
              </a:ext>
            </a:extLst>
          </p:cNvPr>
          <p:cNvSpPr/>
          <p:nvPr/>
        </p:nvSpPr>
        <p:spPr>
          <a:xfrm>
            <a:off x="3769894" y="6566950"/>
            <a:ext cx="2406314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5A90D2-2BDC-4796-D0C7-8E88EF7B3CD2}"/>
              </a:ext>
            </a:extLst>
          </p:cNvPr>
          <p:cNvSpPr/>
          <p:nvPr/>
        </p:nvSpPr>
        <p:spPr>
          <a:xfrm>
            <a:off x="3769894" y="8797524"/>
            <a:ext cx="2406314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366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689592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112E41-59C2-777B-33EB-9051EA7C8C20}"/>
              </a:ext>
            </a:extLst>
          </p:cNvPr>
          <p:cNvSpPr/>
          <p:nvPr/>
        </p:nvSpPr>
        <p:spPr>
          <a:xfrm>
            <a:off x="497830" y="1355237"/>
            <a:ext cx="5862340" cy="2043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15.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02DB1B-3D19-EF92-6BCA-8999931220F4}"/>
              </a:ext>
            </a:extLst>
          </p:cNvPr>
          <p:cNvSpPr/>
          <p:nvPr/>
        </p:nvSpPr>
        <p:spPr>
          <a:xfrm>
            <a:off x="497830" y="3452890"/>
            <a:ext cx="5862340" cy="1609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16.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C0AE0B-92C1-FE8F-C138-804C0F3E5086}"/>
              </a:ext>
            </a:extLst>
          </p:cNvPr>
          <p:cNvSpPr/>
          <p:nvPr/>
        </p:nvSpPr>
        <p:spPr>
          <a:xfrm>
            <a:off x="497829" y="5111920"/>
            <a:ext cx="5862340" cy="1502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17. a) Write the following numbers in standard form: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742950" lvl="1" indent="-285750">
              <a:buAutoNum type="romanLcParenR"/>
            </a:pPr>
            <a:r>
              <a:rPr lang="en-GB" sz="1200">
                <a:solidFill>
                  <a:schemeClr val="tx1"/>
                </a:solidFill>
              </a:rPr>
              <a:t>0.002                                                               ii) 0.006015</a:t>
            </a:r>
          </a:p>
          <a:p>
            <a:pPr lvl="1"/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 b) Write the following numbers in ordinary form: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lvl="1"/>
            <a:r>
              <a:rPr lang="en-GB" sz="1200" err="1">
                <a:solidFill>
                  <a:schemeClr val="tx1"/>
                </a:solidFill>
              </a:rPr>
              <a:t>i</a:t>
            </a:r>
            <a:r>
              <a:rPr lang="en-GB" sz="1200">
                <a:solidFill>
                  <a:schemeClr val="tx1"/>
                </a:solidFill>
              </a:rPr>
              <a:t>)      3 × 10⁻⁶                                                           ii) 4.8	 × 10⁻⁴</a:t>
            </a:r>
          </a:p>
          <a:p>
            <a:pPr lvl="1"/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E34FD53-1F8F-3A19-75A0-47ADC613CD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8" t="-1453" b="57597"/>
          <a:stretch/>
        </p:blipFill>
        <p:spPr>
          <a:xfrm>
            <a:off x="590550" y="6953893"/>
            <a:ext cx="5746104" cy="27570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6C06A62-AC18-1125-8264-7D36B0B3BD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8987"/>
          <a:stretch/>
        </p:blipFill>
        <p:spPr>
          <a:xfrm>
            <a:off x="590550" y="3706810"/>
            <a:ext cx="5676900" cy="24517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C5C95DD-9704-3033-881E-6B6EB0A8B83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8557" b="12172"/>
          <a:stretch/>
        </p:blipFill>
        <p:spPr>
          <a:xfrm>
            <a:off x="978569" y="2496022"/>
            <a:ext cx="2333625" cy="8299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3CE8F05-D92E-92F8-F8BC-794B5F615D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569" y="1418703"/>
            <a:ext cx="3352800" cy="5429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3B434-4EB2-E531-2304-D73CCFF5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11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64F2F8-0EE7-AE83-02B0-E7C2FFB0773A}"/>
              </a:ext>
            </a:extLst>
          </p:cNvPr>
          <p:cNvSpPr/>
          <p:nvPr/>
        </p:nvSpPr>
        <p:spPr>
          <a:xfrm>
            <a:off x="497829" y="6664095"/>
            <a:ext cx="5862340" cy="1663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18.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BCD2E3-DA2F-B0DC-47A6-05D19A21C2A4}"/>
              </a:ext>
            </a:extLst>
          </p:cNvPr>
          <p:cNvSpPr/>
          <p:nvPr/>
        </p:nvSpPr>
        <p:spPr>
          <a:xfrm>
            <a:off x="3845094" y="1426745"/>
            <a:ext cx="2406314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09CAD0-49F2-5EEA-972B-2DAF673CF688}"/>
              </a:ext>
            </a:extLst>
          </p:cNvPr>
          <p:cNvSpPr/>
          <p:nvPr/>
        </p:nvSpPr>
        <p:spPr>
          <a:xfrm>
            <a:off x="3861136" y="2974872"/>
            <a:ext cx="2406314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401077-2E1C-094B-6472-93084480E1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479" t="31630" b="26060"/>
          <a:stretch/>
        </p:blipFill>
        <p:spPr>
          <a:xfrm>
            <a:off x="1812756" y="3974630"/>
            <a:ext cx="3549269" cy="3344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986037-5B81-1922-C061-B1561B6C60B4}"/>
              </a:ext>
            </a:extLst>
          </p:cNvPr>
          <p:cNvSpPr/>
          <p:nvPr/>
        </p:nvSpPr>
        <p:spPr>
          <a:xfrm>
            <a:off x="608243" y="4680705"/>
            <a:ext cx="5676899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E48D8F-552E-F7F7-14DF-0C6EE28AAF99}"/>
              </a:ext>
            </a:extLst>
          </p:cNvPr>
          <p:cNvSpPr/>
          <p:nvPr/>
        </p:nvSpPr>
        <p:spPr>
          <a:xfrm>
            <a:off x="590551" y="7905537"/>
            <a:ext cx="5676899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4B9857-8A90-5FC4-3EB9-C1427902D3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018" t="40563"/>
          <a:stretch/>
        </p:blipFill>
        <p:spPr>
          <a:xfrm>
            <a:off x="1587276" y="7190217"/>
            <a:ext cx="4027712" cy="37365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1DFC56-AB29-8789-D1AF-8C447F5B9BE8}"/>
              </a:ext>
            </a:extLst>
          </p:cNvPr>
          <p:cNvSpPr/>
          <p:nvPr/>
        </p:nvSpPr>
        <p:spPr>
          <a:xfrm>
            <a:off x="497829" y="8377093"/>
            <a:ext cx="5862340" cy="9655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 startAt="19"/>
            </a:pPr>
            <a:r>
              <a:rPr lang="en-GB" sz="1200">
                <a:solidFill>
                  <a:schemeClr val="tx1"/>
                </a:solidFill>
              </a:rPr>
              <a:t>a) Write the decimal number 55 as a binary number</a:t>
            </a:r>
          </a:p>
          <a:p>
            <a:pPr marL="228600" indent="-228600">
              <a:buAutoNum type="arabicPeriod" startAt="19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rabicPeriod" startAt="19"/>
            </a:pPr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  b) Write the binary number 1011010 as a decimal number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09574C-E6B8-265D-678B-351422FD3878}"/>
              </a:ext>
            </a:extLst>
          </p:cNvPr>
          <p:cNvSpPr/>
          <p:nvPr/>
        </p:nvSpPr>
        <p:spPr>
          <a:xfrm>
            <a:off x="4126880" y="8427897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ABF11D-EC29-6B39-CB46-EB935E671F63}"/>
              </a:ext>
            </a:extLst>
          </p:cNvPr>
          <p:cNvSpPr/>
          <p:nvPr/>
        </p:nvSpPr>
        <p:spPr>
          <a:xfrm>
            <a:off x="1812756" y="5454551"/>
            <a:ext cx="1354987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D25064-C5AA-39FE-90D7-E3397A7CF443}"/>
              </a:ext>
            </a:extLst>
          </p:cNvPr>
          <p:cNvSpPr/>
          <p:nvPr/>
        </p:nvSpPr>
        <p:spPr>
          <a:xfrm>
            <a:off x="1957207" y="6192420"/>
            <a:ext cx="1354987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00B186-988B-F59E-59FE-616CEE6E09DC}"/>
              </a:ext>
            </a:extLst>
          </p:cNvPr>
          <p:cNvSpPr/>
          <p:nvPr/>
        </p:nvSpPr>
        <p:spPr>
          <a:xfrm>
            <a:off x="4781835" y="5464563"/>
            <a:ext cx="1354987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1690BC-53B9-87CF-E349-9B83D17F685A}"/>
              </a:ext>
            </a:extLst>
          </p:cNvPr>
          <p:cNvSpPr/>
          <p:nvPr/>
        </p:nvSpPr>
        <p:spPr>
          <a:xfrm>
            <a:off x="4781835" y="6196560"/>
            <a:ext cx="1354987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8F85BB-8BF4-C438-AA7C-406B75B2FE3E}"/>
              </a:ext>
            </a:extLst>
          </p:cNvPr>
          <p:cNvSpPr/>
          <p:nvPr/>
        </p:nvSpPr>
        <p:spPr>
          <a:xfrm>
            <a:off x="4438016" y="8892751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840314F-EF25-19DD-6BEE-2D798D182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300" y="2147462"/>
            <a:ext cx="3352800" cy="5429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AFA2D6D-F430-4F9C-A836-36E694898C88}"/>
              </a:ext>
            </a:extLst>
          </p:cNvPr>
          <p:cNvSpPr/>
          <p:nvPr/>
        </p:nvSpPr>
        <p:spPr>
          <a:xfrm>
            <a:off x="3861136" y="2169246"/>
            <a:ext cx="2406314" cy="3267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61F1A38-83ED-D07A-96B1-742FC7D1F9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2947" y="2134683"/>
            <a:ext cx="728519" cy="28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5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3B434-4EB2-E531-2304-D73CCFF5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2" name="Table 26">
            <a:extLst>
              <a:ext uri="{FF2B5EF4-FFF2-40B4-BE49-F238E27FC236}">
                <a16:creationId xmlns:a16="http://schemas.microsoft.com/office/drawing/2014/main" id="{A88E1CF2-B84E-0442-4310-7B7EC87AA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710013"/>
              </p:ext>
            </p:extLst>
          </p:nvPr>
        </p:nvGraphicFramePr>
        <p:xfrm>
          <a:off x="524169" y="1484668"/>
          <a:ext cx="5862348" cy="136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72">
                  <a:extLst>
                    <a:ext uri="{9D8B030D-6E8A-4147-A177-3AD203B41FA5}">
                      <a16:colId xmlns:a16="http://schemas.microsoft.com/office/drawing/2014/main" val="931584260"/>
                    </a:ext>
                  </a:extLst>
                </a:gridCol>
                <a:gridCol w="651372">
                  <a:extLst>
                    <a:ext uri="{9D8B030D-6E8A-4147-A177-3AD203B41FA5}">
                      <a16:colId xmlns:a16="http://schemas.microsoft.com/office/drawing/2014/main" val="1528159408"/>
                    </a:ext>
                  </a:extLst>
                </a:gridCol>
                <a:gridCol w="651372">
                  <a:extLst>
                    <a:ext uri="{9D8B030D-6E8A-4147-A177-3AD203B41FA5}">
                      <a16:colId xmlns:a16="http://schemas.microsoft.com/office/drawing/2014/main" val="3385997178"/>
                    </a:ext>
                  </a:extLst>
                </a:gridCol>
                <a:gridCol w="651372">
                  <a:extLst>
                    <a:ext uri="{9D8B030D-6E8A-4147-A177-3AD203B41FA5}">
                      <a16:colId xmlns:a16="http://schemas.microsoft.com/office/drawing/2014/main" val="2601368186"/>
                    </a:ext>
                  </a:extLst>
                </a:gridCol>
                <a:gridCol w="651372">
                  <a:extLst>
                    <a:ext uri="{9D8B030D-6E8A-4147-A177-3AD203B41FA5}">
                      <a16:colId xmlns:a16="http://schemas.microsoft.com/office/drawing/2014/main" val="1641796392"/>
                    </a:ext>
                  </a:extLst>
                </a:gridCol>
                <a:gridCol w="651372">
                  <a:extLst>
                    <a:ext uri="{9D8B030D-6E8A-4147-A177-3AD203B41FA5}">
                      <a16:colId xmlns:a16="http://schemas.microsoft.com/office/drawing/2014/main" val="4172567818"/>
                    </a:ext>
                  </a:extLst>
                </a:gridCol>
                <a:gridCol w="651372">
                  <a:extLst>
                    <a:ext uri="{9D8B030D-6E8A-4147-A177-3AD203B41FA5}">
                      <a16:colId xmlns:a16="http://schemas.microsoft.com/office/drawing/2014/main" val="4184152781"/>
                    </a:ext>
                  </a:extLst>
                </a:gridCol>
                <a:gridCol w="651372">
                  <a:extLst>
                    <a:ext uri="{9D8B030D-6E8A-4147-A177-3AD203B41FA5}">
                      <a16:colId xmlns:a16="http://schemas.microsoft.com/office/drawing/2014/main" val="3521678245"/>
                    </a:ext>
                  </a:extLst>
                </a:gridCol>
                <a:gridCol w="651372">
                  <a:extLst>
                    <a:ext uri="{9D8B030D-6E8A-4147-A177-3AD203B41FA5}">
                      <a16:colId xmlns:a16="http://schemas.microsoft.com/office/drawing/2014/main" val="3906099897"/>
                    </a:ext>
                  </a:extLst>
                </a:gridCol>
              </a:tblGrid>
              <a:tr h="297025"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349419"/>
                  </a:ext>
                </a:extLst>
              </a:tr>
              <a:tr h="589348"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055552"/>
                  </a:ext>
                </a:extLst>
              </a:tr>
              <a:tr h="478027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55732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6AE5E1-84B1-B6D5-BBBC-4E9396507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189414"/>
              </p:ext>
            </p:extLst>
          </p:nvPr>
        </p:nvGraphicFramePr>
        <p:xfrm>
          <a:off x="536571" y="3167383"/>
          <a:ext cx="5849950" cy="1353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995">
                  <a:extLst>
                    <a:ext uri="{9D8B030D-6E8A-4147-A177-3AD203B41FA5}">
                      <a16:colId xmlns:a16="http://schemas.microsoft.com/office/drawing/2014/main" val="814777272"/>
                    </a:ext>
                  </a:extLst>
                </a:gridCol>
                <a:gridCol w="584995">
                  <a:extLst>
                    <a:ext uri="{9D8B030D-6E8A-4147-A177-3AD203B41FA5}">
                      <a16:colId xmlns:a16="http://schemas.microsoft.com/office/drawing/2014/main" val="3038396558"/>
                    </a:ext>
                  </a:extLst>
                </a:gridCol>
                <a:gridCol w="584995">
                  <a:extLst>
                    <a:ext uri="{9D8B030D-6E8A-4147-A177-3AD203B41FA5}">
                      <a16:colId xmlns:a16="http://schemas.microsoft.com/office/drawing/2014/main" val="2108929450"/>
                    </a:ext>
                  </a:extLst>
                </a:gridCol>
                <a:gridCol w="584995">
                  <a:extLst>
                    <a:ext uri="{9D8B030D-6E8A-4147-A177-3AD203B41FA5}">
                      <a16:colId xmlns:a16="http://schemas.microsoft.com/office/drawing/2014/main" val="324388158"/>
                    </a:ext>
                  </a:extLst>
                </a:gridCol>
                <a:gridCol w="584995">
                  <a:extLst>
                    <a:ext uri="{9D8B030D-6E8A-4147-A177-3AD203B41FA5}">
                      <a16:colId xmlns:a16="http://schemas.microsoft.com/office/drawing/2014/main" val="3501013972"/>
                    </a:ext>
                  </a:extLst>
                </a:gridCol>
                <a:gridCol w="584995">
                  <a:extLst>
                    <a:ext uri="{9D8B030D-6E8A-4147-A177-3AD203B41FA5}">
                      <a16:colId xmlns:a16="http://schemas.microsoft.com/office/drawing/2014/main" val="1110169561"/>
                    </a:ext>
                  </a:extLst>
                </a:gridCol>
                <a:gridCol w="584995">
                  <a:extLst>
                    <a:ext uri="{9D8B030D-6E8A-4147-A177-3AD203B41FA5}">
                      <a16:colId xmlns:a16="http://schemas.microsoft.com/office/drawing/2014/main" val="2776265983"/>
                    </a:ext>
                  </a:extLst>
                </a:gridCol>
                <a:gridCol w="584995">
                  <a:extLst>
                    <a:ext uri="{9D8B030D-6E8A-4147-A177-3AD203B41FA5}">
                      <a16:colId xmlns:a16="http://schemas.microsoft.com/office/drawing/2014/main" val="3079954271"/>
                    </a:ext>
                  </a:extLst>
                </a:gridCol>
                <a:gridCol w="584995">
                  <a:extLst>
                    <a:ext uri="{9D8B030D-6E8A-4147-A177-3AD203B41FA5}">
                      <a16:colId xmlns:a16="http://schemas.microsoft.com/office/drawing/2014/main" val="1969316497"/>
                    </a:ext>
                  </a:extLst>
                </a:gridCol>
                <a:gridCol w="584995">
                  <a:extLst>
                    <a:ext uri="{9D8B030D-6E8A-4147-A177-3AD203B41FA5}">
                      <a16:colId xmlns:a16="http://schemas.microsoft.com/office/drawing/2014/main" val="1938291163"/>
                    </a:ext>
                  </a:extLst>
                </a:gridCol>
              </a:tblGrid>
              <a:tr h="255205"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576966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798924"/>
                  </a:ext>
                </a:extLst>
              </a:tr>
              <a:tr h="488739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18988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293260E-9968-F2FE-09F6-963FBF1C3AAB}"/>
              </a:ext>
            </a:extLst>
          </p:cNvPr>
          <p:cNvSpPr txBox="1"/>
          <p:nvPr/>
        </p:nvSpPr>
        <p:spPr>
          <a:xfrm>
            <a:off x="282876" y="5040460"/>
            <a:ext cx="4638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Complete these sections for the questions you didn’t get full marks on</a:t>
            </a:r>
            <a:endParaRPr lang="en-GB" sz="1200" b="1" i="1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44DA46E-C1C2-E19E-4F82-213D1D942E69}"/>
              </a:ext>
            </a:extLst>
          </p:cNvPr>
          <p:cNvCxnSpPr>
            <a:cxnSpLocks/>
          </p:cNvCxnSpPr>
          <p:nvPr/>
        </p:nvCxnSpPr>
        <p:spPr>
          <a:xfrm flipV="1">
            <a:off x="4905534" y="4293445"/>
            <a:ext cx="1542206" cy="881031"/>
          </a:xfrm>
          <a:prstGeom prst="bentConnector3">
            <a:avLst>
              <a:gd name="adj1" fmla="val 11345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588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218037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B6C06A62-AC18-1125-8264-7D36B0B3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9" y="11444221"/>
            <a:ext cx="5676900" cy="7905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6C01E-F140-8826-0EBB-4640B3C3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6179" y="950015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13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D7F632-3512-DDDC-8CA5-26BD873C7BD2}"/>
              </a:ext>
            </a:extLst>
          </p:cNvPr>
          <p:cNvSpPr/>
          <p:nvPr/>
        </p:nvSpPr>
        <p:spPr>
          <a:xfrm>
            <a:off x="566995" y="1307917"/>
            <a:ext cx="5862340" cy="3600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A</a:t>
            </a:r>
          </a:p>
          <a:p>
            <a:pPr>
              <a:lnSpc>
                <a:spcPct val="300000"/>
              </a:lnSpc>
            </a:pPr>
            <a:r>
              <a:rPr lang="en-GB" sz="1200">
                <a:solidFill>
                  <a:schemeClr val="tx1"/>
                </a:solidFill>
              </a:rPr>
              <a:t>       a) Write down the value of </a:t>
            </a:r>
            <a:r>
              <a:rPr lang="en-GB" sz="1200" b="1">
                <a:solidFill>
                  <a:schemeClr val="tx1"/>
                </a:solidFill>
              </a:rPr>
              <a:t>7</a:t>
            </a:r>
            <a:r>
              <a:rPr lang="en-GB" sz="1200">
                <a:solidFill>
                  <a:schemeClr val="tx1"/>
                </a:solidFill>
              </a:rPr>
              <a:t> in 5379</a:t>
            </a:r>
          </a:p>
          <a:p>
            <a:pPr>
              <a:lnSpc>
                <a:spcPct val="300000"/>
              </a:lnSpc>
            </a:pPr>
            <a:r>
              <a:rPr lang="en-GB" sz="1200">
                <a:solidFill>
                  <a:schemeClr val="tx1"/>
                </a:solidFill>
              </a:rPr>
              <a:t>       b) Write down the value of </a:t>
            </a:r>
            <a:r>
              <a:rPr lang="en-GB" sz="1200" b="1">
                <a:solidFill>
                  <a:schemeClr val="tx1"/>
                </a:solidFill>
              </a:rPr>
              <a:t>7</a:t>
            </a:r>
            <a:r>
              <a:rPr lang="en-GB" sz="1200">
                <a:solidFill>
                  <a:schemeClr val="tx1"/>
                </a:solidFill>
              </a:rPr>
              <a:t> in 5739 </a:t>
            </a:r>
          </a:p>
          <a:p>
            <a:pPr>
              <a:lnSpc>
                <a:spcPct val="300000"/>
              </a:lnSpc>
            </a:pPr>
            <a:r>
              <a:rPr lang="en-GB" sz="1200">
                <a:solidFill>
                  <a:schemeClr val="tx1"/>
                </a:solidFill>
              </a:rPr>
              <a:t>       c) Write down the value of </a:t>
            </a:r>
            <a:r>
              <a:rPr lang="en-GB" sz="1200" b="1">
                <a:solidFill>
                  <a:schemeClr val="tx1"/>
                </a:solidFill>
              </a:rPr>
              <a:t>7</a:t>
            </a:r>
            <a:r>
              <a:rPr lang="en-GB" sz="1200">
                <a:solidFill>
                  <a:schemeClr val="tx1"/>
                </a:solidFill>
              </a:rPr>
              <a:t> in 5937</a:t>
            </a:r>
          </a:p>
          <a:p>
            <a:pPr>
              <a:lnSpc>
                <a:spcPct val="300000"/>
              </a:lnSpc>
            </a:pPr>
            <a:r>
              <a:rPr lang="en-GB" sz="1200">
                <a:solidFill>
                  <a:schemeClr val="tx1"/>
                </a:solidFill>
              </a:rPr>
              <a:t>       d) Write down the value of </a:t>
            </a:r>
            <a:r>
              <a:rPr lang="en-GB" sz="1200" b="1">
                <a:solidFill>
                  <a:schemeClr val="tx1"/>
                </a:solidFill>
              </a:rPr>
              <a:t>7</a:t>
            </a:r>
            <a:r>
              <a:rPr lang="en-GB" sz="1200">
                <a:solidFill>
                  <a:schemeClr val="tx1"/>
                </a:solidFill>
              </a:rPr>
              <a:t> in 570,039</a:t>
            </a:r>
          </a:p>
          <a:p>
            <a:pPr>
              <a:lnSpc>
                <a:spcPct val="300000"/>
              </a:lnSpc>
            </a:pPr>
            <a:r>
              <a:rPr lang="en-GB" sz="1200">
                <a:solidFill>
                  <a:schemeClr val="tx1"/>
                </a:solidFill>
              </a:rPr>
              <a:t>       e) Write down the value of </a:t>
            </a:r>
            <a:r>
              <a:rPr lang="en-GB" sz="1200" b="1">
                <a:solidFill>
                  <a:schemeClr val="tx1"/>
                </a:solidFill>
              </a:rPr>
              <a:t>7</a:t>
            </a:r>
            <a:r>
              <a:rPr lang="en-GB" sz="1200">
                <a:solidFill>
                  <a:schemeClr val="tx1"/>
                </a:solidFill>
              </a:rPr>
              <a:t> in 7,000,000</a:t>
            </a:r>
          </a:p>
          <a:p>
            <a:pPr>
              <a:lnSpc>
                <a:spcPct val="300000"/>
              </a:lnSpc>
            </a:pPr>
            <a:r>
              <a:rPr lang="en-GB" sz="1200">
                <a:solidFill>
                  <a:schemeClr val="tx1"/>
                </a:solidFill>
              </a:rPr>
              <a:t>       f) Write down the value of </a:t>
            </a:r>
            <a:r>
              <a:rPr lang="en-GB" sz="1200" b="1">
                <a:solidFill>
                  <a:schemeClr val="tx1"/>
                </a:solidFill>
              </a:rPr>
              <a:t>7</a:t>
            </a:r>
            <a:r>
              <a:rPr lang="en-GB" sz="1200">
                <a:solidFill>
                  <a:schemeClr val="tx1"/>
                </a:solidFill>
              </a:rPr>
              <a:t> in 8,700,000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4708E3-B3DE-2A30-6758-17819DD8EDC3}"/>
              </a:ext>
            </a:extLst>
          </p:cNvPr>
          <p:cNvSpPr/>
          <p:nvPr/>
        </p:nvSpPr>
        <p:spPr>
          <a:xfrm>
            <a:off x="575032" y="5066524"/>
            <a:ext cx="5862340" cy="43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B</a:t>
            </a:r>
          </a:p>
          <a:p>
            <a:pPr>
              <a:lnSpc>
                <a:spcPct val="250000"/>
              </a:lnSpc>
            </a:pPr>
            <a:r>
              <a:rPr lang="en-GB" sz="1200">
                <a:solidFill>
                  <a:schemeClr val="tx1"/>
                </a:solidFill>
              </a:rPr>
              <a:t>      a) Write down the number </a:t>
            </a:r>
            <a:r>
              <a:rPr lang="en-GB" sz="1200" b="1">
                <a:solidFill>
                  <a:schemeClr val="tx1"/>
                </a:solidFill>
              </a:rPr>
              <a:t>six hundred and eight </a:t>
            </a:r>
            <a:r>
              <a:rPr lang="en-GB" sz="1200">
                <a:solidFill>
                  <a:schemeClr val="tx1"/>
                </a:solidFill>
              </a:rPr>
              <a:t>in figures</a:t>
            </a:r>
          </a:p>
          <a:p>
            <a:pPr>
              <a:lnSpc>
                <a:spcPct val="250000"/>
              </a:lnSpc>
            </a:pPr>
            <a:r>
              <a:rPr lang="en-GB" sz="1200">
                <a:solidFill>
                  <a:schemeClr val="tx1"/>
                </a:solidFill>
              </a:rPr>
              <a:t>      b) Write down the number </a:t>
            </a:r>
            <a:r>
              <a:rPr lang="en-GB" sz="1200" b="1">
                <a:solidFill>
                  <a:schemeClr val="tx1"/>
                </a:solidFill>
              </a:rPr>
              <a:t>four hundred and twenty </a:t>
            </a:r>
            <a:r>
              <a:rPr lang="en-GB" sz="1200">
                <a:solidFill>
                  <a:schemeClr val="tx1"/>
                </a:solidFill>
              </a:rPr>
              <a:t>in figures</a:t>
            </a:r>
          </a:p>
          <a:p>
            <a:pPr>
              <a:lnSpc>
                <a:spcPct val="250000"/>
              </a:lnSpc>
            </a:pPr>
            <a:r>
              <a:rPr lang="en-GB" sz="1200">
                <a:solidFill>
                  <a:schemeClr val="tx1"/>
                </a:solidFill>
              </a:rPr>
              <a:t>      c) Write down the number </a:t>
            </a:r>
            <a:r>
              <a:rPr lang="en-GB" sz="1200" b="1">
                <a:solidFill>
                  <a:schemeClr val="tx1"/>
                </a:solidFill>
              </a:rPr>
              <a:t> one thousand and six </a:t>
            </a:r>
            <a:r>
              <a:rPr lang="en-GB" sz="1200">
                <a:solidFill>
                  <a:schemeClr val="tx1"/>
                </a:solidFill>
              </a:rPr>
              <a:t>in figures</a:t>
            </a:r>
          </a:p>
          <a:p>
            <a:pPr>
              <a:lnSpc>
                <a:spcPct val="250000"/>
              </a:lnSpc>
            </a:pPr>
            <a:r>
              <a:rPr lang="en-GB" sz="1200">
                <a:solidFill>
                  <a:schemeClr val="tx1"/>
                </a:solidFill>
              </a:rPr>
              <a:t>      d) Write down the number </a:t>
            </a:r>
            <a:r>
              <a:rPr lang="en-GB" sz="1200" b="1">
                <a:solidFill>
                  <a:schemeClr val="tx1"/>
                </a:solidFill>
              </a:rPr>
              <a:t>eight billion </a:t>
            </a:r>
            <a:r>
              <a:rPr lang="en-GB" sz="1200">
                <a:solidFill>
                  <a:schemeClr val="tx1"/>
                </a:solidFill>
              </a:rPr>
              <a:t>in figures</a:t>
            </a:r>
            <a:endParaRPr lang="en-GB" sz="1200" b="1">
              <a:solidFill>
                <a:schemeClr val="tx1"/>
              </a:solidFill>
            </a:endParaRPr>
          </a:p>
          <a:p>
            <a:pPr>
              <a:lnSpc>
                <a:spcPct val="300000"/>
              </a:lnSpc>
            </a:pPr>
            <a:r>
              <a:rPr lang="en-GB" sz="1200" b="1">
                <a:solidFill>
                  <a:schemeClr val="tx1"/>
                </a:solidFill>
              </a:rPr>
              <a:t>      </a:t>
            </a:r>
            <a:r>
              <a:rPr lang="en-GB" sz="1200">
                <a:solidFill>
                  <a:schemeClr val="tx1"/>
                </a:solidFill>
              </a:rPr>
              <a:t>e) Write down the number </a:t>
            </a:r>
            <a:r>
              <a:rPr lang="en-GB" sz="1200" b="1">
                <a:solidFill>
                  <a:schemeClr val="tx1"/>
                </a:solidFill>
              </a:rPr>
              <a:t>three billion, five hundred and twelve </a:t>
            </a:r>
            <a:r>
              <a:rPr lang="en-GB" sz="1200">
                <a:solidFill>
                  <a:schemeClr val="tx1"/>
                </a:solidFill>
              </a:rPr>
              <a:t>in figures.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300">
              <a:solidFill>
                <a:schemeClr val="tx1"/>
              </a:solidFill>
            </a:endParaRPr>
          </a:p>
          <a:p>
            <a:pPr>
              <a:lnSpc>
                <a:spcPct val="250000"/>
              </a:lnSpc>
            </a:pPr>
            <a:r>
              <a:rPr lang="en-GB" sz="1200">
                <a:solidFill>
                  <a:schemeClr val="tx1"/>
                </a:solidFill>
              </a:rPr>
              <a:t>      f) Write down the number </a:t>
            </a:r>
            <a:r>
              <a:rPr lang="en-GB" sz="1200" b="1">
                <a:solidFill>
                  <a:schemeClr val="tx1"/>
                </a:solidFill>
              </a:rPr>
              <a:t>ninety one thousand, four hundred and thirteen</a:t>
            </a:r>
            <a:r>
              <a:rPr lang="en-GB" sz="1200">
                <a:solidFill>
                  <a:schemeClr val="tx1"/>
                </a:solidFill>
              </a:rPr>
              <a:t> in figures</a:t>
            </a:r>
          </a:p>
          <a:p>
            <a:pPr>
              <a:lnSpc>
                <a:spcPct val="250000"/>
              </a:lnSpc>
            </a:pPr>
            <a:endParaRPr lang="en-GB" sz="700">
              <a:solidFill>
                <a:schemeClr val="tx1"/>
              </a:solidFill>
            </a:endParaRPr>
          </a:p>
          <a:p>
            <a:pPr>
              <a:lnSpc>
                <a:spcPct val="250000"/>
              </a:lnSpc>
            </a:pPr>
            <a:r>
              <a:rPr lang="en-GB" sz="1200">
                <a:solidFill>
                  <a:schemeClr val="tx1"/>
                </a:solidFill>
              </a:rPr>
              <a:t>      g) Write down the number </a:t>
            </a:r>
            <a:r>
              <a:rPr lang="en-GB" sz="1200" b="1">
                <a:solidFill>
                  <a:schemeClr val="tx1"/>
                </a:solidFill>
              </a:rPr>
              <a:t>sixty seven thousand, four hundred and thirteen</a:t>
            </a:r>
            <a:r>
              <a:rPr lang="en-GB" sz="1200">
                <a:solidFill>
                  <a:schemeClr val="tx1"/>
                </a:solidFill>
              </a:rPr>
              <a:t> in figures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C32ED-649E-1FC8-ACE6-90E3A653F5B8}"/>
              </a:ext>
            </a:extLst>
          </p:cNvPr>
          <p:cNvSpPr/>
          <p:nvPr/>
        </p:nvSpPr>
        <p:spPr>
          <a:xfrm>
            <a:off x="3273408" y="1751321"/>
            <a:ext cx="3034159" cy="2880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9C429E-1D49-5445-A563-CEE83C6BA96C}"/>
              </a:ext>
            </a:extLst>
          </p:cNvPr>
          <p:cNvSpPr/>
          <p:nvPr/>
        </p:nvSpPr>
        <p:spPr>
          <a:xfrm>
            <a:off x="3280925" y="2335646"/>
            <a:ext cx="3034159" cy="2880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8F8C5A-B0CB-8F75-A14D-F245C14812D1}"/>
              </a:ext>
            </a:extLst>
          </p:cNvPr>
          <p:cNvSpPr/>
          <p:nvPr/>
        </p:nvSpPr>
        <p:spPr>
          <a:xfrm>
            <a:off x="3280925" y="2833426"/>
            <a:ext cx="3034159" cy="2880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BDF7EC-12D3-45AA-9133-A82D36062B0E}"/>
              </a:ext>
            </a:extLst>
          </p:cNvPr>
          <p:cNvSpPr/>
          <p:nvPr/>
        </p:nvSpPr>
        <p:spPr>
          <a:xfrm>
            <a:off x="3449482" y="3396375"/>
            <a:ext cx="2867275" cy="3244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398C2C-65A5-BE49-D798-7C2629FD82E4}"/>
              </a:ext>
            </a:extLst>
          </p:cNvPr>
          <p:cNvSpPr/>
          <p:nvPr/>
        </p:nvSpPr>
        <p:spPr>
          <a:xfrm>
            <a:off x="3579285" y="3913961"/>
            <a:ext cx="2737472" cy="3244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2CE836-5786-CA42-8868-453A069E2623}"/>
              </a:ext>
            </a:extLst>
          </p:cNvPr>
          <p:cNvSpPr/>
          <p:nvPr/>
        </p:nvSpPr>
        <p:spPr>
          <a:xfrm>
            <a:off x="3575157" y="4437191"/>
            <a:ext cx="2745729" cy="35144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935856-A5A5-FE38-0E04-27A9D76461A7}"/>
              </a:ext>
            </a:extLst>
          </p:cNvPr>
          <p:cNvSpPr/>
          <p:nvPr/>
        </p:nvSpPr>
        <p:spPr>
          <a:xfrm>
            <a:off x="4596885" y="5427378"/>
            <a:ext cx="1710684" cy="3643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06C35E-07CB-3A7E-0471-302CFC157437}"/>
              </a:ext>
            </a:extLst>
          </p:cNvPr>
          <p:cNvSpPr/>
          <p:nvPr/>
        </p:nvSpPr>
        <p:spPr>
          <a:xfrm>
            <a:off x="4873931" y="5884727"/>
            <a:ext cx="1433637" cy="33059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99FAB4-4839-19FC-CD95-1CDFEE60E6B1}"/>
              </a:ext>
            </a:extLst>
          </p:cNvPr>
          <p:cNvSpPr/>
          <p:nvPr/>
        </p:nvSpPr>
        <p:spPr>
          <a:xfrm>
            <a:off x="4596884" y="6373364"/>
            <a:ext cx="1710683" cy="33059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54126D-288D-B3B9-15FB-EA31986C7CBA}"/>
              </a:ext>
            </a:extLst>
          </p:cNvPr>
          <p:cNvSpPr/>
          <p:nvPr/>
        </p:nvSpPr>
        <p:spPr>
          <a:xfrm>
            <a:off x="4114816" y="6814794"/>
            <a:ext cx="2192751" cy="33059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8DCDE-D410-84E1-C6D0-D54CDB6036CB}"/>
              </a:ext>
            </a:extLst>
          </p:cNvPr>
          <p:cNvSpPr/>
          <p:nvPr/>
        </p:nvSpPr>
        <p:spPr>
          <a:xfrm>
            <a:off x="1272193" y="7599000"/>
            <a:ext cx="5035374" cy="33059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58E942-A9A0-C9E1-59CA-E9548BD4DA46}"/>
              </a:ext>
            </a:extLst>
          </p:cNvPr>
          <p:cNvSpPr/>
          <p:nvPr/>
        </p:nvSpPr>
        <p:spPr>
          <a:xfrm>
            <a:off x="1272193" y="8286930"/>
            <a:ext cx="5035374" cy="33059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FC3FD-F295-CBA5-78B7-E05F9CA2516F}"/>
              </a:ext>
            </a:extLst>
          </p:cNvPr>
          <p:cNvSpPr/>
          <p:nvPr/>
        </p:nvSpPr>
        <p:spPr>
          <a:xfrm>
            <a:off x="1272193" y="8994253"/>
            <a:ext cx="5035374" cy="33059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692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411136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6C01E-F140-8826-0EBB-4640B3C3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3342" y="9426569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14</a:t>
            </a:fld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B93C95-3DFA-C973-255B-A85170C9CC96}"/>
              </a:ext>
            </a:extLst>
          </p:cNvPr>
          <p:cNvSpPr/>
          <p:nvPr/>
        </p:nvSpPr>
        <p:spPr>
          <a:xfrm>
            <a:off x="505326" y="4446655"/>
            <a:ext cx="5862340" cy="514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D</a:t>
            </a:r>
          </a:p>
          <a:p>
            <a:r>
              <a:rPr lang="en-GB" sz="1200">
                <a:solidFill>
                  <a:schemeClr val="tx1"/>
                </a:solidFill>
              </a:rPr>
              <a:t>      a) Write down the numbers marked by the arrows on the number lines below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    b) Mark the number 360 on the number line below.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    c) Mark the number 87 on the number line below.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5D12916-BB93-B865-3AEB-BE59E043CD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34" t="52381" r="2338" b="13159"/>
          <a:stretch/>
        </p:blipFill>
        <p:spPr>
          <a:xfrm>
            <a:off x="962755" y="8000175"/>
            <a:ext cx="4488681" cy="567832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7022BC9D-40F0-9441-6A29-1D85AA7967CA}"/>
              </a:ext>
            </a:extLst>
          </p:cNvPr>
          <p:cNvGrpSpPr/>
          <p:nvPr/>
        </p:nvGrpSpPr>
        <p:grpSpPr>
          <a:xfrm>
            <a:off x="1155073" y="4833836"/>
            <a:ext cx="9903495" cy="752475"/>
            <a:chOff x="1119437" y="6212642"/>
            <a:chExt cx="9903495" cy="75247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71905AB-C962-7CD9-0623-F88157B2DCAA}"/>
                </a:ext>
              </a:extLst>
            </p:cNvPr>
            <p:cNvGrpSpPr/>
            <p:nvPr/>
          </p:nvGrpSpPr>
          <p:grpSpPr>
            <a:xfrm>
              <a:off x="1119437" y="6212642"/>
              <a:ext cx="8091873" cy="752475"/>
              <a:chOff x="1119437" y="6212642"/>
              <a:chExt cx="8091873" cy="752475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284B994B-D68A-D605-1380-94A25D60E5CB}"/>
                  </a:ext>
                </a:extLst>
              </p:cNvPr>
              <p:cNvGrpSpPr/>
              <p:nvPr/>
            </p:nvGrpSpPr>
            <p:grpSpPr>
              <a:xfrm>
                <a:off x="1119437" y="6212642"/>
                <a:ext cx="6305550" cy="752475"/>
                <a:chOff x="1119437" y="6212642"/>
                <a:chExt cx="6305550" cy="752475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B00A8A23-AB7D-F32F-FD30-EE928E2454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12642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D1D4EDF2-F8E5-154B-4896-C1957B3222DC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B3465CBC-8247-4D85-D6DC-20DE36D87BD4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9F002FC-6883-B8EE-07B6-D3997049EF07}"/>
                    </a:ext>
                  </a:extLst>
                </p:cNvPr>
                <p:cNvSpPr txBox="1"/>
                <p:nvPr/>
              </p:nvSpPr>
              <p:spPr>
                <a:xfrm>
                  <a:off x="1119437" y="6446081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100</a:t>
                  </a:r>
                  <a:endParaRPr lang="en-GB"/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995DD3-53EF-09B7-20CF-4DC93C76471F}"/>
                  </a:ext>
                </a:extLst>
              </p:cNvPr>
              <p:cNvSpPr txBox="1"/>
              <p:nvPr/>
            </p:nvSpPr>
            <p:spPr>
              <a:xfrm>
                <a:off x="2905760" y="6485673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200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E2893AC-DB1A-BA0A-5EAC-ACF616DFB4A4}"/>
                </a:ext>
              </a:extLst>
            </p:cNvPr>
            <p:cNvSpPr txBox="1"/>
            <p:nvPr/>
          </p:nvSpPr>
          <p:spPr>
            <a:xfrm>
              <a:off x="4717382" y="6488966"/>
              <a:ext cx="6305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/>
                <a:t>300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FDE0910-1363-5636-CA47-AEBFCFA2D1CD}"/>
              </a:ext>
            </a:extLst>
          </p:cNvPr>
          <p:cNvGrpSpPr/>
          <p:nvPr/>
        </p:nvGrpSpPr>
        <p:grpSpPr>
          <a:xfrm>
            <a:off x="1193173" y="5457417"/>
            <a:ext cx="9865395" cy="752475"/>
            <a:chOff x="1157537" y="6212642"/>
            <a:chExt cx="9865395" cy="75247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B140D8E-9860-832F-82B6-39BF915C548C}"/>
                </a:ext>
              </a:extLst>
            </p:cNvPr>
            <p:cNvGrpSpPr/>
            <p:nvPr/>
          </p:nvGrpSpPr>
          <p:grpSpPr>
            <a:xfrm>
              <a:off x="1157537" y="6212642"/>
              <a:ext cx="8977015" cy="752475"/>
              <a:chOff x="1157537" y="6212642"/>
              <a:chExt cx="8977015" cy="752475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08EC13EB-C45A-97AA-EF9D-7F5CC4B7F6CB}"/>
                  </a:ext>
                </a:extLst>
              </p:cNvPr>
              <p:cNvGrpSpPr/>
              <p:nvPr/>
            </p:nvGrpSpPr>
            <p:grpSpPr>
              <a:xfrm>
                <a:off x="1157537" y="6212642"/>
                <a:ext cx="7185594" cy="752475"/>
                <a:chOff x="1157537" y="6212642"/>
                <a:chExt cx="7185594" cy="752475"/>
              </a:xfrm>
            </p:grpSpPr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84ABDA09-BEC6-2AB3-FE02-A6549564CE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12642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A218DC7-751E-A329-1406-C057F4DEC5F1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E7F36E3-27A5-BF28-DE84-5B88D5A597E1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F57035F-1CB1-C11D-BF34-684C20CAD26F}"/>
                    </a:ext>
                  </a:extLst>
                </p:cNvPr>
                <p:cNvSpPr txBox="1"/>
                <p:nvPr/>
              </p:nvSpPr>
              <p:spPr>
                <a:xfrm>
                  <a:off x="2037581" y="6478165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350</a:t>
                  </a:r>
                  <a:endParaRPr lang="en-GB"/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ECEAAC8-7470-6750-EF11-1A4C2909CC28}"/>
                  </a:ext>
                </a:extLst>
              </p:cNvPr>
              <p:cNvSpPr txBox="1"/>
              <p:nvPr/>
            </p:nvSpPr>
            <p:spPr>
              <a:xfrm>
                <a:off x="3829002" y="6488966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450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7378485-7F87-8352-DF6D-259F0ACFC674}"/>
                </a:ext>
              </a:extLst>
            </p:cNvPr>
            <p:cNvSpPr txBox="1"/>
            <p:nvPr/>
          </p:nvSpPr>
          <p:spPr>
            <a:xfrm>
              <a:off x="4717382" y="6488966"/>
              <a:ext cx="6305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F1F43FA-3F35-BBA7-7821-1793173B5FBB}"/>
              </a:ext>
            </a:extLst>
          </p:cNvPr>
          <p:cNvGrpSpPr/>
          <p:nvPr/>
        </p:nvGrpSpPr>
        <p:grpSpPr>
          <a:xfrm>
            <a:off x="1155073" y="6188048"/>
            <a:ext cx="9903495" cy="752475"/>
            <a:chOff x="1119437" y="6212642"/>
            <a:chExt cx="9903495" cy="752475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FC0EF12-6540-E246-8378-4FB693046A6D}"/>
                </a:ext>
              </a:extLst>
            </p:cNvPr>
            <p:cNvGrpSpPr/>
            <p:nvPr/>
          </p:nvGrpSpPr>
          <p:grpSpPr>
            <a:xfrm>
              <a:off x="1119437" y="6212642"/>
              <a:ext cx="8091873" cy="752475"/>
              <a:chOff x="1119437" y="6212642"/>
              <a:chExt cx="8091873" cy="752475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D910117-00EA-538C-CB02-E1D9B98E0A24}"/>
                  </a:ext>
                </a:extLst>
              </p:cNvPr>
              <p:cNvGrpSpPr/>
              <p:nvPr/>
            </p:nvGrpSpPr>
            <p:grpSpPr>
              <a:xfrm>
                <a:off x="1119437" y="6212642"/>
                <a:ext cx="6305550" cy="752475"/>
                <a:chOff x="1119437" y="6212642"/>
                <a:chExt cx="6305550" cy="752475"/>
              </a:xfrm>
            </p:grpSpPr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EB87C7C0-D830-2F04-D212-EFE3004470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12642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A02C7B6A-17FD-F874-9D29-C7D08CA3513E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41C9C5A3-C659-2BF3-855A-C81418ADFA47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9B0D0A3-7F7C-D65C-0F06-C5EA3DCD33AA}"/>
                    </a:ext>
                  </a:extLst>
                </p:cNvPr>
                <p:cNvSpPr txBox="1"/>
                <p:nvPr/>
              </p:nvSpPr>
              <p:spPr>
                <a:xfrm>
                  <a:off x="1119437" y="6446081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 80</a:t>
                  </a:r>
                  <a:endParaRPr lang="en-GB"/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CE4AFEE-02D1-E655-686B-8A459D159CEB}"/>
                  </a:ext>
                </a:extLst>
              </p:cNvPr>
              <p:cNvSpPr txBox="1"/>
              <p:nvPr/>
            </p:nvSpPr>
            <p:spPr>
              <a:xfrm>
                <a:off x="2905760" y="6485673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 90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5F8F4A9-C5CD-F92F-B1E0-313164AD6156}"/>
                </a:ext>
              </a:extLst>
            </p:cNvPr>
            <p:cNvSpPr txBox="1"/>
            <p:nvPr/>
          </p:nvSpPr>
          <p:spPr>
            <a:xfrm>
              <a:off x="4717382" y="6488966"/>
              <a:ext cx="6305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/>
                <a:t>100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09A57B6-2AFA-04C3-B55D-84630A21A446}"/>
              </a:ext>
            </a:extLst>
          </p:cNvPr>
          <p:cNvGrpSpPr/>
          <p:nvPr/>
        </p:nvGrpSpPr>
        <p:grpSpPr>
          <a:xfrm>
            <a:off x="1155073" y="6953497"/>
            <a:ext cx="8116481" cy="752475"/>
            <a:chOff x="1119437" y="6228684"/>
            <a:chExt cx="8116481" cy="752475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1BD0C3B-A56A-7F70-6F1D-00569F311A4C}"/>
                </a:ext>
              </a:extLst>
            </p:cNvPr>
            <p:cNvGrpSpPr/>
            <p:nvPr/>
          </p:nvGrpSpPr>
          <p:grpSpPr>
            <a:xfrm>
              <a:off x="1119437" y="6228684"/>
              <a:ext cx="7211044" cy="752475"/>
              <a:chOff x="1119437" y="6228684"/>
              <a:chExt cx="7211044" cy="752475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79D339E-534A-713E-F8FD-727FF8D920DC}"/>
                  </a:ext>
                </a:extLst>
              </p:cNvPr>
              <p:cNvGrpSpPr/>
              <p:nvPr/>
            </p:nvGrpSpPr>
            <p:grpSpPr>
              <a:xfrm>
                <a:off x="1119437" y="6228684"/>
                <a:ext cx="6305550" cy="752475"/>
                <a:chOff x="1119437" y="6228684"/>
                <a:chExt cx="6305550" cy="752475"/>
              </a:xfrm>
            </p:grpSpPr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FB8915B0-0963-81A6-8259-25A99BBEC2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28684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635F524-B0A5-AB06-A379-5A36EC43EB8A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465571FF-2BF6-16AC-5E68-9D1596AFF3CC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8D91606-AA61-3DAE-3C13-298F819EBF1E}"/>
                    </a:ext>
                  </a:extLst>
                </p:cNvPr>
                <p:cNvSpPr txBox="1"/>
                <p:nvPr/>
              </p:nvSpPr>
              <p:spPr>
                <a:xfrm>
                  <a:off x="1119437" y="6446081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500</a:t>
                  </a:r>
                  <a:endParaRPr lang="en-GB"/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2970B5B-5C9A-EDE0-F938-1CB5ECD05574}"/>
                  </a:ext>
                </a:extLst>
              </p:cNvPr>
              <p:cNvSpPr txBox="1"/>
              <p:nvPr/>
            </p:nvSpPr>
            <p:spPr>
              <a:xfrm>
                <a:off x="2024931" y="6469605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600</a:t>
                </a: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7B32945-258C-5312-B83E-6A4CD49D6915}"/>
                </a:ext>
              </a:extLst>
            </p:cNvPr>
            <p:cNvSpPr txBox="1"/>
            <p:nvPr/>
          </p:nvSpPr>
          <p:spPr>
            <a:xfrm>
              <a:off x="2930368" y="6485673"/>
              <a:ext cx="6305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/>
                <a:t>700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DE6EF74-2950-1543-6551-D02317346AD3}"/>
              </a:ext>
            </a:extLst>
          </p:cNvPr>
          <p:cNvGrpSpPr/>
          <p:nvPr/>
        </p:nvGrpSpPr>
        <p:grpSpPr>
          <a:xfrm>
            <a:off x="1583640" y="9056679"/>
            <a:ext cx="7876791" cy="537976"/>
            <a:chOff x="1119437" y="6212642"/>
            <a:chExt cx="9903495" cy="881478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C0ABC6A-62B7-513A-477C-B260D4608922}"/>
                </a:ext>
              </a:extLst>
            </p:cNvPr>
            <p:cNvGrpSpPr/>
            <p:nvPr/>
          </p:nvGrpSpPr>
          <p:grpSpPr>
            <a:xfrm>
              <a:off x="1119437" y="6212642"/>
              <a:ext cx="8091873" cy="752475"/>
              <a:chOff x="1119437" y="6212642"/>
              <a:chExt cx="8091873" cy="752475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021647DC-1631-E405-C588-1BA3988174B4}"/>
                  </a:ext>
                </a:extLst>
              </p:cNvPr>
              <p:cNvGrpSpPr/>
              <p:nvPr/>
            </p:nvGrpSpPr>
            <p:grpSpPr>
              <a:xfrm>
                <a:off x="1119437" y="6212642"/>
                <a:ext cx="6305550" cy="752475"/>
                <a:chOff x="1119437" y="6212642"/>
                <a:chExt cx="6305550" cy="752475"/>
              </a:xfrm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4EEADF47-C411-219C-96F9-CC8EF48EB7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12642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39F593CC-E9C0-5A17-8615-2C4B729CAF89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6DD4EA26-4390-EBA5-9DF2-6AA3F0933970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C4D697E-6617-F89F-53F1-73BF503FA5C1}"/>
                    </a:ext>
                  </a:extLst>
                </p:cNvPr>
                <p:cNvSpPr txBox="1"/>
                <p:nvPr/>
              </p:nvSpPr>
              <p:spPr>
                <a:xfrm>
                  <a:off x="1119437" y="6446081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 80</a:t>
                  </a:r>
                  <a:endParaRPr lang="en-GB"/>
                </a:p>
              </p:txBody>
            </p:sp>
          </p:grp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F9E8684-1F77-8F70-80D5-7478AC93C8F4}"/>
                  </a:ext>
                </a:extLst>
              </p:cNvPr>
              <p:cNvSpPr txBox="1"/>
              <p:nvPr/>
            </p:nvSpPr>
            <p:spPr>
              <a:xfrm>
                <a:off x="2905760" y="6485673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 90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60CE946-961A-C6CB-4828-5F9C93B95EC4}"/>
                </a:ext>
              </a:extLst>
            </p:cNvPr>
            <p:cNvSpPr txBox="1"/>
            <p:nvPr/>
          </p:nvSpPr>
          <p:spPr>
            <a:xfrm>
              <a:off x="4717382" y="6488967"/>
              <a:ext cx="6305550" cy="6051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/>
                <a:t>100</a:t>
              </a:r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4FE98C5-A11C-F79C-0012-0D2AABDCAF8F}"/>
              </a:ext>
            </a:extLst>
          </p:cNvPr>
          <p:cNvCxnSpPr>
            <a:cxnSpLocks/>
          </p:cNvCxnSpPr>
          <p:nvPr/>
        </p:nvCxnSpPr>
        <p:spPr>
          <a:xfrm flipV="1">
            <a:off x="2490078" y="5049415"/>
            <a:ext cx="0" cy="317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73CED95-211D-E22D-0F22-2F3DC8A73703}"/>
              </a:ext>
            </a:extLst>
          </p:cNvPr>
          <p:cNvCxnSpPr>
            <a:cxnSpLocks/>
          </p:cNvCxnSpPr>
          <p:nvPr/>
        </p:nvCxnSpPr>
        <p:spPr>
          <a:xfrm flipV="1">
            <a:off x="4631699" y="5689734"/>
            <a:ext cx="0" cy="317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27521A0-1048-4105-A889-C41D7119F79D}"/>
              </a:ext>
            </a:extLst>
          </p:cNvPr>
          <p:cNvCxnSpPr>
            <a:cxnSpLocks/>
          </p:cNvCxnSpPr>
          <p:nvPr/>
        </p:nvCxnSpPr>
        <p:spPr>
          <a:xfrm flipV="1">
            <a:off x="3745373" y="6421487"/>
            <a:ext cx="0" cy="317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3094A43-5DDC-AD76-02B1-8A35724AB260}"/>
              </a:ext>
            </a:extLst>
          </p:cNvPr>
          <p:cNvCxnSpPr>
            <a:cxnSpLocks/>
          </p:cNvCxnSpPr>
          <p:nvPr/>
        </p:nvCxnSpPr>
        <p:spPr>
          <a:xfrm flipV="1">
            <a:off x="4267743" y="7208054"/>
            <a:ext cx="0" cy="317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CF30FC1-9650-3A99-F1F7-39AA4A9B8EF0}"/>
              </a:ext>
            </a:extLst>
          </p:cNvPr>
          <p:cNvSpPr/>
          <p:nvPr/>
        </p:nvSpPr>
        <p:spPr>
          <a:xfrm>
            <a:off x="5393698" y="4979078"/>
            <a:ext cx="890810" cy="42204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1A75B0-B864-3B90-27BA-3511424649AF}"/>
              </a:ext>
            </a:extLst>
          </p:cNvPr>
          <p:cNvSpPr/>
          <p:nvPr/>
        </p:nvSpPr>
        <p:spPr>
          <a:xfrm>
            <a:off x="5382932" y="5678317"/>
            <a:ext cx="890810" cy="42204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5D7330-D515-0A32-87D4-17C37D96354A}"/>
              </a:ext>
            </a:extLst>
          </p:cNvPr>
          <p:cNvSpPr/>
          <p:nvPr/>
        </p:nvSpPr>
        <p:spPr>
          <a:xfrm>
            <a:off x="5393698" y="6440229"/>
            <a:ext cx="890810" cy="42204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179A7A-876B-769E-7215-077F58F74312}"/>
              </a:ext>
            </a:extLst>
          </p:cNvPr>
          <p:cNvSpPr/>
          <p:nvPr/>
        </p:nvSpPr>
        <p:spPr>
          <a:xfrm>
            <a:off x="5391377" y="7129889"/>
            <a:ext cx="890810" cy="42204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40A0B-7D45-A1FC-07E3-65F9486883CD}"/>
              </a:ext>
            </a:extLst>
          </p:cNvPr>
          <p:cNvSpPr/>
          <p:nvPr/>
        </p:nvSpPr>
        <p:spPr>
          <a:xfrm>
            <a:off x="505326" y="1371686"/>
            <a:ext cx="5854844" cy="3027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C</a:t>
            </a:r>
          </a:p>
          <a:p>
            <a:r>
              <a:rPr lang="en-GB" sz="1200">
                <a:solidFill>
                  <a:schemeClr val="tx1"/>
                </a:solidFill>
              </a:rPr>
              <a:t>Here are five numbers       </a:t>
            </a:r>
            <a:r>
              <a:rPr lang="en-GB" sz="1200" b="1">
                <a:solidFill>
                  <a:schemeClr val="tx1"/>
                </a:solidFill>
              </a:rPr>
              <a:t>7       4       9      6       2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Using no card more than once, write down: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The smallest 5 digit number you can make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The largest 5 digit number you can make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The smallest 4 digit number you can make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The largest 4 digit number you can make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The smallest 3 digit number you can make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The largest 3 digit number you can make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The smallest 2  digit number you can make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The largest 2 digit number you can make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algn="ctr"/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348436-AB2B-C2F9-C8AE-1750DD3E67E6}"/>
              </a:ext>
            </a:extLst>
          </p:cNvPr>
          <p:cNvSpPr/>
          <p:nvPr/>
        </p:nvSpPr>
        <p:spPr>
          <a:xfrm>
            <a:off x="3662986" y="2192450"/>
            <a:ext cx="2580801" cy="217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30141-220B-ECAC-D941-44D44FC68AB6}"/>
              </a:ext>
            </a:extLst>
          </p:cNvPr>
          <p:cNvSpPr/>
          <p:nvPr/>
        </p:nvSpPr>
        <p:spPr>
          <a:xfrm>
            <a:off x="3662986" y="2481694"/>
            <a:ext cx="2580801" cy="217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BFCD9D-BA80-0F8D-49B7-FFADDECBF9FA}"/>
              </a:ext>
            </a:extLst>
          </p:cNvPr>
          <p:cNvSpPr/>
          <p:nvPr/>
        </p:nvSpPr>
        <p:spPr>
          <a:xfrm>
            <a:off x="3662986" y="2775897"/>
            <a:ext cx="2580801" cy="217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04692F-A92E-BAD5-2452-E11D509CAE78}"/>
              </a:ext>
            </a:extLst>
          </p:cNvPr>
          <p:cNvSpPr/>
          <p:nvPr/>
        </p:nvSpPr>
        <p:spPr>
          <a:xfrm>
            <a:off x="3662986" y="3042583"/>
            <a:ext cx="2580801" cy="217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ADC983B-10B2-C52F-B598-1C236B0F1513}"/>
              </a:ext>
            </a:extLst>
          </p:cNvPr>
          <p:cNvSpPr/>
          <p:nvPr/>
        </p:nvSpPr>
        <p:spPr>
          <a:xfrm>
            <a:off x="3662986" y="3317973"/>
            <a:ext cx="2580801" cy="217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60CFE47-FCA4-0867-CA7D-D39692704203}"/>
              </a:ext>
            </a:extLst>
          </p:cNvPr>
          <p:cNvSpPr/>
          <p:nvPr/>
        </p:nvSpPr>
        <p:spPr>
          <a:xfrm>
            <a:off x="3662986" y="3609688"/>
            <a:ext cx="2580801" cy="217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4E07A2E-AC57-93D4-27B8-A7AFBCDBD461}"/>
              </a:ext>
            </a:extLst>
          </p:cNvPr>
          <p:cNvSpPr/>
          <p:nvPr/>
        </p:nvSpPr>
        <p:spPr>
          <a:xfrm>
            <a:off x="3662986" y="3880261"/>
            <a:ext cx="2580801" cy="217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9500FBB-89C4-71D5-4A38-6782E0CBCF35}"/>
              </a:ext>
            </a:extLst>
          </p:cNvPr>
          <p:cNvSpPr/>
          <p:nvPr/>
        </p:nvSpPr>
        <p:spPr>
          <a:xfrm>
            <a:off x="3662986" y="4143591"/>
            <a:ext cx="2580801" cy="217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58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258069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6C01E-F140-8826-0EBB-4640B3C3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3342" y="9426569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15</a:t>
            </a:fld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B93C95-3DFA-C973-255B-A85170C9CC96}"/>
              </a:ext>
            </a:extLst>
          </p:cNvPr>
          <p:cNvSpPr/>
          <p:nvPr/>
        </p:nvSpPr>
        <p:spPr>
          <a:xfrm>
            <a:off x="490332" y="4293262"/>
            <a:ext cx="5862340" cy="232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F</a:t>
            </a:r>
          </a:p>
          <a:p>
            <a:r>
              <a:rPr lang="en-GB" sz="1200">
                <a:solidFill>
                  <a:schemeClr val="tx1"/>
                </a:solidFill>
              </a:rPr>
              <a:t>Order these values from largest to smallest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11,	  20,     9,     15,       14,	     3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83,	  18,   45,     37,       90,	     21	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605,  56,  566,   655,    506,   65,	555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2000, 375,	 7100,	2900,	999,  400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18123, 18200,  18032, 18103, 18013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A935A-0D80-1EFB-11DD-82DC2E920CCD}"/>
              </a:ext>
            </a:extLst>
          </p:cNvPr>
          <p:cNvSpPr/>
          <p:nvPr/>
        </p:nvSpPr>
        <p:spPr>
          <a:xfrm>
            <a:off x="2943056" y="4705595"/>
            <a:ext cx="3305344" cy="34029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777867-2042-F6D0-8DE6-732F89CD31C0}"/>
              </a:ext>
            </a:extLst>
          </p:cNvPr>
          <p:cNvSpPr/>
          <p:nvPr/>
        </p:nvSpPr>
        <p:spPr>
          <a:xfrm>
            <a:off x="2943056" y="5083557"/>
            <a:ext cx="3305344" cy="34029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CCF34-E85A-F9C5-3FDF-9E9D12FB1681}"/>
              </a:ext>
            </a:extLst>
          </p:cNvPr>
          <p:cNvSpPr/>
          <p:nvPr/>
        </p:nvSpPr>
        <p:spPr>
          <a:xfrm>
            <a:off x="3184356" y="5474192"/>
            <a:ext cx="3064044" cy="33769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C8E8E6-C8FF-8E42-053D-A37A8A873B66}"/>
              </a:ext>
            </a:extLst>
          </p:cNvPr>
          <p:cNvSpPr/>
          <p:nvPr/>
        </p:nvSpPr>
        <p:spPr>
          <a:xfrm>
            <a:off x="3184356" y="5855314"/>
            <a:ext cx="3064044" cy="33769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D5A5A3-5D6F-98C4-335E-A5D3AF607A88}"/>
              </a:ext>
            </a:extLst>
          </p:cNvPr>
          <p:cNvSpPr/>
          <p:nvPr/>
        </p:nvSpPr>
        <p:spPr>
          <a:xfrm>
            <a:off x="3184356" y="6236436"/>
            <a:ext cx="3064044" cy="33769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C14D7-B76F-D22A-4710-CD88B9B9A842}"/>
              </a:ext>
            </a:extLst>
          </p:cNvPr>
          <p:cNvSpPr/>
          <p:nvPr/>
        </p:nvSpPr>
        <p:spPr>
          <a:xfrm>
            <a:off x="497830" y="6647796"/>
            <a:ext cx="5862340" cy="3027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G</a:t>
            </a:r>
          </a:p>
          <a:p>
            <a:r>
              <a:rPr lang="en-GB" sz="1200">
                <a:solidFill>
                  <a:schemeClr val="tx1"/>
                </a:solidFill>
              </a:rPr>
              <a:t>Insert the correct symbol, &lt;, &gt;, ≤, ≥, = or ≠ between each pair of numbers: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7.2                                 7.1                                                b)  0.5                           0.6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  <a:p>
            <a:pPr marL="228600" indent="-228600">
              <a:buAutoNum type="alphaLcParenR" startAt="3"/>
            </a:pPr>
            <a:r>
              <a:rPr lang="en-GB" sz="1200">
                <a:solidFill>
                  <a:schemeClr val="tx1"/>
                </a:solidFill>
              </a:rPr>
              <a:t>8.32</a:t>
            </a:r>
            <a:r>
              <a:rPr lang="pl-PL" sz="1200">
                <a:solidFill>
                  <a:schemeClr val="tx1"/>
                </a:solidFill>
              </a:rPr>
              <a:t>                                </a:t>
            </a:r>
            <a:r>
              <a:rPr lang="en-GB" sz="1200">
                <a:solidFill>
                  <a:schemeClr val="tx1"/>
                </a:solidFill>
              </a:rPr>
              <a:t>8.23</a:t>
            </a:r>
            <a:r>
              <a:rPr lang="pl-PL" sz="1200">
                <a:solidFill>
                  <a:schemeClr val="tx1"/>
                </a:solidFill>
              </a:rPr>
              <a:t>                                      </a:t>
            </a:r>
            <a:r>
              <a:rPr lang="en-GB" sz="1200">
                <a:solidFill>
                  <a:schemeClr val="tx1"/>
                </a:solidFill>
              </a:rPr>
              <a:t>    </a:t>
            </a:r>
            <a:r>
              <a:rPr lang="pl-PL" sz="1200">
                <a:solidFill>
                  <a:schemeClr val="tx1"/>
                </a:solidFill>
              </a:rPr>
              <a:t>   </a:t>
            </a:r>
            <a:r>
              <a:rPr lang="en-GB" sz="1200">
                <a:solidFill>
                  <a:schemeClr val="tx1"/>
                </a:solidFill>
              </a:rPr>
              <a:t>d</a:t>
            </a:r>
            <a:r>
              <a:rPr lang="pl-PL" sz="1200">
                <a:solidFill>
                  <a:schemeClr val="tx1"/>
                </a:solidFill>
              </a:rPr>
              <a:t>)  0.</a:t>
            </a:r>
            <a:r>
              <a:rPr lang="en-GB" sz="1200">
                <a:solidFill>
                  <a:schemeClr val="tx1"/>
                </a:solidFill>
              </a:rPr>
              <a:t>59</a:t>
            </a:r>
            <a:r>
              <a:rPr lang="pl-PL" sz="1200">
                <a:solidFill>
                  <a:schemeClr val="tx1"/>
                </a:solidFill>
              </a:rPr>
              <a:t>                       0.</a:t>
            </a:r>
            <a:r>
              <a:rPr lang="en-GB" sz="1200">
                <a:solidFill>
                  <a:schemeClr val="tx1"/>
                </a:solidFill>
              </a:rPr>
              <a:t>506</a:t>
            </a:r>
          </a:p>
          <a:p>
            <a:pPr marL="228600" indent="-228600">
              <a:buAutoNum type="alphaLcParenR" startAt="3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3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3"/>
            </a:pPr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e)   1.01</a:t>
            </a:r>
            <a:r>
              <a:rPr lang="pl-PL" sz="1200">
                <a:solidFill>
                  <a:schemeClr val="tx1"/>
                </a:solidFill>
              </a:rPr>
              <a:t>                                </a:t>
            </a:r>
            <a:r>
              <a:rPr lang="en-GB" sz="1200">
                <a:solidFill>
                  <a:schemeClr val="tx1"/>
                </a:solidFill>
              </a:rPr>
              <a:t>1.1</a:t>
            </a:r>
            <a:r>
              <a:rPr lang="pl-PL" sz="1200">
                <a:solidFill>
                  <a:schemeClr val="tx1"/>
                </a:solidFill>
              </a:rPr>
              <a:t>                                      </a:t>
            </a:r>
            <a:r>
              <a:rPr lang="en-GB" sz="1200">
                <a:solidFill>
                  <a:schemeClr val="tx1"/>
                </a:solidFill>
              </a:rPr>
              <a:t>      </a:t>
            </a:r>
            <a:r>
              <a:rPr lang="pl-PL" sz="1200">
                <a:solidFill>
                  <a:schemeClr val="tx1"/>
                </a:solidFill>
              </a:rPr>
              <a:t>   </a:t>
            </a:r>
            <a:r>
              <a:rPr lang="en-GB" sz="1200">
                <a:solidFill>
                  <a:schemeClr val="tx1"/>
                </a:solidFill>
              </a:rPr>
              <a:t>f</a:t>
            </a:r>
            <a:r>
              <a:rPr lang="pl-PL" sz="1200">
                <a:solidFill>
                  <a:schemeClr val="tx1"/>
                </a:solidFill>
              </a:rPr>
              <a:t>)  </a:t>
            </a:r>
            <a:r>
              <a:rPr lang="en-GB" sz="1200">
                <a:solidFill>
                  <a:schemeClr val="tx1"/>
                </a:solidFill>
              </a:rPr>
              <a:t>3.9</a:t>
            </a:r>
            <a:r>
              <a:rPr lang="pl-PL" sz="1200">
                <a:solidFill>
                  <a:schemeClr val="tx1"/>
                </a:solidFill>
              </a:rPr>
              <a:t>                       </a:t>
            </a:r>
            <a:r>
              <a:rPr lang="en-GB" sz="1200">
                <a:solidFill>
                  <a:schemeClr val="tx1"/>
                </a:solidFill>
              </a:rPr>
              <a:t>   3.09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3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3"/>
            </a:pPr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g)  5.834</a:t>
            </a:r>
            <a:r>
              <a:rPr lang="pl-PL" sz="1200">
                <a:solidFill>
                  <a:schemeClr val="tx1"/>
                </a:solidFill>
              </a:rPr>
              <a:t>                                </a:t>
            </a:r>
            <a:r>
              <a:rPr lang="en-GB" sz="1200">
                <a:solidFill>
                  <a:schemeClr val="tx1"/>
                </a:solidFill>
              </a:rPr>
              <a:t>5.843</a:t>
            </a:r>
            <a:r>
              <a:rPr lang="pl-PL" sz="1200">
                <a:solidFill>
                  <a:schemeClr val="tx1"/>
                </a:solidFill>
              </a:rPr>
              <a:t>                                  </a:t>
            </a:r>
            <a:r>
              <a:rPr lang="en-GB" sz="1200">
                <a:solidFill>
                  <a:schemeClr val="tx1"/>
                </a:solidFill>
              </a:rPr>
              <a:t>    </a:t>
            </a:r>
            <a:r>
              <a:rPr lang="pl-PL" sz="1200">
                <a:solidFill>
                  <a:schemeClr val="tx1"/>
                </a:solidFill>
              </a:rPr>
              <a:t>   </a:t>
            </a:r>
            <a:r>
              <a:rPr lang="en-GB" sz="1200">
                <a:solidFill>
                  <a:schemeClr val="tx1"/>
                </a:solidFill>
              </a:rPr>
              <a:t>h</a:t>
            </a:r>
            <a:r>
              <a:rPr lang="pl-PL" sz="1200">
                <a:solidFill>
                  <a:schemeClr val="tx1"/>
                </a:solidFill>
              </a:rPr>
              <a:t>)  </a:t>
            </a:r>
            <a:r>
              <a:rPr lang="en-GB" sz="1200">
                <a:solidFill>
                  <a:schemeClr val="tx1"/>
                </a:solidFill>
              </a:rPr>
              <a:t>62.391                    </a:t>
            </a:r>
            <a:r>
              <a:rPr lang="pl-PL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62.0391</a:t>
            </a:r>
          </a:p>
          <a:p>
            <a:pPr marL="228600" indent="-228600">
              <a:buAutoNum type="alphaLcParenR" startAt="3"/>
            </a:pPr>
            <a:endParaRPr lang="pl-PL" sz="1200">
              <a:solidFill>
                <a:schemeClr val="tx1"/>
              </a:solidFill>
            </a:endParaRPr>
          </a:p>
          <a:p>
            <a:r>
              <a:rPr lang="pl-PL" sz="1200">
                <a:solidFill>
                  <a:schemeClr val="tx1"/>
                </a:solidFill>
              </a:rPr>
              <a:t> </a:t>
            </a:r>
          </a:p>
          <a:p>
            <a:r>
              <a:rPr lang="pl-PL" sz="1200">
                <a:solidFill>
                  <a:schemeClr val="tx1"/>
                </a:solidFill>
              </a:rPr>
              <a:t> 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BADDF7-46FD-66A1-FD3F-E1F95416EDD1}"/>
              </a:ext>
            </a:extLst>
          </p:cNvPr>
          <p:cNvSpPr/>
          <p:nvPr/>
        </p:nvSpPr>
        <p:spPr>
          <a:xfrm>
            <a:off x="1329490" y="7096609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930A73-9508-8F1C-B952-0192BA4D9DC1}"/>
              </a:ext>
            </a:extLst>
          </p:cNvPr>
          <p:cNvSpPr/>
          <p:nvPr/>
        </p:nvSpPr>
        <p:spPr>
          <a:xfrm>
            <a:off x="4668253" y="7069392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5795311-4038-9EAF-AEBB-905856BE72BB}"/>
              </a:ext>
            </a:extLst>
          </p:cNvPr>
          <p:cNvSpPr/>
          <p:nvPr/>
        </p:nvSpPr>
        <p:spPr>
          <a:xfrm>
            <a:off x="1329490" y="7819243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96B3D7-E478-ECF0-94FD-2E252D52AC4C}"/>
              </a:ext>
            </a:extLst>
          </p:cNvPr>
          <p:cNvSpPr/>
          <p:nvPr/>
        </p:nvSpPr>
        <p:spPr>
          <a:xfrm>
            <a:off x="4668253" y="7778499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AB5E5F-DB7E-7760-C3EC-C9534DEE8F08}"/>
              </a:ext>
            </a:extLst>
          </p:cNvPr>
          <p:cNvSpPr/>
          <p:nvPr/>
        </p:nvSpPr>
        <p:spPr>
          <a:xfrm>
            <a:off x="1341205" y="8550484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6D81D2-91B6-06E7-84C2-DFF0BAF72137}"/>
              </a:ext>
            </a:extLst>
          </p:cNvPr>
          <p:cNvSpPr/>
          <p:nvPr/>
        </p:nvSpPr>
        <p:spPr>
          <a:xfrm>
            <a:off x="4679968" y="8500459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BC7B82-4223-D644-B3EA-28F3B634D5E2}"/>
              </a:ext>
            </a:extLst>
          </p:cNvPr>
          <p:cNvSpPr/>
          <p:nvPr/>
        </p:nvSpPr>
        <p:spPr>
          <a:xfrm>
            <a:off x="1341205" y="9207186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C808A8D-D01F-1DAA-DA45-073FD53AB05C}"/>
              </a:ext>
            </a:extLst>
          </p:cNvPr>
          <p:cNvSpPr/>
          <p:nvPr/>
        </p:nvSpPr>
        <p:spPr>
          <a:xfrm>
            <a:off x="4679968" y="9204684"/>
            <a:ext cx="497306" cy="470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D0013CD-69B0-CF28-B464-4EE71EFDD71A}"/>
              </a:ext>
            </a:extLst>
          </p:cNvPr>
          <p:cNvSpPr/>
          <p:nvPr/>
        </p:nvSpPr>
        <p:spPr>
          <a:xfrm>
            <a:off x="497830" y="1323029"/>
            <a:ext cx="5862340" cy="2926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E</a:t>
            </a:r>
          </a:p>
          <a:p>
            <a:r>
              <a:rPr lang="en-GB" sz="1200">
                <a:solidFill>
                  <a:schemeClr val="tx1"/>
                </a:solidFill>
              </a:rPr>
              <a:t>    a)    ?  &gt; 7. Circle the numbers that ? could be.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 algn="ctr">
              <a:buAutoNum type="arabicPlain" startAt="3"/>
            </a:pPr>
            <a:r>
              <a:rPr lang="en-GB" sz="1200">
                <a:solidFill>
                  <a:schemeClr val="tx1"/>
                </a:solidFill>
              </a:rPr>
              <a:t>        9           8          6           7</a:t>
            </a:r>
          </a:p>
          <a:p>
            <a:pPr algn="ctr"/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b)    ? &lt; 7. Circle the numbers that ? could be.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 algn="ctr">
              <a:buAutoNum type="arabicPlain" startAt="3"/>
            </a:pPr>
            <a:r>
              <a:rPr lang="en-GB" sz="1200">
                <a:solidFill>
                  <a:schemeClr val="tx1"/>
                </a:solidFill>
              </a:rPr>
              <a:t>        9           8          6           7</a:t>
            </a:r>
          </a:p>
          <a:p>
            <a:pPr algn="ctr"/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c)    ? ≤ 7. Circle the numbers that ? could be.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 algn="ctr">
              <a:buAutoNum type="arabicPlain" startAt="3"/>
            </a:pPr>
            <a:r>
              <a:rPr lang="en-GB" sz="1200">
                <a:solidFill>
                  <a:schemeClr val="tx1"/>
                </a:solidFill>
              </a:rPr>
              <a:t>        9           8          6           7</a:t>
            </a:r>
          </a:p>
          <a:p>
            <a:pPr marL="228600" indent="-228600" algn="ctr">
              <a:buAutoNum type="arabicPlain" startAt="3"/>
            </a:pPr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   d)    ? ≥ 7. Circle the numbers that ? could be.</a:t>
            </a:r>
          </a:p>
          <a:p>
            <a:endParaRPr lang="en-GB" sz="700">
              <a:solidFill>
                <a:schemeClr val="tx1"/>
              </a:solidFill>
            </a:endParaRPr>
          </a:p>
          <a:p>
            <a:pPr marL="228600" indent="-228600" algn="ctr">
              <a:buAutoNum type="arabicPlain" startAt="3"/>
            </a:pPr>
            <a:r>
              <a:rPr lang="en-GB" sz="1200">
                <a:solidFill>
                  <a:schemeClr val="tx1"/>
                </a:solidFill>
              </a:rPr>
              <a:t>         9           8          6           7</a:t>
            </a:r>
          </a:p>
          <a:p>
            <a:pPr algn="ctr"/>
            <a:endParaRPr lang="en-GB" sz="1200">
              <a:solidFill>
                <a:schemeClr val="tx1"/>
              </a:solidFill>
            </a:endParaRPr>
          </a:p>
          <a:p>
            <a:pPr algn="ctr"/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8245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587179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6C01E-F140-8826-0EBB-4640B3C3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3342" y="9426569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16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99AD51-B0F3-8AB8-60E6-35370BB366E1}"/>
              </a:ext>
            </a:extLst>
          </p:cNvPr>
          <p:cNvSpPr/>
          <p:nvPr/>
        </p:nvSpPr>
        <p:spPr>
          <a:xfrm>
            <a:off x="497830" y="1370516"/>
            <a:ext cx="5862340" cy="514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H</a:t>
            </a:r>
          </a:p>
          <a:p>
            <a:r>
              <a:rPr lang="en-GB" sz="1200">
                <a:solidFill>
                  <a:schemeClr val="tx1"/>
                </a:solidFill>
              </a:rPr>
              <a:t>      a) Write down the numbers marked by the arrows on the number lines below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    b) Mark the number 3.6 on the number line below.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    c) Mark the number 0.87 on the number line below.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5D6EA3-5261-BD77-E597-2386916DBF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34" t="52381" r="2338" b="13159"/>
          <a:stretch/>
        </p:blipFill>
        <p:spPr>
          <a:xfrm>
            <a:off x="962755" y="4971571"/>
            <a:ext cx="4488681" cy="56783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840208B-7757-79D4-062C-26FB4DBEE3C8}"/>
              </a:ext>
            </a:extLst>
          </p:cNvPr>
          <p:cNvGrpSpPr/>
          <p:nvPr/>
        </p:nvGrpSpPr>
        <p:grpSpPr>
          <a:xfrm>
            <a:off x="1155073" y="1779864"/>
            <a:ext cx="9903495" cy="752475"/>
            <a:chOff x="1119437" y="6212642"/>
            <a:chExt cx="9903495" cy="7524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3A02155-E0A6-21A4-C1F1-C70213FB9B72}"/>
                </a:ext>
              </a:extLst>
            </p:cNvPr>
            <p:cNvGrpSpPr/>
            <p:nvPr/>
          </p:nvGrpSpPr>
          <p:grpSpPr>
            <a:xfrm>
              <a:off x="1119437" y="6212642"/>
              <a:ext cx="8091873" cy="752475"/>
              <a:chOff x="1119437" y="6212642"/>
              <a:chExt cx="8091873" cy="752475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8BAAD90-7C2D-72FC-741B-86A01B36EF54}"/>
                  </a:ext>
                </a:extLst>
              </p:cNvPr>
              <p:cNvGrpSpPr/>
              <p:nvPr/>
            </p:nvGrpSpPr>
            <p:grpSpPr>
              <a:xfrm>
                <a:off x="1119437" y="6212642"/>
                <a:ext cx="6305550" cy="752475"/>
                <a:chOff x="1119437" y="6212642"/>
                <a:chExt cx="6305550" cy="752475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CB915460-E19F-1735-1B52-F25F9A1C5E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12642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D22F023-2A52-BBD5-882A-AEC1D13D0A2C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6A9DD88-35EA-A300-2012-EF9DA9CD9B49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D31C005-A6D0-3D75-0801-4E2EF8EED631}"/>
                    </a:ext>
                  </a:extLst>
                </p:cNvPr>
                <p:cNvSpPr txBox="1"/>
                <p:nvPr/>
              </p:nvSpPr>
              <p:spPr>
                <a:xfrm>
                  <a:off x="1119437" y="6446081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  1</a:t>
                  </a:r>
                  <a:endParaRPr lang="en-GB"/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A65BE7-2D43-1672-9DF3-6760F03AD9EE}"/>
                  </a:ext>
                </a:extLst>
              </p:cNvPr>
              <p:cNvSpPr txBox="1"/>
              <p:nvPr/>
            </p:nvSpPr>
            <p:spPr>
              <a:xfrm>
                <a:off x="2905760" y="6485673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  2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DD3719-343D-D769-9407-B08594818A93}"/>
                </a:ext>
              </a:extLst>
            </p:cNvPr>
            <p:cNvSpPr txBox="1"/>
            <p:nvPr/>
          </p:nvSpPr>
          <p:spPr>
            <a:xfrm>
              <a:off x="4717382" y="6488966"/>
              <a:ext cx="6305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/>
                <a:t>  3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7AB203B-5123-AE29-5DBA-35B9131F7B6C}"/>
              </a:ext>
            </a:extLst>
          </p:cNvPr>
          <p:cNvGrpSpPr/>
          <p:nvPr/>
        </p:nvGrpSpPr>
        <p:grpSpPr>
          <a:xfrm>
            <a:off x="1193173" y="2428813"/>
            <a:ext cx="9865395" cy="752475"/>
            <a:chOff x="1157537" y="6212642"/>
            <a:chExt cx="9865395" cy="75247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6DC357A-E011-88DE-D49E-670FD0E8336D}"/>
                </a:ext>
              </a:extLst>
            </p:cNvPr>
            <p:cNvGrpSpPr/>
            <p:nvPr/>
          </p:nvGrpSpPr>
          <p:grpSpPr>
            <a:xfrm>
              <a:off x="1157537" y="6212642"/>
              <a:ext cx="8977015" cy="752475"/>
              <a:chOff x="1157537" y="6212642"/>
              <a:chExt cx="8977015" cy="75247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A436691-35F7-CDFB-CAA2-0D10D914C8FD}"/>
                  </a:ext>
                </a:extLst>
              </p:cNvPr>
              <p:cNvGrpSpPr/>
              <p:nvPr/>
            </p:nvGrpSpPr>
            <p:grpSpPr>
              <a:xfrm>
                <a:off x="1157537" y="6212642"/>
                <a:ext cx="7185594" cy="752475"/>
                <a:chOff x="1157537" y="6212642"/>
                <a:chExt cx="7185594" cy="752475"/>
              </a:xfrm>
            </p:grpSpPr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6F32C598-DAB7-B830-1CF3-10228389D6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12642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48FD57B1-0194-476A-697D-C6BFFD82016E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CCAB5F54-A940-E07F-DEB9-14B32C34A3F6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56B7167-7300-0FF9-FCE7-FDCA0C29EB22}"/>
                    </a:ext>
                  </a:extLst>
                </p:cNvPr>
                <p:cNvSpPr txBox="1"/>
                <p:nvPr/>
              </p:nvSpPr>
              <p:spPr>
                <a:xfrm>
                  <a:off x="2037581" y="6478165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3.5</a:t>
                  </a:r>
                  <a:endParaRPr lang="en-GB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42AC6E2-A314-343B-A02F-0ADF435B1C80}"/>
                  </a:ext>
                </a:extLst>
              </p:cNvPr>
              <p:cNvSpPr txBox="1"/>
              <p:nvPr/>
            </p:nvSpPr>
            <p:spPr>
              <a:xfrm>
                <a:off x="3829002" y="6488966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4.5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AB73339-4E08-BA4C-3920-A0D86F68E437}"/>
                </a:ext>
              </a:extLst>
            </p:cNvPr>
            <p:cNvSpPr txBox="1"/>
            <p:nvPr/>
          </p:nvSpPr>
          <p:spPr>
            <a:xfrm>
              <a:off x="4717382" y="6436177"/>
              <a:ext cx="6305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AC4C84A-B3D1-0976-9E9C-159258EB2D77}"/>
              </a:ext>
            </a:extLst>
          </p:cNvPr>
          <p:cNvGrpSpPr/>
          <p:nvPr/>
        </p:nvGrpSpPr>
        <p:grpSpPr>
          <a:xfrm>
            <a:off x="1155073" y="3159444"/>
            <a:ext cx="9903495" cy="752475"/>
            <a:chOff x="1119437" y="6212642"/>
            <a:chExt cx="9903495" cy="75247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B9015D5-A94E-0398-8C8C-F524014CBA2C}"/>
                </a:ext>
              </a:extLst>
            </p:cNvPr>
            <p:cNvGrpSpPr/>
            <p:nvPr/>
          </p:nvGrpSpPr>
          <p:grpSpPr>
            <a:xfrm>
              <a:off x="1119437" y="6212642"/>
              <a:ext cx="8091873" cy="752475"/>
              <a:chOff x="1119437" y="6212642"/>
              <a:chExt cx="8091873" cy="752475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DE97545-A02F-F497-0531-2E6B2E901BED}"/>
                  </a:ext>
                </a:extLst>
              </p:cNvPr>
              <p:cNvGrpSpPr/>
              <p:nvPr/>
            </p:nvGrpSpPr>
            <p:grpSpPr>
              <a:xfrm>
                <a:off x="1119437" y="6212642"/>
                <a:ext cx="6305550" cy="752475"/>
                <a:chOff x="1119437" y="6212642"/>
                <a:chExt cx="6305550" cy="752475"/>
              </a:xfrm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124CC263-BE5D-6975-3221-A3D3DAD99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12642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DCC3B99-F453-08C6-C0B6-2CB90C0B92F3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A965AB42-CA6E-13A6-80C4-8B49ADBC3D17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5AD2D53-252A-49BA-0BB1-3C1565A3CBD0}"/>
                    </a:ext>
                  </a:extLst>
                </p:cNvPr>
                <p:cNvSpPr txBox="1"/>
                <p:nvPr/>
              </p:nvSpPr>
              <p:spPr>
                <a:xfrm>
                  <a:off x="1119437" y="6446081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 0.8</a:t>
                  </a:r>
                  <a:endParaRPr lang="en-GB"/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9ABD298-1BD1-8173-44EA-EA702BEDAEED}"/>
                  </a:ext>
                </a:extLst>
              </p:cNvPr>
              <p:cNvSpPr txBox="1"/>
              <p:nvPr/>
            </p:nvSpPr>
            <p:spPr>
              <a:xfrm>
                <a:off x="2905760" y="6485673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 0.9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BFED3B5-B3B2-0394-D92B-18D106499FDF}"/>
                </a:ext>
              </a:extLst>
            </p:cNvPr>
            <p:cNvSpPr txBox="1"/>
            <p:nvPr/>
          </p:nvSpPr>
          <p:spPr>
            <a:xfrm>
              <a:off x="4717382" y="6488966"/>
              <a:ext cx="6305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/>
                <a:t>  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E6354A8-3CA9-15A8-C004-E0B73D727CDA}"/>
              </a:ext>
            </a:extLst>
          </p:cNvPr>
          <p:cNvGrpSpPr/>
          <p:nvPr/>
        </p:nvGrpSpPr>
        <p:grpSpPr>
          <a:xfrm>
            <a:off x="1155073" y="3924893"/>
            <a:ext cx="8116481" cy="752475"/>
            <a:chOff x="1119437" y="6228684"/>
            <a:chExt cx="8116481" cy="75247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4565CE8-8A01-8287-8CE5-FFF2F4795242}"/>
                </a:ext>
              </a:extLst>
            </p:cNvPr>
            <p:cNvGrpSpPr/>
            <p:nvPr/>
          </p:nvGrpSpPr>
          <p:grpSpPr>
            <a:xfrm>
              <a:off x="1119437" y="6228684"/>
              <a:ext cx="7211044" cy="752475"/>
              <a:chOff x="1119437" y="6228684"/>
              <a:chExt cx="7211044" cy="752475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72B7DC5-72DB-4174-F590-8139C623392C}"/>
                  </a:ext>
                </a:extLst>
              </p:cNvPr>
              <p:cNvGrpSpPr/>
              <p:nvPr/>
            </p:nvGrpSpPr>
            <p:grpSpPr>
              <a:xfrm>
                <a:off x="1119437" y="6228684"/>
                <a:ext cx="6305550" cy="752475"/>
                <a:chOff x="1119437" y="6228684"/>
                <a:chExt cx="6305550" cy="752475"/>
              </a:xfrm>
            </p:grpSpPr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DC081DEC-257A-D1DB-7E65-D2F1C06D27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28684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8CC8F8E-4ED1-8688-B7F6-9F6AAEE3C216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780BA24-AA21-7BD7-3E12-01269BE66130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93F5439-D01D-B387-8F55-DB3D2BF8BBD3}"/>
                    </a:ext>
                  </a:extLst>
                </p:cNvPr>
                <p:cNvSpPr txBox="1"/>
                <p:nvPr/>
              </p:nvSpPr>
              <p:spPr>
                <a:xfrm>
                  <a:off x="1119437" y="6488613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  5</a:t>
                  </a:r>
                  <a:endParaRPr lang="en-GB"/>
                </a:p>
              </p:txBody>
            </p:sp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2ED6785-F21E-FFF6-245A-14603B7664ED}"/>
                  </a:ext>
                </a:extLst>
              </p:cNvPr>
              <p:cNvSpPr txBox="1"/>
              <p:nvPr/>
            </p:nvSpPr>
            <p:spPr>
              <a:xfrm>
                <a:off x="2024931" y="6480238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  6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0F3C4E4-DBE8-7FEF-EA12-EAE5EA1E54B1}"/>
                </a:ext>
              </a:extLst>
            </p:cNvPr>
            <p:cNvSpPr txBox="1"/>
            <p:nvPr/>
          </p:nvSpPr>
          <p:spPr>
            <a:xfrm>
              <a:off x="2930368" y="6485673"/>
              <a:ext cx="6305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/>
                <a:t>  7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BB530C-7BD7-8B0A-CA8D-EAD1EDC46B41}"/>
              </a:ext>
            </a:extLst>
          </p:cNvPr>
          <p:cNvGrpSpPr/>
          <p:nvPr/>
        </p:nvGrpSpPr>
        <p:grpSpPr>
          <a:xfrm>
            <a:off x="1583640" y="6028075"/>
            <a:ext cx="7876791" cy="459244"/>
            <a:chOff x="1119437" y="6212642"/>
            <a:chExt cx="9903495" cy="752475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D747137-B8C9-A8E1-DB77-9EB78D833335}"/>
                </a:ext>
              </a:extLst>
            </p:cNvPr>
            <p:cNvGrpSpPr/>
            <p:nvPr/>
          </p:nvGrpSpPr>
          <p:grpSpPr>
            <a:xfrm>
              <a:off x="1119437" y="6212642"/>
              <a:ext cx="8091873" cy="752475"/>
              <a:chOff x="1119437" y="6212642"/>
              <a:chExt cx="8091873" cy="752475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95B3D69E-1958-0C77-CA7D-035C56FDE9F8}"/>
                  </a:ext>
                </a:extLst>
              </p:cNvPr>
              <p:cNvGrpSpPr/>
              <p:nvPr/>
            </p:nvGrpSpPr>
            <p:grpSpPr>
              <a:xfrm>
                <a:off x="1119437" y="6212642"/>
                <a:ext cx="6305550" cy="752475"/>
                <a:chOff x="1119437" y="6212642"/>
                <a:chExt cx="6305550" cy="752475"/>
              </a:xfrm>
            </p:grpSpPr>
            <p:pic>
              <p:nvPicPr>
                <p:cNvPr id="64" name="Picture 63">
                  <a:extLst>
                    <a:ext uri="{FF2B5EF4-FFF2-40B4-BE49-F238E27FC236}">
                      <a16:creationId xmlns:a16="http://schemas.microsoft.com/office/drawing/2014/main" id="{C62151C6-5095-C193-4059-DAAF26F928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7537" y="6212642"/>
                  <a:ext cx="4200525" cy="752475"/>
                </a:xfrm>
                <a:prstGeom prst="rect">
                  <a:avLst/>
                </a:prstGeom>
              </p:spPr>
            </p:pic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98582CB-4D7F-05B5-B276-508E1D27A016}"/>
                    </a:ext>
                  </a:extLst>
                </p:cNvPr>
                <p:cNvSpPr/>
                <p:nvPr/>
              </p:nvSpPr>
              <p:spPr>
                <a:xfrm>
                  <a:off x="3733800" y="6485673"/>
                  <a:ext cx="254000" cy="479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6490C3DB-0DD0-3C8B-A8A6-CABD16277953}"/>
                    </a:ext>
                  </a:extLst>
                </p:cNvPr>
                <p:cNvSpPr/>
                <p:nvPr/>
              </p:nvSpPr>
              <p:spPr>
                <a:xfrm>
                  <a:off x="1157537" y="6599973"/>
                  <a:ext cx="4328863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1A85F70-1685-BA8B-BF1B-55CE61FFA2DE}"/>
                    </a:ext>
                  </a:extLst>
                </p:cNvPr>
                <p:cNvSpPr txBox="1"/>
                <p:nvPr/>
              </p:nvSpPr>
              <p:spPr>
                <a:xfrm>
                  <a:off x="1119437" y="6446081"/>
                  <a:ext cx="6305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800">
                      <a:solidFill>
                        <a:schemeClr val="tx1"/>
                      </a:solidFill>
                    </a:rPr>
                    <a:t> 80</a:t>
                  </a:r>
                  <a:endParaRPr lang="en-GB"/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4C2322-8F2C-2E61-F809-B21D3A771823}"/>
                  </a:ext>
                </a:extLst>
              </p:cNvPr>
              <p:cNvSpPr txBox="1"/>
              <p:nvPr/>
            </p:nvSpPr>
            <p:spPr>
              <a:xfrm>
                <a:off x="2905760" y="6485673"/>
                <a:ext cx="6305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 90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91EF32B-6D35-5522-D2E9-A22CDC2E4B5C}"/>
                </a:ext>
              </a:extLst>
            </p:cNvPr>
            <p:cNvSpPr txBox="1"/>
            <p:nvPr/>
          </p:nvSpPr>
          <p:spPr>
            <a:xfrm>
              <a:off x="4717382" y="6488966"/>
              <a:ext cx="6305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/>
                <a:t>110</a:t>
              </a: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BC3CBF3-B180-6F5A-8FC7-7D026AE10A14}"/>
              </a:ext>
            </a:extLst>
          </p:cNvPr>
          <p:cNvCxnSpPr>
            <a:cxnSpLocks/>
          </p:cNvCxnSpPr>
          <p:nvPr/>
        </p:nvCxnSpPr>
        <p:spPr>
          <a:xfrm flipV="1">
            <a:off x="2490078" y="2020811"/>
            <a:ext cx="0" cy="317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7E0C396-8A3B-7CE0-853F-E4CAA81E268A}"/>
              </a:ext>
            </a:extLst>
          </p:cNvPr>
          <p:cNvCxnSpPr>
            <a:cxnSpLocks/>
          </p:cNvCxnSpPr>
          <p:nvPr/>
        </p:nvCxnSpPr>
        <p:spPr>
          <a:xfrm flipV="1">
            <a:off x="4631699" y="2661130"/>
            <a:ext cx="0" cy="317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A89CCC6-76BC-A9F7-5C24-CF70A4AA919F}"/>
              </a:ext>
            </a:extLst>
          </p:cNvPr>
          <p:cNvCxnSpPr>
            <a:cxnSpLocks/>
          </p:cNvCxnSpPr>
          <p:nvPr/>
        </p:nvCxnSpPr>
        <p:spPr>
          <a:xfrm flipV="1">
            <a:off x="3745373" y="3392883"/>
            <a:ext cx="0" cy="317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8EE4D68-E4EA-CAB4-1BCD-66D83B9D09B7}"/>
              </a:ext>
            </a:extLst>
          </p:cNvPr>
          <p:cNvCxnSpPr>
            <a:cxnSpLocks/>
          </p:cNvCxnSpPr>
          <p:nvPr/>
        </p:nvCxnSpPr>
        <p:spPr>
          <a:xfrm flipV="1">
            <a:off x="4267743" y="4179450"/>
            <a:ext cx="0" cy="317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C8F80F6-A5B2-50FF-FD37-59FEB9D04B23}"/>
              </a:ext>
            </a:extLst>
          </p:cNvPr>
          <p:cNvSpPr/>
          <p:nvPr/>
        </p:nvSpPr>
        <p:spPr>
          <a:xfrm>
            <a:off x="1193173" y="5369442"/>
            <a:ext cx="4020169" cy="183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3648303-E7CB-44B4-B6BD-DDF6411F4B48}"/>
              </a:ext>
            </a:extLst>
          </p:cNvPr>
          <p:cNvSpPr/>
          <p:nvPr/>
        </p:nvSpPr>
        <p:spPr>
          <a:xfrm>
            <a:off x="1269771" y="6277716"/>
            <a:ext cx="4020169" cy="194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37B5094-5D9F-0026-6A15-81827FE280F4}"/>
              </a:ext>
            </a:extLst>
          </p:cNvPr>
          <p:cNvSpPr txBox="1"/>
          <p:nvPr/>
        </p:nvSpPr>
        <p:spPr>
          <a:xfrm>
            <a:off x="1269771" y="5277242"/>
            <a:ext cx="6305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>
                <a:solidFill>
                  <a:schemeClr val="tx1"/>
                </a:solidFill>
              </a:rPr>
              <a:t> 3               4               5</a:t>
            </a:r>
            <a:endParaRPr lang="en-GB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1D57D6A-1197-A30C-B2A1-50AC53F46FB9}"/>
              </a:ext>
            </a:extLst>
          </p:cNvPr>
          <p:cNvSpPr txBox="1"/>
          <p:nvPr/>
        </p:nvSpPr>
        <p:spPr>
          <a:xfrm>
            <a:off x="1478924" y="6192699"/>
            <a:ext cx="6305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>
                <a:solidFill>
                  <a:schemeClr val="tx1"/>
                </a:solidFill>
              </a:rPr>
              <a:t> 0.7                                                  0.9                 </a:t>
            </a:r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F00F77D-354C-4BB1-6AB5-89A0F937D77C}"/>
              </a:ext>
            </a:extLst>
          </p:cNvPr>
          <p:cNvSpPr/>
          <p:nvPr/>
        </p:nvSpPr>
        <p:spPr>
          <a:xfrm>
            <a:off x="497830" y="6566624"/>
            <a:ext cx="5862340" cy="2980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I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Order from largest to smallest:</a:t>
            </a:r>
          </a:p>
          <a:p>
            <a:endParaRPr lang="en-GB" sz="3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9.13,     9.05,       9.24,       9.09,	    9.15,      9.02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5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1.54,     1.49,       1.58,	1.43,        2.12,      0.97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6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1.3,       1.07,       1.14,	1.6,	    1.39	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6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6.25,     6.2,         6.19,	6.08,	    6.1,	      6.21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6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7.81,     7.49,       7.9,	7.007,	    7.1,	      7.107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6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0.342,   0.075,     0.256,	0.34,        0.6,	      0.4		</a:t>
            </a: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AB6B7BE-3677-F6CA-75B7-530DF7D92691}"/>
              </a:ext>
            </a:extLst>
          </p:cNvPr>
          <p:cNvSpPr/>
          <p:nvPr/>
        </p:nvSpPr>
        <p:spPr>
          <a:xfrm>
            <a:off x="3974486" y="7188974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D8C95D3-7F90-95DE-AD3D-0FA5F5A8A9C3}"/>
              </a:ext>
            </a:extLst>
          </p:cNvPr>
          <p:cNvSpPr/>
          <p:nvPr/>
        </p:nvSpPr>
        <p:spPr>
          <a:xfrm>
            <a:off x="3974486" y="7581335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33C6D02-C329-6F07-4FDB-DD4BB1605A14}"/>
              </a:ext>
            </a:extLst>
          </p:cNvPr>
          <p:cNvSpPr/>
          <p:nvPr/>
        </p:nvSpPr>
        <p:spPr>
          <a:xfrm>
            <a:off x="3974486" y="7974038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735D12B-C57B-F9A8-6506-8C4E7E48E519}"/>
              </a:ext>
            </a:extLst>
          </p:cNvPr>
          <p:cNvSpPr/>
          <p:nvPr/>
        </p:nvSpPr>
        <p:spPr>
          <a:xfrm>
            <a:off x="3974486" y="8399348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05FAFA3-83E8-B705-B55D-830D44762B95}"/>
              </a:ext>
            </a:extLst>
          </p:cNvPr>
          <p:cNvSpPr/>
          <p:nvPr/>
        </p:nvSpPr>
        <p:spPr>
          <a:xfrm>
            <a:off x="3980998" y="8787571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6DDFA11-9C73-71E8-18F5-D3014B9A8A0C}"/>
              </a:ext>
            </a:extLst>
          </p:cNvPr>
          <p:cNvSpPr/>
          <p:nvPr/>
        </p:nvSpPr>
        <p:spPr>
          <a:xfrm>
            <a:off x="3980998" y="9183387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6D9AA9D-6CA0-6A49-951D-E7CCAFAB8FBB}"/>
              </a:ext>
            </a:extLst>
          </p:cNvPr>
          <p:cNvSpPr/>
          <p:nvPr/>
        </p:nvSpPr>
        <p:spPr>
          <a:xfrm>
            <a:off x="5393698" y="1950474"/>
            <a:ext cx="890810" cy="42204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3D70DEA-90E6-D733-738F-131AB8EDDBD1}"/>
              </a:ext>
            </a:extLst>
          </p:cNvPr>
          <p:cNvSpPr/>
          <p:nvPr/>
        </p:nvSpPr>
        <p:spPr>
          <a:xfrm>
            <a:off x="5396344" y="2698001"/>
            <a:ext cx="890810" cy="42204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C6187B0-A381-6D02-1607-7C865776DE3D}"/>
              </a:ext>
            </a:extLst>
          </p:cNvPr>
          <p:cNvSpPr/>
          <p:nvPr/>
        </p:nvSpPr>
        <p:spPr>
          <a:xfrm>
            <a:off x="5401748" y="3466161"/>
            <a:ext cx="890810" cy="42204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9E7BB74-599A-B927-054A-23886BBFDF86}"/>
              </a:ext>
            </a:extLst>
          </p:cNvPr>
          <p:cNvSpPr/>
          <p:nvPr/>
        </p:nvSpPr>
        <p:spPr>
          <a:xfrm>
            <a:off x="5393698" y="4268224"/>
            <a:ext cx="890810" cy="42204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197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634059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6C01E-F140-8826-0EBB-4640B3C3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3342" y="9426569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17</a:t>
            </a:fld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F00F77D-354C-4BB1-6AB5-89A0F937D77C}"/>
              </a:ext>
            </a:extLst>
          </p:cNvPr>
          <p:cNvSpPr/>
          <p:nvPr/>
        </p:nvSpPr>
        <p:spPr>
          <a:xfrm>
            <a:off x="497830" y="1374201"/>
            <a:ext cx="5862340" cy="2994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J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Order from smallest to largest:</a:t>
            </a:r>
          </a:p>
          <a:p>
            <a:endParaRPr lang="en-GB" sz="3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3,	−5,	1,	0,	−2,	4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5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−2,	   −8,	−3,	5,	−6,	1	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6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11,	   −9,	−4,	7,	−10,	−3,	−13	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6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−25,   35,	15,     −5,      25,     −45,       20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6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129,   101,	    −11,	     −111,     92,	     −91,     133,	   −29	</a:t>
            </a: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AB6B7BE-3677-F6CA-75B7-530DF7D92691}"/>
              </a:ext>
            </a:extLst>
          </p:cNvPr>
          <p:cNvSpPr/>
          <p:nvPr/>
        </p:nvSpPr>
        <p:spPr>
          <a:xfrm>
            <a:off x="3974486" y="1996551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D8C95D3-7F90-95DE-AD3D-0FA5F5A8A9C3}"/>
              </a:ext>
            </a:extLst>
          </p:cNvPr>
          <p:cNvSpPr/>
          <p:nvPr/>
        </p:nvSpPr>
        <p:spPr>
          <a:xfrm>
            <a:off x="3974486" y="2427010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33C6D02-C329-6F07-4FDB-DD4BB1605A14}"/>
              </a:ext>
            </a:extLst>
          </p:cNvPr>
          <p:cNvSpPr/>
          <p:nvPr/>
        </p:nvSpPr>
        <p:spPr>
          <a:xfrm>
            <a:off x="3974486" y="2840392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735D12B-C57B-F9A8-6506-8C4E7E48E519}"/>
              </a:ext>
            </a:extLst>
          </p:cNvPr>
          <p:cNvSpPr/>
          <p:nvPr/>
        </p:nvSpPr>
        <p:spPr>
          <a:xfrm>
            <a:off x="3974486" y="3236666"/>
            <a:ext cx="2331046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05FAFA3-83E8-B705-B55D-830D44762B95}"/>
              </a:ext>
            </a:extLst>
          </p:cNvPr>
          <p:cNvSpPr/>
          <p:nvPr/>
        </p:nvSpPr>
        <p:spPr>
          <a:xfrm>
            <a:off x="2641600" y="3979931"/>
            <a:ext cx="3663932" cy="2882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64F50B-1A7A-04CF-7820-9C5D594CB1A2}"/>
              </a:ext>
            </a:extLst>
          </p:cNvPr>
          <p:cNvSpPr/>
          <p:nvPr/>
        </p:nvSpPr>
        <p:spPr>
          <a:xfrm>
            <a:off x="497829" y="4464809"/>
            <a:ext cx="2880000" cy="4700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K</a:t>
            </a: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Round 18004 to the nearest 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Ten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Hundred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Thousand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Ten thousand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Round 57.835 to the nearest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Ten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Hundred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Integer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Round 1209.0845 to the nearest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Ten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Hundred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Thousand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Integer</a:t>
            </a:r>
          </a:p>
          <a:p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14CA26-F03B-CC49-7244-4D807CBFBD66}"/>
              </a:ext>
            </a:extLst>
          </p:cNvPr>
          <p:cNvSpPr/>
          <p:nvPr/>
        </p:nvSpPr>
        <p:spPr>
          <a:xfrm>
            <a:off x="1765300" y="4975363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0330B7-F2C9-EBD1-F771-D2938F9542C9}"/>
              </a:ext>
            </a:extLst>
          </p:cNvPr>
          <p:cNvSpPr/>
          <p:nvPr/>
        </p:nvSpPr>
        <p:spPr>
          <a:xfrm>
            <a:off x="1765300" y="5270225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0762CF-F90C-2DC2-629B-284BECF610FF}"/>
              </a:ext>
            </a:extLst>
          </p:cNvPr>
          <p:cNvSpPr/>
          <p:nvPr/>
        </p:nvSpPr>
        <p:spPr>
          <a:xfrm>
            <a:off x="1765300" y="5564408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D1969-7A85-2871-0122-90137225CA8D}"/>
              </a:ext>
            </a:extLst>
          </p:cNvPr>
          <p:cNvSpPr/>
          <p:nvPr/>
        </p:nvSpPr>
        <p:spPr>
          <a:xfrm>
            <a:off x="1765300" y="5853697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AB0A9C-27D1-1D41-27C5-8BBE0A15AF6F}"/>
              </a:ext>
            </a:extLst>
          </p:cNvPr>
          <p:cNvSpPr/>
          <p:nvPr/>
        </p:nvSpPr>
        <p:spPr>
          <a:xfrm>
            <a:off x="1765300" y="6607952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3C2F7F-E08E-516D-4323-7BD8B643B8C6}"/>
              </a:ext>
            </a:extLst>
          </p:cNvPr>
          <p:cNvSpPr/>
          <p:nvPr/>
        </p:nvSpPr>
        <p:spPr>
          <a:xfrm>
            <a:off x="1765300" y="6902814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590AD8-6EB4-501F-E0A2-70281EDDD87F}"/>
              </a:ext>
            </a:extLst>
          </p:cNvPr>
          <p:cNvSpPr/>
          <p:nvPr/>
        </p:nvSpPr>
        <p:spPr>
          <a:xfrm>
            <a:off x="1765300" y="7196997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DD5E66-91B8-9797-2BD7-CE4972A6E489}"/>
              </a:ext>
            </a:extLst>
          </p:cNvPr>
          <p:cNvSpPr/>
          <p:nvPr/>
        </p:nvSpPr>
        <p:spPr>
          <a:xfrm>
            <a:off x="1765300" y="7980128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275E52-72D8-AC14-DE1C-E2AD577D0221}"/>
              </a:ext>
            </a:extLst>
          </p:cNvPr>
          <p:cNvSpPr/>
          <p:nvPr/>
        </p:nvSpPr>
        <p:spPr>
          <a:xfrm>
            <a:off x="1765300" y="8274990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1994B2-BA00-9B23-4B08-65F503E86B94}"/>
              </a:ext>
            </a:extLst>
          </p:cNvPr>
          <p:cNvSpPr/>
          <p:nvPr/>
        </p:nvSpPr>
        <p:spPr>
          <a:xfrm>
            <a:off x="1765300" y="8569173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11CE96-482D-A20D-A59A-E201EBD9064F}"/>
              </a:ext>
            </a:extLst>
          </p:cNvPr>
          <p:cNvSpPr/>
          <p:nvPr/>
        </p:nvSpPr>
        <p:spPr>
          <a:xfrm>
            <a:off x="1765300" y="8858462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543B68-FE9C-5E7A-AE2A-E15764683377}"/>
              </a:ext>
            </a:extLst>
          </p:cNvPr>
          <p:cNvSpPr/>
          <p:nvPr/>
        </p:nvSpPr>
        <p:spPr>
          <a:xfrm>
            <a:off x="3480170" y="4464808"/>
            <a:ext cx="2880000" cy="4700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L</a:t>
            </a: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Round 64.50312 to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1dp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2dp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3dp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4dp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Round 28.1793 to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1dp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2dp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3dp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Round 1209.00845 to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1dp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2dp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3dp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4dp</a:t>
            </a:r>
          </a:p>
          <a:p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791C37-DDF1-EBE7-4B25-ABD758A7F74A}"/>
              </a:ext>
            </a:extLst>
          </p:cNvPr>
          <p:cNvSpPr/>
          <p:nvPr/>
        </p:nvSpPr>
        <p:spPr>
          <a:xfrm>
            <a:off x="4755024" y="4975363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9A6484-4A12-2334-AC3B-DB78C6CFE518}"/>
              </a:ext>
            </a:extLst>
          </p:cNvPr>
          <p:cNvSpPr/>
          <p:nvPr/>
        </p:nvSpPr>
        <p:spPr>
          <a:xfrm>
            <a:off x="4755024" y="5270225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4D211DA-DDFC-5390-2B51-970DD4063894}"/>
              </a:ext>
            </a:extLst>
          </p:cNvPr>
          <p:cNvSpPr/>
          <p:nvPr/>
        </p:nvSpPr>
        <p:spPr>
          <a:xfrm>
            <a:off x="4755024" y="5564408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7CA3352-308F-0C7A-5C05-4C5201963FE0}"/>
              </a:ext>
            </a:extLst>
          </p:cNvPr>
          <p:cNvSpPr/>
          <p:nvPr/>
        </p:nvSpPr>
        <p:spPr>
          <a:xfrm>
            <a:off x="4755024" y="5853697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4D2102F-4EEE-0EF9-B0FE-A9D2286F1A3D}"/>
              </a:ext>
            </a:extLst>
          </p:cNvPr>
          <p:cNvSpPr/>
          <p:nvPr/>
        </p:nvSpPr>
        <p:spPr>
          <a:xfrm>
            <a:off x="4755024" y="6607952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C1496E4-D09B-1F6D-44E1-124FC9FF68CA}"/>
              </a:ext>
            </a:extLst>
          </p:cNvPr>
          <p:cNvSpPr/>
          <p:nvPr/>
        </p:nvSpPr>
        <p:spPr>
          <a:xfrm>
            <a:off x="4755024" y="6902814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5B0EEFC-7881-7EBD-A202-55527A44D41C}"/>
              </a:ext>
            </a:extLst>
          </p:cNvPr>
          <p:cNvSpPr/>
          <p:nvPr/>
        </p:nvSpPr>
        <p:spPr>
          <a:xfrm>
            <a:off x="4755024" y="7196997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BFBA2BA-9D68-7AD1-5A4E-3B37A7BD29B7}"/>
              </a:ext>
            </a:extLst>
          </p:cNvPr>
          <p:cNvSpPr/>
          <p:nvPr/>
        </p:nvSpPr>
        <p:spPr>
          <a:xfrm>
            <a:off x="4755024" y="7980128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C81A699-39B3-80C8-CEED-13F3FD3BD2B1}"/>
              </a:ext>
            </a:extLst>
          </p:cNvPr>
          <p:cNvSpPr/>
          <p:nvPr/>
        </p:nvSpPr>
        <p:spPr>
          <a:xfrm>
            <a:off x="4755024" y="8274990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6B3D8E3-1CCA-2D73-05CF-21BD5EE3F129}"/>
              </a:ext>
            </a:extLst>
          </p:cNvPr>
          <p:cNvSpPr/>
          <p:nvPr/>
        </p:nvSpPr>
        <p:spPr>
          <a:xfrm>
            <a:off x="4755024" y="8569173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17AD510-9EE6-C0E4-505E-DA888A25F273}"/>
              </a:ext>
            </a:extLst>
          </p:cNvPr>
          <p:cNvSpPr/>
          <p:nvPr/>
        </p:nvSpPr>
        <p:spPr>
          <a:xfrm>
            <a:off x="4755024" y="8858462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85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636904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6C01E-F140-8826-0EBB-4640B3C3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3342" y="9426569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18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64F50B-1A7A-04CF-7820-9C5D594CB1A2}"/>
              </a:ext>
            </a:extLst>
          </p:cNvPr>
          <p:cNvSpPr/>
          <p:nvPr/>
        </p:nvSpPr>
        <p:spPr>
          <a:xfrm>
            <a:off x="497829" y="1400767"/>
            <a:ext cx="2880000" cy="4700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M</a:t>
            </a: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Round 18004 to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 significant figure</a:t>
            </a:r>
          </a:p>
          <a:p>
            <a:pPr marL="228600" indent="-228600">
              <a:lnSpc>
                <a:spcPct val="150000"/>
              </a:lnSpc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 significant figures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 significant figures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 significant figures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Round 57.835 to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 significant figure</a:t>
            </a:r>
          </a:p>
          <a:p>
            <a:pPr marL="228600" indent="-228600">
              <a:lnSpc>
                <a:spcPct val="150000"/>
              </a:lnSpc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 significant figures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 significant figures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Round 0.80425 to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 significant figure</a:t>
            </a:r>
          </a:p>
          <a:p>
            <a:pPr marL="228600" indent="-228600">
              <a:lnSpc>
                <a:spcPct val="150000"/>
              </a:lnSpc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 significant figures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 significant figures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 significant figures</a:t>
            </a:r>
          </a:p>
          <a:p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14CA26-F03B-CC49-7244-4D807CBFBD66}"/>
              </a:ext>
            </a:extLst>
          </p:cNvPr>
          <p:cNvSpPr/>
          <p:nvPr/>
        </p:nvSpPr>
        <p:spPr>
          <a:xfrm>
            <a:off x="2201237" y="1930047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0330B7-F2C9-EBD1-F771-D2938F9542C9}"/>
              </a:ext>
            </a:extLst>
          </p:cNvPr>
          <p:cNvSpPr/>
          <p:nvPr/>
        </p:nvSpPr>
        <p:spPr>
          <a:xfrm>
            <a:off x="2201237" y="2224909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0762CF-F90C-2DC2-629B-284BECF610FF}"/>
              </a:ext>
            </a:extLst>
          </p:cNvPr>
          <p:cNvSpPr/>
          <p:nvPr/>
        </p:nvSpPr>
        <p:spPr>
          <a:xfrm>
            <a:off x="2201237" y="2519092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D1969-7A85-2871-0122-90137225CA8D}"/>
              </a:ext>
            </a:extLst>
          </p:cNvPr>
          <p:cNvSpPr/>
          <p:nvPr/>
        </p:nvSpPr>
        <p:spPr>
          <a:xfrm>
            <a:off x="2201237" y="2808381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AB0A9C-27D1-1D41-27C5-8BBE0A15AF6F}"/>
              </a:ext>
            </a:extLst>
          </p:cNvPr>
          <p:cNvSpPr/>
          <p:nvPr/>
        </p:nvSpPr>
        <p:spPr>
          <a:xfrm>
            <a:off x="2201237" y="3562636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3C2F7F-E08E-516D-4323-7BD8B643B8C6}"/>
              </a:ext>
            </a:extLst>
          </p:cNvPr>
          <p:cNvSpPr/>
          <p:nvPr/>
        </p:nvSpPr>
        <p:spPr>
          <a:xfrm>
            <a:off x="2201237" y="3857498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590AD8-6EB4-501F-E0A2-70281EDDD87F}"/>
              </a:ext>
            </a:extLst>
          </p:cNvPr>
          <p:cNvSpPr/>
          <p:nvPr/>
        </p:nvSpPr>
        <p:spPr>
          <a:xfrm>
            <a:off x="2201237" y="4151681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DD5E66-91B8-9797-2BD7-CE4972A6E489}"/>
              </a:ext>
            </a:extLst>
          </p:cNvPr>
          <p:cNvSpPr/>
          <p:nvPr/>
        </p:nvSpPr>
        <p:spPr>
          <a:xfrm>
            <a:off x="2201237" y="4934812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275E52-72D8-AC14-DE1C-E2AD577D0221}"/>
              </a:ext>
            </a:extLst>
          </p:cNvPr>
          <p:cNvSpPr/>
          <p:nvPr/>
        </p:nvSpPr>
        <p:spPr>
          <a:xfrm>
            <a:off x="2201237" y="5229674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1994B2-BA00-9B23-4B08-65F503E86B94}"/>
              </a:ext>
            </a:extLst>
          </p:cNvPr>
          <p:cNvSpPr/>
          <p:nvPr/>
        </p:nvSpPr>
        <p:spPr>
          <a:xfrm>
            <a:off x="2201237" y="5523857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11CE96-482D-A20D-A59A-E201EBD9064F}"/>
              </a:ext>
            </a:extLst>
          </p:cNvPr>
          <p:cNvSpPr/>
          <p:nvPr/>
        </p:nvSpPr>
        <p:spPr>
          <a:xfrm>
            <a:off x="2201237" y="5813146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543B68-FE9C-5E7A-AE2A-E15764683377}"/>
              </a:ext>
            </a:extLst>
          </p:cNvPr>
          <p:cNvSpPr/>
          <p:nvPr/>
        </p:nvSpPr>
        <p:spPr>
          <a:xfrm>
            <a:off x="3480170" y="1400766"/>
            <a:ext cx="2880000" cy="4700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N</a:t>
            </a: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Calculate the median of the following: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605,  56,  566,   655,    506,   65,	555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18123, 18200,  18032, 18103, 18013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05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1.3,       1.07,       1.14,	1.6,	   1.39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05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2000, 375,	 7100,	2900,	999,  400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05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11,	  20,     9,     15,       14,	     3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83,	  18,   45,     37,       90,	     21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11,	   −9,	−4,    7,   −10,	  −3,	−13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9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−25,   35,	15,    −5,     25,    −45,     20 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5380CE-8B30-6FF6-9C43-59A23D5F139F}"/>
              </a:ext>
            </a:extLst>
          </p:cNvPr>
          <p:cNvSpPr/>
          <p:nvPr/>
        </p:nvSpPr>
        <p:spPr>
          <a:xfrm>
            <a:off x="5213342" y="2177514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41766C-C7DC-3CA0-7F88-F33636BE64ED}"/>
              </a:ext>
            </a:extLst>
          </p:cNvPr>
          <p:cNvSpPr/>
          <p:nvPr/>
        </p:nvSpPr>
        <p:spPr>
          <a:xfrm>
            <a:off x="5213342" y="2757739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D0F12E-C8C5-66AE-472B-C030E82E388A}"/>
              </a:ext>
            </a:extLst>
          </p:cNvPr>
          <p:cNvSpPr/>
          <p:nvPr/>
        </p:nvSpPr>
        <p:spPr>
          <a:xfrm>
            <a:off x="5226838" y="3275791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CE4B70-FE86-4843-A6C2-563240A19066}"/>
              </a:ext>
            </a:extLst>
          </p:cNvPr>
          <p:cNvSpPr/>
          <p:nvPr/>
        </p:nvSpPr>
        <p:spPr>
          <a:xfrm>
            <a:off x="5226838" y="3790823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0BA371-38A9-4CA1-1E41-80D0CE8469C7}"/>
              </a:ext>
            </a:extLst>
          </p:cNvPr>
          <p:cNvSpPr/>
          <p:nvPr/>
        </p:nvSpPr>
        <p:spPr>
          <a:xfrm>
            <a:off x="5226838" y="4308845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76ED05-606C-8A45-7FA2-C9B1E35CD59D}"/>
              </a:ext>
            </a:extLst>
          </p:cNvPr>
          <p:cNvSpPr/>
          <p:nvPr/>
        </p:nvSpPr>
        <p:spPr>
          <a:xfrm>
            <a:off x="5226838" y="4874723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8DA633-221F-5DA5-0928-F7D201F1A849}"/>
              </a:ext>
            </a:extLst>
          </p:cNvPr>
          <p:cNvSpPr/>
          <p:nvPr/>
        </p:nvSpPr>
        <p:spPr>
          <a:xfrm>
            <a:off x="5226838" y="5352055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AF028C-E9D4-90FA-3062-977F0235D8D3}"/>
              </a:ext>
            </a:extLst>
          </p:cNvPr>
          <p:cNvSpPr/>
          <p:nvPr/>
        </p:nvSpPr>
        <p:spPr>
          <a:xfrm>
            <a:off x="5226838" y="5836437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C1BB4D-3FEB-B7AC-C767-38BB6B662E1A}"/>
              </a:ext>
            </a:extLst>
          </p:cNvPr>
          <p:cNvSpPr/>
          <p:nvPr/>
        </p:nvSpPr>
        <p:spPr>
          <a:xfrm>
            <a:off x="497829" y="6140610"/>
            <a:ext cx="5862340" cy="17605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O</a:t>
            </a:r>
          </a:p>
          <a:p>
            <a:r>
              <a:rPr lang="en-GB" sz="1200">
                <a:solidFill>
                  <a:schemeClr val="tx1"/>
                </a:solidFill>
              </a:rPr>
              <a:t>Write the following numbers in standard form: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3CEF53-6407-6163-1552-B224B9026285}"/>
              </a:ext>
            </a:extLst>
          </p:cNvPr>
          <p:cNvSpPr/>
          <p:nvPr/>
        </p:nvSpPr>
        <p:spPr>
          <a:xfrm>
            <a:off x="497829" y="7956285"/>
            <a:ext cx="5862340" cy="1755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P</a:t>
            </a:r>
          </a:p>
          <a:p>
            <a:r>
              <a:rPr lang="en-GB" sz="1200">
                <a:solidFill>
                  <a:schemeClr val="tx1"/>
                </a:solidFill>
              </a:rPr>
              <a:t>Write the following numbers in ascending order: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F741A78-ABC1-D26E-FE8E-38EBEF705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54" y="6682790"/>
            <a:ext cx="710121" cy="1203595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90DE898D-DF2C-CDA0-3CA8-F91E4974D773}"/>
              </a:ext>
            </a:extLst>
          </p:cNvPr>
          <p:cNvGrpSpPr/>
          <p:nvPr/>
        </p:nvGrpSpPr>
        <p:grpSpPr>
          <a:xfrm>
            <a:off x="3502137" y="6582618"/>
            <a:ext cx="861919" cy="1281399"/>
            <a:chOff x="2715587" y="6610713"/>
            <a:chExt cx="861919" cy="1281399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1BE15A5C-8D20-61C1-3BFE-8D0B739A2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5587" y="6610713"/>
              <a:ext cx="861919" cy="963673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2D015E07-73C2-ED79-888B-34A322ABE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28807" y="7629523"/>
              <a:ext cx="737750" cy="262589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F787922C-C95E-CC56-5868-A8602847AF52}"/>
              </a:ext>
            </a:extLst>
          </p:cNvPr>
          <p:cNvSpPr/>
          <p:nvPr/>
        </p:nvSpPr>
        <p:spPr>
          <a:xfrm>
            <a:off x="1571317" y="6675330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A5F7C4B-D82C-C65C-4071-4D3A29C6E44F}"/>
              </a:ext>
            </a:extLst>
          </p:cNvPr>
          <p:cNvSpPr/>
          <p:nvPr/>
        </p:nvSpPr>
        <p:spPr>
          <a:xfrm>
            <a:off x="1571317" y="7018318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0920B0-93A2-7330-51A3-2607F79A717A}"/>
              </a:ext>
            </a:extLst>
          </p:cNvPr>
          <p:cNvSpPr/>
          <p:nvPr/>
        </p:nvSpPr>
        <p:spPr>
          <a:xfrm>
            <a:off x="1571317" y="7328543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FC270B3-E85A-2E93-86D5-1FC4DDBCFD7A}"/>
              </a:ext>
            </a:extLst>
          </p:cNvPr>
          <p:cNvSpPr/>
          <p:nvPr/>
        </p:nvSpPr>
        <p:spPr>
          <a:xfrm>
            <a:off x="1571317" y="7649916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5BF4C8-57D2-D70D-5150-E0186CB626B9}"/>
              </a:ext>
            </a:extLst>
          </p:cNvPr>
          <p:cNvSpPr/>
          <p:nvPr/>
        </p:nvSpPr>
        <p:spPr>
          <a:xfrm>
            <a:off x="4364056" y="6557229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6CC79E-A11C-1DAB-EE3C-24AC9D50CFC2}"/>
              </a:ext>
            </a:extLst>
          </p:cNvPr>
          <p:cNvSpPr/>
          <p:nvPr/>
        </p:nvSpPr>
        <p:spPr>
          <a:xfrm>
            <a:off x="4364056" y="6931327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724DF56-C4D0-3A9C-9782-31D7C5E18C0A}"/>
              </a:ext>
            </a:extLst>
          </p:cNvPr>
          <p:cNvSpPr/>
          <p:nvPr/>
        </p:nvSpPr>
        <p:spPr>
          <a:xfrm>
            <a:off x="4364056" y="7287052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549511C-8D4F-30E8-AD36-775D37E54A5C}"/>
              </a:ext>
            </a:extLst>
          </p:cNvPr>
          <p:cNvSpPr/>
          <p:nvPr/>
        </p:nvSpPr>
        <p:spPr>
          <a:xfrm>
            <a:off x="4364056" y="7627335"/>
            <a:ext cx="1028700" cy="2447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ACF31E3A-90F8-EC6D-94C0-A4DEEEA124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954" y="8428565"/>
            <a:ext cx="4951283" cy="1054892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A8A8AF8-4BFA-A0A7-4919-D2D1806A1864}"/>
              </a:ext>
            </a:extLst>
          </p:cNvPr>
          <p:cNvSpPr/>
          <p:nvPr/>
        </p:nvSpPr>
        <p:spPr>
          <a:xfrm>
            <a:off x="684954" y="8428565"/>
            <a:ext cx="277572" cy="998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8EB69BC-8C02-FF41-72DD-7FE3FEAA1125}"/>
              </a:ext>
            </a:extLst>
          </p:cNvPr>
          <p:cNvSpPr/>
          <p:nvPr/>
        </p:nvSpPr>
        <p:spPr>
          <a:xfrm>
            <a:off x="1939707" y="8485453"/>
            <a:ext cx="277572" cy="998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C94AF78-A383-4D91-D0AF-9553FB34F446}"/>
              </a:ext>
            </a:extLst>
          </p:cNvPr>
          <p:cNvSpPr/>
          <p:nvPr/>
        </p:nvSpPr>
        <p:spPr>
          <a:xfrm>
            <a:off x="3273338" y="8505233"/>
            <a:ext cx="277572" cy="998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9A75902-1358-6F73-3D81-FD86AFEBF062}"/>
              </a:ext>
            </a:extLst>
          </p:cNvPr>
          <p:cNvSpPr/>
          <p:nvPr/>
        </p:nvSpPr>
        <p:spPr>
          <a:xfrm>
            <a:off x="4547602" y="8449050"/>
            <a:ext cx="277572" cy="998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4CC2BC-FED3-78E4-9C03-2807188FC7D6}"/>
              </a:ext>
            </a:extLst>
          </p:cNvPr>
          <p:cNvSpPr txBox="1"/>
          <p:nvPr/>
        </p:nvSpPr>
        <p:spPr>
          <a:xfrm>
            <a:off x="489994" y="8233750"/>
            <a:ext cx="333746" cy="1324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400"/>
              <a:t>a)</a:t>
            </a:r>
          </a:p>
          <a:p>
            <a:pPr>
              <a:lnSpc>
                <a:spcPct val="200000"/>
              </a:lnSpc>
            </a:pPr>
            <a:r>
              <a:rPr lang="en-GB" sz="1400"/>
              <a:t>b)</a:t>
            </a:r>
          </a:p>
          <a:p>
            <a:pPr>
              <a:lnSpc>
                <a:spcPct val="200000"/>
              </a:lnSpc>
            </a:pPr>
            <a:r>
              <a:rPr lang="en-GB" sz="1400"/>
              <a:t>c)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0B991F8-6AA2-F02F-AFFC-F7F6F00A1218}"/>
              </a:ext>
            </a:extLst>
          </p:cNvPr>
          <p:cNvSpPr/>
          <p:nvPr/>
        </p:nvSpPr>
        <p:spPr>
          <a:xfrm>
            <a:off x="2600017" y="8682586"/>
            <a:ext cx="3708018" cy="17943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9D1B4F4-B982-9147-35DE-D53CFB9F1913}"/>
              </a:ext>
            </a:extLst>
          </p:cNvPr>
          <p:cNvSpPr/>
          <p:nvPr/>
        </p:nvSpPr>
        <p:spPr>
          <a:xfrm>
            <a:off x="2600017" y="9055374"/>
            <a:ext cx="3708018" cy="17943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90E43C0-3096-61D8-1F2C-675AD9D371BB}"/>
              </a:ext>
            </a:extLst>
          </p:cNvPr>
          <p:cNvSpPr/>
          <p:nvPr/>
        </p:nvSpPr>
        <p:spPr>
          <a:xfrm>
            <a:off x="2600017" y="9490187"/>
            <a:ext cx="3708018" cy="17943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576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607C5-AC91-C4F1-6221-30C909120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595931"/>
              </p:ext>
            </p:extLst>
          </p:nvPr>
        </p:nvGraphicFramePr>
        <p:xfrm>
          <a:off x="497830" y="358880"/>
          <a:ext cx="586234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N1 Place Value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6C01E-F140-8826-0EBB-4640B3C3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3342" y="9426569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19</a:t>
            </a:fld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C1BB4D-3FEB-B7AC-C767-38BB6B662E1A}"/>
              </a:ext>
            </a:extLst>
          </p:cNvPr>
          <p:cNvSpPr/>
          <p:nvPr/>
        </p:nvSpPr>
        <p:spPr>
          <a:xfrm>
            <a:off x="497830" y="1350097"/>
            <a:ext cx="5862340" cy="3109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Q</a:t>
            </a:r>
          </a:p>
          <a:p>
            <a:r>
              <a:rPr lang="en-GB" sz="1200">
                <a:solidFill>
                  <a:schemeClr val="tx1"/>
                </a:solidFill>
              </a:rPr>
              <a:t>Write the following numbers in standard form: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Write the following numbers in ordinary form: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3CEF53-6407-6163-1552-B224B9026285}"/>
              </a:ext>
            </a:extLst>
          </p:cNvPr>
          <p:cNvSpPr/>
          <p:nvPr/>
        </p:nvSpPr>
        <p:spPr>
          <a:xfrm>
            <a:off x="497830" y="4555611"/>
            <a:ext cx="5862340" cy="23620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R</a:t>
            </a:r>
          </a:p>
          <a:p>
            <a:r>
              <a:rPr lang="en-GB" sz="1200">
                <a:solidFill>
                  <a:schemeClr val="tx1"/>
                </a:solidFill>
              </a:rPr>
              <a:t>Write the following numbers in descending order: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BE20FD-85FB-D0FE-52C9-AB42044D9671}"/>
              </a:ext>
            </a:extLst>
          </p:cNvPr>
          <p:cNvSpPr/>
          <p:nvPr/>
        </p:nvSpPr>
        <p:spPr>
          <a:xfrm>
            <a:off x="496468" y="6986618"/>
            <a:ext cx="5862340" cy="25605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S</a:t>
            </a:r>
          </a:p>
          <a:p>
            <a:r>
              <a:rPr lang="en-GB" sz="1200">
                <a:solidFill>
                  <a:schemeClr val="tx1"/>
                </a:solidFill>
              </a:rPr>
              <a:t>Convert the following  from decimal to binary numbers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Convert the following from binary to decimal numbers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80FBCE8-8D90-7BBB-1B88-BEC19A8F7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3" y="1932128"/>
            <a:ext cx="5763385" cy="23539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ED46B67-414E-07B5-1812-70EAE27FC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23" y="3129609"/>
            <a:ext cx="5763385" cy="31772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0BD45BFB-540E-1C0B-2428-6B582A279B2A}"/>
              </a:ext>
            </a:extLst>
          </p:cNvPr>
          <p:cNvSpPr/>
          <p:nvPr/>
        </p:nvSpPr>
        <p:spPr>
          <a:xfrm>
            <a:off x="588580" y="2245143"/>
            <a:ext cx="836183" cy="4448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3FD3A3D-9937-FBCF-906C-735F9572DC9E}"/>
              </a:ext>
            </a:extLst>
          </p:cNvPr>
          <p:cNvSpPr/>
          <p:nvPr/>
        </p:nvSpPr>
        <p:spPr>
          <a:xfrm>
            <a:off x="2038152" y="2268644"/>
            <a:ext cx="836183" cy="4448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D5E6809-A356-BC30-A759-03A3882D7F33}"/>
              </a:ext>
            </a:extLst>
          </p:cNvPr>
          <p:cNvSpPr/>
          <p:nvPr/>
        </p:nvSpPr>
        <p:spPr>
          <a:xfrm>
            <a:off x="3781069" y="2268644"/>
            <a:ext cx="836183" cy="4448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61D36B-5A7A-DF6F-9315-D5124BDAB763}"/>
              </a:ext>
            </a:extLst>
          </p:cNvPr>
          <p:cNvSpPr/>
          <p:nvPr/>
        </p:nvSpPr>
        <p:spPr>
          <a:xfrm>
            <a:off x="5412590" y="2228815"/>
            <a:ext cx="836183" cy="4448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002DDB6-04FF-AD43-B1CC-C89DB84FABE4}"/>
              </a:ext>
            </a:extLst>
          </p:cNvPr>
          <p:cNvSpPr/>
          <p:nvPr/>
        </p:nvSpPr>
        <p:spPr>
          <a:xfrm>
            <a:off x="588580" y="3479664"/>
            <a:ext cx="836183" cy="4448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EA46A8A-B9C5-8BC1-8702-92E16D5A3C07}"/>
              </a:ext>
            </a:extLst>
          </p:cNvPr>
          <p:cNvSpPr/>
          <p:nvPr/>
        </p:nvSpPr>
        <p:spPr>
          <a:xfrm>
            <a:off x="2038152" y="3503165"/>
            <a:ext cx="836183" cy="4448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F2F0E98-37BF-B8C7-C0B4-29253C64EF48}"/>
              </a:ext>
            </a:extLst>
          </p:cNvPr>
          <p:cNvSpPr/>
          <p:nvPr/>
        </p:nvSpPr>
        <p:spPr>
          <a:xfrm>
            <a:off x="3781069" y="3503165"/>
            <a:ext cx="836183" cy="4448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0800CD3-0114-EE94-0156-6788000C3C0E}"/>
              </a:ext>
            </a:extLst>
          </p:cNvPr>
          <p:cNvSpPr/>
          <p:nvPr/>
        </p:nvSpPr>
        <p:spPr>
          <a:xfrm>
            <a:off x="5412590" y="3463336"/>
            <a:ext cx="836183" cy="4448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96CF1EF-C051-5842-5D7B-F4EE3840F3CC}"/>
              </a:ext>
            </a:extLst>
          </p:cNvPr>
          <p:cNvSpPr/>
          <p:nvPr/>
        </p:nvSpPr>
        <p:spPr>
          <a:xfrm>
            <a:off x="1828800" y="1932128"/>
            <a:ext cx="318977" cy="258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8C17538-E299-3EF4-CBBD-9B190B6FEE15}"/>
              </a:ext>
            </a:extLst>
          </p:cNvPr>
          <p:cNvSpPr/>
          <p:nvPr/>
        </p:nvSpPr>
        <p:spPr>
          <a:xfrm>
            <a:off x="1828799" y="3204684"/>
            <a:ext cx="318977" cy="258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6EF6397-E35D-8881-55D7-2641F971614A}"/>
              </a:ext>
            </a:extLst>
          </p:cNvPr>
          <p:cNvSpPr/>
          <p:nvPr/>
        </p:nvSpPr>
        <p:spPr>
          <a:xfrm>
            <a:off x="3459124" y="1956824"/>
            <a:ext cx="318977" cy="258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642C762-C9AB-EAFB-24E0-30B8EC98EC18}"/>
              </a:ext>
            </a:extLst>
          </p:cNvPr>
          <p:cNvSpPr/>
          <p:nvPr/>
        </p:nvSpPr>
        <p:spPr>
          <a:xfrm>
            <a:off x="3448492" y="3211260"/>
            <a:ext cx="318977" cy="258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7E869-DC38-5291-6CA0-121A4BF9157B}"/>
              </a:ext>
            </a:extLst>
          </p:cNvPr>
          <p:cNvSpPr/>
          <p:nvPr/>
        </p:nvSpPr>
        <p:spPr>
          <a:xfrm>
            <a:off x="5093613" y="1947585"/>
            <a:ext cx="318977" cy="258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1F373D5-2138-C34E-8244-E1953CE46A9A}"/>
              </a:ext>
            </a:extLst>
          </p:cNvPr>
          <p:cNvSpPr/>
          <p:nvPr/>
        </p:nvSpPr>
        <p:spPr>
          <a:xfrm>
            <a:off x="4982216" y="3188682"/>
            <a:ext cx="318977" cy="258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5470C0E6-CD01-82DC-A7DD-BA24A7795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23" y="5133003"/>
            <a:ext cx="5763385" cy="755358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2B4CB2E5-5047-595C-B37D-5AB99B1FA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183" y="6249505"/>
            <a:ext cx="5750625" cy="310649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935C1262-84A1-3435-4C18-7990EAAAA791}"/>
              </a:ext>
            </a:extLst>
          </p:cNvPr>
          <p:cNvSpPr/>
          <p:nvPr/>
        </p:nvSpPr>
        <p:spPr>
          <a:xfrm>
            <a:off x="1827436" y="5187416"/>
            <a:ext cx="288000" cy="136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ED36C5A-660F-3E56-2DE8-1EBFE5C79414}"/>
              </a:ext>
            </a:extLst>
          </p:cNvPr>
          <p:cNvSpPr/>
          <p:nvPr/>
        </p:nvSpPr>
        <p:spPr>
          <a:xfrm>
            <a:off x="3334689" y="5133003"/>
            <a:ext cx="288000" cy="1422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3D86384-24A1-E717-2753-EDDE51A9E93C}"/>
              </a:ext>
            </a:extLst>
          </p:cNvPr>
          <p:cNvSpPr/>
          <p:nvPr/>
        </p:nvSpPr>
        <p:spPr>
          <a:xfrm>
            <a:off x="3334299" y="5187416"/>
            <a:ext cx="427640" cy="755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16758C-F344-9022-C2A1-094B6AB112E6}"/>
              </a:ext>
            </a:extLst>
          </p:cNvPr>
          <p:cNvSpPr/>
          <p:nvPr/>
        </p:nvSpPr>
        <p:spPr>
          <a:xfrm>
            <a:off x="4927884" y="5189702"/>
            <a:ext cx="427640" cy="755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CBAFD4A-DC83-C6B1-5677-6120E89FABC0}"/>
              </a:ext>
            </a:extLst>
          </p:cNvPr>
          <p:cNvSpPr/>
          <p:nvPr/>
        </p:nvSpPr>
        <p:spPr>
          <a:xfrm>
            <a:off x="4761842" y="6306204"/>
            <a:ext cx="427640" cy="363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1E79D8E-1CB8-A655-16D4-E10648F13DD0}"/>
              </a:ext>
            </a:extLst>
          </p:cNvPr>
          <p:cNvSpPr/>
          <p:nvPr/>
        </p:nvSpPr>
        <p:spPr>
          <a:xfrm>
            <a:off x="2554559" y="5414378"/>
            <a:ext cx="3708018" cy="17943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23DD9EE-A51F-3E47-F54A-2FC3389AC36F}"/>
              </a:ext>
            </a:extLst>
          </p:cNvPr>
          <p:cNvSpPr/>
          <p:nvPr/>
        </p:nvSpPr>
        <p:spPr>
          <a:xfrm>
            <a:off x="2554559" y="5915580"/>
            <a:ext cx="3708018" cy="17943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B79D0B5-C2D9-E55D-4EC9-FD25FFE26017}"/>
              </a:ext>
            </a:extLst>
          </p:cNvPr>
          <p:cNvSpPr/>
          <p:nvPr/>
        </p:nvSpPr>
        <p:spPr>
          <a:xfrm>
            <a:off x="2554559" y="6540676"/>
            <a:ext cx="3708018" cy="17943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4758F6BA-0188-AD69-85E7-FEA7B6133F8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090" r="58413"/>
          <a:stretch/>
        </p:blipFill>
        <p:spPr>
          <a:xfrm>
            <a:off x="748053" y="8555903"/>
            <a:ext cx="676710" cy="91262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9F1237A4-9E3B-0485-F802-6BC536376AF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1861"/>
          <a:stretch/>
        </p:blipFill>
        <p:spPr>
          <a:xfrm>
            <a:off x="3553725" y="8555903"/>
            <a:ext cx="780501" cy="991172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640422E5-73CA-E697-3140-12755157742B}"/>
              </a:ext>
            </a:extLst>
          </p:cNvPr>
          <p:cNvSpPr/>
          <p:nvPr/>
        </p:nvSpPr>
        <p:spPr>
          <a:xfrm>
            <a:off x="1424763" y="8608791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00F98B0-E8CC-48BF-ABA0-5E1121E289A5}"/>
              </a:ext>
            </a:extLst>
          </p:cNvPr>
          <p:cNvSpPr/>
          <p:nvPr/>
        </p:nvSpPr>
        <p:spPr>
          <a:xfrm>
            <a:off x="1424763" y="9101682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C617583-721B-44D9-CB3F-2BFD20A07B6F}"/>
              </a:ext>
            </a:extLst>
          </p:cNvPr>
          <p:cNvSpPr/>
          <p:nvPr/>
        </p:nvSpPr>
        <p:spPr>
          <a:xfrm>
            <a:off x="4334226" y="8616893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D677FD6-7BE4-0B7C-D9B3-6FDD657B9348}"/>
              </a:ext>
            </a:extLst>
          </p:cNvPr>
          <p:cNvSpPr/>
          <p:nvPr/>
        </p:nvSpPr>
        <p:spPr>
          <a:xfrm>
            <a:off x="4334226" y="9109784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1EA1BB3C-FD42-F964-9BA7-65BD58DEC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7088" y="7457646"/>
            <a:ext cx="443715" cy="784424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1729FF8D-9822-74C9-1214-68CE5ED6BE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845" y="7368845"/>
            <a:ext cx="619125" cy="962025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46BEEDCD-D449-309B-5AA7-9DA3677BB3C2}"/>
              </a:ext>
            </a:extLst>
          </p:cNvPr>
          <p:cNvSpPr/>
          <p:nvPr/>
        </p:nvSpPr>
        <p:spPr>
          <a:xfrm>
            <a:off x="1451802" y="7399981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4463DB0-D9EE-80FB-83AA-FDE5B60D364F}"/>
              </a:ext>
            </a:extLst>
          </p:cNvPr>
          <p:cNvSpPr/>
          <p:nvPr/>
        </p:nvSpPr>
        <p:spPr>
          <a:xfrm>
            <a:off x="1451802" y="7892872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F7C6D35-B4F0-3C10-1C7F-099BD8735A96}"/>
              </a:ext>
            </a:extLst>
          </p:cNvPr>
          <p:cNvSpPr/>
          <p:nvPr/>
        </p:nvSpPr>
        <p:spPr>
          <a:xfrm>
            <a:off x="4361265" y="7408083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8DB13FC-9B04-0A39-D30E-1F4966E66F3A}"/>
              </a:ext>
            </a:extLst>
          </p:cNvPr>
          <p:cNvSpPr/>
          <p:nvPr/>
        </p:nvSpPr>
        <p:spPr>
          <a:xfrm>
            <a:off x="4361265" y="7900974"/>
            <a:ext cx="1874826" cy="40342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566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286477-A3A6-B4AA-8EE8-463948580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37591"/>
              </p:ext>
            </p:extLst>
          </p:nvPr>
        </p:nvGraphicFramePr>
        <p:xfrm>
          <a:off x="497830" y="130625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Knowledge </a:t>
                      </a:r>
                      <a:r>
                        <a:rPr lang="en-US" sz="1600" b="1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Organiser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437CC7-2193-E224-2F51-77D709F6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3A38-D272-42AA-9C88-F1FBEAE20D2C}" type="slidenum">
              <a:rPr lang="en-GB" smtClean="0"/>
              <a:t>20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95E97FC-79DF-9718-8B99-884D0E2E3B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0285174"/>
                  </p:ext>
                </p:extLst>
              </p:nvPr>
            </p:nvGraphicFramePr>
            <p:xfrm>
              <a:off x="550516" y="1673157"/>
              <a:ext cx="5809654" cy="699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3774">
                      <a:extLst>
                        <a:ext uri="{9D8B030D-6E8A-4147-A177-3AD203B41FA5}">
                          <a16:colId xmlns:a16="http://schemas.microsoft.com/office/drawing/2014/main" val="2429074904"/>
                        </a:ext>
                      </a:extLst>
                    </a:gridCol>
                    <a:gridCol w="2206861">
                      <a:extLst>
                        <a:ext uri="{9D8B030D-6E8A-4147-A177-3AD203B41FA5}">
                          <a16:colId xmlns:a16="http://schemas.microsoft.com/office/drawing/2014/main" val="3766846760"/>
                        </a:ext>
                      </a:extLst>
                    </a:gridCol>
                    <a:gridCol w="3229019">
                      <a:extLst>
                        <a:ext uri="{9D8B030D-6E8A-4147-A177-3AD203B41FA5}">
                          <a16:colId xmlns:a16="http://schemas.microsoft.com/office/drawing/2014/main" val="2740296746"/>
                        </a:ext>
                      </a:extLst>
                    </a:gridCol>
                  </a:tblGrid>
                  <a:tr h="163286">
                    <a:tc>
                      <a:txBody>
                        <a:bodyPr/>
                        <a:lstStyle/>
                        <a:p>
                          <a:pPr algn="ctr"/>
                          <a:endParaRPr lang="en-GB" sz="1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Knowledge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Answer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92440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addition?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The process of calculating the total of two or more numbers.</a:t>
                          </a:r>
                          <a:endParaRPr lang="en-US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2514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subtraction?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/>
                            <a:t>The operation of finding the difference between two numbers.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4549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do we mean by commutative?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calculation that gives the same result no matter the order.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83421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do we mean by associative?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calculation that gives the same result no matter the grouping.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52343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an integer?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A whole number, positive or negative.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9159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are decimals?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latin typeface="+mn-lt"/>
                            </a:rPr>
                            <a:t>Numbers between whole numbers, expressed with a decimal point.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9175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perimeter?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/>
                            <a:t>The distance around a shape.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66596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an irregular shape?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A shape with unequal side lengths and angles.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97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regular shape?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A shape with equal sides and angles.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373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parallelogram?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quadrilateral with opposite sides parallel.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8366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trapezium?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baseline="0">
                              <a:solidFill>
                                <a:schemeClr val="tx1"/>
                              </a:solidFill>
                            </a:rPr>
                            <a:t>A quadrilateral with two parallel sides of unequal length.</a:t>
                          </a:r>
                          <a:endParaRPr lang="en-US" sz="1400" b="0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461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do we mean by isosceles?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triangle with two equal sides, or a trapezium with equal nonparallel sides.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4953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compound shape?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shape made of two or more simpler shapes.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332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frequency?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The number of times a value occurs.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749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standard form?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A number written as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×</m:t>
                              </m:r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, where 1 ≤ a &lt; 10, and n is an integer.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2790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95E97FC-79DF-9718-8B99-884D0E2E3B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0285174"/>
                  </p:ext>
                </p:extLst>
              </p:nvPr>
            </p:nvGraphicFramePr>
            <p:xfrm>
              <a:off x="550516" y="1673157"/>
              <a:ext cx="5809654" cy="699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3774">
                      <a:extLst>
                        <a:ext uri="{9D8B030D-6E8A-4147-A177-3AD203B41FA5}">
                          <a16:colId xmlns:a16="http://schemas.microsoft.com/office/drawing/2014/main" val="2429074904"/>
                        </a:ext>
                      </a:extLst>
                    </a:gridCol>
                    <a:gridCol w="2206861">
                      <a:extLst>
                        <a:ext uri="{9D8B030D-6E8A-4147-A177-3AD203B41FA5}">
                          <a16:colId xmlns:a16="http://schemas.microsoft.com/office/drawing/2014/main" val="3766846760"/>
                        </a:ext>
                      </a:extLst>
                    </a:gridCol>
                    <a:gridCol w="3229019">
                      <a:extLst>
                        <a:ext uri="{9D8B030D-6E8A-4147-A177-3AD203B41FA5}">
                          <a16:colId xmlns:a16="http://schemas.microsoft.com/office/drawing/2014/main" val="2740296746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en-GB" sz="1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Knowledge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Answer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92440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addition?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The process of calculating the total of two or more numbers.</a:t>
                          </a:r>
                          <a:endParaRPr lang="en-US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25142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subtraction?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/>
                            <a:t>The operation of finding the difference between two numbers.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454959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do we mean by commutative?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calculation that gives the same result no matter the order.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8342187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do we mean by associative?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calculation that gives the same result no matter the grouping.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52343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an integer?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A whole number, positive or negative.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91590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are decimals?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latin typeface="+mn-lt"/>
                            </a:rPr>
                            <a:t>Numbers between whole numbers, expressed with a decimal point.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9175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perimeter?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/>
                            <a:t>The distance around a shape.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6659669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an irregular shape?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A shape with unequal side lengths and angles.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97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regular shape?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A shape with equal sides and angles.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373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parallelogram?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quadrilateral with opposite sides parallel.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83662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trapezium?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baseline="0">
                              <a:solidFill>
                                <a:schemeClr val="tx1"/>
                              </a:solidFill>
                            </a:rPr>
                            <a:t>A quadrilateral with two parallel sides of unequal length.</a:t>
                          </a:r>
                          <a:endParaRPr lang="en-US" sz="1400" b="0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461243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do we mean by isosceles?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triangle with two equal sides, or a trapezium with equal nonparallel sides.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4953437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compound shape?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 shape made of two or more simpler shapes.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332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a frequency?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The number of times a value occurs.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74915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What is standard form?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0189" t="-1432000" r="-377" b="-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2790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2913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286477-A3A6-B4AA-8EE8-463948580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534125"/>
              </p:ext>
            </p:extLst>
          </p:nvPr>
        </p:nvGraphicFramePr>
        <p:xfrm>
          <a:off x="365243" y="183507"/>
          <a:ext cx="6127514" cy="1096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7514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24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Knowledge </a:t>
                      </a:r>
                      <a:r>
                        <a:rPr lang="en-US" sz="1400" b="1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Organiser</a:t>
                      </a:r>
                      <a:r>
                        <a:rPr lang="en-US" sz="14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 Quiz</a:t>
                      </a:r>
                      <a:endParaRPr lang="en-GB" sz="14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72BF1B-74C9-3562-2220-717BB056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1293" y="9500372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767F9B-91B5-08B8-390A-2AFF91D3B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035353"/>
              </p:ext>
            </p:extLst>
          </p:nvPr>
        </p:nvGraphicFramePr>
        <p:xfrm>
          <a:off x="683103" y="1108713"/>
          <a:ext cx="5809654" cy="600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774">
                  <a:extLst>
                    <a:ext uri="{9D8B030D-6E8A-4147-A177-3AD203B41FA5}">
                      <a16:colId xmlns:a16="http://schemas.microsoft.com/office/drawing/2014/main" val="2429074904"/>
                    </a:ext>
                  </a:extLst>
                </a:gridCol>
                <a:gridCol w="2206861">
                  <a:extLst>
                    <a:ext uri="{9D8B030D-6E8A-4147-A177-3AD203B41FA5}">
                      <a16:colId xmlns:a16="http://schemas.microsoft.com/office/drawing/2014/main" val="3766846760"/>
                    </a:ext>
                  </a:extLst>
                </a:gridCol>
                <a:gridCol w="3229019">
                  <a:extLst>
                    <a:ext uri="{9D8B030D-6E8A-4147-A177-3AD203B41FA5}">
                      <a16:colId xmlns:a16="http://schemas.microsoft.com/office/drawing/2014/main" val="2740296746"/>
                    </a:ext>
                  </a:extLst>
                </a:gridCol>
              </a:tblGrid>
              <a:tr h="163286">
                <a:tc>
                  <a:txBody>
                    <a:bodyPr/>
                    <a:lstStyle/>
                    <a:p>
                      <a:pPr algn="ctr"/>
                      <a:endParaRPr lang="en-GB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Knowledge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Answer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244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addition?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5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subtraction?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54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do we mean by commutative?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342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do we mean by associative?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23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an integer?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159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are decimals?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917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a perimeter?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5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an irregular shape?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29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a regular shape?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733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a parallelogram?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83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a trapezium?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baseline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6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do we mean by isosceles?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5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a compound shape?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332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a frequency?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749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What is standard form?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279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840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119024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868604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14F57-CC09-0430-65F1-FC2AEB6A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8024" y="944740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22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4BFBE-2B7A-9D54-CDEC-D104CF7C4732}"/>
              </a:ext>
            </a:extLst>
          </p:cNvPr>
          <p:cNvSpPr/>
          <p:nvPr/>
        </p:nvSpPr>
        <p:spPr>
          <a:xfrm>
            <a:off x="497830" y="1812566"/>
            <a:ext cx="5862340" cy="15109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en-GB" sz="1200">
                <a:solidFill>
                  <a:schemeClr val="tx1"/>
                </a:solidFill>
              </a:rPr>
              <a:t>Use the bar model to complete the number sentences: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E87ECA-B728-57A0-20E6-A8F873B4D4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00"/>
          <a:stretch/>
        </p:blipFill>
        <p:spPr>
          <a:xfrm>
            <a:off x="551943" y="2201540"/>
            <a:ext cx="5754114" cy="10670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9C432E-6A1A-0898-051E-850B3CF71168}"/>
              </a:ext>
            </a:extLst>
          </p:cNvPr>
          <p:cNvSpPr/>
          <p:nvPr/>
        </p:nvSpPr>
        <p:spPr>
          <a:xfrm>
            <a:off x="502907" y="3360748"/>
            <a:ext cx="5862340" cy="28941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 startAt="2"/>
            </a:pPr>
            <a:r>
              <a:rPr lang="en-GB" sz="1200">
                <a:solidFill>
                  <a:schemeClr val="tx1"/>
                </a:solidFill>
              </a:rPr>
              <a:t>Complete the part-whole models: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C32544D-2F04-EDE3-3500-E241A9A445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232" b="9506"/>
          <a:stretch/>
        </p:blipFill>
        <p:spPr>
          <a:xfrm>
            <a:off x="535748" y="4792389"/>
            <a:ext cx="1213256" cy="2974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210D650-0B1E-96D3-F27E-1590E8611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496" y="5549684"/>
            <a:ext cx="1348074" cy="1916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1DA0EEF-FC71-B44D-476A-C4FADE10B3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34" t="4124"/>
          <a:stretch/>
        </p:blipFill>
        <p:spPr>
          <a:xfrm>
            <a:off x="4022106" y="5904581"/>
            <a:ext cx="1306854" cy="21696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A09734E-90D9-8C9D-9570-F68F26E1E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460" y="5909712"/>
            <a:ext cx="609488" cy="19549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3106E28-7521-F4BA-C8B6-B7FB3D3E0B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0886" y="4854481"/>
            <a:ext cx="758447" cy="23538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3DD54F6E-1C4E-1F0B-E881-295EFF0471A3}"/>
              </a:ext>
            </a:extLst>
          </p:cNvPr>
          <p:cNvGrpSpPr/>
          <p:nvPr/>
        </p:nvGrpSpPr>
        <p:grpSpPr>
          <a:xfrm>
            <a:off x="557696" y="3688141"/>
            <a:ext cx="5793375" cy="999402"/>
            <a:chOff x="557696" y="3807785"/>
            <a:chExt cx="5793375" cy="99940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F19CCE5-C2D8-D2F1-F328-BD7DB1EA9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7696" y="3807785"/>
              <a:ext cx="892041" cy="95332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E970F2F-35C0-B12F-1F85-9E8163C58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40312" y="3807785"/>
              <a:ext cx="894789" cy="95332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42A49D-7C06-CA04-E7C8-4B68158E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138516" y="3865966"/>
              <a:ext cx="901205" cy="892041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01C4C17-4739-E985-A1AB-5513CE78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49004" y="3855068"/>
              <a:ext cx="892041" cy="89204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F421D47-ED48-09AB-374E-09D61EA91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0" b="96809" l="1523" r="99492">
                          <a14:foregroundMark x1="21827" y1="30851" x2="8122" y2="28723"/>
                          <a14:foregroundMark x1="52284" y1="81915" x2="67005" y2="4255"/>
                          <a14:foregroundMark x1="83249" y1="97340" x2="2030" y2="82447"/>
                          <a14:foregroundMark x1="51269" y1="77660" x2="23858" y2="6383"/>
                          <a14:foregroundMark x1="14213" y1="15426" x2="92386" y2="17553"/>
                          <a14:foregroundMark x1="57360" y1="43085" x2="99492" y2="0"/>
                          <a14:foregroundMark x1="57868" y1="42021" x2="98985" y2="52660"/>
                          <a14:foregroundMark x1="55838" y1="41489" x2="96954" y2="96809"/>
                          <a14:foregroundMark x1="63452" y1="63830" x2="82741" y2="93617"/>
                          <a14:foregroundMark x1="31980" y1="34574" x2="74112" y2="9574"/>
                          <a14:foregroundMark x1="26396" y1="14362" x2="82234" y2="7447"/>
                          <a14:foregroundMark x1="5584" y1="4787" x2="94924" y2="0"/>
                          <a14:foregroundMark x1="10660" y1="21809" x2="9137" y2="56915"/>
                          <a14:foregroundMark x1="5076" y1="92021" x2="42132" y2="92021"/>
                          <a14:backgroundMark x1="21320" y1="67021" x2="24365" y2="78191"/>
                          <a14:backgroundMark x1="15736" y1="87766" x2="22843" y2="87766"/>
                          <a14:backgroundMark x1="11675" y1="85106" x2="26396" y2="89894"/>
                          <a14:backgroundMark x1="10152" y1="80319" x2="13706" y2="89894"/>
                          <a14:backgroundMark x1="15736" y1="79787" x2="22335" y2="89894"/>
                          <a14:backgroundMark x1="29949" y1="85638" x2="15228" y2="88830"/>
                          <a14:backgroundMark x1="23350" y1="88298" x2="9645" y2="85638"/>
                          <a14:backgroundMark x1="24365" y1="85106" x2="25888" y2="88298"/>
                          <a14:backgroundMark x1="30964" y1="85106" x2="20305" y2="89362"/>
                          <a14:backgroundMark x1="6091" y1="81915" x2="10660" y2="8776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8960" y="3831771"/>
              <a:ext cx="1022111" cy="975416"/>
            </a:xfrm>
            <a:prstGeom prst="rect">
              <a:avLst/>
            </a:prstGeom>
          </p:spPr>
        </p:pic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D5CE4F9-0654-33D0-E801-BB707925C527}"/>
                </a:ext>
              </a:extLst>
            </p:cNvPr>
            <p:cNvSpPr/>
            <p:nvPr/>
          </p:nvSpPr>
          <p:spPr>
            <a:xfrm>
              <a:off x="5362157" y="4408885"/>
              <a:ext cx="338667" cy="3070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68DC9254-5407-F90B-71E1-5C681765B6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525" t="11062"/>
          <a:stretch/>
        </p:blipFill>
        <p:spPr>
          <a:xfrm>
            <a:off x="577460" y="5506653"/>
            <a:ext cx="1171544" cy="29428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F6441C3-1D56-141F-CBE8-6792E73E79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094" t="-2176" r="33370" b="2176"/>
          <a:stretch/>
        </p:blipFill>
        <p:spPr>
          <a:xfrm>
            <a:off x="571815" y="5145533"/>
            <a:ext cx="1129833" cy="30836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138F150-C4DF-64D4-1694-EC4C4C63AB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2106" y="5205232"/>
            <a:ext cx="597506" cy="23538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D638F1C-0482-1DF3-720C-2B797418352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9612" y="5246710"/>
            <a:ext cx="180000" cy="118537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1C3004A-C1EA-849B-C7E7-55F3C0AFD2FB}"/>
              </a:ext>
            </a:extLst>
          </p:cNvPr>
          <p:cNvSpPr/>
          <p:nvPr/>
        </p:nvSpPr>
        <p:spPr>
          <a:xfrm>
            <a:off x="503571" y="6278482"/>
            <a:ext cx="5862340" cy="3344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3.</a:t>
            </a: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Which of the following represents the commutative property of addition?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Which of the following does not represent the commutative property of addition?</a:t>
            </a:r>
          </a:p>
          <a:p>
            <a:pPr marL="228600" indent="-228600">
              <a:buFontTx/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If 356 + 79 = 435, then 79 + 356 = ______</a:t>
            </a:r>
          </a:p>
          <a:p>
            <a:pPr marL="228600" indent="-228600">
              <a:buFontTx/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Complete the following:</a:t>
            </a:r>
          </a:p>
          <a:p>
            <a:pPr marL="228600" indent="-228600">
              <a:buFontTx/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lphaLcParenR" startAt="5"/>
            </a:pPr>
            <a:r>
              <a:rPr lang="en-GB" sz="1200">
                <a:solidFill>
                  <a:schemeClr val="tx1"/>
                </a:solidFill>
              </a:rPr>
              <a:t>(125 + 347) + 88 = 125 + (347 +                          )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 startAt="2"/>
            </a:pPr>
            <a:endParaRPr lang="en-GB" sz="1200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324E80A-891F-00B9-E266-11C901CBAADE}"/>
              </a:ext>
            </a:extLst>
          </p:cNvPr>
          <p:cNvGrpSpPr/>
          <p:nvPr/>
        </p:nvGrpSpPr>
        <p:grpSpPr>
          <a:xfrm>
            <a:off x="1264778" y="6718016"/>
            <a:ext cx="4350210" cy="292558"/>
            <a:chOff x="1264778" y="6865629"/>
            <a:chExt cx="4350210" cy="292558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386CC3F-E267-7423-F566-91DFC1CD31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4275" t="20033" r="2491" b="67263"/>
            <a:stretch/>
          </p:blipFill>
          <p:spPr>
            <a:xfrm>
              <a:off x="1370025" y="6875530"/>
              <a:ext cx="4244963" cy="282657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9EF3940-D0FF-B0FB-D38E-4B607F7D59DA}"/>
                </a:ext>
              </a:extLst>
            </p:cNvPr>
            <p:cNvSpPr/>
            <p:nvPr/>
          </p:nvSpPr>
          <p:spPr>
            <a:xfrm>
              <a:off x="1264778" y="6875530"/>
              <a:ext cx="307648" cy="258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3CB64B3-5689-F6F4-450C-6146B10F9871}"/>
                </a:ext>
              </a:extLst>
            </p:cNvPr>
            <p:cNvSpPr/>
            <p:nvPr/>
          </p:nvSpPr>
          <p:spPr>
            <a:xfrm>
              <a:off x="2760850" y="6898874"/>
              <a:ext cx="307648" cy="258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8C33BCD-F98D-722F-AFFE-C2EB2E3CBE37}"/>
                </a:ext>
              </a:extLst>
            </p:cNvPr>
            <p:cNvSpPr/>
            <p:nvPr/>
          </p:nvSpPr>
          <p:spPr>
            <a:xfrm>
              <a:off x="4167035" y="6865629"/>
              <a:ext cx="307648" cy="258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03372AD-1EA9-1CDA-BD94-44CB07EB3D06}"/>
              </a:ext>
            </a:extLst>
          </p:cNvPr>
          <p:cNvGrpSpPr/>
          <p:nvPr/>
        </p:nvGrpSpPr>
        <p:grpSpPr>
          <a:xfrm>
            <a:off x="1264778" y="7318902"/>
            <a:ext cx="4381138" cy="295808"/>
            <a:chOff x="1282427" y="7510980"/>
            <a:chExt cx="4381138" cy="295808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25169A4-EE95-6A7D-16A9-21284CF188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4163" t="84910" r="2602" b="6078"/>
            <a:stretch/>
          </p:blipFill>
          <p:spPr>
            <a:xfrm>
              <a:off x="1418602" y="7587489"/>
              <a:ext cx="4244963" cy="200506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0C9AF41-71D7-9C51-C533-A8478690F45F}"/>
                </a:ext>
              </a:extLst>
            </p:cNvPr>
            <p:cNvSpPr/>
            <p:nvPr/>
          </p:nvSpPr>
          <p:spPr>
            <a:xfrm>
              <a:off x="1282427" y="7525332"/>
              <a:ext cx="307648" cy="258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B6ACE96-48DB-D870-A76F-1DE220274A3A}"/>
                </a:ext>
              </a:extLst>
            </p:cNvPr>
            <p:cNvSpPr/>
            <p:nvPr/>
          </p:nvSpPr>
          <p:spPr>
            <a:xfrm>
              <a:off x="2778499" y="7548676"/>
              <a:ext cx="307648" cy="258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9FB1A03-EDE1-BD16-23EE-CA3C1A325102}"/>
                </a:ext>
              </a:extLst>
            </p:cNvPr>
            <p:cNvSpPr/>
            <p:nvPr/>
          </p:nvSpPr>
          <p:spPr>
            <a:xfrm>
              <a:off x="4221964" y="7510980"/>
              <a:ext cx="307648" cy="258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76CE3C13-6721-839B-89F5-5BC68D2D6B40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r="55064"/>
          <a:stretch/>
        </p:blipFill>
        <p:spPr>
          <a:xfrm>
            <a:off x="2409636" y="8166225"/>
            <a:ext cx="2065047" cy="1093242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1CE8BA4B-5715-13E1-66C4-B8854485BC47}"/>
              </a:ext>
            </a:extLst>
          </p:cNvPr>
          <p:cNvSpPr/>
          <p:nvPr/>
        </p:nvSpPr>
        <p:spPr>
          <a:xfrm>
            <a:off x="1309559" y="4733455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DD8D678-8715-7050-336E-B173BBAE527E}"/>
              </a:ext>
            </a:extLst>
          </p:cNvPr>
          <p:cNvSpPr/>
          <p:nvPr/>
        </p:nvSpPr>
        <p:spPr>
          <a:xfrm>
            <a:off x="1291087" y="5127338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CE6209A-C0FD-7B33-33E6-2E78B4AB0E26}"/>
              </a:ext>
            </a:extLst>
          </p:cNvPr>
          <p:cNvSpPr/>
          <p:nvPr/>
        </p:nvSpPr>
        <p:spPr>
          <a:xfrm>
            <a:off x="1225583" y="583300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14535A5-4E66-C0CE-3CDB-AD98624F6994}"/>
              </a:ext>
            </a:extLst>
          </p:cNvPr>
          <p:cNvSpPr/>
          <p:nvPr/>
        </p:nvSpPr>
        <p:spPr>
          <a:xfrm>
            <a:off x="4748715" y="4754074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6AC2CBE-00ED-7FA8-2D0E-3412C6A6C406}"/>
              </a:ext>
            </a:extLst>
          </p:cNvPr>
          <p:cNvSpPr/>
          <p:nvPr/>
        </p:nvSpPr>
        <p:spPr>
          <a:xfrm>
            <a:off x="4748715" y="5128574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E5B0D83-3E96-C02E-1F45-198BDBA5648F}"/>
              </a:ext>
            </a:extLst>
          </p:cNvPr>
          <p:cNvSpPr/>
          <p:nvPr/>
        </p:nvSpPr>
        <p:spPr>
          <a:xfrm>
            <a:off x="3768436" y="5816434"/>
            <a:ext cx="652884" cy="31566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7219CC7-A7F1-7851-757F-BF79076C82F9}"/>
              </a:ext>
            </a:extLst>
          </p:cNvPr>
          <p:cNvSpPr/>
          <p:nvPr/>
        </p:nvSpPr>
        <p:spPr>
          <a:xfrm>
            <a:off x="4886045" y="5502645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2EFAB0F-E9AD-7B18-BFB0-E7BA9FEE7083}"/>
              </a:ext>
            </a:extLst>
          </p:cNvPr>
          <p:cNvSpPr/>
          <p:nvPr/>
        </p:nvSpPr>
        <p:spPr>
          <a:xfrm>
            <a:off x="946969" y="5518906"/>
            <a:ext cx="423055" cy="2523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A36C80B-2F61-8738-FCA0-A92720D6494B}"/>
              </a:ext>
            </a:extLst>
          </p:cNvPr>
          <p:cNvSpPr/>
          <p:nvPr/>
        </p:nvSpPr>
        <p:spPr>
          <a:xfrm>
            <a:off x="3148583" y="8093057"/>
            <a:ext cx="129120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EF15FD4-B3AD-DC49-4678-AB62FDCDAB9A}"/>
              </a:ext>
            </a:extLst>
          </p:cNvPr>
          <p:cNvSpPr/>
          <p:nvPr/>
        </p:nvSpPr>
        <p:spPr>
          <a:xfrm>
            <a:off x="2940312" y="7708324"/>
            <a:ext cx="129120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1494C70-A333-ACB6-5AB8-FD4FB6ED3618}"/>
              </a:ext>
            </a:extLst>
          </p:cNvPr>
          <p:cNvSpPr/>
          <p:nvPr/>
        </p:nvSpPr>
        <p:spPr>
          <a:xfrm>
            <a:off x="3148736" y="8477790"/>
            <a:ext cx="129120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E65CB67-F739-92B6-CA35-FB74CA2ABA27}"/>
              </a:ext>
            </a:extLst>
          </p:cNvPr>
          <p:cNvSpPr/>
          <p:nvPr/>
        </p:nvSpPr>
        <p:spPr>
          <a:xfrm>
            <a:off x="3147159" y="8897664"/>
            <a:ext cx="129120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5EB3E9C-9156-47C8-6AAD-ABEC2A4FCA7B}"/>
              </a:ext>
            </a:extLst>
          </p:cNvPr>
          <p:cNvSpPr/>
          <p:nvPr/>
        </p:nvSpPr>
        <p:spPr>
          <a:xfrm>
            <a:off x="2846486" y="9372956"/>
            <a:ext cx="764932" cy="22958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35A93-9B35-3F99-62A4-6CC73D78D7CE}"/>
              </a:ext>
            </a:extLst>
          </p:cNvPr>
          <p:cNvSpPr txBox="1"/>
          <p:nvPr/>
        </p:nvSpPr>
        <p:spPr>
          <a:xfrm>
            <a:off x="5574158" y="21080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5D948-B9CA-DD9D-BA07-41496E28131B}"/>
              </a:ext>
            </a:extLst>
          </p:cNvPr>
          <p:cNvSpPr txBox="1"/>
          <p:nvPr/>
        </p:nvSpPr>
        <p:spPr>
          <a:xfrm>
            <a:off x="5587074" y="236895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45784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363985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837295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26315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263150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14F57-CC09-0430-65F1-FC2AEB6A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8024" y="944740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23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4BFBE-2B7A-9D54-CDEC-D104CF7C4732}"/>
              </a:ext>
            </a:extLst>
          </p:cNvPr>
          <p:cNvSpPr/>
          <p:nvPr/>
        </p:nvSpPr>
        <p:spPr>
          <a:xfrm>
            <a:off x="497830" y="1812566"/>
            <a:ext cx="5862340" cy="76348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4. Calculate the following:</a:t>
            </a: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53 + 41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44 + 37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85 + 29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113 + 49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416 + 87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f) 817 + 306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g) 752 + 489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1487 + 336 =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Fill in the missing digits: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Fill in the missing digits: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" name="Picture 28" descr="A picture containing chart&#10;&#10;Description automatically generated">
            <a:extLst>
              <a:ext uri="{FF2B5EF4-FFF2-40B4-BE49-F238E27FC236}">
                <a16:creationId xmlns:a16="http://schemas.microsoft.com/office/drawing/2014/main" id="{A0D453F3-0EF0-2FF2-DA54-7CFB01AB3C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370" r="50283"/>
          <a:stretch/>
        </p:blipFill>
        <p:spPr>
          <a:xfrm>
            <a:off x="3136929" y="2096240"/>
            <a:ext cx="3085904" cy="3611054"/>
          </a:xfrm>
          <a:prstGeom prst="rect">
            <a:avLst/>
          </a:prstGeom>
        </p:spPr>
      </p:pic>
      <p:pic>
        <p:nvPicPr>
          <p:cNvPr id="6" name="Picture 28" descr="A picture containing chart&#10;&#10;Description automatically generated">
            <a:extLst>
              <a:ext uri="{FF2B5EF4-FFF2-40B4-BE49-F238E27FC236}">
                <a16:creationId xmlns:a16="http://schemas.microsoft.com/office/drawing/2014/main" id="{BA4C7284-02E3-5290-39BE-09FE4C2CA3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370" r="50283"/>
          <a:stretch/>
        </p:blipFill>
        <p:spPr>
          <a:xfrm>
            <a:off x="3136929" y="5683230"/>
            <a:ext cx="3085904" cy="3611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B48865-EA84-0E40-2D40-70449AF972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680"/>
          <a:stretch/>
        </p:blipFill>
        <p:spPr>
          <a:xfrm>
            <a:off x="635167" y="6831387"/>
            <a:ext cx="1868662" cy="8587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18D8A7-3038-80E1-F05B-F9664E2A11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680"/>
          <a:stretch/>
        </p:blipFill>
        <p:spPr>
          <a:xfrm>
            <a:off x="635168" y="8352746"/>
            <a:ext cx="1868661" cy="85878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90D47C-2742-B11B-601C-1F39FFBC0A63}"/>
              </a:ext>
            </a:extLst>
          </p:cNvPr>
          <p:cNvSpPr/>
          <p:nvPr/>
        </p:nvSpPr>
        <p:spPr>
          <a:xfrm>
            <a:off x="1689101" y="2185483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115684-3C18-5151-8F07-70F4BF617D11}"/>
              </a:ext>
            </a:extLst>
          </p:cNvPr>
          <p:cNvSpPr/>
          <p:nvPr/>
        </p:nvSpPr>
        <p:spPr>
          <a:xfrm>
            <a:off x="1689101" y="273334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71E982-9A90-2C7B-24FD-06FCC8F32F3E}"/>
              </a:ext>
            </a:extLst>
          </p:cNvPr>
          <p:cNvSpPr/>
          <p:nvPr/>
        </p:nvSpPr>
        <p:spPr>
          <a:xfrm>
            <a:off x="1689101" y="3281201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01B2F6-B5A4-30C6-06BB-CD49542C3769}"/>
              </a:ext>
            </a:extLst>
          </p:cNvPr>
          <p:cNvSpPr/>
          <p:nvPr/>
        </p:nvSpPr>
        <p:spPr>
          <a:xfrm>
            <a:off x="1689101" y="3829060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989159-C20F-9ED5-7EDD-7FF139DC52DF}"/>
              </a:ext>
            </a:extLst>
          </p:cNvPr>
          <p:cNvSpPr/>
          <p:nvPr/>
        </p:nvSpPr>
        <p:spPr>
          <a:xfrm>
            <a:off x="1689101" y="4382038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5DD58A-1EFD-2BCB-200E-D2567FF8474E}"/>
              </a:ext>
            </a:extLst>
          </p:cNvPr>
          <p:cNvSpPr/>
          <p:nvPr/>
        </p:nvSpPr>
        <p:spPr>
          <a:xfrm>
            <a:off x="1689101" y="496111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4F5CB2-DD8F-AACC-5646-4DFBBC16E986}"/>
              </a:ext>
            </a:extLst>
          </p:cNvPr>
          <p:cNvSpPr/>
          <p:nvPr/>
        </p:nvSpPr>
        <p:spPr>
          <a:xfrm>
            <a:off x="1689101" y="549310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CF3103-B3D9-A092-4EE3-6C5AF9B49B2C}"/>
              </a:ext>
            </a:extLst>
          </p:cNvPr>
          <p:cNvSpPr/>
          <p:nvPr/>
        </p:nvSpPr>
        <p:spPr>
          <a:xfrm>
            <a:off x="1689101" y="6029957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072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870525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837295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26315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263150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14F57-CC09-0430-65F1-FC2AEB6A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8024" y="944740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24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4BFBE-2B7A-9D54-CDEC-D104CF7C4732}"/>
              </a:ext>
            </a:extLst>
          </p:cNvPr>
          <p:cNvSpPr/>
          <p:nvPr/>
        </p:nvSpPr>
        <p:spPr>
          <a:xfrm>
            <a:off x="497830" y="1812566"/>
            <a:ext cx="5862340" cy="76348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5. Calculate the following:</a:t>
            </a: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5.3 + 4.1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44 + 3.7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8.5 + 29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11.3 + 4.9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4.16 + 0.87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f) 0.817 + 3.06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g) 0.752 + 0.489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1.487 + 0.336 =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lphaLcParenR" startAt="9"/>
            </a:pPr>
            <a:r>
              <a:rPr lang="en-GB" sz="1200">
                <a:solidFill>
                  <a:schemeClr val="tx1"/>
                </a:solidFill>
              </a:rPr>
              <a:t>Fill in the missing digits:</a:t>
            </a:r>
          </a:p>
          <a:p>
            <a:pPr marL="228600" indent="-228600">
              <a:buAutoNum type="alphaLcParenR" startAt="9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9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9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9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9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9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9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9"/>
            </a:pPr>
            <a:endParaRPr lang="en-GB" sz="200">
              <a:solidFill>
                <a:schemeClr val="tx1"/>
              </a:solidFill>
            </a:endParaRPr>
          </a:p>
          <a:p>
            <a:pPr marL="228600" indent="-228600">
              <a:buAutoNum type="alphaLcParenR" startAt="9"/>
            </a:pPr>
            <a:r>
              <a:rPr lang="en-GB" sz="1200">
                <a:solidFill>
                  <a:schemeClr val="tx1"/>
                </a:solidFill>
              </a:rPr>
              <a:t>Decide whether each of these are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ways to set out 4.38  + 7.9  </a:t>
            </a:r>
          </a:p>
          <a:p>
            <a:pPr marL="228600" indent="-228600">
              <a:buAutoNum type="alphaLcParenR" startAt="9"/>
            </a:pPr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" name="Picture 28" descr="A picture containing chart&#10;&#10;Description automatically generated">
            <a:extLst>
              <a:ext uri="{FF2B5EF4-FFF2-40B4-BE49-F238E27FC236}">
                <a16:creationId xmlns:a16="http://schemas.microsoft.com/office/drawing/2014/main" id="{A0D453F3-0EF0-2FF2-DA54-7CFB01AB3C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370" r="50283"/>
          <a:stretch/>
        </p:blipFill>
        <p:spPr>
          <a:xfrm>
            <a:off x="3136929" y="2096240"/>
            <a:ext cx="3085904" cy="3611054"/>
          </a:xfrm>
          <a:prstGeom prst="rect">
            <a:avLst/>
          </a:prstGeom>
        </p:spPr>
      </p:pic>
      <p:pic>
        <p:nvPicPr>
          <p:cNvPr id="6" name="Picture 28" descr="A picture containing chart&#10;&#10;Description automatically generated">
            <a:extLst>
              <a:ext uri="{FF2B5EF4-FFF2-40B4-BE49-F238E27FC236}">
                <a16:creationId xmlns:a16="http://schemas.microsoft.com/office/drawing/2014/main" id="{BA4C7284-02E3-5290-39BE-09FE4C2CA3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370" r="50283"/>
          <a:stretch/>
        </p:blipFill>
        <p:spPr>
          <a:xfrm>
            <a:off x="3136929" y="5683230"/>
            <a:ext cx="3085904" cy="36110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90D47C-2742-B11B-601C-1F39FFBC0A63}"/>
              </a:ext>
            </a:extLst>
          </p:cNvPr>
          <p:cNvSpPr/>
          <p:nvPr/>
        </p:nvSpPr>
        <p:spPr>
          <a:xfrm>
            <a:off x="1811933" y="2185483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115684-3C18-5151-8F07-70F4BF617D11}"/>
              </a:ext>
            </a:extLst>
          </p:cNvPr>
          <p:cNvSpPr/>
          <p:nvPr/>
        </p:nvSpPr>
        <p:spPr>
          <a:xfrm>
            <a:off x="1811933" y="273334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71E982-9A90-2C7B-24FD-06FCC8F32F3E}"/>
              </a:ext>
            </a:extLst>
          </p:cNvPr>
          <p:cNvSpPr/>
          <p:nvPr/>
        </p:nvSpPr>
        <p:spPr>
          <a:xfrm>
            <a:off x="1811933" y="3281201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01B2F6-B5A4-30C6-06BB-CD49542C3769}"/>
              </a:ext>
            </a:extLst>
          </p:cNvPr>
          <p:cNvSpPr/>
          <p:nvPr/>
        </p:nvSpPr>
        <p:spPr>
          <a:xfrm>
            <a:off x="1811933" y="3829060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989159-C20F-9ED5-7EDD-7FF139DC52DF}"/>
              </a:ext>
            </a:extLst>
          </p:cNvPr>
          <p:cNvSpPr/>
          <p:nvPr/>
        </p:nvSpPr>
        <p:spPr>
          <a:xfrm>
            <a:off x="1811933" y="4382038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5DD58A-1EFD-2BCB-200E-D2567FF8474E}"/>
              </a:ext>
            </a:extLst>
          </p:cNvPr>
          <p:cNvSpPr/>
          <p:nvPr/>
        </p:nvSpPr>
        <p:spPr>
          <a:xfrm>
            <a:off x="1811933" y="496111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4F5CB2-DD8F-AACC-5646-4DFBBC16E986}"/>
              </a:ext>
            </a:extLst>
          </p:cNvPr>
          <p:cNvSpPr/>
          <p:nvPr/>
        </p:nvSpPr>
        <p:spPr>
          <a:xfrm>
            <a:off x="1811933" y="549310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CF3103-B3D9-A092-4EE3-6C5AF9B49B2C}"/>
              </a:ext>
            </a:extLst>
          </p:cNvPr>
          <p:cNvSpPr/>
          <p:nvPr/>
        </p:nvSpPr>
        <p:spPr>
          <a:xfrm>
            <a:off x="1825581" y="6029957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A3B16-850B-7904-1247-20B57237BA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017"/>
          <a:stretch/>
        </p:blipFill>
        <p:spPr>
          <a:xfrm>
            <a:off x="635167" y="6854558"/>
            <a:ext cx="1868662" cy="8328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5213D0A-2BC6-8B7C-C79D-05C93E34EC1B}"/>
              </a:ext>
            </a:extLst>
          </p:cNvPr>
          <p:cNvSpPr/>
          <p:nvPr/>
        </p:nvSpPr>
        <p:spPr>
          <a:xfrm>
            <a:off x="1081246" y="7159902"/>
            <a:ext cx="274434" cy="178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60E7B4-0BDA-5B02-FF96-4297AC4D713F}"/>
              </a:ext>
            </a:extLst>
          </p:cNvPr>
          <p:cNvSpPr txBox="1"/>
          <p:nvPr/>
        </p:nvSpPr>
        <p:spPr>
          <a:xfrm>
            <a:off x="1258560" y="7238251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D1D09C-408A-7CC2-DF03-85AD320122F5}"/>
              </a:ext>
            </a:extLst>
          </p:cNvPr>
          <p:cNvSpPr txBox="1"/>
          <p:nvPr/>
        </p:nvSpPr>
        <p:spPr>
          <a:xfrm>
            <a:off x="1258560" y="6737411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A8D286-136F-3992-DBF4-69C293D56B4E}"/>
              </a:ext>
            </a:extLst>
          </p:cNvPr>
          <p:cNvSpPr/>
          <p:nvPr/>
        </p:nvSpPr>
        <p:spPr>
          <a:xfrm>
            <a:off x="1078781" y="6907523"/>
            <a:ext cx="274434" cy="178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A82B6A-8692-E5D1-61C4-5F19ABB71341}"/>
              </a:ext>
            </a:extLst>
          </p:cNvPr>
          <p:cNvSpPr/>
          <p:nvPr/>
        </p:nvSpPr>
        <p:spPr>
          <a:xfrm>
            <a:off x="1451188" y="6907523"/>
            <a:ext cx="274434" cy="178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4AECA9-183D-D85C-1E9F-39CD42D03DFA}"/>
              </a:ext>
            </a:extLst>
          </p:cNvPr>
          <p:cNvSpPr/>
          <p:nvPr/>
        </p:nvSpPr>
        <p:spPr>
          <a:xfrm>
            <a:off x="1793857" y="6913064"/>
            <a:ext cx="274434" cy="178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7E5BFE-26C1-E4E2-97CF-D58EB40EFDBA}"/>
              </a:ext>
            </a:extLst>
          </p:cNvPr>
          <p:cNvSpPr/>
          <p:nvPr/>
        </p:nvSpPr>
        <p:spPr>
          <a:xfrm>
            <a:off x="2160847" y="6881431"/>
            <a:ext cx="274434" cy="178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1726F1-D702-4C52-317B-CE0DFF36CBCA}"/>
              </a:ext>
            </a:extLst>
          </p:cNvPr>
          <p:cNvSpPr txBox="1"/>
          <p:nvPr/>
        </p:nvSpPr>
        <p:spPr>
          <a:xfrm>
            <a:off x="1079006" y="686925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69A341-D485-BFD6-1EE5-1D17C0066B66}"/>
              </a:ext>
            </a:extLst>
          </p:cNvPr>
          <p:cNvSpPr txBox="1"/>
          <p:nvPr/>
        </p:nvSpPr>
        <p:spPr>
          <a:xfrm>
            <a:off x="1257807" y="6955154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2047C6A-BF09-DC97-22DE-83E5789F3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00" y="8481616"/>
            <a:ext cx="2546159" cy="67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07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527117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837295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26315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263150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14F57-CC09-0430-65F1-FC2AEB6A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8024" y="944740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25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4BFBE-2B7A-9D54-CDEC-D104CF7C4732}"/>
              </a:ext>
            </a:extLst>
          </p:cNvPr>
          <p:cNvSpPr/>
          <p:nvPr/>
        </p:nvSpPr>
        <p:spPr>
          <a:xfrm>
            <a:off x="497830" y="1812566"/>
            <a:ext cx="5862340" cy="76348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6. Calculate the following:</a:t>
            </a: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53 - 41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44 - 37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85 - 29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113 - 49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416 - 87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f) 817 - 306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g) 752 - 489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1487 - 336 =</a:t>
            </a:r>
          </a:p>
          <a:p>
            <a:pPr marL="228600" indent="-228600">
              <a:lnSpc>
                <a:spcPct val="150000"/>
              </a:lnSpc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400 – 287 = </a:t>
            </a:r>
          </a:p>
          <a:p>
            <a:pPr marL="228600" indent="-228600">
              <a:lnSpc>
                <a:spcPct val="150000"/>
              </a:lnSpc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1000 – 649 = </a:t>
            </a:r>
          </a:p>
          <a:p>
            <a:pPr marL="228600" indent="-228600">
              <a:lnSpc>
                <a:spcPct val="150000"/>
              </a:lnSpc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Rosie completes this subtraction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incorrectly. Explain her mistake and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how to correct it.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" name="Picture 28" descr="A picture containing chart&#10;&#10;Description automatically generated">
            <a:extLst>
              <a:ext uri="{FF2B5EF4-FFF2-40B4-BE49-F238E27FC236}">
                <a16:creationId xmlns:a16="http://schemas.microsoft.com/office/drawing/2014/main" id="{A0D453F3-0EF0-2FF2-DA54-7CFB01AB3C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370" r="50283"/>
          <a:stretch/>
        </p:blipFill>
        <p:spPr>
          <a:xfrm>
            <a:off x="3136929" y="2096240"/>
            <a:ext cx="3085904" cy="3611054"/>
          </a:xfrm>
          <a:prstGeom prst="rect">
            <a:avLst/>
          </a:prstGeom>
        </p:spPr>
      </p:pic>
      <p:pic>
        <p:nvPicPr>
          <p:cNvPr id="6" name="Picture 28" descr="A picture containing chart&#10;&#10;Description automatically generated">
            <a:extLst>
              <a:ext uri="{FF2B5EF4-FFF2-40B4-BE49-F238E27FC236}">
                <a16:creationId xmlns:a16="http://schemas.microsoft.com/office/drawing/2014/main" id="{BA4C7284-02E3-5290-39BE-09FE4C2CA3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370" r="50283"/>
          <a:stretch/>
        </p:blipFill>
        <p:spPr>
          <a:xfrm>
            <a:off x="3136929" y="5683230"/>
            <a:ext cx="3085904" cy="36110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90D47C-2742-B11B-601C-1F39FFBC0A63}"/>
              </a:ext>
            </a:extLst>
          </p:cNvPr>
          <p:cNvSpPr/>
          <p:nvPr/>
        </p:nvSpPr>
        <p:spPr>
          <a:xfrm>
            <a:off x="1689101" y="2185483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115684-3C18-5151-8F07-70F4BF617D11}"/>
              </a:ext>
            </a:extLst>
          </p:cNvPr>
          <p:cNvSpPr/>
          <p:nvPr/>
        </p:nvSpPr>
        <p:spPr>
          <a:xfrm>
            <a:off x="1689101" y="273334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71E982-9A90-2C7B-24FD-06FCC8F32F3E}"/>
              </a:ext>
            </a:extLst>
          </p:cNvPr>
          <p:cNvSpPr/>
          <p:nvPr/>
        </p:nvSpPr>
        <p:spPr>
          <a:xfrm>
            <a:off x="1689101" y="3281201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01B2F6-B5A4-30C6-06BB-CD49542C3769}"/>
              </a:ext>
            </a:extLst>
          </p:cNvPr>
          <p:cNvSpPr/>
          <p:nvPr/>
        </p:nvSpPr>
        <p:spPr>
          <a:xfrm>
            <a:off x="1689101" y="3829060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5DD58A-1EFD-2BCB-200E-D2567FF8474E}"/>
              </a:ext>
            </a:extLst>
          </p:cNvPr>
          <p:cNvSpPr/>
          <p:nvPr/>
        </p:nvSpPr>
        <p:spPr>
          <a:xfrm>
            <a:off x="1689101" y="496111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4F5CB2-DD8F-AACC-5646-4DFBBC16E986}"/>
              </a:ext>
            </a:extLst>
          </p:cNvPr>
          <p:cNvSpPr/>
          <p:nvPr/>
        </p:nvSpPr>
        <p:spPr>
          <a:xfrm>
            <a:off x="1689101" y="549310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CF3103-B3D9-A092-4EE3-6C5AF9B49B2C}"/>
              </a:ext>
            </a:extLst>
          </p:cNvPr>
          <p:cNvSpPr/>
          <p:nvPr/>
        </p:nvSpPr>
        <p:spPr>
          <a:xfrm>
            <a:off x="1689101" y="6029957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A2DEB7-1154-E707-B9AC-4CBFF412E585}"/>
              </a:ext>
            </a:extLst>
          </p:cNvPr>
          <p:cNvSpPr/>
          <p:nvPr/>
        </p:nvSpPr>
        <p:spPr>
          <a:xfrm>
            <a:off x="1689101" y="6589256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41CCA-2A10-70F9-48E1-EC5AC4BE56AD}"/>
              </a:ext>
            </a:extLst>
          </p:cNvPr>
          <p:cNvSpPr/>
          <p:nvPr/>
        </p:nvSpPr>
        <p:spPr>
          <a:xfrm>
            <a:off x="1689101" y="7121246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986E40-08CB-0337-BE5E-6853DBE2D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161" y="8105672"/>
            <a:ext cx="791229" cy="70622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4E9527A-EBB6-0E0F-AB53-F6C8CE4CDE7F}"/>
              </a:ext>
            </a:extLst>
          </p:cNvPr>
          <p:cNvSpPr/>
          <p:nvPr/>
        </p:nvSpPr>
        <p:spPr>
          <a:xfrm>
            <a:off x="1689101" y="4366705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BE9A5DB-FC78-CA85-0886-2611F12E01FA}"/>
              </a:ext>
            </a:extLst>
          </p:cNvPr>
          <p:cNvGrpSpPr/>
          <p:nvPr/>
        </p:nvGrpSpPr>
        <p:grpSpPr>
          <a:xfrm>
            <a:off x="622735" y="8252005"/>
            <a:ext cx="2437531" cy="1119775"/>
            <a:chOff x="742534" y="8284323"/>
            <a:chExt cx="2257058" cy="111977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989159-C20F-9ED5-7EDD-7FF139DC52DF}"/>
                </a:ext>
              </a:extLst>
            </p:cNvPr>
            <p:cNvSpPr/>
            <p:nvPr/>
          </p:nvSpPr>
          <p:spPr>
            <a:xfrm>
              <a:off x="742534" y="8284323"/>
              <a:ext cx="1036924" cy="1116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C63831-0B26-B21A-6011-2135928A2D21}"/>
                </a:ext>
              </a:extLst>
            </p:cNvPr>
            <p:cNvSpPr/>
            <p:nvPr/>
          </p:nvSpPr>
          <p:spPr>
            <a:xfrm>
              <a:off x="1779458" y="8852411"/>
              <a:ext cx="1220134" cy="55168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777C7EA-52F3-D09F-0D02-A8AFB2487F36}"/>
                </a:ext>
              </a:extLst>
            </p:cNvPr>
            <p:cNvSpPr/>
            <p:nvPr/>
          </p:nvSpPr>
          <p:spPr>
            <a:xfrm>
              <a:off x="1503947" y="8876475"/>
              <a:ext cx="791229" cy="50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57439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577173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837295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26315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263150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14F57-CC09-0430-65F1-FC2AEB6A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8024" y="944740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26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4BFBE-2B7A-9D54-CDEC-D104CF7C4732}"/>
              </a:ext>
            </a:extLst>
          </p:cNvPr>
          <p:cNvSpPr/>
          <p:nvPr/>
        </p:nvSpPr>
        <p:spPr>
          <a:xfrm>
            <a:off x="497830" y="1812566"/>
            <a:ext cx="5862340" cy="76348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7. Calculate the following:</a:t>
            </a:r>
          </a:p>
          <a:p>
            <a:r>
              <a:rPr lang="en-GB" sz="1200">
                <a:solidFill>
                  <a:schemeClr val="tx1"/>
                </a:solidFill>
              </a:rPr>
              <a:t> 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5.3 – 4.1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4.4 – 3.7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8.5 – 0.29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1.13 – 0.49 =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41.6 – 0.87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f) 8.17 – 0.306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solidFill>
                  <a:schemeClr val="tx1"/>
                </a:solidFill>
              </a:rPr>
              <a:t>g) 75.2 – 4.89 =</a:t>
            </a:r>
          </a:p>
          <a:p>
            <a:pPr>
              <a:lnSpc>
                <a:spcPct val="150000"/>
              </a:lnSpc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1 – 0.7 =</a:t>
            </a:r>
          </a:p>
          <a:p>
            <a:pPr marL="228600" indent="-228600">
              <a:lnSpc>
                <a:spcPct val="150000"/>
              </a:lnSpc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1 – 0.46 = </a:t>
            </a:r>
          </a:p>
          <a:p>
            <a:pPr marL="228600" indent="-228600">
              <a:lnSpc>
                <a:spcPct val="150000"/>
              </a:lnSpc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150000"/>
              </a:lnSpc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1 – 0.649 = </a:t>
            </a:r>
          </a:p>
          <a:p>
            <a:pPr marL="228600" indent="-228600">
              <a:lnSpc>
                <a:spcPct val="150000"/>
              </a:lnSpc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Spot the mistake: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" name="Picture 28" descr="A picture containing chart&#10;&#10;Description automatically generated">
            <a:extLst>
              <a:ext uri="{FF2B5EF4-FFF2-40B4-BE49-F238E27FC236}">
                <a16:creationId xmlns:a16="http://schemas.microsoft.com/office/drawing/2014/main" id="{A0D453F3-0EF0-2FF2-DA54-7CFB01AB3C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370" r="50283"/>
          <a:stretch/>
        </p:blipFill>
        <p:spPr>
          <a:xfrm>
            <a:off x="3136929" y="2096240"/>
            <a:ext cx="3085904" cy="3611054"/>
          </a:xfrm>
          <a:prstGeom prst="rect">
            <a:avLst/>
          </a:prstGeom>
        </p:spPr>
      </p:pic>
      <p:pic>
        <p:nvPicPr>
          <p:cNvPr id="6" name="Picture 28" descr="A picture containing chart&#10;&#10;Description automatically generated">
            <a:extLst>
              <a:ext uri="{FF2B5EF4-FFF2-40B4-BE49-F238E27FC236}">
                <a16:creationId xmlns:a16="http://schemas.microsoft.com/office/drawing/2014/main" id="{BA4C7284-02E3-5290-39BE-09FE4C2CA3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370" r="50283"/>
          <a:stretch/>
        </p:blipFill>
        <p:spPr>
          <a:xfrm>
            <a:off x="3136929" y="5683230"/>
            <a:ext cx="3085904" cy="36110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90D47C-2742-B11B-601C-1F39FFBC0A63}"/>
              </a:ext>
            </a:extLst>
          </p:cNvPr>
          <p:cNvSpPr/>
          <p:nvPr/>
        </p:nvSpPr>
        <p:spPr>
          <a:xfrm>
            <a:off x="1689101" y="2185483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115684-3C18-5151-8F07-70F4BF617D11}"/>
              </a:ext>
            </a:extLst>
          </p:cNvPr>
          <p:cNvSpPr/>
          <p:nvPr/>
        </p:nvSpPr>
        <p:spPr>
          <a:xfrm>
            <a:off x="1689101" y="273334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71E982-9A90-2C7B-24FD-06FCC8F32F3E}"/>
              </a:ext>
            </a:extLst>
          </p:cNvPr>
          <p:cNvSpPr/>
          <p:nvPr/>
        </p:nvSpPr>
        <p:spPr>
          <a:xfrm>
            <a:off x="1689101" y="3281201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01B2F6-B5A4-30C6-06BB-CD49542C3769}"/>
              </a:ext>
            </a:extLst>
          </p:cNvPr>
          <p:cNvSpPr/>
          <p:nvPr/>
        </p:nvSpPr>
        <p:spPr>
          <a:xfrm>
            <a:off x="1689101" y="3829060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5DD58A-1EFD-2BCB-200E-D2567FF8474E}"/>
              </a:ext>
            </a:extLst>
          </p:cNvPr>
          <p:cNvSpPr/>
          <p:nvPr/>
        </p:nvSpPr>
        <p:spPr>
          <a:xfrm>
            <a:off x="1689101" y="496111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4F5CB2-DD8F-AACC-5646-4DFBBC16E986}"/>
              </a:ext>
            </a:extLst>
          </p:cNvPr>
          <p:cNvSpPr/>
          <p:nvPr/>
        </p:nvSpPr>
        <p:spPr>
          <a:xfrm>
            <a:off x="1689101" y="5493102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CF3103-B3D9-A092-4EE3-6C5AF9B49B2C}"/>
              </a:ext>
            </a:extLst>
          </p:cNvPr>
          <p:cNvSpPr/>
          <p:nvPr/>
        </p:nvSpPr>
        <p:spPr>
          <a:xfrm>
            <a:off x="1689101" y="6029957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A2DEB7-1154-E707-B9AC-4CBFF412E585}"/>
              </a:ext>
            </a:extLst>
          </p:cNvPr>
          <p:cNvSpPr/>
          <p:nvPr/>
        </p:nvSpPr>
        <p:spPr>
          <a:xfrm>
            <a:off x="1689101" y="6589256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41CCA-2A10-70F9-48E1-EC5AC4BE56AD}"/>
              </a:ext>
            </a:extLst>
          </p:cNvPr>
          <p:cNvSpPr/>
          <p:nvPr/>
        </p:nvSpPr>
        <p:spPr>
          <a:xfrm>
            <a:off x="1689101" y="7121246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E9527A-EBB6-0E0F-AB53-F6C8CE4CDE7F}"/>
              </a:ext>
            </a:extLst>
          </p:cNvPr>
          <p:cNvSpPr/>
          <p:nvPr/>
        </p:nvSpPr>
        <p:spPr>
          <a:xfrm>
            <a:off x="1689101" y="4366705"/>
            <a:ext cx="10369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989159-C20F-9ED5-7EDD-7FF139DC52DF}"/>
              </a:ext>
            </a:extLst>
          </p:cNvPr>
          <p:cNvSpPr/>
          <p:nvPr/>
        </p:nvSpPr>
        <p:spPr>
          <a:xfrm>
            <a:off x="622735" y="8818577"/>
            <a:ext cx="2376857" cy="55380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4A4A6FE-1851-5963-F1F5-BE55EA580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259" y="7906899"/>
            <a:ext cx="1174241" cy="91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925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744016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868604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14F57-CC09-0430-65F1-FC2AEB6A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8024" y="944740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27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4BFBE-2B7A-9D54-CDEC-D104CF7C4732}"/>
              </a:ext>
            </a:extLst>
          </p:cNvPr>
          <p:cNvSpPr/>
          <p:nvPr/>
        </p:nvSpPr>
        <p:spPr>
          <a:xfrm>
            <a:off x="511477" y="1812565"/>
            <a:ext cx="5862341" cy="361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8.</a:t>
            </a: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John spends £112.50 on ingredients and £17.80 on advertising for a cake sale.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He sells all the cakes for a total of £145.12.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Does he make a profit or a loss?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How much profit or loss does he make?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Complete the bank statement.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58550-9559-A61D-BB27-BB45E75B9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16" y="3619002"/>
            <a:ext cx="4581168" cy="1661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6FF7B8-DEC2-CA07-C78F-94190A430309}"/>
              </a:ext>
            </a:extLst>
          </p:cNvPr>
          <p:cNvSpPr/>
          <p:nvPr/>
        </p:nvSpPr>
        <p:spPr>
          <a:xfrm>
            <a:off x="511478" y="5452736"/>
            <a:ext cx="5862341" cy="40943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9. Work out the perimeters of each of these irregular polygons:</a:t>
            </a:r>
          </a:p>
          <a:p>
            <a:r>
              <a:rPr lang="en-GB" sz="1200">
                <a:solidFill>
                  <a:schemeClr val="tx1"/>
                </a:solidFill>
              </a:rPr>
              <a:t>a)                                                         b)                                               c)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d) The perimeter of this shape is 14.2cm. What is the length of the missing side? 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5A446A-388D-4D91-6172-64FC44F15EB3}"/>
              </a:ext>
            </a:extLst>
          </p:cNvPr>
          <p:cNvSpPr/>
          <p:nvPr/>
        </p:nvSpPr>
        <p:spPr>
          <a:xfrm>
            <a:off x="3649987" y="2292733"/>
            <a:ext cx="2376857" cy="94447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51FC8352-E4D3-EF6C-6939-BCC41BB931A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0920" y="5851901"/>
            <a:ext cx="1751503" cy="146501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EE6F2A8-95F9-C183-221A-EBD7CD2897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361" y="6121389"/>
            <a:ext cx="1543050" cy="832145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C0E5C342-5557-99D2-8E07-D4DC17C40CF2}"/>
              </a:ext>
            </a:extLst>
          </p:cNvPr>
          <p:cNvSpPr/>
          <p:nvPr/>
        </p:nvSpPr>
        <p:spPr>
          <a:xfrm>
            <a:off x="620591" y="7325724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4A488517-5FBE-FB41-7355-00C261EA8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241" y="8319306"/>
            <a:ext cx="1510389" cy="1102000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3165D03B-2D32-2286-BFF6-F811510F63F8}"/>
              </a:ext>
            </a:extLst>
          </p:cNvPr>
          <p:cNvSpPr/>
          <p:nvPr/>
        </p:nvSpPr>
        <p:spPr>
          <a:xfrm>
            <a:off x="2698657" y="8319306"/>
            <a:ext cx="3460616" cy="112809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1B9D3B4-AD7C-4A5C-E6B4-E127FC7EB2BC}"/>
              </a:ext>
            </a:extLst>
          </p:cNvPr>
          <p:cNvSpPr/>
          <p:nvPr/>
        </p:nvSpPr>
        <p:spPr>
          <a:xfrm>
            <a:off x="2671361" y="7330168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72E6CAD-94D2-71AA-84BB-40B94784F58F}"/>
              </a:ext>
            </a:extLst>
          </p:cNvPr>
          <p:cNvSpPr/>
          <p:nvPr/>
        </p:nvSpPr>
        <p:spPr>
          <a:xfrm>
            <a:off x="4635813" y="7325724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69F2E369-DB3E-60EF-5B96-4B6661068F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894" y="6020308"/>
            <a:ext cx="1457086" cy="103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24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868604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14F57-CC09-0430-65F1-FC2AEB6A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8024" y="944740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28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4BFBE-2B7A-9D54-CDEC-D104CF7C4732}"/>
              </a:ext>
            </a:extLst>
          </p:cNvPr>
          <p:cNvSpPr/>
          <p:nvPr/>
        </p:nvSpPr>
        <p:spPr>
          <a:xfrm>
            <a:off x="511477" y="1812565"/>
            <a:ext cx="5862341" cy="361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10. Work out the perimeters of each of these regular polygons:</a:t>
            </a:r>
          </a:p>
          <a:p>
            <a:r>
              <a:rPr lang="en-GB" sz="1200">
                <a:solidFill>
                  <a:schemeClr val="tx1"/>
                </a:solidFill>
              </a:rPr>
              <a:t>a)                                                         b)                                               c)</a:t>
            </a:r>
          </a:p>
          <a:p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d) The regular pentagon below has perimeter 35cm. Calculate the length of one side length.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6FF7B8-DEC2-CA07-C78F-94190A430309}"/>
              </a:ext>
            </a:extLst>
          </p:cNvPr>
          <p:cNvSpPr/>
          <p:nvPr/>
        </p:nvSpPr>
        <p:spPr>
          <a:xfrm>
            <a:off x="511478" y="5452736"/>
            <a:ext cx="5862341" cy="1912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11. Work out the perimeters of each of these rectangles and parallelograms:</a:t>
            </a:r>
          </a:p>
          <a:p>
            <a:pPr algn="r"/>
            <a:r>
              <a:rPr lang="en-GB" sz="1200">
                <a:solidFill>
                  <a:schemeClr val="tx1"/>
                </a:solidFill>
              </a:rPr>
              <a:t>a)                                            b)                                           c)                                       d) </a:t>
            </a:r>
            <a:r>
              <a:rPr lang="en-GB" sz="1050">
                <a:solidFill>
                  <a:schemeClr val="tx1"/>
                </a:solidFill>
              </a:rPr>
              <a:t>Calculate the missing side length, x:</a:t>
            </a: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77DC5B-906D-DB54-7657-31F2DE66FA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021" b="1"/>
          <a:stretch/>
        </p:blipFill>
        <p:spPr>
          <a:xfrm>
            <a:off x="889767" y="2227837"/>
            <a:ext cx="1201004" cy="10810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C83DD0-B177-DBA5-4A47-5D5C38DEA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5919" y="8093435"/>
            <a:ext cx="997625" cy="113575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CE51772-38DB-33E7-7C1A-F8E7A9C3109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9271" t="10622" r="9312" b="24956"/>
          <a:stretch/>
        </p:blipFill>
        <p:spPr>
          <a:xfrm>
            <a:off x="4913194" y="2123536"/>
            <a:ext cx="1201004" cy="118997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29BADE9-C823-BF8B-DCFA-4748CA9995A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1572" t="23663" r="22607"/>
          <a:stretch/>
        </p:blipFill>
        <p:spPr>
          <a:xfrm>
            <a:off x="2873971" y="2063526"/>
            <a:ext cx="1412950" cy="125675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7CB0540-9604-B278-A85E-E2AF140BEDF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2428" t="24803" r="16075" b="625"/>
          <a:stretch/>
        </p:blipFill>
        <p:spPr>
          <a:xfrm>
            <a:off x="809067" y="4136278"/>
            <a:ext cx="1137626" cy="12101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59941B-4666-53BB-0F3B-E8489199DE0E}"/>
              </a:ext>
            </a:extLst>
          </p:cNvPr>
          <p:cNvSpPr txBox="1"/>
          <p:nvPr/>
        </p:nvSpPr>
        <p:spPr>
          <a:xfrm>
            <a:off x="1230577" y="1949141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4cm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42226-9558-9911-F68C-F72E4DAB27D8}"/>
              </a:ext>
            </a:extLst>
          </p:cNvPr>
          <p:cNvSpPr txBox="1"/>
          <p:nvPr/>
        </p:nvSpPr>
        <p:spPr>
          <a:xfrm>
            <a:off x="3333800" y="3197576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6cm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FF4E3-E106-1B77-E297-E742CA17DCBF}"/>
              </a:ext>
            </a:extLst>
          </p:cNvPr>
          <p:cNvSpPr txBox="1"/>
          <p:nvPr/>
        </p:nvSpPr>
        <p:spPr>
          <a:xfrm>
            <a:off x="5279329" y="3189492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8cm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775F04-C0A5-5FFD-F2D0-C456BAAA0D0B}"/>
              </a:ext>
            </a:extLst>
          </p:cNvPr>
          <p:cNvCxnSpPr>
            <a:cxnSpLocks/>
          </p:cNvCxnSpPr>
          <p:nvPr/>
        </p:nvCxnSpPr>
        <p:spPr>
          <a:xfrm>
            <a:off x="1804201" y="2718521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1E920B-B332-EB33-F724-81B0543E2616}"/>
              </a:ext>
            </a:extLst>
          </p:cNvPr>
          <p:cNvCxnSpPr>
            <a:cxnSpLocks/>
          </p:cNvCxnSpPr>
          <p:nvPr/>
        </p:nvCxnSpPr>
        <p:spPr>
          <a:xfrm>
            <a:off x="868501" y="2718521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0CEA13-94FC-A8DD-6418-44AE1D9F071A}"/>
              </a:ext>
            </a:extLst>
          </p:cNvPr>
          <p:cNvCxnSpPr>
            <a:cxnSpLocks/>
          </p:cNvCxnSpPr>
          <p:nvPr/>
        </p:nvCxnSpPr>
        <p:spPr>
          <a:xfrm rot="16200000">
            <a:off x="1324131" y="3208791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7A1A82-C2A4-2D44-3292-20EEB3184663}"/>
              </a:ext>
            </a:extLst>
          </p:cNvPr>
          <p:cNvCxnSpPr>
            <a:cxnSpLocks/>
          </p:cNvCxnSpPr>
          <p:nvPr/>
        </p:nvCxnSpPr>
        <p:spPr>
          <a:xfrm rot="16200000">
            <a:off x="1330956" y="2316113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340B9E-651F-B434-8E5F-E374E0D573BC}"/>
              </a:ext>
            </a:extLst>
          </p:cNvPr>
          <p:cNvCxnSpPr>
            <a:cxnSpLocks/>
          </p:cNvCxnSpPr>
          <p:nvPr/>
        </p:nvCxnSpPr>
        <p:spPr>
          <a:xfrm rot="16200000">
            <a:off x="3423262" y="3155274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13EDDB-F268-BC8A-260D-B0E1D01C21C9}"/>
              </a:ext>
            </a:extLst>
          </p:cNvPr>
          <p:cNvCxnSpPr>
            <a:cxnSpLocks/>
          </p:cNvCxnSpPr>
          <p:nvPr/>
        </p:nvCxnSpPr>
        <p:spPr>
          <a:xfrm flipV="1">
            <a:off x="3826945" y="2548890"/>
            <a:ext cx="212223" cy="219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375370-329C-C59D-B0BF-669BC51197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09739" y="2559952"/>
            <a:ext cx="212223" cy="219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55FFEA2-E018-9008-728E-6C48D350C186}"/>
              </a:ext>
            </a:extLst>
          </p:cNvPr>
          <p:cNvCxnSpPr>
            <a:cxnSpLocks/>
          </p:cNvCxnSpPr>
          <p:nvPr/>
        </p:nvCxnSpPr>
        <p:spPr>
          <a:xfrm flipV="1">
            <a:off x="5843944" y="2294778"/>
            <a:ext cx="204690" cy="186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E5E1EED-142B-B3BA-8A08-0F39E321C59A}"/>
              </a:ext>
            </a:extLst>
          </p:cNvPr>
          <p:cNvCxnSpPr>
            <a:cxnSpLocks/>
          </p:cNvCxnSpPr>
          <p:nvPr/>
        </p:nvCxnSpPr>
        <p:spPr>
          <a:xfrm flipH="1" flipV="1">
            <a:off x="4962389" y="2326886"/>
            <a:ext cx="219494" cy="170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D8F132-FBCF-A682-E00A-BD60E8171B07}"/>
              </a:ext>
            </a:extLst>
          </p:cNvPr>
          <p:cNvCxnSpPr>
            <a:cxnSpLocks/>
          </p:cNvCxnSpPr>
          <p:nvPr/>
        </p:nvCxnSpPr>
        <p:spPr>
          <a:xfrm flipH="1" flipV="1">
            <a:off x="5857172" y="2945612"/>
            <a:ext cx="162871" cy="106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F4D487-C798-B390-9FB8-08B9030BDCB3}"/>
              </a:ext>
            </a:extLst>
          </p:cNvPr>
          <p:cNvCxnSpPr>
            <a:cxnSpLocks/>
          </p:cNvCxnSpPr>
          <p:nvPr/>
        </p:nvCxnSpPr>
        <p:spPr>
          <a:xfrm flipV="1">
            <a:off x="5012035" y="2945612"/>
            <a:ext cx="169848" cy="1375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209A3C-D42F-93F9-24A2-BF5A319E1ADB}"/>
              </a:ext>
            </a:extLst>
          </p:cNvPr>
          <p:cNvCxnSpPr>
            <a:cxnSpLocks/>
          </p:cNvCxnSpPr>
          <p:nvPr/>
        </p:nvCxnSpPr>
        <p:spPr>
          <a:xfrm flipV="1">
            <a:off x="5519528" y="3072990"/>
            <a:ext cx="2" cy="2020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460AE8-E5D3-C7A8-A32F-10B520C9EF2A}"/>
              </a:ext>
            </a:extLst>
          </p:cNvPr>
          <p:cNvCxnSpPr>
            <a:cxnSpLocks/>
          </p:cNvCxnSpPr>
          <p:nvPr/>
        </p:nvCxnSpPr>
        <p:spPr>
          <a:xfrm rot="16200000">
            <a:off x="5391938" y="2186549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08FD770-A8C9-A06B-AA1A-E4D5F984AEF2}"/>
              </a:ext>
            </a:extLst>
          </p:cNvPr>
          <p:cNvCxnSpPr>
            <a:cxnSpLocks/>
          </p:cNvCxnSpPr>
          <p:nvPr/>
        </p:nvCxnSpPr>
        <p:spPr>
          <a:xfrm>
            <a:off x="1019814" y="4321000"/>
            <a:ext cx="137818" cy="189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C91C34F-1D06-E0B6-7740-54C05D541C5B}"/>
              </a:ext>
            </a:extLst>
          </p:cNvPr>
          <p:cNvCxnSpPr>
            <a:cxnSpLocks/>
          </p:cNvCxnSpPr>
          <p:nvPr/>
        </p:nvCxnSpPr>
        <p:spPr>
          <a:xfrm>
            <a:off x="1684659" y="4882613"/>
            <a:ext cx="185650" cy="1561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4EFABDB-7A04-32AB-1BDE-7E9181C5E4AB}"/>
              </a:ext>
            </a:extLst>
          </p:cNvPr>
          <p:cNvCxnSpPr>
            <a:cxnSpLocks/>
          </p:cNvCxnSpPr>
          <p:nvPr/>
        </p:nvCxnSpPr>
        <p:spPr>
          <a:xfrm flipV="1">
            <a:off x="863237" y="4882613"/>
            <a:ext cx="198583" cy="1561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43DA002-3134-DF88-C0D6-EB17B0413817}"/>
              </a:ext>
            </a:extLst>
          </p:cNvPr>
          <p:cNvCxnSpPr>
            <a:cxnSpLocks/>
          </p:cNvCxnSpPr>
          <p:nvPr/>
        </p:nvCxnSpPr>
        <p:spPr>
          <a:xfrm flipH="1">
            <a:off x="1593544" y="4311350"/>
            <a:ext cx="131801" cy="1883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2E8E2FD-B950-DA32-048E-19AB21ECD72E}"/>
              </a:ext>
            </a:extLst>
          </p:cNvPr>
          <p:cNvCxnSpPr>
            <a:cxnSpLocks/>
          </p:cNvCxnSpPr>
          <p:nvPr/>
        </p:nvCxnSpPr>
        <p:spPr>
          <a:xfrm>
            <a:off x="1377880" y="5095428"/>
            <a:ext cx="0" cy="2190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6BAD9E84-612D-C622-F18C-3DE6EB9DC085}"/>
              </a:ext>
            </a:extLst>
          </p:cNvPr>
          <p:cNvSpPr/>
          <p:nvPr/>
        </p:nvSpPr>
        <p:spPr>
          <a:xfrm>
            <a:off x="686819" y="3455071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EAA0FE8-FAD2-62BF-D477-551BB9EA4EDC}"/>
              </a:ext>
            </a:extLst>
          </p:cNvPr>
          <p:cNvSpPr/>
          <p:nvPr/>
        </p:nvSpPr>
        <p:spPr>
          <a:xfrm>
            <a:off x="2825251" y="3455593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0BDFA5D-6F89-CDF9-8653-DFF02F689390}"/>
              </a:ext>
            </a:extLst>
          </p:cNvPr>
          <p:cNvSpPr/>
          <p:nvPr/>
        </p:nvSpPr>
        <p:spPr>
          <a:xfrm>
            <a:off x="4795469" y="3455071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1F5CED6-45D3-D8FD-8BE4-A102038A78C1}"/>
              </a:ext>
            </a:extLst>
          </p:cNvPr>
          <p:cNvSpPr/>
          <p:nvPr/>
        </p:nvSpPr>
        <p:spPr>
          <a:xfrm>
            <a:off x="2197208" y="4908756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A54D5491-0E86-A72B-F701-CFDE133946B8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813848" y="5701659"/>
            <a:ext cx="895350" cy="1190625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EBB38A16-2A78-33B9-1EEC-F6852F6937FA}"/>
              </a:ext>
            </a:extLst>
          </p:cNvPr>
          <p:cNvSpPr/>
          <p:nvPr/>
        </p:nvSpPr>
        <p:spPr>
          <a:xfrm>
            <a:off x="580383" y="6899230"/>
            <a:ext cx="1013162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D7049EE-7210-FC73-75AC-19CB3AFD48C8}"/>
              </a:ext>
            </a:extLst>
          </p:cNvPr>
          <p:cNvSpPr/>
          <p:nvPr/>
        </p:nvSpPr>
        <p:spPr>
          <a:xfrm>
            <a:off x="1968027" y="6899230"/>
            <a:ext cx="1013162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4DD418D-9F39-4CA6-6468-4DBC224ADB83}"/>
              </a:ext>
            </a:extLst>
          </p:cNvPr>
          <p:cNvSpPr/>
          <p:nvPr/>
        </p:nvSpPr>
        <p:spPr>
          <a:xfrm>
            <a:off x="3636518" y="6902796"/>
            <a:ext cx="1013162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548CFADB-8CC2-BCFA-E17A-230B4199A9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8979" y="7965689"/>
            <a:ext cx="1209258" cy="1203212"/>
          </a:xfrm>
          <a:prstGeom prst="rect">
            <a:avLst/>
          </a:prstGeom>
        </p:spPr>
      </p:pic>
      <p:pic>
        <p:nvPicPr>
          <p:cNvPr id="2050" name="Picture 2" descr="A field is in the shape of an isosceles trapezium with parallel sides  measuring 20 cm and 8 cm and its non parallel sides measuring 10 cm. Find  itsarea.A. 84 cm 2B.">
            <a:extLst>
              <a:ext uri="{FF2B5EF4-FFF2-40B4-BE49-F238E27FC236}">
                <a16:creationId xmlns:a16="http://schemas.microsoft.com/office/drawing/2014/main" id="{99E357A1-31CC-8BA0-1250-3FC28F51F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2"/>
          <a:stretch/>
        </p:blipFill>
        <p:spPr bwMode="auto">
          <a:xfrm>
            <a:off x="3282234" y="8259131"/>
            <a:ext cx="1694075" cy="93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olved: Find the area and perimeter of the parallelogram. [1.2,1.8... |  Chegg.com">
            <a:extLst>
              <a:ext uri="{FF2B5EF4-FFF2-40B4-BE49-F238E27FC236}">
                <a16:creationId xmlns:a16="http://schemas.microsoft.com/office/drawing/2014/main" id="{CEB2EA35-F98C-036E-1DF0-93062AAF4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24"/>
          <a:stretch/>
        </p:blipFill>
        <p:spPr bwMode="auto">
          <a:xfrm>
            <a:off x="3401438" y="6020544"/>
            <a:ext cx="1553257" cy="86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EAF14D0D-72AA-2293-EE06-31BC7FA16E38}"/>
              </a:ext>
            </a:extLst>
          </p:cNvPr>
          <p:cNvSpPr/>
          <p:nvPr/>
        </p:nvSpPr>
        <p:spPr>
          <a:xfrm>
            <a:off x="5181347" y="6922133"/>
            <a:ext cx="1013162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6" name="Picture 8" descr="Area and Perimeter of a Parallelogram (Video &amp; Practice)">
            <a:extLst>
              <a:ext uri="{FF2B5EF4-FFF2-40B4-BE49-F238E27FC236}">
                <a16:creationId xmlns:a16="http://schemas.microsoft.com/office/drawing/2014/main" id="{04498CB6-720D-C7A9-9633-D2D503DA4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915" y="6237114"/>
            <a:ext cx="1422380" cy="57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Rectangle 120">
            <a:extLst>
              <a:ext uri="{FF2B5EF4-FFF2-40B4-BE49-F238E27FC236}">
                <a16:creationId xmlns:a16="http://schemas.microsoft.com/office/drawing/2014/main" id="{03BF3AC9-5FE7-5F10-5CAF-08B4ECF5BC3E}"/>
              </a:ext>
            </a:extLst>
          </p:cNvPr>
          <p:cNvSpPr/>
          <p:nvPr/>
        </p:nvSpPr>
        <p:spPr>
          <a:xfrm>
            <a:off x="2404807" y="6752781"/>
            <a:ext cx="142449" cy="80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6A732AB-5B4D-D107-4ADE-775EA2AF5906}"/>
              </a:ext>
            </a:extLst>
          </p:cNvPr>
          <p:cNvSpPr txBox="1"/>
          <p:nvPr/>
        </p:nvSpPr>
        <p:spPr>
          <a:xfrm>
            <a:off x="2280070" y="6671889"/>
            <a:ext cx="64547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/>
              <a:t>12cm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EA722A4-5251-E497-5352-DC65EBF4A8FC}"/>
              </a:ext>
            </a:extLst>
          </p:cNvPr>
          <p:cNvSpPr/>
          <p:nvPr/>
        </p:nvSpPr>
        <p:spPr>
          <a:xfrm>
            <a:off x="3111845" y="6536677"/>
            <a:ext cx="142449" cy="80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CECFC16-315A-FAAE-6C5F-004E9C3D5CBF}"/>
              </a:ext>
            </a:extLst>
          </p:cNvPr>
          <p:cNvSpPr txBox="1"/>
          <p:nvPr/>
        </p:nvSpPr>
        <p:spPr>
          <a:xfrm>
            <a:off x="3013417" y="6451385"/>
            <a:ext cx="64547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/>
              <a:t>8cm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49A3D77-55DC-066C-8EBE-0F26782D6317}"/>
              </a:ext>
            </a:extLst>
          </p:cNvPr>
          <p:cNvSpPr/>
          <p:nvPr/>
        </p:nvSpPr>
        <p:spPr>
          <a:xfrm>
            <a:off x="2706452" y="6301796"/>
            <a:ext cx="216960" cy="367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004BA7A-7B61-CBE0-15C0-BB3A46B30BE7}"/>
              </a:ext>
            </a:extLst>
          </p:cNvPr>
          <p:cNvSpPr/>
          <p:nvPr/>
        </p:nvSpPr>
        <p:spPr>
          <a:xfrm rot="16200000">
            <a:off x="2613693" y="6489401"/>
            <a:ext cx="80476" cy="367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6EFD433-4F79-6614-3607-221FBF806686}"/>
              </a:ext>
            </a:extLst>
          </p:cNvPr>
          <p:cNvSpPr/>
          <p:nvPr/>
        </p:nvSpPr>
        <p:spPr>
          <a:xfrm>
            <a:off x="3459021" y="6123330"/>
            <a:ext cx="216960" cy="367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73239649-586D-0044-E3A3-0199E5C6CFE4}"/>
              </a:ext>
            </a:extLst>
          </p:cNvPr>
          <p:cNvSpPr txBox="1"/>
          <p:nvPr/>
        </p:nvSpPr>
        <p:spPr>
          <a:xfrm>
            <a:off x="4539765" y="6447008"/>
            <a:ext cx="64547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/>
              <a:t>10cm</a:t>
            </a:r>
          </a:p>
        </p:txBody>
      </p:sp>
      <p:sp>
        <p:nvSpPr>
          <p:cNvPr id="2053" name="Rectangle 2052">
            <a:extLst>
              <a:ext uri="{FF2B5EF4-FFF2-40B4-BE49-F238E27FC236}">
                <a16:creationId xmlns:a16="http://schemas.microsoft.com/office/drawing/2014/main" id="{12D89321-1EB7-A063-2CF5-AB5769FEACE8}"/>
              </a:ext>
            </a:extLst>
          </p:cNvPr>
          <p:cNvSpPr/>
          <p:nvPr/>
        </p:nvSpPr>
        <p:spPr>
          <a:xfrm>
            <a:off x="4037422" y="6404977"/>
            <a:ext cx="158085" cy="1131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BC1456E8-2104-5E26-EF3D-51921BEEC451}"/>
              </a:ext>
            </a:extLst>
          </p:cNvPr>
          <p:cNvSpPr txBox="1"/>
          <p:nvPr/>
        </p:nvSpPr>
        <p:spPr>
          <a:xfrm>
            <a:off x="3946450" y="6347031"/>
            <a:ext cx="64547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/>
              <a:t>7cm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BEE5B13-3690-3C12-6121-98F6D5870717}"/>
              </a:ext>
            </a:extLst>
          </p:cNvPr>
          <p:cNvSpPr/>
          <p:nvPr/>
        </p:nvSpPr>
        <p:spPr>
          <a:xfrm>
            <a:off x="497829" y="7406166"/>
            <a:ext cx="5862341" cy="2233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12. Work out the perimeters of each of these isosceles triangles and isosceles trapezia:</a:t>
            </a:r>
          </a:p>
          <a:p>
            <a:r>
              <a:rPr lang="en-GB" sz="1200">
                <a:solidFill>
                  <a:schemeClr val="tx1"/>
                </a:solidFill>
              </a:rPr>
              <a:t>a)                                     b) </a:t>
            </a:r>
            <a:r>
              <a:rPr lang="en-GB" sz="1050">
                <a:solidFill>
                  <a:schemeClr val="tx1"/>
                </a:solidFill>
              </a:rPr>
              <a:t>Calculate the</a:t>
            </a:r>
            <a:r>
              <a:rPr lang="en-GB" sz="1100">
                <a:solidFill>
                  <a:schemeClr val="tx1"/>
                </a:solidFill>
              </a:rPr>
              <a:t>                            </a:t>
            </a:r>
            <a:r>
              <a:rPr lang="en-GB" sz="1200">
                <a:solidFill>
                  <a:schemeClr val="tx1"/>
                </a:solidFill>
              </a:rPr>
              <a:t>c)                                          d)           		                                </a:t>
            </a:r>
            <a:r>
              <a:rPr lang="en-GB" sz="1050">
                <a:solidFill>
                  <a:schemeClr val="tx1"/>
                </a:solidFill>
              </a:rPr>
              <a:t>missing side </a:t>
            </a:r>
            <a:br>
              <a:rPr lang="en-GB" sz="1050">
                <a:solidFill>
                  <a:schemeClr val="tx1"/>
                </a:solidFill>
              </a:rPr>
            </a:br>
            <a:r>
              <a:rPr lang="en-GB" sz="1050">
                <a:solidFill>
                  <a:schemeClr val="tx1"/>
                </a:solidFill>
              </a:rPr>
              <a:t>		                         length, x:</a:t>
            </a:r>
            <a:endParaRPr lang="en-GB" sz="1200">
              <a:solidFill>
                <a:schemeClr val="tx1"/>
              </a:solidFill>
            </a:endParaRPr>
          </a:p>
          <a:p>
            <a:pPr algn="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F2226EB6-1CAC-7106-541F-E4F103BD2382}"/>
              </a:ext>
            </a:extLst>
          </p:cNvPr>
          <p:cNvSpPr/>
          <p:nvPr/>
        </p:nvSpPr>
        <p:spPr>
          <a:xfrm>
            <a:off x="588150" y="9258151"/>
            <a:ext cx="1013162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CB847798-659E-5D60-1C18-51033C3F6C54}"/>
              </a:ext>
            </a:extLst>
          </p:cNvPr>
          <p:cNvSpPr/>
          <p:nvPr/>
        </p:nvSpPr>
        <p:spPr>
          <a:xfrm>
            <a:off x="3585498" y="9254788"/>
            <a:ext cx="1013162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3900C984-C792-7C66-5672-0BC2944BCF9F}"/>
              </a:ext>
            </a:extLst>
          </p:cNvPr>
          <p:cNvSpPr/>
          <p:nvPr/>
        </p:nvSpPr>
        <p:spPr>
          <a:xfrm>
            <a:off x="5154260" y="9254788"/>
            <a:ext cx="1013162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B05A3DB8-440D-E8AB-A80B-A67B3333C39A}"/>
              </a:ext>
            </a:extLst>
          </p:cNvPr>
          <p:cNvSpPr/>
          <p:nvPr/>
        </p:nvSpPr>
        <p:spPr>
          <a:xfrm rot="1436862">
            <a:off x="5189014" y="8359231"/>
            <a:ext cx="105448" cy="369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D2634B5D-8AF0-B4A7-5314-BC351D25D727}"/>
              </a:ext>
            </a:extLst>
          </p:cNvPr>
          <p:cNvSpPr/>
          <p:nvPr/>
        </p:nvSpPr>
        <p:spPr>
          <a:xfrm rot="9344168">
            <a:off x="6020429" y="8359231"/>
            <a:ext cx="105448" cy="369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B1670DB1-4B03-C02F-BB4B-BE11BDF4EB18}"/>
              </a:ext>
            </a:extLst>
          </p:cNvPr>
          <p:cNvSpPr/>
          <p:nvPr/>
        </p:nvSpPr>
        <p:spPr>
          <a:xfrm rot="5206808">
            <a:off x="5626034" y="8909601"/>
            <a:ext cx="105448" cy="369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9CFB8494-1341-C505-B109-6618F020C8EA}"/>
              </a:ext>
            </a:extLst>
          </p:cNvPr>
          <p:cNvSpPr/>
          <p:nvPr/>
        </p:nvSpPr>
        <p:spPr>
          <a:xfrm rot="5400000">
            <a:off x="5583031" y="7848305"/>
            <a:ext cx="105448" cy="369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DD7BD830-9508-FC10-5D0F-C3915384F06E}"/>
              </a:ext>
            </a:extLst>
          </p:cNvPr>
          <p:cNvSpPr/>
          <p:nvPr/>
        </p:nvSpPr>
        <p:spPr>
          <a:xfrm rot="10800000">
            <a:off x="5596726" y="8404745"/>
            <a:ext cx="105448" cy="369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EC211240-4288-7980-9C56-E2352A728484}"/>
              </a:ext>
            </a:extLst>
          </p:cNvPr>
          <p:cNvSpPr/>
          <p:nvPr/>
        </p:nvSpPr>
        <p:spPr>
          <a:xfrm rot="5569137">
            <a:off x="4851215" y="8463742"/>
            <a:ext cx="105448" cy="369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68" name="Straight Connector 2067">
            <a:extLst>
              <a:ext uri="{FF2B5EF4-FFF2-40B4-BE49-F238E27FC236}">
                <a16:creationId xmlns:a16="http://schemas.microsoft.com/office/drawing/2014/main" id="{ECA5704B-B909-F9E9-F8D9-4AB93409B996}"/>
              </a:ext>
            </a:extLst>
          </p:cNvPr>
          <p:cNvCxnSpPr>
            <a:cxnSpLocks/>
          </p:cNvCxnSpPr>
          <p:nvPr/>
        </p:nvCxnSpPr>
        <p:spPr>
          <a:xfrm flipV="1">
            <a:off x="4571373" y="8552203"/>
            <a:ext cx="156613" cy="1072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Straight Connector 2070">
            <a:extLst>
              <a:ext uri="{FF2B5EF4-FFF2-40B4-BE49-F238E27FC236}">
                <a16:creationId xmlns:a16="http://schemas.microsoft.com/office/drawing/2014/main" id="{AA6C6CF9-B942-B3F7-EB33-B6DC2CE8E5FB}"/>
              </a:ext>
            </a:extLst>
          </p:cNvPr>
          <p:cNvCxnSpPr>
            <a:cxnSpLocks/>
          </p:cNvCxnSpPr>
          <p:nvPr/>
        </p:nvCxnSpPr>
        <p:spPr>
          <a:xfrm flipV="1">
            <a:off x="5894145" y="8503237"/>
            <a:ext cx="156613" cy="1072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Straight Connector 2071">
            <a:extLst>
              <a:ext uri="{FF2B5EF4-FFF2-40B4-BE49-F238E27FC236}">
                <a16:creationId xmlns:a16="http://schemas.microsoft.com/office/drawing/2014/main" id="{C53DD353-2122-6FB4-F3D2-07C0C44AC356}"/>
              </a:ext>
            </a:extLst>
          </p:cNvPr>
          <p:cNvCxnSpPr>
            <a:cxnSpLocks/>
          </p:cNvCxnSpPr>
          <p:nvPr/>
        </p:nvCxnSpPr>
        <p:spPr>
          <a:xfrm flipH="1" flipV="1">
            <a:off x="5222060" y="8513661"/>
            <a:ext cx="156613" cy="1072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3" name="TextBox 2072">
            <a:extLst>
              <a:ext uri="{FF2B5EF4-FFF2-40B4-BE49-F238E27FC236}">
                <a16:creationId xmlns:a16="http://schemas.microsoft.com/office/drawing/2014/main" id="{518EE49C-2936-8E43-C616-DA918577E7DF}"/>
              </a:ext>
            </a:extLst>
          </p:cNvPr>
          <p:cNvSpPr txBox="1"/>
          <p:nvPr/>
        </p:nvSpPr>
        <p:spPr>
          <a:xfrm rot="16200000">
            <a:off x="5412039" y="8428794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13m</a:t>
            </a:r>
          </a:p>
        </p:txBody>
      </p:sp>
      <p:sp>
        <p:nvSpPr>
          <p:cNvPr id="2074" name="TextBox 2073">
            <a:extLst>
              <a:ext uri="{FF2B5EF4-FFF2-40B4-BE49-F238E27FC236}">
                <a16:creationId xmlns:a16="http://schemas.microsoft.com/office/drawing/2014/main" id="{90FC69CA-F456-DEEC-6C11-0A19DDFB91E4}"/>
              </a:ext>
            </a:extLst>
          </p:cNvPr>
          <p:cNvSpPr txBox="1"/>
          <p:nvPr/>
        </p:nvSpPr>
        <p:spPr>
          <a:xfrm>
            <a:off x="5968730" y="8314420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14m</a:t>
            </a:r>
          </a:p>
        </p:txBody>
      </p:sp>
      <p:sp>
        <p:nvSpPr>
          <p:cNvPr id="2075" name="TextBox 2074">
            <a:extLst>
              <a:ext uri="{FF2B5EF4-FFF2-40B4-BE49-F238E27FC236}">
                <a16:creationId xmlns:a16="http://schemas.microsoft.com/office/drawing/2014/main" id="{8DB80237-75AE-0641-49E6-58E1D8FE12C8}"/>
              </a:ext>
            </a:extLst>
          </p:cNvPr>
          <p:cNvSpPr txBox="1"/>
          <p:nvPr/>
        </p:nvSpPr>
        <p:spPr>
          <a:xfrm>
            <a:off x="5450898" y="7911082"/>
            <a:ext cx="386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5m</a:t>
            </a:r>
          </a:p>
        </p:txBody>
      </p:sp>
      <p:sp>
        <p:nvSpPr>
          <p:cNvPr id="2076" name="TextBox 2075">
            <a:extLst>
              <a:ext uri="{FF2B5EF4-FFF2-40B4-BE49-F238E27FC236}">
                <a16:creationId xmlns:a16="http://schemas.microsoft.com/office/drawing/2014/main" id="{4BF5FB70-A30D-6DB5-1AF6-1CCF5CB71C36}"/>
              </a:ext>
            </a:extLst>
          </p:cNvPr>
          <p:cNvSpPr txBox="1"/>
          <p:nvPr/>
        </p:nvSpPr>
        <p:spPr>
          <a:xfrm>
            <a:off x="5435184" y="8943668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12m</a:t>
            </a:r>
          </a:p>
        </p:txBody>
      </p:sp>
      <p:pic>
        <p:nvPicPr>
          <p:cNvPr id="2077" name="Picture 2076">
            <a:extLst>
              <a:ext uri="{FF2B5EF4-FFF2-40B4-BE49-F238E27FC236}">
                <a16:creationId xmlns:a16="http://schemas.microsoft.com/office/drawing/2014/main" id="{F3226C3A-82BD-ED10-7555-4105C8BC541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grayscl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571" t="7760" r="71208" b="68371"/>
          <a:stretch/>
        </p:blipFill>
        <p:spPr>
          <a:xfrm>
            <a:off x="5131545" y="6031225"/>
            <a:ext cx="1192038" cy="850890"/>
          </a:xfrm>
          <a:prstGeom prst="rect">
            <a:avLst/>
          </a:prstGeom>
        </p:spPr>
      </p:pic>
      <p:sp>
        <p:nvSpPr>
          <p:cNvPr id="2078" name="Rectangle 2077">
            <a:extLst>
              <a:ext uri="{FF2B5EF4-FFF2-40B4-BE49-F238E27FC236}">
                <a16:creationId xmlns:a16="http://schemas.microsoft.com/office/drawing/2014/main" id="{4CC480F4-72EB-3C70-0A48-3F1930C1F3FF}"/>
              </a:ext>
            </a:extLst>
          </p:cNvPr>
          <p:cNvSpPr/>
          <p:nvPr/>
        </p:nvSpPr>
        <p:spPr>
          <a:xfrm>
            <a:off x="4303550" y="6093477"/>
            <a:ext cx="270969" cy="1059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EFBC56F1-FF20-F74E-7528-6D42F8EF44F1}"/>
              </a:ext>
            </a:extLst>
          </p:cNvPr>
          <p:cNvSpPr txBox="1"/>
          <p:nvPr/>
        </p:nvSpPr>
        <p:spPr>
          <a:xfrm>
            <a:off x="4194818" y="5991487"/>
            <a:ext cx="64547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/>
              <a:t>13cm</a:t>
            </a:r>
          </a:p>
        </p:txBody>
      </p:sp>
      <p:pic>
        <p:nvPicPr>
          <p:cNvPr id="2080" name="Picture 2079">
            <a:extLst>
              <a:ext uri="{FF2B5EF4-FFF2-40B4-BE49-F238E27FC236}">
                <a16:creationId xmlns:a16="http://schemas.microsoft.com/office/drawing/2014/main" id="{E03927FB-E474-82D5-447F-48E6D99FCD0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8794" y="8231829"/>
            <a:ext cx="1169002" cy="981962"/>
          </a:xfrm>
          <a:prstGeom prst="rect">
            <a:avLst/>
          </a:prstGeom>
        </p:spPr>
      </p:pic>
      <p:sp>
        <p:nvSpPr>
          <p:cNvPr id="2081" name="Rectangle 2080">
            <a:extLst>
              <a:ext uri="{FF2B5EF4-FFF2-40B4-BE49-F238E27FC236}">
                <a16:creationId xmlns:a16="http://schemas.microsoft.com/office/drawing/2014/main" id="{09CF0CFE-8B17-6F46-26CF-6C356062D3CB}"/>
              </a:ext>
            </a:extLst>
          </p:cNvPr>
          <p:cNvSpPr/>
          <p:nvPr/>
        </p:nvSpPr>
        <p:spPr>
          <a:xfrm>
            <a:off x="1968027" y="9254788"/>
            <a:ext cx="1013162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465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0EBC9BB-B072-CDAB-7A2B-A1CA04769348}"/>
              </a:ext>
            </a:extLst>
          </p:cNvPr>
          <p:cNvGrpSpPr/>
          <p:nvPr/>
        </p:nvGrpSpPr>
        <p:grpSpPr>
          <a:xfrm>
            <a:off x="1258234" y="4175717"/>
            <a:ext cx="4565050" cy="1200210"/>
            <a:chOff x="730599" y="5133474"/>
            <a:chExt cx="5615924" cy="162009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E64AC3-E8B2-2D32-F202-4D8B76B13B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738" t="17270" r="738" b="-3747"/>
            <a:stretch/>
          </p:blipFill>
          <p:spPr>
            <a:xfrm>
              <a:off x="730599" y="5214885"/>
              <a:ext cx="5615924" cy="1538681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112BBB-506C-7674-B7EF-DD95C7BEB75D}"/>
                </a:ext>
              </a:extLst>
            </p:cNvPr>
            <p:cNvSpPr/>
            <p:nvPr/>
          </p:nvSpPr>
          <p:spPr>
            <a:xfrm>
              <a:off x="730599" y="5133474"/>
              <a:ext cx="1178412" cy="40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868604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14F57-CC09-0430-65F1-FC2AEB6A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8024" y="944740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29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4BFBE-2B7A-9D54-CDEC-D104CF7C4732}"/>
              </a:ext>
            </a:extLst>
          </p:cNvPr>
          <p:cNvSpPr/>
          <p:nvPr/>
        </p:nvSpPr>
        <p:spPr>
          <a:xfrm>
            <a:off x="511477" y="1812566"/>
            <a:ext cx="5862341" cy="2117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13. Work out the perimeters of each of these compound shapes:</a:t>
            </a:r>
          </a:p>
          <a:p>
            <a:r>
              <a:rPr lang="en-GB" sz="1200">
                <a:solidFill>
                  <a:schemeClr val="tx1"/>
                </a:solidFill>
              </a:rPr>
              <a:t>a)                                                         			b)                                              </a:t>
            </a: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6FF7B8-DEC2-CA07-C78F-94190A430309}"/>
              </a:ext>
            </a:extLst>
          </p:cNvPr>
          <p:cNvSpPr/>
          <p:nvPr/>
        </p:nvSpPr>
        <p:spPr>
          <a:xfrm>
            <a:off x="511477" y="3980530"/>
            <a:ext cx="5862341" cy="27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14. a) The table below shoes part of the results of a survey in a school with 900 students. Complete the table below: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b) Here is a bus timetable. How long does it take to get to Ware, if you take the 1005 bus from </a:t>
            </a:r>
            <a:r>
              <a:rPr lang="en-GB" sz="1200" err="1">
                <a:solidFill>
                  <a:schemeClr val="tx1"/>
                </a:solidFill>
              </a:rPr>
              <a:t>Harton</a:t>
            </a:r>
            <a:r>
              <a:rPr lang="en-GB" sz="1200">
                <a:solidFill>
                  <a:schemeClr val="tx1"/>
                </a:solidFill>
              </a:rPr>
              <a:t>?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2357DD7-94E6-0FBF-BDA3-66A3434F1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56" y="2096240"/>
            <a:ext cx="1684086" cy="1242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DA8B1A-5CE2-1304-0BFE-4D34BD91D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529" y="2049461"/>
            <a:ext cx="1423750" cy="1289544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60BDFA5D-6F89-CDF9-8653-DFF02F689390}"/>
              </a:ext>
            </a:extLst>
          </p:cNvPr>
          <p:cNvSpPr/>
          <p:nvPr/>
        </p:nvSpPr>
        <p:spPr>
          <a:xfrm>
            <a:off x="857204" y="3382230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3BF3AC9-5FE7-5F10-5CAF-08B4ECF5BC3E}"/>
              </a:ext>
            </a:extLst>
          </p:cNvPr>
          <p:cNvSpPr/>
          <p:nvPr/>
        </p:nvSpPr>
        <p:spPr>
          <a:xfrm>
            <a:off x="3839088" y="6817598"/>
            <a:ext cx="142449" cy="80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BEE5B13-3690-3C12-6121-98F6D5870717}"/>
              </a:ext>
            </a:extLst>
          </p:cNvPr>
          <p:cNvSpPr/>
          <p:nvPr/>
        </p:nvSpPr>
        <p:spPr>
          <a:xfrm>
            <a:off x="527920" y="6713998"/>
            <a:ext cx="5862341" cy="2961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15. a) Complete the frequency tree, using the information below: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b) How an more men than women did </a:t>
            </a:r>
            <a:r>
              <a:rPr lang="en-GB" sz="1200" b="1" u="sng">
                <a:solidFill>
                  <a:schemeClr val="tx1"/>
                </a:solidFill>
              </a:rPr>
              <a:t>not</a:t>
            </a:r>
            <a:r>
              <a:rPr lang="en-GB" sz="1200">
                <a:solidFill>
                  <a:schemeClr val="tx1"/>
                </a:solidFill>
              </a:rPr>
              <a:t>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    pass their test?</a:t>
            </a:r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9CFB8494-1341-C505-B109-6618F020C8EA}"/>
              </a:ext>
            </a:extLst>
          </p:cNvPr>
          <p:cNvSpPr/>
          <p:nvPr/>
        </p:nvSpPr>
        <p:spPr>
          <a:xfrm rot="5400000">
            <a:off x="5397141" y="6810319"/>
            <a:ext cx="105448" cy="369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0094F5-82E5-9B8D-E3DF-E127CB322CC1}"/>
              </a:ext>
            </a:extLst>
          </p:cNvPr>
          <p:cNvSpPr/>
          <p:nvPr/>
        </p:nvSpPr>
        <p:spPr>
          <a:xfrm>
            <a:off x="4194529" y="3401442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E65B0C3-FE72-55E1-A3A0-7D878B5C0FE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6938" b="60127"/>
          <a:stretch/>
        </p:blipFill>
        <p:spPr>
          <a:xfrm>
            <a:off x="651128" y="7008026"/>
            <a:ext cx="2794315" cy="824506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83151AF0-8C6C-2645-099B-2FED6FA0604D}"/>
              </a:ext>
            </a:extLst>
          </p:cNvPr>
          <p:cNvGrpSpPr/>
          <p:nvPr/>
        </p:nvGrpSpPr>
        <p:grpSpPr>
          <a:xfrm>
            <a:off x="3635360" y="6927811"/>
            <a:ext cx="2542088" cy="2627612"/>
            <a:chOff x="3618917" y="6799611"/>
            <a:chExt cx="2542088" cy="2627612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7AAF876-EC37-5AA3-B99B-26848E5201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3546"/>
            <a:stretch/>
          </p:blipFill>
          <p:spPr>
            <a:xfrm>
              <a:off x="3618917" y="6873473"/>
              <a:ext cx="2542088" cy="2553750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5289059-E3E0-EA4C-08DC-AB4D86615570}"/>
                </a:ext>
              </a:extLst>
            </p:cNvPr>
            <p:cNvSpPr/>
            <p:nvPr/>
          </p:nvSpPr>
          <p:spPr>
            <a:xfrm>
              <a:off x="3618917" y="6799611"/>
              <a:ext cx="778510" cy="4812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2E09CC70-91FE-958F-13A7-77FC0EBC3617}"/>
              </a:ext>
            </a:extLst>
          </p:cNvPr>
          <p:cNvSpPr/>
          <p:nvPr/>
        </p:nvSpPr>
        <p:spPr>
          <a:xfrm>
            <a:off x="760689" y="9106122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2722519-4227-C09B-C7F8-28763407B9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3973" y="5704023"/>
            <a:ext cx="2050628" cy="940701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E66EF19C-CBC8-130E-E223-986561C5BA5E}"/>
              </a:ext>
            </a:extLst>
          </p:cNvPr>
          <p:cNvSpPr/>
          <p:nvPr/>
        </p:nvSpPr>
        <p:spPr>
          <a:xfrm>
            <a:off x="682742" y="6240053"/>
            <a:ext cx="3209966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08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868604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Review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14F57-CC09-0430-65F1-FC2AEB6A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8024" y="944740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30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55A984-9087-3D63-0F6B-B21F2C57B6A9}"/>
              </a:ext>
            </a:extLst>
          </p:cNvPr>
          <p:cNvSpPr/>
          <p:nvPr/>
        </p:nvSpPr>
        <p:spPr>
          <a:xfrm>
            <a:off x="511477" y="1812565"/>
            <a:ext cx="5862341" cy="3684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16. Calculate:</a:t>
            </a:r>
          </a:p>
          <a:p>
            <a:pPr marL="228600" indent="-228600">
              <a:lnSpc>
                <a:spcPct val="3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5 x 10</a:t>
            </a:r>
            <a:r>
              <a:rPr lang="en-GB" sz="1200" baseline="30000">
                <a:solidFill>
                  <a:schemeClr val="tx1"/>
                </a:solidFill>
              </a:rPr>
              <a:t>4</a:t>
            </a:r>
            <a:r>
              <a:rPr lang="en-GB" sz="1200">
                <a:solidFill>
                  <a:schemeClr val="tx1"/>
                </a:solidFill>
              </a:rPr>
              <a:t> + 3 x 10</a:t>
            </a:r>
            <a:r>
              <a:rPr lang="en-GB" sz="1200" baseline="30000">
                <a:solidFill>
                  <a:schemeClr val="tx1"/>
                </a:solidFill>
              </a:rPr>
              <a:t>4 </a:t>
            </a:r>
            <a:r>
              <a:rPr lang="en-GB" sz="1200">
                <a:solidFill>
                  <a:schemeClr val="tx1"/>
                </a:solidFill>
              </a:rPr>
              <a:t>=</a:t>
            </a:r>
          </a:p>
          <a:p>
            <a:pPr marL="228600" indent="-228600">
              <a:lnSpc>
                <a:spcPct val="300000"/>
              </a:lnSpc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 x 10</a:t>
            </a:r>
            <a:r>
              <a:rPr lang="en-GB" sz="1200" baseline="30000">
                <a:solidFill>
                  <a:schemeClr val="tx1"/>
                </a:solidFill>
              </a:rPr>
              <a:t>3</a:t>
            </a:r>
            <a:r>
              <a:rPr lang="en-GB" sz="1200">
                <a:solidFill>
                  <a:schemeClr val="tx1"/>
                </a:solidFill>
              </a:rPr>
              <a:t> - 2 x 10</a:t>
            </a:r>
            <a:r>
              <a:rPr lang="en-GB" sz="1200" baseline="30000">
                <a:solidFill>
                  <a:schemeClr val="tx1"/>
                </a:solidFill>
              </a:rPr>
              <a:t>3 </a:t>
            </a:r>
            <a:r>
              <a:rPr lang="en-GB" sz="1200">
                <a:solidFill>
                  <a:schemeClr val="tx1"/>
                </a:solidFill>
              </a:rPr>
              <a:t>=</a:t>
            </a:r>
            <a:endParaRPr lang="en-GB" sz="1200" baseline="30000">
              <a:solidFill>
                <a:schemeClr val="tx1"/>
              </a:solidFill>
            </a:endParaRPr>
          </a:p>
          <a:p>
            <a:pPr marL="228600" indent="-228600">
              <a:lnSpc>
                <a:spcPct val="300000"/>
              </a:lnSpc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2.6 x 10</a:t>
            </a:r>
            <a:r>
              <a:rPr lang="en-GB" sz="1200" baseline="30000">
                <a:solidFill>
                  <a:schemeClr val="tx1"/>
                </a:solidFill>
              </a:rPr>
              <a:t>8 </a:t>
            </a:r>
            <a:r>
              <a:rPr lang="en-GB" sz="1200">
                <a:solidFill>
                  <a:schemeClr val="tx1"/>
                </a:solidFill>
              </a:rPr>
              <a:t>+ 4.5 x 10</a:t>
            </a:r>
            <a:r>
              <a:rPr lang="en-GB" sz="1200" baseline="30000">
                <a:solidFill>
                  <a:schemeClr val="tx1"/>
                </a:solidFill>
              </a:rPr>
              <a:t>9 </a:t>
            </a:r>
            <a:r>
              <a:rPr lang="en-GB" sz="1200">
                <a:solidFill>
                  <a:schemeClr val="tx1"/>
                </a:solidFill>
              </a:rPr>
              <a:t>=</a:t>
            </a:r>
          </a:p>
          <a:p>
            <a:pPr marL="228600" indent="-228600">
              <a:lnSpc>
                <a:spcPct val="300000"/>
              </a:lnSpc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5.12 x 10</a:t>
            </a:r>
            <a:r>
              <a:rPr lang="en-GB" sz="1200" baseline="30000">
                <a:solidFill>
                  <a:schemeClr val="tx1"/>
                </a:solidFill>
              </a:rPr>
              <a:t>5 </a:t>
            </a:r>
            <a:r>
              <a:rPr lang="en-GB" sz="1200">
                <a:solidFill>
                  <a:schemeClr val="tx1"/>
                </a:solidFill>
              </a:rPr>
              <a:t>– 1.89 x 10</a:t>
            </a:r>
            <a:r>
              <a:rPr lang="en-GB" sz="1200" baseline="30000">
                <a:solidFill>
                  <a:schemeClr val="tx1"/>
                </a:solidFill>
              </a:rPr>
              <a:t>4 </a:t>
            </a:r>
            <a:r>
              <a:rPr lang="en-GB" sz="1200">
                <a:solidFill>
                  <a:schemeClr val="tx1"/>
                </a:solidFill>
              </a:rPr>
              <a:t>=</a:t>
            </a:r>
            <a:endParaRPr lang="en-GB" sz="1200" baseline="30000">
              <a:solidFill>
                <a:schemeClr val="tx1"/>
              </a:solidFill>
            </a:endParaRPr>
          </a:p>
          <a:p>
            <a:pPr marL="228600" indent="-228600">
              <a:lnSpc>
                <a:spcPct val="300000"/>
              </a:lnSpc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7 x 10</a:t>
            </a:r>
            <a:r>
              <a:rPr lang="en-GB" sz="1200" baseline="30000">
                <a:solidFill>
                  <a:schemeClr val="tx1"/>
                </a:solidFill>
              </a:rPr>
              <a:t>-2 </a:t>
            </a:r>
            <a:r>
              <a:rPr lang="en-GB" sz="1200">
                <a:solidFill>
                  <a:schemeClr val="tx1"/>
                </a:solidFill>
              </a:rPr>
              <a:t>+ 2 x 10</a:t>
            </a:r>
            <a:r>
              <a:rPr lang="en-GB" sz="1200" baseline="30000">
                <a:solidFill>
                  <a:schemeClr val="tx1"/>
                </a:solidFill>
              </a:rPr>
              <a:t>-2 </a:t>
            </a:r>
            <a:r>
              <a:rPr lang="en-GB" sz="1200">
                <a:solidFill>
                  <a:schemeClr val="tx1"/>
                </a:solidFill>
              </a:rPr>
              <a:t>=</a:t>
            </a:r>
            <a:endParaRPr lang="en-GB" sz="1200" baseline="30000">
              <a:solidFill>
                <a:schemeClr val="tx1"/>
              </a:solidFill>
            </a:endParaRPr>
          </a:p>
          <a:p>
            <a:pPr marL="228600" indent="-228600">
              <a:lnSpc>
                <a:spcPct val="300000"/>
              </a:lnSpc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6.12 x 10</a:t>
            </a:r>
            <a:r>
              <a:rPr lang="en-GB" sz="1200" baseline="30000">
                <a:solidFill>
                  <a:schemeClr val="tx1"/>
                </a:solidFill>
              </a:rPr>
              <a:t>-3 </a:t>
            </a:r>
            <a:r>
              <a:rPr lang="en-GB" sz="1200">
                <a:solidFill>
                  <a:schemeClr val="tx1"/>
                </a:solidFill>
              </a:rPr>
              <a:t>– 1.07 x 10</a:t>
            </a:r>
            <a:r>
              <a:rPr lang="en-GB" sz="1200" baseline="30000">
                <a:solidFill>
                  <a:schemeClr val="tx1"/>
                </a:solidFill>
              </a:rPr>
              <a:t>-2 </a:t>
            </a:r>
            <a:r>
              <a:rPr lang="en-GB" sz="1200">
                <a:solidFill>
                  <a:schemeClr val="tx1"/>
                </a:solidFill>
              </a:rPr>
              <a:t>=</a:t>
            </a: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0FC659-E379-A6B4-992B-B2FCE399D090}"/>
              </a:ext>
            </a:extLst>
          </p:cNvPr>
          <p:cNvSpPr/>
          <p:nvPr/>
        </p:nvSpPr>
        <p:spPr>
          <a:xfrm>
            <a:off x="2364060" y="2224947"/>
            <a:ext cx="39515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5C62C-EA9D-9D74-74CC-A4DBC6F57C4A}"/>
              </a:ext>
            </a:extLst>
          </p:cNvPr>
          <p:cNvSpPr/>
          <p:nvPr/>
        </p:nvSpPr>
        <p:spPr>
          <a:xfrm>
            <a:off x="2364060" y="2765544"/>
            <a:ext cx="39515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AFD68F-7126-8513-14F6-158BC4A6D0C1}"/>
              </a:ext>
            </a:extLst>
          </p:cNvPr>
          <p:cNvSpPr/>
          <p:nvPr/>
        </p:nvSpPr>
        <p:spPr>
          <a:xfrm>
            <a:off x="2364060" y="3306142"/>
            <a:ext cx="39515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A0EF64-D993-33E7-ED74-B67B76B5D6FB}"/>
              </a:ext>
            </a:extLst>
          </p:cNvPr>
          <p:cNvSpPr/>
          <p:nvPr/>
        </p:nvSpPr>
        <p:spPr>
          <a:xfrm>
            <a:off x="2364060" y="3861248"/>
            <a:ext cx="39515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50C08B-3A4C-BBE9-E238-C259887281D5}"/>
              </a:ext>
            </a:extLst>
          </p:cNvPr>
          <p:cNvSpPr/>
          <p:nvPr/>
        </p:nvSpPr>
        <p:spPr>
          <a:xfrm>
            <a:off x="2364060" y="4393687"/>
            <a:ext cx="39515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5B8BC-20C6-03EB-30C5-D61EC49DE8AE}"/>
              </a:ext>
            </a:extLst>
          </p:cNvPr>
          <p:cNvSpPr/>
          <p:nvPr/>
        </p:nvSpPr>
        <p:spPr>
          <a:xfrm>
            <a:off x="2397495" y="4953000"/>
            <a:ext cx="3951524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6" name="Table 26">
            <a:extLst>
              <a:ext uri="{FF2B5EF4-FFF2-40B4-BE49-F238E27FC236}">
                <a16:creationId xmlns:a16="http://schemas.microsoft.com/office/drawing/2014/main" id="{371FB36B-2E22-A214-D9D6-77713DF36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290148"/>
              </p:ext>
            </p:extLst>
          </p:nvPr>
        </p:nvGraphicFramePr>
        <p:xfrm>
          <a:off x="511477" y="5703741"/>
          <a:ext cx="5862344" cy="136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793">
                  <a:extLst>
                    <a:ext uri="{9D8B030D-6E8A-4147-A177-3AD203B41FA5}">
                      <a16:colId xmlns:a16="http://schemas.microsoft.com/office/drawing/2014/main" val="931584260"/>
                    </a:ext>
                  </a:extLst>
                </a:gridCol>
                <a:gridCol w="732793">
                  <a:extLst>
                    <a:ext uri="{9D8B030D-6E8A-4147-A177-3AD203B41FA5}">
                      <a16:colId xmlns:a16="http://schemas.microsoft.com/office/drawing/2014/main" val="1528159408"/>
                    </a:ext>
                  </a:extLst>
                </a:gridCol>
                <a:gridCol w="732793">
                  <a:extLst>
                    <a:ext uri="{9D8B030D-6E8A-4147-A177-3AD203B41FA5}">
                      <a16:colId xmlns:a16="http://schemas.microsoft.com/office/drawing/2014/main" val="3385997178"/>
                    </a:ext>
                  </a:extLst>
                </a:gridCol>
                <a:gridCol w="732793">
                  <a:extLst>
                    <a:ext uri="{9D8B030D-6E8A-4147-A177-3AD203B41FA5}">
                      <a16:colId xmlns:a16="http://schemas.microsoft.com/office/drawing/2014/main" val="2601368186"/>
                    </a:ext>
                  </a:extLst>
                </a:gridCol>
                <a:gridCol w="732793">
                  <a:extLst>
                    <a:ext uri="{9D8B030D-6E8A-4147-A177-3AD203B41FA5}">
                      <a16:colId xmlns:a16="http://schemas.microsoft.com/office/drawing/2014/main" val="1641796392"/>
                    </a:ext>
                  </a:extLst>
                </a:gridCol>
                <a:gridCol w="732793">
                  <a:extLst>
                    <a:ext uri="{9D8B030D-6E8A-4147-A177-3AD203B41FA5}">
                      <a16:colId xmlns:a16="http://schemas.microsoft.com/office/drawing/2014/main" val="4172567818"/>
                    </a:ext>
                  </a:extLst>
                </a:gridCol>
                <a:gridCol w="732793">
                  <a:extLst>
                    <a:ext uri="{9D8B030D-6E8A-4147-A177-3AD203B41FA5}">
                      <a16:colId xmlns:a16="http://schemas.microsoft.com/office/drawing/2014/main" val="4184152781"/>
                    </a:ext>
                  </a:extLst>
                </a:gridCol>
                <a:gridCol w="732793">
                  <a:extLst>
                    <a:ext uri="{9D8B030D-6E8A-4147-A177-3AD203B41FA5}">
                      <a16:colId xmlns:a16="http://schemas.microsoft.com/office/drawing/2014/main" val="3521678245"/>
                    </a:ext>
                  </a:extLst>
                </a:gridCol>
              </a:tblGrid>
              <a:tr h="297025"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349419"/>
                  </a:ext>
                </a:extLst>
              </a:tr>
              <a:tr h="589348"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055552"/>
                  </a:ext>
                </a:extLst>
              </a:tr>
              <a:tr h="478027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557321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48DF9D6-BA15-10D8-7C09-2779AB82F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534874"/>
              </p:ext>
            </p:extLst>
          </p:nvPr>
        </p:nvGraphicFramePr>
        <p:xfrm>
          <a:off x="523879" y="7386456"/>
          <a:ext cx="5836288" cy="1353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536">
                  <a:extLst>
                    <a:ext uri="{9D8B030D-6E8A-4147-A177-3AD203B41FA5}">
                      <a16:colId xmlns:a16="http://schemas.microsoft.com/office/drawing/2014/main" val="3140400346"/>
                    </a:ext>
                  </a:extLst>
                </a:gridCol>
                <a:gridCol w="729536">
                  <a:extLst>
                    <a:ext uri="{9D8B030D-6E8A-4147-A177-3AD203B41FA5}">
                      <a16:colId xmlns:a16="http://schemas.microsoft.com/office/drawing/2014/main" val="814777272"/>
                    </a:ext>
                  </a:extLst>
                </a:gridCol>
                <a:gridCol w="729536">
                  <a:extLst>
                    <a:ext uri="{9D8B030D-6E8A-4147-A177-3AD203B41FA5}">
                      <a16:colId xmlns:a16="http://schemas.microsoft.com/office/drawing/2014/main" val="3038396558"/>
                    </a:ext>
                  </a:extLst>
                </a:gridCol>
                <a:gridCol w="729536">
                  <a:extLst>
                    <a:ext uri="{9D8B030D-6E8A-4147-A177-3AD203B41FA5}">
                      <a16:colId xmlns:a16="http://schemas.microsoft.com/office/drawing/2014/main" val="2108929450"/>
                    </a:ext>
                  </a:extLst>
                </a:gridCol>
                <a:gridCol w="729536">
                  <a:extLst>
                    <a:ext uri="{9D8B030D-6E8A-4147-A177-3AD203B41FA5}">
                      <a16:colId xmlns:a16="http://schemas.microsoft.com/office/drawing/2014/main" val="324388158"/>
                    </a:ext>
                  </a:extLst>
                </a:gridCol>
                <a:gridCol w="729536">
                  <a:extLst>
                    <a:ext uri="{9D8B030D-6E8A-4147-A177-3AD203B41FA5}">
                      <a16:colId xmlns:a16="http://schemas.microsoft.com/office/drawing/2014/main" val="3501013972"/>
                    </a:ext>
                  </a:extLst>
                </a:gridCol>
                <a:gridCol w="729536">
                  <a:extLst>
                    <a:ext uri="{9D8B030D-6E8A-4147-A177-3AD203B41FA5}">
                      <a16:colId xmlns:a16="http://schemas.microsoft.com/office/drawing/2014/main" val="1110169561"/>
                    </a:ext>
                  </a:extLst>
                </a:gridCol>
                <a:gridCol w="729536">
                  <a:extLst>
                    <a:ext uri="{9D8B030D-6E8A-4147-A177-3AD203B41FA5}">
                      <a16:colId xmlns:a16="http://schemas.microsoft.com/office/drawing/2014/main" val="2776265983"/>
                    </a:ext>
                  </a:extLst>
                </a:gridCol>
              </a:tblGrid>
              <a:tr h="255205"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chemeClr val="tx1"/>
                          </a:solidFill>
                        </a:rPr>
                        <a:t>Q16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576966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/6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798924"/>
                  </a:ext>
                </a:extLst>
              </a:tr>
              <a:tr h="488739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18988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21FED924-5CE6-38BE-B3A9-C60CF82C9284}"/>
              </a:ext>
            </a:extLst>
          </p:cNvPr>
          <p:cNvSpPr txBox="1"/>
          <p:nvPr/>
        </p:nvSpPr>
        <p:spPr>
          <a:xfrm>
            <a:off x="270184" y="9259533"/>
            <a:ext cx="4638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Complete these sections for the questions you didn’t get full marks on</a:t>
            </a:r>
            <a:endParaRPr lang="en-GB" sz="1200" b="1" i="1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1545ADF-4D79-7B5A-FBB9-F98CC601483A}"/>
              </a:ext>
            </a:extLst>
          </p:cNvPr>
          <p:cNvCxnSpPr>
            <a:cxnSpLocks/>
          </p:cNvCxnSpPr>
          <p:nvPr/>
        </p:nvCxnSpPr>
        <p:spPr>
          <a:xfrm flipV="1">
            <a:off x="4892842" y="8512518"/>
            <a:ext cx="1542206" cy="881031"/>
          </a:xfrm>
          <a:prstGeom prst="bentConnector3">
            <a:avLst>
              <a:gd name="adj1" fmla="val 11345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126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291610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513EB-DCAE-DB17-A0FF-58B106FCE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00" y="3859032"/>
            <a:ext cx="1938505" cy="673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1E4D01-A217-DA37-91A6-6FE108909F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4" b="1408"/>
          <a:stretch/>
        </p:blipFill>
        <p:spPr>
          <a:xfrm>
            <a:off x="609689" y="5168763"/>
            <a:ext cx="1986675" cy="6414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837E2B-5CEE-350C-EE99-7736B3C03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01" y="2313239"/>
            <a:ext cx="1938505" cy="9546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8DBD97-9AF3-3C73-2A0B-FCDA68424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9205" y="8645154"/>
            <a:ext cx="936000" cy="904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1FAEE7-10D3-0A95-97D5-2AB188C33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9008" y="8611120"/>
            <a:ext cx="936000" cy="936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02BB4E-88F1-8454-5AE2-0BD76785BF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4485" y="7540076"/>
            <a:ext cx="936000" cy="93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12C625-AC36-44E0-FB33-6E702BE867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2994" y="8584462"/>
            <a:ext cx="936000" cy="9978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239FCFE-0140-6AD5-3113-CF99A72776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5634" y="6444322"/>
            <a:ext cx="936000" cy="93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B83B6F5-94B8-6971-D129-5065751CA7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308" y="8579804"/>
            <a:ext cx="936000" cy="93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79ADD50-BFB1-554D-BEE3-461CBF0F6B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2994" y="6526229"/>
            <a:ext cx="936000" cy="936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570FD1F-52EC-AA02-98F0-959B0C4F44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661" y="6496820"/>
            <a:ext cx="936000" cy="936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8ED0EB0-4A25-4FAD-148C-8C2770C629E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383" y="7555909"/>
            <a:ext cx="936000" cy="936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4C13527-348F-DC90-35FC-EFE3D05A38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7885" y="6539422"/>
            <a:ext cx="936000" cy="936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D5A37F9-B743-DBBB-8C40-169FC9B666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13526" y="7513474"/>
            <a:ext cx="936000" cy="936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252D7DF-6E0D-7418-0FE6-065D093A3D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15564" y="7605775"/>
            <a:ext cx="936000" cy="936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D6B38BD-16F1-7C1E-20B5-6ED29DEB33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8223244" y="9918376"/>
            <a:ext cx="6429375" cy="27622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F1C6BE4-D37C-08AB-B27B-14FB2274D3A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2459" y="10408495"/>
            <a:ext cx="3990975" cy="96202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358430D3-8334-5FAC-3165-1AE0E76B10A8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t="73753"/>
          <a:stretch/>
        </p:blipFill>
        <p:spPr>
          <a:xfrm>
            <a:off x="10440794" y="10889508"/>
            <a:ext cx="4200525" cy="410004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9E7DC166-0EEE-5CA9-3D44-FA2BB95B0944}"/>
              </a:ext>
            </a:extLst>
          </p:cNvPr>
          <p:cNvSpPr/>
          <p:nvPr/>
        </p:nvSpPr>
        <p:spPr>
          <a:xfrm>
            <a:off x="497830" y="1812565"/>
            <a:ext cx="5862340" cy="41527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A</a:t>
            </a:r>
          </a:p>
          <a:p>
            <a:r>
              <a:rPr lang="en-GB" sz="1200">
                <a:solidFill>
                  <a:schemeClr val="tx1"/>
                </a:solidFill>
              </a:rPr>
              <a:t>Use the bar model to complete the number sentences: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AE660C-AAD6-D102-D837-CEE42FF09115}"/>
              </a:ext>
            </a:extLst>
          </p:cNvPr>
          <p:cNvSpPr txBox="1"/>
          <p:nvPr/>
        </p:nvSpPr>
        <p:spPr>
          <a:xfrm>
            <a:off x="2705699" y="2342976"/>
            <a:ext cx="4076475" cy="212365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GB" sz="1600"/>
              <a:t>____ + ____ = 607</a:t>
            </a:r>
          </a:p>
          <a:p>
            <a:endParaRPr lang="en-GB" sz="1600"/>
          </a:p>
          <a:p>
            <a:r>
              <a:rPr lang="en-GB" sz="1600"/>
              <a:t>____ + ____ = 607</a:t>
            </a:r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r>
              <a:rPr lang="en-GB" sz="1600"/>
              <a:t>____ - ____ = 404</a:t>
            </a:r>
          </a:p>
          <a:p>
            <a:endParaRPr lang="en-GB" sz="1600"/>
          </a:p>
          <a:p>
            <a:r>
              <a:rPr lang="en-GB" sz="1600"/>
              <a:t>____ - ____ = 203</a:t>
            </a:r>
          </a:p>
          <a:p>
            <a:endParaRPr lang="en-GB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72D3CF-EFE2-B628-087A-18E5333B8D29}"/>
              </a:ext>
            </a:extLst>
          </p:cNvPr>
          <p:cNvSpPr txBox="1"/>
          <p:nvPr/>
        </p:nvSpPr>
        <p:spPr>
          <a:xfrm>
            <a:off x="2708223" y="5040764"/>
            <a:ext cx="4076475" cy="212365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GB" sz="1600"/>
              <a:t>____ + ____ = 169</a:t>
            </a:r>
          </a:p>
          <a:p>
            <a:endParaRPr lang="en-GB" sz="1600"/>
          </a:p>
          <a:p>
            <a:r>
              <a:rPr lang="en-GB" sz="1600"/>
              <a:t>____ + ____ = 169</a:t>
            </a:r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r>
              <a:rPr lang="en-GB" sz="1600"/>
              <a:t>____ - ____ = 37</a:t>
            </a:r>
          </a:p>
          <a:p>
            <a:endParaRPr lang="en-GB" sz="1600"/>
          </a:p>
          <a:p>
            <a:r>
              <a:rPr lang="en-GB" sz="1600"/>
              <a:t>____ - ____ = 132</a:t>
            </a:r>
          </a:p>
          <a:p>
            <a:endParaRPr lang="en-GB" sz="16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5266DF-0DD0-DF80-415C-912670696855}"/>
              </a:ext>
            </a:extLst>
          </p:cNvPr>
          <p:cNvSpPr txBox="1"/>
          <p:nvPr/>
        </p:nvSpPr>
        <p:spPr>
          <a:xfrm>
            <a:off x="2702635" y="3868814"/>
            <a:ext cx="4076475" cy="212365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GB" sz="1600"/>
              <a:t>____ + ____ = 676</a:t>
            </a:r>
          </a:p>
          <a:p>
            <a:endParaRPr lang="en-GB" sz="1600"/>
          </a:p>
          <a:p>
            <a:r>
              <a:rPr lang="en-GB" sz="1600"/>
              <a:t>____ + ____ = 676</a:t>
            </a:r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r>
              <a:rPr lang="en-GB" sz="1600"/>
              <a:t>____ - ____ = 200</a:t>
            </a:r>
          </a:p>
          <a:p>
            <a:endParaRPr lang="en-GB" sz="1600"/>
          </a:p>
          <a:p>
            <a:r>
              <a:rPr lang="en-GB" sz="1600"/>
              <a:t>____ - ____ = 476</a:t>
            </a:r>
          </a:p>
          <a:p>
            <a:endParaRPr lang="en-GB" sz="16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E5D24CE-F2EF-183E-A5E2-21D77A77D08A}"/>
              </a:ext>
            </a:extLst>
          </p:cNvPr>
          <p:cNvSpPr/>
          <p:nvPr/>
        </p:nvSpPr>
        <p:spPr>
          <a:xfrm>
            <a:off x="497830" y="6017071"/>
            <a:ext cx="5862340" cy="36126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B</a:t>
            </a:r>
          </a:p>
          <a:p>
            <a:r>
              <a:rPr lang="en-GB" sz="1200">
                <a:solidFill>
                  <a:schemeClr val="tx1"/>
                </a:solidFill>
              </a:rPr>
              <a:t>Complete the part-whole models:</a:t>
            </a:r>
          </a:p>
        </p:txBody>
      </p:sp>
    </p:spTree>
    <p:extLst>
      <p:ext uri="{BB962C8B-B14F-4D97-AF65-F5344CB8AC3E}">
        <p14:creationId xmlns:p14="http://schemas.microsoft.com/office/powerpoint/2010/main" val="141128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45316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32</a:t>
            </a:fld>
            <a:endParaRPr lang="en-GB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F1C6BE4-D37C-08AB-B27B-14FB2274D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59" y="10408495"/>
            <a:ext cx="3990975" cy="96202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358430D3-8334-5FAC-3165-1AE0E76B10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753"/>
          <a:stretch/>
        </p:blipFill>
        <p:spPr>
          <a:xfrm>
            <a:off x="10440794" y="10889508"/>
            <a:ext cx="4200525" cy="410004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2E5D24CE-F2EF-183E-A5E2-21D77A77D08A}"/>
              </a:ext>
            </a:extLst>
          </p:cNvPr>
          <p:cNvSpPr/>
          <p:nvPr/>
        </p:nvSpPr>
        <p:spPr>
          <a:xfrm>
            <a:off x="497830" y="1826812"/>
            <a:ext cx="5862340" cy="3240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B (continued)</a:t>
            </a:r>
            <a:br>
              <a:rPr lang="en-GB" sz="1200">
                <a:solidFill>
                  <a:schemeClr val="tx1"/>
                </a:solidFill>
              </a:rPr>
            </a:br>
            <a:endParaRPr lang="en-GB" sz="8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30 + 60 =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20 + 50 =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70 = 40 +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60 = 50 +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30 =                            - 20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40 =                            - 20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18 + 5 =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16 + 7 =</a:t>
            </a:r>
          </a:p>
          <a:p>
            <a:pPr marL="228600" indent="-228600">
              <a:buFont typeface="+mj-lt"/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20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24 – 6 =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22 – 5 =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25 – 9 =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27 – 9 =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3 + 4 = 6 +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                         + 3 = 5 + 4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4 + 7 =                         + 8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r>
              <a:rPr lang="en-GB" sz="1200">
                <a:solidFill>
                  <a:schemeClr val="tx1"/>
                </a:solidFill>
              </a:rPr>
              <a:t>6 +                           = 7 + 8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C04852-821B-9BF1-08BD-48E5EA981A6B}"/>
              </a:ext>
            </a:extLst>
          </p:cNvPr>
          <p:cNvSpPr/>
          <p:nvPr/>
        </p:nvSpPr>
        <p:spPr>
          <a:xfrm>
            <a:off x="497830" y="5121754"/>
            <a:ext cx="5862340" cy="44253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98F14A-95D3-86A2-772C-BB0152C3D748}"/>
              </a:ext>
            </a:extLst>
          </p:cNvPr>
          <p:cNvSpPr txBox="1"/>
          <p:nvPr/>
        </p:nvSpPr>
        <p:spPr>
          <a:xfrm>
            <a:off x="3181095" y="6740581"/>
            <a:ext cx="327044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e) If 274 +  81 = 355, then 81 + 274 = ______</a:t>
            </a:r>
          </a:p>
          <a:p>
            <a:endParaRPr lang="en-GB" sz="1200"/>
          </a:p>
          <a:p>
            <a:endParaRPr lang="en-GB" sz="1200"/>
          </a:p>
          <a:p>
            <a:r>
              <a:rPr lang="en-GB" sz="1200"/>
              <a:t>f) If 961 + 412 = 1373, then 412 + 961 = ______</a:t>
            </a:r>
          </a:p>
          <a:p>
            <a:endParaRPr lang="en-GB" sz="1200"/>
          </a:p>
          <a:p>
            <a:endParaRPr lang="en-GB" sz="1200"/>
          </a:p>
          <a:p>
            <a:r>
              <a:rPr lang="en-GB" sz="1200"/>
              <a:t>g) If (10 + 4) + 5 = 19, then 10 + (4 + 5) = ______</a:t>
            </a:r>
          </a:p>
          <a:p>
            <a:endParaRPr lang="en-GB" sz="1200"/>
          </a:p>
          <a:p>
            <a:endParaRPr lang="en-GB" sz="1200"/>
          </a:p>
          <a:p>
            <a:r>
              <a:rPr lang="en-GB" sz="1200"/>
              <a:t>h) If 6 + (8 + 4) = 18, then (6 + 8) + 4 = _______</a:t>
            </a:r>
          </a:p>
          <a:p>
            <a:endParaRPr lang="en-GB" sz="1200"/>
          </a:p>
          <a:p>
            <a:endParaRPr lang="en-GB" sz="1200"/>
          </a:p>
          <a:p>
            <a:r>
              <a:rPr lang="en-GB" sz="1200" err="1"/>
              <a:t>i</a:t>
            </a:r>
            <a:r>
              <a:rPr lang="en-GB" sz="1200"/>
              <a:t>) If (450 + 324) + 63 = 837, then 450 + (324 + 63) </a:t>
            </a:r>
          </a:p>
          <a:p>
            <a:r>
              <a:rPr lang="en-GB" sz="1200"/>
              <a:t>					= ______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D03AC2-55CA-87F9-C6FA-AF4CA1145B55}"/>
              </a:ext>
            </a:extLst>
          </p:cNvPr>
          <p:cNvSpPr txBox="1"/>
          <p:nvPr/>
        </p:nvSpPr>
        <p:spPr>
          <a:xfrm>
            <a:off x="505813" y="5504603"/>
            <a:ext cx="20733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a) 5 + 6 = ___         +  5</a:t>
            </a:r>
          </a:p>
          <a:p>
            <a:endParaRPr lang="en-GB" sz="1200"/>
          </a:p>
          <a:p>
            <a:r>
              <a:rPr lang="en-GB" sz="1200"/>
              <a:t>    6 + 5 = 5 + ____</a:t>
            </a:r>
          </a:p>
          <a:p>
            <a:endParaRPr lang="en-GB" sz="1200"/>
          </a:p>
          <a:p>
            <a:r>
              <a:rPr lang="en-GB" sz="1200"/>
              <a:t>    Property: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5E1F16-39EC-01EB-1D2D-F40B5AC7ABC4}"/>
              </a:ext>
            </a:extLst>
          </p:cNvPr>
          <p:cNvSpPr txBox="1"/>
          <p:nvPr/>
        </p:nvSpPr>
        <p:spPr>
          <a:xfrm>
            <a:off x="3181095" y="5501541"/>
            <a:ext cx="20733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d) 110 + 94  =                   +  94</a:t>
            </a:r>
          </a:p>
          <a:p>
            <a:endParaRPr lang="en-GB" sz="1200"/>
          </a:p>
          <a:p>
            <a:r>
              <a:rPr lang="en-GB" sz="1200"/>
              <a:t>    94 + 110  = 110 +   ____</a:t>
            </a:r>
          </a:p>
          <a:p>
            <a:endParaRPr lang="en-GB" sz="1200"/>
          </a:p>
          <a:p>
            <a:r>
              <a:rPr lang="en-GB" sz="1200"/>
              <a:t>    Property: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61163A-BFC6-61A6-D79C-A70C628AFB23}"/>
              </a:ext>
            </a:extLst>
          </p:cNvPr>
          <p:cNvSpPr txBox="1"/>
          <p:nvPr/>
        </p:nvSpPr>
        <p:spPr>
          <a:xfrm>
            <a:off x="497830" y="6762082"/>
            <a:ext cx="23192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b) (9 + 3) + 6 =                  + (3 + 6)</a:t>
            </a:r>
          </a:p>
          <a:p>
            <a:endParaRPr lang="en-GB" sz="1200"/>
          </a:p>
          <a:p>
            <a:r>
              <a:rPr lang="en-GB" sz="1200"/>
              <a:t>    9 + (3 + 6) = (9 +                 ) + 6</a:t>
            </a:r>
          </a:p>
          <a:p>
            <a:endParaRPr lang="en-GB" sz="1200"/>
          </a:p>
          <a:p>
            <a:r>
              <a:rPr lang="en-GB" sz="1200"/>
              <a:t>    Property: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BF707F-0EDD-22EC-DF8C-1AC7EE7D8F7A}"/>
              </a:ext>
            </a:extLst>
          </p:cNvPr>
          <p:cNvSpPr txBox="1"/>
          <p:nvPr/>
        </p:nvSpPr>
        <p:spPr>
          <a:xfrm>
            <a:off x="448923" y="8190623"/>
            <a:ext cx="2781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c) (20 + 284) + 76 =                  +  (284 + 76)</a:t>
            </a:r>
          </a:p>
          <a:p>
            <a:endParaRPr lang="en-GB" sz="1200"/>
          </a:p>
          <a:p>
            <a:r>
              <a:rPr lang="en-GB" sz="1200"/>
              <a:t>    20 + (284 + 76) = (20 +                ) + 76</a:t>
            </a:r>
          </a:p>
          <a:p>
            <a:endParaRPr lang="en-GB" sz="1200"/>
          </a:p>
          <a:p>
            <a:r>
              <a:rPr lang="en-GB" sz="1200"/>
              <a:t>    Property: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B53C26-EC74-220C-605D-D39196AB0918}"/>
              </a:ext>
            </a:extLst>
          </p:cNvPr>
          <p:cNvSpPr/>
          <p:nvPr/>
        </p:nvSpPr>
        <p:spPr>
          <a:xfrm>
            <a:off x="1479912" y="2145496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1E5D27D-B03A-99B0-0624-17C59A58824B}"/>
              </a:ext>
            </a:extLst>
          </p:cNvPr>
          <p:cNvSpPr/>
          <p:nvPr/>
        </p:nvSpPr>
        <p:spPr>
          <a:xfrm>
            <a:off x="1479912" y="2528345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B803B3-BAEC-E28F-9247-5568888519EC}"/>
              </a:ext>
            </a:extLst>
          </p:cNvPr>
          <p:cNvSpPr/>
          <p:nvPr/>
        </p:nvSpPr>
        <p:spPr>
          <a:xfrm>
            <a:off x="1479912" y="2870464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B3686A-3BA9-9AD1-FA73-5AFB9C0BC4CE}"/>
              </a:ext>
            </a:extLst>
          </p:cNvPr>
          <p:cNvSpPr/>
          <p:nvPr/>
        </p:nvSpPr>
        <p:spPr>
          <a:xfrm>
            <a:off x="1479912" y="3228035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469404A-CE19-FBC5-3B7C-E40B11C63F87}"/>
              </a:ext>
            </a:extLst>
          </p:cNvPr>
          <p:cNvSpPr/>
          <p:nvPr/>
        </p:nvSpPr>
        <p:spPr>
          <a:xfrm>
            <a:off x="1138504" y="3621231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7370B5-2F02-2F01-B762-CF4F95B81D34}"/>
              </a:ext>
            </a:extLst>
          </p:cNvPr>
          <p:cNvSpPr/>
          <p:nvPr/>
        </p:nvSpPr>
        <p:spPr>
          <a:xfrm>
            <a:off x="1130811" y="3996277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ECC2A9-8AF3-1EA2-9410-AC811449CAF6}"/>
              </a:ext>
            </a:extLst>
          </p:cNvPr>
          <p:cNvSpPr/>
          <p:nvPr/>
        </p:nvSpPr>
        <p:spPr>
          <a:xfrm>
            <a:off x="1371785" y="4326552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0D3A93-A6DC-D361-2F66-9AB70928C505}"/>
              </a:ext>
            </a:extLst>
          </p:cNvPr>
          <p:cNvSpPr/>
          <p:nvPr/>
        </p:nvSpPr>
        <p:spPr>
          <a:xfrm>
            <a:off x="1371785" y="4695265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59E5BC3-EB05-A49C-B185-44C80FFE8D41}"/>
              </a:ext>
            </a:extLst>
          </p:cNvPr>
          <p:cNvSpPr/>
          <p:nvPr/>
        </p:nvSpPr>
        <p:spPr>
          <a:xfrm>
            <a:off x="4231434" y="2136085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2F012CD-88F8-E89E-D609-695D1D252395}"/>
              </a:ext>
            </a:extLst>
          </p:cNvPr>
          <p:cNvSpPr/>
          <p:nvPr/>
        </p:nvSpPr>
        <p:spPr>
          <a:xfrm>
            <a:off x="4231434" y="2511469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945681-9AF8-A295-63C1-5B7A22325C08}"/>
              </a:ext>
            </a:extLst>
          </p:cNvPr>
          <p:cNvSpPr/>
          <p:nvPr/>
        </p:nvSpPr>
        <p:spPr>
          <a:xfrm>
            <a:off x="4231434" y="2868188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458550-0709-C01B-7E0B-B91AF6CDDDFA}"/>
              </a:ext>
            </a:extLst>
          </p:cNvPr>
          <p:cNvSpPr/>
          <p:nvPr/>
        </p:nvSpPr>
        <p:spPr>
          <a:xfrm>
            <a:off x="4231434" y="3220382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F0C59FC-65FC-453E-E814-40E2BE649F9E}"/>
              </a:ext>
            </a:extLst>
          </p:cNvPr>
          <p:cNvSpPr/>
          <p:nvPr/>
        </p:nvSpPr>
        <p:spPr>
          <a:xfrm>
            <a:off x="4420318" y="3621230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D5D11D9-B6D0-79A6-7EFB-4D5DBEAA3D73}"/>
              </a:ext>
            </a:extLst>
          </p:cNvPr>
          <p:cNvSpPr/>
          <p:nvPr/>
        </p:nvSpPr>
        <p:spPr>
          <a:xfrm>
            <a:off x="3655614" y="3971130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6BE2991-F13C-9754-E726-D9B9D122B33A}"/>
              </a:ext>
            </a:extLst>
          </p:cNvPr>
          <p:cNvSpPr/>
          <p:nvPr/>
        </p:nvSpPr>
        <p:spPr>
          <a:xfrm>
            <a:off x="4092558" y="4326551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76A1BDB-EE22-1C99-240B-87AC03FDCB5F}"/>
              </a:ext>
            </a:extLst>
          </p:cNvPr>
          <p:cNvSpPr/>
          <p:nvPr/>
        </p:nvSpPr>
        <p:spPr>
          <a:xfrm>
            <a:off x="3902217" y="4695264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42FBECF-AD25-5C99-7816-FB9BC9715E9C}"/>
              </a:ext>
            </a:extLst>
          </p:cNvPr>
          <p:cNvSpPr/>
          <p:nvPr/>
        </p:nvSpPr>
        <p:spPr>
          <a:xfrm>
            <a:off x="1179469" y="5509562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6CB1B57-C3DD-54A2-DE46-41A107E6C3A6}"/>
              </a:ext>
            </a:extLst>
          </p:cNvPr>
          <p:cNvSpPr/>
          <p:nvPr/>
        </p:nvSpPr>
        <p:spPr>
          <a:xfrm>
            <a:off x="1417967" y="5845097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01FF020-6E76-F5CA-C8FB-B48D3D5243B2}"/>
              </a:ext>
            </a:extLst>
          </p:cNvPr>
          <p:cNvSpPr/>
          <p:nvPr/>
        </p:nvSpPr>
        <p:spPr>
          <a:xfrm>
            <a:off x="4551689" y="5845097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0A6E44E-5186-CEAE-63CC-12E498BA8125}"/>
              </a:ext>
            </a:extLst>
          </p:cNvPr>
          <p:cNvSpPr/>
          <p:nvPr/>
        </p:nvSpPr>
        <p:spPr>
          <a:xfrm>
            <a:off x="4155689" y="5482425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DFC7396-3DDA-758F-95C7-A94B6923CA3D}"/>
              </a:ext>
            </a:extLst>
          </p:cNvPr>
          <p:cNvSpPr/>
          <p:nvPr/>
        </p:nvSpPr>
        <p:spPr>
          <a:xfrm>
            <a:off x="1503156" y="6762082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F845ABF-8272-9457-9FEB-F34649357D22}"/>
              </a:ext>
            </a:extLst>
          </p:cNvPr>
          <p:cNvSpPr/>
          <p:nvPr/>
        </p:nvSpPr>
        <p:spPr>
          <a:xfrm>
            <a:off x="1759594" y="7109871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DAFD8AD-AEAD-D7FA-FEDC-795C9E903A42}"/>
              </a:ext>
            </a:extLst>
          </p:cNvPr>
          <p:cNvSpPr/>
          <p:nvPr/>
        </p:nvSpPr>
        <p:spPr>
          <a:xfrm>
            <a:off x="5582783" y="6722109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A5CBCA4-210E-3711-3C7A-6BCF73F2DFBB}"/>
              </a:ext>
            </a:extLst>
          </p:cNvPr>
          <p:cNvSpPr/>
          <p:nvPr/>
        </p:nvSpPr>
        <p:spPr>
          <a:xfrm>
            <a:off x="5748285" y="7278965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082DE00-83DB-322F-984F-355BD7E980F0}"/>
              </a:ext>
            </a:extLst>
          </p:cNvPr>
          <p:cNvSpPr/>
          <p:nvPr/>
        </p:nvSpPr>
        <p:spPr>
          <a:xfrm>
            <a:off x="5758980" y="7809369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809E804-1C94-B886-E8A9-DCE9741C3A97}"/>
              </a:ext>
            </a:extLst>
          </p:cNvPr>
          <p:cNvSpPr/>
          <p:nvPr/>
        </p:nvSpPr>
        <p:spPr>
          <a:xfrm>
            <a:off x="5627449" y="8340936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6F7CA0-B5AD-E5D4-D993-782429060C91}"/>
              </a:ext>
            </a:extLst>
          </p:cNvPr>
          <p:cNvSpPr/>
          <p:nvPr/>
        </p:nvSpPr>
        <p:spPr>
          <a:xfrm>
            <a:off x="5659872" y="9175667"/>
            <a:ext cx="529258" cy="2785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7CD776A-0FEA-D12A-85F8-A4F9075834E0}"/>
              </a:ext>
            </a:extLst>
          </p:cNvPr>
          <p:cNvSpPr/>
          <p:nvPr/>
        </p:nvSpPr>
        <p:spPr>
          <a:xfrm>
            <a:off x="1811970" y="8204423"/>
            <a:ext cx="476882" cy="2862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5E6A6E7-F9A0-D6C7-B2FF-1C63F985FA39}"/>
              </a:ext>
            </a:extLst>
          </p:cNvPr>
          <p:cNvSpPr/>
          <p:nvPr/>
        </p:nvSpPr>
        <p:spPr>
          <a:xfrm>
            <a:off x="2102280" y="8540828"/>
            <a:ext cx="476882" cy="2862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375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568121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33</a:t>
            </a:fld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E5D24CE-F2EF-183E-A5E2-21D77A77D08A}"/>
              </a:ext>
            </a:extLst>
          </p:cNvPr>
          <p:cNvSpPr/>
          <p:nvPr/>
        </p:nvSpPr>
        <p:spPr>
          <a:xfrm>
            <a:off x="497830" y="1778684"/>
            <a:ext cx="5862340" cy="47864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D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5C3665-D539-82A0-BAD9-511AB7EA6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001569"/>
            <a:ext cx="5314950" cy="30289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4F4ACE8-C43F-7777-E930-CF70DC259013}"/>
              </a:ext>
            </a:extLst>
          </p:cNvPr>
          <p:cNvSpPr/>
          <p:nvPr/>
        </p:nvSpPr>
        <p:spPr>
          <a:xfrm>
            <a:off x="2238232" y="1990085"/>
            <a:ext cx="941696" cy="3028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A8003F-FBCA-D28E-EE40-AA000C201A98}"/>
              </a:ext>
            </a:extLst>
          </p:cNvPr>
          <p:cNvSpPr/>
          <p:nvPr/>
        </p:nvSpPr>
        <p:spPr>
          <a:xfrm>
            <a:off x="5331374" y="1990085"/>
            <a:ext cx="941696" cy="3028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AE1DB1-BE24-AB04-C62C-566131E8C7AF}"/>
              </a:ext>
            </a:extLst>
          </p:cNvPr>
          <p:cNvSpPr/>
          <p:nvPr/>
        </p:nvSpPr>
        <p:spPr>
          <a:xfrm>
            <a:off x="2238232" y="2039487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1F3EDA-96CC-E340-D466-7A11B518492B}"/>
              </a:ext>
            </a:extLst>
          </p:cNvPr>
          <p:cNvSpPr/>
          <p:nvPr/>
        </p:nvSpPr>
        <p:spPr>
          <a:xfrm>
            <a:off x="2238232" y="2346767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205716-BA78-5D18-8433-AD439EBF8493}"/>
              </a:ext>
            </a:extLst>
          </p:cNvPr>
          <p:cNvSpPr/>
          <p:nvPr/>
        </p:nvSpPr>
        <p:spPr>
          <a:xfrm>
            <a:off x="2228707" y="2665638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A66BF9-D325-5669-A86C-23BAE50B3726}"/>
              </a:ext>
            </a:extLst>
          </p:cNvPr>
          <p:cNvSpPr/>
          <p:nvPr/>
        </p:nvSpPr>
        <p:spPr>
          <a:xfrm>
            <a:off x="2238232" y="2954592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EA5172-3B53-8E9F-F473-F26D7114E8EB}"/>
              </a:ext>
            </a:extLst>
          </p:cNvPr>
          <p:cNvSpPr/>
          <p:nvPr/>
        </p:nvSpPr>
        <p:spPr>
          <a:xfrm>
            <a:off x="2238232" y="3261872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6CAD50-31A9-5E49-2F52-C5CC00112E5D}"/>
              </a:ext>
            </a:extLst>
          </p:cNvPr>
          <p:cNvSpPr/>
          <p:nvPr/>
        </p:nvSpPr>
        <p:spPr>
          <a:xfrm>
            <a:off x="2238232" y="3561693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E6CAF3-10CD-0399-36AD-60344D48817B}"/>
              </a:ext>
            </a:extLst>
          </p:cNvPr>
          <p:cNvSpPr/>
          <p:nvPr/>
        </p:nvSpPr>
        <p:spPr>
          <a:xfrm>
            <a:off x="2238232" y="3844514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073E67-2129-E13A-5CB5-D0E7488B6955}"/>
              </a:ext>
            </a:extLst>
          </p:cNvPr>
          <p:cNvSpPr/>
          <p:nvPr/>
        </p:nvSpPr>
        <p:spPr>
          <a:xfrm>
            <a:off x="2238232" y="4142269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0E3379-FAEA-3B23-5D79-A32CED8C9377}"/>
              </a:ext>
            </a:extLst>
          </p:cNvPr>
          <p:cNvSpPr/>
          <p:nvPr/>
        </p:nvSpPr>
        <p:spPr>
          <a:xfrm>
            <a:off x="2238232" y="4451615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C5D871-0479-995D-9D33-F09521B68C64}"/>
              </a:ext>
            </a:extLst>
          </p:cNvPr>
          <p:cNvSpPr/>
          <p:nvPr/>
        </p:nvSpPr>
        <p:spPr>
          <a:xfrm>
            <a:off x="2238232" y="4745168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2FFCA6-9071-8292-17BA-0B7551D547D0}"/>
              </a:ext>
            </a:extLst>
          </p:cNvPr>
          <p:cNvSpPr/>
          <p:nvPr/>
        </p:nvSpPr>
        <p:spPr>
          <a:xfrm>
            <a:off x="5314807" y="2049012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F2D44E-C8EE-5A72-50C6-9AF4F73F7095}"/>
              </a:ext>
            </a:extLst>
          </p:cNvPr>
          <p:cNvSpPr/>
          <p:nvPr/>
        </p:nvSpPr>
        <p:spPr>
          <a:xfrm>
            <a:off x="5314807" y="2356292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74535C-633C-DBAE-A895-8935DB86D0D9}"/>
              </a:ext>
            </a:extLst>
          </p:cNvPr>
          <p:cNvSpPr/>
          <p:nvPr/>
        </p:nvSpPr>
        <p:spPr>
          <a:xfrm>
            <a:off x="5305282" y="2675163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58EB70-F3E4-2685-5B45-9B3F046F7FC2}"/>
              </a:ext>
            </a:extLst>
          </p:cNvPr>
          <p:cNvSpPr/>
          <p:nvPr/>
        </p:nvSpPr>
        <p:spPr>
          <a:xfrm>
            <a:off x="5314807" y="2964117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3603D0-737A-CF2A-7BEC-4C9388B2589C}"/>
              </a:ext>
            </a:extLst>
          </p:cNvPr>
          <p:cNvSpPr/>
          <p:nvPr/>
        </p:nvSpPr>
        <p:spPr>
          <a:xfrm>
            <a:off x="5314807" y="3271397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27A541-110B-1CF0-E74B-15CC4A06E70F}"/>
              </a:ext>
            </a:extLst>
          </p:cNvPr>
          <p:cNvSpPr/>
          <p:nvPr/>
        </p:nvSpPr>
        <p:spPr>
          <a:xfrm>
            <a:off x="5314807" y="3571218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9459D9-D490-597D-7D2D-4CC52DC61460}"/>
              </a:ext>
            </a:extLst>
          </p:cNvPr>
          <p:cNvSpPr/>
          <p:nvPr/>
        </p:nvSpPr>
        <p:spPr>
          <a:xfrm>
            <a:off x="5314807" y="3854039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721C9B-0FD3-DB44-B574-5BFAE805393F}"/>
              </a:ext>
            </a:extLst>
          </p:cNvPr>
          <p:cNvSpPr/>
          <p:nvPr/>
        </p:nvSpPr>
        <p:spPr>
          <a:xfrm>
            <a:off x="5314807" y="4151794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B99D0B-D8DA-A8C9-7AE7-7E24C5D31DEB}"/>
              </a:ext>
            </a:extLst>
          </p:cNvPr>
          <p:cNvSpPr/>
          <p:nvPr/>
        </p:nvSpPr>
        <p:spPr>
          <a:xfrm>
            <a:off x="5314807" y="4461140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2F0CEB-9C04-63DC-13AA-FF0D2DEAB65C}"/>
              </a:ext>
            </a:extLst>
          </p:cNvPr>
          <p:cNvSpPr/>
          <p:nvPr/>
        </p:nvSpPr>
        <p:spPr>
          <a:xfrm>
            <a:off x="5314807" y="4754693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84EFB97-05DC-E823-AD09-3BCE40EC6A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447" t="23266" r="33492"/>
          <a:stretch/>
        </p:blipFill>
        <p:spPr>
          <a:xfrm>
            <a:off x="4620907" y="5472324"/>
            <a:ext cx="1485900" cy="108172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1E691D77-7411-BFF8-4984-6660B5A3C18D}"/>
              </a:ext>
            </a:extLst>
          </p:cNvPr>
          <p:cNvSpPr txBox="1"/>
          <p:nvPr/>
        </p:nvSpPr>
        <p:spPr>
          <a:xfrm>
            <a:off x="4739475" y="5849771"/>
            <a:ext cx="27443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/>
              <a:t>+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1BF2445-8742-5BC1-B159-7C886C133CFE}"/>
              </a:ext>
            </a:extLst>
          </p:cNvPr>
          <p:cNvGrpSpPr/>
          <p:nvPr/>
        </p:nvGrpSpPr>
        <p:grpSpPr>
          <a:xfrm>
            <a:off x="2711742" y="5476065"/>
            <a:ext cx="1434516" cy="1059802"/>
            <a:chOff x="613359" y="5609688"/>
            <a:chExt cx="1434516" cy="10598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EF1046-73C1-02B5-1481-2132913DA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821" r="67117"/>
            <a:stretch/>
          </p:blipFill>
          <p:spPr>
            <a:xfrm>
              <a:off x="613359" y="5609688"/>
              <a:ext cx="1434516" cy="1059802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9F99103-D346-9381-CB2B-F942C56FF534}"/>
                </a:ext>
              </a:extLst>
            </p:cNvPr>
            <p:cNvSpPr txBox="1"/>
            <p:nvPr/>
          </p:nvSpPr>
          <p:spPr>
            <a:xfrm>
              <a:off x="702077" y="5955323"/>
              <a:ext cx="27443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400"/>
                <a:t>+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1E5BEE0-FD59-52FE-9EBA-1B343BE5B3E5}"/>
                </a:ext>
              </a:extLst>
            </p:cNvPr>
            <p:cNvSpPr txBox="1"/>
            <p:nvPr/>
          </p:nvSpPr>
          <p:spPr>
            <a:xfrm>
              <a:off x="996761" y="6257188"/>
              <a:ext cx="1011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/>
                <a:t>9    1     7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C475E81-4346-B227-E813-6AC9B8FD777F}"/>
                </a:ext>
              </a:extLst>
            </p:cNvPr>
            <p:cNvSpPr/>
            <p:nvPr/>
          </p:nvSpPr>
          <p:spPr>
            <a:xfrm>
              <a:off x="1032459" y="5628739"/>
              <a:ext cx="27443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5905EAD-7918-14CA-8CC6-F77A7D701B84}"/>
                </a:ext>
              </a:extLst>
            </p:cNvPr>
            <p:cNvSpPr/>
            <p:nvPr/>
          </p:nvSpPr>
          <p:spPr>
            <a:xfrm>
              <a:off x="1365451" y="5627860"/>
              <a:ext cx="27443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4C332D8-652A-DC89-173B-9C94E910D1A6}"/>
                </a:ext>
              </a:extLst>
            </p:cNvPr>
            <p:cNvSpPr/>
            <p:nvPr/>
          </p:nvSpPr>
          <p:spPr>
            <a:xfrm>
              <a:off x="1698723" y="5627860"/>
              <a:ext cx="27443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7BF5D35-249A-D330-F44B-549C812792BB}"/>
              </a:ext>
            </a:extLst>
          </p:cNvPr>
          <p:cNvGrpSpPr/>
          <p:nvPr/>
        </p:nvGrpSpPr>
        <p:grpSpPr>
          <a:xfrm>
            <a:off x="751193" y="5442313"/>
            <a:ext cx="1736778" cy="1081722"/>
            <a:chOff x="2603849" y="5609688"/>
            <a:chExt cx="1736778" cy="1081722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FD14401-8D40-0942-4BB5-8F2EEAFD19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6508" t="23266"/>
            <a:stretch/>
          </p:blipFill>
          <p:spPr>
            <a:xfrm>
              <a:off x="2603849" y="5609688"/>
              <a:ext cx="1461084" cy="1081722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092DA14-B77E-650E-4D60-029A3123D7EC}"/>
                </a:ext>
              </a:extLst>
            </p:cNvPr>
            <p:cNvSpPr txBox="1"/>
            <p:nvPr/>
          </p:nvSpPr>
          <p:spPr>
            <a:xfrm>
              <a:off x="2690030" y="5987135"/>
              <a:ext cx="27443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400"/>
                <a:t>+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C938015-3603-D31E-18CA-E1A810E9950B}"/>
                </a:ext>
              </a:extLst>
            </p:cNvPr>
            <p:cNvSpPr/>
            <p:nvPr/>
          </p:nvSpPr>
          <p:spPr>
            <a:xfrm>
              <a:off x="3359216" y="6007621"/>
              <a:ext cx="274434" cy="2682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9EB0226-FF98-7824-0C06-FA306DC67788}"/>
                </a:ext>
              </a:extLst>
            </p:cNvPr>
            <p:cNvSpPr/>
            <p:nvPr/>
          </p:nvSpPr>
          <p:spPr>
            <a:xfrm>
              <a:off x="4066193" y="5974130"/>
              <a:ext cx="27443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145071A-A246-CAFC-EE75-7ED2AEAC44D9}"/>
                </a:ext>
              </a:extLst>
            </p:cNvPr>
            <p:cNvSpPr/>
            <p:nvPr/>
          </p:nvSpPr>
          <p:spPr>
            <a:xfrm>
              <a:off x="3042711" y="5657998"/>
              <a:ext cx="278220" cy="256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9A6EA0C-1C2D-E372-2457-C8BD0712B13D}"/>
                </a:ext>
              </a:extLst>
            </p:cNvPr>
            <p:cNvSpPr txBox="1"/>
            <p:nvPr/>
          </p:nvSpPr>
          <p:spPr>
            <a:xfrm>
              <a:off x="2990526" y="6284509"/>
              <a:ext cx="1011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/>
                <a:t>9    5     8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9A998F2-71EA-79AC-F363-6837B42F1F76}"/>
              </a:ext>
            </a:extLst>
          </p:cNvPr>
          <p:cNvSpPr txBox="1"/>
          <p:nvPr/>
        </p:nvSpPr>
        <p:spPr>
          <a:xfrm>
            <a:off x="5035898" y="6153835"/>
            <a:ext cx="1011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4    2     9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F5833A1-7338-0724-906C-1B84294B68E2}"/>
              </a:ext>
            </a:extLst>
          </p:cNvPr>
          <p:cNvSpPr/>
          <p:nvPr/>
        </p:nvSpPr>
        <p:spPr>
          <a:xfrm>
            <a:off x="5448300" y="5858195"/>
            <a:ext cx="180975" cy="26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442E169-3731-9CFE-01B2-6269E8CE82EC}"/>
              </a:ext>
            </a:extLst>
          </p:cNvPr>
          <p:cNvSpPr/>
          <p:nvPr/>
        </p:nvSpPr>
        <p:spPr>
          <a:xfrm>
            <a:off x="5150399" y="5885223"/>
            <a:ext cx="180975" cy="26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F016591-5837-3BD0-C38A-3BAC6F61C7D3}"/>
              </a:ext>
            </a:extLst>
          </p:cNvPr>
          <p:cNvSpPr/>
          <p:nvPr/>
        </p:nvSpPr>
        <p:spPr>
          <a:xfrm>
            <a:off x="5792178" y="5534980"/>
            <a:ext cx="180975" cy="26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22A4636-E498-004C-5350-FC5638E01486}"/>
              </a:ext>
            </a:extLst>
          </p:cNvPr>
          <p:cNvSpPr/>
          <p:nvPr/>
        </p:nvSpPr>
        <p:spPr>
          <a:xfrm>
            <a:off x="1895495" y="5849771"/>
            <a:ext cx="180975" cy="26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ED0280-A482-C292-6B48-BC3FA60C8196}"/>
              </a:ext>
            </a:extLst>
          </p:cNvPr>
          <p:cNvSpPr txBox="1"/>
          <p:nvPr/>
        </p:nvSpPr>
        <p:spPr>
          <a:xfrm>
            <a:off x="497830" y="5107030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Fill in the missing digits: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38DE00-0774-D8C7-B368-473BDC111C1D}"/>
              </a:ext>
            </a:extLst>
          </p:cNvPr>
          <p:cNvSpPr txBox="1"/>
          <p:nvPr/>
        </p:nvSpPr>
        <p:spPr>
          <a:xfrm>
            <a:off x="485798" y="5626938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a)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75C05A-9F39-51C8-B6DC-67143F158B92}"/>
              </a:ext>
            </a:extLst>
          </p:cNvPr>
          <p:cNvSpPr txBox="1"/>
          <p:nvPr/>
        </p:nvSpPr>
        <p:spPr>
          <a:xfrm>
            <a:off x="2493389" y="5645779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b)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BFB002-D609-B0C3-2AA3-D74133E2E1DE}"/>
              </a:ext>
            </a:extLst>
          </p:cNvPr>
          <p:cNvSpPr txBox="1"/>
          <p:nvPr/>
        </p:nvSpPr>
        <p:spPr>
          <a:xfrm>
            <a:off x="4438923" y="5663158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c)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6904C3-DD84-5F8A-0220-7EDAFBCB02E5}"/>
              </a:ext>
            </a:extLst>
          </p:cNvPr>
          <p:cNvSpPr txBox="1"/>
          <p:nvPr/>
        </p:nvSpPr>
        <p:spPr>
          <a:xfrm>
            <a:off x="632973" y="1984099"/>
            <a:ext cx="295274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a)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54CAE4-A7DA-13CA-5AFE-D248D53E1BB2}"/>
              </a:ext>
            </a:extLst>
          </p:cNvPr>
          <p:cNvSpPr txBox="1"/>
          <p:nvPr/>
        </p:nvSpPr>
        <p:spPr>
          <a:xfrm>
            <a:off x="632973" y="2291210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b)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A34DEF-636B-64FA-23E8-E37583309EF9}"/>
              </a:ext>
            </a:extLst>
          </p:cNvPr>
          <p:cNvSpPr txBox="1"/>
          <p:nvPr/>
        </p:nvSpPr>
        <p:spPr>
          <a:xfrm>
            <a:off x="622166" y="2559056"/>
            <a:ext cx="287258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c)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5054EAA-8176-E606-C154-DCD97FCA9460}"/>
              </a:ext>
            </a:extLst>
          </p:cNvPr>
          <p:cNvSpPr txBox="1"/>
          <p:nvPr/>
        </p:nvSpPr>
        <p:spPr>
          <a:xfrm>
            <a:off x="609875" y="2880418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d)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44BC54-CFAF-7E94-48E4-EC4F1B2BCCC8}"/>
              </a:ext>
            </a:extLst>
          </p:cNvPr>
          <p:cNvSpPr txBox="1"/>
          <p:nvPr/>
        </p:nvSpPr>
        <p:spPr>
          <a:xfrm>
            <a:off x="601084" y="3175168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e)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F0F7638-F1E7-7086-80D9-6A6C21B646CF}"/>
              </a:ext>
            </a:extLst>
          </p:cNvPr>
          <p:cNvSpPr txBox="1"/>
          <p:nvPr/>
        </p:nvSpPr>
        <p:spPr>
          <a:xfrm>
            <a:off x="601084" y="3482705"/>
            <a:ext cx="271228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f)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2DD0E8-6D2F-7011-576B-8BCAB048913F}"/>
              </a:ext>
            </a:extLst>
          </p:cNvPr>
          <p:cNvSpPr txBox="1"/>
          <p:nvPr/>
        </p:nvSpPr>
        <p:spPr>
          <a:xfrm>
            <a:off x="596718" y="3777455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g)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9DB6039-B950-BACA-6ABD-C17B6F953E7C}"/>
              </a:ext>
            </a:extLst>
          </p:cNvPr>
          <p:cNvSpPr txBox="1"/>
          <p:nvPr/>
        </p:nvSpPr>
        <p:spPr>
          <a:xfrm>
            <a:off x="596718" y="4063281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h)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22A72D-0157-6C23-13A0-46126BAB6E61}"/>
              </a:ext>
            </a:extLst>
          </p:cNvPr>
          <p:cNvSpPr txBox="1"/>
          <p:nvPr/>
        </p:nvSpPr>
        <p:spPr>
          <a:xfrm>
            <a:off x="603391" y="4358447"/>
            <a:ext cx="260008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 err="1"/>
              <a:t>i</a:t>
            </a:r>
            <a:r>
              <a:rPr lang="en-GB" sz="1100"/>
              <a:t>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077F7B-4715-635E-EB43-1F0F7B22B7F3}"/>
              </a:ext>
            </a:extLst>
          </p:cNvPr>
          <p:cNvSpPr txBox="1"/>
          <p:nvPr/>
        </p:nvSpPr>
        <p:spPr>
          <a:xfrm>
            <a:off x="604218" y="4681308"/>
            <a:ext cx="261610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j)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163081-543E-8B15-9121-0B3B1FE9118C}"/>
              </a:ext>
            </a:extLst>
          </p:cNvPr>
          <p:cNvSpPr txBox="1"/>
          <p:nvPr/>
        </p:nvSpPr>
        <p:spPr>
          <a:xfrm>
            <a:off x="3636218" y="1970927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h)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2DB0EA-2A70-00D2-981C-3CD648D531AB}"/>
              </a:ext>
            </a:extLst>
          </p:cNvPr>
          <p:cNvSpPr txBox="1"/>
          <p:nvPr/>
        </p:nvSpPr>
        <p:spPr>
          <a:xfrm>
            <a:off x="3636218" y="2278038"/>
            <a:ext cx="260008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 err="1"/>
              <a:t>i</a:t>
            </a:r>
            <a:r>
              <a:rPr lang="en-GB" sz="1100"/>
              <a:t>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BF1AEB-D5FA-E700-294B-4ADA84CE4282}"/>
              </a:ext>
            </a:extLst>
          </p:cNvPr>
          <p:cNvSpPr txBox="1"/>
          <p:nvPr/>
        </p:nvSpPr>
        <p:spPr>
          <a:xfrm>
            <a:off x="3625411" y="2545884"/>
            <a:ext cx="287258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j)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F1177A9-6287-BAB3-EAF3-7B9FA007E0D6}"/>
              </a:ext>
            </a:extLst>
          </p:cNvPr>
          <p:cNvSpPr txBox="1"/>
          <p:nvPr/>
        </p:nvSpPr>
        <p:spPr>
          <a:xfrm>
            <a:off x="3613120" y="2867246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k)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09430B-E880-8FEB-B9B9-AA7AD2C66308}"/>
              </a:ext>
            </a:extLst>
          </p:cNvPr>
          <p:cNvSpPr txBox="1"/>
          <p:nvPr/>
        </p:nvSpPr>
        <p:spPr>
          <a:xfrm>
            <a:off x="3604329" y="3161996"/>
            <a:ext cx="260008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l)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B6C72B7-86EA-ECE6-EBC4-B792F70EB05E}"/>
              </a:ext>
            </a:extLst>
          </p:cNvPr>
          <p:cNvSpPr txBox="1"/>
          <p:nvPr/>
        </p:nvSpPr>
        <p:spPr>
          <a:xfrm>
            <a:off x="3604329" y="3469533"/>
            <a:ext cx="340158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m)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413A32-AF94-E5BA-9216-523C3D85881A}"/>
              </a:ext>
            </a:extLst>
          </p:cNvPr>
          <p:cNvSpPr txBox="1"/>
          <p:nvPr/>
        </p:nvSpPr>
        <p:spPr>
          <a:xfrm>
            <a:off x="3599963" y="3764283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n)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D05C57-0B37-1FFC-4C33-707ED15AD9B1}"/>
              </a:ext>
            </a:extLst>
          </p:cNvPr>
          <p:cNvSpPr txBox="1"/>
          <p:nvPr/>
        </p:nvSpPr>
        <p:spPr>
          <a:xfrm>
            <a:off x="3599963" y="4050109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o)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FDD86D9-588B-ED62-53E2-7257011155E9}"/>
              </a:ext>
            </a:extLst>
          </p:cNvPr>
          <p:cNvSpPr txBox="1"/>
          <p:nvPr/>
        </p:nvSpPr>
        <p:spPr>
          <a:xfrm>
            <a:off x="3606636" y="4345275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p)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F16503-3ACF-4156-8993-29E2BD6BD71C}"/>
              </a:ext>
            </a:extLst>
          </p:cNvPr>
          <p:cNvSpPr txBox="1"/>
          <p:nvPr/>
        </p:nvSpPr>
        <p:spPr>
          <a:xfrm>
            <a:off x="3607463" y="4668136"/>
            <a:ext cx="301686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q)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0F0CE30-91E0-5861-4AC5-7AE37BFFECFB}"/>
              </a:ext>
            </a:extLst>
          </p:cNvPr>
          <p:cNvSpPr/>
          <p:nvPr/>
        </p:nvSpPr>
        <p:spPr>
          <a:xfrm>
            <a:off x="498170" y="6594765"/>
            <a:ext cx="5862340" cy="3145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E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28.49 + 3.2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408.9 + 3.8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8.993 + 7.6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33.6 + 2.306 = 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96.63 + 1.27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/>
            </a:pPr>
            <a:endParaRPr lang="en-GB" sz="6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140.639 + 91.41 = 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366.56 + 238.66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364.1 + 46.85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41.11 + 2.857 = 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723.488 + 53.673 = 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0AA4653-D71F-3EC8-7379-F0B7BB55F146}"/>
              </a:ext>
            </a:extLst>
          </p:cNvPr>
          <p:cNvSpPr/>
          <p:nvPr/>
        </p:nvSpPr>
        <p:spPr>
          <a:xfrm>
            <a:off x="1808326" y="6960367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BC518DF-1FCD-3C7A-82F8-8BBC186FEF0F}"/>
              </a:ext>
            </a:extLst>
          </p:cNvPr>
          <p:cNvSpPr/>
          <p:nvPr/>
        </p:nvSpPr>
        <p:spPr>
          <a:xfrm>
            <a:off x="1808326" y="7338565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3374C28-4412-A851-8596-971AF5FA68A7}"/>
              </a:ext>
            </a:extLst>
          </p:cNvPr>
          <p:cNvSpPr/>
          <p:nvPr/>
        </p:nvSpPr>
        <p:spPr>
          <a:xfrm>
            <a:off x="1808326" y="7684448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8AB305D-C9BA-D3EC-F0C3-299949AA9EF0}"/>
              </a:ext>
            </a:extLst>
          </p:cNvPr>
          <p:cNvSpPr/>
          <p:nvPr/>
        </p:nvSpPr>
        <p:spPr>
          <a:xfrm>
            <a:off x="1808326" y="8053954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DEE3CB4-797D-7D51-CBBC-1D9E4BBE907B}"/>
              </a:ext>
            </a:extLst>
          </p:cNvPr>
          <p:cNvSpPr/>
          <p:nvPr/>
        </p:nvSpPr>
        <p:spPr>
          <a:xfrm>
            <a:off x="1808326" y="8407667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1F44556-EF11-B460-9C5D-0183AFD1721B}"/>
              </a:ext>
            </a:extLst>
          </p:cNvPr>
          <p:cNvSpPr/>
          <p:nvPr/>
        </p:nvSpPr>
        <p:spPr>
          <a:xfrm>
            <a:off x="4907961" y="6765139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82CF510-513D-3947-18F6-C5B7288724D6}"/>
              </a:ext>
            </a:extLst>
          </p:cNvPr>
          <p:cNvSpPr/>
          <p:nvPr/>
        </p:nvSpPr>
        <p:spPr>
          <a:xfrm>
            <a:off x="4907961" y="7143337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77D0DD9-2190-4E1B-0A07-E5B7B88E6006}"/>
              </a:ext>
            </a:extLst>
          </p:cNvPr>
          <p:cNvSpPr/>
          <p:nvPr/>
        </p:nvSpPr>
        <p:spPr>
          <a:xfrm>
            <a:off x="4907961" y="7489220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491DBA0-568C-D2C3-7B8B-107FC4681945}"/>
              </a:ext>
            </a:extLst>
          </p:cNvPr>
          <p:cNvSpPr/>
          <p:nvPr/>
        </p:nvSpPr>
        <p:spPr>
          <a:xfrm>
            <a:off x="4907961" y="7858726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B386C4B-7A42-8A89-41B7-5A36ABC9DDF7}"/>
              </a:ext>
            </a:extLst>
          </p:cNvPr>
          <p:cNvSpPr/>
          <p:nvPr/>
        </p:nvSpPr>
        <p:spPr>
          <a:xfrm>
            <a:off x="4907961" y="8212439"/>
            <a:ext cx="79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9CB43A2-53A5-7574-C4D7-E09B41DFCB90}"/>
              </a:ext>
            </a:extLst>
          </p:cNvPr>
          <p:cNvSpPr txBox="1"/>
          <p:nvPr/>
        </p:nvSpPr>
        <p:spPr>
          <a:xfrm>
            <a:off x="466563" y="8657043"/>
            <a:ext cx="58774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Fill in the missing digits: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8E660092-92BE-5671-6D8B-314DDFAA54D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017"/>
          <a:stretch/>
        </p:blipFill>
        <p:spPr>
          <a:xfrm>
            <a:off x="533944" y="8907332"/>
            <a:ext cx="1868661" cy="83282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0A5D8270-9212-DD75-3FFE-A9D481EA50C2}"/>
              </a:ext>
            </a:extLst>
          </p:cNvPr>
          <p:cNvSpPr txBox="1"/>
          <p:nvPr/>
        </p:nvSpPr>
        <p:spPr>
          <a:xfrm>
            <a:off x="1501685" y="9013546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.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FCEB595-9855-D3E2-B6D7-5D3117C2C58A}"/>
              </a:ext>
            </a:extLst>
          </p:cNvPr>
          <p:cNvSpPr txBox="1"/>
          <p:nvPr/>
        </p:nvSpPr>
        <p:spPr>
          <a:xfrm>
            <a:off x="1500932" y="8730449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4691588-D8A4-8D4A-DA42-C131F17FFB16}"/>
              </a:ext>
            </a:extLst>
          </p:cNvPr>
          <p:cNvSpPr txBox="1"/>
          <p:nvPr/>
        </p:nvSpPr>
        <p:spPr>
          <a:xfrm>
            <a:off x="1500932" y="9278494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.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4A06B31-A636-53CC-8365-70162BB13F96}"/>
              </a:ext>
            </a:extLst>
          </p:cNvPr>
          <p:cNvSpPr/>
          <p:nvPr/>
        </p:nvSpPr>
        <p:spPr>
          <a:xfrm>
            <a:off x="959223" y="9475211"/>
            <a:ext cx="261610" cy="193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A6BB72D-D912-85A0-FF7C-36DA7ECC4D05}"/>
              </a:ext>
            </a:extLst>
          </p:cNvPr>
          <p:cNvSpPr/>
          <p:nvPr/>
        </p:nvSpPr>
        <p:spPr>
          <a:xfrm>
            <a:off x="1308492" y="9201440"/>
            <a:ext cx="261610" cy="193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9CDA590-507E-F4BC-DAFF-D1FDD5F89E99}"/>
              </a:ext>
            </a:extLst>
          </p:cNvPr>
          <p:cNvSpPr/>
          <p:nvPr/>
        </p:nvSpPr>
        <p:spPr>
          <a:xfrm>
            <a:off x="950286" y="9207012"/>
            <a:ext cx="261610" cy="193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C0F8067-1B35-2D6A-676F-B716FD3EC8E1}"/>
              </a:ext>
            </a:extLst>
          </p:cNvPr>
          <p:cNvSpPr/>
          <p:nvPr/>
        </p:nvSpPr>
        <p:spPr>
          <a:xfrm>
            <a:off x="1323741" y="8964474"/>
            <a:ext cx="261610" cy="193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E3FF01E-49AB-DED0-D43C-BCEA78687659}"/>
              </a:ext>
            </a:extLst>
          </p:cNvPr>
          <p:cNvSpPr/>
          <p:nvPr/>
        </p:nvSpPr>
        <p:spPr>
          <a:xfrm>
            <a:off x="1694125" y="8971900"/>
            <a:ext cx="261610" cy="193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89F5B37-45EC-FCBC-1AAC-E04D0C7CE5B2}"/>
              </a:ext>
            </a:extLst>
          </p:cNvPr>
          <p:cNvSpPr/>
          <p:nvPr/>
        </p:nvSpPr>
        <p:spPr>
          <a:xfrm>
            <a:off x="2033081" y="9226857"/>
            <a:ext cx="261610" cy="193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E6DE260-B86D-8412-B22C-EECD89C1382B}"/>
              </a:ext>
            </a:extLst>
          </p:cNvPr>
          <p:cNvSpPr/>
          <p:nvPr/>
        </p:nvSpPr>
        <p:spPr>
          <a:xfrm>
            <a:off x="1694125" y="9473460"/>
            <a:ext cx="261610" cy="193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B79DE9E-2359-9B29-BC2B-F76CEB75A854}"/>
              </a:ext>
            </a:extLst>
          </p:cNvPr>
          <p:cNvSpPr txBox="1"/>
          <p:nvPr/>
        </p:nvSpPr>
        <p:spPr>
          <a:xfrm>
            <a:off x="1682391" y="891581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973659-D396-48A6-45A3-1A7578708C96}"/>
              </a:ext>
            </a:extLst>
          </p:cNvPr>
          <p:cNvSpPr txBox="1"/>
          <p:nvPr/>
        </p:nvSpPr>
        <p:spPr>
          <a:xfrm>
            <a:off x="1333871" y="890726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8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29FD482-5FE6-68E5-2EF1-0117878F00F8}"/>
              </a:ext>
            </a:extLst>
          </p:cNvPr>
          <p:cNvSpPr txBox="1"/>
          <p:nvPr/>
        </p:nvSpPr>
        <p:spPr>
          <a:xfrm>
            <a:off x="951589" y="943189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DE5B3CC-02BD-3EBA-8C8F-8B457BA89DBB}"/>
              </a:ext>
            </a:extLst>
          </p:cNvPr>
          <p:cNvSpPr txBox="1"/>
          <p:nvPr/>
        </p:nvSpPr>
        <p:spPr>
          <a:xfrm>
            <a:off x="2462037" y="8669198"/>
            <a:ext cx="58774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Decide whether each of these are ways to set out 4.38  + 7.9  </a:t>
            </a:r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23D3D16A-7833-000A-33E9-86609D653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7852" y="8930386"/>
            <a:ext cx="3004509" cy="78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00639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34</a:t>
            </a:fld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E5D24CE-F2EF-183E-A5E2-21D77A77D08A}"/>
              </a:ext>
            </a:extLst>
          </p:cNvPr>
          <p:cNvSpPr/>
          <p:nvPr/>
        </p:nvSpPr>
        <p:spPr>
          <a:xfrm>
            <a:off x="509862" y="1802748"/>
            <a:ext cx="5862340" cy="5259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F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F4ACE8-C43F-7777-E930-CF70DC259013}"/>
              </a:ext>
            </a:extLst>
          </p:cNvPr>
          <p:cNvSpPr/>
          <p:nvPr/>
        </p:nvSpPr>
        <p:spPr>
          <a:xfrm>
            <a:off x="1673419" y="2073326"/>
            <a:ext cx="941696" cy="3028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A8003F-FBCA-D28E-EE40-AA000C201A98}"/>
              </a:ext>
            </a:extLst>
          </p:cNvPr>
          <p:cNvSpPr/>
          <p:nvPr/>
        </p:nvSpPr>
        <p:spPr>
          <a:xfrm>
            <a:off x="4752881" y="2014514"/>
            <a:ext cx="941696" cy="3028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AE1DB1-BE24-AB04-C62C-566131E8C7AF}"/>
              </a:ext>
            </a:extLst>
          </p:cNvPr>
          <p:cNvSpPr/>
          <p:nvPr/>
        </p:nvSpPr>
        <p:spPr>
          <a:xfrm>
            <a:off x="1673419" y="2087152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1F3EDA-96CC-E340-D466-7A11B518492B}"/>
              </a:ext>
            </a:extLst>
          </p:cNvPr>
          <p:cNvSpPr/>
          <p:nvPr/>
        </p:nvSpPr>
        <p:spPr>
          <a:xfrm>
            <a:off x="1673419" y="2394432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205716-BA78-5D18-8433-AD439EBF8493}"/>
              </a:ext>
            </a:extLst>
          </p:cNvPr>
          <p:cNvSpPr/>
          <p:nvPr/>
        </p:nvSpPr>
        <p:spPr>
          <a:xfrm>
            <a:off x="1663894" y="2713303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A66BF9-D325-5669-A86C-23BAE50B3726}"/>
              </a:ext>
            </a:extLst>
          </p:cNvPr>
          <p:cNvSpPr/>
          <p:nvPr/>
        </p:nvSpPr>
        <p:spPr>
          <a:xfrm>
            <a:off x="1673419" y="3002257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EA5172-3B53-8E9F-F473-F26D7114E8EB}"/>
              </a:ext>
            </a:extLst>
          </p:cNvPr>
          <p:cNvSpPr/>
          <p:nvPr/>
        </p:nvSpPr>
        <p:spPr>
          <a:xfrm>
            <a:off x="1673419" y="3309537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6CAD50-31A9-5E49-2F52-C5CC00112E5D}"/>
              </a:ext>
            </a:extLst>
          </p:cNvPr>
          <p:cNvSpPr/>
          <p:nvPr/>
        </p:nvSpPr>
        <p:spPr>
          <a:xfrm>
            <a:off x="1673419" y="3609358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E6CAF3-10CD-0399-36AD-60344D48817B}"/>
              </a:ext>
            </a:extLst>
          </p:cNvPr>
          <p:cNvSpPr/>
          <p:nvPr/>
        </p:nvSpPr>
        <p:spPr>
          <a:xfrm>
            <a:off x="1673419" y="3892179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073E67-2129-E13A-5CB5-D0E7488B6955}"/>
              </a:ext>
            </a:extLst>
          </p:cNvPr>
          <p:cNvSpPr/>
          <p:nvPr/>
        </p:nvSpPr>
        <p:spPr>
          <a:xfrm>
            <a:off x="1673419" y="4189934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0E3379-FAEA-3B23-5D79-A32CED8C9377}"/>
              </a:ext>
            </a:extLst>
          </p:cNvPr>
          <p:cNvSpPr/>
          <p:nvPr/>
        </p:nvSpPr>
        <p:spPr>
          <a:xfrm>
            <a:off x="1673419" y="4499280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C5D871-0479-995D-9D33-F09521B68C64}"/>
              </a:ext>
            </a:extLst>
          </p:cNvPr>
          <p:cNvSpPr/>
          <p:nvPr/>
        </p:nvSpPr>
        <p:spPr>
          <a:xfrm>
            <a:off x="1673419" y="4792833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2FFCA6-9071-8292-17BA-0B7551D547D0}"/>
              </a:ext>
            </a:extLst>
          </p:cNvPr>
          <p:cNvSpPr/>
          <p:nvPr/>
        </p:nvSpPr>
        <p:spPr>
          <a:xfrm>
            <a:off x="4736314" y="2073441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F2D44E-C8EE-5A72-50C6-9AF4F73F7095}"/>
              </a:ext>
            </a:extLst>
          </p:cNvPr>
          <p:cNvSpPr/>
          <p:nvPr/>
        </p:nvSpPr>
        <p:spPr>
          <a:xfrm>
            <a:off x="4736314" y="2380721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74535C-633C-DBAE-A895-8935DB86D0D9}"/>
              </a:ext>
            </a:extLst>
          </p:cNvPr>
          <p:cNvSpPr/>
          <p:nvPr/>
        </p:nvSpPr>
        <p:spPr>
          <a:xfrm>
            <a:off x="4726789" y="2699592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58EB70-F3E4-2685-5B45-9B3F046F7FC2}"/>
              </a:ext>
            </a:extLst>
          </p:cNvPr>
          <p:cNvSpPr/>
          <p:nvPr/>
        </p:nvSpPr>
        <p:spPr>
          <a:xfrm>
            <a:off x="4736314" y="2988546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3603D0-737A-CF2A-7BEC-4C9388B2589C}"/>
              </a:ext>
            </a:extLst>
          </p:cNvPr>
          <p:cNvSpPr/>
          <p:nvPr/>
        </p:nvSpPr>
        <p:spPr>
          <a:xfrm>
            <a:off x="4736314" y="3295826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27A541-110B-1CF0-E74B-15CC4A06E70F}"/>
              </a:ext>
            </a:extLst>
          </p:cNvPr>
          <p:cNvSpPr/>
          <p:nvPr/>
        </p:nvSpPr>
        <p:spPr>
          <a:xfrm>
            <a:off x="4736314" y="3595647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9459D9-D490-597D-7D2D-4CC52DC61460}"/>
              </a:ext>
            </a:extLst>
          </p:cNvPr>
          <p:cNvSpPr/>
          <p:nvPr/>
        </p:nvSpPr>
        <p:spPr>
          <a:xfrm>
            <a:off x="4736314" y="3878468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721C9B-0FD3-DB44-B574-5BFAE805393F}"/>
              </a:ext>
            </a:extLst>
          </p:cNvPr>
          <p:cNvSpPr/>
          <p:nvPr/>
        </p:nvSpPr>
        <p:spPr>
          <a:xfrm>
            <a:off x="4736314" y="4176223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B99D0B-D8DA-A8C9-7AE7-7E24C5D31DEB}"/>
              </a:ext>
            </a:extLst>
          </p:cNvPr>
          <p:cNvSpPr/>
          <p:nvPr/>
        </p:nvSpPr>
        <p:spPr>
          <a:xfrm>
            <a:off x="4736314" y="4485569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2F0CEB-9C04-63DC-13AA-FF0D2DEAB65C}"/>
              </a:ext>
            </a:extLst>
          </p:cNvPr>
          <p:cNvSpPr/>
          <p:nvPr/>
        </p:nvSpPr>
        <p:spPr>
          <a:xfrm>
            <a:off x="4736314" y="4779122"/>
            <a:ext cx="1512000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F5833A1-7338-0724-906C-1B84294B68E2}"/>
              </a:ext>
            </a:extLst>
          </p:cNvPr>
          <p:cNvSpPr/>
          <p:nvPr/>
        </p:nvSpPr>
        <p:spPr>
          <a:xfrm>
            <a:off x="5460332" y="5882259"/>
            <a:ext cx="180975" cy="26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442E169-3731-9CFE-01B2-6269E8CE82EC}"/>
              </a:ext>
            </a:extLst>
          </p:cNvPr>
          <p:cNvSpPr/>
          <p:nvPr/>
        </p:nvSpPr>
        <p:spPr>
          <a:xfrm>
            <a:off x="5162431" y="5909287"/>
            <a:ext cx="180975" cy="26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F016591-5837-3BD0-C38A-3BAC6F61C7D3}"/>
              </a:ext>
            </a:extLst>
          </p:cNvPr>
          <p:cNvSpPr/>
          <p:nvPr/>
        </p:nvSpPr>
        <p:spPr>
          <a:xfrm>
            <a:off x="5804210" y="5559044"/>
            <a:ext cx="180975" cy="26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22A4636-E498-004C-5350-FC5638E01486}"/>
              </a:ext>
            </a:extLst>
          </p:cNvPr>
          <p:cNvSpPr/>
          <p:nvPr/>
        </p:nvSpPr>
        <p:spPr>
          <a:xfrm>
            <a:off x="1907527" y="5873835"/>
            <a:ext cx="180975" cy="26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ED0280-A482-C292-6B48-BC3FA60C8196}"/>
              </a:ext>
            </a:extLst>
          </p:cNvPr>
          <p:cNvSpPr txBox="1"/>
          <p:nvPr/>
        </p:nvSpPr>
        <p:spPr>
          <a:xfrm>
            <a:off x="528641" y="5081318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Spot the mistakes: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38DE00-0774-D8C7-B368-473BDC111C1D}"/>
              </a:ext>
            </a:extLst>
          </p:cNvPr>
          <p:cNvSpPr txBox="1"/>
          <p:nvPr/>
        </p:nvSpPr>
        <p:spPr>
          <a:xfrm>
            <a:off x="588593" y="5360960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a)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75C05A-9F39-51C8-B6DC-67143F158B92}"/>
              </a:ext>
            </a:extLst>
          </p:cNvPr>
          <p:cNvSpPr txBox="1"/>
          <p:nvPr/>
        </p:nvSpPr>
        <p:spPr>
          <a:xfrm>
            <a:off x="2041301" y="5332538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b)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BFB002-D609-B0C3-2AA3-D74133E2E1DE}"/>
              </a:ext>
            </a:extLst>
          </p:cNvPr>
          <p:cNvSpPr txBox="1"/>
          <p:nvPr/>
        </p:nvSpPr>
        <p:spPr>
          <a:xfrm>
            <a:off x="3462535" y="5337730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c)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6904C3-DD84-5F8A-0220-7EDAFBCB02E5}"/>
              </a:ext>
            </a:extLst>
          </p:cNvPr>
          <p:cNvSpPr txBox="1"/>
          <p:nvPr/>
        </p:nvSpPr>
        <p:spPr>
          <a:xfrm>
            <a:off x="645005" y="2008163"/>
            <a:ext cx="1438996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a) 874 - 362 =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54CAE4-A7DA-13CA-5AFE-D248D53E1BB2}"/>
              </a:ext>
            </a:extLst>
          </p:cNvPr>
          <p:cNvSpPr txBox="1"/>
          <p:nvPr/>
        </p:nvSpPr>
        <p:spPr>
          <a:xfrm>
            <a:off x="645005" y="2315274"/>
            <a:ext cx="1262522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b) 384 - 183 =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A34DEF-636B-64FA-23E8-E37583309EF9}"/>
              </a:ext>
            </a:extLst>
          </p:cNvPr>
          <p:cNvSpPr txBox="1"/>
          <p:nvPr/>
        </p:nvSpPr>
        <p:spPr>
          <a:xfrm>
            <a:off x="634198" y="2631143"/>
            <a:ext cx="1150251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c) 876 - 162 =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5054EAA-8176-E606-C154-DCD97FCA9460}"/>
              </a:ext>
            </a:extLst>
          </p:cNvPr>
          <p:cNvSpPr txBox="1"/>
          <p:nvPr/>
        </p:nvSpPr>
        <p:spPr>
          <a:xfrm>
            <a:off x="621906" y="2904482"/>
            <a:ext cx="1527417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d) 583 - 75 =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44BC54-CFAF-7E94-48E4-EC4F1B2BCCC8}"/>
              </a:ext>
            </a:extLst>
          </p:cNvPr>
          <p:cNvSpPr txBox="1"/>
          <p:nvPr/>
        </p:nvSpPr>
        <p:spPr>
          <a:xfrm>
            <a:off x="613116" y="3199232"/>
            <a:ext cx="1077539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e) 2743 - 634 =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F0F7638-F1E7-7086-80D9-6A6C21B646CF}"/>
              </a:ext>
            </a:extLst>
          </p:cNvPr>
          <p:cNvSpPr txBox="1"/>
          <p:nvPr/>
        </p:nvSpPr>
        <p:spPr>
          <a:xfrm>
            <a:off x="613115" y="3506769"/>
            <a:ext cx="1294412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f) 4365 - 1256 =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2DD0E8-6D2F-7011-576B-8BCAB048913F}"/>
              </a:ext>
            </a:extLst>
          </p:cNvPr>
          <p:cNvSpPr txBox="1"/>
          <p:nvPr/>
        </p:nvSpPr>
        <p:spPr>
          <a:xfrm>
            <a:off x="608750" y="3801519"/>
            <a:ext cx="1384826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g) 5824 - 498 =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9DB6039-B950-BACA-6ABD-C17B6F953E7C}"/>
              </a:ext>
            </a:extLst>
          </p:cNvPr>
          <p:cNvSpPr txBox="1"/>
          <p:nvPr/>
        </p:nvSpPr>
        <p:spPr>
          <a:xfrm>
            <a:off x="608750" y="4087345"/>
            <a:ext cx="976549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h) 413 - 227 =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22A72D-0157-6C23-13A0-46126BAB6E61}"/>
              </a:ext>
            </a:extLst>
          </p:cNvPr>
          <p:cNvSpPr txBox="1"/>
          <p:nvPr/>
        </p:nvSpPr>
        <p:spPr>
          <a:xfrm>
            <a:off x="615423" y="4382511"/>
            <a:ext cx="894797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 err="1"/>
              <a:t>i</a:t>
            </a:r>
            <a:r>
              <a:rPr lang="en-GB" sz="1100"/>
              <a:t>) 341 - 97 =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077F7B-4715-635E-EB43-1F0F7B22B7F3}"/>
              </a:ext>
            </a:extLst>
          </p:cNvPr>
          <p:cNvSpPr txBox="1"/>
          <p:nvPr/>
        </p:nvSpPr>
        <p:spPr>
          <a:xfrm>
            <a:off x="616250" y="4705372"/>
            <a:ext cx="1040670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j) 3827 - 171 =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163081-543E-8B15-9121-0B3B1FE9118C}"/>
              </a:ext>
            </a:extLst>
          </p:cNvPr>
          <p:cNvSpPr txBox="1"/>
          <p:nvPr/>
        </p:nvSpPr>
        <p:spPr>
          <a:xfrm>
            <a:off x="3648250" y="1994991"/>
            <a:ext cx="1080745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h) 2913 - 117 =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2DB0EA-2A70-00D2-981C-3CD648D531AB}"/>
              </a:ext>
            </a:extLst>
          </p:cNvPr>
          <p:cNvSpPr txBox="1"/>
          <p:nvPr/>
        </p:nvSpPr>
        <p:spPr>
          <a:xfrm>
            <a:off x="3649777" y="2315011"/>
            <a:ext cx="930597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 err="1"/>
              <a:t>i</a:t>
            </a:r>
            <a:r>
              <a:rPr lang="en-GB" sz="1100"/>
              <a:t>) 975 - 349 =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BF1AEB-D5FA-E700-294B-4ADA84CE4282}"/>
              </a:ext>
            </a:extLst>
          </p:cNvPr>
          <p:cNvSpPr txBox="1"/>
          <p:nvPr/>
        </p:nvSpPr>
        <p:spPr>
          <a:xfrm>
            <a:off x="3637443" y="2629906"/>
            <a:ext cx="1556267" cy="57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j) 5189 - 192 =</a:t>
            </a:r>
          </a:p>
          <a:p>
            <a:pPr>
              <a:lnSpc>
                <a:spcPct val="150000"/>
              </a:lnSpc>
            </a:pPr>
            <a:endParaRPr lang="en-GB" sz="11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F1177A9-6287-BAB3-EAF3-7B9FA007E0D6}"/>
              </a:ext>
            </a:extLst>
          </p:cNvPr>
          <p:cNvSpPr txBox="1"/>
          <p:nvPr/>
        </p:nvSpPr>
        <p:spPr>
          <a:xfrm>
            <a:off x="3626180" y="2914938"/>
            <a:ext cx="966931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k) 543 - 199 =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09430B-E880-8FEB-B9B9-AA7AD2C66308}"/>
              </a:ext>
            </a:extLst>
          </p:cNvPr>
          <p:cNvSpPr txBox="1"/>
          <p:nvPr/>
        </p:nvSpPr>
        <p:spPr>
          <a:xfrm>
            <a:off x="3630152" y="3197952"/>
            <a:ext cx="1005324" cy="57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l) 7521 - 238 =</a:t>
            </a:r>
          </a:p>
          <a:p>
            <a:pPr>
              <a:lnSpc>
                <a:spcPct val="150000"/>
              </a:lnSpc>
            </a:pPr>
            <a:endParaRPr lang="en-GB" sz="11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B6C72B7-86EA-ECE6-EBC4-B792F70EB05E}"/>
              </a:ext>
            </a:extLst>
          </p:cNvPr>
          <p:cNvSpPr txBox="1"/>
          <p:nvPr/>
        </p:nvSpPr>
        <p:spPr>
          <a:xfrm>
            <a:off x="3604329" y="3517661"/>
            <a:ext cx="1218603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m) 4265 – 2098 =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413A32-AF94-E5BA-9216-523C3D85881A}"/>
              </a:ext>
            </a:extLst>
          </p:cNvPr>
          <p:cNvSpPr txBox="1"/>
          <p:nvPr/>
        </p:nvSpPr>
        <p:spPr>
          <a:xfrm>
            <a:off x="3611994" y="3800379"/>
            <a:ext cx="1372665" cy="57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n) 6234 - 152 =</a:t>
            </a:r>
          </a:p>
          <a:p>
            <a:pPr>
              <a:lnSpc>
                <a:spcPct val="150000"/>
              </a:lnSpc>
            </a:pPr>
            <a:endParaRPr lang="en-GB" sz="11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D05C57-0B37-1FFC-4C33-707ED15AD9B1}"/>
              </a:ext>
            </a:extLst>
          </p:cNvPr>
          <p:cNvSpPr txBox="1"/>
          <p:nvPr/>
        </p:nvSpPr>
        <p:spPr>
          <a:xfrm>
            <a:off x="3611994" y="4110269"/>
            <a:ext cx="1320367" cy="57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o) 1875 - 299 =</a:t>
            </a:r>
          </a:p>
          <a:p>
            <a:pPr>
              <a:lnSpc>
                <a:spcPct val="150000"/>
              </a:lnSpc>
            </a:pPr>
            <a:endParaRPr lang="en-GB" sz="11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FDD86D9-588B-ED62-53E2-7257011155E9}"/>
              </a:ext>
            </a:extLst>
          </p:cNvPr>
          <p:cNvSpPr txBox="1"/>
          <p:nvPr/>
        </p:nvSpPr>
        <p:spPr>
          <a:xfrm>
            <a:off x="3618668" y="4405435"/>
            <a:ext cx="1080745" cy="32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p) 4231 - 748 =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F16503-3ACF-4156-8993-29E2BD6BD71C}"/>
              </a:ext>
            </a:extLst>
          </p:cNvPr>
          <p:cNvSpPr txBox="1"/>
          <p:nvPr/>
        </p:nvSpPr>
        <p:spPr>
          <a:xfrm>
            <a:off x="3619495" y="4716264"/>
            <a:ext cx="1365164" cy="32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q) 6792 - 2568 =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3AFBEA-86FC-B2BF-11A5-E2351E7FF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80" y="5619157"/>
            <a:ext cx="5775240" cy="13717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DF57C4-59B0-6FDB-C8C0-D40E7D269D42}"/>
              </a:ext>
            </a:extLst>
          </p:cNvPr>
          <p:cNvSpPr txBox="1"/>
          <p:nvPr/>
        </p:nvSpPr>
        <p:spPr>
          <a:xfrm>
            <a:off x="4908960" y="5334478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d)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ABC9BC-3199-A01D-1607-05E8C34FBCF5}"/>
              </a:ext>
            </a:extLst>
          </p:cNvPr>
          <p:cNvSpPr/>
          <p:nvPr/>
        </p:nvSpPr>
        <p:spPr>
          <a:xfrm>
            <a:off x="509862" y="7124580"/>
            <a:ext cx="5862340" cy="22481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G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8.56 – 2.34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3.854 – 2.464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23.42 – 6.78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12.34 – 8.99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145.891 – 23.568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/>
            </a:pPr>
            <a:endParaRPr lang="en-GB" sz="6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15.6 – 4.38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5.42 – 0.217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0.74 – 0.019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6.8 – 1.92 =</a:t>
            </a:r>
          </a:p>
          <a:p>
            <a:pPr marL="228600" indent="-228600">
              <a:lnSpc>
                <a:spcPct val="200000"/>
              </a:lnSpc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186.03 - 0.824 =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81928D-10E3-423D-F483-ADE1A9C77FBE}"/>
              </a:ext>
            </a:extLst>
          </p:cNvPr>
          <p:cNvSpPr/>
          <p:nvPr/>
        </p:nvSpPr>
        <p:spPr>
          <a:xfrm>
            <a:off x="1907527" y="7456472"/>
            <a:ext cx="1388922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0CB4C8-0CA1-ECBC-5A61-CCC9A38EA58E}"/>
              </a:ext>
            </a:extLst>
          </p:cNvPr>
          <p:cNvSpPr/>
          <p:nvPr/>
        </p:nvSpPr>
        <p:spPr>
          <a:xfrm>
            <a:off x="1920654" y="7813692"/>
            <a:ext cx="1388922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F1B3045-74CF-8C88-DC0E-0E171C06077E}"/>
              </a:ext>
            </a:extLst>
          </p:cNvPr>
          <p:cNvSpPr/>
          <p:nvPr/>
        </p:nvSpPr>
        <p:spPr>
          <a:xfrm>
            <a:off x="1912001" y="8191417"/>
            <a:ext cx="1388922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8F8F603-2F13-7694-2230-811C426ADA3F}"/>
              </a:ext>
            </a:extLst>
          </p:cNvPr>
          <p:cNvSpPr/>
          <p:nvPr/>
        </p:nvSpPr>
        <p:spPr>
          <a:xfrm>
            <a:off x="1907527" y="8557717"/>
            <a:ext cx="1388922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EBE534B-A9AA-6DC5-4A71-8AFF56692AF4}"/>
              </a:ext>
            </a:extLst>
          </p:cNvPr>
          <p:cNvSpPr/>
          <p:nvPr/>
        </p:nvSpPr>
        <p:spPr>
          <a:xfrm>
            <a:off x="2041300" y="8923799"/>
            <a:ext cx="1268275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8577036-5A73-CAFA-7E90-771D290B992D}"/>
              </a:ext>
            </a:extLst>
          </p:cNvPr>
          <p:cNvSpPr/>
          <p:nvPr/>
        </p:nvSpPr>
        <p:spPr>
          <a:xfrm>
            <a:off x="4635476" y="7448703"/>
            <a:ext cx="1388922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87F6611-AF54-29B9-F0E4-C1B34CB5EA80}"/>
              </a:ext>
            </a:extLst>
          </p:cNvPr>
          <p:cNvSpPr/>
          <p:nvPr/>
        </p:nvSpPr>
        <p:spPr>
          <a:xfrm>
            <a:off x="4648603" y="7805923"/>
            <a:ext cx="1388922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77ADCE9-9624-FF04-D531-66E780FB6218}"/>
              </a:ext>
            </a:extLst>
          </p:cNvPr>
          <p:cNvSpPr/>
          <p:nvPr/>
        </p:nvSpPr>
        <p:spPr>
          <a:xfrm>
            <a:off x="4639950" y="8183648"/>
            <a:ext cx="1388922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DBC9564-0AF1-5839-2B13-DF6C708F61A9}"/>
              </a:ext>
            </a:extLst>
          </p:cNvPr>
          <p:cNvSpPr/>
          <p:nvPr/>
        </p:nvSpPr>
        <p:spPr>
          <a:xfrm>
            <a:off x="4635476" y="8549948"/>
            <a:ext cx="1388922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63A913F-BBDA-EE07-ADD1-523B847379DF}"/>
              </a:ext>
            </a:extLst>
          </p:cNvPr>
          <p:cNvSpPr/>
          <p:nvPr/>
        </p:nvSpPr>
        <p:spPr>
          <a:xfrm>
            <a:off x="4769249" y="8916030"/>
            <a:ext cx="1268275" cy="231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0174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048859"/>
              </p:ext>
            </p:extLst>
          </p:nvPr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35</a:t>
            </a:fld>
            <a:endParaRPr lang="en-GB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1DF04EA-0FFE-93FA-1090-F87DEDE1F6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377"/>
          <a:stretch/>
        </p:blipFill>
        <p:spPr>
          <a:xfrm>
            <a:off x="602059" y="2474331"/>
            <a:ext cx="1578695" cy="12573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CABC9BC-3199-A01D-1607-05E8C34FBCF5}"/>
              </a:ext>
            </a:extLst>
          </p:cNvPr>
          <p:cNvSpPr/>
          <p:nvPr/>
        </p:nvSpPr>
        <p:spPr>
          <a:xfrm>
            <a:off x="497830" y="1795308"/>
            <a:ext cx="5862340" cy="19461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G (continued)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F57D2-64B0-278D-83DD-6350665A66C1}"/>
              </a:ext>
            </a:extLst>
          </p:cNvPr>
          <p:cNvSpPr txBox="1"/>
          <p:nvPr/>
        </p:nvSpPr>
        <p:spPr>
          <a:xfrm>
            <a:off x="497830" y="2028000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Spot the mistakes: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685C7-D1C5-8438-BD63-73C507B4F72E}"/>
              </a:ext>
            </a:extLst>
          </p:cNvPr>
          <p:cNvSpPr txBox="1"/>
          <p:nvPr/>
        </p:nvSpPr>
        <p:spPr>
          <a:xfrm>
            <a:off x="497830" y="2266372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1992D-8160-4B47-3276-F6B78BE72FD7}"/>
              </a:ext>
            </a:extLst>
          </p:cNvPr>
          <p:cNvSpPr txBox="1"/>
          <p:nvPr/>
        </p:nvSpPr>
        <p:spPr>
          <a:xfrm>
            <a:off x="2582675" y="2250040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AE8FF-C62E-991D-B4F4-C87BE0E3434B}"/>
              </a:ext>
            </a:extLst>
          </p:cNvPr>
          <p:cNvSpPr txBox="1"/>
          <p:nvPr/>
        </p:nvSpPr>
        <p:spPr>
          <a:xfrm>
            <a:off x="4672123" y="2264915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c)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3038F9-63DB-2E81-AA7F-69EE5C0BA5B9}"/>
              </a:ext>
            </a:extLst>
          </p:cNvPr>
          <p:cNvSpPr/>
          <p:nvPr/>
        </p:nvSpPr>
        <p:spPr>
          <a:xfrm>
            <a:off x="486021" y="3769849"/>
            <a:ext cx="5874150" cy="5777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H</a:t>
            </a: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A bracelet costs £3.99 and a bobble costs £1.29. How much change should there be from £10 if I buy both items?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A pair of shoes cost £29.99 and a belt costs £12.49. How much change should there be from £50 if I buy both items?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A shirt costs £14.99 and a pair of socks costs £3.49. How much change should there be from £30 if I buy both items?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A book costs £8.99 and a pen costs £1.79. How much change should there be from £15 if I buy both items?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A toy car costs £5.99 and a puzzle costs £2.49. How much change should there be from £20 if I buy both items?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A pack of sweets cost £1.49 and a bottle of juice costs £2.99. How much change should there be from £5 if I buy both items?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FontTx/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Complete the bank statement:</a:t>
            </a:r>
          </a:p>
          <a:p>
            <a:endParaRPr lang="en-GB" sz="1200">
              <a:solidFill>
                <a:schemeClr val="tx1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5C21890-D3D0-0AC5-5FE1-59CA033DC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121637"/>
              </p:ext>
            </p:extLst>
          </p:nvPr>
        </p:nvGraphicFramePr>
        <p:xfrm>
          <a:off x="1298159" y="7587058"/>
          <a:ext cx="4249874" cy="1920240"/>
        </p:xfrm>
        <a:graphic>
          <a:graphicData uri="http://schemas.openxmlformats.org/drawingml/2006/table">
            <a:tbl>
              <a:tblPr/>
              <a:tblGrid>
                <a:gridCol w="1239334">
                  <a:extLst>
                    <a:ext uri="{9D8B030D-6E8A-4147-A177-3AD203B41FA5}">
                      <a16:colId xmlns:a16="http://schemas.microsoft.com/office/drawing/2014/main" val="2573626886"/>
                    </a:ext>
                  </a:extLst>
                </a:gridCol>
                <a:gridCol w="941695">
                  <a:extLst>
                    <a:ext uri="{9D8B030D-6E8A-4147-A177-3AD203B41FA5}">
                      <a16:colId xmlns:a16="http://schemas.microsoft.com/office/drawing/2014/main" val="2002188374"/>
                    </a:ext>
                  </a:extLst>
                </a:gridCol>
                <a:gridCol w="1168845">
                  <a:extLst>
                    <a:ext uri="{9D8B030D-6E8A-4147-A177-3AD203B41FA5}">
                      <a16:colId xmlns:a16="http://schemas.microsoft.com/office/drawing/2014/main" val="150069876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731699638"/>
                    </a:ext>
                  </a:extLst>
                </a:gridCol>
              </a:tblGrid>
              <a:tr h="238606">
                <a:tc>
                  <a:txBody>
                    <a:bodyPr/>
                    <a:lstStyle/>
                    <a:p>
                      <a:pPr fontAlgn="b"/>
                      <a:r>
                        <a:rPr lang="en-GB" sz="1200" b="1">
                          <a:effectLst/>
                        </a:rPr>
                        <a:t>Transaction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200" b="1">
                          <a:effectLst/>
                        </a:rPr>
                        <a:t>Deposit (£)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200" b="1">
                          <a:effectLst/>
                        </a:rPr>
                        <a:t>Withdrawal (£)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200" b="1">
                          <a:effectLst/>
                        </a:rPr>
                        <a:t>Balance (£)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003981"/>
                  </a:ext>
                </a:extLst>
              </a:tr>
              <a:tr h="238606"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Opening 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GB" sz="12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814387"/>
                  </a:ext>
                </a:extLst>
              </a:tr>
              <a:tr h="238606"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1500.25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GB" sz="12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630804"/>
                  </a:ext>
                </a:extLst>
              </a:tr>
              <a:tr h="238606"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800.99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GB" sz="12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623958"/>
                  </a:ext>
                </a:extLst>
              </a:tr>
              <a:tr h="238606"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Groceries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120.55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GB" sz="12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158652"/>
                  </a:ext>
                </a:extLst>
              </a:tr>
              <a:tr h="238606"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Electricity Bill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80.75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GB" sz="12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210093"/>
                  </a:ext>
                </a:extLst>
              </a:tr>
              <a:tr h="238606"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Bonus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50.80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200">
                          <a:effectLst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GB" sz="12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215669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71F1E8D2-2D11-0B6D-D270-94346FF46847}"/>
              </a:ext>
            </a:extLst>
          </p:cNvPr>
          <p:cNvSpPr/>
          <p:nvPr/>
        </p:nvSpPr>
        <p:spPr>
          <a:xfrm>
            <a:off x="3184654" y="6947724"/>
            <a:ext cx="2551127" cy="2862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C64700-BF9F-B429-49ED-A5A638A4C374}"/>
              </a:ext>
            </a:extLst>
          </p:cNvPr>
          <p:cNvSpPr/>
          <p:nvPr/>
        </p:nvSpPr>
        <p:spPr>
          <a:xfrm>
            <a:off x="3184653" y="6407125"/>
            <a:ext cx="2551127" cy="2862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99867B-F457-4A22-BC36-B280EEBA03FA}"/>
              </a:ext>
            </a:extLst>
          </p:cNvPr>
          <p:cNvSpPr/>
          <p:nvPr/>
        </p:nvSpPr>
        <p:spPr>
          <a:xfrm>
            <a:off x="3188086" y="5871571"/>
            <a:ext cx="2551127" cy="2862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3F9781-A5D0-F0BD-1BC0-C1DC093EAAF4}"/>
              </a:ext>
            </a:extLst>
          </p:cNvPr>
          <p:cNvSpPr/>
          <p:nvPr/>
        </p:nvSpPr>
        <p:spPr>
          <a:xfrm>
            <a:off x="3188085" y="5330972"/>
            <a:ext cx="2551127" cy="2862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B8052A-3EA7-56C5-AFBF-32A54C74A02D}"/>
              </a:ext>
            </a:extLst>
          </p:cNvPr>
          <p:cNvSpPr/>
          <p:nvPr/>
        </p:nvSpPr>
        <p:spPr>
          <a:xfrm>
            <a:off x="3184654" y="4763321"/>
            <a:ext cx="2551127" cy="2862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F1DBE8-30C9-B283-09E6-01DC2DDCC052}"/>
              </a:ext>
            </a:extLst>
          </p:cNvPr>
          <p:cNvSpPr/>
          <p:nvPr/>
        </p:nvSpPr>
        <p:spPr>
          <a:xfrm>
            <a:off x="3184653" y="4222722"/>
            <a:ext cx="2551127" cy="2862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2985137-1F7F-C6F1-C779-06678DA4E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820429"/>
              </p:ext>
            </p:extLst>
          </p:nvPr>
        </p:nvGraphicFramePr>
        <p:xfrm>
          <a:off x="2995821" y="2530828"/>
          <a:ext cx="1278780" cy="100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56">
                  <a:extLst>
                    <a:ext uri="{9D8B030D-6E8A-4147-A177-3AD203B41FA5}">
                      <a16:colId xmlns:a16="http://schemas.microsoft.com/office/drawing/2014/main" val="1666874718"/>
                    </a:ext>
                  </a:extLst>
                </a:gridCol>
                <a:gridCol w="255756">
                  <a:extLst>
                    <a:ext uri="{9D8B030D-6E8A-4147-A177-3AD203B41FA5}">
                      <a16:colId xmlns:a16="http://schemas.microsoft.com/office/drawing/2014/main" val="574059230"/>
                    </a:ext>
                  </a:extLst>
                </a:gridCol>
                <a:gridCol w="255756">
                  <a:extLst>
                    <a:ext uri="{9D8B030D-6E8A-4147-A177-3AD203B41FA5}">
                      <a16:colId xmlns:a16="http://schemas.microsoft.com/office/drawing/2014/main" val="59039100"/>
                    </a:ext>
                  </a:extLst>
                </a:gridCol>
                <a:gridCol w="255756">
                  <a:extLst>
                    <a:ext uri="{9D8B030D-6E8A-4147-A177-3AD203B41FA5}">
                      <a16:colId xmlns:a16="http://schemas.microsoft.com/office/drawing/2014/main" val="3403331523"/>
                    </a:ext>
                  </a:extLst>
                </a:gridCol>
                <a:gridCol w="255756">
                  <a:extLst>
                    <a:ext uri="{9D8B030D-6E8A-4147-A177-3AD203B41FA5}">
                      <a16:colId xmlns:a16="http://schemas.microsoft.com/office/drawing/2014/main" val="4278607195"/>
                    </a:ext>
                  </a:extLst>
                </a:gridCol>
              </a:tblGrid>
              <a:tr h="333947">
                <a:tc>
                  <a:txBody>
                    <a:bodyPr/>
                    <a:lstStyle/>
                    <a:p>
                      <a:pPr algn="ctr"/>
                      <a:endParaRPr 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61199"/>
                  </a:ext>
                </a:extLst>
              </a:tr>
              <a:tr h="333947"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595545"/>
                  </a:ext>
                </a:extLst>
              </a:tr>
              <a:tr h="333947">
                <a:tc>
                  <a:txBody>
                    <a:bodyPr/>
                    <a:lstStyle/>
                    <a:p>
                      <a:pPr algn="ctr"/>
                      <a:endParaRPr 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795349"/>
                  </a:ext>
                </a:extLst>
              </a:tr>
            </a:tbl>
          </a:graphicData>
        </a:graphic>
      </p:graphicFrame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14B293DD-9EFC-B19A-F145-7F9206442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942168"/>
              </p:ext>
            </p:extLst>
          </p:nvPr>
        </p:nvGraphicFramePr>
        <p:xfrm>
          <a:off x="4908643" y="2557200"/>
          <a:ext cx="1278780" cy="100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56">
                  <a:extLst>
                    <a:ext uri="{9D8B030D-6E8A-4147-A177-3AD203B41FA5}">
                      <a16:colId xmlns:a16="http://schemas.microsoft.com/office/drawing/2014/main" val="1666874718"/>
                    </a:ext>
                  </a:extLst>
                </a:gridCol>
                <a:gridCol w="255756">
                  <a:extLst>
                    <a:ext uri="{9D8B030D-6E8A-4147-A177-3AD203B41FA5}">
                      <a16:colId xmlns:a16="http://schemas.microsoft.com/office/drawing/2014/main" val="574059230"/>
                    </a:ext>
                  </a:extLst>
                </a:gridCol>
                <a:gridCol w="255756">
                  <a:extLst>
                    <a:ext uri="{9D8B030D-6E8A-4147-A177-3AD203B41FA5}">
                      <a16:colId xmlns:a16="http://schemas.microsoft.com/office/drawing/2014/main" val="59039100"/>
                    </a:ext>
                  </a:extLst>
                </a:gridCol>
                <a:gridCol w="255756">
                  <a:extLst>
                    <a:ext uri="{9D8B030D-6E8A-4147-A177-3AD203B41FA5}">
                      <a16:colId xmlns:a16="http://schemas.microsoft.com/office/drawing/2014/main" val="3403331523"/>
                    </a:ext>
                  </a:extLst>
                </a:gridCol>
                <a:gridCol w="255756">
                  <a:extLst>
                    <a:ext uri="{9D8B030D-6E8A-4147-A177-3AD203B41FA5}">
                      <a16:colId xmlns:a16="http://schemas.microsoft.com/office/drawing/2014/main" val="4278607195"/>
                    </a:ext>
                  </a:extLst>
                </a:gridCol>
              </a:tblGrid>
              <a:tr h="333947">
                <a:tc>
                  <a:txBody>
                    <a:bodyPr/>
                    <a:lstStyle/>
                    <a:p>
                      <a:pPr algn="ctr"/>
                      <a:endParaRPr 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61199"/>
                  </a:ext>
                </a:extLst>
              </a:tr>
              <a:tr h="333947"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595545"/>
                  </a:ext>
                </a:extLst>
              </a:tr>
              <a:tr h="333947">
                <a:tc>
                  <a:txBody>
                    <a:bodyPr/>
                    <a:lstStyle/>
                    <a:p>
                      <a:pPr algn="ctr"/>
                      <a:endParaRPr 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795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386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36</a:t>
            </a:fld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ABC9BC-3199-A01D-1607-05E8C34FBCF5}"/>
              </a:ext>
            </a:extLst>
          </p:cNvPr>
          <p:cNvSpPr/>
          <p:nvPr/>
        </p:nvSpPr>
        <p:spPr>
          <a:xfrm>
            <a:off x="497830" y="1795307"/>
            <a:ext cx="5862340" cy="5845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I</a:t>
            </a:r>
          </a:p>
          <a:p>
            <a:r>
              <a:rPr lang="en-GB" sz="1200">
                <a:solidFill>
                  <a:schemeClr val="tx1"/>
                </a:solidFill>
              </a:rPr>
              <a:t>Work out the perimeters of each of these irregular polygons: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685C7-D1C5-8438-BD63-73C507B4F72E}"/>
              </a:ext>
            </a:extLst>
          </p:cNvPr>
          <p:cNvSpPr txBox="1"/>
          <p:nvPr/>
        </p:nvSpPr>
        <p:spPr>
          <a:xfrm>
            <a:off x="536028" y="2290902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1992D-8160-4B47-3276-F6B78BE72FD7}"/>
              </a:ext>
            </a:extLst>
          </p:cNvPr>
          <p:cNvSpPr txBox="1"/>
          <p:nvPr/>
        </p:nvSpPr>
        <p:spPr>
          <a:xfrm>
            <a:off x="2610343" y="2294778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AE8FF-C62E-991D-B4F4-C87BE0E3434B}"/>
              </a:ext>
            </a:extLst>
          </p:cNvPr>
          <p:cNvSpPr txBox="1"/>
          <p:nvPr/>
        </p:nvSpPr>
        <p:spPr>
          <a:xfrm>
            <a:off x="4672123" y="2264915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c)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CECA62-8567-A590-6E79-F7F9F1A6B079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13280" y="2286236"/>
            <a:ext cx="1602039" cy="103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F97F5C-86D5-B1B8-5596-541D35A05FC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2982007" y="2339551"/>
            <a:ext cx="1495092" cy="9547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261177-8CA7-28E8-40A5-05E9777BB6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5517" y="8061872"/>
            <a:ext cx="5614791" cy="12549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8B21224-534B-6AC0-D954-BF4BC598E67A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4918419" y="2263941"/>
            <a:ext cx="1251502" cy="95835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0C965FF-DBC9-09BA-A171-09FCB0BE23D7}"/>
              </a:ext>
            </a:extLst>
          </p:cNvPr>
          <p:cNvSpPr/>
          <p:nvPr/>
        </p:nvSpPr>
        <p:spPr>
          <a:xfrm>
            <a:off x="724928" y="3499762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0A2E69-8B20-6DF2-8686-875BDCC6872B}"/>
              </a:ext>
            </a:extLst>
          </p:cNvPr>
          <p:cNvSpPr/>
          <p:nvPr/>
        </p:nvSpPr>
        <p:spPr>
          <a:xfrm>
            <a:off x="2834498" y="3499762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87387F-A066-BA81-03A9-D22E33E90A13}"/>
              </a:ext>
            </a:extLst>
          </p:cNvPr>
          <p:cNvSpPr/>
          <p:nvPr/>
        </p:nvSpPr>
        <p:spPr>
          <a:xfrm>
            <a:off x="4759935" y="3487381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AF621-C441-3A42-24A2-4BF95D9B23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692" y="4192643"/>
            <a:ext cx="1932010" cy="125126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0F2AB48-B61F-CCF3-000C-D0FEFD80D7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1497" y="4137902"/>
            <a:ext cx="1602040" cy="13020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B4B32FC-9EF3-C7ED-5A4D-0FCA669D3E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0452" y="3982207"/>
            <a:ext cx="1831360" cy="149706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23B6106-2243-B24B-FECC-0D3C39462A52}"/>
              </a:ext>
            </a:extLst>
          </p:cNvPr>
          <p:cNvSpPr txBox="1"/>
          <p:nvPr/>
        </p:nvSpPr>
        <p:spPr>
          <a:xfrm>
            <a:off x="2520806" y="4809826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/>
              <a:t>3cm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35ABA6-B341-49A6-F9FD-C1237763B132}"/>
              </a:ext>
            </a:extLst>
          </p:cNvPr>
          <p:cNvSpPr/>
          <p:nvPr/>
        </p:nvSpPr>
        <p:spPr>
          <a:xfrm>
            <a:off x="704912" y="5491507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A7002D-1C8E-1C47-F4D1-E519CE8CCA42}"/>
              </a:ext>
            </a:extLst>
          </p:cNvPr>
          <p:cNvSpPr/>
          <p:nvPr/>
        </p:nvSpPr>
        <p:spPr>
          <a:xfrm>
            <a:off x="2814482" y="5491507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0E12C2-67EA-352B-7A4A-0A34AC6AA505}"/>
              </a:ext>
            </a:extLst>
          </p:cNvPr>
          <p:cNvSpPr/>
          <p:nvPr/>
        </p:nvSpPr>
        <p:spPr>
          <a:xfrm>
            <a:off x="4739919" y="5479126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3A07E3-ADE9-95EC-A4F7-09AB9324493E}"/>
              </a:ext>
            </a:extLst>
          </p:cNvPr>
          <p:cNvSpPr txBox="1"/>
          <p:nvPr/>
        </p:nvSpPr>
        <p:spPr>
          <a:xfrm>
            <a:off x="536028" y="4007399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d)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828506-9EEE-AE86-0E6E-53E70D6E018A}"/>
              </a:ext>
            </a:extLst>
          </p:cNvPr>
          <p:cNvSpPr txBox="1"/>
          <p:nvPr/>
        </p:nvSpPr>
        <p:spPr>
          <a:xfrm>
            <a:off x="2610343" y="4011275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e)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434689-72B4-09E2-137F-E703360E45BF}"/>
              </a:ext>
            </a:extLst>
          </p:cNvPr>
          <p:cNvSpPr txBox="1"/>
          <p:nvPr/>
        </p:nvSpPr>
        <p:spPr>
          <a:xfrm>
            <a:off x="4672123" y="3981412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f)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5F74F7B-E0F9-2DBE-029D-771920E3B58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2926"/>
          <a:stretch/>
        </p:blipFill>
        <p:spPr>
          <a:xfrm>
            <a:off x="704912" y="6439439"/>
            <a:ext cx="2072093" cy="118859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2AA8F38-3665-98E6-282D-6B5687784A1A}"/>
              </a:ext>
            </a:extLst>
          </p:cNvPr>
          <p:cNvSpPr txBox="1"/>
          <p:nvPr/>
        </p:nvSpPr>
        <p:spPr>
          <a:xfrm>
            <a:off x="555130" y="6151726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g) The perimeter of the irregular polygon below is 49cm. </a:t>
            </a:r>
            <a:r>
              <a:rPr lang="en-GB" sz="1200"/>
              <a:t>Calculate the missing side length.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A23684-2321-19CB-5E4C-22090245A7C1}"/>
              </a:ext>
            </a:extLst>
          </p:cNvPr>
          <p:cNvSpPr txBox="1"/>
          <p:nvPr/>
        </p:nvSpPr>
        <p:spPr>
          <a:xfrm>
            <a:off x="2093544" y="7099120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/>
              <a:t>6cm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C2C506-B70F-6362-1156-D95B643931A0}"/>
              </a:ext>
            </a:extLst>
          </p:cNvPr>
          <p:cNvSpPr/>
          <p:nvPr/>
        </p:nvSpPr>
        <p:spPr>
          <a:xfrm>
            <a:off x="2787124" y="7119315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CCF206-CA0D-CBBF-D948-9865E40213CE}"/>
              </a:ext>
            </a:extLst>
          </p:cNvPr>
          <p:cNvSpPr/>
          <p:nvPr/>
        </p:nvSpPr>
        <p:spPr>
          <a:xfrm>
            <a:off x="497830" y="7683961"/>
            <a:ext cx="5862340" cy="1904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J</a:t>
            </a:r>
          </a:p>
          <a:p>
            <a:r>
              <a:rPr lang="en-GB" sz="1200">
                <a:solidFill>
                  <a:schemeClr val="tx1"/>
                </a:solidFill>
              </a:rPr>
              <a:t>Work out the perimeters of each of these regular polygons: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CB9439A-F279-AF4F-4DC9-BC23073125CA}"/>
              </a:ext>
            </a:extLst>
          </p:cNvPr>
          <p:cNvSpPr/>
          <p:nvPr/>
        </p:nvSpPr>
        <p:spPr>
          <a:xfrm>
            <a:off x="816446" y="9220740"/>
            <a:ext cx="1148140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600420-CFEC-A1DC-48A6-179A0927963B}"/>
              </a:ext>
            </a:extLst>
          </p:cNvPr>
          <p:cNvSpPr/>
          <p:nvPr/>
        </p:nvSpPr>
        <p:spPr>
          <a:xfrm>
            <a:off x="2183035" y="9212266"/>
            <a:ext cx="1148140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4B18C70-2D87-45B4-4BF2-73534DA0B588}"/>
              </a:ext>
            </a:extLst>
          </p:cNvPr>
          <p:cNvSpPr/>
          <p:nvPr/>
        </p:nvSpPr>
        <p:spPr>
          <a:xfrm>
            <a:off x="3604130" y="9220740"/>
            <a:ext cx="1148140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7940506-29F9-AD25-A736-F019359197E5}"/>
              </a:ext>
            </a:extLst>
          </p:cNvPr>
          <p:cNvSpPr/>
          <p:nvPr/>
        </p:nvSpPr>
        <p:spPr>
          <a:xfrm>
            <a:off x="4970719" y="9212266"/>
            <a:ext cx="1148140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012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37</a:t>
            </a:fld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ABC9BC-3199-A01D-1607-05E8C34FBCF5}"/>
              </a:ext>
            </a:extLst>
          </p:cNvPr>
          <p:cNvSpPr/>
          <p:nvPr/>
        </p:nvSpPr>
        <p:spPr>
          <a:xfrm>
            <a:off x="497830" y="1795307"/>
            <a:ext cx="5862340" cy="64888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J (continued)</a:t>
            </a:r>
          </a:p>
          <a:p>
            <a:r>
              <a:rPr lang="en-GB" sz="1200">
                <a:solidFill>
                  <a:schemeClr val="tx1"/>
                </a:solidFill>
              </a:rPr>
              <a:t>Work out the perimeters of each of these regular polygons: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AA8F38-3665-98E6-282D-6B5687784A1A}"/>
              </a:ext>
            </a:extLst>
          </p:cNvPr>
          <p:cNvSpPr txBox="1"/>
          <p:nvPr/>
        </p:nvSpPr>
        <p:spPr>
          <a:xfrm>
            <a:off x="555130" y="6151726"/>
            <a:ext cx="5862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k) The perimeters of each of the regular polygons below are 63cm. </a:t>
            </a:r>
            <a:r>
              <a:rPr lang="en-GB" sz="1200"/>
              <a:t>Calculate the missing side lengths.</a:t>
            </a: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3078" name="Picture 3077">
            <a:extLst>
              <a:ext uri="{FF2B5EF4-FFF2-40B4-BE49-F238E27FC236}">
                <a16:creationId xmlns:a16="http://schemas.microsoft.com/office/drawing/2014/main" id="{4C31FE3E-DD56-EFFC-79A1-99CB02FF3D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021" b="1"/>
          <a:stretch/>
        </p:blipFill>
        <p:spPr>
          <a:xfrm>
            <a:off x="813796" y="2610463"/>
            <a:ext cx="1201004" cy="1081096"/>
          </a:xfrm>
          <a:prstGeom prst="rect">
            <a:avLst/>
          </a:prstGeom>
        </p:spPr>
      </p:pic>
      <p:pic>
        <p:nvPicPr>
          <p:cNvPr id="3079" name="Picture 3078">
            <a:extLst>
              <a:ext uri="{FF2B5EF4-FFF2-40B4-BE49-F238E27FC236}">
                <a16:creationId xmlns:a16="http://schemas.microsoft.com/office/drawing/2014/main" id="{BDBE5CDD-680E-E568-9FD4-A65A0D9BAA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271" t="10622" r="9312" b="24956"/>
          <a:stretch/>
        </p:blipFill>
        <p:spPr>
          <a:xfrm>
            <a:off x="4837223" y="2506162"/>
            <a:ext cx="1201004" cy="1189971"/>
          </a:xfrm>
          <a:prstGeom prst="rect">
            <a:avLst/>
          </a:prstGeom>
        </p:spPr>
      </p:pic>
      <p:sp>
        <p:nvSpPr>
          <p:cNvPr id="3081" name="TextBox 3080">
            <a:extLst>
              <a:ext uri="{FF2B5EF4-FFF2-40B4-BE49-F238E27FC236}">
                <a16:creationId xmlns:a16="http://schemas.microsoft.com/office/drawing/2014/main" id="{C1E6C706-5EB5-B13E-2F08-AA972D5EADE8}"/>
              </a:ext>
            </a:extLst>
          </p:cNvPr>
          <p:cNvSpPr txBox="1"/>
          <p:nvPr/>
        </p:nvSpPr>
        <p:spPr>
          <a:xfrm>
            <a:off x="1154606" y="2331767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4cm</a:t>
            </a:r>
          </a:p>
        </p:txBody>
      </p:sp>
      <p:sp>
        <p:nvSpPr>
          <p:cNvPr id="3083" name="TextBox 3082">
            <a:extLst>
              <a:ext uri="{FF2B5EF4-FFF2-40B4-BE49-F238E27FC236}">
                <a16:creationId xmlns:a16="http://schemas.microsoft.com/office/drawing/2014/main" id="{932ADB7B-94AA-792F-6153-F9280D830A41}"/>
              </a:ext>
            </a:extLst>
          </p:cNvPr>
          <p:cNvSpPr txBox="1"/>
          <p:nvPr/>
        </p:nvSpPr>
        <p:spPr>
          <a:xfrm>
            <a:off x="5203358" y="3572118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7cm</a:t>
            </a:r>
          </a:p>
        </p:txBody>
      </p:sp>
      <p:cxnSp>
        <p:nvCxnSpPr>
          <p:cNvPr id="3084" name="Straight Connector 3083">
            <a:extLst>
              <a:ext uri="{FF2B5EF4-FFF2-40B4-BE49-F238E27FC236}">
                <a16:creationId xmlns:a16="http://schemas.microsoft.com/office/drawing/2014/main" id="{9F0C8ECC-21B1-1172-E953-C9DBF75DC830}"/>
              </a:ext>
            </a:extLst>
          </p:cNvPr>
          <p:cNvCxnSpPr>
            <a:cxnSpLocks/>
          </p:cNvCxnSpPr>
          <p:nvPr/>
        </p:nvCxnSpPr>
        <p:spPr>
          <a:xfrm>
            <a:off x="1728230" y="3101147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529A2216-8E7A-0CFE-00AD-0D5B514A083C}"/>
              </a:ext>
            </a:extLst>
          </p:cNvPr>
          <p:cNvCxnSpPr>
            <a:cxnSpLocks/>
          </p:cNvCxnSpPr>
          <p:nvPr/>
        </p:nvCxnSpPr>
        <p:spPr>
          <a:xfrm>
            <a:off x="792530" y="3101147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6" name="Straight Connector 3085">
            <a:extLst>
              <a:ext uri="{FF2B5EF4-FFF2-40B4-BE49-F238E27FC236}">
                <a16:creationId xmlns:a16="http://schemas.microsoft.com/office/drawing/2014/main" id="{54758B25-BCCD-ACB5-35BF-183B032391FD}"/>
              </a:ext>
            </a:extLst>
          </p:cNvPr>
          <p:cNvCxnSpPr>
            <a:cxnSpLocks/>
          </p:cNvCxnSpPr>
          <p:nvPr/>
        </p:nvCxnSpPr>
        <p:spPr>
          <a:xfrm rot="16200000">
            <a:off x="1248160" y="3591417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7" name="Straight Connector 3086">
            <a:extLst>
              <a:ext uri="{FF2B5EF4-FFF2-40B4-BE49-F238E27FC236}">
                <a16:creationId xmlns:a16="http://schemas.microsoft.com/office/drawing/2014/main" id="{FFABB6FA-8CDD-939E-E24B-1AB9EA87B652}"/>
              </a:ext>
            </a:extLst>
          </p:cNvPr>
          <p:cNvCxnSpPr>
            <a:cxnSpLocks/>
          </p:cNvCxnSpPr>
          <p:nvPr/>
        </p:nvCxnSpPr>
        <p:spPr>
          <a:xfrm rot="16200000">
            <a:off x="1254985" y="2698739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1" name="Straight Connector 3090">
            <a:extLst>
              <a:ext uri="{FF2B5EF4-FFF2-40B4-BE49-F238E27FC236}">
                <a16:creationId xmlns:a16="http://schemas.microsoft.com/office/drawing/2014/main" id="{E792FB05-2D62-5930-8280-C95F00956ECA}"/>
              </a:ext>
            </a:extLst>
          </p:cNvPr>
          <p:cNvCxnSpPr>
            <a:cxnSpLocks/>
          </p:cNvCxnSpPr>
          <p:nvPr/>
        </p:nvCxnSpPr>
        <p:spPr>
          <a:xfrm flipV="1">
            <a:off x="5767973" y="2677404"/>
            <a:ext cx="204690" cy="186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2" name="Straight Connector 3091">
            <a:extLst>
              <a:ext uri="{FF2B5EF4-FFF2-40B4-BE49-F238E27FC236}">
                <a16:creationId xmlns:a16="http://schemas.microsoft.com/office/drawing/2014/main" id="{9B471F2A-59F9-A1C0-E596-A9C8DA0EC338}"/>
              </a:ext>
            </a:extLst>
          </p:cNvPr>
          <p:cNvCxnSpPr>
            <a:cxnSpLocks/>
          </p:cNvCxnSpPr>
          <p:nvPr/>
        </p:nvCxnSpPr>
        <p:spPr>
          <a:xfrm flipH="1" flipV="1">
            <a:off x="4886418" y="2709512"/>
            <a:ext cx="219494" cy="170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3" name="Straight Connector 3092">
            <a:extLst>
              <a:ext uri="{FF2B5EF4-FFF2-40B4-BE49-F238E27FC236}">
                <a16:creationId xmlns:a16="http://schemas.microsoft.com/office/drawing/2014/main" id="{C9FBE71B-8E0B-BF4A-3F57-552DC48827AD}"/>
              </a:ext>
            </a:extLst>
          </p:cNvPr>
          <p:cNvCxnSpPr>
            <a:cxnSpLocks/>
          </p:cNvCxnSpPr>
          <p:nvPr/>
        </p:nvCxnSpPr>
        <p:spPr>
          <a:xfrm flipH="1" flipV="1">
            <a:off x="5781201" y="3328238"/>
            <a:ext cx="162871" cy="106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4" name="Straight Connector 3093">
            <a:extLst>
              <a:ext uri="{FF2B5EF4-FFF2-40B4-BE49-F238E27FC236}">
                <a16:creationId xmlns:a16="http://schemas.microsoft.com/office/drawing/2014/main" id="{43F31C27-508E-1F70-6475-61AFD71D594A}"/>
              </a:ext>
            </a:extLst>
          </p:cNvPr>
          <p:cNvCxnSpPr>
            <a:cxnSpLocks/>
          </p:cNvCxnSpPr>
          <p:nvPr/>
        </p:nvCxnSpPr>
        <p:spPr>
          <a:xfrm flipV="1">
            <a:off x="4936064" y="3328238"/>
            <a:ext cx="169848" cy="1375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5" name="Straight Connector 3094">
            <a:extLst>
              <a:ext uri="{FF2B5EF4-FFF2-40B4-BE49-F238E27FC236}">
                <a16:creationId xmlns:a16="http://schemas.microsoft.com/office/drawing/2014/main" id="{83B7FB37-F516-CACA-82DB-5EC4C89D7E1C}"/>
              </a:ext>
            </a:extLst>
          </p:cNvPr>
          <p:cNvCxnSpPr>
            <a:cxnSpLocks/>
          </p:cNvCxnSpPr>
          <p:nvPr/>
        </p:nvCxnSpPr>
        <p:spPr>
          <a:xfrm flipV="1">
            <a:off x="5443557" y="3455616"/>
            <a:ext cx="2" cy="2020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6" name="Straight Connector 3095">
            <a:extLst>
              <a:ext uri="{FF2B5EF4-FFF2-40B4-BE49-F238E27FC236}">
                <a16:creationId xmlns:a16="http://schemas.microsoft.com/office/drawing/2014/main" id="{4734CF9E-F929-6E23-A6DD-C5AC0F17C821}"/>
              </a:ext>
            </a:extLst>
          </p:cNvPr>
          <p:cNvCxnSpPr>
            <a:cxnSpLocks/>
          </p:cNvCxnSpPr>
          <p:nvPr/>
        </p:nvCxnSpPr>
        <p:spPr>
          <a:xfrm rot="16200000">
            <a:off x="5315967" y="2569175"/>
            <a:ext cx="2688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B91FC4B1-8120-ADB5-EE63-9FA0F1A35617}"/>
              </a:ext>
            </a:extLst>
          </p:cNvPr>
          <p:cNvSpPr/>
          <p:nvPr/>
        </p:nvSpPr>
        <p:spPr>
          <a:xfrm>
            <a:off x="610848" y="3837697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3" name="Rectangle 3102">
            <a:extLst>
              <a:ext uri="{FF2B5EF4-FFF2-40B4-BE49-F238E27FC236}">
                <a16:creationId xmlns:a16="http://schemas.microsoft.com/office/drawing/2014/main" id="{C165BC01-32EA-C141-4B8F-44F4BABD864A}"/>
              </a:ext>
            </a:extLst>
          </p:cNvPr>
          <p:cNvSpPr/>
          <p:nvPr/>
        </p:nvSpPr>
        <p:spPr>
          <a:xfrm>
            <a:off x="2749280" y="3838219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4" name="Rectangle 3103">
            <a:extLst>
              <a:ext uri="{FF2B5EF4-FFF2-40B4-BE49-F238E27FC236}">
                <a16:creationId xmlns:a16="http://schemas.microsoft.com/office/drawing/2014/main" id="{76695F74-E467-5866-9B40-F2DA93F2C505}"/>
              </a:ext>
            </a:extLst>
          </p:cNvPr>
          <p:cNvSpPr/>
          <p:nvPr/>
        </p:nvSpPr>
        <p:spPr>
          <a:xfrm>
            <a:off x="4719498" y="3837697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06" name="Picture 3105">
            <a:extLst>
              <a:ext uri="{FF2B5EF4-FFF2-40B4-BE49-F238E27FC236}">
                <a16:creationId xmlns:a16="http://schemas.microsoft.com/office/drawing/2014/main" id="{2E1A7CA0-4E81-6027-0BB5-C639C98AF7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021" b="1"/>
          <a:stretch/>
        </p:blipFill>
        <p:spPr>
          <a:xfrm>
            <a:off x="2930008" y="2655114"/>
            <a:ext cx="1201004" cy="1081096"/>
          </a:xfrm>
          <a:prstGeom prst="rect">
            <a:avLst/>
          </a:prstGeom>
        </p:spPr>
      </p:pic>
      <p:pic>
        <p:nvPicPr>
          <p:cNvPr id="3107" name="Picture 3106">
            <a:extLst>
              <a:ext uri="{FF2B5EF4-FFF2-40B4-BE49-F238E27FC236}">
                <a16:creationId xmlns:a16="http://schemas.microsoft.com/office/drawing/2014/main" id="{243A6824-6267-0DC9-98C8-A7712833E1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271" t="10622" r="9312" b="24956"/>
          <a:stretch/>
        </p:blipFill>
        <p:spPr>
          <a:xfrm>
            <a:off x="717860" y="4344380"/>
            <a:ext cx="1201004" cy="1189971"/>
          </a:xfrm>
          <a:prstGeom prst="rect">
            <a:avLst/>
          </a:prstGeom>
        </p:spPr>
      </p:pic>
      <p:sp>
        <p:nvSpPr>
          <p:cNvPr id="3109" name="TextBox 3108">
            <a:extLst>
              <a:ext uri="{FF2B5EF4-FFF2-40B4-BE49-F238E27FC236}">
                <a16:creationId xmlns:a16="http://schemas.microsoft.com/office/drawing/2014/main" id="{4A1A3C74-96A9-B3A1-58F6-A6EF95702053}"/>
              </a:ext>
            </a:extLst>
          </p:cNvPr>
          <p:cNvSpPr txBox="1"/>
          <p:nvPr/>
        </p:nvSpPr>
        <p:spPr>
          <a:xfrm>
            <a:off x="3270818" y="2376418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11cm</a:t>
            </a:r>
          </a:p>
        </p:txBody>
      </p:sp>
      <p:sp>
        <p:nvSpPr>
          <p:cNvPr id="3111" name="TextBox 3110">
            <a:extLst>
              <a:ext uri="{FF2B5EF4-FFF2-40B4-BE49-F238E27FC236}">
                <a16:creationId xmlns:a16="http://schemas.microsoft.com/office/drawing/2014/main" id="{F402AD3C-CFD6-F856-67DE-136B81E3768A}"/>
              </a:ext>
            </a:extLst>
          </p:cNvPr>
          <p:cNvSpPr txBox="1"/>
          <p:nvPr/>
        </p:nvSpPr>
        <p:spPr>
          <a:xfrm>
            <a:off x="1083995" y="5410336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12cm</a:t>
            </a:r>
          </a:p>
        </p:txBody>
      </p:sp>
      <p:sp>
        <p:nvSpPr>
          <p:cNvPr id="3125" name="Rectangle 3124">
            <a:extLst>
              <a:ext uri="{FF2B5EF4-FFF2-40B4-BE49-F238E27FC236}">
                <a16:creationId xmlns:a16="http://schemas.microsoft.com/office/drawing/2014/main" id="{E36BC7DF-C0E1-7DB2-3EC8-5BCBD991B855}"/>
              </a:ext>
            </a:extLst>
          </p:cNvPr>
          <p:cNvSpPr/>
          <p:nvPr/>
        </p:nvSpPr>
        <p:spPr>
          <a:xfrm>
            <a:off x="610848" y="5694840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6" name="Rectangle 3125">
            <a:extLst>
              <a:ext uri="{FF2B5EF4-FFF2-40B4-BE49-F238E27FC236}">
                <a16:creationId xmlns:a16="http://schemas.microsoft.com/office/drawing/2014/main" id="{18F3B06C-0871-1D92-80EB-6E6B27B8DFA9}"/>
              </a:ext>
            </a:extLst>
          </p:cNvPr>
          <p:cNvSpPr/>
          <p:nvPr/>
        </p:nvSpPr>
        <p:spPr>
          <a:xfrm>
            <a:off x="2749280" y="5695362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61ED6923-9A90-7326-4C4C-55691D87DA50}"/>
              </a:ext>
            </a:extLst>
          </p:cNvPr>
          <p:cNvSpPr/>
          <p:nvPr/>
        </p:nvSpPr>
        <p:spPr>
          <a:xfrm>
            <a:off x="4719498" y="5694840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29" name="Picture 3128">
            <a:extLst>
              <a:ext uri="{FF2B5EF4-FFF2-40B4-BE49-F238E27FC236}">
                <a16:creationId xmlns:a16="http://schemas.microsoft.com/office/drawing/2014/main" id="{63E740A7-2CDE-457B-31D4-1580631FEA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3123" y="4304215"/>
            <a:ext cx="1370091" cy="1319347"/>
          </a:xfrm>
          <a:prstGeom prst="rect">
            <a:avLst/>
          </a:prstGeom>
        </p:spPr>
      </p:pic>
      <p:pic>
        <p:nvPicPr>
          <p:cNvPr id="3131" name="Picture 3130">
            <a:extLst>
              <a:ext uri="{FF2B5EF4-FFF2-40B4-BE49-F238E27FC236}">
                <a16:creationId xmlns:a16="http://schemas.microsoft.com/office/drawing/2014/main" id="{572003C7-A58B-B728-29F7-3385A4291A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14761" y="4210050"/>
            <a:ext cx="1485900" cy="1485900"/>
          </a:xfrm>
          <a:prstGeom prst="rect">
            <a:avLst/>
          </a:prstGeom>
        </p:spPr>
      </p:pic>
      <p:cxnSp>
        <p:nvCxnSpPr>
          <p:cNvPr id="3134" name="Straight Connector 3133">
            <a:extLst>
              <a:ext uri="{FF2B5EF4-FFF2-40B4-BE49-F238E27FC236}">
                <a16:creationId xmlns:a16="http://schemas.microsoft.com/office/drawing/2014/main" id="{89BFD423-5B15-3CA2-30D4-6DFD738E3F09}"/>
              </a:ext>
            </a:extLst>
          </p:cNvPr>
          <p:cNvCxnSpPr>
            <a:cxnSpLocks/>
          </p:cNvCxnSpPr>
          <p:nvPr/>
        </p:nvCxnSpPr>
        <p:spPr>
          <a:xfrm flipH="1" flipV="1">
            <a:off x="3847760" y="5318856"/>
            <a:ext cx="162871" cy="106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5" name="Straight Connector 3134">
            <a:extLst>
              <a:ext uri="{FF2B5EF4-FFF2-40B4-BE49-F238E27FC236}">
                <a16:creationId xmlns:a16="http://schemas.microsoft.com/office/drawing/2014/main" id="{7B277843-30C1-B80E-62D3-1D7B847DEBB4}"/>
              </a:ext>
            </a:extLst>
          </p:cNvPr>
          <p:cNvCxnSpPr>
            <a:cxnSpLocks/>
          </p:cNvCxnSpPr>
          <p:nvPr/>
        </p:nvCxnSpPr>
        <p:spPr>
          <a:xfrm flipV="1">
            <a:off x="3002623" y="5318856"/>
            <a:ext cx="169848" cy="1375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>
            <a:extLst>
              <a:ext uri="{FF2B5EF4-FFF2-40B4-BE49-F238E27FC236}">
                <a16:creationId xmlns:a16="http://schemas.microsoft.com/office/drawing/2014/main" id="{3F4FDA22-4C0B-2084-076A-FA1833D98ACF}"/>
              </a:ext>
            </a:extLst>
          </p:cNvPr>
          <p:cNvCxnSpPr>
            <a:cxnSpLocks/>
          </p:cNvCxnSpPr>
          <p:nvPr/>
        </p:nvCxnSpPr>
        <p:spPr>
          <a:xfrm flipV="1">
            <a:off x="3510116" y="5446234"/>
            <a:ext cx="2" cy="2020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1" name="Straight Connector 3140">
            <a:extLst>
              <a:ext uri="{FF2B5EF4-FFF2-40B4-BE49-F238E27FC236}">
                <a16:creationId xmlns:a16="http://schemas.microsoft.com/office/drawing/2014/main" id="{518A9BB5-18E8-D824-0AF4-8C69F89D04E5}"/>
              </a:ext>
            </a:extLst>
          </p:cNvPr>
          <p:cNvCxnSpPr>
            <a:cxnSpLocks/>
          </p:cNvCxnSpPr>
          <p:nvPr/>
        </p:nvCxnSpPr>
        <p:spPr>
          <a:xfrm flipV="1">
            <a:off x="3719904" y="4420050"/>
            <a:ext cx="144426" cy="161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2" name="Straight Connector 3141">
            <a:extLst>
              <a:ext uri="{FF2B5EF4-FFF2-40B4-BE49-F238E27FC236}">
                <a16:creationId xmlns:a16="http://schemas.microsoft.com/office/drawing/2014/main" id="{07C75308-F251-5871-0D6A-C6B36DA45235}"/>
              </a:ext>
            </a:extLst>
          </p:cNvPr>
          <p:cNvCxnSpPr>
            <a:cxnSpLocks/>
          </p:cNvCxnSpPr>
          <p:nvPr/>
        </p:nvCxnSpPr>
        <p:spPr>
          <a:xfrm flipH="1" flipV="1">
            <a:off x="3167645" y="4406722"/>
            <a:ext cx="155271" cy="1749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4" name="Straight Connector 3143">
            <a:extLst>
              <a:ext uri="{FF2B5EF4-FFF2-40B4-BE49-F238E27FC236}">
                <a16:creationId xmlns:a16="http://schemas.microsoft.com/office/drawing/2014/main" id="{A20A31F6-DF9F-0CA2-1D1D-C19AAE8BF8F3}"/>
              </a:ext>
            </a:extLst>
          </p:cNvPr>
          <p:cNvCxnSpPr>
            <a:cxnSpLocks/>
          </p:cNvCxnSpPr>
          <p:nvPr/>
        </p:nvCxnSpPr>
        <p:spPr>
          <a:xfrm flipH="1" flipV="1">
            <a:off x="2868320" y="4805594"/>
            <a:ext cx="243043" cy="767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" name="Straight Connector 3144">
            <a:extLst>
              <a:ext uri="{FF2B5EF4-FFF2-40B4-BE49-F238E27FC236}">
                <a16:creationId xmlns:a16="http://schemas.microsoft.com/office/drawing/2014/main" id="{95FC2840-44D5-3FC7-9E68-8D3434E5F231}"/>
              </a:ext>
            </a:extLst>
          </p:cNvPr>
          <p:cNvCxnSpPr>
            <a:cxnSpLocks/>
          </p:cNvCxnSpPr>
          <p:nvPr/>
        </p:nvCxnSpPr>
        <p:spPr>
          <a:xfrm flipV="1">
            <a:off x="3916896" y="4791129"/>
            <a:ext cx="272043" cy="94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0" name="TextBox 3149">
            <a:extLst>
              <a:ext uri="{FF2B5EF4-FFF2-40B4-BE49-F238E27FC236}">
                <a16:creationId xmlns:a16="http://schemas.microsoft.com/office/drawing/2014/main" id="{41013BC8-AC06-F518-6F8D-B73589AEA401}"/>
              </a:ext>
            </a:extLst>
          </p:cNvPr>
          <p:cNvSpPr txBox="1"/>
          <p:nvPr/>
        </p:nvSpPr>
        <p:spPr>
          <a:xfrm>
            <a:off x="3269542" y="522224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6cm</a:t>
            </a:r>
          </a:p>
        </p:txBody>
      </p:sp>
      <p:sp>
        <p:nvSpPr>
          <p:cNvPr id="3151" name="TextBox 3150">
            <a:extLst>
              <a:ext uri="{FF2B5EF4-FFF2-40B4-BE49-F238E27FC236}">
                <a16:creationId xmlns:a16="http://schemas.microsoft.com/office/drawing/2014/main" id="{3D918C72-BE7F-3AE9-7FFE-3998823DD6E3}"/>
              </a:ext>
            </a:extLst>
          </p:cNvPr>
          <p:cNvSpPr txBox="1"/>
          <p:nvPr/>
        </p:nvSpPr>
        <p:spPr>
          <a:xfrm>
            <a:off x="5209085" y="530671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8cm</a:t>
            </a:r>
          </a:p>
        </p:txBody>
      </p:sp>
      <p:pic>
        <p:nvPicPr>
          <p:cNvPr id="3153" name="Picture 3152">
            <a:extLst>
              <a:ext uri="{FF2B5EF4-FFF2-40B4-BE49-F238E27FC236}">
                <a16:creationId xmlns:a16="http://schemas.microsoft.com/office/drawing/2014/main" id="{80327AC5-78D5-67B0-920B-13BD366571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3827" y="6669177"/>
            <a:ext cx="1215628" cy="1114325"/>
          </a:xfrm>
          <a:prstGeom prst="rect">
            <a:avLst/>
          </a:prstGeom>
        </p:spPr>
      </p:pic>
      <p:pic>
        <p:nvPicPr>
          <p:cNvPr id="3154" name="Picture 3153">
            <a:extLst>
              <a:ext uri="{FF2B5EF4-FFF2-40B4-BE49-F238E27FC236}">
                <a16:creationId xmlns:a16="http://schemas.microsoft.com/office/drawing/2014/main" id="{1D485255-7853-6A7B-EFEC-1F03C85757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4878" y="6573696"/>
            <a:ext cx="1228533" cy="1183032"/>
          </a:xfrm>
          <a:prstGeom prst="rect">
            <a:avLst/>
          </a:prstGeom>
        </p:spPr>
      </p:pic>
      <p:pic>
        <p:nvPicPr>
          <p:cNvPr id="3155" name="Picture 3154">
            <a:extLst>
              <a:ext uri="{FF2B5EF4-FFF2-40B4-BE49-F238E27FC236}">
                <a16:creationId xmlns:a16="http://schemas.microsoft.com/office/drawing/2014/main" id="{B166796F-A841-79C6-3EF6-67FEDFAF01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28629" y="6667408"/>
            <a:ext cx="1301258" cy="1073538"/>
          </a:xfrm>
          <a:prstGeom prst="rect">
            <a:avLst/>
          </a:prstGeom>
        </p:spPr>
      </p:pic>
      <p:sp>
        <p:nvSpPr>
          <p:cNvPr id="3156" name="Rectangle 3155">
            <a:extLst>
              <a:ext uri="{FF2B5EF4-FFF2-40B4-BE49-F238E27FC236}">
                <a16:creationId xmlns:a16="http://schemas.microsoft.com/office/drawing/2014/main" id="{9CC5BD3C-2DE5-98A9-69CD-4F9F3C29B116}"/>
              </a:ext>
            </a:extLst>
          </p:cNvPr>
          <p:cNvSpPr/>
          <p:nvPr/>
        </p:nvSpPr>
        <p:spPr>
          <a:xfrm>
            <a:off x="610848" y="7856839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7" name="Rectangle 3156">
            <a:extLst>
              <a:ext uri="{FF2B5EF4-FFF2-40B4-BE49-F238E27FC236}">
                <a16:creationId xmlns:a16="http://schemas.microsoft.com/office/drawing/2014/main" id="{3BD0B63A-1A1E-5A48-5C4B-3E520EA4B268}"/>
              </a:ext>
            </a:extLst>
          </p:cNvPr>
          <p:cNvSpPr/>
          <p:nvPr/>
        </p:nvSpPr>
        <p:spPr>
          <a:xfrm>
            <a:off x="2749280" y="7857361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8" name="Rectangle 3157">
            <a:extLst>
              <a:ext uri="{FF2B5EF4-FFF2-40B4-BE49-F238E27FC236}">
                <a16:creationId xmlns:a16="http://schemas.microsoft.com/office/drawing/2014/main" id="{9A4BA915-2B5F-0A0D-BD87-2A6359C4AB94}"/>
              </a:ext>
            </a:extLst>
          </p:cNvPr>
          <p:cNvSpPr/>
          <p:nvPr/>
        </p:nvSpPr>
        <p:spPr>
          <a:xfrm>
            <a:off x="4784510" y="7856839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0" name="TextBox 3159">
            <a:extLst>
              <a:ext uri="{FF2B5EF4-FFF2-40B4-BE49-F238E27FC236}">
                <a16:creationId xmlns:a16="http://schemas.microsoft.com/office/drawing/2014/main" id="{42AD7CDA-C8EB-0914-7977-0CD44BC73D15}"/>
              </a:ext>
            </a:extLst>
          </p:cNvPr>
          <p:cNvSpPr txBox="1"/>
          <p:nvPr/>
        </p:nvSpPr>
        <p:spPr>
          <a:xfrm>
            <a:off x="573836" y="2259967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e)</a:t>
            </a:r>
          </a:p>
        </p:txBody>
      </p:sp>
      <p:sp>
        <p:nvSpPr>
          <p:cNvPr id="3161" name="TextBox 3160">
            <a:extLst>
              <a:ext uri="{FF2B5EF4-FFF2-40B4-BE49-F238E27FC236}">
                <a16:creationId xmlns:a16="http://schemas.microsoft.com/office/drawing/2014/main" id="{53173295-E4F7-E115-BCB0-EF82A91C05A9}"/>
              </a:ext>
            </a:extLst>
          </p:cNvPr>
          <p:cNvSpPr txBox="1"/>
          <p:nvPr/>
        </p:nvSpPr>
        <p:spPr>
          <a:xfrm>
            <a:off x="2648151" y="2263843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f)</a:t>
            </a:r>
          </a:p>
        </p:txBody>
      </p:sp>
      <p:sp>
        <p:nvSpPr>
          <p:cNvPr id="3162" name="TextBox 3161">
            <a:extLst>
              <a:ext uri="{FF2B5EF4-FFF2-40B4-BE49-F238E27FC236}">
                <a16:creationId xmlns:a16="http://schemas.microsoft.com/office/drawing/2014/main" id="{50061DAB-6738-36AD-6D39-8BAC8315C155}"/>
              </a:ext>
            </a:extLst>
          </p:cNvPr>
          <p:cNvSpPr txBox="1"/>
          <p:nvPr/>
        </p:nvSpPr>
        <p:spPr>
          <a:xfrm>
            <a:off x="4709931" y="2233980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g)</a:t>
            </a:r>
          </a:p>
        </p:txBody>
      </p:sp>
      <p:sp>
        <p:nvSpPr>
          <p:cNvPr id="3163" name="TextBox 3162">
            <a:extLst>
              <a:ext uri="{FF2B5EF4-FFF2-40B4-BE49-F238E27FC236}">
                <a16:creationId xmlns:a16="http://schemas.microsoft.com/office/drawing/2014/main" id="{2EB8AA55-86C9-16CB-00C3-B3013733CEDC}"/>
              </a:ext>
            </a:extLst>
          </p:cNvPr>
          <p:cNvSpPr txBox="1"/>
          <p:nvPr/>
        </p:nvSpPr>
        <p:spPr>
          <a:xfrm>
            <a:off x="521959" y="4266723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h)</a:t>
            </a:r>
          </a:p>
        </p:txBody>
      </p:sp>
      <p:sp>
        <p:nvSpPr>
          <p:cNvPr id="3164" name="TextBox 3163">
            <a:extLst>
              <a:ext uri="{FF2B5EF4-FFF2-40B4-BE49-F238E27FC236}">
                <a16:creationId xmlns:a16="http://schemas.microsoft.com/office/drawing/2014/main" id="{6B3BE063-BE6E-CB3B-7248-69DF062464D6}"/>
              </a:ext>
            </a:extLst>
          </p:cNvPr>
          <p:cNvSpPr txBox="1"/>
          <p:nvPr/>
        </p:nvSpPr>
        <p:spPr>
          <a:xfrm>
            <a:off x="2596274" y="4270599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err="1">
                <a:solidFill>
                  <a:schemeClr val="tx1"/>
                </a:solidFill>
              </a:rPr>
              <a:t>i</a:t>
            </a:r>
            <a:r>
              <a:rPr lang="en-GB" sz="12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165" name="TextBox 3164">
            <a:extLst>
              <a:ext uri="{FF2B5EF4-FFF2-40B4-BE49-F238E27FC236}">
                <a16:creationId xmlns:a16="http://schemas.microsoft.com/office/drawing/2014/main" id="{B89939D2-58BB-1F3A-FE81-1E7F4377F25E}"/>
              </a:ext>
            </a:extLst>
          </p:cNvPr>
          <p:cNvSpPr txBox="1"/>
          <p:nvPr/>
        </p:nvSpPr>
        <p:spPr>
          <a:xfrm>
            <a:off x="4658054" y="4240736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j)</a:t>
            </a:r>
          </a:p>
        </p:txBody>
      </p:sp>
    </p:spTree>
    <p:extLst>
      <p:ext uri="{BB962C8B-B14F-4D97-AF65-F5344CB8AC3E}">
        <p14:creationId xmlns:p14="http://schemas.microsoft.com/office/powerpoint/2010/main" val="836729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38</a:t>
            </a:fld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ABC9BC-3199-A01D-1607-05E8C34FBCF5}"/>
              </a:ext>
            </a:extLst>
          </p:cNvPr>
          <p:cNvSpPr/>
          <p:nvPr/>
        </p:nvSpPr>
        <p:spPr>
          <a:xfrm>
            <a:off x="497830" y="1795307"/>
            <a:ext cx="5862340" cy="7577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K</a:t>
            </a:r>
          </a:p>
          <a:p>
            <a:r>
              <a:rPr lang="en-GB" sz="1200">
                <a:solidFill>
                  <a:schemeClr val="tx1"/>
                </a:solidFill>
              </a:rPr>
              <a:t>Work out the perimeters of each of these rectangles and parallelograms: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5E6B2CC-F50D-4881-B69D-C446396AF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082" y="7153997"/>
            <a:ext cx="2225700" cy="177437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1D9CB8F-ED60-2C75-E182-ECD4B53C8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36" y="7102554"/>
            <a:ext cx="2620575" cy="1575928"/>
          </a:xfrm>
          <a:prstGeom prst="rect">
            <a:avLst/>
          </a:prstGeom>
        </p:spPr>
      </p:pic>
      <p:sp>
        <p:nvSpPr>
          <p:cNvPr id="3102" name="Rectangle 3101">
            <a:extLst>
              <a:ext uri="{FF2B5EF4-FFF2-40B4-BE49-F238E27FC236}">
                <a16:creationId xmlns:a16="http://schemas.microsoft.com/office/drawing/2014/main" id="{B91FC4B1-8120-ADB5-EE63-9FA0F1A35617}"/>
              </a:ext>
            </a:extLst>
          </p:cNvPr>
          <p:cNvSpPr/>
          <p:nvPr/>
        </p:nvSpPr>
        <p:spPr>
          <a:xfrm>
            <a:off x="610848" y="3339688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3" name="Rectangle 3102">
            <a:extLst>
              <a:ext uri="{FF2B5EF4-FFF2-40B4-BE49-F238E27FC236}">
                <a16:creationId xmlns:a16="http://schemas.microsoft.com/office/drawing/2014/main" id="{C165BC01-32EA-C141-4B8F-44F4BABD864A}"/>
              </a:ext>
            </a:extLst>
          </p:cNvPr>
          <p:cNvSpPr/>
          <p:nvPr/>
        </p:nvSpPr>
        <p:spPr>
          <a:xfrm>
            <a:off x="2749280" y="3313587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4" name="Rectangle 3103">
            <a:extLst>
              <a:ext uri="{FF2B5EF4-FFF2-40B4-BE49-F238E27FC236}">
                <a16:creationId xmlns:a16="http://schemas.microsoft.com/office/drawing/2014/main" id="{76695F74-E467-5866-9B40-F2DA93F2C505}"/>
              </a:ext>
            </a:extLst>
          </p:cNvPr>
          <p:cNvSpPr/>
          <p:nvPr/>
        </p:nvSpPr>
        <p:spPr>
          <a:xfrm>
            <a:off x="4719498" y="3313065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5" name="Rectangle 3124">
            <a:extLst>
              <a:ext uri="{FF2B5EF4-FFF2-40B4-BE49-F238E27FC236}">
                <a16:creationId xmlns:a16="http://schemas.microsoft.com/office/drawing/2014/main" id="{E36BC7DF-C0E1-7DB2-3EC8-5BCBD991B855}"/>
              </a:ext>
            </a:extLst>
          </p:cNvPr>
          <p:cNvSpPr/>
          <p:nvPr/>
        </p:nvSpPr>
        <p:spPr>
          <a:xfrm>
            <a:off x="628113" y="4937998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6" name="Rectangle 3125">
            <a:extLst>
              <a:ext uri="{FF2B5EF4-FFF2-40B4-BE49-F238E27FC236}">
                <a16:creationId xmlns:a16="http://schemas.microsoft.com/office/drawing/2014/main" id="{18F3B06C-0871-1D92-80EB-6E6B27B8DFA9}"/>
              </a:ext>
            </a:extLst>
          </p:cNvPr>
          <p:cNvSpPr/>
          <p:nvPr/>
        </p:nvSpPr>
        <p:spPr>
          <a:xfrm>
            <a:off x="2766545" y="4938520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61ED6923-9A90-7326-4C4C-55691D87DA50}"/>
              </a:ext>
            </a:extLst>
          </p:cNvPr>
          <p:cNvSpPr/>
          <p:nvPr/>
        </p:nvSpPr>
        <p:spPr>
          <a:xfrm>
            <a:off x="4736763" y="4937998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6" name="Rectangle 3155">
            <a:extLst>
              <a:ext uri="{FF2B5EF4-FFF2-40B4-BE49-F238E27FC236}">
                <a16:creationId xmlns:a16="http://schemas.microsoft.com/office/drawing/2014/main" id="{9CC5BD3C-2DE5-98A9-69CD-4F9F3C29B116}"/>
              </a:ext>
            </a:extLst>
          </p:cNvPr>
          <p:cNvSpPr/>
          <p:nvPr/>
        </p:nvSpPr>
        <p:spPr>
          <a:xfrm>
            <a:off x="610848" y="6503556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7" name="Rectangle 3156">
            <a:extLst>
              <a:ext uri="{FF2B5EF4-FFF2-40B4-BE49-F238E27FC236}">
                <a16:creationId xmlns:a16="http://schemas.microsoft.com/office/drawing/2014/main" id="{3BD0B63A-1A1E-5A48-5C4B-3E520EA4B268}"/>
              </a:ext>
            </a:extLst>
          </p:cNvPr>
          <p:cNvSpPr/>
          <p:nvPr/>
        </p:nvSpPr>
        <p:spPr>
          <a:xfrm>
            <a:off x="2749280" y="6504078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8" name="Rectangle 3157">
            <a:extLst>
              <a:ext uri="{FF2B5EF4-FFF2-40B4-BE49-F238E27FC236}">
                <a16:creationId xmlns:a16="http://schemas.microsoft.com/office/drawing/2014/main" id="{9A4BA915-2B5F-0A0D-BD87-2A6359C4AB94}"/>
              </a:ext>
            </a:extLst>
          </p:cNvPr>
          <p:cNvSpPr/>
          <p:nvPr/>
        </p:nvSpPr>
        <p:spPr>
          <a:xfrm>
            <a:off x="4770862" y="6503556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17523-9B4B-25FD-46D6-2AAA5AC5345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163" t="3610" r="67468" b="58650"/>
          <a:stretch/>
        </p:blipFill>
        <p:spPr>
          <a:xfrm>
            <a:off x="610848" y="2372114"/>
            <a:ext cx="1510389" cy="891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D2CB20-4AFC-C5DB-9AA5-C14C54C291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grayscl/>
          </a:blip>
          <a:srcRect l="39732" t="12080" r="32674" b="46991"/>
          <a:stretch/>
        </p:blipFill>
        <p:spPr>
          <a:xfrm>
            <a:off x="2633192" y="2403007"/>
            <a:ext cx="1591615" cy="839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DABC5-F5BD-6DFC-3D98-1E0C71385C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grayscl/>
          </a:blip>
          <a:srcRect l="70357" t="67434"/>
          <a:stretch/>
        </p:blipFill>
        <p:spPr>
          <a:xfrm>
            <a:off x="2655008" y="3993765"/>
            <a:ext cx="1914355" cy="7475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65ED1E-FEBE-8BCE-3FF4-FD84E1AD58F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grayscl/>
          </a:blip>
          <a:srcRect l="69347" t="12080" r="2680" b="46990"/>
          <a:stretch/>
        </p:blipFill>
        <p:spPr>
          <a:xfrm>
            <a:off x="4633685" y="2403007"/>
            <a:ext cx="1613467" cy="8391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695EC8-A191-2F5F-7102-82E60F69CC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grayscl/>
          </a:blip>
          <a:srcRect l="41482" t="59071" r="36619"/>
          <a:stretch/>
        </p:blipFill>
        <p:spPr>
          <a:xfrm>
            <a:off x="610848" y="3835963"/>
            <a:ext cx="1414221" cy="9395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3C9E04-3482-8F7C-3368-C461797F46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71277" y="4145103"/>
            <a:ext cx="1641360" cy="6716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3B4F5A-5C4A-37CC-A155-FA88762498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762" y="5654369"/>
            <a:ext cx="1792055" cy="6257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AB511D-7748-D2F2-6ED8-89079B3DBE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64674" y="5621081"/>
            <a:ext cx="1510390" cy="8824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BB79A9-A5E8-96A9-B69B-47A94E467A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44640" y="5713516"/>
            <a:ext cx="1791556" cy="7302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B2C145C-041F-7493-CA37-F039AD6C7650}"/>
              </a:ext>
            </a:extLst>
          </p:cNvPr>
          <p:cNvSpPr txBox="1"/>
          <p:nvPr/>
        </p:nvSpPr>
        <p:spPr>
          <a:xfrm>
            <a:off x="628113" y="3965836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F2D9B8-4766-E9A9-E984-7BFEC67FFBF2}"/>
              </a:ext>
            </a:extLst>
          </p:cNvPr>
          <p:cNvSpPr txBox="1"/>
          <p:nvPr/>
        </p:nvSpPr>
        <p:spPr>
          <a:xfrm>
            <a:off x="2702428" y="3969712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9EC40-C721-70AB-E280-C4C5272FD709}"/>
              </a:ext>
            </a:extLst>
          </p:cNvPr>
          <p:cNvSpPr txBox="1"/>
          <p:nvPr/>
        </p:nvSpPr>
        <p:spPr>
          <a:xfrm>
            <a:off x="4764208" y="3939849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E49650-51C0-0478-1BB5-4A31E2468446}"/>
              </a:ext>
            </a:extLst>
          </p:cNvPr>
          <p:cNvSpPr txBox="1"/>
          <p:nvPr/>
        </p:nvSpPr>
        <p:spPr>
          <a:xfrm>
            <a:off x="545500" y="2343175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37AB5F-8C13-A2EF-484D-D28459FA46F7}"/>
              </a:ext>
            </a:extLst>
          </p:cNvPr>
          <p:cNvSpPr txBox="1"/>
          <p:nvPr/>
        </p:nvSpPr>
        <p:spPr>
          <a:xfrm>
            <a:off x="2619815" y="2347051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768CE6-0A4D-DB6D-FEB3-1FF51CFCAC70}"/>
              </a:ext>
            </a:extLst>
          </p:cNvPr>
          <p:cNvSpPr txBox="1"/>
          <p:nvPr/>
        </p:nvSpPr>
        <p:spPr>
          <a:xfrm>
            <a:off x="4681595" y="2317188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342A75-0011-85EB-D1D9-E49EBF51E6BB}"/>
              </a:ext>
            </a:extLst>
          </p:cNvPr>
          <p:cNvSpPr txBox="1"/>
          <p:nvPr/>
        </p:nvSpPr>
        <p:spPr>
          <a:xfrm>
            <a:off x="599688" y="5480895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g)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ECDF66-BBF5-BF8B-E7BF-0991BCCF2648}"/>
              </a:ext>
            </a:extLst>
          </p:cNvPr>
          <p:cNvSpPr txBox="1"/>
          <p:nvPr/>
        </p:nvSpPr>
        <p:spPr>
          <a:xfrm>
            <a:off x="2674003" y="5512067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h)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A427BB-DC30-BA05-B984-FBD8AC5C0B0F}"/>
              </a:ext>
            </a:extLst>
          </p:cNvPr>
          <p:cNvSpPr txBox="1"/>
          <p:nvPr/>
        </p:nvSpPr>
        <p:spPr>
          <a:xfrm>
            <a:off x="4735783" y="5509500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err="1">
                <a:solidFill>
                  <a:schemeClr val="tx1"/>
                </a:solidFill>
              </a:rPr>
              <a:t>i</a:t>
            </a:r>
            <a:r>
              <a:rPr lang="en-GB" sz="12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C3B8AB-AFFE-1ABE-4A87-4E04CE83BD13}"/>
              </a:ext>
            </a:extLst>
          </p:cNvPr>
          <p:cNvSpPr txBox="1"/>
          <p:nvPr/>
        </p:nvSpPr>
        <p:spPr>
          <a:xfrm>
            <a:off x="545500" y="7055821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j)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CD2FBE-F758-23E7-E1F0-4A17AB3D987B}"/>
              </a:ext>
            </a:extLst>
          </p:cNvPr>
          <p:cNvSpPr txBox="1"/>
          <p:nvPr/>
        </p:nvSpPr>
        <p:spPr>
          <a:xfrm>
            <a:off x="3653390" y="7082738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k)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825755-2487-47B9-4A49-6D8E8A42480B}"/>
              </a:ext>
            </a:extLst>
          </p:cNvPr>
          <p:cNvSpPr/>
          <p:nvPr/>
        </p:nvSpPr>
        <p:spPr>
          <a:xfrm>
            <a:off x="777993" y="8977735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5A48B2-F461-5B2B-4D08-A52FDD8132DC}"/>
              </a:ext>
            </a:extLst>
          </p:cNvPr>
          <p:cNvSpPr/>
          <p:nvPr/>
        </p:nvSpPr>
        <p:spPr>
          <a:xfrm>
            <a:off x="4205481" y="8977735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7FE86-59DA-0105-91EA-0E0B56AF2434}"/>
              </a:ext>
            </a:extLst>
          </p:cNvPr>
          <p:cNvSpPr/>
          <p:nvPr/>
        </p:nvSpPr>
        <p:spPr>
          <a:xfrm>
            <a:off x="3993580" y="4397739"/>
            <a:ext cx="589027" cy="343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>
                <a:solidFill>
                  <a:sysClr val="windowText" lastClr="000000"/>
                </a:solidFill>
              </a:rPr>
              <a:t>6cm</a:t>
            </a:r>
          </a:p>
          <a:p>
            <a:endParaRPr lang="en-GB" sz="16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5855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39</a:t>
            </a:fld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ABC9BC-3199-A01D-1607-05E8C34FBCF5}"/>
              </a:ext>
            </a:extLst>
          </p:cNvPr>
          <p:cNvSpPr/>
          <p:nvPr/>
        </p:nvSpPr>
        <p:spPr>
          <a:xfrm>
            <a:off x="497830" y="1795307"/>
            <a:ext cx="5862340" cy="38678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L</a:t>
            </a:r>
          </a:p>
          <a:p>
            <a:r>
              <a:rPr lang="en-GB" sz="1200">
                <a:solidFill>
                  <a:schemeClr val="tx1"/>
                </a:solidFill>
              </a:rPr>
              <a:t>Work out the perimeters of each of these isosceles triangles and isosceles trapeziums: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869624-D4B5-D408-7CFA-B6D879859D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52018"/>
          <a:stretch/>
        </p:blipFill>
        <p:spPr>
          <a:xfrm>
            <a:off x="480172" y="6112570"/>
            <a:ext cx="6134768" cy="13954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406114-2BB3-312B-1EB2-E2992E9F0D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" b="-3162"/>
          <a:stretch/>
        </p:blipFill>
        <p:spPr>
          <a:xfrm>
            <a:off x="545501" y="2282100"/>
            <a:ext cx="5797012" cy="969246"/>
          </a:xfrm>
          <a:prstGeom prst="rect">
            <a:avLst/>
          </a:prstGeom>
        </p:spPr>
      </p:pic>
      <p:sp>
        <p:nvSpPr>
          <p:cNvPr id="3102" name="Rectangle 3101">
            <a:extLst>
              <a:ext uri="{FF2B5EF4-FFF2-40B4-BE49-F238E27FC236}">
                <a16:creationId xmlns:a16="http://schemas.microsoft.com/office/drawing/2014/main" id="{B91FC4B1-8120-ADB5-EE63-9FA0F1A35617}"/>
              </a:ext>
            </a:extLst>
          </p:cNvPr>
          <p:cNvSpPr/>
          <p:nvPr/>
        </p:nvSpPr>
        <p:spPr>
          <a:xfrm>
            <a:off x="610848" y="3339688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3" name="Rectangle 3102">
            <a:extLst>
              <a:ext uri="{FF2B5EF4-FFF2-40B4-BE49-F238E27FC236}">
                <a16:creationId xmlns:a16="http://schemas.microsoft.com/office/drawing/2014/main" id="{C165BC01-32EA-C141-4B8F-44F4BABD864A}"/>
              </a:ext>
            </a:extLst>
          </p:cNvPr>
          <p:cNvSpPr/>
          <p:nvPr/>
        </p:nvSpPr>
        <p:spPr>
          <a:xfrm>
            <a:off x="2749280" y="3313587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4" name="Rectangle 3103">
            <a:extLst>
              <a:ext uri="{FF2B5EF4-FFF2-40B4-BE49-F238E27FC236}">
                <a16:creationId xmlns:a16="http://schemas.microsoft.com/office/drawing/2014/main" id="{76695F74-E467-5866-9B40-F2DA93F2C505}"/>
              </a:ext>
            </a:extLst>
          </p:cNvPr>
          <p:cNvSpPr/>
          <p:nvPr/>
        </p:nvSpPr>
        <p:spPr>
          <a:xfrm>
            <a:off x="4719498" y="3313065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2C145C-041F-7493-CA37-F039AD6C7650}"/>
              </a:ext>
            </a:extLst>
          </p:cNvPr>
          <p:cNvSpPr txBox="1"/>
          <p:nvPr/>
        </p:nvSpPr>
        <p:spPr>
          <a:xfrm>
            <a:off x="628113" y="3965836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F2D9B8-4766-E9A9-E984-7BFEC67FFBF2}"/>
              </a:ext>
            </a:extLst>
          </p:cNvPr>
          <p:cNvSpPr txBox="1"/>
          <p:nvPr/>
        </p:nvSpPr>
        <p:spPr>
          <a:xfrm>
            <a:off x="2702428" y="3969712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9EC40-C721-70AB-E280-C4C5272FD709}"/>
              </a:ext>
            </a:extLst>
          </p:cNvPr>
          <p:cNvSpPr txBox="1"/>
          <p:nvPr/>
        </p:nvSpPr>
        <p:spPr>
          <a:xfrm>
            <a:off x="4764208" y="3939849"/>
            <a:ext cx="7319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/>
                </a:solidFill>
              </a:rPr>
              <a:t>f)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028B3-9075-0BA9-FDA6-A6CF164727D2}"/>
              </a:ext>
            </a:extLst>
          </p:cNvPr>
          <p:cNvSpPr txBox="1"/>
          <p:nvPr/>
        </p:nvSpPr>
        <p:spPr>
          <a:xfrm>
            <a:off x="1157123" y="3049261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6cm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5CC622B-F046-E665-CDF7-10FC8E92702A}"/>
              </a:ext>
            </a:extLst>
          </p:cNvPr>
          <p:cNvGrpSpPr/>
          <p:nvPr/>
        </p:nvGrpSpPr>
        <p:grpSpPr>
          <a:xfrm>
            <a:off x="521459" y="4242835"/>
            <a:ext cx="1890608" cy="1080695"/>
            <a:chOff x="583403" y="4307379"/>
            <a:chExt cx="1890608" cy="108069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19D0FBF-C727-EAD9-E360-EC1B68EA2ACB}"/>
                </a:ext>
              </a:extLst>
            </p:cNvPr>
            <p:cNvGrpSpPr/>
            <p:nvPr/>
          </p:nvGrpSpPr>
          <p:grpSpPr>
            <a:xfrm>
              <a:off x="583403" y="4307379"/>
              <a:ext cx="1890608" cy="1080695"/>
              <a:chOff x="610848" y="4359264"/>
              <a:chExt cx="1890608" cy="1080695"/>
            </a:xfrm>
          </p:grpSpPr>
          <p:pic>
            <p:nvPicPr>
              <p:cNvPr id="3074" name="Picture 2" descr="A field is in the shape of an isosceles trapezium with parallel sides  measuring 20 m and 8m and its non parallel sides measuring 10 m. Find its  area in cm2.">
                <a:extLst>
                  <a:ext uri="{FF2B5EF4-FFF2-40B4-BE49-F238E27FC236}">
                    <a16:creationId xmlns:a16="http://schemas.microsoft.com/office/drawing/2014/main" id="{54B6E0E8-8012-E7A9-5EF6-368AE8D498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811"/>
              <a:stretch/>
            </p:blipFill>
            <p:spPr bwMode="auto">
              <a:xfrm>
                <a:off x="610848" y="4359264"/>
                <a:ext cx="1890608" cy="10806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94B2BF0-D05E-438E-F2A3-9543EDBB9BB7}"/>
                  </a:ext>
                </a:extLst>
              </p:cNvPr>
              <p:cNvSpPr/>
              <p:nvPr/>
            </p:nvSpPr>
            <p:spPr>
              <a:xfrm>
                <a:off x="628113" y="4702629"/>
                <a:ext cx="268870" cy="1741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FE29CB-5F93-F8FB-CA35-EF9134430CCE}"/>
                </a:ext>
              </a:extLst>
            </p:cNvPr>
            <p:cNvCxnSpPr/>
            <p:nvPr/>
          </p:nvCxnSpPr>
          <p:spPr>
            <a:xfrm>
              <a:off x="896983" y="4702629"/>
              <a:ext cx="148046" cy="1132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78E4A17-AB65-C58A-3B7A-066F9C4E13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7214" y="4724400"/>
              <a:ext cx="148046" cy="1132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B34506D-6F0D-8272-A008-3540C3A68FB3}"/>
              </a:ext>
            </a:extLst>
          </p:cNvPr>
          <p:cNvSpPr/>
          <p:nvPr/>
        </p:nvSpPr>
        <p:spPr>
          <a:xfrm>
            <a:off x="480172" y="5690774"/>
            <a:ext cx="5862340" cy="40127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M</a:t>
            </a:r>
          </a:p>
          <a:p>
            <a:r>
              <a:rPr lang="en-GB" sz="1200">
                <a:solidFill>
                  <a:schemeClr val="tx1"/>
                </a:solidFill>
              </a:rPr>
              <a:t>Work out the perimeters of each of these compound shapes: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100">
              <a:solidFill>
                <a:schemeClr val="tx1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8DC130-F514-521D-2618-1FFC801050D0}"/>
              </a:ext>
            </a:extLst>
          </p:cNvPr>
          <p:cNvGrpSpPr/>
          <p:nvPr/>
        </p:nvGrpSpPr>
        <p:grpSpPr>
          <a:xfrm>
            <a:off x="779185" y="7917722"/>
            <a:ext cx="3959149" cy="1509083"/>
            <a:chOff x="805059" y="7833815"/>
            <a:chExt cx="3959149" cy="1509083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678EBB0-8AA4-03A3-799D-ADA05460B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6091" t="52334" r="29372"/>
            <a:stretch/>
          </p:blipFill>
          <p:spPr>
            <a:xfrm>
              <a:off x="805059" y="7956645"/>
              <a:ext cx="3959149" cy="1386253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A008376-E238-394F-81CB-FFC55A388FAF}"/>
                </a:ext>
              </a:extLst>
            </p:cNvPr>
            <p:cNvSpPr/>
            <p:nvPr/>
          </p:nvSpPr>
          <p:spPr>
            <a:xfrm>
              <a:off x="2501456" y="7833815"/>
              <a:ext cx="501051" cy="2597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129EB6D-0F97-D47E-3E94-3DF55383E0F9}"/>
              </a:ext>
            </a:extLst>
          </p:cNvPr>
          <p:cNvSpPr txBox="1"/>
          <p:nvPr/>
        </p:nvSpPr>
        <p:spPr>
          <a:xfrm>
            <a:off x="545500" y="8038535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d)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050DD3-6595-6608-85D0-F6208860F773}"/>
              </a:ext>
            </a:extLst>
          </p:cNvPr>
          <p:cNvSpPr txBox="1"/>
          <p:nvPr/>
        </p:nvSpPr>
        <p:spPr>
          <a:xfrm>
            <a:off x="2676618" y="8029926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B16047-AED5-AF6B-5633-FAD86AB0EBE1}"/>
              </a:ext>
            </a:extLst>
          </p:cNvPr>
          <p:cNvSpPr/>
          <p:nvPr/>
        </p:nvSpPr>
        <p:spPr>
          <a:xfrm>
            <a:off x="645173" y="7559104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F33354-3AA6-F050-A1DA-FF814104A80F}"/>
              </a:ext>
            </a:extLst>
          </p:cNvPr>
          <p:cNvSpPr/>
          <p:nvPr/>
        </p:nvSpPr>
        <p:spPr>
          <a:xfrm>
            <a:off x="2783605" y="7533003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EA100F-CB7F-B4B7-5E92-FEC7646D9835}"/>
              </a:ext>
            </a:extLst>
          </p:cNvPr>
          <p:cNvSpPr/>
          <p:nvPr/>
        </p:nvSpPr>
        <p:spPr>
          <a:xfrm>
            <a:off x="4753823" y="7532481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CE0A492-AB0B-CBEC-080B-02DF2289FDB3}"/>
              </a:ext>
            </a:extLst>
          </p:cNvPr>
          <p:cNvSpPr/>
          <p:nvPr/>
        </p:nvSpPr>
        <p:spPr>
          <a:xfrm>
            <a:off x="760013" y="9316416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8974234-5C35-A9CE-F456-43F8D4A79BBA}"/>
              </a:ext>
            </a:extLst>
          </p:cNvPr>
          <p:cNvSpPr/>
          <p:nvPr/>
        </p:nvSpPr>
        <p:spPr>
          <a:xfrm>
            <a:off x="2935577" y="9316416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98" name="Picture 2" descr="How to find the perimeter of a trapezoid - High School Math">
            <a:extLst>
              <a:ext uri="{FF2B5EF4-FFF2-40B4-BE49-F238E27FC236}">
                <a16:creationId xmlns:a16="http://schemas.microsoft.com/office/drawing/2014/main" id="{6E9C14FC-AC64-94D9-91AE-BCE2103BF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494" y="4275699"/>
            <a:ext cx="2234004" cy="96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6ED18070-2C2A-B746-87DA-948C0FE967BB}"/>
              </a:ext>
            </a:extLst>
          </p:cNvPr>
          <p:cNvSpPr/>
          <p:nvPr/>
        </p:nvSpPr>
        <p:spPr>
          <a:xfrm>
            <a:off x="655558" y="5285111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2F90B0-FF91-B1D6-70B0-C1C98218D32C}"/>
              </a:ext>
            </a:extLst>
          </p:cNvPr>
          <p:cNvSpPr/>
          <p:nvPr/>
        </p:nvSpPr>
        <p:spPr>
          <a:xfrm>
            <a:off x="2793990" y="5259010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AD10CF-8F51-C33A-1801-D4873B67B011}"/>
              </a:ext>
            </a:extLst>
          </p:cNvPr>
          <p:cNvSpPr/>
          <p:nvPr/>
        </p:nvSpPr>
        <p:spPr>
          <a:xfrm>
            <a:off x="4764208" y="5258488"/>
            <a:ext cx="1510389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00" name="Picture 4" descr="How to Find the Perimeter and Area of a Trapezoid (Video &amp; Practice)">
            <a:extLst>
              <a:ext uri="{FF2B5EF4-FFF2-40B4-BE49-F238E27FC236}">
                <a16:creationId xmlns:a16="http://schemas.microsoft.com/office/drawing/2014/main" id="{DE9DDB73-689C-9657-B365-5302ECA4B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868" y="4323879"/>
            <a:ext cx="1678407" cy="90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B305A3C7-D3A5-CBC8-E38B-8AECEA5BF2FC}"/>
              </a:ext>
            </a:extLst>
          </p:cNvPr>
          <p:cNvSpPr/>
          <p:nvPr/>
        </p:nvSpPr>
        <p:spPr>
          <a:xfrm>
            <a:off x="2573909" y="4619422"/>
            <a:ext cx="218127" cy="1255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A9C96E0-EA58-E21D-EFA9-0F184382554F}"/>
              </a:ext>
            </a:extLst>
          </p:cNvPr>
          <p:cNvCxnSpPr/>
          <p:nvPr/>
        </p:nvCxnSpPr>
        <p:spPr>
          <a:xfrm>
            <a:off x="2767689" y="4613474"/>
            <a:ext cx="148046" cy="1132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40B22CC-01AD-5DD9-56DF-C5531590D57F}"/>
              </a:ext>
            </a:extLst>
          </p:cNvPr>
          <p:cNvCxnSpPr>
            <a:cxnSpLocks/>
          </p:cNvCxnSpPr>
          <p:nvPr/>
        </p:nvCxnSpPr>
        <p:spPr>
          <a:xfrm flipH="1">
            <a:off x="4230356" y="4616926"/>
            <a:ext cx="148046" cy="1132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3E48E1C-90B1-4E60-CB89-EFA983B7EA9B}"/>
              </a:ext>
            </a:extLst>
          </p:cNvPr>
          <p:cNvCxnSpPr/>
          <p:nvPr/>
        </p:nvCxnSpPr>
        <p:spPr>
          <a:xfrm>
            <a:off x="4750104" y="4703765"/>
            <a:ext cx="148046" cy="1132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633D27B-845F-59CB-C69E-7FC648160B1C}"/>
              </a:ext>
            </a:extLst>
          </p:cNvPr>
          <p:cNvCxnSpPr>
            <a:cxnSpLocks/>
          </p:cNvCxnSpPr>
          <p:nvPr/>
        </p:nvCxnSpPr>
        <p:spPr>
          <a:xfrm flipH="1">
            <a:off x="6072370" y="4747816"/>
            <a:ext cx="148046" cy="1132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340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40</a:t>
            </a:fld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ABC9BC-3199-A01D-1607-05E8C34FBCF5}"/>
              </a:ext>
            </a:extLst>
          </p:cNvPr>
          <p:cNvSpPr/>
          <p:nvPr/>
        </p:nvSpPr>
        <p:spPr>
          <a:xfrm>
            <a:off x="497830" y="1795306"/>
            <a:ext cx="5862340" cy="79101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N</a:t>
            </a: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80 students visited a library across three days. Complete the two-way table: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r>
              <a:rPr lang="en-GB" sz="1200">
                <a:solidFill>
                  <a:schemeClr val="tx1"/>
                </a:solidFill>
              </a:rPr>
              <a:t>A cinema records information about 360 customers that visited over the weekend. Complete the two-way table:</a:t>
            </a: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Here is a bus timetable. Calculate how long it takes to:</a:t>
            </a:r>
          </a:p>
          <a:p>
            <a:endParaRPr lang="en-GB" sz="1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 startAt="3"/>
            </a:pPr>
            <a:r>
              <a:rPr lang="en-GB" sz="1200">
                <a:solidFill>
                  <a:schemeClr val="tx1"/>
                </a:solidFill>
              </a:rPr>
              <a:t>Get from Bridge to Arville on the 1024 bus</a:t>
            </a:r>
          </a:p>
          <a:p>
            <a:pPr marL="228600" indent="-228600">
              <a:lnSpc>
                <a:spcPct val="200000"/>
              </a:lnSpc>
              <a:buAutoNum type="alphaLcParenR" startAt="3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 startAt="3"/>
            </a:pPr>
            <a:r>
              <a:rPr lang="en-GB" sz="1200">
                <a:solidFill>
                  <a:schemeClr val="tx1"/>
                </a:solidFill>
              </a:rPr>
              <a:t>Get from Bridge to Ware on the 1106 bus</a:t>
            </a:r>
          </a:p>
          <a:p>
            <a:pPr marL="228600" indent="-228600">
              <a:lnSpc>
                <a:spcPct val="200000"/>
              </a:lnSpc>
              <a:buAutoNum type="alphaLcParenR" startAt="3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 startAt="3"/>
            </a:pPr>
            <a:r>
              <a:rPr lang="en-GB" sz="1200">
                <a:solidFill>
                  <a:schemeClr val="tx1"/>
                </a:solidFill>
              </a:rPr>
              <a:t>Get from </a:t>
            </a:r>
            <a:r>
              <a:rPr lang="en-GB" sz="1200" err="1">
                <a:solidFill>
                  <a:schemeClr val="tx1"/>
                </a:solidFill>
              </a:rPr>
              <a:t>Harton</a:t>
            </a:r>
            <a:r>
              <a:rPr lang="en-GB" sz="1200">
                <a:solidFill>
                  <a:schemeClr val="tx1"/>
                </a:solidFill>
              </a:rPr>
              <a:t> to Ware on the 1130 bus</a:t>
            </a:r>
          </a:p>
          <a:p>
            <a:pPr marL="228600" indent="-228600">
              <a:lnSpc>
                <a:spcPct val="200000"/>
              </a:lnSpc>
              <a:buAutoNum type="alphaLcParenR" startAt="3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 startAt="3"/>
            </a:pPr>
            <a:r>
              <a:rPr lang="en-GB" sz="1200">
                <a:solidFill>
                  <a:schemeClr val="tx1"/>
                </a:solidFill>
              </a:rPr>
              <a:t>Get from </a:t>
            </a:r>
            <a:r>
              <a:rPr lang="en-GB" sz="1200" err="1">
                <a:solidFill>
                  <a:schemeClr val="tx1"/>
                </a:solidFill>
              </a:rPr>
              <a:t>Harton</a:t>
            </a:r>
            <a:r>
              <a:rPr lang="en-GB" sz="1200">
                <a:solidFill>
                  <a:schemeClr val="tx1"/>
                </a:solidFill>
              </a:rPr>
              <a:t> to </a:t>
            </a:r>
            <a:r>
              <a:rPr lang="en-GB" sz="1200" err="1">
                <a:solidFill>
                  <a:schemeClr val="tx1"/>
                </a:solidFill>
              </a:rPr>
              <a:t>Aville</a:t>
            </a:r>
            <a:r>
              <a:rPr lang="en-GB" sz="1200">
                <a:solidFill>
                  <a:schemeClr val="tx1"/>
                </a:solidFill>
              </a:rPr>
              <a:t> on the 1045 bus</a:t>
            </a:r>
          </a:p>
          <a:p>
            <a:pPr marL="228600" indent="-228600">
              <a:lnSpc>
                <a:spcPct val="200000"/>
              </a:lnSpc>
              <a:buAutoNum type="alphaLcParenR" startAt="3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AutoNum type="alphaLcParenR" startAt="3"/>
            </a:pPr>
            <a:r>
              <a:rPr lang="en-GB" sz="1200">
                <a:solidFill>
                  <a:schemeClr val="tx1"/>
                </a:solidFill>
              </a:rPr>
              <a:t>Get from </a:t>
            </a:r>
            <a:r>
              <a:rPr lang="en-GB" sz="1200" err="1">
                <a:solidFill>
                  <a:schemeClr val="tx1"/>
                </a:solidFill>
              </a:rPr>
              <a:t>Aville</a:t>
            </a:r>
            <a:r>
              <a:rPr lang="en-GB" sz="1200">
                <a:solidFill>
                  <a:schemeClr val="tx1"/>
                </a:solidFill>
              </a:rPr>
              <a:t> to Ware on the 1051 bus</a:t>
            </a:r>
          </a:p>
          <a:p>
            <a:pPr lvl="1"/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67E24B-E3FA-A6C6-73E7-306EC41051A4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434898" y="2251815"/>
            <a:ext cx="3676243" cy="14128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42664A-1E4F-08AB-CC22-01C7DE50163F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1499616" y="4254166"/>
            <a:ext cx="3676243" cy="1240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09AC09-C555-C76E-1E5C-6852A994C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935" y="5822608"/>
            <a:ext cx="1801902" cy="8266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42AC644-6006-88E4-07EA-682AA3E9ACA6}"/>
              </a:ext>
            </a:extLst>
          </p:cNvPr>
          <p:cNvSpPr/>
          <p:nvPr/>
        </p:nvSpPr>
        <p:spPr>
          <a:xfrm>
            <a:off x="717083" y="6472747"/>
            <a:ext cx="3209966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C6AB24-1224-E6F5-FBBC-24BFEF10A6AF}"/>
              </a:ext>
            </a:extLst>
          </p:cNvPr>
          <p:cNvSpPr/>
          <p:nvPr/>
        </p:nvSpPr>
        <p:spPr>
          <a:xfrm>
            <a:off x="729115" y="7169723"/>
            <a:ext cx="3209966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AB58F5-464B-693E-BFD1-08C0080CB282}"/>
              </a:ext>
            </a:extLst>
          </p:cNvPr>
          <p:cNvSpPr/>
          <p:nvPr/>
        </p:nvSpPr>
        <p:spPr>
          <a:xfrm>
            <a:off x="729115" y="7921702"/>
            <a:ext cx="3209966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BC32BA-66FE-EA3F-5580-72EE3F62E892}"/>
              </a:ext>
            </a:extLst>
          </p:cNvPr>
          <p:cNvSpPr/>
          <p:nvPr/>
        </p:nvSpPr>
        <p:spPr>
          <a:xfrm>
            <a:off x="729115" y="8646179"/>
            <a:ext cx="3209966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2A253B-3C0D-B87B-8948-5E90E0C49D1D}"/>
              </a:ext>
            </a:extLst>
          </p:cNvPr>
          <p:cNvSpPr/>
          <p:nvPr/>
        </p:nvSpPr>
        <p:spPr>
          <a:xfrm>
            <a:off x="729115" y="9325752"/>
            <a:ext cx="3209966" cy="3489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382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7BB46-DEF3-A09B-34DB-2791DB25B7A4}"/>
              </a:ext>
            </a:extLst>
          </p:cNvPr>
          <p:cNvGraphicFramePr>
            <a:graphicFrameLocks noGrp="1"/>
          </p:cNvGraphicFramePr>
          <p:nvPr/>
        </p:nvGraphicFramePr>
        <p:xfrm>
          <a:off x="497830" y="358880"/>
          <a:ext cx="58623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48705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  <a:latin typeface="+mj-lt"/>
                        </a:rPr>
                        <a:t>N2 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Addition, Subtraction and their Applications</a:t>
                      </a:r>
                      <a:endParaRPr lang="en-GB" sz="320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End of Booklet Follow Up Questions</a:t>
                      </a:r>
                      <a:endParaRPr lang="en-GB" sz="1600" b="1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00274"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A896F-62B5-8F69-6F24-3E30606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141" y="937276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41</a:t>
            </a:fld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ABC9BC-3199-A01D-1607-05E8C34FBCF5}"/>
              </a:ext>
            </a:extLst>
          </p:cNvPr>
          <p:cNvSpPr/>
          <p:nvPr/>
        </p:nvSpPr>
        <p:spPr>
          <a:xfrm>
            <a:off x="497830" y="1795306"/>
            <a:ext cx="5862340" cy="5721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lang="en-GB" sz="1200">
                <a:solidFill>
                  <a:schemeClr val="tx1"/>
                </a:solidFill>
              </a:rPr>
              <a:t>Section O</a:t>
            </a:r>
          </a:p>
          <a:p>
            <a:r>
              <a:rPr lang="en-GB" sz="1200">
                <a:solidFill>
                  <a:schemeClr val="tx1"/>
                </a:solidFill>
              </a:rPr>
              <a:t>Complete the frequency trees:</a:t>
            </a:r>
          </a:p>
          <a:p>
            <a:endParaRPr lang="en-GB" sz="1200">
              <a:solidFill>
                <a:schemeClr val="tx1"/>
              </a:solidFill>
            </a:endParaRPr>
          </a:p>
          <a:p>
            <a:r>
              <a:rPr lang="en-GB" sz="1200">
                <a:solidFill>
                  <a:schemeClr val="tx1"/>
                </a:solidFill>
              </a:rPr>
              <a:t>a)</a:t>
            </a: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  <a:p>
            <a:pPr marL="228600" indent="-228600">
              <a:buAutoNum type="alphaLcParenR" startAt="8"/>
            </a:pPr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FCD7B3-B3FD-BF31-F358-5D547ACFBBE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63041" y="2323430"/>
            <a:ext cx="2699885" cy="177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C2AE42-9236-7627-BF9C-4D17175F57F5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3595073" y="2323430"/>
            <a:ext cx="2699886" cy="18247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7708B1-E22F-E490-B06D-DE946DD5DBB5}"/>
              </a:ext>
            </a:extLst>
          </p:cNvPr>
          <p:cNvSpPr txBox="1"/>
          <p:nvPr/>
        </p:nvSpPr>
        <p:spPr>
          <a:xfrm>
            <a:off x="3595073" y="4446168"/>
            <a:ext cx="3429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50 children audition for the school play. </a:t>
            </a:r>
          </a:p>
          <a:p>
            <a:r>
              <a:rPr lang="en-GB" sz="1200"/>
              <a:t>18 of the children are boys. </a:t>
            </a:r>
          </a:p>
          <a:p>
            <a:r>
              <a:rPr lang="en-GB" sz="1200"/>
              <a:t>15 children were given a role in the play. </a:t>
            </a:r>
          </a:p>
          <a:p>
            <a:r>
              <a:rPr lang="en-GB" sz="1200"/>
              <a:t>8 girls were given a role in the play.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7CCBAD-28BA-465B-9E36-97FD26C082D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grayscl/>
          </a:blip>
          <a:srcRect b="29267"/>
          <a:stretch/>
        </p:blipFill>
        <p:spPr>
          <a:xfrm>
            <a:off x="3618098" y="5458192"/>
            <a:ext cx="2653835" cy="187714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52354EB-15F8-4A07-5B08-DE3CB4F75932}"/>
              </a:ext>
            </a:extLst>
          </p:cNvPr>
          <p:cNvSpPr txBox="1"/>
          <p:nvPr/>
        </p:nvSpPr>
        <p:spPr>
          <a:xfrm>
            <a:off x="497830" y="4446168"/>
            <a:ext cx="2765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83 people are offered a choice of soup and roll.</a:t>
            </a:r>
          </a:p>
          <a:p>
            <a:r>
              <a:rPr lang="en-GB" sz="1200"/>
              <a:t>9 of the 37 people who had tomato soup, had a brown roll. </a:t>
            </a:r>
          </a:p>
          <a:p>
            <a:r>
              <a:rPr lang="en-GB" sz="1200"/>
              <a:t>31 people had chicken soup and a white roll.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841073A-0A25-319F-4827-F46A5840AEFC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534609" y="5646497"/>
            <a:ext cx="2580275" cy="179957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AFAB9BD-0DF4-A848-E582-D2A33FA2816A}"/>
              </a:ext>
            </a:extLst>
          </p:cNvPr>
          <p:cNvSpPr txBox="1"/>
          <p:nvPr/>
        </p:nvSpPr>
        <p:spPr>
          <a:xfrm>
            <a:off x="524941" y="2204966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a)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FE3B27-0FF8-E7FE-7517-102A2658A7F1}"/>
              </a:ext>
            </a:extLst>
          </p:cNvPr>
          <p:cNvSpPr txBox="1"/>
          <p:nvPr/>
        </p:nvSpPr>
        <p:spPr>
          <a:xfrm>
            <a:off x="3595073" y="219290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b)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73F8C-20C5-4A98-EA80-C3B2E5D82919}"/>
              </a:ext>
            </a:extLst>
          </p:cNvPr>
          <p:cNvSpPr txBox="1"/>
          <p:nvPr/>
        </p:nvSpPr>
        <p:spPr>
          <a:xfrm>
            <a:off x="497830" y="4162095"/>
            <a:ext cx="377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16A62E-74B7-01AF-4982-35FD0CDBCFE5}"/>
              </a:ext>
            </a:extLst>
          </p:cNvPr>
          <p:cNvSpPr txBox="1"/>
          <p:nvPr/>
        </p:nvSpPr>
        <p:spPr>
          <a:xfrm>
            <a:off x="3618617" y="4202907"/>
            <a:ext cx="377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706654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e238da7da78697d1fe4891d3ac25b45a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72ff361b2b60b6ed47f8a13d178c3d7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7FC374-3164-478A-BB7C-F87858029E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F87BFE-A0B0-43D6-9311-F8A15293B822}">
  <ds:schemaRefs>
    <ds:schemaRef ds:uri="608ebbb4-e88b-4c99-b506-21d9362781c6"/>
    <ds:schemaRef ds:uri="e30b71df-48f4-4db7-95c3-a9033c265c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933CB04-4A7F-4D3E-8B47-37EECCCF3F0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Microsoft Office PowerPoint</Application>
  <PresentationFormat>A4 Paper (210x297 mm)</PresentationFormat>
  <Slides>41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Lindley (Staff, Astrea Academy Sheffield)</dc:creator>
  <cp:revision>1</cp:revision>
  <dcterms:created xsi:type="dcterms:W3CDTF">2023-02-21T16:08:00Z</dcterms:created>
  <dcterms:modified xsi:type="dcterms:W3CDTF">2025-07-07T08:51:08Z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</Properties>
</file>