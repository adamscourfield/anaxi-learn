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96"/>
  </p:notesMasterIdLst>
  <p:sldIdLst>
    <p:sldId id="604" r:id="rId5"/>
    <p:sldId id="605" r:id="rId6"/>
    <p:sldId id="609" r:id="rId7"/>
    <p:sldId id="610" r:id="rId8"/>
    <p:sldId id="760" r:id="rId9"/>
    <p:sldId id="761" r:id="rId10"/>
    <p:sldId id="762" r:id="rId11"/>
    <p:sldId id="779" r:id="rId12"/>
    <p:sldId id="781" r:id="rId13"/>
    <p:sldId id="408" r:id="rId14"/>
    <p:sldId id="410" r:id="rId15"/>
    <p:sldId id="763" r:id="rId16"/>
    <p:sldId id="765" r:id="rId17"/>
    <p:sldId id="638" r:id="rId18"/>
    <p:sldId id="639" r:id="rId19"/>
    <p:sldId id="771" r:id="rId20"/>
    <p:sldId id="386" r:id="rId21"/>
    <p:sldId id="387" r:id="rId22"/>
    <p:sldId id="782" r:id="rId23"/>
    <p:sldId id="298" r:id="rId24"/>
    <p:sldId id="301" r:id="rId25"/>
    <p:sldId id="304" r:id="rId26"/>
    <p:sldId id="271" r:id="rId27"/>
    <p:sldId id="308" r:id="rId28"/>
    <p:sldId id="391" r:id="rId29"/>
    <p:sldId id="783" r:id="rId30"/>
    <p:sldId id="311" r:id="rId31"/>
    <p:sldId id="784" r:id="rId32"/>
    <p:sldId id="785" r:id="rId33"/>
    <p:sldId id="786" r:id="rId34"/>
    <p:sldId id="787" r:id="rId35"/>
    <p:sldId id="423" r:id="rId36"/>
    <p:sldId id="318" r:id="rId37"/>
    <p:sldId id="319" r:id="rId38"/>
    <p:sldId id="788" r:id="rId39"/>
    <p:sldId id="789" r:id="rId40"/>
    <p:sldId id="790" r:id="rId41"/>
    <p:sldId id="403" r:id="rId42"/>
    <p:sldId id="1242" r:id="rId43"/>
    <p:sldId id="1243" r:id="rId44"/>
    <p:sldId id="1244" r:id="rId45"/>
    <p:sldId id="1245" r:id="rId46"/>
    <p:sldId id="623" r:id="rId47"/>
    <p:sldId id="584" r:id="rId48"/>
    <p:sldId id="398" r:id="rId49"/>
    <p:sldId id="399" r:id="rId50"/>
    <p:sldId id="772" r:id="rId51"/>
    <p:sldId id="773" r:id="rId52"/>
    <p:sldId id="393" r:id="rId53"/>
    <p:sldId id="397" r:id="rId54"/>
    <p:sldId id="396" r:id="rId55"/>
    <p:sldId id="392" r:id="rId56"/>
    <p:sldId id="394" r:id="rId57"/>
    <p:sldId id="395" r:id="rId58"/>
    <p:sldId id="627" r:id="rId59"/>
    <p:sldId id="775" r:id="rId60"/>
    <p:sldId id="776" r:id="rId61"/>
    <p:sldId id="777" r:id="rId62"/>
    <p:sldId id="778" r:id="rId63"/>
    <p:sldId id="630" r:id="rId64"/>
    <p:sldId id="1233" r:id="rId65"/>
    <p:sldId id="1234" r:id="rId66"/>
    <p:sldId id="1236" r:id="rId67"/>
    <p:sldId id="1237" r:id="rId68"/>
    <p:sldId id="637" r:id="rId69"/>
    <p:sldId id="742" r:id="rId70"/>
    <p:sldId id="1232" r:id="rId71"/>
    <p:sldId id="718" r:id="rId72"/>
    <p:sldId id="745" r:id="rId73"/>
    <p:sldId id="1235" r:id="rId74"/>
    <p:sldId id="688" r:id="rId75"/>
    <p:sldId id="635" r:id="rId76"/>
    <p:sldId id="774" r:id="rId77"/>
    <p:sldId id="690" r:id="rId78"/>
    <p:sldId id="263" r:id="rId79"/>
    <p:sldId id="264" r:id="rId80"/>
    <p:sldId id="731" r:id="rId81"/>
    <p:sldId id="732" r:id="rId82"/>
    <p:sldId id="734" r:id="rId83"/>
    <p:sldId id="414" r:id="rId84"/>
    <p:sldId id="268" r:id="rId85"/>
    <p:sldId id="589" r:id="rId86"/>
    <p:sldId id="1238" r:id="rId87"/>
    <p:sldId id="1239" r:id="rId88"/>
    <p:sldId id="1240" r:id="rId89"/>
    <p:sldId id="1241" r:id="rId90"/>
    <p:sldId id="1246" r:id="rId91"/>
    <p:sldId id="1247" r:id="rId92"/>
    <p:sldId id="1248" r:id="rId93"/>
    <p:sldId id="1249" r:id="rId94"/>
    <p:sldId id="1250" r:id="rId95"/>
  </p:sldIdLst>
  <p:sldSz cx="6858000" cy="9906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8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siq Razaq (Staff, Astrea Academy Sheffield)" initials="WR(AAS" lastIdx="17" clrIdx="0">
    <p:extLst>
      <p:ext uri="{19B8F6BF-5375-455C-9EA6-DF929625EA0E}">
        <p15:presenceInfo xmlns:p15="http://schemas.microsoft.com/office/powerpoint/2012/main" userId="S::wasiq.razaq@astreasheffield.org::159e9762-73e0-4ac1-a5d5-3ca02db9f47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2341"/>
    <a:srgbClr val="FF01B3"/>
    <a:srgbClr val="C4A000"/>
    <a:srgbClr val="8F5902"/>
    <a:srgbClr val="0000FF"/>
    <a:srgbClr val="B0BF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6247" autoAdjust="0"/>
  </p:normalViewPr>
  <p:slideViewPr>
    <p:cSldViewPr snapToGrid="0">
      <p:cViewPr varScale="1">
        <p:scale>
          <a:sx n="66" d="100"/>
          <a:sy n="66" d="100"/>
        </p:scale>
        <p:origin x="2405" y="72"/>
      </p:cViewPr>
      <p:guideLst>
        <p:guide orient="horz" pos="3120"/>
        <p:guide pos="2183"/>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microsoft.com/office/2016/11/relationships/changesInfo" Target="changesInfos/changesInfo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commentAuthors" Target="commen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presProps" Target="presProp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Brown (Astrea Central)" userId="e4577f1c-a0ea-4eef-9851-9bdbe8619e58" providerId="ADAL" clId="{1C8439A8-903A-4D86-AA3D-7CAC932555EB}"/>
    <pc:docChg chg="undo custSel addSld delSld modSld">
      <pc:chgData name="Adam Brown (Astrea Central)" userId="e4577f1c-a0ea-4eef-9851-9bdbe8619e58" providerId="ADAL" clId="{1C8439A8-903A-4D86-AA3D-7CAC932555EB}" dt="2025-09-11T10:46:13.947" v="1327" actId="478"/>
      <pc:docMkLst>
        <pc:docMk/>
      </pc:docMkLst>
      <pc:sldChg chg="delSp add del mod">
        <pc:chgData name="Adam Brown (Astrea Central)" userId="e4577f1c-a0ea-4eef-9851-9bdbe8619e58" providerId="ADAL" clId="{1C8439A8-903A-4D86-AA3D-7CAC932555EB}" dt="2025-09-11T10:44:28.264" v="1285" actId="478"/>
        <pc:sldMkLst>
          <pc:docMk/>
          <pc:sldMk cId="962425829" sldId="263"/>
        </pc:sldMkLst>
      </pc:sldChg>
      <pc:sldChg chg="delSp mod">
        <pc:chgData name="Adam Brown (Astrea Central)" userId="e4577f1c-a0ea-4eef-9851-9bdbe8619e58" providerId="ADAL" clId="{1C8439A8-903A-4D86-AA3D-7CAC932555EB}" dt="2025-09-11T10:44:41.699" v="1289" actId="478"/>
        <pc:sldMkLst>
          <pc:docMk/>
          <pc:sldMk cId="1800071420" sldId="264"/>
        </pc:sldMkLst>
      </pc:sldChg>
      <pc:sldChg chg="delSp mod">
        <pc:chgData name="Adam Brown (Astrea Central)" userId="e4577f1c-a0ea-4eef-9851-9bdbe8619e58" providerId="ADAL" clId="{1C8439A8-903A-4D86-AA3D-7CAC932555EB}" dt="2025-09-11T10:45:49.612" v="1315" actId="478"/>
        <pc:sldMkLst>
          <pc:docMk/>
          <pc:sldMk cId="1896114032" sldId="268"/>
        </pc:sldMkLst>
      </pc:sldChg>
      <pc:sldChg chg="delSp mod">
        <pc:chgData name="Adam Brown (Astrea Central)" userId="e4577f1c-a0ea-4eef-9851-9bdbe8619e58" providerId="ADAL" clId="{1C8439A8-903A-4D86-AA3D-7CAC932555EB}" dt="2025-09-11T10:24:21.293" v="293" actId="478"/>
        <pc:sldMkLst>
          <pc:docMk/>
          <pc:sldMk cId="262385358" sldId="271"/>
        </pc:sldMkLst>
      </pc:sldChg>
      <pc:sldChg chg="addSp delSp modSp mod">
        <pc:chgData name="Adam Brown (Astrea Central)" userId="e4577f1c-a0ea-4eef-9851-9bdbe8619e58" providerId="ADAL" clId="{1C8439A8-903A-4D86-AA3D-7CAC932555EB}" dt="2025-09-11T10:23:01.019" v="259" actId="478"/>
        <pc:sldMkLst>
          <pc:docMk/>
          <pc:sldMk cId="2345233513" sldId="298"/>
        </pc:sldMkLst>
      </pc:sldChg>
      <pc:sldChg chg="delSp mod">
        <pc:chgData name="Adam Brown (Astrea Central)" userId="e4577f1c-a0ea-4eef-9851-9bdbe8619e58" providerId="ADAL" clId="{1C8439A8-903A-4D86-AA3D-7CAC932555EB}" dt="2025-09-11T10:23:35.974" v="275" actId="478"/>
        <pc:sldMkLst>
          <pc:docMk/>
          <pc:sldMk cId="2798923889" sldId="301"/>
        </pc:sldMkLst>
      </pc:sldChg>
      <pc:sldChg chg="addSp delSp mod">
        <pc:chgData name="Adam Brown (Astrea Central)" userId="e4577f1c-a0ea-4eef-9851-9bdbe8619e58" providerId="ADAL" clId="{1C8439A8-903A-4D86-AA3D-7CAC932555EB}" dt="2025-09-11T10:24:01.907" v="284" actId="478"/>
        <pc:sldMkLst>
          <pc:docMk/>
          <pc:sldMk cId="3848312339" sldId="304"/>
        </pc:sldMkLst>
      </pc:sldChg>
      <pc:sldChg chg="addSp delSp mod">
        <pc:chgData name="Adam Brown (Astrea Central)" userId="e4577f1c-a0ea-4eef-9851-9bdbe8619e58" providerId="ADAL" clId="{1C8439A8-903A-4D86-AA3D-7CAC932555EB}" dt="2025-09-11T10:25:35.133" v="337" actId="478"/>
        <pc:sldMkLst>
          <pc:docMk/>
          <pc:sldMk cId="2748859554" sldId="308"/>
        </pc:sldMkLst>
      </pc:sldChg>
      <pc:sldChg chg="delSp mod">
        <pc:chgData name="Adam Brown (Astrea Central)" userId="e4577f1c-a0ea-4eef-9851-9bdbe8619e58" providerId="ADAL" clId="{1C8439A8-903A-4D86-AA3D-7CAC932555EB}" dt="2025-09-11T10:28:54.491" v="446" actId="478"/>
        <pc:sldMkLst>
          <pc:docMk/>
          <pc:sldMk cId="425293585" sldId="311"/>
        </pc:sldMkLst>
      </pc:sldChg>
      <pc:sldChg chg="addSp delSp mod">
        <pc:chgData name="Adam Brown (Astrea Central)" userId="e4577f1c-a0ea-4eef-9851-9bdbe8619e58" providerId="ADAL" clId="{1C8439A8-903A-4D86-AA3D-7CAC932555EB}" dt="2025-09-11T10:31:32.536" v="556" actId="478"/>
        <pc:sldMkLst>
          <pc:docMk/>
          <pc:sldMk cId="886251300" sldId="318"/>
        </pc:sldMkLst>
      </pc:sldChg>
      <pc:sldChg chg="delSp mod">
        <pc:chgData name="Adam Brown (Astrea Central)" userId="e4577f1c-a0ea-4eef-9851-9bdbe8619e58" providerId="ADAL" clId="{1C8439A8-903A-4D86-AA3D-7CAC932555EB}" dt="2025-09-11T10:31:42.580" v="564" actId="478"/>
        <pc:sldMkLst>
          <pc:docMk/>
          <pc:sldMk cId="1476577565" sldId="319"/>
        </pc:sldMkLst>
      </pc:sldChg>
      <pc:sldChg chg="delSp modSp mod">
        <pc:chgData name="Adam Brown (Astrea Central)" userId="e4577f1c-a0ea-4eef-9851-9bdbe8619e58" providerId="ADAL" clId="{1C8439A8-903A-4D86-AA3D-7CAC932555EB}" dt="2025-09-11T10:19:43.608" v="124" actId="478"/>
        <pc:sldMkLst>
          <pc:docMk/>
          <pc:sldMk cId="3441728355" sldId="386"/>
        </pc:sldMkLst>
      </pc:sldChg>
      <pc:sldChg chg="delSp modSp mod">
        <pc:chgData name="Adam Brown (Astrea Central)" userId="e4577f1c-a0ea-4eef-9851-9bdbe8619e58" providerId="ADAL" clId="{1C8439A8-903A-4D86-AA3D-7CAC932555EB}" dt="2025-09-11T10:20:55.915" v="155" actId="478"/>
        <pc:sldMkLst>
          <pc:docMk/>
          <pc:sldMk cId="2669769063" sldId="387"/>
        </pc:sldMkLst>
      </pc:sldChg>
      <pc:sldChg chg="addSp delSp mod">
        <pc:chgData name="Adam Brown (Astrea Central)" userId="e4577f1c-a0ea-4eef-9851-9bdbe8619e58" providerId="ADAL" clId="{1C8439A8-903A-4D86-AA3D-7CAC932555EB}" dt="2025-09-11T10:26:42.685" v="377" actId="478"/>
        <pc:sldMkLst>
          <pc:docMk/>
          <pc:sldMk cId="505183128" sldId="391"/>
        </pc:sldMkLst>
      </pc:sldChg>
      <pc:sldChg chg="modSp mod">
        <pc:chgData name="Adam Brown (Astrea Central)" userId="e4577f1c-a0ea-4eef-9851-9bdbe8619e58" providerId="ADAL" clId="{1C8439A8-903A-4D86-AA3D-7CAC932555EB}" dt="2025-09-11T10:35:33.300" v="845" actId="20577"/>
        <pc:sldMkLst>
          <pc:docMk/>
          <pc:sldMk cId="2275730419" sldId="392"/>
        </pc:sldMkLst>
      </pc:sldChg>
      <pc:sldChg chg="modSp mod">
        <pc:chgData name="Adam Brown (Astrea Central)" userId="e4577f1c-a0ea-4eef-9851-9bdbe8619e58" providerId="ADAL" clId="{1C8439A8-903A-4D86-AA3D-7CAC932555EB}" dt="2025-09-11T10:34:55.949" v="778" actId="20577"/>
        <pc:sldMkLst>
          <pc:docMk/>
          <pc:sldMk cId="2871142808" sldId="393"/>
        </pc:sldMkLst>
      </pc:sldChg>
      <pc:sldChg chg="delSp modSp mod">
        <pc:chgData name="Adam Brown (Astrea Central)" userId="e4577f1c-a0ea-4eef-9851-9bdbe8619e58" providerId="ADAL" clId="{1C8439A8-903A-4D86-AA3D-7CAC932555EB}" dt="2025-09-11T10:35:56.619" v="865" actId="20577"/>
        <pc:sldMkLst>
          <pc:docMk/>
          <pc:sldMk cId="3987130587" sldId="394"/>
        </pc:sldMkLst>
      </pc:sldChg>
      <pc:sldChg chg="delSp modSp mod">
        <pc:chgData name="Adam Brown (Astrea Central)" userId="e4577f1c-a0ea-4eef-9851-9bdbe8619e58" providerId="ADAL" clId="{1C8439A8-903A-4D86-AA3D-7CAC932555EB}" dt="2025-09-11T10:36:07.260" v="870" actId="20577"/>
        <pc:sldMkLst>
          <pc:docMk/>
          <pc:sldMk cId="3618906114" sldId="395"/>
        </pc:sldMkLst>
      </pc:sldChg>
      <pc:sldChg chg="modSp mod">
        <pc:chgData name="Adam Brown (Astrea Central)" userId="e4577f1c-a0ea-4eef-9851-9bdbe8619e58" providerId="ADAL" clId="{1C8439A8-903A-4D86-AA3D-7CAC932555EB}" dt="2025-09-11T10:35:22.071" v="823" actId="20577"/>
        <pc:sldMkLst>
          <pc:docMk/>
          <pc:sldMk cId="689078840" sldId="396"/>
        </pc:sldMkLst>
      </pc:sldChg>
      <pc:sldChg chg="modSp mod">
        <pc:chgData name="Adam Brown (Astrea Central)" userId="e4577f1c-a0ea-4eef-9851-9bdbe8619e58" providerId="ADAL" clId="{1C8439A8-903A-4D86-AA3D-7CAC932555EB}" dt="2025-09-11T10:35:05.336" v="796" actId="20577"/>
        <pc:sldMkLst>
          <pc:docMk/>
          <pc:sldMk cId="3125050129" sldId="397"/>
        </pc:sldMkLst>
      </pc:sldChg>
      <pc:sldChg chg="modSp mod">
        <pc:chgData name="Adam Brown (Astrea Central)" userId="e4577f1c-a0ea-4eef-9851-9bdbe8619e58" providerId="ADAL" clId="{1C8439A8-903A-4D86-AA3D-7CAC932555EB}" dt="2025-09-11T10:33:51.310" v="675" actId="20577"/>
        <pc:sldMkLst>
          <pc:docMk/>
          <pc:sldMk cId="2163301936" sldId="398"/>
        </pc:sldMkLst>
      </pc:sldChg>
      <pc:sldChg chg="addSp delSp modSp mod">
        <pc:chgData name="Adam Brown (Astrea Central)" userId="e4577f1c-a0ea-4eef-9851-9bdbe8619e58" providerId="ADAL" clId="{1C8439A8-903A-4D86-AA3D-7CAC932555EB}" dt="2025-09-11T10:34:15.975" v="698" actId="6549"/>
        <pc:sldMkLst>
          <pc:docMk/>
          <pc:sldMk cId="4190285265" sldId="399"/>
        </pc:sldMkLst>
      </pc:sldChg>
      <pc:sldChg chg="delSp mod">
        <pc:chgData name="Adam Brown (Astrea Central)" userId="e4577f1c-a0ea-4eef-9851-9bdbe8619e58" providerId="ADAL" clId="{1C8439A8-903A-4D86-AA3D-7CAC932555EB}" dt="2025-09-11T10:32:41.256" v="610" actId="478"/>
        <pc:sldMkLst>
          <pc:docMk/>
          <pc:sldMk cId="3698607653" sldId="403"/>
        </pc:sldMkLst>
      </pc:sldChg>
      <pc:sldChg chg="delSp modSp mod">
        <pc:chgData name="Adam Brown (Astrea Central)" userId="e4577f1c-a0ea-4eef-9851-9bdbe8619e58" providerId="ADAL" clId="{1C8439A8-903A-4D86-AA3D-7CAC932555EB}" dt="2025-09-11T10:16:33.727" v="30" actId="478"/>
        <pc:sldMkLst>
          <pc:docMk/>
          <pc:sldMk cId="871156449" sldId="408"/>
        </pc:sldMkLst>
      </pc:sldChg>
      <pc:sldChg chg="modSp mod">
        <pc:chgData name="Adam Brown (Astrea Central)" userId="e4577f1c-a0ea-4eef-9851-9bdbe8619e58" providerId="ADAL" clId="{1C8439A8-903A-4D86-AA3D-7CAC932555EB}" dt="2025-09-11T10:16:44.724" v="35" actId="20577"/>
        <pc:sldMkLst>
          <pc:docMk/>
          <pc:sldMk cId="2103105370" sldId="410"/>
        </pc:sldMkLst>
      </pc:sldChg>
      <pc:sldChg chg="delSp modSp mod">
        <pc:chgData name="Adam Brown (Astrea Central)" userId="e4577f1c-a0ea-4eef-9851-9bdbe8619e58" providerId="ADAL" clId="{1C8439A8-903A-4D86-AA3D-7CAC932555EB}" dt="2025-09-11T10:45:33.682" v="1307" actId="478"/>
        <pc:sldMkLst>
          <pc:docMk/>
          <pc:sldMk cId="1606562861" sldId="414"/>
        </pc:sldMkLst>
      </pc:sldChg>
      <pc:sldChg chg="delSp mod">
        <pc:chgData name="Adam Brown (Astrea Central)" userId="e4577f1c-a0ea-4eef-9851-9bdbe8619e58" providerId="ADAL" clId="{1C8439A8-903A-4D86-AA3D-7CAC932555EB}" dt="2025-09-11T10:30:59.685" v="543" actId="478"/>
        <pc:sldMkLst>
          <pc:docMk/>
          <pc:sldMk cId="644135722" sldId="423"/>
        </pc:sldMkLst>
      </pc:sldChg>
      <pc:sldChg chg="delSp modSp mod">
        <pc:chgData name="Adam Brown (Astrea Central)" userId="e4577f1c-a0ea-4eef-9851-9bdbe8619e58" providerId="ADAL" clId="{1C8439A8-903A-4D86-AA3D-7CAC932555EB}" dt="2025-09-11T10:33:25.274" v="636" actId="478"/>
        <pc:sldMkLst>
          <pc:docMk/>
          <pc:sldMk cId="3320072963" sldId="584"/>
        </pc:sldMkLst>
      </pc:sldChg>
      <pc:sldChg chg="delSp mod">
        <pc:chgData name="Adam Brown (Astrea Central)" userId="e4577f1c-a0ea-4eef-9851-9bdbe8619e58" providerId="ADAL" clId="{1C8439A8-903A-4D86-AA3D-7CAC932555EB}" dt="2025-09-11T10:15:20.424" v="3" actId="478"/>
        <pc:sldMkLst>
          <pc:docMk/>
          <pc:sldMk cId="3303306997" sldId="609"/>
        </pc:sldMkLst>
      </pc:sldChg>
      <pc:sldChg chg="delSp mod">
        <pc:chgData name="Adam Brown (Astrea Central)" userId="e4577f1c-a0ea-4eef-9851-9bdbe8619e58" providerId="ADAL" clId="{1C8439A8-903A-4D86-AA3D-7CAC932555EB}" dt="2025-09-11T10:15:29.362" v="6" actId="478"/>
        <pc:sldMkLst>
          <pc:docMk/>
          <pc:sldMk cId="3253914428" sldId="610"/>
        </pc:sldMkLst>
      </pc:sldChg>
      <pc:sldChg chg="modSp mod">
        <pc:chgData name="Adam Brown (Astrea Central)" userId="e4577f1c-a0ea-4eef-9851-9bdbe8619e58" providerId="ADAL" clId="{1C8439A8-903A-4D86-AA3D-7CAC932555EB}" dt="2025-09-11T10:33:09.442" v="625" actId="6549"/>
        <pc:sldMkLst>
          <pc:docMk/>
          <pc:sldMk cId="2079907743" sldId="623"/>
        </pc:sldMkLst>
      </pc:sldChg>
      <pc:sldChg chg="modSp mod">
        <pc:chgData name="Adam Brown (Astrea Central)" userId="e4577f1c-a0ea-4eef-9851-9bdbe8619e58" providerId="ADAL" clId="{1C8439A8-903A-4D86-AA3D-7CAC932555EB}" dt="2025-09-11T10:36:21.766" v="895" actId="20577"/>
        <pc:sldMkLst>
          <pc:docMk/>
          <pc:sldMk cId="1364163814" sldId="627"/>
        </pc:sldMkLst>
      </pc:sldChg>
      <pc:sldChg chg="modSp mod">
        <pc:chgData name="Adam Brown (Astrea Central)" userId="e4577f1c-a0ea-4eef-9851-9bdbe8619e58" providerId="ADAL" clId="{1C8439A8-903A-4D86-AA3D-7CAC932555EB}" dt="2025-09-11T10:37:26.478" v="991" actId="20577"/>
        <pc:sldMkLst>
          <pc:docMk/>
          <pc:sldMk cId="2464929012" sldId="630"/>
        </pc:sldMkLst>
      </pc:sldChg>
      <pc:sldChg chg="addSp delSp modSp mod">
        <pc:chgData name="Adam Brown (Astrea Central)" userId="e4577f1c-a0ea-4eef-9851-9bdbe8619e58" providerId="ADAL" clId="{1C8439A8-903A-4D86-AA3D-7CAC932555EB}" dt="2025-09-11T10:43:08.412" v="1217" actId="20577"/>
        <pc:sldMkLst>
          <pc:docMk/>
          <pc:sldMk cId="2603023560" sldId="635"/>
        </pc:sldMkLst>
      </pc:sldChg>
      <pc:sldChg chg="delSp modSp mod">
        <pc:chgData name="Adam Brown (Astrea Central)" userId="e4577f1c-a0ea-4eef-9851-9bdbe8619e58" providerId="ADAL" clId="{1C8439A8-903A-4D86-AA3D-7CAC932555EB}" dt="2025-09-11T10:37:54.755" v="1007" actId="6549"/>
        <pc:sldMkLst>
          <pc:docMk/>
          <pc:sldMk cId="1204484103" sldId="637"/>
        </pc:sldMkLst>
      </pc:sldChg>
      <pc:sldChg chg="modSp mod">
        <pc:chgData name="Adam Brown (Astrea Central)" userId="e4577f1c-a0ea-4eef-9851-9bdbe8619e58" providerId="ADAL" clId="{1C8439A8-903A-4D86-AA3D-7CAC932555EB}" dt="2025-09-11T10:17:37.867" v="86" actId="20577"/>
        <pc:sldMkLst>
          <pc:docMk/>
          <pc:sldMk cId="387071802" sldId="638"/>
        </pc:sldMkLst>
      </pc:sldChg>
      <pc:sldChg chg="delSp modSp mod">
        <pc:chgData name="Adam Brown (Astrea Central)" userId="e4577f1c-a0ea-4eef-9851-9bdbe8619e58" providerId="ADAL" clId="{1C8439A8-903A-4D86-AA3D-7CAC932555EB}" dt="2025-09-11T10:18:06.230" v="96" actId="478"/>
        <pc:sldMkLst>
          <pc:docMk/>
          <pc:sldMk cId="1289636600" sldId="639"/>
        </pc:sldMkLst>
      </pc:sldChg>
      <pc:sldChg chg="addSp delSp modSp mod">
        <pc:chgData name="Adam Brown (Astrea Central)" userId="e4577f1c-a0ea-4eef-9851-9bdbe8619e58" providerId="ADAL" clId="{1C8439A8-903A-4D86-AA3D-7CAC932555EB}" dt="2025-09-11T10:41:19.475" v="1127" actId="20577"/>
        <pc:sldMkLst>
          <pc:docMk/>
          <pc:sldMk cId="786138704" sldId="688"/>
        </pc:sldMkLst>
      </pc:sldChg>
      <pc:sldChg chg="modSp mod">
        <pc:chgData name="Adam Brown (Astrea Central)" userId="e4577f1c-a0ea-4eef-9851-9bdbe8619e58" providerId="ADAL" clId="{1C8439A8-903A-4D86-AA3D-7CAC932555EB}" dt="2025-09-11T10:44:18.066" v="1282" actId="20577"/>
        <pc:sldMkLst>
          <pc:docMk/>
          <pc:sldMk cId="3063541273" sldId="690"/>
        </pc:sldMkLst>
      </pc:sldChg>
      <pc:sldChg chg="delSp modSp mod">
        <pc:chgData name="Adam Brown (Astrea Central)" userId="e4577f1c-a0ea-4eef-9851-9bdbe8619e58" providerId="ADAL" clId="{1C8439A8-903A-4D86-AA3D-7CAC932555EB}" dt="2025-09-11T10:38:51.869" v="1035" actId="6549"/>
        <pc:sldMkLst>
          <pc:docMk/>
          <pc:sldMk cId="2060183457" sldId="718"/>
        </pc:sldMkLst>
      </pc:sldChg>
      <pc:sldChg chg="delSp mod">
        <pc:chgData name="Adam Brown (Astrea Central)" userId="e4577f1c-a0ea-4eef-9851-9bdbe8619e58" providerId="ADAL" clId="{1C8439A8-903A-4D86-AA3D-7CAC932555EB}" dt="2025-09-11T10:44:49.731" v="1292" actId="478"/>
        <pc:sldMkLst>
          <pc:docMk/>
          <pc:sldMk cId="471605190" sldId="731"/>
        </pc:sldMkLst>
      </pc:sldChg>
      <pc:sldChg chg="delSp mod">
        <pc:chgData name="Adam Brown (Astrea Central)" userId="e4577f1c-a0ea-4eef-9851-9bdbe8619e58" providerId="ADAL" clId="{1C8439A8-903A-4D86-AA3D-7CAC932555EB}" dt="2025-09-11T10:45:00.854" v="1297" actId="478"/>
        <pc:sldMkLst>
          <pc:docMk/>
          <pc:sldMk cId="37642667" sldId="732"/>
        </pc:sldMkLst>
      </pc:sldChg>
      <pc:sldChg chg="delSp modSp mod">
        <pc:chgData name="Adam Brown (Astrea Central)" userId="e4577f1c-a0ea-4eef-9851-9bdbe8619e58" providerId="ADAL" clId="{1C8439A8-903A-4D86-AA3D-7CAC932555EB}" dt="2025-09-11T10:45:11.079" v="1302" actId="478"/>
        <pc:sldMkLst>
          <pc:docMk/>
          <pc:sldMk cId="2836024213" sldId="734"/>
        </pc:sldMkLst>
      </pc:sldChg>
      <pc:sldChg chg="delSp modSp mod">
        <pc:chgData name="Adam Brown (Astrea Central)" userId="e4577f1c-a0ea-4eef-9851-9bdbe8619e58" providerId="ADAL" clId="{1C8439A8-903A-4D86-AA3D-7CAC932555EB}" dt="2025-09-11T10:38:13.160" v="1013" actId="6549"/>
        <pc:sldMkLst>
          <pc:docMk/>
          <pc:sldMk cId="1139679624" sldId="742"/>
        </pc:sldMkLst>
      </pc:sldChg>
      <pc:sldChg chg="modSp">
        <pc:chgData name="Adam Brown (Astrea Central)" userId="e4577f1c-a0ea-4eef-9851-9bdbe8619e58" providerId="ADAL" clId="{1C8439A8-903A-4D86-AA3D-7CAC932555EB}" dt="2025-09-11T10:40:27.287" v="1089" actId="20577"/>
        <pc:sldMkLst>
          <pc:docMk/>
          <pc:sldMk cId="2781943068" sldId="745"/>
        </pc:sldMkLst>
      </pc:sldChg>
      <pc:sldChg chg="delSp modSp mod">
        <pc:chgData name="Adam Brown (Astrea Central)" userId="e4577f1c-a0ea-4eef-9851-9bdbe8619e58" providerId="ADAL" clId="{1C8439A8-903A-4D86-AA3D-7CAC932555EB}" dt="2025-09-11T10:15:37.865" v="10" actId="478"/>
        <pc:sldMkLst>
          <pc:docMk/>
          <pc:sldMk cId="2207505457" sldId="760"/>
        </pc:sldMkLst>
      </pc:sldChg>
      <pc:sldChg chg="delSp mod">
        <pc:chgData name="Adam Brown (Astrea Central)" userId="e4577f1c-a0ea-4eef-9851-9bdbe8619e58" providerId="ADAL" clId="{1C8439A8-903A-4D86-AA3D-7CAC932555EB}" dt="2025-09-11T10:15:51.146" v="15" actId="478"/>
        <pc:sldMkLst>
          <pc:docMk/>
          <pc:sldMk cId="2793727284" sldId="761"/>
        </pc:sldMkLst>
      </pc:sldChg>
      <pc:sldChg chg="delSp mod">
        <pc:chgData name="Adam Brown (Astrea Central)" userId="e4577f1c-a0ea-4eef-9851-9bdbe8619e58" providerId="ADAL" clId="{1C8439A8-903A-4D86-AA3D-7CAC932555EB}" dt="2025-09-11T10:16:00.702" v="16" actId="478"/>
        <pc:sldMkLst>
          <pc:docMk/>
          <pc:sldMk cId="794686062" sldId="762"/>
        </pc:sldMkLst>
      </pc:sldChg>
      <pc:sldChg chg="modSp mod">
        <pc:chgData name="Adam Brown (Astrea Central)" userId="e4577f1c-a0ea-4eef-9851-9bdbe8619e58" providerId="ADAL" clId="{1C8439A8-903A-4D86-AA3D-7CAC932555EB}" dt="2025-09-11T10:16:50.543" v="38" actId="20577"/>
        <pc:sldMkLst>
          <pc:docMk/>
          <pc:sldMk cId="1221249120" sldId="763"/>
        </pc:sldMkLst>
      </pc:sldChg>
      <pc:sldChg chg="modSp mod">
        <pc:chgData name="Adam Brown (Astrea Central)" userId="e4577f1c-a0ea-4eef-9851-9bdbe8619e58" providerId="ADAL" clId="{1C8439A8-903A-4D86-AA3D-7CAC932555EB}" dt="2025-09-11T10:16:59.744" v="41" actId="6549"/>
        <pc:sldMkLst>
          <pc:docMk/>
          <pc:sldMk cId="3443557328" sldId="765"/>
        </pc:sldMkLst>
      </pc:sldChg>
      <pc:sldChg chg="delSp modSp mod">
        <pc:chgData name="Adam Brown (Astrea Central)" userId="e4577f1c-a0ea-4eef-9851-9bdbe8619e58" providerId="ADAL" clId="{1C8439A8-903A-4D86-AA3D-7CAC932555EB}" dt="2025-09-11T10:19:32.142" v="116" actId="20577"/>
        <pc:sldMkLst>
          <pc:docMk/>
          <pc:sldMk cId="3306284463" sldId="771"/>
        </pc:sldMkLst>
      </pc:sldChg>
      <pc:sldChg chg="modSp mod">
        <pc:chgData name="Adam Brown (Astrea Central)" userId="e4577f1c-a0ea-4eef-9851-9bdbe8619e58" providerId="ADAL" clId="{1C8439A8-903A-4D86-AA3D-7CAC932555EB}" dt="2025-09-11T10:34:22.174" v="704" actId="20577"/>
        <pc:sldMkLst>
          <pc:docMk/>
          <pc:sldMk cId="1267743658" sldId="772"/>
        </pc:sldMkLst>
      </pc:sldChg>
      <pc:sldChg chg="modSp mod">
        <pc:chgData name="Adam Brown (Astrea Central)" userId="e4577f1c-a0ea-4eef-9851-9bdbe8619e58" providerId="ADAL" clId="{1C8439A8-903A-4D86-AA3D-7CAC932555EB}" dt="2025-09-11T10:34:37.507" v="736" actId="20577"/>
        <pc:sldMkLst>
          <pc:docMk/>
          <pc:sldMk cId="3065678312" sldId="773"/>
        </pc:sldMkLst>
      </pc:sldChg>
      <pc:sldChg chg="modSp mod">
        <pc:chgData name="Adam Brown (Astrea Central)" userId="e4577f1c-a0ea-4eef-9851-9bdbe8619e58" providerId="ADAL" clId="{1C8439A8-903A-4D86-AA3D-7CAC932555EB}" dt="2025-09-11T10:43:57.858" v="1274" actId="20577"/>
        <pc:sldMkLst>
          <pc:docMk/>
          <pc:sldMk cId="396736249" sldId="774"/>
        </pc:sldMkLst>
      </pc:sldChg>
      <pc:sldChg chg="modSp mod">
        <pc:chgData name="Adam Brown (Astrea Central)" userId="e4577f1c-a0ea-4eef-9851-9bdbe8619e58" providerId="ADAL" clId="{1C8439A8-903A-4D86-AA3D-7CAC932555EB}" dt="2025-09-11T10:36:42.060" v="935" actId="20577"/>
        <pc:sldMkLst>
          <pc:docMk/>
          <pc:sldMk cId="1539647579" sldId="775"/>
        </pc:sldMkLst>
      </pc:sldChg>
      <pc:sldChg chg="modSp mod">
        <pc:chgData name="Adam Brown (Astrea Central)" userId="e4577f1c-a0ea-4eef-9851-9bdbe8619e58" providerId="ADAL" clId="{1C8439A8-903A-4D86-AA3D-7CAC932555EB}" dt="2025-09-11T10:36:51.833" v="946" actId="6549"/>
        <pc:sldMkLst>
          <pc:docMk/>
          <pc:sldMk cId="791333903" sldId="776"/>
        </pc:sldMkLst>
      </pc:sldChg>
      <pc:sldChg chg="modSp mod">
        <pc:chgData name="Adam Brown (Astrea Central)" userId="e4577f1c-a0ea-4eef-9851-9bdbe8619e58" providerId="ADAL" clId="{1C8439A8-903A-4D86-AA3D-7CAC932555EB}" dt="2025-09-11T10:36:58.676" v="949" actId="6549"/>
        <pc:sldMkLst>
          <pc:docMk/>
          <pc:sldMk cId="2557147136" sldId="777"/>
        </pc:sldMkLst>
      </pc:sldChg>
      <pc:sldChg chg="modSp mod">
        <pc:chgData name="Adam Brown (Astrea Central)" userId="e4577f1c-a0ea-4eef-9851-9bdbe8619e58" providerId="ADAL" clId="{1C8439A8-903A-4D86-AA3D-7CAC932555EB}" dt="2025-09-11T10:37:14.796" v="978" actId="20577"/>
        <pc:sldMkLst>
          <pc:docMk/>
          <pc:sldMk cId="1727354984" sldId="778"/>
        </pc:sldMkLst>
      </pc:sldChg>
      <pc:sldChg chg="delSp mod">
        <pc:chgData name="Adam Brown (Astrea Central)" userId="e4577f1c-a0ea-4eef-9851-9bdbe8619e58" providerId="ADAL" clId="{1C8439A8-903A-4D86-AA3D-7CAC932555EB}" dt="2025-09-11T10:16:10.277" v="20" actId="478"/>
        <pc:sldMkLst>
          <pc:docMk/>
          <pc:sldMk cId="808451644" sldId="779"/>
        </pc:sldMkLst>
      </pc:sldChg>
      <pc:sldChg chg="delSp modSp mod">
        <pc:chgData name="Adam Brown (Astrea Central)" userId="e4577f1c-a0ea-4eef-9851-9bdbe8619e58" providerId="ADAL" clId="{1C8439A8-903A-4D86-AA3D-7CAC932555EB}" dt="2025-09-11T10:16:20.496" v="24" actId="478"/>
        <pc:sldMkLst>
          <pc:docMk/>
          <pc:sldMk cId="645148543" sldId="781"/>
        </pc:sldMkLst>
      </pc:sldChg>
      <pc:sldChg chg="addSp delSp modSp mod">
        <pc:chgData name="Adam Brown (Astrea Central)" userId="e4577f1c-a0ea-4eef-9851-9bdbe8619e58" providerId="ADAL" clId="{1C8439A8-903A-4D86-AA3D-7CAC932555EB}" dt="2025-09-11T10:22:07.171" v="233" actId="478"/>
        <pc:sldMkLst>
          <pc:docMk/>
          <pc:sldMk cId="767224884" sldId="782"/>
        </pc:sldMkLst>
      </pc:sldChg>
      <pc:sldChg chg="addSp delSp mod">
        <pc:chgData name="Adam Brown (Astrea Central)" userId="e4577f1c-a0ea-4eef-9851-9bdbe8619e58" providerId="ADAL" clId="{1C8439A8-903A-4D86-AA3D-7CAC932555EB}" dt="2025-09-11T10:28:01.448" v="408" actId="478"/>
        <pc:sldMkLst>
          <pc:docMk/>
          <pc:sldMk cId="1441230580" sldId="783"/>
        </pc:sldMkLst>
      </pc:sldChg>
      <pc:sldChg chg="delSp mod">
        <pc:chgData name="Adam Brown (Astrea Central)" userId="e4577f1c-a0ea-4eef-9851-9bdbe8619e58" providerId="ADAL" clId="{1C8439A8-903A-4D86-AA3D-7CAC932555EB}" dt="2025-09-11T10:29:34.711" v="482" actId="478"/>
        <pc:sldMkLst>
          <pc:docMk/>
          <pc:sldMk cId="2171972462" sldId="784"/>
        </pc:sldMkLst>
      </pc:sldChg>
      <pc:sldChg chg="delSp mod">
        <pc:chgData name="Adam Brown (Astrea Central)" userId="e4577f1c-a0ea-4eef-9851-9bdbe8619e58" providerId="ADAL" clId="{1C8439A8-903A-4D86-AA3D-7CAC932555EB}" dt="2025-09-11T10:30:05.846" v="509" actId="478"/>
        <pc:sldMkLst>
          <pc:docMk/>
          <pc:sldMk cId="749046522" sldId="785"/>
        </pc:sldMkLst>
      </pc:sldChg>
      <pc:sldChg chg="delSp mod">
        <pc:chgData name="Adam Brown (Astrea Central)" userId="e4577f1c-a0ea-4eef-9851-9bdbe8619e58" providerId="ADAL" clId="{1C8439A8-903A-4D86-AA3D-7CAC932555EB}" dt="2025-09-11T10:30:28.982" v="524" actId="478"/>
        <pc:sldMkLst>
          <pc:docMk/>
          <pc:sldMk cId="3670830453" sldId="786"/>
        </pc:sldMkLst>
      </pc:sldChg>
      <pc:sldChg chg="delSp mod">
        <pc:chgData name="Adam Brown (Astrea Central)" userId="e4577f1c-a0ea-4eef-9851-9bdbe8619e58" providerId="ADAL" clId="{1C8439A8-903A-4D86-AA3D-7CAC932555EB}" dt="2025-09-11T10:30:40.184" v="530" actId="478"/>
        <pc:sldMkLst>
          <pc:docMk/>
          <pc:sldMk cId="4152920570" sldId="787"/>
        </pc:sldMkLst>
      </pc:sldChg>
      <pc:sldChg chg="delSp mod">
        <pc:chgData name="Adam Brown (Astrea Central)" userId="e4577f1c-a0ea-4eef-9851-9bdbe8619e58" providerId="ADAL" clId="{1C8439A8-903A-4D86-AA3D-7CAC932555EB}" dt="2025-09-11T10:31:57.015" v="575" actId="478"/>
        <pc:sldMkLst>
          <pc:docMk/>
          <pc:sldMk cId="15408998" sldId="788"/>
        </pc:sldMkLst>
      </pc:sldChg>
      <pc:sldChg chg="delSp mod">
        <pc:chgData name="Adam Brown (Astrea Central)" userId="e4577f1c-a0ea-4eef-9851-9bdbe8619e58" providerId="ADAL" clId="{1C8439A8-903A-4D86-AA3D-7CAC932555EB}" dt="2025-09-11T10:32:16.649" v="593" actId="478"/>
        <pc:sldMkLst>
          <pc:docMk/>
          <pc:sldMk cId="3547202211" sldId="789"/>
        </pc:sldMkLst>
      </pc:sldChg>
      <pc:sldChg chg="delSp mod">
        <pc:chgData name="Adam Brown (Astrea Central)" userId="e4577f1c-a0ea-4eef-9851-9bdbe8619e58" providerId="ADAL" clId="{1C8439A8-903A-4D86-AA3D-7CAC932555EB}" dt="2025-09-11T10:32:32.034" v="604" actId="478"/>
        <pc:sldMkLst>
          <pc:docMk/>
          <pc:sldMk cId="1155165873" sldId="790"/>
        </pc:sldMkLst>
      </pc:sldChg>
      <pc:sldChg chg="delSp modSp mod">
        <pc:chgData name="Adam Brown (Astrea Central)" userId="e4577f1c-a0ea-4eef-9851-9bdbe8619e58" providerId="ADAL" clId="{1C8439A8-903A-4D86-AA3D-7CAC932555EB}" dt="2025-09-11T10:38:32.426" v="1024" actId="478"/>
        <pc:sldMkLst>
          <pc:docMk/>
          <pc:sldMk cId="3723355695" sldId="1232"/>
        </pc:sldMkLst>
      </pc:sldChg>
      <pc:sldChg chg="delSp mod">
        <pc:chgData name="Adam Brown (Astrea Central)" userId="e4577f1c-a0ea-4eef-9851-9bdbe8619e58" providerId="ADAL" clId="{1C8439A8-903A-4D86-AA3D-7CAC932555EB}" dt="2025-09-11T10:37:38.203" v="995" actId="478"/>
        <pc:sldMkLst>
          <pc:docMk/>
          <pc:sldMk cId="1367264850" sldId="1233"/>
        </pc:sldMkLst>
      </pc:sldChg>
      <pc:sldChg chg="delSp mod">
        <pc:chgData name="Adam Brown (Astrea Central)" userId="e4577f1c-a0ea-4eef-9851-9bdbe8619e58" providerId="ADAL" clId="{1C8439A8-903A-4D86-AA3D-7CAC932555EB}" dt="2025-09-11T10:37:41.926" v="997" actId="478"/>
        <pc:sldMkLst>
          <pc:docMk/>
          <pc:sldMk cId="3632875335" sldId="1234"/>
        </pc:sldMkLst>
      </pc:sldChg>
      <pc:sldChg chg="addSp delSp mod">
        <pc:chgData name="Adam Brown (Astrea Central)" userId="e4577f1c-a0ea-4eef-9851-9bdbe8619e58" providerId="ADAL" clId="{1C8439A8-903A-4D86-AA3D-7CAC932555EB}" dt="2025-09-11T10:40:39.549" v="1096" actId="478"/>
        <pc:sldMkLst>
          <pc:docMk/>
          <pc:sldMk cId="1672177246" sldId="1235"/>
        </pc:sldMkLst>
      </pc:sldChg>
      <pc:sldChg chg="delSp mod">
        <pc:chgData name="Adam Brown (Astrea Central)" userId="e4577f1c-a0ea-4eef-9851-9bdbe8619e58" providerId="ADAL" clId="{1C8439A8-903A-4D86-AA3D-7CAC932555EB}" dt="2025-09-11T10:37:45.254" v="1000" actId="478"/>
        <pc:sldMkLst>
          <pc:docMk/>
          <pc:sldMk cId="3096346053" sldId="1236"/>
        </pc:sldMkLst>
      </pc:sldChg>
      <pc:sldChg chg="delSp mod">
        <pc:chgData name="Adam Brown (Astrea Central)" userId="e4577f1c-a0ea-4eef-9851-9bdbe8619e58" providerId="ADAL" clId="{1C8439A8-903A-4D86-AA3D-7CAC932555EB}" dt="2025-09-11T10:37:48.096" v="1003" actId="478"/>
        <pc:sldMkLst>
          <pc:docMk/>
          <pc:sldMk cId="1132490060" sldId="1237"/>
        </pc:sldMkLst>
      </pc:sldChg>
      <pc:sldChg chg="delSp mod">
        <pc:chgData name="Adam Brown (Astrea Central)" userId="e4577f1c-a0ea-4eef-9851-9bdbe8619e58" providerId="ADAL" clId="{1C8439A8-903A-4D86-AA3D-7CAC932555EB}" dt="2025-09-11T10:32:46.246" v="613" actId="478"/>
        <pc:sldMkLst>
          <pc:docMk/>
          <pc:sldMk cId="2217879506" sldId="1242"/>
        </pc:sldMkLst>
      </pc:sldChg>
      <pc:sldChg chg="delSp mod">
        <pc:chgData name="Adam Brown (Astrea Central)" userId="e4577f1c-a0ea-4eef-9851-9bdbe8619e58" providerId="ADAL" clId="{1C8439A8-903A-4D86-AA3D-7CAC932555EB}" dt="2025-09-11T10:32:49.550" v="616" actId="478"/>
        <pc:sldMkLst>
          <pc:docMk/>
          <pc:sldMk cId="3953004801" sldId="1243"/>
        </pc:sldMkLst>
      </pc:sldChg>
      <pc:sldChg chg="delSp mod">
        <pc:chgData name="Adam Brown (Astrea Central)" userId="e4577f1c-a0ea-4eef-9851-9bdbe8619e58" providerId="ADAL" clId="{1C8439A8-903A-4D86-AA3D-7CAC932555EB}" dt="2025-09-11T10:32:53.483" v="619" actId="478"/>
        <pc:sldMkLst>
          <pc:docMk/>
          <pc:sldMk cId="718419551" sldId="1244"/>
        </pc:sldMkLst>
      </pc:sldChg>
      <pc:sldChg chg="delSp mod">
        <pc:chgData name="Adam Brown (Astrea Central)" userId="e4577f1c-a0ea-4eef-9851-9bdbe8619e58" providerId="ADAL" clId="{1C8439A8-903A-4D86-AA3D-7CAC932555EB}" dt="2025-09-11T10:32:57.200" v="622" actId="478"/>
        <pc:sldMkLst>
          <pc:docMk/>
          <pc:sldMk cId="868366235" sldId="1245"/>
        </pc:sldMkLst>
      </pc:sldChg>
      <pc:sldChg chg="delSp mod">
        <pc:chgData name="Adam Brown (Astrea Central)" userId="e4577f1c-a0ea-4eef-9851-9bdbe8619e58" providerId="ADAL" clId="{1C8439A8-903A-4D86-AA3D-7CAC932555EB}" dt="2025-09-11T10:45:59.898" v="1317" actId="478"/>
        <pc:sldMkLst>
          <pc:docMk/>
          <pc:sldMk cId="2730425560" sldId="1246"/>
        </pc:sldMkLst>
      </pc:sldChg>
      <pc:sldChg chg="delSp mod">
        <pc:chgData name="Adam Brown (Astrea Central)" userId="e4577f1c-a0ea-4eef-9851-9bdbe8619e58" providerId="ADAL" clId="{1C8439A8-903A-4D86-AA3D-7CAC932555EB}" dt="2025-09-11T10:46:02.544" v="1319" actId="478"/>
        <pc:sldMkLst>
          <pc:docMk/>
          <pc:sldMk cId="1575759774" sldId="1247"/>
        </pc:sldMkLst>
      </pc:sldChg>
      <pc:sldChg chg="delSp mod">
        <pc:chgData name="Adam Brown (Astrea Central)" userId="e4577f1c-a0ea-4eef-9851-9bdbe8619e58" providerId="ADAL" clId="{1C8439A8-903A-4D86-AA3D-7CAC932555EB}" dt="2025-09-11T10:46:06.097" v="1322" actId="478"/>
        <pc:sldMkLst>
          <pc:docMk/>
          <pc:sldMk cId="2482332410" sldId="1248"/>
        </pc:sldMkLst>
      </pc:sldChg>
      <pc:sldChg chg="delSp mod">
        <pc:chgData name="Adam Brown (Astrea Central)" userId="e4577f1c-a0ea-4eef-9851-9bdbe8619e58" providerId="ADAL" clId="{1C8439A8-903A-4D86-AA3D-7CAC932555EB}" dt="2025-09-11T10:46:08.996" v="1325" actId="478"/>
        <pc:sldMkLst>
          <pc:docMk/>
          <pc:sldMk cId="2544976946" sldId="1249"/>
        </pc:sldMkLst>
      </pc:sldChg>
      <pc:sldChg chg="delSp mod">
        <pc:chgData name="Adam Brown (Astrea Central)" userId="e4577f1c-a0ea-4eef-9851-9bdbe8619e58" providerId="ADAL" clId="{1C8439A8-903A-4D86-AA3D-7CAC932555EB}" dt="2025-09-11T10:46:13.947" v="1327" actId="478"/>
        <pc:sldMkLst>
          <pc:docMk/>
          <pc:sldMk cId="3137427550" sldId="1250"/>
        </pc:sldMkLst>
      </pc:sldChg>
    </pc:docChg>
  </pc:docChgLst>
  <pc:docChgLst>
    <pc:chgData name="Edward Commodore-Mensah (Cottenham)" userId="77a9305b-3f3f-436b-a5de-5891150a565a" providerId="ADAL" clId="{526B5A22-46D1-4195-B120-C9EDDF7986D3}"/>
    <pc:docChg chg="modSld sldOrd">
      <pc:chgData name="Edward Commodore-Mensah (Cottenham)" userId="77a9305b-3f3f-436b-a5de-5891150a565a" providerId="ADAL" clId="{526B5A22-46D1-4195-B120-C9EDDF7986D3}" dt="2025-11-25T10:44:26.845" v="1"/>
      <pc:docMkLst>
        <pc:docMk/>
      </pc:docMkLst>
      <pc:sldChg chg="ord">
        <pc:chgData name="Edward Commodore-Mensah (Cottenham)" userId="77a9305b-3f3f-436b-a5de-5891150a565a" providerId="ADAL" clId="{526B5A22-46D1-4195-B120-C9EDDF7986D3}" dt="2025-11-25T10:44:26.845" v="1"/>
        <pc:sldMkLst>
          <pc:docMk/>
          <pc:sldMk cId="2592791740" sldId="5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2B6A2F48-886E-9C4D-9A23-F79AB5041824}" type="datetimeFigureOut">
              <a:rPr lang="en-GB" smtClean="0"/>
              <a:t>19/11/2025</a:t>
            </a:fld>
            <a:endParaRPr lang="en-GB"/>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6C24A783-C653-C444-A1FE-7D3BC73388DB}" type="slidenum">
              <a:rPr lang="en-GB" smtClean="0"/>
              <a:t>‹#›</a:t>
            </a:fld>
            <a:endParaRPr lang="en-GB"/>
          </a:p>
        </p:txBody>
      </p:sp>
    </p:spTree>
    <p:extLst>
      <p:ext uri="{BB962C8B-B14F-4D97-AF65-F5344CB8AC3E}">
        <p14:creationId xmlns:p14="http://schemas.microsoft.com/office/powerpoint/2010/main" val="390172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 PAGE NUMBERS  </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1</a:t>
            </a:fld>
            <a:endParaRPr lang="en-GB"/>
          </a:p>
        </p:txBody>
      </p:sp>
    </p:spTree>
    <p:extLst>
      <p:ext uri="{BB962C8B-B14F-4D97-AF65-F5344CB8AC3E}">
        <p14:creationId xmlns:p14="http://schemas.microsoft.com/office/powerpoint/2010/main" val="314738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SPLIT UP – Check pages</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2</a:t>
            </a:fld>
            <a:endParaRPr lang="en-GB"/>
          </a:p>
        </p:txBody>
      </p:sp>
    </p:spTree>
    <p:extLst>
      <p:ext uri="{BB962C8B-B14F-4D97-AF65-F5344CB8AC3E}">
        <p14:creationId xmlns:p14="http://schemas.microsoft.com/office/powerpoint/2010/main" val="3041989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PRESENTATION AND LESSON STRUCTURE????</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3</a:t>
            </a:fld>
            <a:endParaRPr lang="en-GB"/>
          </a:p>
        </p:txBody>
      </p:sp>
    </p:spTree>
    <p:extLst>
      <p:ext uri="{BB962C8B-B14F-4D97-AF65-F5344CB8AC3E}">
        <p14:creationId xmlns:p14="http://schemas.microsoft.com/office/powerpoint/2010/main" val="3404366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Answers</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4</a:t>
            </a:fld>
            <a:endParaRPr lang="en-GB"/>
          </a:p>
        </p:txBody>
      </p:sp>
    </p:spTree>
    <p:extLst>
      <p:ext uri="{BB962C8B-B14F-4D97-AF65-F5344CB8AC3E}">
        <p14:creationId xmlns:p14="http://schemas.microsoft.com/office/powerpoint/2010/main" val="129993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Answers</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5</a:t>
            </a:fld>
            <a:endParaRPr lang="en-GB"/>
          </a:p>
        </p:txBody>
      </p:sp>
    </p:spTree>
    <p:extLst>
      <p:ext uri="{BB962C8B-B14F-4D97-AF65-F5344CB8AC3E}">
        <p14:creationId xmlns:p14="http://schemas.microsoft.com/office/powerpoint/2010/main" val="3912085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Answers</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6</a:t>
            </a:fld>
            <a:endParaRPr lang="en-GB"/>
          </a:p>
        </p:txBody>
      </p:sp>
    </p:spTree>
    <p:extLst>
      <p:ext uri="{BB962C8B-B14F-4D97-AF65-F5344CB8AC3E}">
        <p14:creationId xmlns:p14="http://schemas.microsoft.com/office/powerpoint/2010/main" val="368040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10</a:t>
            </a:fld>
            <a:endParaRPr lang="en-GB"/>
          </a:p>
        </p:txBody>
      </p:sp>
    </p:spTree>
    <p:extLst>
      <p:ext uri="{BB962C8B-B14F-4D97-AF65-F5344CB8AC3E}">
        <p14:creationId xmlns:p14="http://schemas.microsoft.com/office/powerpoint/2010/main" val="3654743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https://www.bbc.co.uk/bitesize/guides/zscq6yc/revision/1  </a:t>
            </a:r>
          </a:p>
        </p:txBody>
      </p:sp>
      <p:sp>
        <p:nvSpPr>
          <p:cNvPr id="4" name="Slide Number Placeholder 3"/>
          <p:cNvSpPr>
            <a:spLocks noGrp="1"/>
          </p:cNvSpPr>
          <p:nvPr>
            <p:ph type="sldNum" sz="quarter" idx="10"/>
          </p:nvPr>
        </p:nvSpPr>
        <p:spPr/>
        <p:txBody>
          <a:bodyPr/>
          <a:lstStyle/>
          <a:p>
            <a:fld id="{6C24A783-C653-C444-A1FE-7D3BC73388DB}" type="slidenum">
              <a:rPr lang="en-GB" smtClean="0"/>
              <a:t>14</a:t>
            </a:fld>
            <a:endParaRPr lang="en-GB"/>
          </a:p>
        </p:txBody>
      </p:sp>
    </p:spTree>
    <p:extLst>
      <p:ext uri="{BB962C8B-B14F-4D97-AF65-F5344CB8AC3E}">
        <p14:creationId xmlns:p14="http://schemas.microsoft.com/office/powerpoint/2010/main" val="3404364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15</a:t>
            </a:fld>
            <a:endParaRPr lang="en-GB"/>
          </a:p>
        </p:txBody>
      </p:sp>
    </p:spTree>
    <p:extLst>
      <p:ext uri="{BB962C8B-B14F-4D97-AF65-F5344CB8AC3E}">
        <p14:creationId xmlns:p14="http://schemas.microsoft.com/office/powerpoint/2010/main" val="2691765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17</a:t>
            </a:fld>
            <a:endParaRPr lang="en-GB"/>
          </a:p>
        </p:txBody>
      </p:sp>
    </p:spTree>
    <p:extLst>
      <p:ext uri="{BB962C8B-B14F-4D97-AF65-F5344CB8AC3E}">
        <p14:creationId xmlns:p14="http://schemas.microsoft.com/office/powerpoint/2010/main" val="4069386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31</a:t>
            </a:fld>
            <a:endParaRPr lang="en-GB"/>
          </a:p>
        </p:txBody>
      </p:sp>
    </p:spTree>
    <p:extLst>
      <p:ext uri="{BB962C8B-B14F-4D97-AF65-F5344CB8AC3E}">
        <p14:creationId xmlns:p14="http://schemas.microsoft.com/office/powerpoint/2010/main" val="1794214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32</a:t>
            </a:fld>
            <a:endParaRPr lang="en-GB"/>
          </a:p>
        </p:txBody>
      </p:sp>
    </p:spTree>
    <p:extLst>
      <p:ext uri="{BB962C8B-B14F-4D97-AF65-F5344CB8AC3E}">
        <p14:creationId xmlns:p14="http://schemas.microsoft.com/office/powerpoint/2010/main" val="310936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OBJECTIVES</a:t>
            </a:r>
            <a:r>
              <a:rPr lang="en-US" baseline="0"/>
              <a:t> </a:t>
            </a:r>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5364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44</a:t>
            </a:fld>
            <a:endParaRPr lang="en-GB"/>
          </a:p>
        </p:txBody>
      </p:sp>
    </p:spTree>
    <p:extLst>
      <p:ext uri="{BB962C8B-B14F-4D97-AF65-F5344CB8AC3E}">
        <p14:creationId xmlns:p14="http://schemas.microsoft.com/office/powerpoint/2010/main" val="36547437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OBJECTIVES</a:t>
            </a:r>
            <a:r>
              <a:rPr lang="en-US" baseline="0"/>
              <a:t> </a:t>
            </a:r>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42391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48</a:t>
            </a:fld>
            <a:endParaRPr lang="en-GB"/>
          </a:p>
        </p:txBody>
      </p:sp>
    </p:spTree>
    <p:extLst>
      <p:ext uri="{BB962C8B-B14F-4D97-AF65-F5344CB8AC3E}">
        <p14:creationId xmlns:p14="http://schemas.microsoft.com/office/powerpoint/2010/main" val="34385510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49</a:t>
            </a:fld>
            <a:endParaRPr lang="en-GB"/>
          </a:p>
        </p:txBody>
      </p:sp>
    </p:spTree>
    <p:extLst>
      <p:ext uri="{BB962C8B-B14F-4D97-AF65-F5344CB8AC3E}">
        <p14:creationId xmlns:p14="http://schemas.microsoft.com/office/powerpoint/2010/main" val="9836257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50</a:t>
            </a:fld>
            <a:endParaRPr lang="en-GB"/>
          </a:p>
        </p:txBody>
      </p:sp>
    </p:spTree>
    <p:extLst>
      <p:ext uri="{BB962C8B-B14F-4D97-AF65-F5344CB8AC3E}">
        <p14:creationId xmlns:p14="http://schemas.microsoft.com/office/powerpoint/2010/main" val="40669183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51</a:t>
            </a:fld>
            <a:endParaRPr lang="en-GB"/>
          </a:p>
        </p:txBody>
      </p:sp>
    </p:spTree>
    <p:extLst>
      <p:ext uri="{BB962C8B-B14F-4D97-AF65-F5344CB8AC3E}">
        <p14:creationId xmlns:p14="http://schemas.microsoft.com/office/powerpoint/2010/main" val="21741128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52</a:t>
            </a:fld>
            <a:endParaRPr lang="en-GB"/>
          </a:p>
        </p:txBody>
      </p:sp>
    </p:spTree>
    <p:extLst>
      <p:ext uri="{BB962C8B-B14F-4D97-AF65-F5344CB8AC3E}">
        <p14:creationId xmlns:p14="http://schemas.microsoft.com/office/powerpoint/2010/main" val="36235108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53</a:t>
            </a:fld>
            <a:endParaRPr lang="en-GB"/>
          </a:p>
        </p:txBody>
      </p:sp>
    </p:spTree>
    <p:extLst>
      <p:ext uri="{BB962C8B-B14F-4D97-AF65-F5344CB8AC3E}">
        <p14:creationId xmlns:p14="http://schemas.microsoft.com/office/powerpoint/2010/main" val="8326767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54</a:t>
            </a:fld>
            <a:endParaRPr lang="en-GB"/>
          </a:p>
        </p:txBody>
      </p:sp>
    </p:spTree>
    <p:extLst>
      <p:ext uri="{BB962C8B-B14F-4D97-AF65-F5344CB8AC3E}">
        <p14:creationId xmlns:p14="http://schemas.microsoft.com/office/powerpoint/2010/main" val="104863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Example 7 – division sign</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55</a:t>
            </a:fld>
            <a:endParaRPr lang="en-GB"/>
          </a:p>
        </p:txBody>
      </p:sp>
    </p:spTree>
    <p:extLst>
      <p:ext uri="{BB962C8B-B14F-4D97-AF65-F5344CB8AC3E}">
        <p14:creationId xmlns:p14="http://schemas.microsoft.com/office/powerpoint/2010/main" val="36170899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56</a:t>
            </a:fld>
            <a:endParaRPr lang="en-GB"/>
          </a:p>
        </p:txBody>
      </p:sp>
    </p:spTree>
    <p:extLst>
      <p:ext uri="{BB962C8B-B14F-4D97-AF65-F5344CB8AC3E}">
        <p14:creationId xmlns:p14="http://schemas.microsoft.com/office/powerpoint/2010/main" val="40669183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Example 7 – division sign</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57</a:t>
            </a:fld>
            <a:endParaRPr lang="en-GB"/>
          </a:p>
        </p:txBody>
      </p:sp>
    </p:spTree>
    <p:extLst>
      <p:ext uri="{BB962C8B-B14F-4D97-AF65-F5344CB8AC3E}">
        <p14:creationId xmlns:p14="http://schemas.microsoft.com/office/powerpoint/2010/main" val="23213878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58</a:t>
            </a:fld>
            <a:endParaRPr lang="en-GB"/>
          </a:p>
        </p:txBody>
      </p:sp>
    </p:spTree>
    <p:extLst>
      <p:ext uri="{BB962C8B-B14F-4D97-AF65-F5344CB8AC3E}">
        <p14:creationId xmlns:p14="http://schemas.microsoft.com/office/powerpoint/2010/main" val="17452827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59</a:t>
            </a:fld>
            <a:endParaRPr lang="en-GB"/>
          </a:p>
        </p:txBody>
      </p:sp>
    </p:spTree>
    <p:extLst>
      <p:ext uri="{BB962C8B-B14F-4D97-AF65-F5344CB8AC3E}">
        <p14:creationId xmlns:p14="http://schemas.microsoft.com/office/powerpoint/2010/main" val="21741128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MORE WORDED QUESTION</a:t>
            </a:r>
          </a:p>
          <a:p>
            <a:r>
              <a:rPr lang="en-US"/>
              <a:t>LONG</a:t>
            </a:r>
            <a:r>
              <a:rPr lang="en-US" baseline="0"/>
              <a:t> DIVISON w/example </a:t>
            </a:r>
            <a:endParaRPr lang="en-US"/>
          </a:p>
        </p:txBody>
      </p:sp>
      <p:sp>
        <p:nvSpPr>
          <p:cNvPr id="4" name="Slide Number Placeholder 3"/>
          <p:cNvSpPr>
            <a:spLocks noGrp="1"/>
          </p:cNvSpPr>
          <p:nvPr>
            <p:ph type="sldNum" sz="quarter" idx="10"/>
          </p:nvPr>
        </p:nvSpPr>
        <p:spPr/>
        <p:txBody>
          <a:bodyPr/>
          <a:lstStyle/>
          <a:p>
            <a:fld id="{6C24A783-C653-C444-A1FE-7D3BC73388DB}" type="slidenum">
              <a:rPr lang="en-GB" smtClean="0"/>
              <a:t>60</a:t>
            </a:fld>
            <a:endParaRPr lang="en-GB"/>
          </a:p>
        </p:txBody>
      </p:sp>
    </p:spTree>
    <p:extLst>
      <p:ext uri="{BB962C8B-B14F-4D97-AF65-F5344CB8AC3E}">
        <p14:creationId xmlns:p14="http://schemas.microsoft.com/office/powerpoint/2010/main" val="33175634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 questions</a:t>
            </a:r>
          </a:p>
        </p:txBody>
      </p:sp>
      <p:sp>
        <p:nvSpPr>
          <p:cNvPr id="4" name="Slide Number Placeholder 3"/>
          <p:cNvSpPr>
            <a:spLocks noGrp="1"/>
          </p:cNvSpPr>
          <p:nvPr>
            <p:ph type="sldNum" sz="quarter" idx="5"/>
          </p:nvPr>
        </p:nvSpPr>
        <p:spPr/>
        <p:txBody>
          <a:bodyPr/>
          <a:lstStyle/>
          <a:p>
            <a:fld id="{6C24A783-C653-C444-A1FE-7D3BC73388DB}" type="slidenum">
              <a:rPr lang="en-GB" smtClean="0"/>
              <a:t>61</a:t>
            </a:fld>
            <a:endParaRPr lang="en-GB"/>
          </a:p>
        </p:txBody>
      </p:sp>
    </p:spTree>
    <p:extLst>
      <p:ext uri="{BB962C8B-B14F-4D97-AF65-F5344CB8AC3E}">
        <p14:creationId xmlns:p14="http://schemas.microsoft.com/office/powerpoint/2010/main" val="32855912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 questions</a:t>
            </a:r>
          </a:p>
        </p:txBody>
      </p:sp>
      <p:sp>
        <p:nvSpPr>
          <p:cNvPr id="4" name="Slide Number Placeholder 3"/>
          <p:cNvSpPr>
            <a:spLocks noGrp="1"/>
          </p:cNvSpPr>
          <p:nvPr>
            <p:ph type="sldNum" sz="quarter" idx="5"/>
          </p:nvPr>
        </p:nvSpPr>
        <p:spPr/>
        <p:txBody>
          <a:bodyPr/>
          <a:lstStyle/>
          <a:p>
            <a:fld id="{6C24A783-C653-C444-A1FE-7D3BC73388DB}" type="slidenum">
              <a:rPr lang="en-GB" smtClean="0"/>
              <a:t>62</a:t>
            </a:fld>
            <a:endParaRPr lang="en-GB"/>
          </a:p>
        </p:txBody>
      </p:sp>
    </p:spTree>
    <p:extLst>
      <p:ext uri="{BB962C8B-B14F-4D97-AF65-F5344CB8AC3E}">
        <p14:creationId xmlns:p14="http://schemas.microsoft.com/office/powerpoint/2010/main" val="26543563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 questions</a:t>
            </a:r>
          </a:p>
        </p:txBody>
      </p:sp>
      <p:sp>
        <p:nvSpPr>
          <p:cNvPr id="4" name="Slide Number Placeholder 3"/>
          <p:cNvSpPr>
            <a:spLocks noGrp="1"/>
          </p:cNvSpPr>
          <p:nvPr>
            <p:ph type="sldNum" sz="quarter" idx="5"/>
          </p:nvPr>
        </p:nvSpPr>
        <p:spPr/>
        <p:txBody>
          <a:bodyPr/>
          <a:lstStyle/>
          <a:p>
            <a:fld id="{6C24A783-C653-C444-A1FE-7D3BC73388DB}" type="slidenum">
              <a:rPr lang="en-GB" smtClean="0"/>
              <a:t>63</a:t>
            </a:fld>
            <a:endParaRPr lang="en-GB"/>
          </a:p>
        </p:txBody>
      </p:sp>
    </p:spTree>
    <p:extLst>
      <p:ext uri="{BB962C8B-B14F-4D97-AF65-F5344CB8AC3E}">
        <p14:creationId xmlns:p14="http://schemas.microsoft.com/office/powerpoint/2010/main" val="36211544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 questions</a:t>
            </a:r>
          </a:p>
        </p:txBody>
      </p:sp>
      <p:sp>
        <p:nvSpPr>
          <p:cNvPr id="4" name="Slide Number Placeholder 3"/>
          <p:cNvSpPr>
            <a:spLocks noGrp="1"/>
          </p:cNvSpPr>
          <p:nvPr>
            <p:ph type="sldNum" sz="quarter" idx="5"/>
          </p:nvPr>
        </p:nvSpPr>
        <p:spPr/>
        <p:txBody>
          <a:bodyPr/>
          <a:lstStyle/>
          <a:p>
            <a:fld id="{6C24A783-C653-C444-A1FE-7D3BC73388DB}" type="slidenum">
              <a:rPr lang="en-GB" smtClean="0"/>
              <a:t>64</a:t>
            </a:fld>
            <a:endParaRPr lang="en-GB"/>
          </a:p>
        </p:txBody>
      </p:sp>
    </p:spTree>
    <p:extLst>
      <p:ext uri="{BB962C8B-B14F-4D97-AF65-F5344CB8AC3E}">
        <p14:creationId xmlns:p14="http://schemas.microsoft.com/office/powerpoint/2010/main" val="11699350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C24A783-C653-C444-A1FE-7D3BC73388DB}" type="slidenum">
              <a:rPr lang="en-GB" smtClean="0"/>
              <a:t>65</a:t>
            </a:fld>
            <a:endParaRPr lang="en-GB"/>
          </a:p>
        </p:txBody>
      </p:sp>
    </p:spTree>
    <p:extLst>
      <p:ext uri="{BB962C8B-B14F-4D97-AF65-F5344CB8AC3E}">
        <p14:creationId xmlns:p14="http://schemas.microsoft.com/office/powerpoint/2010/main" val="16867757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980D11F-BD83-4DFE-B0FB-ADB58F21858F}" type="slidenum">
              <a:rPr lang="en-GB" smtClean="0"/>
              <a:t>69</a:t>
            </a:fld>
            <a:endParaRPr lang="en-GB"/>
          </a:p>
        </p:txBody>
      </p:sp>
    </p:spTree>
    <p:extLst>
      <p:ext uri="{BB962C8B-B14F-4D97-AF65-F5344CB8AC3E}">
        <p14:creationId xmlns:p14="http://schemas.microsoft.com/office/powerpoint/2010/main" val="14945196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 questions</a:t>
            </a:r>
          </a:p>
        </p:txBody>
      </p:sp>
      <p:sp>
        <p:nvSpPr>
          <p:cNvPr id="4" name="Slide Number Placeholder 3"/>
          <p:cNvSpPr>
            <a:spLocks noGrp="1"/>
          </p:cNvSpPr>
          <p:nvPr>
            <p:ph type="sldNum" sz="quarter" idx="5"/>
          </p:nvPr>
        </p:nvSpPr>
        <p:spPr/>
        <p:txBody>
          <a:bodyPr/>
          <a:lstStyle/>
          <a:p>
            <a:fld id="{6C24A783-C653-C444-A1FE-7D3BC73388DB}" type="slidenum">
              <a:rPr lang="en-GB" smtClean="0"/>
              <a:t>70</a:t>
            </a:fld>
            <a:endParaRPr lang="en-GB"/>
          </a:p>
        </p:txBody>
      </p:sp>
    </p:spTree>
    <p:extLst>
      <p:ext uri="{BB962C8B-B14F-4D97-AF65-F5344CB8AC3E}">
        <p14:creationId xmlns:p14="http://schemas.microsoft.com/office/powerpoint/2010/main" val="18955559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00885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91192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980D11F-BD83-4DFE-B0FB-ADB58F21858F}" type="slidenum">
              <a:rPr lang="en-GB" smtClean="0"/>
              <a:t>77</a:t>
            </a:fld>
            <a:endParaRPr lang="en-GB"/>
          </a:p>
        </p:txBody>
      </p:sp>
    </p:spTree>
    <p:extLst>
      <p:ext uri="{BB962C8B-B14F-4D97-AF65-F5344CB8AC3E}">
        <p14:creationId xmlns:p14="http://schemas.microsoft.com/office/powerpoint/2010/main" val="42797032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a:t>
            </a:r>
            <a:r>
              <a:rPr lang="en-US" baseline="0"/>
              <a:t> do – examples filling in </a:t>
            </a:r>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77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7B3E3F01-C249-4630-8925-3FA8CA5D5124}" type="datetime1">
              <a:rPr lang="en-GB" smtClean="0"/>
              <a:t>19/11/2025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576062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95D24F-25D0-4644-A4B7-679B0D92A27B}" type="datetime1">
              <a:rPr lang="en-GB" smtClean="0"/>
              <a:t>19/11/2025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46462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12945C-0756-4826-BDE8-0D36F2293E24}" type="datetime1">
              <a:rPr lang="en-GB" smtClean="0"/>
              <a:t>19/11/2025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3091128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0FA7D07-9EDF-4EAA-A2E9-53F69F56EAB8}" type="datetime1">
              <a:rPr lang="en-GB" smtClean="0"/>
              <a:t>19/11/2025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1839719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27D1F21-94FA-4612-940D-140680A041D4}" type="datetime1">
              <a:rPr lang="en-GB" smtClean="0"/>
              <a:t>19/11/2025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1246205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60D50B-0179-45AB-B8BD-E845C2D492B8}" type="datetime1">
              <a:rPr lang="en-GB" smtClean="0"/>
              <a:t>19/11/2025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469753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7FE9EA-5761-4B75-9D0E-B2701F0B8FAB}" type="datetime1">
              <a:rPr lang="en-GB" smtClean="0"/>
              <a:t>19/11/2025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124629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A0451BA-61E4-4CA2-82F9-D917BA195972}" type="datetime1">
              <a:rPr lang="en-GB" smtClean="0"/>
              <a:t>19/11/2025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249834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728B166B-48A3-42CC-B417-680258AF0255}" type="datetime1">
              <a:rPr lang="en-GB" smtClean="0"/>
              <a:t>19/11/2025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060343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B4514A-CA9A-4483-95D0-EC2F9A739675}" type="datetime1">
              <a:rPr lang="en-GB" smtClean="0"/>
              <a:t>19/11/2025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3055906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8A05CB-CDC6-426C-8DC1-99DBE1916FDA}" type="datetime1">
              <a:rPr lang="en-GB" smtClean="0"/>
              <a:t>19/11/2025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270836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EAA1063-315D-4510-AA5C-A89F8FFE3FC8}" type="datetime1">
              <a:rPr lang="en-GB" smtClean="0"/>
              <a:t>19/11/2025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19F1D9CC-7119-45EC-A96C-D8C0660F3AAB}" type="slidenum">
              <a:rPr lang="en-GB" smtClean="0"/>
              <a:t>‹#›</a:t>
            </a:fld>
            <a:endParaRPr lang="en-GB"/>
          </a:p>
        </p:txBody>
      </p:sp>
    </p:spTree>
    <p:extLst>
      <p:ext uri="{BB962C8B-B14F-4D97-AF65-F5344CB8AC3E}">
        <p14:creationId xmlns:p14="http://schemas.microsoft.com/office/powerpoint/2010/main" val="27614010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102.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510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3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s>
</file>

<file path=ppt/slides/_rels/slide36.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3" Type="http://schemas.openxmlformats.org/officeDocument/2006/relationships/image" Target="../media/image71.png"/><Relationship Id="rId7" Type="http://schemas.openxmlformats.org/officeDocument/2006/relationships/image" Target="../media/image75.png"/><Relationship Id="rId12" Type="http://schemas.openxmlformats.org/officeDocument/2006/relationships/image" Target="../media/image80.png"/><Relationship Id="rId17" Type="http://schemas.openxmlformats.org/officeDocument/2006/relationships/image" Target="../media/image85.png"/><Relationship Id="rId2" Type="http://schemas.openxmlformats.org/officeDocument/2006/relationships/image" Target="../media/image70.png"/><Relationship Id="rId16" Type="http://schemas.openxmlformats.org/officeDocument/2006/relationships/image" Target="../media/image84.png"/><Relationship Id="rId1" Type="http://schemas.openxmlformats.org/officeDocument/2006/relationships/slideLayout" Target="../slideLayouts/slideLayout7.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5" Type="http://schemas.openxmlformats.org/officeDocument/2006/relationships/image" Target="../media/image8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 Id="rId14" Type="http://schemas.openxmlformats.org/officeDocument/2006/relationships/image" Target="../media/image82.png"/></Relationships>
</file>

<file path=ppt/slides/_rels/slide37.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3.png"/><Relationship Id="rId7" Type="http://schemas.openxmlformats.org/officeDocument/2006/relationships/image" Target="../media/image107.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106.png"/><Relationship Id="rId5" Type="http://schemas.openxmlformats.org/officeDocument/2006/relationships/image" Target="../media/image105.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s>
</file>

<file path=ppt/slides/_rels/slide3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601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3" Type="http://schemas.openxmlformats.org/officeDocument/2006/relationships/image" Target="../media/image61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80.png"/></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7.png"/></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86.png"/><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860.png"/></Relationships>
</file>

<file path=ppt/slides/_rels/slide5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890.png"/><Relationship Id="rId4" Type="http://schemas.openxmlformats.org/officeDocument/2006/relationships/image" Target="../media/image89.png"/></Relationships>
</file>

<file path=ppt/slides/_rels/slide5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92.png"/><Relationship Id="rId4" Type="http://schemas.openxmlformats.org/officeDocument/2006/relationships/image" Target="../media/image91.png"/></Relationships>
</file>

<file path=ppt/slides/_rels/slide5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6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99.png"/></Relationships>
</file>

<file path=ppt/slides/_rels/slide63.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0.png"/><Relationship Id="rId7"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11.png"/><Relationship Id="rId5" Type="http://schemas.openxmlformats.org/officeDocument/2006/relationships/image" Target="../media/image102.png"/><Relationship Id="rId4" Type="http://schemas.openxmlformats.org/officeDocument/2006/relationships/image" Target="../media/image101.png"/></Relationships>
</file>

<file path=ppt/slides/_rels/slide64.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116.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65.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26.png"/><Relationship Id="rId7" Type="http://schemas.openxmlformats.org/officeDocument/2006/relationships/image" Target="../media/image130.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66.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18.png"/><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image" Target="../media/image135.png"/><Relationship Id="rId4" Type="http://schemas.openxmlformats.org/officeDocument/2006/relationships/image" Target="../media/image119.png"/></Relationships>
</file>

<file path=ppt/slides/_rels/slide6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37.png"/><Relationship Id="rId1" Type="http://schemas.openxmlformats.org/officeDocument/2006/relationships/slideLayout" Target="../slideLayouts/slideLayout7.xml"/><Relationship Id="rId4" Type="http://schemas.openxmlformats.org/officeDocument/2006/relationships/image" Target="../media/image123.png"/></Relationships>
</file>

<file path=ppt/slides/_rels/slide6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40.png"/><Relationship Id="rId1" Type="http://schemas.openxmlformats.org/officeDocument/2006/relationships/slideLayout" Target="../slideLayouts/slideLayout7.xml"/><Relationship Id="rId5" Type="http://schemas.openxmlformats.org/officeDocument/2006/relationships/image" Target="../media/image131.png"/><Relationship Id="rId4" Type="http://schemas.openxmlformats.org/officeDocument/2006/relationships/image" Target="../media/image125.png"/></Relationships>
</file>

<file path=ppt/slides/_rels/slide69.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134.png"/></Relationships>
</file>

<file path=ppt/slides/_rels/slide70.xml.rels><?xml version="1.0" encoding="UTF-8" standalone="yes"?>
<Relationships xmlns="http://schemas.openxmlformats.org/package/2006/relationships"><Relationship Id="rId3" Type="http://schemas.openxmlformats.org/officeDocument/2006/relationships/image" Target="../media/image136.png"/><Relationship Id="rId7" Type="http://schemas.openxmlformats.org/officeDocument/2006/relationships/image" Target="../media/image14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41.png"/><Relationship Id="rId5" Type="http://schemas.openxmlformats.org/officeDocument/2006/relationships/image" Target="../media/image139.png"/><Relationship Id="rId4" Type="http://schemas.openxmlformats.org/officeDocument/2006/relationships/image" Target="../media/image138.png"/></Relationships>
</file>

<file path=ppt/slides/_rels/slide71.xml.rels><?xml version="1.0" encoding="UTF-8" standalone="yes"?>
<Relationships xmlns="http://schemas.openxmlformats.org/package/2006/relationships"><Relationship Id="rId3" Type="http://schemas.openxmlformats.org/officeDocument/2006/relationships/image" Target="../media/image1510.png"/><Relationship Id="rId2" Type="http://schemas.openxmlformats.org/officeDocument/2006/relationships/image" Target="../media/image1500.png"/><Relationship Id="rId1" Type="http://schemas.openxmlformats.org/officeDocument/2006/relationships/slideLayout" Target="../slideLayouts/slideLayout7.xml"/><Relationship Id="rId4" Type="http://schemas.openxmlformats.org/officeDocument/2006/relationships/image" Target="../media/image1520.png"/></Relationships>
</file>

<file path=ppt/slides/_rels/slide72.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7.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s>
</file>

<file path=ppt/slides/_rels/slide7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62.png"/><Relationship Id="rId7" Type="http://schemas.openxmlformats.org/officeDocument/2006/relationships/image" Target="../media/image150.png"/><Relationship Id="rId2" Type="http://schemas.openxmlformats.org/officeDocument/2006/relationships/image" Target="../media/image161.png"/><Relationship Id="rId1" Type="http://schemas.openxmlformats.org/officeDocument/2006/relationships/slideLayout" Target="../slideLayouts/slideLayout7.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63.png"/></Relationships>
</file>

<file path=ppt/slides/_rels/slide74.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7.xml"/><Relationship Id="rId5" Type="http://schemas.openxmlformats.org/officeDocument/2006/relationships/image" Target="../media/image37.png"/><Relationship Id="rId4" Type="http://schemas.microsoft.com/office/2007/relationships/hdphoto" Target="../media/hdphoto2.wdp"/></Relationships>
</file>

<file path=ppt/slides/_rels/slide75.xml.rels><?xml version="1.0" encoding="UTF-8" standalone="yes"?>
<Relationships xmlns="http://schemas.openxmlformats.org/package/2006/relationships"><Relationship Id="rId8" Type="http://schemas.openxmlformats.org/officeDocument/2006/relationships/image" Target="../media/image153.png"/><Relationship Id="rId3" Type="http://schemas.openxmlformats.org/officeDocument/2006/relationships/image" Target="../media/image1210.png"/><Relationship Id="rId7" Type="http://schemas.openxmlformats.org/officeDocument/2006/relationships/image" Target="../media/image1610.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1511.png"/><Relationship Id="rId5" Type="http://schemas.openxmlformats.org/officeDocument/2006/relationships/image" Target="../media/image1410.png"/><Relationship Id="rId4" Type="http://schemas.openxmlformats.org/officeDocument/2006/relationships/image" Target="../media/image1310.png"/></Relationships>
</file>

<file path=ppt/slides/_rels/slide76.xml.rels><?xml version="1.0" encoding="UTF-8" standalone="yes"?>
<Relationships xmlns="http://schemas.openxmlformats.org/package/2006/relationships"><Relationship Id="rId3" Type="http://schemas.openxmlformats.org/officeDocument/2006/relationships/image" Target="../media/image1810.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153.png"/></Relationships>
</file>

<file path=ppt/slides/_rels/slide77.xml.rels><?xml version="1.0" encoding="UTF-8" standalone="yes"?>
<Relationships xmlns="http://schemas.openxmlformats.org/package/2006/relationships"><Relationship Id="rId3" Type="http://schemas.openxmlformats.org/officeDocument/2006/relationships/image" Target="../media/image1910.pn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2110.png"/><Relationship Id="rId5" Type="http://schemas.openxmlformats.org/officeDocument/2006/relationships/image" Target="../media/image2010.png"/><Relationship Id="rId4" Type="http://schemas.openxmlformats.org/officeDocument/2006/relationships/image" Target="../media/image153.png"/></Relationships>
</file>

<file path=ppt/slides/_rels/slide7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2211.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8" Type="http://schemas.openxmlformats.org/officeDocument/2006/relationships/image" Target="../media/image3111.png"/><Relationship Id="rId3" Type="http://schemas.openxmlformats.org/officeDocument/2006/relationships/image" Target="../media/image2611.png"/><Relationship Id="rId7" Type="http://schemas.openxmlformats.org/officeDocument/2006/relationships/image" Target="../media/image3011.png"/><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2911.png"/><Relationship Id="rId5" Type="http://schemas.openxmlformats.org/officeDocument/2006/relationships/image" Target="../media/image2811.png"/><Relationship Id="rId4" Type="http://schemas.openxmlformats.org/officeDocument/2006/relationships/image" Target="../media/image271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image" Target="../media/image155.png"/><Relationship Id="rId1" Type="http://schemas.openxmlformats.org/officeDocument/2006/relationships/slideLayout" Target="../slideLayouts/slideLayout7.xml"/><Relationship Id="rId5" Type="http://schemas.openxmlformats.org/officeDocument/2006/relationships/image" Target="../media/image4103.png"/><Relationship Id="rId4" Type="http://schemas.openxmlformats.org/officeDocument/2006/relationships/image" Target="../media/image156.png"/></Relationships>
</file>

<file path=ppt/slides/_rels/slide83.xml.rels><?xml version="1.0" encoding="UTF-8" standalone="yes"?>
<Relationships xmlns="http://schemas.openxmlformats.org/package/2006/relationships"><Relationship Id="rId3" Type="http://schemas.openxmlformats.org/officeDocument/2006/relationships/image" Target="../media/image5101.png"/><Relationship Id="rId2" Type="http://schemas.openxmlformats.org/officeDocument/2006/relationships/image" Target="../media/image156.png"/><Relationship Id="rId1" Type="http://schemas.openxmlformats.org/officeDocument/2006/relationships/slideLayout" Target="../slideLayouts/slideLayout7.xml"/><Relationship Id="rId5" Type="http://schemas.openxmlformats.org/officeDocument/2006/relationships/image" Target="../media/image711.png"/><Relationship Id="rId4" Type="http://schemas.openxmlformats.org/officeDocument/2006/relationships/image" Target="../media/image610.png"/></Relationships>
</file>

<file path=ppt/slides/_rels/slide84.xml.rels><?xml version="1.0" encoding="UTF-8" standalone="yes"?>
<Relationships xmlns="http://schemas.openxmlformats.org/package/2006/relationships"><Relationship Id="rId3" Type="http://schemas.openxmlformats.org/officeDocument/2006/relationships/image" Target="../media/image811.png"/><Relationship Id="rId2" Type="http://schemas.openxmlformats.org/officeDocument/2006/relationships/image" Target="../media/image156.png"/><Relationship Id="rId1" Type="http://schemas.openxmlformats.org/officeDocument/2006/relationships/slideLayout" Target="../slideLayouts/slideLayout7.xml"/><Relationship Id="rId5" Type="http://schemas.openxmlformats.org/officeDocument/2006/relationships/image" Target="../media/image1010.png"/><Relationship Id="rId4" Type="http://schemas.openxmlformats.org/officeDocument/2006/relationships/image" Target="../media/image910.png"/></Relationships>
</file>

<file path=ppt/slides/_rels/slide85.xml.rels><?xml version="1.0" encoding="UTF-8" standalone="yes"?>
<Relationships xmlns="http://schemas.openxmlformats.org/package/2006/relationships"><Relationship Id="rId2" Type="http://schemas.openxmlformats.org/officeDocument/2006/relationships/image" Target="../media/image1110.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211.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0" y="0"/>
            <a:ext cx="6858000" cy="9906000"/>
          </a:xfrm>
          <a:custGeom>
            <a:avLst/>
            <a:gdLst>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811060 w 6488483"/>
              <a:gd name="connsiteY5" fmla="*/ 811060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811060 w 6488483"/>
              <a:gd name="connsiteY9" fmla="*/ 811060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6228568 w 6488483"/>
              <a:gd name="connsiteY8" fmla="*/ 272441 h 9394520"/>
              <a:gd name="connsiteX9" fmla="*/ 284967 w 6488483"/>
              <a:gd name="connsiteY9" fmla="*/ 272441 h 939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88483" h="9394520">
                <a:moveTo>
                  <a:pt x="0" y="0"/>
                </a:moveTo>
                <a:lnTo>
                  <a:pt x="6488483" y="0"/>
                </a:lnTo>
                <a:lnTo>
                  <a:pt x="6488483" y="9394520"/>
                </a:lnTo>
                <a:lnTo>
                  <a:pt x="0" y="9394520"/>
                </a:lnTo>
                <a:lnTo>
                  <a:pt x="0" y="0"/>
                </a:lnTo>
                <a:close/>
                <a:moveTo>
                  <a:pt x="284967" y="272441"/>
                </a:moveTo>
                <a:cubicBezTo>
                  <a:pt x="280792" y="3226496"/>
                  <a:pt x="276616" y="6180550"/>
                  <a:pt x="272441" y="9134605"/>
                </a:cubicBezTo>
                <a:lnTo>
                  <a:pt x="6216042" y="9134606"/>
                </a:lnTo>
                <a:cubicBezTo>
                  <a:pt x="6220217" y="6180551"/>
                  <a:pt x="6224393" y="3226496"/>
                  <a:pt x="6228568" y="272441"/>
                </a:cubicBezTo>
                <a:lnTo>
                  <a:pt x="284967" y="272441"/>
                </a:lnTo>
                <a:close/>
              </a:path>
            </a:pathLst>
          </a:custGeom>
          <a:solidFill>
            <a:schemeClr val="bg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AutoShape 6" descr="Image result for expression fun maths"/>
          <p:cNvSpPr>
            <a:spLocks noChangeAspect="1" noChangeArrowheads="1"/>
          </p:cNvSpPr>
          <p:nvPr/>
        </p:nvSpPr>
        <p:spPr bwMode="auto">
          <a:xfrm>
            <a:off x="155575" y="-623888"/>
            <a:ext cx="1924050" cy="13144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3" name="Table 2"/>
          <p:cNvGraphicFramePr>
            <a:graphicFrameLocks noGrp="1"/>
          </p:cNvGraphicFramePr>
          <p:nvPr>
            <p:extLst>
              <p:ext uri="{D42A27DB-BD31-4B8C-83A1-F6EECF244321}">
                <p14:modId xmlns:p14="http://schemas.microsoft.com/office/powerpoint/2010/main" val="1165164951"/>
              </p:ext>
            </p:extLst>
          </p:nvPr>
        </p:nvGraphicFramePr>
        <p:xfrm>
          <a:off x="361927" y="2146301"/>
          <a:ext cx="6156570" cy="2687720"/>
        </p:xfrm>
        <a:graphic>
          <a:graphicData uri="http://schemas.openxmlformats.org/drawingml/2006/table">
            <a:tbl>
              <a:tblPr firstRow="1" bandRow="1">
                <a:tableStyleId>{5C22544A-7EE6-4342-B048-85BDC9FD1C3A}</a:tableStyleId>
              </a:tblPr>
              <a:tblGrid>
                <a:gridCol w="6156570">
                  <a:extLst>
                    <a:ext uri="{9D8B030D-6E8A-4147-A177-3AD203B41FA5}">
                      <a16:colId xmlns:a16="http://schemas.microsoft.com/office/drawing/2014/main" val="3141629024"/>
                    </a:ext>
                  </a:extLst>
                </a:gridCol>
              </a:tblGrid>
              <a:tr h="621499">
                <a:tc>
                  <a:txBody>
                    <a:bodyPr/>
                    <a:lstStyle/>
                    <a:p>
                      <a:pPr algn="ctr"/>
                      <a:r>
                        <a:rPr lang="en-US" sz="4000">
                          <a:solidFill>
                            <a:sysClr val="windowText" lastClr="000000"/>
                          </a:solidFill>
                          <a:latin typeface="+mj-lt"/>
                        </a:rPr>
                        <a:t>YEAR 10 MATHEMATICS</a:t>
                      </a:r>
                      <a:endParaRPr lang="en-GB" sz="4000">
                        <a:solidFill>
                          <a:sysClr val="windowText" lastClr="000000"/>
                        </a:solidFill>
                        <a:latin typeface="+mj-lt"/>
                      </a:endParaRPr>
                    </a:p>
                  </a:txBody>
                  <a:tcPr anchor="ctr">
                    <a:lnB w="12700" cap="flat" cmpd="sng" algn="ctr">
                      <a:solidFill>
                        <a:schemeClr val="tx1"/>
                      </a:solidFill>
                      <a:prstDash val="dot"/>
                      <a:round/>
                      <a:headEnd type="none" w="med" len="med"/>
                      <a:tailEnd type="none" w="med" len="med"/>
                    </a:lnB>
                    <a:solidFill>
                      <a:schemeClr val="bg1"/>
                    </a:solidFill>
                  </a:tcPr>
                </a:tc>
                <a:extLst>
                  <a:ext uri="{0D108BD9-81ED-4DB2-BD59-A6C34878D82A}">
                    <a16:rowId xmlns:a16="http://schemas.microsoft.com/office/drawing/2014/main" val="2360724906"/>
                  </a:ext>
                </a:extLst>
              </a:tr>
              <a:tr h="432200">
                <a:tc>
                  <a:txBody>
                    <a:bodyPr/>
                    <a:lstStyle/>
                    <a:p>
                      <a:pPr algn="ctr"/>
                      <a:r>
                        <a:rPr lang="en-US" sz="2000" b="1" dirty="0">
                          <a:solidFill>
                            <a:sysClr val="windowText" lastClr="000000"/>
                          </a:solidFill>
                          <a:latin typeface="Calibri" panose="020F0502020204030204" pitchFamily="34" charset="0"/>
                          <a:cs typeface="Calibri" panose="020F0502020204030204" pitchFamily="34" charset="0"/>
                        </a:rPr>
                        <a:t>Unit 2 Part A – </a:t>
                      </a:r>
                      <a:r>
                        <a:rPr lang="en-US" sz="2000" b="0" dirty="0">
                          <a:solidFill>
                            <a:sysClr val="windowText" lastClr="000000"/>
                          </a:solidFill>
                          <a:latin typeface="Calibri" panose="020F0502020204030204" pitchFamily="34" charset="0"/>
                          <a:cs typeface="Calibri" panose="020F0502020204030204" pitchFamily="34" charset="0"/>
                        </a:rPr>
                        <a:t>Core Number Skills</a:t>
                      </a:r>
                    </a:p>
                    <a:p>
                      <a:pPr marL="342900" indent="-342900" algn="l">
                        <a:buFont typeface="Arial" panose="020B0604020202020204" pitchFamily="34" charset="0"/>
                        <a:buChar char="•"/>
                      </a:pPr>
                      <a:r>
                        <a:rPr lang="en-GB" sz="1900" b="0" dirty="0">
                          <a:solidFill>
                            <a:sysClr val="windowText" lastClr="000000"/>
                          </a:solidFill>
                          <a:latin typeface="Calibri" panose="020F0502020204030204" pitchFamily="34" charset="0"/>
                          <a:cs typeface="Calibri" panose="020F0502020204030204" pitchFamily="34" charset="0"/>
                        </a:rPr>
                        <a:t>Place Value, Ordering Integers, Decimals and Negatives</a:t>
                      </a:r>
                    </a:p>
                    <a:p>
                      <a:pPr marL="342900" indent="-342900" algn="l">
                        <a:buFont typeface="Arial" panose="020B0604020202020204" pitchFamily="34" charset="0"/>
                        <a:buChar char="•"/>
                      </a:pPr>
                      <a:r>
                        <a:rPr lang="en-GB" sz="1900" b="0" dirty="0">
                          <a:solidFill>
                            <a:sysClr val="windowText" lastClr="000000"/>
                          </a:solidFill>
                          <a:latin typeface="Calibri" panose="020F0502020204030204" pitchFamily="34" charset="0"/>
                          <a:cs typeface="Calibri" panose="020F0502020204030204" pitchFamily="34" charset="0"/>
                        </a:rPr>
                        <a:t>Rounding and Estimation, The 4 Operations, Order of Operations</a:t>
                      </a:r>
                    </a:p>
                    <a:p>
                      <a:pPr marL="342900" indent="-342900" algn="l">
                        <a:buFont typeface="Arial" panose="020B0604020202020204" pitchFamily="34" charset="0"/>
                        <a:buChar char="•"/>
                      </a:pPr>
                      <a:r>
                        <a:rPr lang="en-GB" sz="1900" b="0" dirty="0">
                          <a:solidFill>
                            <a:sysClr val="windowText" lastClr="000000"/>
                          </a:solidFill>
                          <a:latin typeface="Calibri" panose="020F0502020204030204" pitchFamily="34" charset="0"/>
                          <a:cs typeface="Calibri" panose="020F0502020204030204" pitchFamily="34" charset="0"/>
                        </a:rPr>
                        <a:t>Multiplying and Dividing Decimals, Use of a Calculator</a:t>
                      </a:r>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chemeClr val="bg1"/>
                    </a:solidFill>
                  </a:tcPr>
                </a:tc>
                <a:extLst>
                  <a:ext uri="{0D108BD9-81ED-4DB2-BD59-A6C34878D82A}">
                    <a16:rowId xmlns:a16="http://schemas.microsoft.com/office/drawing/2014/main" val="1410125024"/>
                  </a:ext>
                </a:extLst>
              </a:tr>
              <a:tr h="432200">
                <a:tc>
                  <a:txBody>
                    <a:bodyPr/>
                    <a:lstStyle/>
                    <a:p>
                      <a:pPr algn="ctr"/>
                      <a:endParaRPr lang="en-GB" sz="2000" dirty="0">
                        <a:solidFill>
                          <a:sysClr val="windowText" lastClr="000000"/>
                        </a:solidFill>
                        <a:latin typeface="+mj-lt"/>
                      </a:endParaRPr>
                    </a:p>
                  </a:txBody>
                  <a:tcPr anchor="ctr">
                    <a:lnT w="12700" cap="flat" cmpd="sng" algn="ctr">
                      <a:solidFill>
                        <a:schemeClr val="tx1"/>
                      </a:solidFill>
                      <a:prstDash val="dot"/>
                      <a:round/>
                      <a:headEnd type="none" w="med" len="med"/>
                      <a:tailEnd type="none" w="med" len="med"/>
                    </a:lnT>
                    <a:solidFill>
                      <a:schemeClr val="bg1"/>
                    </a:solidFill>
                  </a:tcPr>
                </a:tc>
                <a:extLst>
                  <a:ext uri="{0D108BD9-81ED-4DB2-BD59-A6C34878D82A}">
                    <a16:rowId xmlns:a16="http://schemas.microsoft.com/office/drawing/2014/main" val="4079067449"/>
                  </a:ext>
                </a:extLst>
              </a:tr>
            </a:tbl>
          </a:graphicData>
        </a:graphic>
      </p:graphicFrame>
      <p:graphicFrame>
        <p:nvGraphicFramePr>
          <p:cNvPr id="15" name="Table 14"/>
          <p:cNvGraphicFramePr>
            <a:graphicFrameLocks noGrp="1"/>
          </p:cNvGraphicFramePr>
          <p:nvPr/>
        </p:nvGraphicFramePr>
        <p:xfrm>
          <a:off x="3440212" y="393970"/>
          <a:ext cx="2972792" cy="1554480"/>
        </p:xfrm>
        <a:graphic>
          <a:graphicData uri="http://schemas.openxmlformats.org/drawingml/2006/table">
            <a:tbl>
              <a:tblPr firstRow="1" bandRow="1">
                <a:tableStyleId>{5C22544A-7EE6-4342-B048-85BDC9FD1C3A}</a:tableStyleId>
              </a:tblPr>
              <a:tblGrid>
                <a:gridCol w="1000861">
                  <a:extLst>
                    <a:ext uri="{9D8B030D-6E8A-4147-A177-3AD203B41FA5}">
                      <a16:colId xmlns:a16="http://schemas.microsoft.com/office/drawing/2014/main" val="3141629024"/>
                    </a:ext>
                  </a:extLst>
                </a:gridCol>
                <a:gridCol w="1971931">
                  <a:extLst>
                    <a:ext uri="{9D8B030D-6E8A-4147-A177-3AD203B41FA5}">
                      <a16:colId xmlns:a16="http://schemas.microsoft.com/office/drawing/2014/main" val="312534935"/>
                    </a:ext>
                  </a:extLst>
                </a:gridCol>
              </a:tblGrid>
              <a:tr h="518160">
                <a:tc>
                  <a:txBody>
                    <a:bodyPr/>
                    <a:lstStyle/>
                    <a:p>
                      <a:pPr algn="ctr"/>
                      <a:r>
                        <a:rPr lang="en-US" sz="1400" b="0">
                          <a:solidFill>
                            <a:sysClr val="windowText" lastClr="000000"/>
                          </a:solidFill>
                          <a:latin typeface="+mj-lt"/>
                        </a:rPr>
                        <a:t>Name</a:t>
                      </a:r>
                      <a:endParaRPr lang="en-GB" sz="1400" b="0">
                        <a:solidFill>
                          <a:sysClr val="windowText" lastClr="000000"/>
                        </a:solidFill>
                        <a:latin typeface="+mj-lt"/>
                      </a:endParaRP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1400" b="1">
                        <a:solidFill>
                          <a:sysClr val="windowText" lastClr="000000"/>
                        </a:solidFill>
                      </a:endParaRP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0724906"/>
                  </a:ext>
                </a:extLst>
              </a:tr>
              <a:tr h="518160">
                <a:tc>
                  <a:txBody>
                    <a:bodyPr/>
                    <a:lstStyle/>
                    <a:p>
                      <a:pPr algn="ctr"/>
                      <a:r>
                        <a:rPr lang="en-US" sz="1400" b="0">
                          <a:solidFill>
                            <a:sysClr val="windowText" lastClr="000000"/>
                          </a:solidFill>
                          <a:latin typeface="+mj-lt"/>
                        </a:rPr>
                        <a:t>Class</a:t>
                      </a:r>
                      <a:endParaRPr lang="en-GB" sz="1400" b="0">
                        <a:solidFill>
                          <a:sysClr val="windowText" lastClr="000000"/>
                        </a:solidFill>
                        <a:latin typeface="+mj-lt"/>
                      </a:endParaRP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1400" b="1">
                        <a:solidFill>
                          <a:sysClr val="windowText" lastClr="000000"/>
                        </a:solidFill>
                      </a:endParaRP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83583755"/>
                  </a:ext>
                </a:extLst>
              </a:tr>
              <a:tr h="518160">
                <a:tc>
                  <a:txBody>
                    <a:bodyPr/>
                    <a:lstStyle/>
                    <a:p>
                      <a:pPr algn="ctr"/>
                      <a:r>
                        <a:rPr lang="en-US" sz="1400" b="0">
                          <a:solidFill>
                            <a:sysClr val="windowText" lastClr="000000"/>
                          </a:solidFill>
                          <a:latin typeface="+mj-lt"/>
                        </a:rPr>
                        <a:t>Tutor Group</a:t>
                      </a:r>
                      <a:endParaRPr lang="en-GB" sz="1400" b="0">
                        <a:solidFill>
                          <a:sysClr val="windowText" lastClr="000000"/>
                        </a:solidFill>
                        <a:latin typeface="+mj-lt"/>
                      </a:endParaRP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1400" b="1">
                        <a:solidFill>
                          <a:sysClr val="windowText" lastClr="000000"/>
                        </a:solidFill>
                      </a:endParaRP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9808098"/>
                  </a:ext>
                </a:extLst>
              </a:tr>
            </a:tbl>
          </a:graphicData>
        </a:graphic>
      </p:graphicFrame>
      <p:graphicFrame>
        <p:nvGraphicFramePr>
          <p:cNvPr id="32" name="Table 31"/>
          <p:cNvGraphicFramePr>
            <a:graphicFrameLocks noGrp="1"/>
          </p:cNvGraphicFramePr>
          <p:nvPr>
            <p:extLst>
              <p:ext uri="{D42A27DB-BD31-4B8C-83A1-F6EECF244321}">
                <p14:modId xmlns:p14="http://schemas.microsoft.com/office/powerpoint/2010/main" val="3010649046"/>
              </p:ext>
            </p:extLst>
          </p:nvPr>
        </p:nvGraphicFramePr>
        <p:xfrm>
          <a:off x="361927" y="5481786"/>
          <a:ext cx="6156570" cy="4023360"/>
        </p:xfrm>
        <a:graphic>
          <a:graphicData uri="http://schemas.openxmlformats.org/drawingml/2006/table">
            <a:tbl>
              <a:tblPr firstRow="1" bandRow="1">
                <a:tableStyleId>{7E9639D4-E3E2-4D34-9284-5A2195B3D0D7}</a:tableStyleId>
              </a:tblPr>
              <a:tblGrid>
                <a:gridCol w="1421466">
                  <a:extLst>
                    <a:ext uri="{9D8B030D-6E8A-4147-A177-3AD203B41FA5}">
                      <a16:colId xmlns:a16="http://schemas.microsoft.com/office/drawing/2014/main" val="3563799444"/>
                    </a:ext>
                  </a:extLst>
                </a:gridCol>
                <a:gridCol w="4735104">
                  <a:extLst>
                    <a:ext uri="{9D8B030D-6E8A-4147-A177-3AD203B41FA5}">
                      <a16:colId xmlns:a16="http://schemas.microsoft.com/office/drawing/2014/main" val="2581643566"/>
                    </a:ext>
                  </a:extLst>
                </a:gridCol>
              </a:tblGrid>
              <a:tr h="250602">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dirty="0">
                          <a:solidFill>
                            <a:schemeClr val="bg1"/>
                          </a:solidFill>
                          <a:latin typeface="+mn-lt"/>
                          <a:cs typeface="Calibri Light" panose="020F0302020204030204" pitchFamily="34" charset="0"/>
                        </a:rPr>
                        <a:t>KEY VOCABULARY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hMerge="1">
                  <a:txBody>
                    <a:bodyPr/>
                    <a:lstStyle/>
                    <a:p>
                      <a:endParaRPr lang="en-GB"/>
                    </a:p>
                  </a:txBody>
                  <a:tcPr>
                    <a:solidFill>
                      <a:srgbClr val="7E2341"/>
                    </a:solidFill>
                  </a:tcPr>
                </a:tc>
                <a:extLst>
                  <a:ext uri="{0D108BD9-81ED-4DB2-BD59-A6C34878D82A}">
                    <a16:rowId xmlns:a16="http://schemas.microsoft.com/office/drawing/2014/main" val="163826269"/>
                  </a:ext>
                </a:extLst>
              </a:tr>
              <a:tr h="0">
                <a:tc>
                  <a:txBody>
                    <a:bodyPr/>
                    <a:lstStyle/>
                    <a:p>
                      <a:pPr algn="ctr"/>
                      <a:r>
                        <a:rPr lang="en-GB" sz="1200" b="0"/>
                        <a:t>Integer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kern="1200" dirty="0">
                          <a:solidFill>
                            <a:schemeClr val="tx1"/>
                          </a:solidFill>
                          <a:effectLst/>
                          <a:latin typeface="+mn-lt"/>
                          <a:ea typeface="+mn-ea"/>
                          <a:cs typeface="+mn-cs"/>
                        </a:rPr>
                        <a:t>A whole number.</a:t>
                      </a:r>
                      <a:endParaRPr lang="en-GB" sz="1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320498"/>
                  </a:ext>
                </a:extLst>
              </a:tr>
              <a:tr h="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0"/>
                        <a:t>Place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kern="1200">
                          <a:solidFill>
                            <a:schemeClr val="tx1"/>
                          </a:solidFill>
                          <a:effectLst/>
                          <a:latin typeface="+mn-lt"/>
                          <a:ea typeface="+mn-ea"/>
                          <a:cs typeface="+mn-cs"/>
                        </a:rPr>
                        <a:t>Place value is the value of each digit in a number. It means understanding that 582 is made up of 500, 80 and 2, rather than 5, 8 and 2​.</a:t>
                      </a:r>
                      <a:endParaRPr lang="en-US"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0976864"/>
                  </a:ext>
                </a:extLst>
              </a:tr>
              <a:tr h="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b="0"/>
                        <a:t>Rounding</a:t>
                      </a:r>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kern="1200" dirty="0">
                          <a:solidFill>
                            <a:schemeClr val="tx1"/>
                          </a:solidFill>
                          <a:effectLst/>
                          <a:latin typeface="+mn-lt"/>
                          <a:ea typeface="+mn-ea"/>
                          <a:cs typeface="+mn-cs"/>
                        </a:rPr>
                        <a:t>Rounding means making a number simpler but keeping its value close to what it was. The result is less accurate, but easier to use. Example: 73 rounded to the nearest ten is 70, because 73 is closer to 70 than to 80. </a:t>
                      </a:r>
                      <a:endParaRPr lang="en-US" sz="1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0846111"/>
                  </a:ext>
                </a:extLst>
              </a:tr>
              <a:tr h="0">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s-ES" sz="1200" b="0" kern="1200">
                          <a:solidFill>
                            <a:srgbClr val="000000"/>
                          </a:solidFill>
                          <a:effectLst/>
                          <a:latin typeface="+mn-lt"/>
                          <a:ea typeface="Times New Roman" panose="02020603050405020304" pitchFamily="18" charset="0"/>
                          <a:cs typeface="Times New Roman" panose="02020603050405020304" pitchFamily="18" charset="0"/>
                        </a:rPr>
                        <a:t>Decimal place</a:t>
                      </a:r>
                      <a:endParaRPr lang="en-GB" sz="1200" b="0">
                        <a:effectLst/>
                        <a:latin typeface="+mn-lt"/>
                        <a:ea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b="0" i="0" dirty="0">
                          <a:solidFill>
                            <a:srgbClr val="000000"/>
                          </a:solidFill>
                          <a:effectLst/>
                          <a:latin typeface="+mn-lt"/>
                          <a:cs typeface="Calibri Light" panose="020F0302020204030204" pitchFamily="34" charset="0"/>
                        </a:rPr>
                        <a:t>The position of a digit to the right of a decimal point.</a:t>
                      </a:r>
                      <a:endParaRPr lang="en-GB" sz="1200" b="0" i="0" dirty="0">
                        <a:solidFill>
                          <a:srgbClr val="000000"/>
                        </a:solidFill>
                        <a:effectLst/>
                        <a:latin typeface="+mn-lt"/>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523481"/>
                  </a:ext>
                </a:extLst>
              </a:tr>
              <a:tr h="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0"/>
                        <a:t>Ascending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kern="1200">
                          <a:solidFill>
                            <a:schemeClr val="tx1"/>
                          </a:solidFill>
                          <a:effectLst/>
                          <a:latin typeface="+mn-lt"/>
                          <a:ea typeface="+mn-ea"/>
                          <a:cs typeface="+mn-cs"/>
                        </a:rPr>
                        <a:t>Going</a:t>
                      </a:r>
                      <a:r>
                        <a:rPr lang="en-US" sz="1200" b="0" i="0" kern="1200" baseline="0">
                          <a:solidFill>
                            <a:schemeClr val="tx1"/>
                          </a:solidFill>
                          <a:effectLst/>
                          <a:latin typeface="+mn-lt"/>
                          <a:ea typeface="+mn-ea"/>
                          <a:cs typeface="+mn-cs"/>
                        </a:rPr>
                        <a:t> up, in order from smallest to largest.</a:t>
                      </a:r>
                      <a:endParaRPr lang="en-US"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373115"/>
                  </a:ext>
                </a:extLst>
              </a:tr>
              <a:tr h="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b="0"/>
                        <a:t>Descending</a:t>
                      </a:r>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kern="1200">
                          <a:solidFill>
                            <a:schemeClr val="tx1"/>
                          </a:solidFill>
                          <a:effectLst/>
                          <a:latin typeface="+mn-lt"/>
                          <a:ea typeface="+mn-ea"/>
                          <a:cs typeface="+mn-cs"/>
                        </a:rPr>
                        <a:t>Going down, in order from largest</a:t>
                      </a:r>
                      <a:r>
                        <a:rPr lang="en-US" sz="1200" b="0" i="0" kern="1200" baseline="0">
                          <a:solidFill>
                            <a:schemeClr val="tx1"/>
                          </a:solidFill>
                          <a:effectLst/>
                          <a:latin typeface="+mn-lt"/>
                          <a:ea typeface="+mn-ea"/>
                          <a:cs typeface="+mn-cs"/>
                        </a:rPr>
                        <a:t> to smallest.</a:t>
                      </a:r>
                      <a:endParaRPr lang="en-US"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4502126"/>
                  </a:ext>
                </a:extLst>
              </a:tr>
              <a:tr h="0">
                <a:tc>
                  <a:txBody>
                    <a:bodyPr/>
                    <a:lstStyle/>
                    <a:p>
                      <a:pPr algn="ctr"/>
                      <a:r>
                        <a:rPr lang="en-GB" sz="1200" b="0" dirty="0"/>
                        <a:t>Negative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kern="1200" dirty="0">
                          <a:solidFill>
                            <a:schemeClr val="tx1"/>
                          </a:solidFill>
                          <a:effectLst/>
                          <a:latin typeface="+mn-lt"/>
                          <a:ea typeface="+mn-ea"/>
                          <a:cs typeface="+mn-cs"/>
                        </a:rPr>
                        <a:t>A number less than zero.</a:t>
                      </a:r>
                      <a:endParaRPr lang="en-GB" sz="1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4543264"/>
                  </a:ext>
                </a:extLst>
              </a:tr>
              <a:tr h="0">
                <a:tc>
                  <a:txBody>
                    <a:bodyPr/>
                    <a:lstStyle/>
                    <a:p>
                      <a:pPr algn="ctr"/>
                      <a:r>
                        <a:rPr lang="en-GB" sz="1200" b="0" dirty="0"/>
                        <a:t>Estimation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kern="1200" baseline="0" dirty="0">
                          <a:solidFill>
                            <a:schemeClr val="tx1"/>
                          </a:solidFill>
                          <a:effectLst/>
                          <a:latin typeface="+mn-lt"/>
                          <a:ea typeface="+mn-ea"/>
                          <a:cs typeface="+mn-cs"/>
                        </a:rPr>
                        <a:t>Working out an answer that is approximately (or ‘roughly’) correct. This usually involved rounding the numbers in the question to one significant figure.</a:t>
                      </a:r>
                      <a:endParaRPr lang="en-US" sz="1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1441970"/>
                  </a:ext>
                </a:extLst>
              </a:tr>
              <a:tr h="0">
                <a:tc>
                  <a:txBody>
                    <a:bodyPr/>
                    <a:lstStyle/>
                    <a:p>
                      <a:pPr algn="ctr"/>
                      <a:r>
                        <a:rPr lang="en-US" sz="1200" b="0" dirty="0"/>
                        <a:t>Order of Operations</a:t>
                      </a:r>
                      <a:endParaRPr lang="en-GB" sz="1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kern="1200" dirty="0">
                          <a:solidFill>
                            <a:schemeClr val="tx1"/>
                          </a:solidFill>
                          <a:effectLst/>
                          <a:latin typeface="+mn-lt"/>
                          <a:ea typeface="+mn-ea"/>
                          <a:cs typeface="+mn-cs"/>
                        </a:rPr>
                        <a:t>The order in which a multistep expression should be evaluated, for example by working out anything inside brackets first.</a:t>
                      </a:r>
                      <a:endParaRPr lang="en-US" sz="1200" b="0" baseline="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326350"/>
                  </a:ext>
                </a:extLst>
              </a:tr>
            </a:tbl>
          </a:graphicData>
        </a:graphic>
      </p:graphicFrame>
      <p:sp>
        <p:nvSpPr>
          <p:cNvPr id="2" name="Slide Number Placeholder 1"/>
          <p:cNvSpPr>
            <a:spLocks noGrp="1"/>
          </p:cNvSpPr>
          <p:nvPr>
            <p:ph type="sldNum" sz="quarter" idx="12"/>
          </p:nvPr>
        </p:nvSpPr>
        <p:spPr>
          <a:xfrm>
            <a:off x="5314950" y="9553914"/>
            <a:ext cx="1543050" cy="527403"/>
          </a:xfrm>
        </p:spPr>
        <p:txBody>
          <a:bodyPr/>
          <a:lstStyle/>
          <a:p>
            <a:fld id="{19F1D9CC-7119-45EC-A96C-D8C0660F3AAB}" type="slidenum">
              <a:rPr lang="en-GB" smtClean="0">
                <a:solidFill>
                  <a:schemeClr val="bg1"/>
                </a:solidFill>
              </a:rPr>
              <a:t>1</a:t>
            </a:fld>
            <a:endParaRPr lang="en-GB">
              <a:solidFill>
                <a:schemeClr val="bg1"/>
              </a:solidFill>
            </a:endParaRPr>
          </a:p>
        </p:txBody>
      </p:sp>
      <p:pic>
        <p:nvPicPr>
          <p:cNvPr id="1026" name="Picture 2" descr="Order of Operations | Clipart Panda - Free Clipart Images">
            <a:extLst>
              <a:ext uri="{FF2B5EF4-FFF2-40B4-BE49-F238E27FC236}">
                <a16:creationId xmlns:a16="http://schemas.microsoft.com/office/drawing/2014/main" id="{1D7DA8BA-3B89-064E-AF9E-317C58ACF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568" y="4530254"/>
            <a:ext cx="836080" cy="76802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ositive And Negative Numbers For Kids | DK Find Out">
            <a:extLst>
              <a:ext uri="{FF2B5EF4-FFF2-40B4-BE49-F238E27FC236}">
                <a16:creationId xmlns:a16="http://schemas.microsoft.com/office/drawing/2014/main" id="{1FFDBB3A-897B-AB4B-A8B7-17E03FA27FB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83329" y="4454657"/>
            <a:ext cx="1924050" cy="57721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strea Academy Trust">
            <a:extLst>
              <a:ext uri="{FF2B5EF4-FFF2-40B4-BE49-F238E27FC236}">
                <a16:creationId xmlns:a16="http://schemas.microsoft.com/office/drawing/2014/main" id="{2A81A84D-8870-4CF5-7B18-D547E2901B2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8030" t="10183" r="18353" b="17160"/>
          <a:stretch/>
        </p:blipFill>
        <p:spPr bwMode="auto">
          <a:xfrm>
            <a:off x="411234" y="393186"/>
            <a:ext cx="1979272" cy="1186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7582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rame 3">
            <a:extLst>
              <a:ext uri="{FF2B5EF4-FFF2-40B4-BE49-F238E27FC236}">
                <a16:creationId xmlns:a16="http://schemas.microsoft.com/office/drawing/2014/main" id="{3117BEEC-0E58-1341-A11D-9DBDBB61BE29}"/>
              </a:ext>
            </a:extLst>
          </p:cNvPr>
          <p:cNvSpPr/>
          <p:nvPr/>
        </p:nvSpPr>
        <p:spPr>
          <a:xfrm>
            <a:off x="0" y="0"/>
            <a:ext cx="6858000" cy="9906000"/>
          </a:xfrm>
          <a:custGeom>
            <a:avLst/>
            <a:gdLst>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811060 w 6488483"/>
              <a:gd name="connsiteY5" fmla="*/ 811060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811060 w 6488483"/>
              <a:gd name="connsiteY9" fmla="*/ 811060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6228568 w 6488483"/>
              <a:gd name="connsiteY8" fmla="*/ 272441 h 9394520"/>
              <a:gd name="connsiteX9" fmla="*/ 284967 w 6488483"/>
              <a:gd name="connsiteY9" fmla="*/ 272441 h 939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88483" h="9394520">
                <a:moveTo>
                  <a:pt x="0" y="0"/>
                </a:moveTo>
                <a:lnTo>
                  <a:pt x="6488483" y="0"/>
                </a:lnTo>
                <a:lnTo>
                  <a:pt x="6488483" y="9394520"/>
                </a:lnTo>
                <a:lnTo>
                  <a:pt x="0" y="9394520"/>
                </a:lnTo>
                <a:lnTo>
                  <a:pt x="0" y="0"/>
                </a:lnTo>
                <a:close/>
                <a:moveTo>
                  <a:pt x="284967" y="272441"/>
                </a:moveTo>
                <a:cubicBezTo>
                  <a:pt x="280792" y="3226496"/>
                  <a:pt x="276616" y="6180550"/>
                  <a:pt x="272441" y="9134605"/>
                </a:cubicBezTo>
                <a:lnTo>
                  <a:pt x="6216042" y="9134606"/>
                </a:lnTo>
                <a:cubicBezTo>
                  <a:pt x="6220217" y="6180551"/>
                  <a:pt x="6224393" y="3226496"/>
                  <a:pt x="6228568" y="272441"/>
                </a:cubicBezTo>
                <a:lnTo>
                  <a:pt x="284967" y="272441"/>
                </a:lnTo>
                <a:close/>
              </a:path>
            </a:pathLst>
          </a:custGeom>
          <a:solidFill>
            <a:schemeClr val="bg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Slide Number Placeholder 1"/>
          <p:cNvSpPr>
            <a:spLocks noGrp="1"/>
          </p:cNvSpPr>
          <p:nvPr>
            <p:ph type="sldNum" sz="quarter" idx="12"/>
          </p:nvPr>
        </p:nvSpPr>
        <p:spPr>
          <a:xfrm>
            <a:off x="5304685" y="9546774"/>
            <a:ext cx="1543050" cy="527403"/>
          </a:xfrm>
        </p:spPr>
        <p:txBody>
          <a:bodyPr/>
          <a:lstStyle/>
          <a:p>
            <a:fld id="{19F1D9CC-7119-45EC-A96C-D8C0660F3AAB}" type="slidenum">
              <a:rPr lang="en-GB" smtClean="0">
                <a:solidFill>
                  <a:schemeClr val="bg1"/>
                </a:solidFill>
              </a:rPr>
              <a:t>2</a:t>
            </a:fld>
            <a:endParaRPr lang="en-GB">
              <a:solidFill>
                <a:schemeClr val="bg1"/>
              </a:solidFill>
            </a:endParaRPr>
          </a:p>
        </p:txBody>
      </p:sp>
      <p:graphicFrame>
        <p:nvGraphicFramePr>
          <p:cNvPr id="13" name="Table 12"/>
          <p:cNvGraphicFramePr>
            <a:graphicFrameLocks noGrp="1"/>
          </p:cNvGraphicFramePr>
          <p:nvPr>
            <p:extLst>
              <p:ext uri="{D42A27DB-BD31-4B8C-83A1-F6EECF244321}">
                <p14:modId xmlns:p14="http://schemas.microsoft.com/office/powerpoint/2010/main" val="3243954543"/>
              </p:ext>
            </p:extLst>
          </p:nvPr>
        </p:nvGraphicFramePr>
        <p:xfrm>
          <a:off x="473748" y="367317"/>
          <a:ext cx="5966793" cy="4603534"/>
        </p:xfrm>
        <a:graphic>
          <a:graphicData uri="http://schemas.openxmlformats.org/drawingml/2006/table">
            <a:tbl>
              <a:tblPr firstRow="1" bandRow="1">
                <a:tableStyleId>{7E9639D4-E3E2-4D34-9284-5A2195B3D0D7}</a:tableStyleId>
              </a:tblPr>
              <a:tblGrid>
                <a:gridCol w="943691">
                  <a:extLst>
                    <a:ext uri="{9D8B030D-6E8A-4147-A177-3AD203B41FA5}">
                      <a16:colId xmlns:a16="http://schemas.microsoft.com/office/drawing/2014/main" val="3563799444"/>
                    </a:ext>
                  </a:extLst>
                </a:gridCol>
                <a:gridCol w="4129088">
                  <a:extLst>
                    <a:ext uri="{9D8B030D-6E8A-4147-A177-3AD203B41FA5}">
                      <a16:colId xmlns:a16="http://schemas.microsoft.com/office/drawing/2014/main" val="2581643566"/>
                    </a:ext>
                  </a:extLst>
                </a:gridCol>
                <a:gridCol w="894014">
                  <a:extLst>
                    <a:ext uri="{9D8B030D-6E8A-4147-A177-3AD203B41FA5}">
                      <a16:colId xmlns:a16="http://schemas.microsoft.com/office/drawing/2014/main" val="498013621"/>
                    </a:ext>
                  </a:extLst>
                </a:gridCol>
              </a:tblGrid>
              <a:tr h="194183">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2000" b="1" dirty="0">
                          <a:solidFill>
                            <a:schemeClr val="tx1"/>
                          </a:solidFill>
                          <a:latin typeface="Calibri Light" panose="020F0302020204030204" pitchFamily="34" charset="0"/>
                          <a:cs typeface="Calibri Light" panose="020F0302020204030204" pitchFamily="34" charset="0"/>
                        </a:rPr>
                        <a:t>CONTENTS</a:t>
                      </a:r>
                      <a:r>
                        <a:rPr lang="en-GB" sz="2000" b="1" dirty="0">
                          <a:solidFill>
                            <a:schemeClr val="tx1"/>
                          </a:solidFill>
                          <a:latin typeface="Calibri Light" panose="020F0302020204030204" pitchFamily="34" charset="0"/>
                          <a:cs typeface="Calibri Light" panose="020F0302020204030204" pitchFamily="34" charset="0"/>
                        </a:rPr>
                        <a:t>  (Unit 2 Part A)</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solidFill>
                      <a:srgbClr val="7E234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Calibri Light" panose="020F0302020204030204" pitchFamily="34" charset="0"/>
                          <a:cs typeface="Calibri Light" panose="020F0302020204030204" pitchFamily="34" charset="0"/>
                        </a:rPr>
                        <a:t>Page </a:t>
                      </a:r>
                      <a:endParaRPr lang="en-GB" sz="1200" b="1">
                        <a:solidFill>
                          <a:schemeClr val="tx1"/>
                        </a:solidFill>
                        <a:latin typeface="Calibri Light" panose="020F0302020204030204" pitchFamily="34" charset="0"/>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826269"/>
                  </a:ext>
                </a:extLst>
              </a:tr>
              <a:tr h="323638">
                <a:tc>
                  <a:txBody>
                    <a:bodyPr/>
                    <a:lstStyle/>
                    <a:p>
                      <a:pPr algn="ctr" rtl="0" fontAlgn="base"/>
                      <a:r>
                        <a:rPr lang="en-US" sz="1200" b="1" i="0">
                          <a:solidFill>
                            <a:srgbClr val="000000"/>
                          </a:solidFill>
                          <a:effectLst/>
                          <a:latin typeface="+mn-lt"/>
                          <a:cs typeface="Calibri Light" panose="020F0302020204030204" pitchFamily="34" charset="0"/>
                        </a:rPr>
                        <a:t>SUBTOPIC 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200" b="0" i="0" dirty="0">
                          <a:solidFill>
                            <a:srgbClr val="000000"/>
                          </a:solidFill>
                          <a:effectLst/>
                          <a:latin typeface="+mn-lt"/>
                          <a:cs typeface="Calibri Light" panose="020F0302020204030204" pitchFamily="34" charset="0"/>
                        </a:rPr>
                        <a:t>Place Value, Ordering integers, decimals and negatives</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200" b="0" i="0" dirty="0">
                          <a:solidFill>
                            <a:srgbClr val="000000"/>
                          </a:solidFill>
                          <a:effectLst/>
                          <a:latin typeface="+mn-lt"/>
                          <a:cs typeface="Calibri Light" panose="020F0302020204030204" pitchFamily="34" charset="0"/>
                        </a:rPr>
                        <a:t>3</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4543264"/>
                  </a:ext>
                </a:extLst>
              </a:tr>
              <a:tr h="323638">
                <a:tc>
                  <a:txBody>
                    <a:bodyPr/>
                    <a:lstStyle/>
                    <a:p>
                      <a:pPr algn="ctr" rtl="0" fontAlgn="base"/>
                      <a:r>
                        <a:rPr lang="en-US" sz="1200" b="1" i="0" dirty="0">
                          <a:solidFill>
                            <a:srgbClr val="000000"/>
                          </a:solidFill>
                          <a:effectLst/>
                          <a:latin typeface="+mn-lt"/>
                          <a:cs typeface="Calibri Light" panose="020F0302020204030204" pitchFamily="34" charset="0"/>
                        </a:rPr>
                        <a:t>SUBTOPIC 2a</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mn-lt"/>
                          <a:cs typeface="Calibri Light" panose="020F0302020204030204" pitchFamily="34" charset="0"/>
                        </a:rPr>
                        <a:t>Rounding, including rounding to decimal places</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mn-lt"/>
                          <a:cs typeface="Calibri Light" panose="020F0302020204030204" pitchFamily="34" charset="0"/>
                        </a:rPr>
                        <a:t>14</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441970"/>
                  </a:ext>
                </a:extLst>
              </a:tr>
              <a:tr h="323638">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SUBTOPIC 2b</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mn-lt"/>
                          <a:cs typeface="Calibri Light" panose="020F0302020204030204" pitchFamily="34" charset="0"/>
                        </a:rPr>
                        <a:t>Rounding to Significant Figures</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mn-lt"/>
                          <a:cs typeface="Calibri Light" panose="020F0302020204030204" pitchFamily="34" charset="0"/>
                        </a:rPr>
                        <a:t>23</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5003925"/>
                  </a:ext>
                </a:extLst>
              </a:tr>
              <a:tr h="323638">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SUBTOPIC 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200" b="0" i="0" dirty="0">
                          <a:solidFill>
                            <a:srgbClr val="000000"/>
                          </a:solidFill>
                          <a:effectLst/>
                          <a:latin typeface="+mn-lt"/>
                          <a:cs typeface="Calibri Light" panose="020F0302020204030204" pitchFamily="34" charset="0"/>
                        </a:rPr>
                        <a:t>Estimation</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200" b="0" i="0" dirty="0">
                          <a:solidFill>
                            <a:srgbClr val="000000"/>
                          </a:solidFill>
                          <a:effectLst/>
                          <a:latin typeface="+mn-lt"/>
                          <a:cs typeface="Calibri Light" panose="020F0302020204030204" pitchFamily="34" charset="0"/>
                        </a:rPr>
                        <a:t>31</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8983851"/>
                  </a:ext>
                </a:extLst>
              </a:tr>
              <a:tr h="323638">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US" sz="12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200" b="1" i="0" dirty="0">
                          <a:solidFill>
                            <a:srgbClr val="000000"/>
                          </a:solidFill>
                          <a:effectLst/>
                          <a:latin typeface="+mn-lt"/>
                          <a:cs typeface="Calibri Light" panose="020F0302020204030204" pitchFamily="34" charset="0"/>
                        </a:rPr>
                        <a:t>GCSE Past Paper Questions</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200" b="0" i="0" dirty="0">
                          <a:solidFill>
                            <a:srgbClr val="000000"/>
                          </a:solidFill>
                          <a:effectLst/>
                          <a:latin typeface="+mn-lt"/>
                          <a:cs typeface="Calibri Light" panose="020F0302020204030204" pitchFamily="34" charset="0"/>
                        </a:rPr>
                        <a:t>39</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44063092"/>
                  </a:ext>
                </a:extLst>
              </a:tr>
              <a:tr h="323638">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SUBTOPIC 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200" b="0" i="0" dirty="0">
                          <a:solidFill>
                            <a:srgbClr val="000000"/>
                          </a:solidFill>
                          <a:effectLst/>
                          <a:latin typeface="+mn-lt"/>
                          <a:cs typeface="Calibri Light"/>
                        </a:rPr>
                        <a:t>The Four Operations</a:t>
                      </a:r>
                      <a:endParaRPr lang="en-US" sz="1200" b="0" i="0" dirty="0">
                        <a:solidFill>
                          <a:srgbClr val="000000"/>
                        </a:solidFill>
                        <a:effectLst/>
                        <a:latin typeface="+mn-lt"/>
                        <a:cs typeface="Calibri Light"/>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200" b="0" i="0" dirty="0">
                          <a:solidFill>
                            <a:srgbClr val="000000"/>
                          </a:solidFill>
                          <a:effectLst/>
                          <a:latin typeface="+mn-lt"/>
                          <a:cs typeface="Calibri Light" panose="020F0302020204030204" pitchFamily="34" charset="0"/>
                        </a:rPr>
                        <a:t>43</a:t>
                      </a:r>
                      <a:endParaRPr lang="en-US" sz="12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416219"/>
                  </a:ext>
                </a:extLst>
              </a:tr>
              <a:tr h="323638">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US" sz="12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i="0" dirty="0">
                          <a:solidFill>
                            <a:srgbClr val="000000"/>
                          </a:solidFill>
                          <a:effectLst/>
                          <a:latin typeface="+mn-lt"/>
                          <a:cs typeface="Calibri Light" panose="020F0302020204030204" pitchFamily="34" charset="0"/>
                        </a:rPr>
                        <a:t>GCSE Past Paper Questions</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200" b="0" i="0" dirty="0">
                          <a:solidFill>
                            <a:srgbClr val="000000"/>
                          </a:solidFill>
                          <a:effectLst/>
                          <a:latin typeface="+mn-lt"/>
                          <a:cs typeface="Calibri Light" panose="020F0302020204030204" pitchFamily="34" charset="0"/>
                        </a:rPr>
                        <a:t>61</a:t>
                      </a:r>
                      <a:endParaRPr lang="en-US" sz="12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5199726"/>
                  </a:ext>
                </a:extLst>
              </a:tr>
              <a:tr h="323638">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SUBTOPIC 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200" b="0" i="0" dirty="0">
                          <a:solidFill>
                            <a:srgbClr val="000000"/>
                          </a:solidFill>
                          <a:effectLst/>
                          <a:latin typeface="+mn-lt"/>
                          <a:cs typeface="Calibri Light" panose="020F0302020204030204" pitchFamily="34" charset="0"/>
                        </a:rPr>
                        <a:t>Order of Operations</a:t>
                      </a:r>
                      <a:endParaRPr lang="en-US" sz="12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200" b="0" i="0" dirty="0">
                          <a:solidFill>
                            <a:srgbClr val="000000"/>
                          </a:solidFill>
                          <a:effectLst/>
                          <a:latin typeface="+mn-lt"/>
                          <a:cs typeface="Calibri Light" panose="020F0302020204030204" pitchFamily="34" charset="0"/>
                        </a:rPr>
                        <a:t>65</a:t>
                      </a:r>
                      <a:endParaRPr lang="en-US" sz="12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594989"/>
                  </a:ext>
                </a:extLst>
              </a:tr>
              <a:tr h="323638">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US" sz="12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i="0" dirty="0">
                          <a:solidFill>
                            <a:srgbClr val="000000"/>
                          </a:solidFill>
                          <a:effectLst/>
                          <a:latin typeface="+mn-lt"/>
                          <a:cs typeface="Calibri Light" panose="020F0302020204030204" pitchFamily="34" charset="0"/>
                        </a:rPr>
                        <a:t>GCSE Past Paper Questions</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200" b="0" i="0" dirty="0">
                          <a:solidFill>
                            <a:srgbClr val="000000"/>
                          </a:solidFill>
                          <a:effectLst/>
                          <a:latin typeface="+mn-lt"/>
                          <a:cs typeface="Calibri Light" panose="020F0302020204030204" pitchFamily="34" charset="0"/>
                        </a:rPr>
                        <a:t>70</a:t>
                      </a:r>
                      <a:endParaRPr lang="en-US" sz="12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55014499"/>
                  </a:ext>
                </a:extLst>
              </a:tr>
              <a:tr h="323638">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SUBTOPIC 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200" b="0" i="0" dirty="0">
                          <a:solidFill>
                            <a:srgbClr val="000000"/>
                          </a:solidFill>
                          <a:effectLst/>
                          <a:latin typeface="+mn-lt"/>
                          <a:cs typeface="Calibri Light" panose="020F0302020204030204" pitchFamily="34" charset="0"/>
                        </a:rPr>
                        <a:t>Operations with negative numbers</a:t>
                      </a:r>
                      <a:endParaRPr lang="en-US" sz="12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200" b="0" i="0" dirty="0">
                          <a:solidFill>
                            <a:srgbClr val="000000"/>
                          </a:solidFill>
                          <a:effectLst/>
                          <a:latin typeface="+mn-lt"/>
                          <a:cs typeface="Calibri Light" panose="020F0302020204030204" pitchFamily="34" charset="0"/>
                        </a:rPr>
                        <a:t>71</a:t>
                      </a:r>
                      <a:endParaRPr lang="en-US" sz="12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2325475"/>
                  </a:ext>
                </a:extLst>
              </a:tr>
              <a:tr h="323638">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SUBTOPIC 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200" b="0" i="0" dirty="0">
                          <a:solidFill>
                            <a:srgbClr val="000000"/>
                          </a:solidFill>
                          <a:effectLst/>
                          <a:latin typeface="+mn-lt"/>
                          <a:cs typeface="Calibri Light" panose="020F0302020204030204" pitchFamily="34" charset="0"/>
                        </a:rPr>
                        <a:t>Multiplying and dividing decimals</a:t>
                      </a:r>
                      <a:endParaRPr lang="en-US" sz="12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200" b="0" i="0" dirty="0">
                          <a:solidFill>
                            <a:srgbClr val="000000"/>
                          </a:solidFill>
                          <a:effectLst/>
                          <a:latin typeface="+mn-lt"/>
                          <a:cs typeface="Calibri Light" panose="020F0302020204030204" pitchFamily="34" charset="0"/>
                        </a:rPr>
                        <a:t>75</a:t>
                      </a:r>
                      <a:endParaRPr lang="en-US" sz="12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4595807"/>
                  </a:ext>
                </a:extLst>
              </a:tr>
              <a:tr h="323638">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SUBTOPIC 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200" b="0" i="0" dirty="0">
                          <a:solidFill>
                            <a:srgbClr val="000000"/>
                          </a:solidFill>
                          <a:effectLst/>
                          <a:latin typeface="+mn-lt"/>
                          <a:cs typeface="Calibri Light" panose="020F0302020204030204" pitchFamily="34" charset="0"/>
                        </a:rPr>
                        <a:t>Using a calculator</a:t>
                      </a:r>
                      <a:endParaRPr lang="en-US" sz="12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200" b="0" i="0" dirty="0">
                          <a:solidFill>
                            <a:srgbClr val="000000"/>
                          </a:solidFill>
                          <a:effectLst/>
                          <a:latin typeface="+mn-lt"/>
                          <a:cs typeface="Calibri Light" panose="020F0302020204030204" pitchFamily="34" charset="0"/>
                        </a:rPr>
                        <a:t>82</a:t>
                      </a:r>
                      <a:endParaRPr lang="en-US" sz="12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08057836"/>
                  </a:ext>
                </a:extLst>
              </a:tr>
              <a:tr h="323638">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US" sz="12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200" b="1" i="0" dirty="0">
                          <a:solidFill>
                            <a:srgbClr val="000000"/>
                          </a:solidFill>
                          <a:effectLst/>
                          <a:latin typeface="+mn-lt"/>
                          <a:cs typeface="Calibri Light" panose="020F0302020204030204" pitchFamily="34" charset="0"/>
                        </a:rPr>
                        <a:t>GCSE Past Paper Questions</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200" b="0" i="0" dirty="0">
                          <a:solidFill>
                            <a:srgbClr val="000000"/>
                          </a:solidFill>
                          <a:effectLst/>
                          <a:latin typeface="+mn-lt"/>
                          <a:cs typeface="Calibri Light" panose="020F0302020204030204" pitchFamily="34" charset="0"/>
                        </a:rPr>
                        <a:t>87</a:t>
                      </a:r>
                      <a:endParaRPr lang="en-US" sz="12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1893963"/>
                  </a:ext>
                </a:extLst>
              </a:tr>
            </a:tbl>
          </a:graphicData>
        </a:graphic>
      </p:graphicFrame>
    </p:spTree>
    <p:extLst>
      <p:ext uri="{BB962C8B-B14F-4D97-AF65-F5344CB8AC3E}">
        <p14:creationId xmlns:p14="http://schemas.microsoft.com/office/powerpoint/2010/main" val="1257912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34A31B-1E46-1345-81D5-4760D63FAA30}"/>
              </a:ext>
            </a:extLst>
          </p:cNvPr>
          <p:cNvSpPr/>
          <p:nvPr/>
        </p:nvSpPr>
        <p:spPr>
          <a:xfrm>
            <a:off x="8405" y="20037"/>
            <a:ext cx="6857446" cy="26928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Subtopic 1 - </a:t>
            </a:r>
            <a:r>
              <a:rPr lang="en-US" sz="1600" dirty="0"/>
              <a:t>Place value and ordering integers and decimals</a:t>
            </a:r>
            <a:endParaRPr lang="en-GB" sz="1600" dirty="0"/>
          </a:p>
        </p:txBody>
      </p:sp>
      <p:sp>
        <p:nvSpPr>
          <p:cNvPr id="2" name="Slide Number Placeholder 1"/>
          <p:cNvSpPr>
            <a:spLocks noGrp="1"/>
          </p:cNvSpPr>
          <p:nvPr>
            <p:ph type="sldNum" sz="quarter" idx="12"/>
          </p:nvPr>
        </p:nvSpPr>
        <p:spPr>
          <a:xfrm>
            <a:off x="5330713" y="9503845"/>
            <a:ext cx="1543050" cy="527403"/>
          </a:xfrm>
        </p:spPr>
        <p:txBody>
          <a:bodyPr/>
          <a:lstStyle/>
          <a:p>
            <a:fld id="{19F1D9CC-7119-45EC-A96C-D8C0660F3AAB}" type="slidenum">
              <a:rPr lang="en-GB" smtClean="0"/>
              <a:t>3</a:t>
            </a:fld>
            <a:endParaRPr lang="en-GB"/>
          </a:p>
        </p:txBody>
      </p:sp>
      <p:sp>
        <p:nvSpPr>
          <p:cNvPr id="66" name="Rectangle 65">
            <a:extLst>
              <a:ext uri="{FF2B5EF4-FFF2-40B4-BE49-F238E27FC236}">
                <a16:creationId xmlns:a16="http://schemas.microsoft.com/office/drawing/2014/main" id="{2EF599D4-EE2D-80AD-BACF-5DE245B0DA08}"/>
              </a:ext>
            </a:extLst>
          </p:cNvPr>
          <p:cNvSpPr/>
          <p:nvPr/>
        </p:nvSpPr>
        <p:spPr>
          <a:xfrm>
            <a:off x="3071965" y="2551224"/>
            <a:ext cx="3429000" cy="276999"/>
          </a:xfrm>
          <a:prstGeom prst="rect">
            <a:avLst/>
          </a:prstGeom>
        </p:spPr>
        <p:txBody>
          <a:bodyPr>
            <a:spAutoFit/>
          </a:bodyPr>
          <a:lstStyle/>
          <a:p>
            <a:pPr algn="ctr"/>
            <a:r>
              <a:rPr lang="en-GB" sz="1200" b="1">
                <a:solidFill>
                  <a:schemeClr val="bg1"/>
                </a:solidFill>
              </a:rPr>
              <a:t>Converting a percentage to a decimal – Examples</a:t>
            </a:r>
          </a:p>
        </p:txBody>
      </p:sp>
      <p:sp>
        <p:nvSpPr>
          <p:cNvPr id="67" name="Rectangle 66">
            <a:extLst>
              <a:ext uri="{FF2B5EF4-FFF2-40B4-BE49-F238E27FC236}">
                <a16:creationId xmlns:a16="http://schemas.microsoft.com/office/drawing/2014/main" id="{E00F6D1F-FBFE-F20E-AC9A-38DA9C621C4B}"/>
              </a:ext>
            </a:extLst>
          </p:cNvPr>
          <p:cNvSpPr/>
          <p:nvPr/>
        </p:nvSpPr>
        <p:spPr>
          <a:xfrm>
            <a:off x="87796" y="1709105"/>
            <a:ext cx="6699219" cy="16723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8" name="Straight Connector 67">
            <a:extLst>
              <a:ext uri="{FF2B5EF4-FFF2-40B4-BE49-F238E27FC236}">
                <a16:creationId xmlns:a16="http://schemas.microsoft.com/office/drawing/2014/main" id="{D00171FA-E7C7-F0CF-2575-ECAD0F296064}"/>
              </a:ext>
            </a:extLst>
          </p:cNvPr>
          <p:cNvCxnSpPr/>
          <p:nvPr/>
        </p:nvCxnSpPr>
        <p:spPr>
          <a:xfrm>
            <a:off x="105551" y="2579298"/>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4D1E78AA-A916-DBF7-6C5D-15579C5DCD06}"/>
              </a:ext>
            </a:extLst>
          </p:cNvPr>
          <p:cNvCxnSpPr>
            <a:cxnSpLocks/>
            <a:stCxn id="67" idx="2"/>
            <a:endCxn id="67" idx="0"/>
          </p:cNvCxnSpPr>
          <p:nvPr/>
        </p:nvCxnSpPr>
        <p:spPr>
          <a:xfrm flipV="1">
            <a:off x="3437406" y="1709105"/>
            <a:ext cx="0" cy="1672332"/>
          </a:xfrm>
          <a:prstGeom prst="line">
            <a:avLst/>
          </a:prstGeom>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B78CA269-AE70-44D4-83C6-112E83C6B297}"/>
              </a:ext>
            </a:extLst>
          </p:cNvPr>
          <p:cNvSpPr txBox="1"/>
          <p:nvPr/>
        </p:nvSpPr>
        <p:spPr>
          <a:xfrm>
            <a:off x="105551" y="1709104"/>
            <a:ext cx="824713" cy="461665"/>
          </a:xfrm>
          <a:prstGeom prst="rect">
            <a:avLst/>
          </a:prstGeom>
          <a:noFill/>
        </p:spPr>
        <p:txBody>
          <a:bodyPr wrap="none" rtlCol="0">
            <a:spAutoFit/>
          </a:bodyPr>
          <a:lstStyle/>
          <a:p>
            <a:r>
              <a:rPr lang="en-US" sz="1200" b="1"/>
              <a:t>Definition</a:t>
            </a:r>
          </a:p>
          <a:p>
            <a:endParaRPr lang="en-US" sz="1200"/>
          </a:p>
        </p:txBody>
      </p:sp>
      <p:sp>
        <p:nvSpPr>
          <p:cNvPr id="71" name="TextBox 70">
            <a:extLst>
              <a:ext uri="{FF2B5EF4-FFF2-40B4-BE49-F238E27FC236}">
                <a16:creationId xmlns:a16="http://schemas.microsoft.com/office/drawing/2014/main" id="{AB8FC0A4-F296-A4BD-4FB2-45647B28C9A1}"/>
              </a:ext>
            </a:extLst>
          </p:cNvPr>
          <p:cNvSpPr txBox="1"/>
          <p:nvPr/>
        </p:nvSpPr>
        <p:spPr>
          <a:xfrm>
            <a:off x="5766906" y="1708119"/>
            <a:ext cx="1112228" cy="276999"/>
          </a:xfrm>
          <a:prstGeom prst="rect">
            <a:avLst/>
          </a:prstGeom>
          <a:noFill/>
        </p:spPr>
        <p:txBody>
          <a:bodyPr wrap="none" rtlCol="0">
            <a:spAutoFit/>
          </a:bodyPr>
          <a:lstStyle/>
          <a:p>
            <a:r>
              <a:rPr lang="en-US" sz="1200" b="1"/>
              <a:t>Characteristics</a:t>
            </a:r>
            <a:endParaRPr lang="en-GB" sz="1200" b="1"/>
          </a:p>
        </p:txBody>
      </p:sp>
      <p:sp>
        <p:nvSpPr>
          <p:cNvPr id="72" name="TextBox 71">
            <a:extLst>
              <a:ext uri="{FF2B5EF4-FFF2-40B4-BE49-F238E27FC236}">
                <a16:creationId xmlns:a16="http://schemas.microsoft.com/office/drawing/2014/main" id="{F0FBAAEA-2582-5A4B-C7B6-5A427459D7F4}"/>
              </a:ext>
            </a:extLst>
          </p:cNvPr>
          <p:cNvSpPr txBox="1"/>
          <p:nvPr/>
        </p:nvSpPr>
        <p:spPr>
          <a:xfrm>
            <a:off x="70514" y="2541732"/>
            <a:ext cx="788164" cy="276999"/>
          </a:xfrm>
          <a:prstGeom prst="rect">
            <a:avLst/>
          </a:prstGeom>
          <a:noFill/>
        </p:spPr>
        <p:txBody>
          <a:bodyPr wrap="none" rtlCol="0">
            <a:spAutoFit/>
          </a:bodyPr>
          <a:lstStyle/>
          <a:p>
            <a:r>
              <a:rPr lang="en-US" sz="1200" b="1"/>
              <a:t>Examples</a:t>
            </a:r>
            <a:endParaRPr lang="en-GB" sz="1200" b="1"/>
          </a:p>
        </p:txBody>
      </p:sp>
      <p:sp>
        <p:nvSpPr>
          <p:cNvPr id="73" name="TextBox 72">
            <a:extLst>
              <a:ext uri="{FF2B5EF4-FFF2-40B4-BE49-F238E27FC236}">
                <a16:creationId xmlns:a16="http://schemas.microsoft.com/office/drawing/2014/main" id="{D0179835-E5A6-FC5E-E799-8D8E0F571C5B}"/>
              </a:ext>
            </a:extLst>
          </p:cNvPr>
          <p:cNvSpPr txBox="1"/>
          <p:nvPr/>
        </p:nvSpPr>
        <p:spPr>
          <a:xfrm>
            <a:off x="5692966" y="2629535"/>
            <a:ext cx="1172885" cy="276999"/>
          </a:xfrm>
          <a:prstGeom prst="rect">
            <a:avLst/>
          </a:prstGeom>
          <a:noFill/>
        </p:spPr>
        <p:txBody>
          <a:bodyPr wrap="none" rtlCol="0">
            <a:spAutoFit/>
          </a:bodyPr>
          <a:lstStyle/>
          <a:p>
            <a:r>
              <a:rPr lang="en-US" sz="1200" b="1"/>
              <a:t>Non - Examples</a:t>
            </a:r>
            <a:endParaRPr lang="en-GB" sz="1200" b="1"/>
          </a:p>
        </p:txBody>
      </p:sp>
      <p:sp>
        <p:nvSpPr>
          <p:cNvPr id="74" name="TextBox 73">
            <a:extLst>
              <a:ext uri="{FF2B5EF4-FFF2-40B4-BE49-F238E27FC236}">
                <a16:creationId xmlns:a16="http://schemas.microsoft.com/office/drawing/2014/main" id="{CE09891C-3343-623F-8AC2-0F2B1816D8A2}"/>
              </a:ext>
            </a:extLst>
          </p:cNvPr>
          <p:cNvSpPr txBox="1"/>
          <p:nvPr/>
        </p:nvSpPr>
        <p:spPr>
          <a:xfrm>
            <a:off x="2376383" y="2370452"/>
            <a:ext cx="2105473" cy="369332"/>
          </a:xfrm>
          <a:prstGeom prst="rect">
            <a:avLst/>
          </a:prstGeom>
          <a:solidFill>
            <a:schemeClr val="bg1"/>
          </a:solidFill>
          <a:ln>
            <a:solidFill>
              <a:schemeClr val="tx1"/>
            </a:solidFill>
          </a:ln>
        </p:spPr>
        <p:txBody>
          <a:bodyPr wrap="square" rtlCol="0">
            <a:spAutoFit/>
          </a:bodyPr>
          <a:lstStyle/>
          <a:p>
            <a:pPr algn="ctr"/>
            <a:r>
              <a:rPr lang="en-US"/>
              <a:t>Positive Integers</a:t>
            </a:r>
            <a:endParaRPr lang="en-GB"/>
          </a:p>
        </p:txBody>
      </p:sp>
      <p:sp>
        <p:nvSpPr>
          <p:cNvPr id="75" name="TextBox 74">
            <a:extLst>
              <a:ext uri="{FF2B5EF4-FFF2-40B4-BE49-F238E27FC236}">
                <a16:creationId xmlns:a16="http://schemas.microsoft.com/office/drawing/2014/main" id="{21A0324C-A28D-D3B3-1107-0401A76A59C1}"/>
              </a:ext>
            </a:extLst>
          </p:cNvPr>
          <p:cNvSpPr txBox="1"/>
          <p:nvPr/>
        </p:nvSpPr>
        <p:spPr>
          <a:xfrm>
            <a:off x="123495" y="1901692"/>
            <a:ext cx="3230335" cy="646331"/>
          </a:xfrm>
          <a:prstGeom prst="rect">
            <a:avLst/>
          </a:prstGeom>
          <a:noFill/>
        </p:spPr>
        <p:txBody>
          <a:bodyPr wrap="square" rtlCol="0">
            <a:spAutoFit/>
          </a:bodyPr>
          <a:lstStyle/>
          <a:p>
            <a:r>
              <a:rPr lang="en-US" sz="1200"/>
              <a:t>All integers which appear to the right of the 0 on a number line.</a:t>
            </a:r>
          </a:p>
          <a:p>
            <a:endParaRPr lang="en-US" sz="1200" b="1"/>
          </a:p>
        </p:txBody>
      </p:sp>
      <p:sp>
        <p:nvSpPr>
          <p:cNvPr id="76" name="TextBox 75">
            <a:extLst>
              <a:ext uri="{FF2B5EF4-FFF2-40B4-BE49-F238E27FC236}">
                <a16:creationId xmlns:a16="http://schemas.microsoft.com/office/drawing/2014/main" id="{0F3BDF0E-67DF-D6DA-9C82-08C83F9FD04C}"/>
              </a:ext>
            </a:extLst>
          </p:cNvPr>
          <p:cNvSpPr txBox="1"/>
          <p:nvPr/>
        </p:nvSpPr>
        <p:spPr>
          <a:xfrm>
            <a:off x="3409911" y="1738386"/>
            <a:ext cx="3230335" cy="646331"/>
          </a:xfrm>
          <a:prstGeom prst="rect">
            <a:avLst/>
          </a:prstGeom>
          <a:noFill/>
        </p:spPr>
        <p:txBody>
          <a:bodyPr wrap="square" rtlCol="0">
            <a:spAutoFit/>
          </a:bodyPr>
          <a:lstStyle/>
          <a:p>
            <a:pPr marL="171450" indent="-171450">
              <a:buFont typeface="Arial" panose="020B0604020202020204" pitchFamily="34" charset="0"/>
              <a:buChar char="•"/>
            </a:pPr>
            <a:r>
              <a:rPr lang="en-US" sz="1200"/>
              <a:t>Greater than 0.</a:t>
            </a:r>
          </a:p>
          <a:p>
            <a:pPr marL="171450" indent="-171450">
              <a:buFont typeface="Arial" panose="020B0604020202020204" pitchFamily="34" charset="0"/>
              <a:buChar char="•"/>
            </a:pPr>
            <a:r>
              <a:rPr lang="en-US" sz="1200"/>
              <a:t>The larger integer means that the number is larger.</a:t>
            </a:r>
          </a:p>
        </p:txBody>
      </p:sp>
      <p:sp>
        <p:nvSpPr>
          <p:cNvPr id="77" name="TextBox 76">
            <a:extLst>
              <a:ext uri="{FF2B5EF4-FFF2-40B4-BE49-F238E27FC236}">
                <a16:creationId xmlns:a16="http://schemas.microsoft.com/office/drawing/2014/main" id="{471BF7FB-BFA9-0928-3378-3565BDC94189}"/>
              </a:ext>
            </a:extLst>
          </p:cNvPr>
          <p:cNvSpPr txBox="1"/>
          <p:nvPr/>
        </p:nvSpPr>
        <p:spPr>
          <a:xfrm>
            <a:off x="166896" y="3170337"/>
            <a:ext cx="358223" cy="276999"/>
          </a:xfrm>
          <a:prstGeom prst="rect">
            <a:avLst/>
          </a:prstGeom>
          <a:noFill/>
        </p:spPr>
        <p:txBody>
          <a:bodyPr wrap="square" rtlCol="0">
            <a:spAutoFit/>
          </a:bodyPr>
          <a:lstStyle/>
          <a:p>
            <a:r>
              <a:rPr lang="en-US" sz="1200" b="1"/>
              <a:t>4</a:t>
            </a:r>
          </a:p>
        </p:txBody>
      </p:sp>
      <p:sp>
        <p:nvSpPr>
          <p:cNvPr id="78" name="TextBox 77">
            <a:extLst>
              <a:ext uri="{FF2B5EF4-FFF2-40B4-BE49-F238E27FC236}">
                <a16:creationId xmlns:a16="http://schemas.microsoft.com/office/drawing/2014/main" id="{02B3BAC3-6B30-5F49-EE13-2BACDE9761D6}"/>
              </a:ext>
            </a:extLst>
          </p:cNvPr>
          <p:cNvSpPr txBox="1"/>
          <p:nvPr/>
        </p:nvSpPr>
        <p:spPr>
          <a:xfrm>
            <a:off x="692551" y="3159680"/>
            <a:ext cx="358223" cy="276999"/>
          </a:xfrm>
          <a:prstGeom prst="rect">
            <a:avLst/>
          </a:prstGeom>
          <a:noFill/>
        </p:spPr>
        <p:txBody>
          <a:bodyPr wrap="square" rtlCol="0">
            <a:spAutoFit/>
          </a:bodyPr>
          <a:lstStyle/>
          <a:p>
            <a:r>
              <a:rPr lang="en-US" sz="1200" b="1"/>
              <a:t>13</a:t>
            </a:r>
          </a:p>
        </p:txBody>
      </p:sp>
      <p:sp>
        <p:nvSpPr>
          <p:cNvPr id="79" name="TextBox 78">
            <a:extLst>
              <a:ext uri="{FF2B5EF4-FFF2-40B4-BE49-F238E27FC236}">
                <a16:creationId xmlns:a16="http://schemas.microsoft.com/office/drawing/2014/main" id="{FB52CDF2-6BDA-680B-EEAD-F6D9B583B622}"/>
              </a:ext>
            </a:extLst>
          </p:cNvPr>
          <p:cNvSpPr txBox="1"/>
          <p:nvPr/>
        </p:nvSpPr>
        <p:spPr>
          <a:xfrm>
            <a:off x="1321580" y="3163798"/>
            <a:ext cx="602619" cy="276999"/>
          </a:xfrm>
          <a:prstGeom prst="rect">
            <a:avLst/>
          </a:prstGeom>
          <a:noFill/>
        </p:spPr>
        <p:txBody>
          <a:bodyPr wrap="square" rtlCol="0">
            <a:spAutoFit/>
          </a:bodyPr>
          <a:lstStyle/>
          <a:p>
            <a:r>
              <a:rPr lang="en-US" sz="1200" b="1"/>
              <a:t>126</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8740594D-22AF-1F09-3D4D-9585C3F9F911}"/>
                  </a:ext>
                </a:extLst>
              </p:cNvPr>
              <p:cNvSpPr txBox="1"/>
              <p:nvPr/>
            </p:nvSpPr>
            <p:spPr>
              <a:xfrm>
                <a:off x="4653621" y="3071397"/>
                <a:ext cx="358223"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1" i="1" dirty="0" smtClean="0">
                          <a:latin typeface="Cambria Math" panose="02040503050406030204" pitchFamily="18" charset="0"/>
                        </a:rPr>
                        <m:t>−</m:t>
                      </m:r>
                      <m:r>
                        <a:rPr lang="en-US" sz="1200" b="1" i="1" dirty="0" smtClean="0">
                          <a:latin typeface="Cambria Math" panose="02040503050406030204" pitchFamily="18" charset="0"/>
                        </a:rPr>
                        <m:t>𝟒</m:t>
                      </m:r>
                    </m:oMath>
                  </m:oMathPara>
                </a14:m>
                <a:endParaRPr lang="en-US" sz="1200" b="1" dirty="0"/>
              </a:p>
            </p:txBody>
          </p:sp>
        </mc:Choice>
        <mc:Fallback xmlns="">
          <p:sp>
            <p:nvSpPr>
              <p:cNvPr id="80" name="TextBox 79">
                <a:extLst>
                  <a:ext uri="{FF2B5EF4-FFF2-40B4-BE49-F238E27FC236}">
                    <a16:creationId xmlns:a16="http://schemas.microsoft.com/office/drawing/2014/main" id="{8740594D-22AF-1F09-3D4D-9585C3F9F911}"/>
                  </a:ext>
                </a:extLst>
              </p:cNvPr>
              <p:cNvSpPr txBox="1">
                <a:spLocks noRot="1" noChangeAspect="1" noMove="1" noResize="1" noEditPoints="1" noAdjustHandles="1" noChangeArrowheads="1" noChangeShapeType="1" noTextEdit="1"/>
              </p:cNvSpPr>
              <p:nvPr/>
            </p:nvSpPr>
            <p:spPr>
              <a:xfrm>
                <a:off x="4653621" y="3071397"/>
                <a:ext cx="358223" cy="27699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F814684F-5FF3-8BD0-C942-485BA8EFD2FF}"/>
                  </a:ext>
                </a:extLst>
              </p:cNvPr>
              <p:cNvSpPr txBox="1"/>
              <p:nvPr/>
            </p:nvSpPr>
            <p:spPr>
              <a:xfrm>
                <a:off x="5413335" y="3064254"/>
                <a:ext cx="346227"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𝟏</m:t>
                      </m:r>
                      <m:r>
                        <a:rPr lang="en-US" sz="1200" b="1" i="1" smtClean="0">
                          <a:latin typeface="Cambria Math" panose="02040503050406030204" pitchFamily="18" charset="0"/>
                        </a:rPr>
                        <m:t>.</m:t>
                      </m:r>
                      <m:r>
                        <a:rPr lang="en-US" sz="1200" b="1" i="1" smtClean="0">
                          <a:latin typeface="Cambria Math" panose="02040503050406030204" pitchFamily="18" charset="0"/>
                        </a:rPr>
                        <m:t>𝟓</m:t>
                      </m:r>
                    </m:oMath>
                  </m:oMathPara>
                </a14:m>
                <a:endParaRPr lang="en-US" sz="1200" b="1" dirty="0"/>
              </a:p>
            </p:txBody>
          </p:sp>
        </mc:Choice>
        <mc:Fallback xmlns="">
          <p:sp>
            <p:nvSpPr>
              <p:cNvPr id="81" name="TextBox 80">
                <a:extLst>
                  <a:ext uri="{FF2B5EF4-FFF2-40B4-BE49-F238E27FC236}">
                    <a16:creationId xmlns:a16="http://schemas.microsoft.com/office/drawing/2014/main" id="{F814684F-5FF3-8BD0-C942-485BA8EFD2FF}"/>
                  </a:ext>
                </a:extLst>
              </p:cNvPr>
              <p:cNvSpPr txBox="1">
                <a:spLocks noRot="1" noChangeAspect="1" noMove="1" noResize="1" noEditPoints="1" noAdjustHandles="1" noChangeArrowheads="1" noChangeShapeType="1" noTextEdit="1"/>
              </p:cNvSpPr>
              <p:nvPr/>
            </p:nvSpPr>
            <p:spPr>
              <a:xfrm>
                <a:off x="5413335" y="3064254"/>
                <a:ext cx="346227" cy="276999"/>
              </a:xfrm>
              <a:prstGeom prst="rect">
                <a:avLst/>
              </a:prstGeom>
              <a:blipFill>
                <a:blip r:embed="rId4"/>
                <a:stretch>
                  <a:fillRect r="-122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10EBAFE-6985-7655-12C4-6047282F6476}"/>
                  </a:ext>
                </a:extLst>
              </p:cNvPr>
              <p:cNvSpPr txBox="1"/>
              <p:nvPr/>
            </p:nvSpPr>
            <p:spPr>
              <a:xfrm>
                <a:off x="6161053" y="2914289"/>
                <a:ext cx="358223" cy="4380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1200" b="1" i="1" smtClean="0">
                              <a:latin typeface="Cambria Math" panose="02040503050406030204" pitchFamily="18" charset="0"/>
                            </a:rPr>
                          </m:ctrlPr>
                        </m:fPr>
                        <m:num>
                          <m:r>
                            <a:rPr lang="en-US" sz="1200" b="1" i="1" smtClean="0">
                              <a:latin typeface="Cambria Math" panose="02040503050406030204" pitchFamily="18" charset="0"/>
                            </a:rPr>
                            <m:t>𝟑</m:t>
                          </m:r>
                        </m:num>
                        <m:den>
                          <m:r>
                            <a:rPr lang="en-US" sz="1200" b="1" i="1" smtClean="0">
                              <a:latin typeface="Cambria Math" panose="02040503050406030204" pitchFamily="18" charset="0"/>
                            </a:rPr>
                            <m:t>𝟒</m:t>
                          </m:r>
                        </m:den>
                      </m:f>
                    </m:oMath>
                  </m:oMathPara>
                </a14:m>
                <a:endParaRPr lang="en-US" sz="1200" b="1"/>
              </a:p>
            </p:txBody>
          </p:sp>
        </mc:Choice>
        <mc:Fallback xmlns="">
          <p:sp>
            <p:nvSpPr>
              <p:cNvPr id="82" name="TextBox 81">
                <a:extLst>
                  <a:ext uri="{FF2B5EF4-FFF2-40B4-BE49-F238E27FC236}">
                    <a16:creationId xmlns:a16="http://schemas.microsoft.com/office/drawing/2014/main" id="{910EBAFE-6985-7655-12C4-6047282F6476}"/>
                  </a:ext>
                </a:extLst>
              </p:cNvPr>
              <p:cNvSpPr txBox="1">
                <a:spLocks noRot="1" noChangeAspect="1" noMove="1" noResize="1" noEditPoints="1" noAdjustHandles="1" noChangeArrowheads="1" noChangeShapeType="1" noTextEdit="1"/>
              </p:cNvSpPr>
              <p:nvPr/>
            </p:nvSpPr>
            <p:spPr>
              <a:xfrm>
                <a:off x="6161053" y="2914289"/>
                <a:ext cx="358223" cy="438005"/>
              </a:xfrm>
              <a:prstGeom prst="rect">
                <a:avLst/>
              </a:prstGeom>
              <a:blipFill>
                <a:blip r:embed="rId5"/>
                <a:stretch>
                  <a:fillRect b="-1389"/>
                </a:stretch>
              </a:blipFill>
            </p:spPr>
            <p:txBody>
              <a:bodyPr/>
              <a:lstStyle/>
              <a:p>
                <a:r>
                  <a:rPr lang="en-GB">
                    <a:noFill/>
                  </a:rPr>
                  <a:t> </a:t>
                </a:r>
              </a:p>
            </p:txBody>
          </p:sp>
        </mc:Fallback>
      </mc:AlternateContent>
      <p:sp>
        <p:nvSpPr>
          <p:cNvPr id="83" name="TextBox 82">
            <a:extLst>
              <a:ext uri="{FF2B5EF4-FFF2-40B4-BE49-F238E27FC236}">
                <a16:creationId xmlns:a16="http://schemas.microsoft.com/office/drawing/2014/main" id="{3050933F-CE35-17FB-5D83-0D180B048644}"/>
              </a:ext>
            </a:extLst>
          </p:cNvPr>
          <p:cNvSpPr txBox="1"/>
          <p:nvPr/>
        </p:nvSpPr>
        <p:spPr>
          <a:xfrm>
            <a:off x="80424" y="2735105"/>
            <a:ext cx="1921628" cy="646331"/>
          </a:xfrm>
          <a:prstGeom prst="rect">
            <a:avLst/>
          </a:prstGeom>
          <a:noFill/>
        </p:spPr>
        <p:txBody>
          <a:bodyPr wrap="square" rtlCol="0">
            <a:spAutoFit/>
          </a:bodyPr>
          <a:lstStyle/>
          <a:p>
            <a:r>
              <a:rPr lang="en-US" sz="1200"/>
              <a:t>These numbers are all positive and all integers. </a:t>
            </a:r>
          </a:p>
          <a:p>
            <a:endParaRPr lang="en-US" sz="1200" b="1"/>
          </a:p>
        </p:txBody>
      </p:sp>
      <p:sp>
        <p:nvSpPr>
          <p:cNvPr id="84" name="Rectangle 83">
            <a:extLst>
              <a:ext uri="{FF2B5EF4-FFF2-40B4-BE49-F238E27FC236}">
                <a16:creationId xmlns:a16="http://schemas.microsoft.com/office/drawing/2014/main" id="{4F628E0E-D661-40B4-67E8-D319A662E63A}"/>
              </a:ext>
            </a:extLst>
          </p:cNvPr>
          <p:cNvSpPr/>
          <p:nvPr/>
        </p:nvSpPr>
        <p:spPr>
          <a:xfrm>
            <a:off x="86108" y="272648"/>
            <a:ext cx="6679742" cy="141300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85" name="TextBox 84">
            <a:extLst>
              <a:ext uri="{FF2B5EF4-FFF2-40B4-BE49-F238E27FC236}">
                <a16:creationId xmlns:a16="http://schemas.microsoft.com/office/drawing/2014/main" id="{7A0596B6-E30F-6187-A2D1-9668A9B1F8DF}"/>
              </a:ext>
            </a:extLst>
          </p:cNvPr>
          <p:cNvSpPr txBox="1"/>
          <p:nvPr/>
        </p:nvSpPr>
        <p:spPr>
          <a:xfrm>
            <a:off x="1259293" y="612232"/>
            <a:ext cx="1399768" cy="276999"/>
          </a:xfrm>
          <a:prstGeom prst="rect">
            <a:avLst/>
          </a:prstGeom>
          <a:noFill/>
        </p:spPr>
        <p:txBody>
          <a:bodyPr wrap="square" rtlCol="0">
            <a:spAutoFit/>
          </a:bodyPr>
          <a:lstStyle/>
          <a:p>
            <a:r>
              <a:rPr lang="en-GB" sz="1200" b="1" dirty="0"/>
              <a:t>Objectives:</a:t>
            </a:r>
          </a:p>
        </p:txBody>
      </p:sp>
      <p:sp>
        <p:nvSpPr>
          <p:cNvPr id="86" name="TextBox 85">
            <a:extLst>
              <a:ext uri="{FF2B5EF4-FFF2-40B4-BE49-F238E27FC236}">
                <a16:creationId xmlns:a16="http://schemas.microsoft.com/office/drawing/2014/main" id="{0047781D-BFAC-8C0B-0D29-A93DB7E2677A}"/>
              </a:ext>
            </a:extLst>
          </p:cNvPr>
          <p:cNvSpPr txBox="1"/>
          <p:nvPr/>
        </p:nvSpPr>
        <p:spPr>
          <a:xfrm>
            <a:off x="918459" y="824135"/>
            <a:ext cx="4667990" cy="830997"/>
          </a:xfrm>
          <a:prstGeom prst="rect">
            <a:avLst/>
          </a:prstGeom>
          <a:noFill/>
        </p:spPr>
        <p:txBody>
          <a:bodyPr wrap="square" rtlCol="0">
            <a:spAutoFit/>
          </a:bodyPr>
          <a:lstStyle/>
          <a:p>
            <a:pPr marL="342900" indent="-342900">
              <a:buFont typeface="+mj-lt"/>
              <a:buAutoNum type="arabicPeriod"/>
            </a:pPr>
            <a:r>
              <a:rPr lang="en-GB" sz="1200" dirty="0"/>
              <a:t>To order integers.</a:t>
            </a:r>
          </a:p>
          <a:p>
            <a:pPr marL="342900" indent="-342900">
              <a:buFont typeface="+mj-lt"/>
              <a:buAutoNum type="arabicPeriod"/>
            </a:pPr>
            <a:r>
              <a:rPr lang="en-GB" sz="1200" dirty="0"/>
              <a:t>To order decimals</a:t>
            </a:r>
          </a:p>
          <a:p>
            <a:pPr marL="342900" indent="-342900">
              <a:buFont typeface="+mj-lt"/>
              <a:buAutoNum type="arabicPeriod"/>
            </a:pPr>
            <a:r>
              <a:rPr lang="en-GB" sz="1200" dirty="0"/>
              <a:t>To order directed numbers</a:t>
            </a:r>
          </a:p>
          <a:p>
            <a:pPr marL="342900" indent="-342900">
              <a:buFont typeface="+mj-lt"/>
              <a:buAutoNum type="arabicPeriod"/>
            </a:pPr>
            <a:r>
              <a:rPr lang="en-GB" sz="1200" dirty="0"/>
              <a:t>To solve problems involving ordering integers.</a:t>
            </a:r>
            <a:endParaRPr lang="en-GB" sz="1200" dirty="0">
              <a:solidFill>
                <a:srgbClr val="FF0000"/>
              </a:solidFill>
            </a:endParaRPr>
          </a:p>
        </p:txBody>
      </p:sp>
      <p:sp>
        <p:nvSpPr>
          <p:cNvPr id="87" name="TextBox 86">
            <a:extLst>
              <a:ext uri="{FF2B5EF4-FFF2-40B4-BE49-F238E27FC236}">
                <a16:creationId xmlns:a16="http://schemas.microsoft.com/office/drawing/2014/main" id="{EC9BCCE5-E404-D237-792D-76583C97B974}"/>
              </a:ext>
            </a:extLst>
          </p:cNvPr>
          <p:cNvSpPr txBox="1"/>
          <p:nvPr/>
        </p:nvSpPr>
        <p:spPr>
          <a:xfrm>
            <a:off x="1449437" y="311784"/>
            <a:ext cx="3920945" cy="276999"/>
          </a:xfrm>
          <a:prstGeom prst="rect">
            <a:avLst/>
          </a:prstGeom>
          <a:noFill/>
          <a:ln>
            <a:solidFill>
              <a:schemeClr val="tx1"/>
            </a:solidFill>
          </a:ln>
        </p:spPr>
        <p:txBody>
          <a:bodyPr wrap="none" rtlCol="0">
            <a:spAutoFit/>
          </a:bodyPr>
          <a:lstStyle/>
          <a:p>
            <a:pPr algn="ctr"/>
            <a:r>
              <a:rPr lang="en-GB" sz="1200"/>
              <a:t>LEARNING OUTCOME: To understand how to order integers.</a:t>
            </a:r>
          </a:p>
        </p:txBody>
      </p:sp>
      <p:sp>
        <p:nvSpPr>
          <p:cNvPr id="88" name="TextBox 87">
            <a:extLst>
              <a:ext uri="{FF2B5EF4-FFF2-40B4-BE49-F238E27FC236}">
                <a16:creationId xmlns:a16="http://schemas.microsoft.com/office/drawing/2014/main" id="{FEE13538-AB1B-9203-623C-8E65DF06043D}"/>
              </a:ext>
            </a:extLst>
          </p:cNvPr>
          <p:cNvSpPr txBox="1"/>
          <p:nvPr/>
        </p:nvSpPr>
        <p:spPr>
          <a:xfrm>
            <a:off x="5668292" y="623677"/>
            <a:ext cx="896399" cy="784830"/>
          </a:xfrm>
          <a:prstGeom prst="rect">
            <a:avLst/>
          </a:prstGeom>
          <a:noFill/>
          <a:ln w="12700">
            <a:solidFill>
              <a:schemeClr val="tx1"/>
            </a:solidFill>
          </a:ln>
        </p:spPr>
        <p:txBody>
          <a:bodyPr wrap="none" rtlCol="0">
            <a:spAutoFit/>
          </a:bodyPr>
          <a:lstStyle/>
          <a:p>
            <a:r>
              <a:rPr lang="en-US" sz="900" b="1" u="sng"/>
              <a:t>Keywords:</a:t>
            </a:r>
            <a:endParaRPr lang="en-US" sz="900"/>
          </a:p>
          <a:p>
            <a:pPr marL="171450" indent="-171450">
              <a:buFontTx/>
              <a:buChar char="-"/>
            </a:pPr>
            <a:r>
              <a:rPr lang="en-US" sz="900"/>
              <a:t>Integer</a:t>
            </a:r>
          </a:p>
          <a:p>
            <a:pPr marL="171450" indent="-171450">
              <a:buFontTx/>
              <a:buChar char="-"/>
            </a:pPr>
            <a:r>
              <a:rPr lang="en-US" sz="900"/>
              <a:t>Place Value</a:t>
            </a:r>
          </a:p>
          <a:p>
            <a:pPr marL="171450" indent="-171450">
              <a:buFontTx/>
              <a:buChar char="-"/>
            </a:pPr>
            <a:r>
              <a:rPr lang="en-US" sz="900"/>
              <a:t>Ascending</a:t>
            </a:r>
          </a:p>
          <a:p>
            <a:pPr marL="171450" indent="-171450">
              <a:buFontTx/>
              <a:buChar char="-"/>
            </a:pPr>
            <a:r>
              <a:rPr lang="en-US" sz="900"/>
              <a:t>Descending</a:t>
            </a:r>
          </a:p>
        </p:txBody>
      </p:sp>
      <p:graphicFrame>
        <p:nvGraphicFramePr>
          <p:cNvPr id="94" name="Table 93">
            <a:extLst>
              <a:ext uri="{FF2B5EF4-FFF2-40B4-BE49-F238E27FC236}">
                <a16:creationId xmlns:a16="http://schemas.microsoft.com/office/drawing/2014/main" id="{B649EBDD-A211-4117-5143-7147C66E20B1}"/>
              </a:ext>
            </a:extLst>
          </p:cNvPr>
          <p:cNvGraphicFramePr>
            <a:graphicFrameLocks noGrp="1"/>
          </p:cNvGraphicFramePr>
          <p:nvPr>
            <p:extLst>
              <p:ext uri="{D42A27DB-BD31-4B8C-83A1-F6EECF244321}">
                <p14:modId xmlns:p14="http://schemas.microsoft.com/office/powerpoint/2010/main" val="880443917"/>
              </p:ext>
            </p:extLst>
          </p:nvPr>
        </p:nvGraphicFramePr>
        <p:xfrm>
          <a:off x="149546" y="3447336"/>
          <a:ext cx="6520729" cy="3242091"/>
        </p:xfrm>
        <a:graphic>
          <a:graphicData uri="http://schemas.openxmlformats.org/drawingml/2006/table">
            <a:tbl>
              <a:tblPr firstRow="1" bandRow="1">
                <a:tableStyleId>{5C22544A-7EE6-4342-B048-85BDC9FD1C3A}</a:tableStyleId>
              </a:tblPr>
              <a:tblGrid>
                <a:gridCol w="1552729">
                  <a:extLst>
                    <a:ext uri="{9D8B030D-6E8A-4147-A177-3AD203B41FA5}">
                      <a16:colId xmlns:a16="http://schemas.microsoft.com/office/drawing/2014/main" val="1568142362"/>
                    </a:ext>
                  </a:extLst>
                </a:gridCol>
                <a:gridCol w="1656000">
                  <a:extLst>
                    <a:ext uri="{9D8B030D-6E8A-4147-A177-3AD203B41FA5}">
                      <a16:colId xmlns:a16="http://schemas.microsoft.com/office/drawing/2014/main" val="3551711160"/>
                    </a:ext>
                  </a:extLst>
                </a:gridCol>
                <a:gridCol w="1656000">
                  <a:extLst>
                    <a:ext uri="{9D8B030D-6E8A-4147-A177-3AD203B41FA5}">
                      <a16:colId xmlns:a16="http://schemas.microsoft.com/office/drawing/2014/main" val="1712497518"/>
                    </a:ext>
                  </a:extLst>
                </a:gridCol>
                <a:gridCol w="1656000">
                  <a:extLst>
                    <a:ext uri="{9D8B030D-6E8A-4147-A177-3AD203B41FA5}">
                      <a16:colId xmlns:a16="http://schemas.microsoft.com/office/drawing/2014/main" val="886122921"/>
                    </a:ext>
                  </a:extLst>
                </a:gridCol>
              </a:tblGrid>
              <a:tr h="728328">
                <a:tc gridSpan="4">
                  <a:txBody>
                    <a:bodyPr/>
                    <a:lstStyle/>
                    <a:p>
                      <a:pPr algn="ctr"/>
                      <a:endParaRPr lang="en-GB" sz="1100" b="0" dirty="0">
                        <a:solidFill>
                          <a:schemeClr val="tx1"/>
                        </a:solidFill>
                      </a:endParaRPr>
                    </a:p>
                    <a:p>
                      <a:pPr algn="l"/>
                      <a:r>
                        <a:rPr lang="en-GB" sz="1200" b="0" dirty="0">
                          <a:solidFill>
                            <a:schemeClr val="tx1"/>
                          </a:solidFill>
                        </a:rPr>
                        <a:t>For the following questions, list the numbers in </a:t>
                      </a:r>
                      <a:r>
                        <a:rPr lang="en-GB" sz="1200" b="1" dirty="0">
                          <a:solidFill>
                            <a:schemeClr val="tx1"/>
                          </a:solidFill>
                        </a:rPr>
                        <a:t>Ascending</a:t>
                      </a:r>
                      <a:r>
                        <a:rPr lang="en-GB" sz="1200" b="0" dirty="0">
                          <a:solidFill>
                            <a:schemeClr val="tx1"/>
                          </a:solidFill>
                        </a:rPr>
                        <a:t> order</a:t>
                      </a:r>
                      <a:r>
                        <a:rPr lang="en-GB" sz="1100" b="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6582307"/>
                  </a:ext>
                </a:extLst>
              </a:tr>
              <a:tr h="598783">
                <a:tc>
                  <a:txBody>
                    <a:bodyPr/>
                    <a:lstStyle/>
                    <a:p>
                      <a:r>
                        <a:rPr lang="en-US" sz="1100" b="1" dirty="0">
                          <a:solidFill>
                            <a:schemeClr val="tx1"/>
                          </a:solidFill>
                        </a:rPr>
                        <a:t>Steps</a:t>
                      </a:r>
                      <a:endParaRPr lang="en-GB"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200" b="0" i="0" kern="1200" dirty="0">
                        <a:solidFill>
                          <a:schemeClr val="dk1"/>
                        </a:solidFill>
                        <a:effectLst/>
                        <a:latin typeface="+mn-lt"/>
                        <a:ea typeface="+mn-ea"/>
                        <a:cs typeface="+mn-cs"/>
                      </a:endParaRPr>
                    </a:p>
                    <a:p>
                      <a:r>
                        <a:rPr lang="en-GB" sz="1200" b="0" i="0" kern="1200" dirty="0">
                          <a:solidFill>
                            <a:schemeClr val="dk1"/>
                          </a:solidFill>
                          <a:effectLst/>
                          <a:latin typeface="+mn-lt"/>
                          <a:ea typeface="+mn-ea"/>
                          <a:cs typeface="+mn-cs"/>
                        </a:rPr>
                        <a:t>872, 802, 870, 780, 827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542, 412, 585, 591, 572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333, 395, 299, 313, 329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655810">
                <a:tc>
                  <a:txBody>
                    <a:bodyPr/>
                    <a:lstStyle/>
                    <a:p>
                      <a:pPr marL="0" indent="0" algn="ctr">
                        <a:buNone/>
                      </a:pPr>
                      <a:r>
                        <a:rPr lang="en-US" sz="1000" dirty="0">
                          <a:solidFill>
                            <a:schemeClr val="tx1"/>
                          </a:solidFill>
                        </a:rPr>
                        <a:t>Look at the place value of the leftmost digit. Write down the number with the largest place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213940">
                <a:tc>
                  <a:txBody>
                    <a:bodyPr/>
                    <a:lstStyle/>
                    <a:p>
                      <a:pPr algn="ctr"/>
                      <a:r>
                        <a:rPr lang="en-GB" sz="1000" dirty="0">
                          <a:solidFill>
                            <a:schemeClr val="tx1"/>
                          </a:solidFill>
                        </a:rPr>
                        <a:t>If any have the same place value, look at the digit to the right and write down the number with the </a:t>
                      </a:r>
                      <a:r>
                        <a:rPr lang="en-GB" sz="1000" b="1" dirty="0">
                          <a:solidFill>
                            <a:schemeClr val="tx1"/>
                          </a:solidFill>
                        </a:rPr>
                        <a:t>lowest </a:t>
                      </a:r>
                      <a:r>
                        <a:rPr lang="en-GB" sz="1000" dirty="0">
                          <a:solidFill>
                            <a:schemeClr val="tx1"/>
                          </a:solidFill>
                        </a:rPr>
                        <a:t>value. Repeat until all numbers have been ordered.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95" name="TextBox 94">
            <a:extLst>
              <a:ext uri="{FF2B5EF4-FFF2-40B4-BE49-F238E27FC236}">
                <a16:creationId xmlns:a16="http://schemas.microsoft.com/office/drawing/2014/main" id="{BD0628EB-7159-7672-7DF1-27526F9A59D7}"/>
              </a:ext>
            </a:extLst>
          </p:cNvPr>
          <p:cNvSpPr txBox="1"/>
          <p:nvPr/>
        </p:nvSpPr>
        <p:spPr>
          <a:xfrm>
            <a:off x="1749503" y="3927504"/>
            <a:ext cx="1410704" cy="276999"/>
          </a:xfrm>
          <a:prstGeom prst="rect">
            <a:avLst/>
          </a:prstGeom>
          <a:noFill/>
          <a:ln>
            <a:noFill/>
          </a:ln>
        </p:spPr>
        <p:txBody>
          <a:bodyPr wrap="square" rtlCol="0">
            <a:spAutoFit/>
          </a:bodyPr>
          <a:lstStyle/>
          <a:p>
            <a:r>
              <a:rPr lang="en-GB" sz="1200" b="1" i="1" dirty="0">
                <a:solidFill>
                  <a:srgbClr val="FF0000"/>
                </a:solidFill>
              </a:rPr>
              <a:t>Example 1 - I do…</a:t>
            </a:r>
          </a:p>
        </p:txBody>
      </p:sp>
      <p:sp>
        <p:nvSpPr>
          <p:cNvPr id="96" name="TextBox 95">
            <a:extLst>
              <a:ext uri="{FF2B5EF4-FFF2-40B4-BE49-F238E27FC236}">
                <a16:creationId xmlns:a16="http://schemas.microsoft.com/office/drawing/2014/main" id="{7D80C024-E8F6-F6B1-F513-99C452D8060E}"/>
              </a:ext>
            </a:extLst>
          </p:cNvPr>
          <p:cNvSpPr txBox="1"/>
          <p:nvPr/>
        </p:nvSpPr>
        <p:spPr>
          <a:xfrm>
            <a:off x="5050689" y="3927503"/>
            <a:ext cx="1643405" cy="276999"/>
          </a:xfrm>
          <a:prstGeom prst="rect">
            <a:avLst/>
          </a:prstGeom>
          <a:noFill/>
          <a:ln>
            <a:noFill/>
          </a:ln>
        </p:spPr>
        <p:txBody>
          <a:bodyPr wrap="square" rtlCol="0">
            <a:spAutoFit/>
          </a:bodyPr>
          <a:lstStyle/>
          <a:p>
            <a:r>
              <a:rPr lang="en-GB" sz="1200" b="1" i="1" dirty="0">
                <a:solidFill>
                  <a:srgbClr val="00B050"/>
                </a:solidFill>
              </a:rPr>
              <a:t>Example 3 – You do…</a:t>
            </a:r>
          </a:p>
        </p:txBody>
      </p:sp>
      <p:sp>
        <p:nvSpPr>
          <p:cNvPr id="97" name="TextBox 96">
            <a:extLst>
              <a:ext uri="{FF2B5EF4-FFF2-40B4-BE49-F238E27FC236}">
                <a16:creationId xmlns:a16="http://schemas.microsoft.com/office/drawing/2014/main" id="{F30A5182-333A-A058-3444-30E88A091C91}"/>
              </a:ext>
            </a:extLst>
          </p:cNvPr>
          <p:cNvSpPr txBox="1"/>
          <p:nvPr/>
        </p:nvSpPr>
        <p:spPr>
          <a:xfrm>
            <a:off x="3415131" y="3931896"/>
            <a:ext cx="1643405" cy="276999"/>
          </a:xfrm>
          <a:prstGeom prst="rect">
            <a:avLst/>
          </a:prstGeom>
          <a:noFill/>
          <a:ln>
            <a:noFill/>
          </a:ln>
        </p:spPr>
        <p:txBody>
          <a:bodyPr wrap="square" rtlCol="0">
            <a:spAutoFit/>
          </a:bodyPr>
          <a:lstStyle/>
          <a:p>
            <a:r>
              <a:rPr lang="en-GB" sz="1200" b="1" i="1" dirty="0">
                <a:solidFill>
                  <a:schemeClr val="accent2"/>
                </a:solidFill>
              </a:rPr>
              <a:t>Example 2 – We do…</a:t>
            </a:r>
          </a:p>
        </p:txBody>
      </p:sp>
      <p:sp>
        <p:nvSpPr>
          <p:cNvPr id="98" name="Rectangle 97">
            <a:extLst>
              <a:ext uri="{FF2B5EF4-FFF2-40B4-BE49-F238E27FC236}">
                <a16:creationId xmlns:a16="http://schemas.microsoft.com/office/drawing/2014/main" id="{6F628AC4-C119-3013-EA93-EFA8EE5BF473}"/>
              </a:ext>
            </a:extLst>
          </p:cNvPr>
          <p:cNvSpPr/>
          <p:nvPr/>
        </p:nvSpPr>
        <p:spPr>
          <a:xfrm>
            <a:off x="106277" y="3418148"/>
            <a:ext cx="6014442"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Ordering integers without a number line</a:t>
            </a:r>
            <a:endParaRPr lang="en-GB" sz="1200" dirty="0">
              <a:solidFill>
                <a:schemeClr val="bg1"/>
              </a:solidFill>
            </a:endParaRPr>
          </a:p>
        </p:txBody>
      </p:sp>
      <p:graphicFrame>
        <p:nvGraphicFramePr>
          <p:cNvPr id="99" name="Table 98">
            <a:extLst>
              <a:ext uri="{FF2B5EF4-FFF2-40B4-BE49-F238E27FC236}">
                <a16:creationId xmlns:a16="http://schemas.microsoft.com/office/drawing/2014/main" id="{41ABC685-0B1C-D000-4569-63F0DE0FDCCD}"/>
              </a:ext>
            </a:extLst>
          </p:cNvPr>
          <p:cNvGraphicFramePr>
            <a:graphicFrameLocks noGrp="1"/>
          </p:cNvGraphicFramePr>
          <p:nvPr>
            <p:extLst>
              <p:ext uri="{D42A27DB-BD31-4B8C-83A1-F6EECF244321}">
                <p14:modId xmlns:p14="http://schemas.microsoft.com/office/powerpoint/2010/main" val="2110036675"/>
              </p:ext>
            </p:extLst>
          </p:nvPr>
        </p:nvGraphicFramePr>
        <p:xfrm>
          <a:off x="97539" y="6685758"/>
          <a:ext cx="6572477" cy="3095762"/>
        </p:xfrm>
        <a:graphic>
          <a:graphicData uri="http://schemas.openxmlformats.org/drawingml/2006/table">
            <a:tbl>
              <a:tblPr firstRow="1" bandRow="1">
                <a:tableStyleId>{5C22544A-7EE6-4342-B048-85BDC9FD1C3A}</a:tableStyleId>
              </a:tblPr>
              <a:tblGrid>
                <a:gridCol w="1391744">
                  <a:extLst>
                    <a:ext uri="{9D8B030D-6E8A-4147-A177-3AD203B41FA5}">
                      <a16:colId xmlns:a16="http://schemas.microsoft.com/office/drawing/2014/main" val="1568142362"/>
                    </a:ext>
                  </a:extLst>
                </a:gridCol>
                <a:gridCol w="1726911">
                  <a:extLst>
                    <a:ext uri="{9D8B030D-6E8A-4147-A177-3AD203B41FA5}">
                      <a16:colId xmlns:a16="http://schemas.microsoft.com/office/drawing/2014/main" val="3551711160"/>
                    </a:ext>
                  </a:extLst>
                </a:gridCol>
                <a:gridCol w="1726911">
                  <a:extLst>
                    <a:ext uri="{9D8B030D-6E8A-4147-A177-3AD203B41FA5}">
                      <a16:colId xmlns:a16="http://schemas.microsoft.com/office/drawing/2014/main" val="1712497518"/>
                    </a:ext>
                  </a:extLst>
                </a:gridCol>
                <a:gridCol w="1726911">
                  <a:extLst>
                    <a:ext uri="{9D8B030D-6E8A-4147-A177-3AD203B41FA5}">
                      <a16:colId xmlns:a16="http://schemas.microsoft.com/office/drawing/2014/main" val="886122921"/>
                    </a:ext>
                  </a:extLst>
                </a:gridCol>
              </a:tblGrid>
              <a:tr h="371640">
                <a:tc gridSpan="4">
                  <a:txBody>
                    <a:bodyPr/>
                    <a:lstStyle/>
                    <a:p>
                      <a:pPr algn="l"/>
                      <a:r>
                        <a:rPr lang="en-GB" sz="1200" b="0" dirty="0">
                          <a:solidFill>
                            <a:schemeClr val="tx1"/>
                          </a:solidFill>
                        </a:rPr>
                        <a:t>For the following questions, list the numbers in  </a:t>
                      </a:r>
                      <a:r>
                        <a:rPr lang="en-GB" sz="1200" b="1" dirty="0">
                          <a:solidFill>
                            <a:schemeClr val="tx1"/>
                          </a:solidFill>
                        </a:rPr>
                        <a:t>Descending</a:t>
                      </a:r>
                      <a:r>
                        <a:rPr lang="en-GB" sz="1200" b="0" dirty="0">
                          <a:solidFill>
                            <a:schemeClr val="tx1"/>
                          </a:solidFill>
                        </a:rPr>
                        <a:t> order.</a:t>
                      </a:r>
                    </a:p>
                    <a:p>
                      <a:pPr algn="l"/>
                      <a:endParaRPr lang="en-GB"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6582307"/>
                  </a:ext>
                </a:extLst>
              </a:tr>
              <a:tr h="428712">
                <a:tc>
                  <a:txBody>
                    <a:bodyPr/>
                    <a:lstStyle/>
                    <a:p>
                      <a:pPr algn="l"/>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GB" sz="1200" b="0" i="0" kern="1200" dirty="0">
                        <a:solidFill>
                          <a:schemeClr val="dk1"/>
                        </a:solidFill>
                        <a:effectLst/>
                        <a:latin typeface="+mn-lt"/>
                        <a:ea typeface="+mn-ea"/>
                        <a:cs typeface="+mn-cs"/>
                      </a:endParaRPr>
                    </a:p>
                    <a:p>
                      <a:pPr algn="l"/>
                      <a:r>
                        <a:rPr lang="en-GB" sz="1200" b="0" i="0" kern="1200" dirty="0">
                          <a:solidFill>
                            <a:schemeClr val="dk1"/>
                          </a:solidFill>
                          <a:effectLst/>
                          <a:latin typeface="+mn-lt"/>
                          <a:ea typeface="+mn-ea"/>
                          <a:cs typeface="+mn-cs"/>
                        </a:rPr>
                        <a:t>562, 56, 5620, 526, 5260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7312, 7321, 732, 73, 723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32, 372, 3372, 3732, 327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70722">
                <a:tc>
                  <a:txBody>
                    <a:bodyPr/>
                    <a:lstStyle/>
                    <a:p>
                      <a:pPr marL="0" indent="0" algn="l">
                        <a:buNone/>
                      </a:pPr>
                      <a:r>
                        <a:rPr lang="en-US" sz="1000">
                          <a:solidFill>
                            <a:schemeClr val="tx1"/>
                          </a:solidFill>
                        </a:rPr>
                        <a:t>Look at the place value of the leftmost digit. Write down the number with the smallest place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l"/>
                      <a:endParaRPr lang="en-US" sz="11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l"/>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l"/>
                      <a:endParaRPr lang="en-US" sz="11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228973">
                <a:tc>
                  <a:txBody>
                    <a:bodyPr/>
                    <a:lstStyle/>
                    <a:p>
                      <a:pPr algn="l"/>
                      <a:r>
                        <a:rPr lang="en-GB" sz="1000" dirty="0">
                          <a:solidFill>
                            <a:schemeClr val="tx1"/>
                          </a:solidFill>
                        </a:rPr>
                        <a:t>If any have the same place value, look at the digit to the right and write down the number with the </a:t>
                      </a:r>
                      <a:r>
                        <a:rPr lang="en-GB" sz="1000" b="1" dirty="0">
                          <a:solidFill>
                            <a:schemeClr val="tx1"/>
                          </a:solidFill>
                        </a:rPr>
                        <a:t>highest</a:t>
                      </a:r>
                      <a:r>
                        <a:rPr lang="en-GB" sz="1000" dirty="0">
                          <a:solidFill>
                            <a:schemeClr val="tx1"/>
                          </a:solidFill>
                        </a:rPr>
                        <a:t> value. Repeat until all numbers have been ordered.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100" name="TextBox 99">
            <a:extLst>
              <a:ext uri="{FF2B5EF4-FFF2-40B4-BE49-F238E27FC236}">
                <a16:creationId xmlns:a16="http://schemas.microsoft.com/office/drawing/2014/main" id="{13C475E5-AC8C-1640-0B2E-6945FBD3E8E9}"/>
              </a:ext>
            </a:extLst>
          </p:cNvPr>
          <p:cNvSpPr txBox="1"/>
          <p:nvPr/>
        </p:nvSpPr>
        <p:spPr>
          <a:xfrm>
            <a:off x="1671031" y="6907823"/>
            <a:ext cx="1410704" cy="276999"/>
          </a:xfrm>
          <a:prstGeom prst="rect">
            <a:avLst/>
          </a:prstGeom>
          <a:noFill/>
          <a:ln>
            <a:noFill/>
          </a:ln>
        </p:spPr>
        <p:txBody>
          <a:bodyPr wrap="square" rtlCol="0">
            <a:spAutoFit/>
          </a:bodyPr>
          <a:lstStyle/>
          <a:p>
            <a:r>
              <a:rPr lang="en-GB" sz="1200" b="1" i="1" dirty="0">
                <a:solidFill>
                  <a:srgbClr val="FF0000"/>
                </a:solidFill>
              </a:rPr>
              <a:t>Example 4 - I do…</a:t>
            </a:r>
          </a:p>
        </p:txBody>
      </p:sp>
      <p:sp>
        <p:nvSpPr>
          <p:cNvPr id="101" name="TextBox 100">
            <a:extLst>
              <a:ext uri="{FF2B5EF4-FFF2-40B4-BE49-F238E27FC236}">
                <a16:creationId xmlns:a16="http://schemas.microsoft.com/office/drawing/2014/main" id="{DB293FE7-FC6B-3DA7-5DE4-8B28606C1E45}"/>
              </a:ext>
            </a:extLst>
          </p:cNvPr>
          <p:cNvSpPr txBox="1"/>
          <p:nvPr/>
        </p:nvSpPr>
        <p:spPr>
          <a:xfrm>
            <a:off x="4996841" y="6905348"/>
            <a:ext cx="1643405" cy="276999"/>
          </a:xfrm>
          <a:prstGeom prst="rect">
            <a:avLst/>
          </a:prstGeom>
          <a:noFill/>
          <a:ln>
            <a:noFill/>
          </a:ln>
        </p:spPr>
        <p:txBody>
          <a:bodyPr wrap="square" rtlCol="0">
            <a:spAutoFit/>
          </a:bodyPr>
          <a:lstStyle/>
          <a:p>
            <a:r>
              <a:rPr lang="en-GB" sz="1200" b="1" i="1" dirty="0">
                <a:solidFill>
                  <a:srgbClr val="00B050"/>
                </a:solidFill>
              </a:rPr>
              <a:t>Example 6 – You do…</a:t>
            </a:r>
          </a:p>
        </p:txBody>
      </p:sp>
      <p:sp>
        <p:nvSpPr>
          <p:cNvPr id="102" name="TextBox 101">
            <a:extLst>
              <a:ext uri="{FF2B5EF4-FFF2-40B4-BE49-F238E27FC236}">
                <a16:creationId xmlns:a16="http://schemas.microsoft.com/office/drawing/2014/main" id="{019BA839-CC11-DFFC-B779-BB18761BCC1E}"/>
              </a:ext>
            </a:extLst>
          </p:cNvPr>
          <p:cNvSpPr txBox="1"/>
          <p:nvPr/>
        </p:nvSpPr>
        <p:spPr>
          <a:xfrm>
            <a:off x="3252454" y="6907822"/>
            <a:ext cx="1643405" cy="276999"/>
          </a:xfrm>
          <a:prstGeom prst="rect">
            <a:avLst/>
          </a:prstGeom>
          <a:noFill/>
          <a:ln>
            <a:noFill/>
          </a:ln>
        </p:spPr>
        <p:txBody>
          <a:bodyPr wrap="square" rtlCol="0">
            <a:spAutoFit/>
          </a:bodyPr>
          <a:lstStyle/>
          <a:p>
            <a:r>
              <a:rPr lang="en-GB" sz="1200" b="1" i="1" dirty="0">
                <a:solidFill>
                  <a:schemeClr val="accent2"/>
                </a:solidFill>
              </a:rPr>
              <a:t>Example 5 – We do…</a:t>
            </a:r>
          </a:p>
        </p:txBody>
      </p:sp>
    </p:spTree>
    <p:extLst>
      <p:ext uri="{BB962C8B-B14F-4D97-AF65-F5344CB8AC3E}">
        <p14:creationId xmlns:p14="http://schemas.microsoft.com/office/powerpoint/2010/main" val="3303306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a:xfrm>
            <a:off x="5314950" y="9552934"/>
            <a:ext cx="1543050" cy="527403"/>
          </a:xfrm>
        </p:spPr>
        <p:txBody>
          <a:bodyPr/>
          <a:lstStyle/>
          <a:p>
            <a:fld id="{19F1D9CC-7119-45EC-A96C-D8C0660F3AAB}" type="slidenum">
              <a:rPr lang="en-GB" smtClean="0"/>
              <a:t>4</a:t>
            </a:fld>
            <a:endParaRPr lang="en-GB"/>
          </a:p>
        </p:txBody>
      </p:sp>
      <p:graphicFrame>
        <p:nvGraphicFramePr>
          <p:cNvPr id="39" name="Table 38">
            <a:extLst>
              <a:ext uri="{FF2B5EF4-FFF2-40B4-BE49-F238E27FC236}">
                <a16:creationId xmlns:a16="http://schemas.microsoft.com/office/drawing/2014/main" id="{ECAD3ED2-8891-D016-F296-0EF9B15745AD}"/>
              </a:ext>
            </a:extLst>
          </p:cNvPr>
          <p:cNvGraphicFramePr>
            <a:graphicFrameLocks noGrp="1"/>
          </p:cNvGraphicFramePr>
          <p:nvPr/>
        </p:nvGraphicFramePr>
        <p:xfrm>
          <a:off x="122077" y="353066"/>
          <a:ext cx="6572478" cy="4608336"/>
        </p:xfrm>
        <a:graphic>
          <a:graphicData uri="http://schemas.openxmlformats.org/drawingml/2006/table">
            <a:tbl>
              <a:tblPr firstRow="1" bandRow="1">
                <a:tableStyleId>{5C22544A-7EE6-4342-B048-85BDC9FD1C3A}</a:tableStyleId>
              </a:tblPr>
              <a:tblGrid>
                <a:gridCol w="2887341">
                  <a:extLst>
                    <a:ext uri="{9D8B030D-6E8A-4147-A177-3AD203B41FA5}">
                      <a16:colId xmlns:a16="http://schemas.microsoft.com/office/drawing/2014/main" val="1568142362"/>
                    </a:ext>
                  </a:extLst>
                </a:gridCol>
                <a:gridCol w="3685137">
                  <a:extLst>
                    <a:ext uri="{9D8B030D-6E8A-4147-A177-3AD203B41FA5}">
                      <a16:colId xmlns:a16="http://schemas.microsoft.com/office/drawing/2014/main" val="3993666970"/>
                    </a:ext>
                  </a:extLst>
                </a:gridCol>
              </a:tblGrid>
              <a:tr h="396336">
                <a:tc gridSpan="2">
                  <a:txBody>
                    <a:bodyPr/>
                    <a:lstStyle/>
                    <a:p>
                      <a:pPr algn="ctr"/>
                      <a:endParaRPr lang="en-GB" sz="1200" b="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extLst>
                  <a:ext uri="{0D108BD9-81ED-4DB2-BD59-A6C34878D82A}">
                    <a16:rowId xmlns:a16="http://schemas.microsoft.com/office/drawing/2014/main" val="506582307"/>
                  </a:ext>
                </a:extLst>
              </a:tr>
              <a:tr h="468000">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baseline="0" dirty="0">
                          <a:solidFill>
                            <a:schemeClr val="tx1"/>
                          </a:solidFill>
                          <a:latin typeface="+mn-lt"/>
                        </a:rPr>
                        <a:t>1.</a:t>
                      </a:r>
                      <a:r>
                        <a:rPr lang="en-US" sz="1200" baseline="0" dirty="0">
                          <a:solidFill>
                            <a:schemeClr val="tx1"/>
                          </a:solidFill>
                          <a:latin typeface="+mn-lt"/>
                        </a:rPr>
                        <a:t> </a:t>
                      </a:r>
                      <a:r>
                        <a:rPr lang="en-GB" sz="1200" b="0" dirty="0">
                          <a:solidFill>
                            <a:schemeClr val="tx1"/>
                          </a:solidFill>
                          <a:latin typeface="+mn-lt"/>
                        </a:rPr>
                        <a:t>For the following questions, list the numbers in </a:t>
                      </a:r>
                      <a:r>
                        <a:rPr lang="en-GB" sz="1200" b="1" dirty="0">
                          <a:solidFill>
                            <a:schemeClr val="tx1"/>
                          </a:solidFill>
                          <a:latin typeface="+mn-lt"/>
                        </a:rPr>
                        <a:t>ascending</a:t>
                      </a:r>
                      <a:r>
                        <a:rPr lang="en-GB" sz="1200" b="0" dirty="0">
                          <a:solidFill>
                            <a:schemeClr val="tx1"/>
                          </a:solidFill>
                          <a:latin typeface="+mn-lt"/>
                        </a:rPr>
                        <a:t> order.</a:t>
                      </a:r>
                    </a:p>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9213032"/>
                  </a:ext>
                </a:extLst>
              </a:tr>
              <a:tr h="468000">
                <a:tc>
                  <a:txBody>
                    <a:bodyPr/>
                    <a:lstStyle/>
                    <a:p>
                      <a:r>
                        <a:rPr lang="en-US" sz="1200" baseline="0" dirty="0">
                          <a:solidFill>
                            <a:schemeClr val="tx1"/>
                          </a:solidFill>
                          <a:latin typeface="+mn-lt"/>
                        </a:rPr>
                        <a:t>a) </a:t>
                      </a:r>
                      <a:r>
                        <a:rPr lang="en-GB" sz="1200" dirty="0"/>
                        <a:t>8, 5, 9, 10, 2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8186665"/>
                  </a:ext>
                </a:extLst>
              </a:tr>
              <a:tr h="468000">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b) </a:t>
                      </a:r>
                      <a:r>
                        <a:rPr lang="en-GB" sz="1200" dirty="0"/>
                        <a:t>11, 20, 9, 15, 14, 3</a:t>
                      </a:r>
                      <a:endParaRPr lang="en-US" sz="1200" baseline="0" dirty="0">
                        <a:solidFill>
                          <a:schemeClr val="tx1"/>
                        </a:solidFill>
                        <a:latin typeface="+mn-lt"/>
                      </a:endParaRPr>
                    </a:p>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68000">
                <a:tc>
                  <a:txBody>
                    <a:bodyPr/>
                    <a:lstStyle/>
                    <a:p>
                      <a:pPr algn="just"/>
                      <a:r>
                        <a:rPr lang="en-US" sz="1200" baseline="0" dirty="0">
                          <a:solidFill>
                            <a:schemeClr val="tx1"/>
                          </a:solidFill>
                          <a:latin typeface="+mn-lt"/>
                        </a:rPr>
                        <a:t>c) </a:t>
                      </a:r>
                      <a:r>
                        <a:rPr lang="en-GB" sz="1200" dirty="0"/>
                        <a:t>40, 60, 20, 30, 90, 10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2003803"/>
                  </a:ext>
                </a:extLst>
              </a:tr>
              <a:tr h="468000">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d) </a:t>
                      </a:r>
                      <a:r>
                        <a:rPr lang="en-GB" sz="1200" dirty="0"/>
                        <a:t>83, 18, 45, 37, 90, 21 </a:t>
                      </a:r>
                      <a:endParaRPr lang="en-US" sz="1200" baseline="0" dirty="0">
                        <a:solidFill>
                          <a:schemeClr val="tx1"/>
                        </a:solidFill>
                        <a:latin typeface="+mn-lt"/>
                      </a:endParaRPr>
                    </a:p>
                    <a:p>
                      <a:pPr marL="0" marR="0" lvl="0" indent="0" algn="just"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7732075"/>
                  </a:ext>
                </a:extLst>
              </a:tr>
              <a:tr h="468000">
                <a:tc>
                  <a:txBody>
                    <a:bodyPr/>
                    <a:lstStyle/>
                    <a:p>
                      <a:r>
                        <a:rPr lang="en-US" sz="1200" baseline="0" dirty="0">
                          <a:solidFill>
                            <a:schemeClr val="tx1"/>
                          </a:solidFill>
                          <a:latin typeface="+mn-lt"/>
                        </a:rPr>
                        <a:t>e) </a:t>
                      </a:r>
                      <a:r>
                        <a:rPr lang="en-GB" sz="1200" dirty="0"/>
                        <a:t>140, 180, 210, 70, 300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283353"/>
                  </a:ext>
                </a:extLst>
              </a:tr>
              <a:tr h="468000">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f) </a:t>
                      </a:r>
                      <a:r>
                        <a:rPr lang="en-GB" sz="1200" dirty="0"/>
                        <a:t>605, 56, 566, 655, 506, 65, 555</a:t>
                      </a:r>
                      <a:endParaRPr lang="en-US" sz="1200" baseline="0" dirty="0">
                        <a:solidFill>
                          <a:schemeClr val="tx1"/>
                        </a:solidFill>
                        <a:latin typeface="+mn-lt"/>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7831125"/>
                  </a:ext>
                </a:extLst>
              </a:tr>
              <a:tr h="468000">
                <a:tc>
                  <a:txBody>
                    <a:bodyPr/>
                    <a:lstStyle/>
                    <a:p>
                      <a:r>
                        <a:rPr lang="en-US" sz="1200" baseline="0" dirty="0">
                          <a:solidFill>
                            <a:schemeClr val="tx1"/>
                          </a:solidFill>
                          <a:latin typeface="+mn-lt"/>
                        </a:rPr>
                        <a:t>g) </a:t>
                      </a:r>
                      <a:r>
                        <a:rPr lang="en-GB" sz="1200" dirty="0"/>
                        <a:t>2000, 375, 7100, 2900, 999, 400</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838357"/>
                  </a:ext>
                </a:extLst>
              </a:tr>
              <a:tr h="468000">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 h) 1119,  1191,   1911 , 911,  119,  1009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2970809"/>
                  </a:ext>
                </a:extLst>
              </a:tr>
            </a:tbl>
          </a:graphicData>
        </a:graphic>
      </p:graphicFrame>
      <p:sp>
        <p:nvSpPr>
          <p:cNvPr id="22" name="Rectangle 21">
            <a:extLst>
              <a:ext uri="{FF2B5EF4-FFF2-40B4-BE49-F238E27FC236}">
                <a16:creationId xmlns:a16="http://schemas.microsoft.com/office/drawing/2014/main" id="{AA98FAA0-F79B-1C9F-6B19-83685195E16A}"/>
              </a:ext>
            </a:extLst>
          </p:cNvPr>
          <p:cNvSpPr/>
          <p:nvPr/>
        </p:nvSpPr>
        <p:spPr>
          <a:xfrm>
            <a:off x="122077" y="18284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graphicFrame>
        <p:nvGraphicFramePr>
          <p:cNvPr id="42" name="Table 41">
            <a:extLst>
              <a:ext uri="{FF2B5EF4-FFF2-40B4-BE49-F238E27FC236}">
                <a16:creationId xmlns:a16="http://schemas.microsoft.com/office/drawing/2014/main" id="{7E6099EA-B58C-EFE0-CF95-15C5EA42DB3F}"/>
              </a:ext>
            </a:extLst>
          </p:cNvPr>
          <p:cNvGraphicFramePr>
            <a:graphicFrameLocks noGrp="1"/>
          </p:cNvGraphicFramePr>
          <p:nvPr/>
        </p:nvGraphicFramePr>
        <p:xfrm>
          <a:off x="122077" y="5443538"/>
          <a:ext cx="6572478" cy="2808000"/>
        </p:xfrm>
        <a:graphic>
          <a:graphicData uri="http://schemas.openxmlformats.org/drawingml/2006/table">
            <a:tbl>
              <a:tblPr firstRow="1" bandRow="1">
                <a:tableStyleId>{5C22544A-7EE6-4342-B048-85BDC9FD1C3A}</a:tableStyleId>
              </a:tblPr>
              <a:tblGrid>
                <a:gridCol w="2910490">
                  <a:extLst>
                    <a:ext uri="{9D8B030D-6E8A-4147-A177-3AD203B41FA5}">
                      <a16:colId xmlns:a16="http://schemas.microsoft.com/office/drawing/2014/main" val="2755514093"/>
                    </a:ext>
                  </a:extLst>
                </a:gridCol>
                <a:gridCol w="3661988">
                  <a:extLst>
                    <a:ext uri="{9D8B030D-6E8A-4147-A177-3AD203B41FA5}">
                      <a16:colId xmlns:a16="http://schemas.microsoft.com/office/drawing/2014/main" val="2582338415"/>
                    </a:ext>
                  </a:extLst>
                </a:gridCol>
              </a:tblGrid>
              <a:tr h="468000">
                <a:tc>
                  <a:txBody>
                    <a:bodyPr/>
                    <a:lstStyle/>
                    <a:p>
                      <a:r>
                        <a:rPr lang="en-US" sz="1200" b="0" baseline="0">
                          <a:solidFill>
                            <a:schemeClr val="tx1"/>
                          </a:solidFill>
                          <a:latin typeface="+mn-lt"/>
                        </a:rPr>
                        <a:t>a) </a:t>
                      </a:r>
                      <a:r>
                        <a:rPr lang="en-GB" sz="1200" b="0" kern="1200">
                          <a:solidFill>
                            <a:schemeClr val="dk1"/>
                          </a:solidFill>
                          <a:effectLst/>
                          <a:latin typeface="+mn-lt"/>
                          <a:ea typeface="+mn-ea"/>
                          <a:cs typeface="+mn-cs"/>
                        </a:rPr>
                        <a:t>321, 301, 312, 213, 212</a:t>
                      </a:r>
                      <a:endParaRPr lang="en-US" sz="1200" b="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7644099"/>
                  </a:ext>
                </a:extLst>
              </a:tr>
              <a:tr h="468000">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b) </a:t>
                      </a:r>
                      <a:r>
                        <a:rPr lang="en-GB" sz="1200" b="0" kern="1200" dirty="0">
                          <a:solidFill>
                            <a:schemeClr val="dk1"/>
                          </a:solidFill>
                          <a:effectLst/>
                          <a:latin typeface="+mn-lt"/>
                          <a:ea typeface="+mn-ea"/>
                          <a:cs typeface="+mn-cs"/>
                        </a:rPr>
                        <a:t>1031, 1021, 2021, 1030, 2020</a:t>
                      </a:r>
                      <a:endParaRPr lang="en-US" sz="1200" b="0" baseline="0" dirty="0">
                        <a:solidFill>
                          <a:schemeClr val="tx1"/>
                        </a:solidFill>
                        <a:latin typeface="+mn-lt"/>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72752287"/>
                  </a:ext>
                </a:extLst>
              </a:tr>
              <a:tr h="468000">
                <a:tc>
                  <a:txBody>
                    <a:bodyPr/>
                    <a:lstStyle/>
                    <a:p>
                      <a:r>
                        <a:rPr lang="en-US" sz="1200" baseline="0">
                          <a:solidFill>
                            <a:schemeClr val="tx1"/>
                          </a:solidFill>
                          <a:latin typeface="+mn-lt"/>
                        </a:rPr>
                        <a:t>c) </a:t>
                      </a:r>
                      <a:r>
                        <a:rPr lang="en-GB" sz="1200" kern="1200">
                          <a:solidFill>
                            <a:schemeClr val="dk1"/>
                          </a:solidFill>
                          <a:effectLst/>
                          <a:latin typeface="+mn-lt"/>
                          <a:ea typeface="+mn-ea"/>
                          <a:cs typeface="+mn-cs"/>
                        </a:rPr>
                        <a:t>21031, 20121, 32021, 31030, 32020</a:t>
                      </a:r>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9123769"/>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d) </a:t>
                      </a:r>
                      <a:r>
                        <a:rPr lang="en-GB" sz="1200" kern="1200" dirty="0">
                          <a:solidFill>
                            <a:schemeClr val="dk1"/>
                          </a:solidFill>
                          <a:effectLst/>
                          <a:latin typeface="+mn-lt"/>
                          <a:ea typeface="+mn-ea"/>
                          <a:cs typeface="+mn-cs"/>
                        </a:rPr>
                        <a:t>21531, 21331, 21351, 231151, 23151</a:t>
                      </a:r>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32752856"/>
                  </a:ext>
                </a:extLst>
              </a:tr>
              <a:tr h="468000">
                <a:tc>
                  <a:txBody>
                    <a:bodyPr/>
                    <a:lstStyle/>
                    <a:p>
                      <a:r>
                        <a:rPr lang="en-US" sz="1200" baseline="0">
                          <a:solidFill>
                            <a:schemeClr val="tx1"/>
                          </a:solidFill>
                          <a:latin typeface="+mn-lt"/>
                        </a:rPr>
                        <a:t>e) </a:t>
                      </a:r>
                      <a:r>
                        <a:rPr lang="en-GB" sz="1200" kern="1200">
                          <a:solidFill>
                            <a:schemeClr val="dk1"/>
                          </a:solidFill>
                          <a:effectLst/>
                          <a:latin typeface="+mn-lt"/>
                          <a:ea typeface="+mn-ea"/>
                          <a:cs typeface="+mn-cs"/>
                        </a:rPr>
                        <a:t>20531, 20031, 25031, 23051, 21053</a:t>
                      </a:r>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3807724"/>
                  </a:ext>
                </a:extLst>
              </a:tr>
              <a:tr h="468000">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f) </a:t>
                      </a:r>
                      <a:r>
                        <a:rPr lang="en-GB" sz="1200" kern="1200" dirty="0">
                          <a:solidFill>
                            <a:schemeClr val="dk1"/>
                          </a:solidFill>
                          <a:effectLst/>
                          <a:latin typeface="+mn-lt"/>
                          <a:ea typeface="+mn-ea"/>
                          <a:cs typeface="+mn-cs"/>
                        </a:rPr>
                        <a:t>90531, 95031, 91530, 95130, 95101</a:t>
                      </a:r>
                      <a:endParaRPr lang="en-US" sz="1200" baseline="0" dirty="0">
                        <a:solidFill>
                          <a:schemeClr val="tx1"/>
                        </a:solidFill>
                        <a:latin typeface="+mn-lt"/>
                      </a:endParaRPr>
                    </a:p>
                    <a:p>
                      <a:pPr algn="ct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1654424"/>
                  </a:ext>
                </a:extLst>
              </a:tr>
            </a:tbl>
          </a:graphicData>
        </a:graphic>
      </p:graphicFrame>
      <p:sp>
        <p:nvSpPr>
          <p:cNvPr id="58" name="TextBox 57">
            <a:extLst>
              <a:ext uri="{FF2B5EF4-FFF2-40B4-BE49-F238E27FC236}">
                <a16:creationId xmlns:a16="http://schemas.microsoft.com/office/drawing/2014/main" id="{78ECB832-D2BA-1524-AD43-F12EE21F6044}"/>
              </a:ext>
            </a:extLst>
          </p:cNvPr>
          <p:cNvSpPr txBox="1"/>
          <p:nvPr/>
        </p:nvSpPr>
        <p:spPr>
          <a:xfrm>
            <a:off x="122076" y="5117549"/>
            <a:ext cx="5669123" cy="276999"/>
          </a:xfrm>
          <a:prstGeom prst="rect">
            <a:avLst/>
          </a:prstGeom>
          <a:noFill/>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2.</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For the following questions, list the numbers in </a:t>
            </a: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descending</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order.</a:t>
            </a:r>
          </a:p>
        </p:txBody>
      </p:sp>
      <p:graphicFrame>
        <p:nvGraphicFramePr>
          <p:cNvPr id="59" name="Table 58">
            <a:extLst>
              <a:ext uri="{FF2B5EF4-FFF2-40B4-BE49-F238E27FC236}">
                <a16:creationId xmlns:a16="http://schemas.microsoft.com/office/drawing/2014/main" id="{C22A6B9A-305B-9EAA-4974-54124925568B}"/>
              </a:ext>
            </a:extLst>
          </p:cNvPr>
          <p:cNvGraphicFramePr>
            <a:graphicFrameLocks noGrp="1"/>
          </p:cNvGraphicFramePr>
          <p:nvPr/>
        </p:nvGraphicFramePr>
        <p:xfrm>
          <a:off x="122076" y="8439450"/>
          <a:ext cx="6572478" cy="1283710"/>
        </p:xfrm>
        <a:graphic>
          <a:graphicData uri="http://schemas.openxmlformats.org/drawingml/2006/table">
            <a:tbl>
              <a:tblPr firstRow="1" bandRow="1">
                <a:tableStyleId>{5C22544A-7EE6-4342-B048-85BDC9FD1C3A}</a:tableStyleId>
              </a:tblPr>
              <a:tblGrid>
                <a:gridCol w="6572478">
                  <a:extLst>
                    <a:ext uri="{9D8B030D-6E8A-4147-A177-3AD203B41FA5}">
                      <a16:colId xmlns:a16="http://schemas.microsoft.com/office/drawing/2014/main" val="938393515"/>
                    </a:ext>
                  </a:extLst>
                </a:gridCol>
              </a:tblGrid>
              <a:tr h="649347">
                <a:tc>
                  <a:txBody>
                    <a:bodyPr/>
                    <a:lstStyle/>
                    <a:p>
                      <a:r>
                        <a:rPr lang="en-US" sz="1200" b="1" baseline="0" dirty="0">
                          <a:solidFill>
                            <a:schemeClr val="tx1"/>
                          </a:solidFill>
                          <a:latin typeface="+mn-lt"/>
                        </a:rPr>
                        <a:t>3.</a:t>
                      </a:r>
                      <a:r>
                        <a:rPr lang="en-US" sz="1200" b="0" baseline="0" dirty="0">
                          <a:solidFill>
                            <a:schemeClr val="tx1"/>
                          </a:solidFill>
                          <a:latin typeface="+mn-lt"/>
                        </a:rPr>
                        <a:t> Order the following temperatures from coldest to warmest:</a:t>
                      </a:r>
                    </a:p>
                    <a:p>
                      <a:r>
                        <a:rPr lang="en-GB" sz="1200" b="0" dirty="0">
                          <a:solidFill>
                            <a:schemeClr val="tx1"/>
                          </a:solidFill>
                        </a:rPr>
                        <a:t>8°C, 12°C, 9°C, 15°C, 11°C, 7°C, 2°C </a:t>
                      </a:r>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7398420"/>
                  </a:ext>
                </a:extLst>
              </a:tr>
              <a:tr h="634363">
                <a:tc>
                  <a:txBody>
                    <a:bodyPr/>
                    <a:lstStyle/>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7652287"/>
                  </a:ext>
                </a:extLst>
              </a:tr>
            </a:tbl>
          </a:graphicData>
        </a:graphic>
      </p:graphicFrame>
    </p:spTree>
    <p:extLst>
      <p:ext uri="{BB962C8B-B14F-4D97-AF65-F5344CB8AC3E}">
        <p14:creationId xmlns:p14="http://schemas.microsoft.com/office/powerpoint/2010/main" val="3253914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a:xfrm>
            <a:off x="5300409" y="9350003"/>
            <a:ext cx="1543050" cy="527403"/>
          </a:xfrm>
        </p:spPr>
        <p:txBody>
          <a:bodyPr/>
          <a:lstStyle/>
          <a:p>
            <a:fld id="{19F1D9CC-7119-45EC-A96C-D8C0660F3AAB}" type="slidenum">
              <a:rPr lang="en-GB" smtClean="0"/>
              <a:t>5</a:t>
            </a:fld>
            <a:endParaRPr lang="en-GB" dirty="0"/>
          </a:p>
        </p:txBody>
      </p:sp>
      <p:graphicFrame>
        <p:nvGraphicFramePr>
          <p:cNvPr id="2" name="Table 1">
            <a:extLst>
              <a:ext uri="{FF2B5EF4-FFF2-40B4-BE49-F238E27FC236}">
                <a16:creationId xmlns:a16="http://schemas.microsoft.com/office/drawing/2014/main" id="{283896A9-4CAF-AF38-1620-0D96E7D427E7}"/>
              </a:ext>
            </a:extLst>
          </p:cNvPr>
          <p:cNvGraphicFramePr>
            <a:graphicFrameLocks noGrp="1"/>
          </p:cNvGraphicFramePr>
          <p:nvPr/>
        </p:nvGraphicFramePr>
        <p:xfrm>
          <a:off x="142761" y="288909"/>
          <a:ext cx="6572478" cy="2861506"/>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2540978326"/>
                    </a:ext>
                  </a:extLst>
                </a:gridCol>
                <a:gridCol w="3286239">
                  <a:extLst>
                    <a:ext uri="{9D8B030D-6E8A-4147-A177-3AD203B41FA5}">
                      <a16:colId xmlns:a16="http://schemas.microsoft.com/office/drawing/2014/main" val="1507001653"/>
                    </a:ext>
                  </a:extLst>
                </a:gridCol>
              </a:tblGrid>
              <a:tr h="2861506">
                <a:tc>
                  <a:txBody>
                    <a:bodyPr/>
                    <a:lstStyle/>
                    <a:p>
                      <a:r>
                        <a:rPr lang="en-GB" sz="1200" b="0" dirty="0">
                          <a:solidFill>
                            <a:schemeClr val="tx1"/>
                          </a:solidFill>
                        </a:rPr>
                        <a:t>4. Shown below are the heights of five hills.</a:t>
                      </a:r>
                    </a:p>
                    <a:p>
                      <a:endParaRPr lang="en-GB"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dirty="0">
                          <a:solidFill>
                            <a:schemeClr val="tx1"/>
                          </a:solidFill>
                        </a:rPr>
                        <a:t>List the hills in order of size, starting with the largest.</a:t>
                      </a:r>
                      <a:endParaRPr lang="en-GB"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3458411"/>
                  </a:ext>
                </a:extLst>
              </a:tr>
            </a:tbl>
          </a:graphicData>
        </a:graphic>
      </p:graphicFrame>
      <p:pic>
        <p:nvPicPr>
          <p:cNvPr id="3" name="Picture 2">
            <a:extLst>
              <a:ext uri="{FF2B5EF4-FFF2-40B4-BE49-F238E27FC236}">
                <a16:creationId xmlns:a16="http://schemas.microsoft.com/office/drawing/2014/main" id="{28C90CF0-AA2E-440E-A8FD-AAC12479DC70}"/>
              </a:ext>
            </a:extLst>
          </p:cNvPr>
          <p:cNvPicPr>
            <a:picLocks noChangeAspect="1"/>
          </p:cNvPicPr>
          <p:nvPr/>
        </p:nvPicPr>
        <p:blipFill>
          <a:blip r:embed="rId3">
            <a:grayscl/>
          </a:blip>
          <a:stretch>
            <a:fillRect/>
          </a:stretch>
        </p:blipFill>
        <p:spPr>
          <a:xfrm>
            <a:off x="566617" y="844125"/>
            <a:ext cx="2076740" cy="1543265"/>
          </a:xfrm>
          <a:prstGeom prst="rect">
            <a:avLst/>
          </a:prstGeom>
        </p:spPr>
      </p:pic>
      <p:graphicFrame>
        <p:nvGraphicFramePr>
          <p:cNvPr id="4" name="Table 3">
            <a:extLst>
              <a:ext uri="{FF2B5EF4-FFF2-40B4-BE49-F238E27FC236}">
                <a16:creationId xmlns:a16="http://schemas.microsoft.com/office/drawing/2014/main" id="{CDCDFDB6-C3A8-8612-4BE6-A0FF9D6F4BBF}"/>
              </a:ext>
            </a:extLst>
          </p:cNvPr>
          <p:cNvGraphicFramePr>
            <a:graphicFrameLocks noGrp="1"/>
          </p:cNvGraphicFramePr>
          <p:nvPr/>
        </p:nvGraphicFramePr>
        <p:xfrm>
          <a:off x="142761" y="3221536"/>
          <a:ext cx="6572478" cy="2772864"/>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2528150230"/>
                    </a:ext>
                  </a:extLst>
                </a:gridCol>
                <a:gridCol w="3286239">
                  <a:extLst>
                    <a:ext uri="{9D8B030D-6E8A-4147-A177-3AD203B41FA5}">
                      <a16:colId xmlns:a16="http://schemas.microsoft.com/office/drawing/2014/main" val="3229230136"/>
                    </a:ext>
                  </a:extLst>
                </a:gridCol>
              </a:tblGrid>
              <a:tr h="2772864">
                <a:tc>
                  <a:txBody>
                    <a:bodyPr/>
                    <a:lstStyle/>
                    <a:p>
                      <a:r>
                        <a:rPr lang="en-GB" sz="1200" b="0">
                          <a:solidFill>
                            <a:schemeClr val="tx1"/>
                          </a:solidFill>
                        </a:rPr>
                        <a:t>5. The table shows the prices of five televisions</a:t>
                      </a: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dirty="0">
                          <a:solidFill>
                            <a:schemeClr val="tx1"/>
                          </a:solidFill>
                        </a:rPr>
                        <a:t>Write down the televisions in order of price. Start with the cheapest television.</a:t>
                      </a:r>
                    </a:p>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3507339"/>
                  </a:ext>
                </a:extLst>
              </a:tr>
            </a:tbl>
          </a:graphicData>
        </a:graphic>
      </p:graphicFrame>
      <p:pic>
        <p:nvPicPr>
          <p:cNvPr id="5" name="Picture 4">
            <a:extLst>
              <a:ext uri="{FF2B5EF4-FFF2-40B4-BE49-F238E27FC236}">
                <a16:creationId xmlns:a16="http://schemas.microsoft.com/office/drawing/2014/main" id="{67321E80-7DD0-D517-007C-88F3B5139CE4}"/>
              </a:ext>
            </a:extLst>
          </p:cNvPr>
          <p:cNvPicPr>
            <a:picLocks noChangeAspect="1"/>
          </p:cNvPicPr>
          <p:nvPr/>
        </p:nvPicPr>
        <p:blipFill>
          <a:blip r:embed="rId4"/>
          <a:stretch>
            <a:fillRect/>
          </a:stretch>
        </p:blipFill>
        <p:spPr>
          <a:xfrm>
            <a:off x="419297" y="3550545"/>
            <a:ext cx="2657846" cy="2114845"/>
          </a:xfrm>
          <a:prstGeom prst="rect">
            <a:avLst/>
          </a:prstGeom>
        </p:spPr>
      </p:pic>
      <p:graphicFrame>
        <p:nvGraphicFramePr>
          <p:cNvPr id="6" name="Table 5">
            <a:extLst>
              <a:ext uri="{FF2B5EF4-FFF2-40B4-BE49-F238E27FC236}">
                <a16:creationId xmlns:a16="http://schemas.microsoft.com/office/drawing/2014/main" id="{23E65193-94B6-36C3-9340-C909B151EF36}"/>
              </a:ext>
            </a:extLst>
          </p:cNvPr>
          <p:cNvGraphicFramePr>
            <a:graphicFrameLocks noGrp="1"/>
          </p:cNvGraphicFramePr>
          <p:nvPr/>
        </p:nvGraphicFramePr>
        <p:xfrm>
          <a:off x="142761" y="6065521"/>
          <a:ext cx="6572478" cy="3363140"/>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2873762892"/>
                    </a:ext>
                  </a:extLst>
                </a:gridCol>
                <a:gridCol w="3286239">
                  <a:extLst>
                    <a:ext uri="{9D8B030D-6E8A-4147-A177-3AD203B41FA5}">
                      <a16:colId xmlns:a16="http://schemas.microsoft.com/office/drawing/2014/main" val="1698124566"/>
                    </a:ext>
                  </a:extLst>
                </a:gridCol>
              </a:tblGrid>
              <a:tr h="3363140">
                <a:tc>
                  <a:txBody>
                    <a:bodyPr/>
                    <a:lstStyle/>
                    <a:p>
                      <a:r>
                        <a:rPr lang="en-GB" sz="1200" b="0">
                          <a:solidFill>
                            <a:schemeClr val="tx1"/>
                          </a:solidFill>
                        </a:rPr>
                        <a:t>6. The table below shows the average attendance for five football teams last season</a:t>
                      </a: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dirty="0">
                          <a:solidFill>
                            <a:schemeClr val="tx1"/>
                          </a:solidFill>
                        </a:rPr>
                        <a:t>Write down the teams in order of average attendance. Start with the highest</a:t>
                      </a:r>
                    </a:p>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6198573"/>
                  </a:ext>
                </a:extLst>
              </a:tr>
            </a:tbl>
          </a:graphicData>
        </a:graphic>
      </p:graphicFrame>
      <p:pic>
        <p:nvPicPr>
          <p:cNvPr id="8" name="Picture 7">
            <a:extLst>
              <a:ext uri="{FF2B5EF4-FFF2-40B4-BE49-F238E27FC236}">
                <a16:creationId xmlns:a16="http://schemas.microsoft.com/office/drawing/2014/main" id="{77EEC6C1-9852-AE4C-3C37-DD299CFEF667}"/>
              </a:ext>
            </a:extLst>
          </p:cNvPr>
          <p:cNvPicPr>
            <a:picLocks noChangeAspect="1"/>
          </p:cNvPicPr>
          <p:nvPr/>
        </p:nvPicPr>
        <p:blipFill>
          <a:blip r:embed="rId5"/>
          <a:stretch>
            <a:fillRect/>
          </a:stretch>
        </p:blipFill>
        <p:spPr>
          <a:xfrm>
            <a:off x="333020" y="6741580"/>
            <a:ext cx="3010321" cy="2381583"/>
          </a:xfrm>
          <a:prstGeom prst="rect">
            <a:avLst/>
          </a:prstGeom>
        </p:spPr>
      </p:pic>
    </p:spTree>
    <p:extLst>
      <p:ext uri="{BB962C8B-B14F-4D97-AF65-F5344CB8AC3E}">
        <p14:creationId xmlns:p14="http://schemas.microsoft.com/office/powerpoint/2010/main" val="2207505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E8105787-A31F-54E0-AD4E-00141B3EEAB4}"/>
              </a:ext>
            </a:extLst>
          </p:cNvPr>
          <p:cNvSpPr txBox="1"/>
          <p:nvPr/>
        </p:nvSpPr>
        <p:spPr>
          <a:xfrm>
            <a:off x="78930" y="5610146"/>
            <a:ext cx="6639180" cy="3964745"/>
          </a:xfrm>
          <a:prstGeom prst="rect">
            <a:avLst/>
          </a:prstGeom>
          <a:noFill/>
          <a:ln w="19050">
            <a:solidFill>
              <a:schemeClr val="tx1"/>
            </a:solidFill>
          </a:ln>
        </p:spPr>
        <p:txBody>
          <a:bodyPr wrap="square" rtlCol="0">
            <a:spAutoFit/>
          </a:bodyPr>
          <a:lstStyle/>
          <a:p>
            <a:endParaRPr lang="en-GB" dirty="0"/>
          </a:p>
        </p:txBody>
      </p:sp>
      <p:sp>
        <p:nvSpPr>
          <p:cNvPr id="7" name="Slide Number Placeholder 6"/>
          <p:cNvSpPr>
            <a:spLocks noGrp="1"/>
          </p:cNvSpPr>
          <p:nvPr>
            <p:ph type="sldNum" sz="quarter" idx="12"/>
          </p:nvPr>
        </p:nvSpPr>
        <p:spPr>
          <a:xfrm>
            <a:off x="5234187" y="9509781"/>
            <a:ext cx="1543050" cy="527403"/>
          </a:xfrm>
        </p:spPr>
        <p:txBody>
          <a:bodyPr/>
          <a:lstStyle/>
          <a:p>
            <a:fld id="{19F1D9CC-7119-45EC-A96C-D8C0660F3AAB}" type="slidenum">
              <a:rPr lang="en-GB" smtClean="0"/>
              <a:t>6</a:t>
            </a:fld>
            <a:endParaRPr lang="en-GB" dirty="0"/>
          </a:p>
        </p:txBody>
      </p:sp>
      <p:graphicFrame>
        <p:nvGraphicFramePr>
          <p:cNvPr id="9" name="Table 8">
            <a:extLst>
              <a:ext uri="{FF2B5EF4-FFF2-40B4-BE49-F238E27FC236}">
                <a16:creationId xmlns:a16="http://schemas.microsoft.com/office/drawing/2014/main" id="{DF5ECC0D-1E6B-9997-C1EB-48E7B101827C}"/>
              </a:ext>
            </a:extLst>
          </p:cNvPr>
          <p:cNvGraphicFramePr>
            <a:graphicFrameLocks noGrp="1"/>
          </p:cNvGraphicFramePr>
          <p:nvPr/>
        </p:nvGraphicFramePr>
        <p:xfrm>
          <a:off x="122077" y="162878"/>
          <a:ext cx="6572478" cy="5443126"/>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2224850802"/>
                    </a:ext>
                  </a:extLst>
                </a:gridCol>
                <a:gridCol w="3286239">
                  <a:extLst>
                    <a:ext uri="{9D8B030D-6E8A-4147-A177-3AD203B41FA5}">
                      <a16:colId xmlns:a16="http://schemas.microsoft.com/office/drawing/2014/main" val="4192601491"/>
                    </a:ext>
                  </a:extLst>
                </a:gridCol>
              </a:tblGrid>
              <a:tr h="3284645">
                <a:tc>
                  <a:txBody>
                    <a:bodyPr/>
                    <a:lstStyle/>
                    <a:p>
                      <a:r>
                        <a:rPr lang="en-GB" sz="1200" b="0" dirty="0">
                          <a:solidFill>
                            <a:schemeClr val="tx1"/>
                          </a:solidFill>
                        </a:rPr>
                        <a:t>7. Here are the populations of five countries in 2022</a:t>
                      </a: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dirty="0">
                          <a:solidFill>
                            <a:schemeClr val="tx1"/>
                          </a:solidFill>
                        </a:rPr>
                        <a:t>Arrange the countries in order of population, starting with the smallest.</a:t>
                      </a: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0019020"/>
                  </a:ext>
                </a:extLst>
              </a:tr>
              <a:tr h="2158481">
                <a:tc>
                  <a:txBody>
                    <a:bodyPr/>
                    <a:lstStyle/>
                    <a:p>
                      <a:r>
                        <a:rPr lang="en-GB" sz="1200" b="0" dirty="0">
                          <a:solidFill>
                            <a:schemeClr val="tx1"/>
                          </a:solidFill>
                        </a:rPr>
                        <a:t>8. Arrange these numbers in ascending order.</a:t>
                      </a:r>
                    </a:p>
                    <a:p>
                      <a:endParaRPr lang="en-GB"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2305419"/>
                  </a:ext>
                </a:extLst>
              </a:tr>
            </a:tbl>
          </a:graphicData>
        </a:graphic>
      </p:graphicFrame>
      <p:pic>
        <p:nvPicPr>
          <p:cNvPr id="10" name="Picture 9">
            <a:extLst>
              <a:ext uri="{FF2B5EF4-FFF2-40B4-BE49-F238E27FC236}">
                <a16:creationId xmlns:a16="http://schemas.microsoft.com/office/drawing/2014/main" id="{A8FBFD73-380E-F1C7-B57F-2899DE29C6F7}"/>
              </a:ext>
            </a:extLst>
          </p:cNvPr>
          <p:cNvPicPr>
            <a:picLocks noChangeAspect="1"/>
          </p:cNvPicPr>
          <p:nvPr/>
        </p:nvPicPr>
        <p:blipFill>
          <a:blip r:embed="rId3"/>
          <a:stretch>
            <a:fillRect/>
          </a:stretch>
        </p:blipFill>
        <p:spPr>
          <a:xfrm>
            <a:off x="393510" y="605648"/>
            <a:ext cx="2705478" cy="2143424"/>
          </a:xfrm>
          <a:prstGeom prst="rect">
            <a:avLst/>
          </a:prstGeom>
        </p:spPr>
      </p:pic>
      <p:pic>
        <p:nvPicPr>
          <p:cNvPr id="11" name="Picture 10">
            <a:extLst>
              <a:ext uri="{FF2B5EF4-FFF2-40B4-BE49-F238E27FC236}">
                <a16:creationId xmlns:a16="http://schemas.microsoft.com/office/drawing/2014/main" id="{9C1AB259-84F7-0BC8-36DD-A3662F7C8C12}"/>
              </a:ext>
            </a:extLst>
          </p:cNvPr>
          <p:cNvPicPr>
            <a:picLocks noChangeAspect="1"/>
          </p:cNvPicPr>
          <p:nvPr/>
        </p:nvPicPr>
        <p:blipFill>
          <a:blip r:embed="rId4"/>
          <a:stretch>
            <a:fillRect/>
          </a:stretch>
        </p:blipFill>
        <p:spPr>
          <a:xfrm>
            <a:off x="631669" y="4124246"/>
            <a:ext cx="2229161" cy="1124107"/>
          </a:xfrm>
          <a:prstGeom prst="rect">
            <a:avLst/>
          </a:prstGeom>
        </p:spPr>
      </p:pic>
      <p:sp>
        <p:nvSpPr>
          <p:cNvPr id="2" name="TextBox 1">
            <a:extLst>
              <a:ext uri="{FF2B5EF4-FFF2-40B4-BE49-F238E27FC236}">
                <a16:creationId xmlns:a16="http://schemas.microsoft.com/office/drawing/2014/main" id="{0D7C7B56-2252-4DBA-FA26-BF4C741167EB}"/>
              </a:ext>
            </a:extLst>
          </p:cNvPr>
          <p:cNvSpPr txBox="1"/>
          <p:nvPr/>
        </p:nvSpPr>
        <p:spPr>
          <a:xfrm>
            <a:off x="71488" y="5781253"/>
            <a:ext cx="3410328" cy="276999"/>
          </a:xfrm>
          <a:prstGeom prst="rect">
            <a:avLst/>
          </a:prstGeom>
          <a:noFill/>
        </p:spPr>
        <p:txBody>
          <a:bodyPr wrap="square" rtlCol="0">
            <a:spAutoFit/>
          </a:bodyPr>
          <a:lstStyle/>
          <a:p>
            <a:r>
              <a:rPr lang="en-US" sz="1200" b="1" dirty="0"/>
              <a:t>9. </a:t>
            </a:r>
            <a:r>
              <a:rPr lang="en-US" sz="1200" dirty="0"/>
              <a:t>An estate agent advertises the following houses.</a:t>
            </a:r>
            <a:endParaRPr lang="en-GB" sz="1200" dirty="0"/>
          </a:p>
        </p:txBody>
      </p:sp>
      <p:pic>
        <p:nvPicPr>
          <p:cNvPr id="3" name="Picture 2">
            <a:extLst>
              <a:ext uri="{FF2B5EF4-FFF2-40B4-BE49-F238E27FC236}">
                <a16:creationId xmlns:a16="http://schemas.microsoft.com/office/drawing/2014/main" id="{4C5AF95A-0243-9516-4F54-0EFDA30C05CB}"/>
              </a:ext>
            </a:extLst>
          </p:cNvPr>
          <p:cNvPicPr>
            <a:picLocks noChangeAspect="1"/>
          </p:cNvPicPr>
          <p:nvPr/>
        </p:nvPicPr>
        <p:blipFill>
          <a:blip r:embed="rId5"/>
          <a:stretch>
            <a:fillRect/>
          </a:stretch>
        </p:blipFill>
        <p:spPr>
          <a:xfrm>
            <a:off x="119570" y="6020348"/>
            <a:ext cx="6276113" cy="1198332"/>
          </a:xfrm>
          <a:prstGeom prst="rect">
            <a:avLst/>
          </a:prstGeom>
        </p:spPr>
      </p:pic>
      <p:sp>
        <p:nvSpPr>
          <p:cNvPr id="4" name="TextBox 3">
            <a:extLst>
              <a:ext uri="{FF2B5EF4-FFF2-40B4-BE49-F238E27FC236}">
                <a16:creationId xmlns:a16="http://schemas.microsoft.com/office/drawing/2014/main" id="{6DFB867E-0513-D37A-8967-11396D809E13}"/>
              </a:ext>
            </a:extLst>
          </p:cNvPr>
          <p:cNvSpPr txBox="1"/>
          <p:nvPr/>
        </p:nvSpPr>
        <p:spPr>
          <a:xfrm>
            <a:off x="246380" y="7251145"/>
            <a:ext cx="2885746" cy="1092607"/>
          </a:xfrm>
          <a:prstGeom prst="rect">
            <a:avLst/>
          </a:prstGeom>
          <a:noFill/>
        </p:spPr>
        <p:txBody>
          <a:bodyPr wrap="square" rtlCol="0">
            <a:spAutoFit/>
          </a:bodyPr>
          <a:lstStyle/>
          <a:p>
            <a:r>
              <a:rPr lang="en-US" sz="1200" dirty="0"/>
              <a:t>(a)Which house is the cheapest?</a:t>
            </a:r>
          </a:p>
          <a:p>
            <a:endParaRPr lang="en-US" sz="1200" dirty="0"/>
          </a:p>
          <a:p>
            <a:endParaRPr lang="en-US" sz="1200" dirty="0"/>
          </a:p>
          <a:p>
            <a:endParaRPr lang="en-US" sz="500" dirty="0"/>
          </a:p>
          <a:p>
            <a:r>
              <a:rPr lang="en-US" sz="1200" dirty="0"/>
              <a:t>(b)Which house is the most expensive?</a:t>
            </a:r>
          </a:p>
          <a:p>
            <a:endParaRPr lang="en-GB" sz="1200" dirty="0"/>
          </a:p>
        </p:txBody>
      </p:sp>
      <p:sp>
        <p:nvSpPr>
          <p:cNvPr id="5" name="Rectangle 4">
            <a:extLst>
              <a:ext uri="{FF2B5EF4-FFF2-40B4-BE49-F238E27FC236}">
                <a16:creationId xmlns:a16="http://schemas.microsoft.com/office/drawing/2014/main" id="{F93FC966-B316-38B7-E378-2D071AA2CD38}"/>
              </a:ext>
            </a:extLst>
          </p:cNvPr>
          <p:cNvSpPr/>
          <p:nvPr/>
        </p:nvSpPr>
        <p:spPr>
          <a:xfrm>
            <a:off x="403670" y="7487968"/>
            <a:ext cx="6228270" cy="40361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44754EFD-F7EC-BFF5-3BF1-F71670C97672}"/>
              </a:ext>
            </a:extLst>
          </p:cNvPr>
          <p:cNvSpPr/>
          <p:nvPr/>
        </p:nvSpPr>
        <p:spPr>
          <a:xfrm>
            <a:off x="246380" y="8487471"/>
            <a:ext cx="3429000" cy="646331"/>
          </a:xfrm>
          <a:prstGeom prst="rect">
            <a:avLst/>
          </a:prstGeom>
        </p:spPr>
        <p:txBody>
          <a:bodyPr>
            <a:spAutoFit/>
          </a:bodyPr>
          <a:lstStyle/>
          <a:p>
            <a:r>
              <a:rPr lang="en-US" sz="1200" dirty="0"/>
              <a:t>(c) George has just enough money to buy the cheapest house. How much more money would he need to buy the most expensive house?</a:t>
            </a:r>
            <a:endParaRPr lang="en-GB" sz="1200" dirty="0"/>
          </a:p>
        </p:txBody>
      </p:sp>
      <p:sp>
        <p:nvSpPr>
          <p:cNvPr id="8" name="Rectangle 7">
            <a:extLst>
              <a:ext uri="{FF2B5EF4-FFF2-40B4-BE49-F238E27FC236}">
                <a16:creationId xmlns:a16="http://schemas.microsoft.com/office/drawing/2014/main" id="{87921C7E-D1D2-1A79-0E74-87611F1511F3}"/>
              </a:ext>
            </a:extLst>
          </p:cNvPr>
          <p:cNvSpPr/>
          <p:nvPr/>
        </p:nvSpPr>
        <p:spPr>
          <a:xfrm>
            <a:off x="403670" y="9107348"/>
            <a:ext cx="6228270" cy="451575"/>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EF4B97E1-F23E-33B9-7EC6-E7EE4086B326}"/>
              </a:ext>
            </a:extLst>
          </p:cNvPr>
          <p:cNvSpPr/>
          <p:nvPr/>
        </p:nvSpPr>
        <p:spPr>
          <a:xfrm>
            <a:off x="403670" y="8108363"/>
            <a:ext cx="6228270" cy="40074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93727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DFFE34-4B4A-C2FE-4B29-7BAF92AE4A6B}"/>
              </a:ext>
            </a:extLst>
          </p:cNvPr>
          <p:cNvSpPr>
            <a:spLocks noGrp="1"/>
          </p:cNvSpPr>
          <p:nvPr>
            <p:ph type="sldNum" sz="quarter" idx="12"/>
          </p:nvPr>
        </p:nvSpPr>
        <p:spPr>
          <a:xfrm>
            <a:off x="5181291" y="9401174"/>
            <a:ext cx="1543050" cy="527403"/>
          </a:xfrm>
        </p:spPr>
        <p:txBody>
          <a:bodyPr/>
          <a:lstStyle/>
          <a:p>
            <a:fld id="{19F1D9CC-7119-45EC-A96C-D8C0660F3AAB}" type="slidenum">
              <a:rPr lang="en-GB" smtClean="0"/>
              <a:t>7</a:t>
            </a:fld>
            <a:endParaRPr lang="en-GB"/>
          </a:p>
        </p:txBody>
      </p:sp>
      <p:graphicFrame>
        <p:nvGraphicFramePr>
          <p:cNvPr id="3" name="Table 2">
            <a:extLst>
              <a:ext uri="{FF2B5EF4-FFF2-40B4-BE49-F238E27FC236}">
                <a16:creationId xmlns:a16="http://schemas.microsoft.com/office/drawing/2014/main" id="{DFE1B142-E531-FEC4-AD1E-0B9DDAF07203}"/>
              </a:ext>
            </a:extLst>
          </p:cNvPr>
          <p:cNvGraphicFramePr>
            <a:graphicFrameLocks noGrp="1"/>
          </p:cNvGraphicFramePr>
          <p:nvPr>
            <p:extLst>
              <p:ext uri="{D42A27DB-BD31-4B8C-83A1-F6EECF244321}">
                <p14:modId xmlns:p14="http://schemas.microsoft.com/office/powerpoint/2010/main" val="1757009961"/>
              </p:ext>
            </p:extLst>
          </p:nvPr>
        </p:nvGraphicFramePr>
        <p:xfrm>
          <a:off x="72429" y="3505945"/>
          <a:ext cx="6706180" cy="5545667"/>
        </p:xfrm>
        <a:graphic>
          <a:graphicData uri="http://schemas.openxmlformats.org/drawingml/2006/table">
            <a:tbl>
              <a:tblPr firstRow="1" bandRow="1">
                <a:tableStyleId>{5C22544A-7EE6-4342-B048-85BDC9FD1C3A}</a:tableStyleId>
              </a:tblPr>
              <a:tblGrid>
                <a:gridCol w="1154065">
                  <a:extLst>
                    <a:ext uri="{9D8B030D-6E8A-4147-A177-3AD203B41FA5}">
                      <a16:colId xmlns:a16="http://schemas.microsoft.com/office/drawing/2014/main" val="1568142362"/>
                    </a:ext>
                  </a:extLst>
                </a:gridCol>
                <a:gridCol w="1850705">
                  <a:extLst>
                    <a:ext uri="{9D8B030D-6E8A-4147-A177-3AD203B41FA5}">
                      <a16:colId xmlns:a16="http://schemas.microsoft.com/office/drawing/2014/main" val="3551711160"/>
                    </a:ext>
                  </a:extLst>
                </a:gridCol>
                <a:gridCol w="1850705">
                  <a:extLst>
                    <a:ext uri="{9D8B030D-6E8A-4147-A177-3AD203B41FA5}">
                      <a16:colId xmlns:a16="http://schemas.microsoft.com/office/drawing/2014/main" val="1712497518"/>
                    </a:ext>
                  </a:extLst>
                </a:gridCol>
                <a:gridCol w="1850705">
                  <a:extLst>
                    <a:ext uri="{9D8B030D-6E8A-4147-A177-3AD203B41FA5}">
                      <a16:colId xmlns:a16="http://schemas.microsoft.com/office/drawing/2014/main" val="886122921"/>
                    </a:ext>
                  </a:extLst>
                </a:gridCol>
              </a:tblGrid>
              <a:tr h="535097">
                <a:tc grid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For the following questions, use this number line to help you place the numbers in ascending order</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771934154"/>
                  </a:ext>
                </a:extLst>
              </a:tr>
              <a:tr h="617271">
                <a:tc>
                  <a:txBody>
                    <a:bodyPr/>
                    <a:lstStyle/>
                    <a:p>
                      <a:endParaRPr lang="en-GB" sz="11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2059395"/>
                  </a:ext>
                </a:extLst>
              </a:tr>
              <a:tr h="535097">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4.23,     4.52,     4.33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4.91,     4.21,     4.67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4.17,     4.68,     4.24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975267">
                <a:tc>
                  <a:txBody>
                    <a:bodyPr/>
                    <a:lstStyle/>
                    <a:p>
                      <a:pPr marL="0" indent="0" algn="ctr">
                        <a:buNone/>
                      </a:pPr>
                      <a:r>
                        <a:rPr lang="en-US" sz="1000" dirty="0">
                          <a:solidFill>
                            <a:schemeClr val="tx1"/>
                          </a:solidFill>
                        </a:rPr>
                        <a:t>Look at the place value of the leftmost digit. Write down the number with the largest place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882935">
                <a:tc>
                  <a:txBody>
                    <a:bodyPr/>
                    <a:lstStyle/>
                    <a:p>
                      <a:pPr algn="ctr"/>
                      <a:r>
                        <a:rPr lang="en-GB" sz="1000" dirty="0">
                          <a:solidFill>
                            <a:schemeClr val="tx1"/>
                          </a:solidFill>
                        </a:rPr>
                        <a:t>If any have the same place value, look at the digit to the right and write down the number with the </a:t>
                      </a:r>
                      <a:r>
                        <a:rPr lang="en-GB" sz="1000" b="1" dirty="0">
                          <a:solidFill>
                            <a:schemeClr val="tx1"/>
                          </a:solidFill>
                        </a:rPr>
                        <a:t>lowest</a:t>
                      </a:r>
                      <a:r>
                        <a:rPr lang="en-GB" sz="1000" dirty="0">
                          <a:solidFill>
                            <a:schemeClr val="tx1"/>
                          </a:solidFill>
                        </a:rPr>
                        <a:t> value. Repeat until all numbers have been ordered.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4" name="TextBox 3">
            <a:extLst>
              <a:ext uri="{FF2B5EF4-FFF2-40B4-BE49-F238E27FC236}">
                <a16:creationId xmlns:a16="http://schemas.microsoft.com/office/drawing/2014/main" id="{F9BE2B9C-B13A-ED1B-A6DB-ACAA4D6C3DC5}"/>
              </a:ext>
            </a:extLst>
          </p:cNvPr>
          <p:cNvSpPr txBox="1"/>
          <p:nvPr/>
        </p:nvSpPr>
        <p:spPr>
          <a:xfrm>
            <a:off x="1633134" y="4278551"/>
            <a:ext cx="1410704" cy="276999"/>
          </a:xfrm>
          <a:prstGeom prst="rect">
            <a:avLst/>
          </a:prstGeom>
          <a:noFill/>
          <a:ln>
            <a:noFill/>
          </a:ln>
        </p:spPr>
        <p:txBody>
          <a:bodyPr wrap="square" rtlCol="0">
            <a:spAutoFit/>
          </a:bodyPr>
          <a:lstStyle/>
          <a:p>
            <a:r>
              <a:rPr lang="en-GB" sz="1200" b="1" i="1" dirty="0">
                <a:solidFill>
                  <a:srgbClr val="FF0000"/>
                </a:solidFill>
              </a:rPr>
              <a:t>Example 7 - I do…</a:t>
            </a:r>
          </a:p>
        </p:txBody>
      </p:sp>
      <p:sp>
        <p:nvSpPr>
          <p:cNvPr id="5" name="TextBox 4">
            <a:extLst>
              <a:ext uri="{FF2B5EF4-FFF2-40B4-BE49-F238E27FC236}">
                <a16:creationId xmlns:a16="http://schemas.microsoft.com/office/drawing/2014/main" id="{2FE27825-7462-593A-E1D4-7CD7FAB8E019}"/>
              </a:ext>
            </a:extLst>
          </p:cNvPr>
          <p:cNvSpPr txBox="1"/>
          <p:nvPr/>
        </p:nvSpPr>
        <p:spPr>
          <a:xfrm>
            <a:off x="5033240" y="4278551"/>
            <a:ext cx="1643405" cy="276999"/>
          </a:xfrm>
          <a:prstGeom prst="rect">
            <a:avLst/>
          </a:prstGeom>
          <a:noFill/>
          <a:ln>
            <a:noFill/>
          </a:ln>
        </p:spPr>
        <p:txBody>
          <a:bodyPr wrap="square" rtlCol="0">
            <a:spAutoFit/>
          </a:bodyPr>
          <a:lstStyle/>
          <a:p>
            <a:r>
              <a:rPr lang="en-GB" sz="1200" b="1" i="1" dirty="0">
                <a:solidFill>
                  <a:srgbClr val="00B050"/>
                </a:solidFill>
              </a:rPr>
              <a:t>Example 9 – You do…</a:t>
            </a:r>
          </a:p>
        </p:txBody>
      </p:sp>
      <p:sp>
        <p:nvSpPr>
          <p:cNvPr id="11" name="TextBox 10">
            <a:extLst>
              <a:ext uri="{FF2B5EF4-FFF2-40B4-BE49-F238E27FC236}">
                <a16:creationId xmlns:a16="http://schemas.microsoft.com/office/drawing/2014/main" id="{2D43DB37-0E96-2A8B-6C2E-CEC2D7A504EB}"/>
              </a:ext>
            </a:extLst>
          </p:cNvPr>
          <p:cNvSpPr txBox="1"/>
          <p:nvPr/>
        </p:nvSpPr>
        <p:spPr>
          <a:xfrm>
            <a:off x="3328130" y="4257870"/>
            <a:ext cx="1643405" cy="276999"/>
          </a:xfrm>
          <a:prstGeom prst="rect">
            <a:avLst/>
          </a:prstGeom>
          <a:noFill/>
          <a:ln>
            <a:noFill/>
          </a:ln>
        </p:spPr>
        <p:txBody>
          <a:bodyPr wrap="square" rtlCol="0">
            <a:spAutoFit/>
          </a:bodyPr>
          <a:lstStyle/>
          <a:p>
            <a:r>
              <a:rPr lang="en-GB" sz="1200" b="1" i="1" dirty="0">
                <a:solidFill>
                  <a:schemeClr val="accent2"/>
                </a:solidFill>
              </a:rPr>
              <a:t>Example 8 – We do…</a:t>
            </a:r>
          </a:p>
        </p:txBody>
      </p:sp>
      <p:graphicFrame>
        <p:nvGraphicFramePr>
          <p:cNvPr id="14" name="Table 13">
            <a:extLst>
              <a:ext uri="{FF2B5EF4-FFF2-40B4-BE49-F238E27FC236}">
                <a16:creationId xmlns:a16="http://schemas.microsoft.com/office/drawing/2014/main" id="{FF0ABAF9-4F6E-5F4B-C051-1A000972DFDB}"/>
              </a:ext>
            </a:extLst>
          </p:cNvPr>
          <p:cNvGraphicFramePr>
            <a:graphicFrameLocks noGrp="1"/>
          </p:cNvGraphicFramePr>
          <p:nvPr>
            <p:extLst>
              <p:ext uri="{D42A27DB-BD31-4B8C-83A1-F6EECF244321}">
                <p14:modId xmlns:p14="http://schemas.microsoft.com/office/powerpoint/2010/main" val="4148123097"/>
              </p:ext>
            </p:extLst>
          </p:nvPr>
        </p:nvGraphicFramePr>
        <p:xfrm>
          <a:off x="1005628" y="2491104"/>
          <a:ext cx="2534231" cy="498474"/>
        </p:xfrm>
        <a:graphic>
          <a:graphicData uri="http://schemas.openxmlformats.org/drawingml/2006/table">
            <a:tbl>
              <a:tblPr/>
              <a:tblGrid>
                <a:gridCol w="687493">
                  <a:extLst>
                    <a:ext uri="{9D8B030D-6E8A-4147-A177-3AD203B41FA5}">
                      <a16:colId xmlns:a16="http://schemas.microsoft.com/office/drawing/2014/main" val="4222988301"/>
                    </a:ext>
                  </a:extLst>
                </a:gridCol>
                <a:gridCol w="1846738">
                  <a:extLst>
                    <a:ext uri="{9D8B030D-6E8A-4147-A177-3AD203B41FA5}">
                      <a16:colId xmlns:a16="http://schemas.microsoft.com/office/drawing/2014/main" val="3473966253"/>
                    </a:ext>
                  </a:extLst>
                </a:gridCol>
              </a:tblGrid>
              <a:tr h="162338">
                <a:tc>
                  <a:txBody>
                    <a:bodyPr/>
                    <a:lstStyle/>
                    <a:p>
                      <a:r>
                        <a:rPr lang="en-GB" sz="1000">
                          <a:solidFill>
                            <a:schemeClr val="bg1"/>
                          </a:solidFill>
                          <a:effectLst/>
                          <a:latin typeface="Calibri" panose="020F0502020204030204" pitchFamily="34" charset="0"/>
                          <a:cs typeface="Calibri" panose="020F0502020204030204" pitchFamily="34" charset="0"/>
                        </a:rPr>
                        <a:t>1 × 20 = 20</a:t>
                      </a:r>
                    </a:p>
                  </a:txBody>
                  <a:tcPr marL="6879" marR="6879" marT="6879" marB="6879" anchor="ctr">
                    <a:lnL>
                      <a:noFill/>
                    </a:lnL>
                    <a:lnR>
                      <a:noFill/>
                    </a:lnR>
                    <a:lnT>
                      <a:noFill/>
                    </a:lnT>
                    <a:lnB>
                      <a:noFill/>
                    </a:lnB>
                    <a:noFill/>
                  </a:tcPr>
                </a:tc>
                <a:tc>
                  <a:txBody>
                    <a:bodyPr/>
                    <a:lstStyle/>
                    <a:p>
                      <a:r>
                        <a:rPr lang="en-GB" sz="1000">
                          <a:solidFill>
                            <a:schemeClr val="bg1"/>
                          </a:solidFill>
                          <a:effectLst/>
                          <a:latin typeface="Calibri" panose="020F0502020204030204" pitchFamily="34" charset="0"/>
                          <a:cs typeface="Calibri" panose="020F0502020204030204" pitchFamily="34" charset="0"/>
                        </a:rPr>
                        <a:t>so 1 and 20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1154864005"/>
                  </a:ext>
                </a:extLst>
              </a:tr>
              <a:tr h="162338">
                <a:tc>
                  <a:txBody>
                    <a:bodyPr/>
                    <a:lstStyle/>
                    <a:p>
                      <a:r>
                        <a:rPr lang="en-GB" sz="1000">
                          <a:solidFill>
                            <a:schemeClr val="bg1"/>
                          </a:solidFill>
                          <a:effectLst/>
                          <a:latin typeface="Calibri" panose="020F0502020204030204" pitchFamily="34" charset="0"/>
                          <a:cs typeface="Calibri" panose="020F0502020204030204" pitchFamily="34" charset="0"/>
                        </a:rPr>
                        <a:t>2 × 10 = 20</a:t>
                      </a:r>
                    </a:p>
                  </a:txBody>
                  <a:tcPr marL="6879" marR="6879" marT="6879" marB="6879" anchor="ctr">
                    <a:lnL>
                      <a:noFill/>
                    </a:lnL>
                    <a:lnR>
                      <a:noFill/>
                    </a:lnR>
                    <a:lnT>
                      <a:noFill/>
                    </a:lnT>
                    <a:lnB>
                      <a:noFill/>
                    </a:lnB>
                    <a:noFill/>
                  </a:tcPr>
                </a:tc>
                <a:tc>
                  <a:txBody>
                    <a:bodyPr/>
                    <a:lstStyle/>
                    <a:p>
                      <a:r>
                        <a:rPr lang="en-GB" sz="1000">
                          <a:solidFill>
                            <a:schemeClr val="bg1"/>
                          </a:solidFill>
                          <a:effectLst/>
                          <a:latin typeface="Calibri" panose="020F0502020204030204" pitchFamily="34" charset="0"/>
                          <a:cs typeface="Calibri" panose="020F0502020204030204" pitchFamily="34" charset="0"/>
                        </a:rPr>
                        <a:t>so 2 and 10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1006170939"/>
                  </a:ext>
                </a:extLst>
              </a:tr>
              <a:tr h="162338">
                <a:tc>
                  <a:txBody>
                    <a:bodyPr/>
                    <a:lstStyle/>
                    <a:p>
                      <a:r>
                        <a:rPr lang="en-GB" sz="1000">
                          <a:solidFill>
                            <a:schemeClr val="bg1"/>
                          </a:solidFill>
                          <a:effectLst/>
                          <a:latin typeface="Calibri" panose="020F0502020204030204" pitchFamily="34" charset="0"/>
                          <a:cs typeface="Calibri" panose="020F0502020204030204" pitchFamily="34" charset="0"/>
                        </a:rPr>
                        <a:t>4 × 5 = 20</a:t>
                      </a:r>
                    </a:p>
                  </a:txBody>
                  <a:tcPr marL="6879" marR="6879" marT="6879" marB="6879" anchor="ctr">
                    <a:lnL>
                      <a:noFill/>
                    </a:lnL>
                    <a:lnR>
                      <a:noFill/>
                    </a:lnR>
                    <a:lnT>
                      <a:noFill/>
                    </a:lnT>
                    <a:lnB>
                      <a:noFill/>
                    </a:lnB>
                    <a:noFill/>
                  </a:tcPr>
                </a:tc>
                <a:tc>
                  <a:txBody>
                    <a:bodyPr/>
                    <a:lstStyle/>
                    <a:p>
                      <a:r>
                        <a:rPr lang="en-GB" sz="1000">
                          <a:solidFill>
                            <a:schemeClr val="bg1"/>
                          </a:solidFill>
                          <a:effectLst/>
                          <a:latin typeface="Calibri" panose="020F0502020204030204" pitchFamily="34" charset="0"/>
                          <a:cs typeface="Calibri" panose="020F0502020204030204" pitchFamily="34" charset="0"/>
                        </a:rPr>
                        <a:t>so 4 and 5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2319069970"/>
                  </a:ext>
                </a:extLst>
              </a:tr>
            </a:tbl>
          </a:graphicData>
        </a:graphic>
      </p:graphicFrame>
      <p:cxnSp>
        <p:nvCxnSpPr>
          <p:cNvPr id="15" name="Straight Connector 14">
            <a:extLst>
              <a:ext uri="{FF2B5EF4-FFF2-40B4-BE49-F238E27FC236}">
                <a16:creationId xmlns:a16="http://schemas.microsoft.com/office/drawing/2014/main" id="{57D0F487-035E-B50F-1BA9-7BCC8EBA716B}"/>
              </a:ext>
            </a:extLst>
          </p:cNvPr>
          <p:cNvCxnSpPr/>
          <p:nvPr/>
        </p:nvCxnSpPr>
        <p:spPr>
          <a:xfrm flipV="1">
            <a:off x="909356" y="240041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1FBD921-8673-0DED-B723-67578DC3203A}"/>
              </a:ext>
            </a:extLst>
          </p:cNvPr>
          <p:cNvSpPr/>
          <p:nvPr/>
        </p:nvSpPr>
        <p:spPr>
          <a:xfrm>
            <a:off x="79390" y="494698"/>
            <a:ext cx="6699219" cy="33482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Connector 16">
            <a:extLst>
              <a:ext uri="{FF2B5EF4-FFF2-40B4-BE49-F238E27FC236}">
                <a16:creationId xmlns:a16="http://schemas.microsoft.com/office/drawing/2014/main" id="{829720AB-CBE0-5042-18A4-449491D6A358}"/>
              </a:ext>
            </a:extLst>
          </p:cNvPr>
          <p:cNvCxnSpPr>
            <a:cxnSpLocks/>
          </p:cNvCxnSpPr>
          <p:nvPr/>
        </p:nvCxnSpPr>
        <p:spPr>
          <a:xfrm>
            <a:off x="79390" y="1955737"/>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EC0664C-0C45-281E-92B1-579A8A6A3B42}"/>
              </a:ext>
            </a:extLst>
          </p:cNvPr>
          <p:cNvCxnSpPr>
            <a:cxnSpLocks/>
            <a:stCxn id="16" idx="2"/>
            <a:endCxn id="16" idx="0"/>
          </p:cNvCxnSpPr>
          <p:nvPr/>
        </p:nvCxnSpPr>
        <p:spPr>
          <a:xfrm flipV="1">
            <a:off x="3429000" y="494698"/>
            <a:ext cx="0" cy="3348238"/>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B8AB36BF-8A8D-FFEF-9320-B75E74D9B84A}"/>
              </a:ext>
            </a:extLst>
          </p:cNvPr>
          <p:cNvSpPr txBox="1"/>
          <p:nvPr/>
        </p:nvSpPr>
        <p:spPr>
          <a:xfrm>
            <a:off x="72430" y="469822"/>
            <a:ext cx="824713" cy="461665"/>
          </a:xfrm>
          <a:prstGeom prst="rect">
            <a:avLst/>
          </a:prstGeom>
          <a:noFill/>
        </p:spPr>
        <p:txBody>
          <a:bodyPr wrap="none" rtlCol="0">
            <a:spAutoFit/>
          </a:bodyPr>
          <a:lstStyle/>
          <a:p>
            <a:r>
              <a:rPr lang="en-US" sz="1200" b="1"/>
              <a:t>Definition</a:t>
            </a:r>
          </a:p>
          <a:p>
            <a:endParaRPr lang="en-US" sz="1200"/>
          </a:p>
        </p:txBody>
      </p:sp>
      <p:sp>
        <p:nvSpPr>
          <p:cNvPr id="20" name="TextBox 19">
            <a:extLst>
              <a:ext uri="{FF2B5EF4-FFF2-40B4-BE49-F238E27FC236}">
                <a16:creationId xmlns:a16="http://schemas.microsoft.com/office/drawing/2014/main" id="{3C2DE9D7-11C4-8A4C-8EDB-FD506B39807C}"/>
              </a:ext>
            </a:extLst>
          </p:cNvPr>
          <p:cNvSpPr txBox="1"/>
          <p:nvPr/>
        </p:nvSpPr>
        <p:spPr>
          <a:xfrm>
            <a:off x="5596481" y="437436"/>
            <a:ext cx="1112228" cy="276999"/>
          </a:xfrm>
          <a:prstGeom prst="rect">
            <a:avLst/>
          </a:prstGeom>
          <a:noFill/>
        </p:spPr>
        <p:txBody>
          <a:bodyPr wrap="none" rtlCol="0">
            <a:spAutoFit/>
          </a:bodyPr>
          <a:lstStyle/>
          <a:p>
            <a:r>
              <a:rPr lang="en-US" sz="1200" b="1"/>
              <a:t>Characteristics</a:t>
            </a:r>
            <a:endParaRPr lang="en-GB" sz="1200" b="1"/>
          </a:p>
        </p:txBody>
      </p:sp>
      <p:sp>
        <p:nvSpPr>
          <p:cNvPr id="21" name="TextBox 20">
            <a:extLst>
              <a:ext uri="{FF2B5EF4-FFF2-40B4-BE49-F238E27FC236}">
                <a16:creationId xmlns:a16="http://schemas.microsoft.com/office/drawing/2014/main" id="{0F048665-F164-8D79-A715-1BF909C769FC}"/>
              </a:ext>
            </a:extLst>
          </p:cNvPr>
          <p:cNvSpPr txBox="1"/>
          <p:nvPr/>
        </p:nvSpPr>
        <p:spPr>
          <a:xfrm>
            <a:off x="87577" y="2073270"/>
            <a:ext cx="788164" cy="276999"/>
          </a:xfrm>
          <a:prstGeom prst="rect">
            <a:avLst/>
          </a:prstGeom>
          <a:noFill/>
        </p:spPr>
        <p:txBody>
          <a:bodyPr wrap="none" rtlCol="0">
            <a:spAutoFit/>
          </a:bodyPr>
          <a:lstStyle/>
          <a:p>
            <a:r>
              <a:rPr lang="en-US" sz="1200" b="1"/>
              <a:t>Examples</a:t>
            </a:r>
            <a:endParaRPr lang="en-GB" sz="1200" b="1"/>
          </a:p>
        </p:txBody>
      </p:sp>
      <p:sp>
        <p:nvSpPr>
          <p:cNvPr id="22" name="TextBox 21">
            <a:extLst>
              <a:ext uri="{FF2B5EF4-FFF2-40B4-BE49-F238E27FC236}">
                <a16:creationId xmlns:a16="http://schemas.microsoft.com/office/drawing/2014/main" id="{F724D3B7-A711-2FD9-E2FE-70C0E9522C88}"/>
              </a:ext>
            </a:extLst>
          </p:cNvPr>
          <p:cNvSpPr txBox="1"/>
          <p:nvPr/>
        </p:nvSpPr>
        <p:spPr>
          <a:xfrm>
            <a:off x="5524994" y="2089529"/>
            <a:ext cx="1172885" cy="276999"/>
          </a:xfrm>
          <a:prstGeom prst="rect">
            <a:avLst/>
          </a:prstGeom>
          <a:noFill/>
        </p:spPr>
        <p:txBody>
          <a:bodyPr wrap="none" rtlCol="0">
            <a:spAutoFit/>
          </a:bodyPr>
          <a:lstStyle/>
          <a:p>
            <a:r>
              <a:rPr lang="en-US" sz="1200" b="1"/>
              <a:t>Non - Examples</a:t>
            </a:r>
            <a:endParaRPr lang="en-GB" sz="1200" b="1"/>
          </a:p>
        </p:txBody>
      </p:sp>
      <p:sp>
        <p:nvSpPr>
          <p:cNvPr id="23" name="TextBox 22">
            <a:extLst>
              <a:ext uri="{FF2B5EF4-FFF2-40B4-BE49-F238E27FC236}">
                <a16:creationId xmlns:a16="http://schemas.microsoft.com/office/drawing/2014/main" id="{244241FE-626D-3354-8516-5071FA85AA82}"/>
              </a:ext>
            </a:extLst>
          </p:cNvPr>
          <p:cNvSpPr txBox="1"/>
          <p:nvPr/>
        </p:nvSpPr>
        <p:spPr>
          <a:xfrm>
            <a:off x="171528" y="670394"/>
            <a:ext cx="3230335" cy="1200329"/>
          </a:xfrm>
          <a:prstGeom prst="rect">
            <a:avLst/>
          </a:prstGeom>
          <a:noFill/>
        </p:spPr>
        <p:txBody>
          <a:bodyPr wrap="square" rtlCol="0">
            <a:spAutoFit/>
          </a:bodyPr>
          <a:lstStyle/>
          <a:p>
            <a:r>
              <a:rPr lang="en-GB" sz="1200" dirty="0"/>
              <a:t>A decimal is a number that is not whole, as it lies between whole numbers.</a:t>
            </a:r>
          </a:p>
          <a:p>
            <a:r>
              <a:rPr lang="en-US" sz="1200" dirty="0"/>
              <a:t>Consists of a whole and a fraction part.</a:t>
            </a:r>
          </a:p>
          <a:p>
            <a:r>
              <a:rPr lang="en-US" sz="1200" dirty="0"/>
              <a:t>In a decimal, the  fractional part is written as digits after a point rather than a fraction.</a:t>
            </a:r>
          </a:p>
          <a:p>
            <a:endParaRPr lang="en-US" sz="1200" dirty="0"/>
          </a:p>
        </p:txBody>
      </p:sp>
      <p:sp>
        <p:nvSpPr>
          <p:cNvPr id="24" name="TextBox 23">
            <a:extLst>
              <a:ext uri="{FF2B5EF4-FFF2-40B4-BE49-F238E27FC236}">
                <a16:creationId xmlns:a16="http://schemas.microsoft.com/office/drawing/2014/main" id="{5A9945A4-B9DE-B1CB-8D92-A7416605FE8A}"/>
              </a:ext>
            </a:extLst>
          </p:cNvPr>
          <p:cNvSpPr txBox="1"/>
          <p:nvPr/>
        </p:nvSpPr>
        <p:spPr>
          <a:xfrm>
            <a:off x="3469312" y="622656"/>
            <a:ext cx="3230335" cy="830997"/>
          </a:xfrm>
          <a:prstGeom prst="rect">
            <a:avLst/>
          </a:prstGeom>
          <a:noFill/>
        </p:spPr>
        <p:txBody>
          <a:bodyPr wrap="square" rtlCol="0">
            <a:spAutoFit/>
          </a:bodyPr>
          <a:lstStyle/>
          <a:p>
            <a:pPr marL="171450" indent="-171450">
              <a:buFont typeface="Arial" panose="020B0604020202020204" pitchFamily="34" charset="0"/>
              <a:buChar char="•"/>
            </a:pPr>
            <a:r>
              <a:rPr lang="en-US" sz="1200"/>
              <a:t>The whole and fraction parts are separated by a point called the decimal point.</a:t>
            </a:r>
          </a:p>
          <a:p>
            <a:pPr marL="171450" indent="-171450">
              <a:buFont typeface="Arial" panose="020B0604020202020204" pitchFamily="34" charset="0"/>
              <a:buChar char="•"/>
            </a:pPr>
            <a:r>
              <a:rPr lang="en-GB" sz="1200">
                <a:effectLst/>
                <a:ea typeface="Calibri" panose="020F0502020204030204" pitchFamily="34" charset="0"/>
                <a:cs typeface="Times New Roman" panose="02020603050405020304" pitchFamily="18" charset="0"/>
              </a:rPr>
              <a:t>Can be terminating or recurring.</a:t>
            </a:r>
          </a:p>
          <a:p>
            <a:pPr marL="171450" indent="-171450">
              <a:buFont typeface="Arial" panose="020B0604020202020204" pitchFamily="34" charset="0"/>
              <a:buChar char="•"/>
            </a:pPr>
            <a:endParaRPr lang="en-US" sz="1200">
              <a:solidFill>
                <a:srgbClr val="FF0000"/>
              </a:solidFill>
            </a:endParaRPr>
          </a:p>
        </p:txBody>
      </p:sp>
      <p:sp>
        <p:nvSpPr>
          <p:cNvPr id="25" name="TextBox 24">
            <a:extLst>
              <a:ext uri="{FF2B5EF4-FFF2-40B4-BE49-F238E27FC236}">
                <a16:creationId xmlns:a16="http://schemas.microsoft.com/office/drawing/2014/main" id="{893E25D3-FBEA-C3AB-8569-E8156D02929E}"/>
              </a:ext>
            </a:extLst>
          </p:cNvPr>
          <p:cNvSpPr txBox="1"/>
          <p:nvPr/>
        </p:nvSpPr>
        <p:spPr>
          <a:xfrm>
            <a:off x="2882869" y="1752352"/>
            <a:ext cx="1172885" cy="369332"/>
          </a:xfrm>
          <a:prstGeom prst="rect">
            <a:avLst/>
          </a:prstGeom>
          <a:solidFill>
            <a:schemeClr val="bg1"/>
          </a:solidFill>
          <a:ln>
            <a:solidFill>
              <a:schemeClr val="tx1"/>
            </a:solidFill>
          </a:ln>
        </p:spPr>
        <p:txBody>
          <a:bodyPr wrap="square" rtlCol="0">
            <a:spAutoFit/>
          </a:bodyPr>
          <a:lstStyle/>
          <a:p>
            <a:pPr algn="ctr"/>
            <a:r>
              <a:rPr lang="en-US" dirty="0"/>
              <a:t>Decimal</a:t>
            </a:r>
            <a:endParaRPr lang="en-GB"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7DE0458-BFF0-E71E-6D50-4D8FA33F0D69}"/>
                  </a:ext>
                </a:extLst>
              </p:cNvPr>
              <p:cNvSpPr txBox="1"/>
              <p:nvPr/>
            </p:nvSpPr>
            <p:spPr>
              <a:xfrm>
                <a:off x="3415065" y="2281343"/>
                <a:ext cx="3230335" cy="856966"/>
              </a:xfrm>
              <a:prstGeom prst="rect">
                <a:avLst/>
              </a:prstGeom>
              <a:noFill/>
            </p:spPr>
            <p:txBody>
              <a:bodyPr wrap="square" rtlCol="0">
                <a:spAutoFit/>
              </a:bodyPr>
              <a:lstStyle/>
              <a:p>
                <a:endParaRPr lang="en-US" sz="1200">
                  <a:solidFill>
                    <a:srgbClr val="FF0000"/>
                  </a:solidFill>
                </a:endParaRPr>
              </a:p>
              <a:p>
                <a:r>
                  <a:rPr lang="en-US" sz="1200"/>
                  <a:t>1.3           </a:t>
                </a:r>
                <a:r>
                  <a:rPr lang="en-GB" sz="1200"/>
                  <a:t>         </a:t>
                </a:r>
                <a14:m>
                  <m:oMath xmlns:m="http://schemas.openxmlformats.org/officeDocument/2006/math">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2</m:t>
                        </m:r>
                      </m:e>
                    </m:rad>
                  </m:oMath>
                </a14:m>
                <a:endParaRPr lang="en-US" sz="1200"/>
              </a:p>
              <a:p>
                <a:r>
                  <a:rPr lang="en-US" sz="1200"/>
                  <a:t> 10</a:t>
                </a:r>
              </a:p>
              <a:p>
                <a:pPr marL="171450" indent="-171450">
                  <a:buFont typeface="Arial" panose="020B0604020202020204" pitchFamily="34" charset="0"/>
                  <a:buChar char="•"/>
                </a:pPr>
                <a:endParaRPr lang="en-US" sz="1200">
                  <a:solidFill>
                    <a:srgbClr val="FF0000"/>
                  </a:solidFill>
                </a:endParaRPr>
              </a:p>
            </p:txBody>
          </p:sp>
        </mc:Choice>
        <mc:Fallback xmlns="">
          <p:sp>
            <p:nvSpPr>
              <p:cNvPr id="26" name="TextBox 25">
                <a:extLst>
                  <a:ext uri="{FF2B5EF4-FFF2-40B4-BE49-F238E27FC236}">
                    <a16:creationId xmlns:a16="http://schemas.microsoft.com/office/drawing/2014/main" id="{07DE0458-BFF0-E71E-6D50-4D8FA33F0D69}"/>
                  </a:ext>
                </a:extLst>
              </p:cNvPr>
              <p:cNvSpPr txBox="1">
                <a:spLocks noRot="1" noChangeAspect="1" noMove="1" noResize="1" noEditPoints="1" noAdjustHandles="1" noChangeArrowheads="1" noChangeShapeType="1" noTextEdit="1"/>
              </p:cNvSpPr>
              <p:nvPr/>
            </p:nvSpPr>
            <p:spPr>
              <a:xfrm>
                <a:off x="3415065" y="2281343"/>
                <a:ext cx="3230335" cy="856966"/>
              </a:xfrm>
              <a:prstGeom prst="rect">
                <a:avLst/>
              </a:prstGeom>
              <a:blipFill>
                <a:blip r:embed="rId2"/>
                <a:stretch>
                  <a:fillRect/>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11C82E92-573E-D270-5D2A-F1637132AA6B}"/>
              </a:ext>
            </a:extLst>
          </p:cNvPr>
          <p:cNvCxnSpPr>
            <a:cxnSpLocks/>
          </p:cNvCxnSpPr>
          <p:nvPr/>
        </p:nvCxnSpPr>
        <p:spPr>
          <a:xfrm flipV="1">
            <a:off x="3429000" y="2693515"/>
            <a:ext cx="337519" cy="3326"/>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DF2B521-0422-9093-62A0-CF910FB794BB}"/>
                  </a:ext>
                </a:extLst>
              </p:cNvPr>
              <p:cNvSpPr txBox="1"/>
              <p:nvPr/>
            </p:nvSpPr>
            <p:spPr>
              <a:xfrm>
                <a:off x="4639031" y="2121684"/>
                <a:ext cx="842456" cy="8085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b="0" i="1" dirty="0" smtClean="0">
                          <a:solidFill>
                            <a:schemeClr val="tx1"/>
                          </a:solidFill>
                          <a:latin typeface="Cambria Math" panose="02040503050406030204" pitchFamily="18" charset="0"/>
                        </a:rPr>
                        <m:t>38</m:t>
                      </m:r>
                    </m:oMath>
                  </m:oMathPara>
                </a14:m>
                <a:endParaRPr lang="en-GB" sz="1200" b="0">
                  <a:solidFill>
                    <a:schemeClr val="tx1"/>
                  </a:solidFill>
                </a:endParaRPr>
              </a:p>
              <a:p>
                <a:endParaRPr lang="en-US" sz="1200">
                  <a:solidFill>
                    <a:schemeClr val="tx1"/>
                  </a:solidFill>
                </a:endParaRPr>
              </a:p>
              <a:p>
                <a:pPr/>
                <a14:m>
                  <m:oMathPara xmlns:m="http://schemas.openxmlformats.org/officeDocument/2006/math">
                    <m:oMathParaPr>
                      <m:jc m:val="centerGroup"/>
                    </m:oMathParaPr>
                    <m:oMath xmlns:m="http://schemas.openxmlformats.org/officeDocument/2006/math">
                      <m:r>
                        <a:rPr lang="en-GB" sz="1200" i="1">
                          <a:solidFill>
                            <a:schemeClr val="tx1"/>
                          </a:solidFill>
                          <a:latin typeface="Cambria Math" panose="02040503050406030204" pitchFamily="18" charset="0"/>
                        </a:rPr>
                        <m:t>1</m:t>
                      </m:r>
                      <m:f>
                        <m:fPr>
                          <m:ctrlPr>
                            <a:rPr lang="en-GB" sz="1200" b="0" i="1" smtClean="0">
                              <a:solidFill>
                                <a:schemeClr val="tx1"/>
                              </a:solidFill>
                              <a:latin typeface="Cambria Math" panose="02040503050406030204" pitchFamily="18" charset="0"/>
                            </a:rPr>
                          </m:ctrlPr>
                        </m:fPr>
                        <m:num>
                          <m:r>
                            <a:rPr lang="en-GB" sz="1200" b="0" i="1" smtClean="0">
                              <a:solidFill>
                                <a:schemeClr val="tx1"/>
                              </a:solidFill>
                              <a:latin typeface="Cambria Math" panose="02040503050406030204" pitchFamily="18" charset="0"/>
                            </a:rPr>
                            <m:t>2</m:t>
                          </m:r>
                        </m:num>
                        <m:den>
                          <m:r>
                            <a:rPr lang="en-GB" sz="1200" b="0" i="1" smtClean="0">
                              <a:solidFill>
                                <a:schemeClr val="tx1"/>
                              </a:solidFill>
                              <a:latin typeface="Cambria Math" panose="02040503050406030204" pitchFamily="18" charset="0"/>
                            </a:rPr>
                            <m:t>3</m:t>
                          </m:r>
                        </m:den>
                      </m:f>
                      <m:r>
                        <a:rPr lang="en-GB" sz="1200" b="0" i="1" smtClean="0">
                          <a:solidFill>
                            <a:schemeClr val="tx1"/>
                          </a:solidFill>
                          <a:latin typeface="Cambria Math" panose="02040503050406030204" pitchFamily="18" charset="0"/>
                        </a:rPr>
                        <m:t>  </m:t>
                      </m:r>
                    </m:oMath>
                  </m:oMathPara>
                </a14:m>
                <a:endParaRPr lang="en-US" sz="1200">
                  <a:solidFill>
                    <a:schemeClr val="tx1"/>
                  </a:solidFill>
                </a:endParaRPr>
              </a:p>
            </p:txBody>
          </p:sp>
        </mc:Choice>
        <mc:Fallback xmlns="">
          <p:sp>
            <p:nvSpPr>
              <p:cNvPr id="28" name="TextBox 27">
                <a:extLst>
                  <a:ext uri="{FF2B5EF4-FFF2-40B4-BE49-F238E27FC236}">
                    <a16:creationId xmlns:a16="http://schemas.microsoft.com/office/drawing/2014/main" id="{EDF2B521-0422-9093-62A0-CF910FB794BB}"/>
                  </a:ext>
                </a:extLst>
              </p:cNvPr>
              <p:cNvSpPr txBox="1">
                <a:spLocks noRot="1" noChangeAspect="1" noMove="1" noResize="1" noEditPoints="1" noAdjustHandles="1" noChangeArrowheads="1" noChangeShapeType="1" noTextEdit="1"/>
              </p:cNvSpPr>
              <p:nvPr/>
            </p:nvSpPr>
            <p:spPr>
              <a:xfrm>
                <a:off x="4639031" y="2121684"/>
                <a:ext cx="842456" cy="808555"/>
              </a:xfrm>
              <a:prstGeom prst="rect">
                <a:avLst/>
              </a:prstGeom>
              <a:blipFill>
                <a:blip r:embed="rId3"/>
                <a:stretch>
                  <a:fillRect/>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EDE42792-40BA-B522-E5D0-6C1562DCF3B9}"/>
              </a:ext>
            </a:extLst>
          </p:cNvPr>
          <p:cNvSpPr txBox="1"/>
          <p:nvPr/>
        </p:nvSpPr>
        <p:spPr>
          <a:xfrm>
            <a:off x="6164791" y="2417991"/>
            <a:ext cx="842456" cy="461665"/>
          </a:xfrm>
          <a:prstGeom prst="rect">
            <a:avLst/>
          </a:prstGeom>
          <a:noFill/>
        </p:spPr>
        <p:txBody>
          <a:bodyPr wrap="square" rtlCol="0">
            <a:spAutoFit/>
          </a:bodyPr>
          <a:lstStyle/>
          <a:p>
            <a:endParaRPr lang="en-US" sz="1200"/>
          </a:p>
          <a:p>
            <a:r>
              <a:rPr lang="en-US" sz="1200"/>
              <a:t>240</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51BBC49-0441-57A4-66FC-FB621B7E1AB9}"/>
                  </a:ext>
                </a:extLst>
              </p:cNvPr>
              <p:cNvSpPr txBox="1"/>
              <p:nvPr/>
            </p:nvSpPr>
            <p:spPr>
              <a:xfrm>
                <a:off x="5415222" y="2125573"/>
                <a:ext cx="842456" cy="623248"/>
              </a:xfrm>
              <a:prstGeom prst="rect">
                <a:avLst/>
              </a:prstGeom>
              <a:noFill/>
            </p:spPr>
            <p:txBody>
              <a:bodyPr wrap="square" rtlCol="0">
                <a:spAutoFit/>
              </a:bodyPr>
              <a:lstStyle/>
              <a:p>
                <a:endParaRPr lang="en-US" sz="1200">
                  <a:solidFill>
                    <a:schemeClr val="tx1"/>
                  </a:solidFill>
                </a:endParaRPr>
              </a:p>
              <a:p>
                <a:pPr/>
                <a14:m>
                  <m:oMathPara xmlns:m="http://schemas.openxmlformats.org/officeDocument/2006/math">
                    <m:oMathParaPr>
                      <m:jc m:val="centerGroup"/>
                    </m:oMathParaPr>
                    <m:oMath xmlns:m="http://schemas.openxmlformats.org/officeDocument/2006/math">
                      <m:f>
                        <m:fPr>
                          <m:ctrlPr>
                            <a:rPr lang="en-GB" sz="1200" b="0" i="1" smtClean="0">
                              <a:solidFill>
                                <a:schemeClr val="tx1"/>
                              </a:solidFill>
                              <a:latin typeface="Cambria Math" panose="02040503050406030204" pitchFamily="18" charset="0"/>
                            </a:rPr>
                          </m:ctrlPr>
                        </m:fPr>
                        <m:num>
                          <m:r>
                            <a:rPr lang="en-GB" sz="1200" i="1" smtClean="0">
                              <a:solidFill>
                                <a:schemeClr val="tx1"/>
                              </a:solidFill>
                              <a:latin typeface="Cambria Math" panose="02040503050406030204" pitchFamily="18" charset="0"/>
                            </a:rPr>
                            <m:t>4</m:t>
                          </m:r>
                        </m:num>
                        <m:den>
                          <m:r>
                            <a:rPr lang="en-GB" sz="1200" b="0" i="1" smtClean="0">
                              <a:solidFill>
                                <a:schemeClr val="tx1"/>
                              </a:solidFill>
                              <a:latin typeface="Cambria Math" panose="02040503050406030204" pitchFamily="18" charset="0"/>
                            </a:rPr>
                            <m:t>5</m:t>
                          </m:r>
                        </m:den>
                      </m:f>
                    </m:oMath>
                  </m:oMathPara>
                </a14:m>
                <a:endParaRPr lang="en-US" sz="1200">
                  <a:solidFill>
                    <a:schemeClr val="tx1"/>
                  </a:solidFill>
                </a:endParaRPr>
              </a:p>
            </p:txBody>
          </p:sp>
        </mc:Choice>
        <mc:Fallback xmlns="">
          <p:sp>
            <p:nvSpPr>
              <p:cNvPr id="30" name="TextBox 29">
                <a:extLst>
                  <a:ext uri="{FF2B5EF4-FFF2-40B4-BE49-F238E27FC236}">
                    <a16:creationId xmlns:a16="http://schemas.microsoft.com/office/drawing/2014/main" id="{651BBC49-0441-57A4-66FC-FB621B7E1AB9}"/>
                  </a:ext>
                </a:extLst>
              </p:cNvPr>
              <p:cNvSpPr txBox="1">
                <a:spLocks noRot="1" noChangeAspect="1" noMove="1" noResize="1" noEditPoints="1" noAdjustHandles="1" noChangeArrowheads="1" noChangeShapeType="1" noTextEdit="1"/>
              </p:cNvSpPr>
              <p:nvPr/>
            </p:nvSpPr>
            <p:spPr>
              <a:xfrm>
                <a:off x="5415222" y="2125573"/>
                <a:ext cx="842456" cy="623248"/>
              </a:xfrm>
              <a:prstGeom prst="rect">
                <a:avLst/>
              </a:prstGeom>
              <a:blipFill>
                <a:blip r:embed="rId4"/>
                <a:stretch>
                  <a:fillRect b="-9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B2C783A-FB97-DAE3-588B-B0D5C2223998}"/>
                  </a:ext>
                </a:extLst>
              </p:cNvPr>
              <p:cNvSpPr txBox="1"/>
              <p:nvPr/>
            </p:nvSpPr>
            <p:spPr>
              <a:xfrm>
                <a:off x="47040" y="2178185"/>
                <a:ext cx="3322366" cy="1302601"/>
              </a:xfrm>
              <a:prstGeom prst="rect">
                <a:avLst/>
              </a:prstGeom>
              <a:noFill/>
            </p:spPr>
            <p:txBody>
              <a:bodyPr wrap="square" rtlCol="0">
                <a:spAutoFit/>
              </a:bodyPr>
              <a:lstStyle/>
              <a:p>
                <a:pPr>
                  <a:lnSpc>
                    <a:spcPct val="150000"/>
                  </a:lnSpc>
                  <a:spcAft>
                    <a:spcPts val="800"/>
                  </a:spcAft>
                </a:pPr>
                <a:r>
                  <a:rPr lang="en-US" sz="1100">
                    <a:effectLst/>
                    <a:ea typeface="Calibri" panose="020F0502020204030204" pitchFamily="34" charset="0"/>
                    <a:cs typeface="Times New Roman" panose="02020603050405020304" pitchFamily="18" charset="0"/>
                  </a:rPr>
                  <a:t>    0.2      	</a:t>
                </a:r>
                <a:r>
                  <a:rPr lang="en-GB" sz="1100">
                    <a:effectLst/>
                    <a:ea typeface="Calibri" panose="020F0502020204030204" pitchFamily="34" charset="0"/>
                    <a:cs typeface="Times New Roman" panose="02020603050405020304" pitchFamily="18" charset="0"/>
                  </a:rPr>
                  <a:t> 123.43 </a:t>
                </a:r>
                <a:r>
                  <a:rPr lang="en-US" sz="1100">
                    <a:effectLst/>
                    <a:ea typeface="Calibri" panose="020F0502020204030204" pitchFamily="34" charset="0"/>
                    <a:cs typeface="Times New Roman" panose="02020603050405020304" pitchFamily="18" charset="0"/>
                  </a:rPr>
                  <a:t>	      0.278	                   </a:t>
                </a:r>
              </a:p>
              <a:p>
                <a:pPr>
                  <a:lnSpc>
                    <a:spcPct val="150000"/>
                  </a:lnSpc>
                  <a:spcAft>
                    <a:spcPts val="800"/>
                  </a:spcAft>
                </a:pPr>
                <a:r>
                  <a:rPr lang="en-US" sz="1100">
                    <a:effectLst/>
                    <a:ea typeface="Calibri" panose="020F0502020204030204" pitchFamily="34" charset="0"/>
                    <a:cs typeface="Times New Roman" panose="02020603050405020304" pitchFamily="18" charset="0"/>
                  </a:rPr>
                  <a:t>  1.87	        12.7657     	10000.1           </a:t>
                </a:r>
                <a14:m>
                  <m:oMath xmlns:m="http://schemas.openxmlformats.org/officeDocument/2006/math">
                    <m:r>
                      <a:rPr lang="en-US" sz="1100" i="1" smtClean="0">
                        <a:effectLst/>
                        <a:latin typeface="Cambria Math" panose="02040503050406030204" pitchFamily="18" charset="0"/>
                        <a:ea typeface="Calibri" panose="020F0502020204030204" pitchFamily="34" charset="0"/>
                        <a:cs typeface="Times New Roman" panose="02020603050405020304" pitchFamily="18" charset="0"/>
                      </a:rPr>
                      <m:t>0.</m:t>
                    </m:r>
                    <m:acc>
                      <m:accPr>
                        <m:chr m:val="̇"/>
                        <m:ctrlPr>
                          <a:rPr lang="en-GB" sz="1100" i="1">
                            <a:effectLst/>
                            <a:latin typeface="Cambria Math" panose="02040503050406030204" pitchFamily="18" charset="0"/>
                            <a:cs typeface="Times New Roman" panose="02020603050405020304" pitchFamily="18" charset="0"/>
                          </a:rPr>
                        </m:ctrlPr>
                      </m:accPr>
                      <m:e>
                        <m:r>
                          <a:rPr lang="en-US" sz="1100" i="1">
                            <a:effectLst/>
                            <a:latin typeface="Cambria Math" panose="02040503050406030204" pitchFamily="18" charset="0"/>
                            <a:ea typeface="Calibri" panose="020F0502020204030204" pitchFamily="34" charset="0"/>
                            <a:cs typeface="Times New Roman" panose="02020603050405020304" pitchFamily="18" charset="0"/>
                          </a:rPr>
                          <m:t>6</m:t>
                        </m:r>
                      </m:e>
                    </m:acc>
                  </m:oMath>
                </a14:m>
                <a:endParaRPr lang="en-GB" sz="1100">
                  <a:effectLst/>
                  <a:ea typeface="Calibri" panose="020F0502020204030204" pitchFamily="34" charset="0"/>
                  <a:cs typeface="Times New Roman" panose="02020603050405020304" pitchFamily="18" charset="0"/>
                </a:endParaRPr>
              </a:p>
              <a:p>
                <a:pPr>
                  <a:lnSpc>
                    <a:spcPct val="150000"/>
                  </a:lnSpc>
                  <a:spcAft>
                    <a:spcPts val="800"/>
                  </a:spcAft>
                </a:pPr>
                <a:r>
                  <a:rPr lang="en-US" sz="1100">
                    <a:effectLst/>
                    <a:ea typeface="Calibri" panose="020F0502020204030204" pitchFamily="34" charset="0"/>
                    <a:cs typeface="Times New Roman" panose="02020603050405020304" pitchFamily="18" charset="0"/>
                  </a:rPr>
                  <a:t>4.0000000001	 	80.987654321                 -3.43  </a:t>
                </a:r>
                <a14:m>
                  <m:oMath xmlns:m="http://schemas.openxmlformats.org/officeDocument/2006/math">
                    <m:r>
                      <a:rPr lang="en-GB" sz="1100" b="0" i="0" smtClean="0">
                        <a:effectLst/>
                        <a:latin typeface="Cambria Math" panose="02040503050406030204" pitchFamily="18" charset="0"/>
                        <a:cs typeface="Times New Roman" panose="02020603050405020304" pitchFamily="18" charset="0"/>
                      </a:rPr>
                      <m:t>                               3</m:t>
                    </m:r>
                    <m:r>
                      <a:rPr lang="en-GB" sz="1100" b="0" i="1" smtClean="0">
                        <a:effectLst/>
                        <a:latin typeface="Cambria Math" panose="02040503050406030204" pitchFamily="18" charset="0"/>
                        <a:cs typeface="Times New Roman" panose="02020603050405020304" pitchFamily="18" charset="0"/>
                      </a:rPr>
                      <m:t>.</m:t>
                    </m:r>
                    <m:acc>
                      <m:accPr>
                        <m:chr m:val="̇"/>
                        <m:ctrlPr>
                          <a:rPr lang="en-US" sz="1100" i="1" smtClean="0">
                            <a:effectLst/>
                            <a:latin typeface="Cambria Math" panose="02040503050406030204" pitchFamily="18" charset="0"/>
                            <a:cs typeface="Times New Roman" panose="02020603050405020304" pitchFamily="18" charset="0"/>
                          </a:rPr>
                        </m:ctrlPr>
                      </m:accPr>
                      <m:e>
                        <m:r>
                          <a:rPr lang="en-GB" sz="1100" b="0" i="1" smtClean="0">
                            <a:effectLst/>
                            <a:latin typeface="Cambria Math" panose="02040503050406030204" pitchFamily="18" charset="0"/>
                            <a:cs typeface="Times New Roman" panose="02020603050405020304" pitchFamily="18" charset="0"/>
                          </a:rPr>
                          <m:t>2</m:t>
                        </m:r>
                      </m:e>
                    </m:acc>
                    <m:r>
                      <a:rPr lang="en-GB" sz="1100" b="0" i="0" smtClean="0">
                        <a:effectLst/>
                        <a:latin typeface="Cambria Math" panose="02040503050406030204" pitchFamily="18" charset="0"/>
                        <a:cs typeface="Times New Roman" panose="02020603050405020304" pitchFamily="18" charset="0"/>
                      </a:rPr>
                      <m:t>                              3</m:t>
                    </m:r>
                    <m:r>
                      <a:rPr lang="en-GB" sz="1100" b="0" i="1" smtClean="0">
                        <a:effectLst/>
                        <a:latin typeface="Cambria Math" panose="02040503050406030204" pitchFamily="18" charset="0"/>
                        <a:cs typeface="Times New Roman" panose="02020603050405020304" pitchFamily="18" charset="0"/>
                      </a:rPr>
                      <m:t>.</m:t>
                    </m:r>
                    <m:acc>
                      <m:accPr>
                        <m:chr m:val="̇"/>
                        <m:ctrlPr>
                          <a:rPr lang="en-US" sz="1100" i="1" smtClean="0">
                            <a:effectLst/>
                            <a:latin typeface="Cambria Math" panose="02040503050406030204" pitchFamily="18" charset="0"/>
                            <a:cs typeface="Times New Roman" panose="02020603050405020304" pitchFamily="18" charset="0"/>
                          </a:rPr>
                        </m:ctrlPr>
                      </m:accPr>
                      <m:e>
                        <m:r>
                          <a:rPr lang="en-GB" sz="1100" b="0" i="1" smtClean="0">
                            <a:effectLst/>
                            <a:latin typeface="Cambria Math" panose="02040503050406030204" pitchFamily="18" charset="0"/>
                            <a:cs typeface="Times New Roman" panose="02020603050405020304" pitchFamily="18" charset="0"/>
                          </a:rPr>
                          <m:t>2</m:t>
                        </m:r>
                      </m:e>
                    </m:acc>
                    <m:r>
                      <a:rPr lang="en-GB" sz="1100" b="0" i="1" smtClean="0">
                        <a:effectLst/>
                        <a:latin typeface="Cambria Math" panose="02040503050406030204" pitchFamily="18" charset="0"/>
                        <a:cs typeface="Times New Roman" panose="02020603050405020304" pitchFamily="18" charset="0"/>
                      </a:rPr>
                      <m:t>746</m:t>
                    </m:r>
                    <m:acc>
                      <m:accPr>
                        <m:chr m:val="̇"/>
                        <m:ctrlPr>
                          <a:rPr lang="en-GB" sz="1100" b="0" i="1" smtClean="0">
                            <a:effectLst/>
                            <a:latin typeface="Cambria Math" panose="02040503050406030204" pitchFamily="18" charset="0"/>
                            <a:cs typeface="Times New Roman" panose="02020603050405020304" pitchFamily="18" charset="0"/>
                          </a:rPr>
                        </m:ctrlPr>
                      </m:accPr>
                      <m:e>
                        <m:r>
                          <a:rPr lang="en-GB" sz="1100" b="0" i="1" smtClean="0">
                            <a:effectLst/>
                            <a:latin typeface="Cambria Math" panose="02040503050406030204" pitchFamily="18" charset="0"/>
                            <a:cs typeface="Times New Roman" panose="02020603050405020304" pitchFamily="18" charset="0"/>
                          </a:rPr>
                          <m:t>4</m:t>
                        </m:r>
                      </m:e>
                    </m:acc>
                  </m:oMath>
                </a14:m>
                <a:r>
                  <a:rPr lang="en-GB" sz="1100">
                    <a:effectLst/>
                    <a:ea typeface="Calibri" panose="020F0502020204030204" pitchFamily="34" charset="0"/>
                    <a:cs typeface="Times New Roman" panose="02020603050405020304" pitchFamily="18" charset="0"/>
                  </a:rPr>
                  <a:t>                 </a:t>
                </a:r>
              </a:p>
            </p:txBody>
          </p:sp>
        </mc:Choice>
        <mc:Fallback xmlns="">
          <p:sp>
            <p:nvSpPr>
              <p:cNvPr id="31" name="TextBox 30">
                <a:extLst>
                  <a:ext uri="{FF2B5EF4-FFF2-40B4-BE49-F238E27FC236}">
                    <a16:creationId xmlns:a16="http://schemas.microsoft.com/office/drawing/2014/main" id="{BB2C783A-FB97-DAE3-588B-B0D5C2223998}"/>
                  </a:ext>
                </a:extLst>
              </p:cNvPr>
              <p:cNvSpPr txBox="1">
                <a:spLocks noRot="1" noChangeAspect="1" noMove="1" noResize="1" noEditPoints="1" noAdjustHandles="1" noChangeArrowheads="1" noChangeShapeType="1" noTextEdit="1"/>
              </p:cNvSpPr>
              <p:nvPr/>
            </p:nvSpPr>
            <p:spPr>
              <a:xfrm>
                <a:off x="47040" y="2178185"/>
                <a:ext cx="3322366" cy="1302601"/>
              </a:xfrm>
              <a:prstGeom prst="rect">
                <a:avLst/>
              </a:prstGeom>
              <a:blipFill>
                <a:blip r:embed="rId5"/>
                <a:stretch>
                  <a:fillRect r="-1284" b="-23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9ED09D5-2216-2445-0994-0AC3584DF2E3}"/>
                  </a:ext>
                </a:extLst>
              </p:cNvPr>
              <p:cNvSpPr txBox="1"/>
              <p:nvPr/>
            </p:nvSpPr>
            <p:spPr>
              <a:xfrm>
                <a:off x="3450136" y="2670073"/>
                <a:ext cx="3230335" cy="823302"/>
              </a:xfrm>
              <a:prstGeom prst="rect">
                <a:avLst/>
              </a:prstGeom>
              <a:noFill/>
            </p:spPr>
            <p:txBody>
              <a:bodyPr wrap="square" rtlCol="0">
                <a:spAutoFit/>
              </a:bodyPr>
              <a:lstStyle/>
              <a:p>
                <a:endParaRPr lang="en-US" sz="1200">
                  <a:solidFill>
                    <a:schemeClr val="tx1"/>
                  </a:solidFill>
                </a:endParaRPr>
              </a:p>
              <a:p>
                <a:endParaRPr lang="en-US" sz="1200"/>
              </a:p>
              <a:p>
                <a:pPr/>
                <a14:m>
                  <m:oMathPara xmlns:m="http://schemas.openxmlformats.org/officeDocument/2006/math">
                    <m:oMathParaPr>
                      <m:jc m:val="centerGroup"/>
                    </m:oMathParaPr>
                    <m:oMath xmlns:m="http://schemas.openxmlformats.org/officeDocument/2006/math">
                      <m:r>
                        <m:rPr>
                          <m:nor/>
                        </m:rPr>
                        <a:rPr lang="en-US" sz="1200" dirty="0"/>
                        <m:t>0,            −2,             4,             12323,            −19</m:t>
                      </m:r>
                    </m:oMath>
                  </m:oMathPara>
                </a14:m>
                <a:endParaRPr lang="en-US" sz="1200"/>
              </a:p>
              <a:p>
                <a:pPr marL="171450" indent="-171450">
                  <a:buFont typeface="Arial" panose="020B0604020202020204" pitchFamily="34" charset="0"/>
                  <a:buChar char="•"/>
                </a:pPr>
                <a:endParaRPr lang="en-US" sz="1200">
                  <a:solidFill>
                    <a:schemeClr val="tx1"/>
                  </a:solidFill>
                </a:endParaRPr>
              </a:p>
            </p:txBody>
          </p:sp>
        </mc:Choice>
        <mc:Fallback xmlns="">
          <p:sp>
            <p:nvSpPr>
              <p:cNvPr id="32" name="TextBox 31">
                <a:extLst>
                  <a:ext uri="{FF2B5EF4-FFF2-40B4-BE49-F238E27FC236}">
                    <a16:creationId xmlns:a16="http://schemas.microsoft.com/office/drawing/2014/main" id="{59ED09D5-2216-2445-0994-0AC3584DF2E3}"/>
                  </a:ext>
                </a:extLst>
              </p:cNvPr>
              <p:cNvSpPr txBox="1">
                <a:spLocks noRot="1" noChangeAspect="1" noMove="1" noResize="1" noEditPoints="1" noAdjustHandles="1" noChangeArrowheads="1" noChangeShapeType="1" noTextEdit="1"/>
              </p:cNvSpPr>
              <p:nvPr/>
            </p:nvSpPr>
            <p:spPr>
              <a:xfrm>
                <a:off x="3450136" y="2670073"/>
                <a:ext cx="3230335" cy="823302"/>
              </a:xfrm>
              <a:prstGeom prst="rect">
                <a:avLst/>
              </a:prstGeom>
              <a:blipFill>
                <a:blip r:embed="rId6"/>
                <a:stretch>
                  <a:fillRect/>
                </a:stretch>
              </a:blipFill>
            </p:spPr>
            <p:txBody>
              <a:bodyPr/>
              <a:lstStyle/>
              <a:p>
                <a:r>
                  <a:rPr lang="en-US">
                    <a:noFill/>
                  </a:rPr>
                  <a:t> </a:t>
                </a:r>
              </a:p>
            </p:txBody>
          </p:sp>
        </mc:Fallback>
      </mc:AlternateContent>
      <p:sp>
        <p:nvSpPr>
          <p:cNvPr id="33" name="Rectangle 32">
            <a:extLst>
              <a:ext uri="{FF2B5EF4-FFF2-40B4-BE49-F238E27FC236}">
                <a16:creationId xmlns:a16="http://schemas.microsoft.com/office/drawing/2014/main" id="{D1C95979-02D5-2C60-3A34-F0C0783C6EC1}"/>
              </a:ext>
            </a:extLst>
          </p:cNvPr>
          <p:cNvSpPr/>
          <p:nvPr/>
        </p:nvSpPr>
        <p:spPr>
          <a:xfrm>
            <a:off x="0" y="53658"/>
            <a:ext cx="6014442"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Ordering decimals</a:t>
            </a:r>
            <a:endParaRPr lang="en-GB" sz="1200" dirty="0">
              <a:solidFill>
                <a:schemeClr val="bg1"/>
              </a:solidFill>
            </a:endParaRPr>
          </a:p>
        </p:txBody>
      </p:sp>
      <p:sp>
        <p:nvSpPr>
          <p:cNvPr id="12" name="TextBox 11">
            <a:extLst>
              <a:ext uri="{FF2B5EF4-FFF2-40B4-BE49-F238E27FC236}">
                <a16:creationId xmlns:a16="http://schemas.microsoft.com/office/drawing/2014/main" id="{14DF3739-D866-A88A-494A-2E670D10F0F3}"/>
              </a:ext>
            </a:extLst>
          </p:cNvPr>
          <p:cNvSpPr txBox="1"/>
          <p:nvPr/>
        </p:nvSpPr>
        <p:spPr>
          <a:xfrm>
            <a:off x="181355" y="3862496"/>
            <a:ext cx="5014318" cy="461665"/>
          </a:xfrm>
          <a:prstGeom prst="rect">
            <a:avLst/>
          </a:prstGeom>
          <a:noFill/>
        </p:spPr>
        <p:txBody>
          <a:bodyPr wrap="square" rtlCol="0">
            <a:spAutoFit/>
          </a:bodyPr>
          <a:lstStyle/>
          <a:p>
            <a:r>
              <a:rPr lang="en-GB" sz="1200" dirty="0"/>
              <a:t>For the following questions, list the numbers in </a:t>
            </a:r>
            <a:r>
              <a:rPr lang="en-GB" sz="1200" b="1" dirty="0"/>
              <a:t>ascending</a:t>
            </a:r>
            <a:r>
              <a:rPr lang="en-GB" sz="1200" dirty="0"/>
              <a:t> order.</a:t>
            </a:r>
          </a:p>
          <a:p>
            <a:endParaRPr lang="en-US" sz="1200" dirty="0"/>
          </a:p>
        </p:txBody>
      </p:sp>
    </p:spTree>
    <p:extLst>
      <p:ext uri="{BB962C8B-B14F-4D97-AF65-F5344CB8AC3E}">
        <p14:creationId xmlns:p14="http://schemas.microsoft.com/office/powerpoint/2010/main" val="794686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a:extLst>
              <a:ext uri="{FF2B5EF4-FFF2-40B4-BE49-F238E27FC236}">
                <a16:creationId xmlns:a16="http://schemas.microsoft.com/office/drawing/2014/main" id="{FA839B12-4270-C4DA-41C3-AB8F9F0C8EC4}"/>
              </a:ext>
            </a:extLst>
          </p:cNvPr>
          <p:cNvSpPr>
            <a:spLocks noGrp="1"/>
          </p:cNvSpPr>
          <p:nvPr>
            <p:ph type="sldNum" sz="quarter" idx="12"/>
          </p:nvPr>
        </p:nvSpPr>
        <p:spPr>
          <a:xfrm>
            <a:off x="5314950" y="9552934"/>
            <a:ext cx="1543050" cy="527403"/>
          </a:xfrm>
        </p:spPr>
        <p:txBody>
          <a:bodyPr/>
          <a:lstStyle/>
          <a:p>
            <a:fld id="{19F1D9CC-7119-45EC-A96C-D8C0660F3AAB}" type="slidenum">
              <a:rPr lang="en-GB" smtClean="0"/>
              <a:t>8</a:t>
            </a:fld>
            <a:endParaRPr lang="en-GB"/>
          </a:p>
        </p:txBody>
      </p:sp>
      <p:graphicFrame>
        <p:nvGraphicFramePr>
          <p:cNvPr id="7" name="Table 6">
            <a:extLst>
              <a:ext uri="{FF2B5EF4-FFF2-40B4-BE49-F238E27FC236}">
                <a16:creationId xmlns:a16="http://schemas.microsoft.com/office/drawing/2014/main" id="{BE10176A-C700-1D59-E89C-644949C1D6C9}"/>
              </a:ext>
            </a:extLst>
          </p:cNvPr>
          <p:cNvGraphicFramePr>
            <a:graphicFrameLocks noGrp="1"/>
          </p:cNvGraphicFramePr>
          <p:nvPr>
            <p:extLst>
              <p:ext uri="{D42A27DB-BD31-4B8C-83A1-F6EECF244321}">
                <p14:modId xmlns:p14="http://schemas.microsoft.com/office/powerpoint/2010/main" val="1678816730"/>
              </p:ext>
            </p:extLst>
          </p:nvPr>
        </p:nvGraphicFramePr>
        <p:xfrm>
          <a:off x="122077" y="353065"/>
          <a:ext cx="6572478" cy="4715499"/>
        </p:xfrm>
        <a:graphic>
          <a:graphicData uri="http://schemas.openxmlformats.org/drawingml/2006/table">
            <a:tbl>
              <a:tblPr firstRow="1" bandRow="1">
                <a:tableStyleId>{5C22544A-7EE6-4342-B048-85BDC9FD1C3A}</a:tableStyleId>
              </a:tblPr>
              <a:tblGrid>
                <a:gridCol w="2887341">
                  <a:extLst>
                    <a:ext uri="{9D8B030D-6E8A-4147-A177-3AD203B41FA5}">
                      <a16:colId xmlns:a16="http://schemas.microsoft.com/office/drawing/2014/main" val="1568142362"/>
                    </a:ext>
                  </a:extLst>
                </a:gridCol>
                <a:gridCol w="3685137">
                  <a:extLst>
                    <a:ext uri="{9D8B030D-6E8A-4147-A177-3AD203B41FA5}">
                      <a16:colId xmlns:a16="http://schemas.microsoft.com/office/drawing/2014/main" val="3993666970"/>
                    </a:ext>
                  </a:extLst>
                </a:gridCol>
              </a:tblGrid>
              <a:tr h="405552">
                <a:tc gridSpan="2">
                  <a:txBody>
                    <a:bodyPr/>
                    <a:lstStyle/>
                    <a:p>
                      <a:pPr algn="ctr"/>
                      <a:endParaRPr lang="en-GB" sz="1200" b="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extLst>
                  <a:ext uri="{0D108BD9-81ED-4DB2-BD59-A6C34878D82A}">
                    <a16:rowId xmlns:a16="http://schemas.microsoft.com/office/drawing/2014/main" val="506582307"/>
                  </a:ext>
                </a:extLst>
              </a:tr>
              <a:tr h="478883">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baseline="0" dirty="0">
                          <a:solidFill>
                            <a:schemeClr val="tx1"/>
                          </a:solidFill>
                          <a:latin typeface="+mn-lt"/>
                        </a:rPr>
                        <a:t>15.</a:t>
                      </a:r>
                      <a:r>
                        <a:rPr lang="en-US" sz="1200" baseline="0" dirty="0">
                          <a:solidFill>
                            <a:schemeClr val="tx1"/>
                          </a:solidFill>
                          <a:latin typeface="+mn-lt"/>
                        </a:rPr>
                        <a:t> </a:t>
                      </a:r>
                      <a:r>
                        <a:rPr lang="en-GB" sz="1200" b="0" dirty="0">
                          <a:solidFill>
                            <a:schemeClr val="tx1"/>
                          </a:solidFill>
                          <a:latin typeface="+mn-lt"/>
                        </a:rPr>
                        <a:t>For the following questions, list the numbers in </a:t>
                      </a:r>
                      <a:r>
                        <a:rPr lang="en-GB" sz="1200" b="1" dirty="0">
                          <a:solidFill>
                            <a:schemeClr val="tx1"/>
                          </a:solidFill>
                          <a:latin typeface="+mn-lt"/>
                        </a:rPr>
                        <a:t>ascending</a:t>
                      </a:r>
                      <a:r>
                        <a:rPr lang="en-GB" sz="1200" b="0" dirty="0">
                          <a:solidFill>
                            <a:schemeClr val="tx1"/>
                          </a:solidFill>
                          <a:latin typeface="+mn-lt"/>
                        </a:rPr>
                        <a:t> order.</a:t>
                      </a:r>
                    </a:p>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9213032"/>
                  </a:ext>
                </a:extLst>
              </a:tr>
              <a:tr h="478883">
                <a:tc>
                  <a:txBody>
                    <a:bodyPr/>
                    <a:lstStyle/>
                    <a:p>
                      <a:r>
                        <a:rPr lang="en-US" sz="1200" baseline="0" dirty="0">
                          <a:solidFill>
                            <a:schemeClr val="tx1"/>
                          </a:solidFill>
                          <a:latin typeface="+mn-lt"/>
                        </a:rPr>
                        <a:t>a) </a:t>
                      </a:r>
                      <a:r>
                        <a:rPr lang="en-GB" sz="1200" dirty="0"/>
                        <a:t>0.93, 0.96, 0.91, 0.99, 0.95</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8186665"/>
                  </a:ext>
                </a:extLst>
              </a:tr>
              <a:tr h="478883">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b) </a:t>
                      </a:r>
                      <a:r>
                        <a:rPr lang="en-GB" sz="1200" dirty="0"/>
                        <a:t>1.47, 1.49, 1.40, 1.43, 1.41</a:t>
                      </a:r>
                      <a:endParaRPr lang="en-US" sz="1200" baseline="0" dirty="0">
                        <a:solidFill>
                          <a:schemeClr val="tx1"/>
                        </a:solidFill>
                        <a:latin typeface="+mn-lt"/>
                      </a:endParaRPr>
                    </a:p>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78883">
                <a:tc>
                  <a:txBody>
                    <a:bodyPr/>
                    <a:lstStyle/>
                    <a:p>
                      <a:pPr algn="just"/>
                      <a:r>
                        <a:rPr lang="en-US" sz="1200" baseline="0" dirty="0">
                          <a:solidFill>
                            <a:schemeClr val="tx1"/>
                          </a:solidFill>
                          <a:latin typeface="+mn-lt"/>
                        </a:rPr>
                        <a:t>c) </a:t>
                      </a:r>
                      <a:r>
                        <a:rPr lang="en-GB" sz="1200" dirty="0"/>
                        <a:t>2.36, 2.38, 2.39, 2.33, 2.37</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2003803"/>
                  </a:ext>
                </a:extLst>
              </a:tr>
              <a:tr h="478883">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d)</a:t>
                      </a:r>
                      <a:r>
                        <a:rPr lang="en-GB" sz="1200" dirty="0"/>
                        <a:t> 0.16, 0.18, 0.12, 0.11, 0.15</a:t>
                      </a: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7732075"/>
                  </a:ext>
                </a:extLst>
              </a:tr>
              <a:tr h="478883">
                <a:tc>
                  <a:txBody>
                    <a:bodyPr/>
                    <a:lstStyle/>
                    <a:p>
                      <a:r>
                        <a:rPr lang="en-US" sz="1200" baseline="0" dirty="0">
                          <a:solidFill>
                            <a:schemeClr val="tx1"/>
                          </a:solidFill>
                          <a:latin typeface="+mn-lt"/>
                        </a:rPr>
                        <a:t>e) </a:t>
                      </a:r>
                      <a:r>
                        <a:rPr lang="en-GB" sz="1200" dirty="0"/>
                        <a:t>3.45, 3.52, 3.41, 3.58, 3.49</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283353"/>
                  </a:ext>
                </a:extLst>
              </a:tr>
              <a:tr h="478883">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f) </a:t>
                      </a:r>
                      <a:r>
                        <a:rPr lang="en-GB" sz="1200" dirty="0"/>
                        <a:t>4.67, 4.82, 4.46, 4.29, 4.65</a:t>
                      </a: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7831125"/>
                  </a:ext>
                </a:extLst>
              </a:tr>
              <a:tr h="478883">
                <a:tc>
                  <a:txBody>
                    <a:bodyPr/>
                    <a:lstStyle/>
                    <a:p>
                      <a:r>
                        <a:rPr lang="en-US" sz="1200" baseline="0" dirty="0">
                          <a:solidFill>
                            <a:schemeClr val="tx1"/>
                          </a:solidFill>
                          <a:latin typeface="+mn-lt"/>
                        </a:rPr>
                        <a:t>g) </a:t>
                      </a:r>
                      <a:r>
                        <a:rPr lang="en-GB" sz="1200" dirty="0"/>
                        <a:t>1.56, 1.78, 1.11, 1.03, 1.43</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838357"/>
                  </a:ext>
                </a:extLst>
              </a:tr>
              <a:tr h="478883">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 h) </a:t>
                      </a:r>
                      <a:r>
                        <a:rPr lang="en-GB" sz="1200" dirty="0"/>
                        <a:t>2.64, 2.03, 2.17, 2.80, 2.54</a:t>
                      </a:r>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2970809"/>
                  </a:ext>
                </a:extLst>
              </a:tr>
            </a:tbl>
          </a:graphicData>
        </a:graphic>
      </p:graphicFrame>
      <p:sp>
        <p:nvSpPr>
          <p:cNvPr id="8" name="Rectangle 7">
            <a:extLst>
              <a:ext uri="{FF2B5EF4-FFF2-40B4-BE49-F238E27FC236}">
                <a16:creationId xmlns:a16="http://schemas.microsoft.com/office/drawing/2014/main" id="{4957A89E-4FD9-0DFC-8DFF-EEE1C6A6B19F}"/>
              </a:ext>
            </a:extLst>
          </p:cNvPr>
          <p:cNvSpPr/>
          <p:nvPr/>
        </p:nvSpPr>
        <p:spPr>
          <a:xfrm>
            <a:off x="122077" y="94514"/>
            <a:ext cx="1524705"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
        <p:nvSpPr>
          <p:cNvPr id="13" name="TextBox 12">
            <a:extLst>
              <a:ext uri="{FF2B5EF4-FFF2-40B4-BE49-F238E27FC236}">
                <a16:creationId xmlns:a16="http://schemas.microsoft.com/office/drawing/2014/main" id="{BFD8DB7E-0A52-BD41-64E6-0A31DCC88095}"/>
              </a:ext>
            </a:extLst>
          </p:cNvPr>
          <p:cNvSpPr txBox="1"/>
          <p:nvPr/>
        </p:nvSpPr>
        <p:spPr>
          <a:xfrm>
            <a:off x="1646782" y="5156888"/>
            <a:ext cx="1410704" cy="276999"/>
          </a:xfrm>
          <a:prstGeom prst="rect">
            <a:avLst/>
          </a:prstGeom>
          <a:noFill/>
          <a:ln>
            <a:noFill/>
          </a:ln>
        </p:spPr>
        <p:txBody>
          <a:bodyPr wrap="square" rtlCol="0">
            <a:spAutoFit/>
          </a:bodyPr>
          <a:lstStyle/>
          <a:p>
            <a:r>
              <a:rPr lang="en-GB" sz="1200" b="1" i="1" dirty="0">
                <a:solidFill>
                  <a:srgbClr val="FF0000"/>
                </a:solidFill>
              </a:rPr>
              <a:t>Example 7 - I do…</a:t>
            </a:r>
          </a:p>
        </p:txBody>
      </p:sp>
      <p:graphicFrame>
        <p:nvGraphicFramePr>
          <p:cNvPr id="36" name="Table 35">
            <a:extLst>
              <a:ext uri="{FF2B5EF4-FFF2-40B4-BE49-F238E27FC236}">
                <a16:creationId xmlns:a16="http://schemas.microsoft.com/office/drawing/2014/main" id="{1D1F945B-D3B0-8E72-5B33-D6F4CA066286}"/>
              </a:ext>
            </a:extLst>
          </p:cNvPr>
          <p:cNvGraphicFramePr>
            <a:graphicFrameLocks noGrp="1"/>
          </p:cNvGraphicFramePr>
          <p:nvPr>
            <p:extLst>
              <p:ext uri="{D42A27DB-BD31-4B8C-83A1-F6EECF244321}">
                <p14:modId xmlns:p14="http://schemas.microsoft.com/office/powerpoint/2010/main" val="1255130035"/>
              </p:ext>
            </p:extLst>
          </p:nvPr>
        </p:nvGraphicFramePr>
        <p:xfrm>
          <a:off x="122077" y="5136207"/>
          <a:ext cx="6523979" cy="4554017"/>
        </p:xfrm>
        <a:graphic>
          <a:graphicData uri="http://schemas.openxmlformats.org/drawingml/2006/table">
            <a:tbl>
              <a:tblPr firstRow="1" bandRow="1">
                <a:tableStyleId>{5C22544A-7EE6-4342-B048-85BDC9FD1C3A}</a:tableStyleId>
              </a:tblPr>
              <a:tblGrid>
                <a:gridCol w="1122710">
                  <a:extLst>
                    <a:ext uri="{9D8B030D-6E8A-4147-A177-3AD203B41FA5}">
                      <a16:colId xmlns:a16="http://schemas.microsoft.com/office/drawing/2014/main" val="1568142362"/>
                    </a:ext>
                  </a:extLst>
                </a:gridCol>
                <a:gridCol w="1800423">
                  <a:extLst>
                    <a:ext uri="{9D8B030D-6E8A-4147-A177-3AD203B41FA5}">
                      <a16:colId xmlns:a16="http://schemas.microsoft.com/office/drawing/2014/main" val="3551711160"/>
                    </a:ext>
                  </a:extLst>
                </a:gridCol>
                <a:gridCol w="1800423">
                  <a:extLst>
                    <a:ext uri="{9D8B030D-6E8A-4147-A177-3AD203B41FA5}">
                      <a16:colId xmlns:a16="http://schemas.microsoft.com/office/drawing/2014/main" val="1712497518"/>
                    </a:ext>
                  </a:extLst>
                </a:gridCol>
                <a:gridCol w="1800423">
                  <a:extLst>
                    <a:ext uri="{9D8B030D-6E8A-4147-A177-3AD203B41FA5}">
                      <a16:colId xmlns:a16="http://schemas.microsoft.com/office/drawing/2014/main" val="886122921"/>
                    </a:ext>
                  </a:extLst>
                </a:gridCol>
              </a:tblGrid>
              <a:tr h="424530">
                <a:tc grid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For the following questions, use this number line to help you place the numbers in ascending order</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771934154"/>
                  </a:ext>
                </a:extLst>
              </a:tr>
              <a:tr h="489726">
                <a:tc>
                  <a:txBody>
                    <a:bodyPr/>
                    <a:lstStyle/>
                    <a:p>
                      <a:endParaRPr lang="en-GB" sz="11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2059395"/>
                  </a:ext>
                </a:extLst>
              </a:tr>
              <a:tr h="456908">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4.12,     4.21,     4.01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4.12,     4.31,     4.14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4.03,     4.31,     4.23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567121">
                <a:tc>
                  <a:txBody>
                    <a:bodyPr/>
                    <a:lstStyle/>
                    <a:p>
                      <a:pPr marL="0" indent="0" algn="ctr">
                        <a:buNone/>
                      </a:pPr>
                      <a:r>
                        <a:rPr lang="en-US" sz="1000" dirty="0">
                          <a:solidFill>
                            <a:schemeClr val="tx1"/>
                          </a:solidFill>
                        </a:rPr>
                        <a:t>Look at the place value of the leftmost digit. Write down the number with the largest place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614408">
                <a:tc>
                  <a:txBody>
                    <a:bodyPr/>
                    <a:lstStyle/>
                    <a:p>
                      <a:pPr algn="ctr"/>
                      <a:r>
                        <a:rPr lang="en-GB" sz="1000" dirty="0">
                          <a:solidFill>
                            <a:schemeClr val="tx1"/>
                          </a:solidFill>
                        </a:rPr>
                        <a:t>If any have the same place value, look at the digit to the right and write down the number with the </a:t>
                      </a:r>
                      <a:r>
                        <a:rPr lang="en-GB" sz="1000" b="1" dirty="0">
                          <a:solidFill>
                            <a:schemeClr val="tx1"/>
                          </a:solidFill>
                        </a:rPr>
                        <a:t>highest</a:t>
                      </a:r>
                      <a:r>
                        <a:rPr lang="en-GB" sz="1000" dirty="0">
                          <a:solidFill>
                            <a:schemeClr val="tx1"/>
                          </a:solidFill>
                        </a:rPr>
                        <a:t> value. Repeat until all numbers have been ordered.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37" name="TextBox 36">
            <a:extLst>
              <a:ext uri="{FF2B5EF4-FFF2-40B4-BE49-F238E27FC236}">
                <a16:creationId xmlns:a16="http://schemas.microsoft.com/office/drawing/2014/main" id="{CB004DE4-2571-A9B2-5E30-4C579F5B665C}"/>
              </a:ext>
            </a:extLst>
          </p:cNvPr>
          <p:cNvSpPr txBox="1"/>
          <p:nvPr/>
        </p:nvSpPr>
        <p:spPr>
          <a:xfrm>
            <a:off x="1520125" y="5829312"/>
            <a:ext cx="1410704" cy="276999"/>
          </a:xfrm>
          <a:prstGeom prst="rect">
            <a:avLst/>
          </a:prstGeom>
          <a:noFill/>
          <a:ln>
            <a:noFill/>
          </a:ln>
        </p:spPr>
        <p:txBody>
          <a:bodyPr wrap="square" rtlCol="0">
            <a:spAutoFit/>
          </a:bodyPr>
          <a:lstStyle/>
          <a:p>
            <a:r>
              <a:rPr lang="en-GB" sz="1200" b="1" i="1" dirty="0">
                <a:solidFill>
                  <a:srgbClr val="FF0000"/>
                </a:solidFill>
              </a:rPr>
              <a:t>Example 10 - I do…</a:t>
            </a:r>
          </a:p>
        </p:txBody>
      </p:sp>
      <p:sp>
        <p:nvSpPr>
          <p:cNvPr id="38" name="TextBox 37">
            <a:extLst>
              <a:ext uri="{FF2B5EF4-FFF2-40B4-BE49-F238E27FC236}">
                <a16:creationId xmlns:a16="http://schemas.microsoft.com/office/drawing/2014/main" id="{73B834BB-4F8F-8262-C120-9D0EC2A2A0FB}"/>
              </a:ext>
            </a:extLst>
          </p:cNvPr>
          <p:cNvSpPr txBox="1"/>
          <p:nvPr/>
        </p:nvSpPr>
        <p:spPr>
          <a:xfrm>
            <a:off x="5002651" y="5829311"/>
            <a:ext cx="1643405" cy="276999"/>
          </a:xfrm>
          <a:prstGeom prst="rect">
            <a:avLst/>
          </a:prstGeom>
          <a:noFill/>
          <a:ln>
            <a:noFill/>
          </a:ln>
        </p:spPr>
        <p:txBody>
          <a:bodyPr wrap="square" rtlCol="0">
            <a:spAutoFit/>
          </a:bodyPr>
          <a:lstStyle/>
          <a:p>
            <a:r>
              <a:rPr lang="en-GB" sz="1200" b="1" i="1" dirty="0">
                <a:solidFill>
                  <a:srgbClr val="00B050"/>
                </a:solidFill>
              </a:rPr>
              <a:t>Example 12 – You do…</a:t>
            </a:r>
          </a:p>
        </p:txBody>
      </p:sp>
      <p:sp>
        <p:nvSpPr>
          <p:cNvPr id="39" name="TextBox 38">
            <a:extLst>
              <a:ext uri="{FF2B5EF4-FFF2-40B4-BE49-F238E27FC236}">
                <a16:creationId xmlns:a16="http://schemas.microsoft.com/office/drawing/2014/main" id="{D753C980-B410-BE0F-B133-233D394359C8}"/>
              </a:ext>
            </a:extLst>
          </p:cNvPr>
          <p:cNvSpPr txBox="1"/>
          <p:nvPr/>
        </p:nvSpPr>
        <p:spPr>
          <a:xfrm>
            <a:off x="3145037" y="5829311"/>
            <a:ext cx="1643405" cy="276999"/>
          </a:xfrm>
          <a:prstGeom prst="rect">
            <a:avLst/>
          </a:prstGeom>
          <a:noFill/>
          <a:ln>
            <a:noFill/>
          </a:ln>
        </p:spPr>
        <p:txBody>
          <a:bodyPr wrap="square" rtlCol="0">
            <a:spAutoFit/>
          </a:bodyPr>
          <a:lstStyle/>
          <a:p>
            <a:r>
              <a:rPr lang="en-GB" sz="1200" b="1" i="1" dirty="0">
                <a:solidFill>
                  <a:schemeClr val="accent2"/>
                </a:solidFill>
              </a:rPr>
              <a:t>Example 11 – We do…</a:t>
            </a:r>
          </a:p>
        </p:txBody>
      </p:sp>
      <p:sp>
        <p:nvSpPr>
          <p:cNvPr id="17" name="TextBox 16">
            <a:extLst>
              <a:ext uri="{FF2B5EF4-FFF2-40B4-BE49-F238E27FC236}">
                <a16:creationId xmlns:a16="http://schemas.microsoft.com/office/drawing/2014/main" id="{7A742CCB-0497-23EA-6598-474DA099C049}"/>
              </a:ext>
            </a:extLst>
          </p:cNvPr>
          <p:cNvSpPr txBox="1"/>
          <p:nvPr/>
        </p:nvSpPr>
        <p:spPr>
          <a:xfrm>
            <a:off x="77840" y="5467257"/>
            <a:ext cx="4463571" cy="461665"/>
          </a:xfrm>
          <a:prstGeom prst="rect">
            <a:avLst/>
          </a:prstGeom>
          <a:noFill/>
        </p:spPr>
        <p:txBody>
          <a:bodyPr wrap="square" rtlCol="0">
            <a:spAutoFit/>
          </a:bodyPr>
          <a:lstStyle/>
          <a:p>
            <a:r>
              <a:rPr lang="en-GB" sz="1200" dirty="0"/>
              <a:t>For the following questions, list the numbers in </a:t>
            </a:r>
            <a:r>
              <a:rPr lang="en-GB" sz="1200" b="1" dirty="0"/>
              <a:t>descending</a:t>
            </a:r>
            <a:r>
              <a:rPr lang="en-GB" sz="1200" dirty="0"/>
              <a:t> order.</a:t>
            </a:r>
          </a:p>
          <a:p>
            <a:endParaRPr lang="en-US" sz="1200" dirty="0"/>
          </a:p>
        </p:txBody>
      </p:sp>
    </p:spTree>
    <p:extLst>
      <p:ext uri="{BB962C8B-B14F-4D97-AF65-F5344CB8AC3E}">
        <p14:creationId xmlns:p14="http://schemas.microsoft.com/office/powerpoint/2010/main" val="808451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a:extLst>
              <a:ext uri="{FF2B5EF4-FFF2-40B4-BE49-F238E27FC236}">
                <a16:creationId xmlns:a16="http://schemas.microsoft.com/office/drawing/2014/main" id="{FA839B12-4270-C4DA-41C3-AB8F9F0C8EC4}"/>
              </a:ext>
            </a:extLst>
          </p:cNvPr>
          <p:cNvSpPr>
            <a:spLocks noGrp="1"/>
          </p:cNvSpPr>
          <p:nvPr>
            <p:ph type="sldNum" sz="quarter" idx="12"/>
          </p:nvPr>
        </p:nvSpPr>
        <p:spPr>
          <a:xfrm>
            <a:off x="5314950" y="9405537"/>
            <a:ext cx="1543050" cy="527403"/>
          </a:xfrm>
        </p:spPr>
        <p:txBody>
          <a:bodyPr/>
          <a:lstStyle/>
          <a:p>
            <a:fld id="{19F1D9CC-7119-45EC-A96C-D8C0660F3AAB}" type="slidenum">
              <a:rPr lang="en-GB" smtClean="0"/>
              <a:t>9</a:t>
            </a:fld>
            <a:endParaRPr lang="en-GB"/>
          </a:p>
        </p:txBody>
      </p:sp>
      <p:graphicFrame>
        <p:nvGraphicFramePr>
          <p:cNvPr id="2" name="Table 1">
            <a:extLst>
              <a:ext uri="{FF2B5EF4-FFF2-40B4-BE49-F238E27FC236}">
                <a16:creationId xmlns:a16="http://schemas.microsoft.com/office/drawing/2014/main" id="{25805629-2405-194A-690C-8352FECA92FA}"/>
              </a:ext>
            </a:extLst>
          </p:cNvPr>
          <p:cNvGraphicFramePr>
            <a:graphicFrameLocks noGrp="1"/>
          </p:cNvGraphicFramePr>
          <p:nvPr>
            <p:extLst>
              <p:ext uri="{D42A27DB-BD31-4B8C-83A1-F6EECF244321}">
                <p14:modId xmlns:p14="http://schemas.microsoft.com/office/powerpoint/2010/main" val="3389733892"/>
              </p:ext>
            </p:extLst>
          </p:nvPr>
        </p:nvGraphicFramePr>
        <p:xfrm>
          <a:off x="142760" y="96243"/>
          <a:ext cx="6572479" cy="4094866"/>
        </p:xfrm>
        <a:graphic>
          <a:graphicData uri="http://schemas.openxmlformats.org/drawingml/2006/table">
            <a:tbl>
              <a:tblPr firstRow="1" bandRow="1">
                <a:tableStyleId>{5C22544A-7EE6-4342-B048-85BDC9FD1C3A}</a:tableStyleId>
              </a:tblPr>
              <a:tblGrid>
                <a:gridCol w="1167424">
                  <a:extLst>
                    <a:ext uri="{9D8B030D-6E8A-4147-A177-3AD203B41FA5}">
                      <a16:colId xmlns:a16="http://schemas.microsoft.com/office/drawing/2014/main" val="1568142362"/>
                    </a:ext>
                  </a:extLst>
                </a:gridCol>
                <a:gridCol w="1801685">
                  <a:extLst>
                    <a:ext uri="{9D8B030D-6E8A-4147-A177-3AD203B41FA5}">
                      <a16:colId xmlns:a16="http://schemas.microsoft.com/office/drawing/2014/main" val="3551711160"/>
                    </a:ext>
                  </a:extLst>
                </a:gridCol>
                <a:gridCol w="1801685">
                  <a:extLst>
                    <a:ext uri="{9D8B030D-6E8A-4147-A177-3AD203B41FA5}">
                      <a16:colId xmlns:a16="http://schemas.microsoft.com/office/drawing/2014/main" val="1712497518"/>
                    </a:ext>
                  </a:extLst>
                </a:gridCol>
                <a:gridCol w="1801685">
                  <a:extLst>
                    <a:ext uri="{9D8B030D-6E8A-4147-A177-3AD203B41FA5}">
                      <a16:colId xmlns:a16="http://schemas.microsoft.com/office/drawing/2014/main" val="886122921"/>
                    </a:ext>
                  </a:extLst>
                </a:gridCol>
              </a:tblGrid>
              <a:tr h="439605">
                <a:tc gridSpan="4">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Arrange the numbers below in </a:t>
                      </a:r>
                      <a:r>
                        <a:rPr lang="en-GB" sz="1200" b="1" dirty="0">
                          <a:solidFill>
                            <a:schemeClr val="tx1"/>
                          </a:solidFill>
                        </a:rPr>
                        <a:t>ascending</a:t>
                      </a:r>
                      <a:r>
                        <a:rPr lang="en-GB" sz="1200" b="0" dirty="0">
                          <a:solidFill>
                            <a:schemeClr val="tx1"/>
                          </a:solidFill>
                        </a:rPr>
                        <a:t> order:</a:t>
                      </a: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837505401"/>
                  </a:ext>
                </a:extLst>
              </a:tr>
              <a:tr h="423426">
                <a:tc>
                  <a:txBody>
                    <a:bodyPr/>
                    <a:lstStyle/>
                    <a:p>
                      <a:endParaRPr lang="en-GB" sz="11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2059395"/>
                  </a:ext>
                </a:extLst>
              </a:tr>
              <a:tr h="423426">
                <a:tc>
                  <a:txBody>
                    <a:bodyPr/>
                    <a:lstStyle/>
                    <a:p>
                      <a:r>
                        <a:rPr lang="en-US" sz="1100" b="1" dirty="0">
                          <a:solidFill>
                            <a:schemeClr val="tx1"/>
                          </a:solidFill>
                        </a:rPr>
                        <a:t>Steps</a:t>
                      </a:r>
                      <a:endParaRPr lang="en-GB"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4.35,     4.31,     4.6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4.7,      4.52,     4.59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4.4,     4.52,     4.51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245370">
                <a:tc>
                  <a:txBody>
                    <a:bodyPr/>
                    <a:lstStyle/>
                    <a:p>
                      <a:pPr marL="0" indent="0" algn="ctr">
                        <a:buNone/>
                      </a:pPr>
                      <a:r>
                        <a:rPr lang="en-US" sz="1000" dirty="0">
                          <a:solidFill>
                            <a:schemeClr val="tx1"/>
                          </a:solidFill>
                        </a:rPr>
                        <a:t>Look at the place value of the leftmost digit. Write down the number with the largest place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563039">
                <a:tc>
                  <a:txBody>
                    <a:bodyPr/>
                    <a:lstStyle/>
                    <a:p>
                      <a:pPr algn="ctr"/>
                      <a:r>
                        <a:rPr lang="en-GB" sz="1000" dirty="0">
                          <a:solidFill>
                            <a:schemeClr val="tx1"/>
                          </a:solidFill>
                        </a:rPr>
                        <a:t>If any have the same place value, look at the digit to the right and write down the number with the </a:t>
                      </a:r>
                      <a:r>
                        <a:rPr lang="en-GB" sz="1000" b="1" dirty="0">
                          <a:solidFill>
                            <a:schemeClr val="tx1"/>
                          </a:solidFill>
                        </a:rPr>
                        <a:t>lowest</a:t>
                      </a:r>
                      <a:r>
                        <a:rPr lang="en-GB" sz="1000" dirty="0">
                          <a:solidFill>
                            <a:schemeClr val="tx1"/>
                          </a:solidFill>
                        </a:rPr>
                        <a:t> value. Repeat until all numbers have been ordered.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3" name="TextBox 2">
            <a:extLst>
              <a:ext uri="{FF2B5EF4-FFF2-40B4-BE49-F238E27FC236}">
                <a16:creationId xmlns:a16="http://schemas.microsoft.com/office/drawing/2014/main" id="{D48E5E3B-4871-334E-7CE1-27A7F4E08642}"/>
              </a:ext>
            </a:extLst>
          </p:cNvPr>
          <p:cNvSpPr txBox="1"/>
          <p:nvPr/>
        </p:nvSpPr>
        <p:spPr>
          <a:xfrm>
            <a:off x="1483988" y="659046"/>
            <a:ext cx="1410704" cy="276999"/>
          </a:xfrm>
          <a:prstGeom prst="rect">
            <a:avLst/>
          </a:prstGeom>
          <a:noFill/>
          <a:ln>
            <a:noFill/>
          </a:ln>
        </p:spPr>
        <p:txBody>
          <a:bodyPr wrap="square" rtlCol="0">
            <a:spAutoFit/>
          </a:bodyPr>
          <a:lstStyle/>
          <a:p>
            <a:r>
              <a:rPr lang="en-GB" sz="1200" b="1" i="1" dirty="0">
                <a:solidFill>
                  <a:srgbClr val="FF0000"/>
                </a:solidFill>
              </a:rPr>
              <a:t>Example 13 - I do…</a:t>
            </a:r>
          </a:p>
        </p:txBody>
      </p:sp>
      <p:sp>
        <p:nvSpPr>
          <p:cNvPr id="4" name="TextBox 3">
            <a:extLst>
              <a:ext uri="{FF2B5EF4-FFF2-40B4-BE49-F238E27FC236}">
                <a16:creationId xmlns:a16="http://schemas.microsoft.com/office/drawing/2014/main" id="{A676E86F-1C1C-5933-C707-803429FF4F4F}"/>
              </a:ext>
            </a:extLst>
          </p:cNvPr>
          <p:cNvSpPr txBox="1"/>
          <p:nvPr/>
        </p:nvSpPr>
        <p:spPr>
          <a:xfrm>
            <a:off x="4992598" y="658320"/>
            <a:ext cx="1643405" cy="276999"/>
          </a:xfrm>
          <a:prstGeom prst="rect">
            <a:avLst/>
          </a:prstGeom>
          <a:noFill/>
          <a:ln>
            <a:noFill/>
          </a:ln>
        </p:spPr>
        <p:txBody>
          <a:bodyPr wrap="square" rtlCol="0">
            <a:spAutoFit/>
          </a:bodyPr>
          <a:lstStyle/>
          <a:p>
            <a:r>
              <a:rPr lang="en-GB" sz="1200" b="1" i="1" dirty="0">
                <a:solidFill>
                  <a:srgbClr val="00B050"/>
                </a:solidFill>
              </a:rPr>
              <a:t>Example 15 – You do…</a:t>
            </a:r>
          </a:p>
        </p:txBody>
      </p:sp>
      <p:sp>
        <p:nvSpPr>
          <p:cNvPr id="5" name="TextBox 4">
            <a:extLst>
              <a:ext uri="{FF2B5EF4-FFF2-40B4-BE49-F238E27FC236}">
                <a16:creationId xmlns:a16="http://schemas.microsoft.com/office/drawing/2014/main" id="{8CE404BA-EB68-7C89-AC26-15B31D687B2F}"/>
              </a:ext>
            </a:extLst>
          </p:cNvPr>
          <p:cNvSpPr txBox="1"/>
          <p:nvPr/>
        </p:nvSpPr>
        <p:spPr>
          <a:xfrm>
            <a:off x="3269957" y="658320"/>
            <a:ext cx="1643405" cy="276999"/>
          </a:xfrm>
          <a:prstGeom prst="rect">
            <a:avLst/>
          </a:prstGeom>
          <a:noFill/>
          <a:ln>
            <a:noFill/>
          </a:ln>
        </p:spPr>
        <p:txBody>
          <a:bodyPr wrap="square" rtlCol="0">
            <a:spAutoFit/>
          </a:bodyPr>
          <a:lstStyle/>
          <a:p>
            <a:r>
              <a:rPr lang="en-GB" sz="1200" b="1" i="1" dirty="0">
                <a:solidFill>
                  <a:schemeClr val="accent2"/>
                </a:solidFill>
              </a:rPr>
              <a:t>Example 14 – We do…</a:t>
            </a:r>
          </a:p>
        </p:txBody>
      </p:sp>
      <p:graphicFrame>
        <p:nvGraphicFramePr>
          <p:cNvPr id="18" name="Table 17">
            <a:extLst>
              <a:ext uri="{FF2B5EF4-FFF2-40B4-BE49-F238E27FC236}">
                <a16:creationId xmlns:a16="http://schemas.microsoft.com/office/drawing/2014/main" id="{D015536A-0E41-00CA-3F29-8FA09E32C1A9}"/>
              </a:ext>
            </a:extLst>
          </p:cNvPr>
          <p:cNvGraphicFramePr>
            <a:graphicFrameLocks noGrp="1"/>
          </p:cNvGraphicFramePr>
          <p:nvPr>
            <p:extLst>
              <p:ext uri="{D42A27DB-BD31-4B8C-83A1-F6EECF244321}">
                <p14:modId xmlns:p14="http://schemas.microsoft.com/office/powerpoint/2010/main" val="4292828887"/>
              </p:ext>
            </p:extLst>
          </p:nvPr>
        </p:nvGraphicFramePr>
        <p:xfrm>
          <a:off x="182378" y="5164958"/>
          <a:ext cx="6493244" cy="4361322"/>
        </p:xfrm>
        <a:graphic>
          <a:graphicData uri="http://schemas.openxmlformats.org/drawingml/2006/table">
            <a:tbl>
              <a:tblPr firstRow="1" bandRow="1">
                <a:tableStyleId>{5C22544A-7EE6-4342-B048-85BDC9FD1C3A}</a:tableStyleId>
              </a:tblPr>
              <a:tblGrid>
                <a:gridCol w="3246622">
                  <a:extLst>
                    <a:ext uri="{9D8B030D-6E8A-4147-A177-3AD203B41FA5}">
                      <a16:colId xmlns:a16="http://schemas.microsoft.com/office/drawing/2014/main" val="1399749649"/>
                    </a:ext>
                  </a:extLst>
                </a:gridCol>
                <a:gridCol w="3246622">
                  <a:extLst>
                    <a:ext uri="{9D8B030D-6E8A-4147-A177-3AD203B41FA5}">
                      <a16:colId xmlns:a16="http://schemas.microsoft.com/office/drawing/2014/main" val="1832731737"/>
                    </a:ext>
                  </a:extLst>
                </a:gridCol>
              </a:tblGrid>
              <a:tr h="623046">
                <a:tc>
                  <a:txBody>
                    <a:bodyPr/>
                    <a:lstStyle/>
                    <a:p>
                      <a:r>
                        <a:rPr lang="en-GB" sz="1200" b="0" dirty="0">
                          <a:solidFill>
                            <a:schemeClr val="tx1"/>
                          </a:solidFill>
                        </a:rPr>
                        <a:t>a) 6.34, 6.45, 6.3, 6.52, 6.28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6641263"/>
                  </a:ext>
                </a:extLst>
              </a:tr>
              <a:tr h="623046">
                <a:tc>
                  <a:txBody>
                    <a:bodyPr/>
                    <a:lstStyle/>
                    <a:p>
                      <a:r>
                        <a:rPr lang="en-GB" sz="1200" dirty="0">
                          <a:solidFill>
                            <a:schemeClr val="tx1"/>
                          </a:solidFill>
                        </a:rPr>
                        <a:t>b) </a:t>
                      </a:r>
                      <a:r>
                        <a:rPr lang="en-GB" sz="1200" dirty="0"/>
                        <a:t>1.23, 1.3, 1.45, 1.09, 1.42</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1583461"/>
                  </a:ext>
                </a:extLst>
              </a:tr>
              <a:tr h="623046">
                <a:tc>
                  <a:txBody>
                    <a:bodyPr/>
                    <a:lstStyle/>
                    <a:p>
                      <a:r>
                        <a:rPr lang="en-GB" sz="1200" dirty="0">
                          <a:solidFill>
                            <a:schemeClr val="tx1"/>
                          </a:solidFill>
                        </a:rPr>
                        <a:t>c) </a:t>
                      </a:r>
                      <a:r>
                        <a:rPr lang="en-GB" sz="1200" dirty="0"/>
                        <a:t>3.6, 3.91, 3.07, 3.55, 3.9</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1617696"/>
                  </a:ext>
                </a:extLst>
              </a:tr>
              <a:tr h="623046">
                <a:tc>
                  <a:txBody>
                    <a:bodyPr/>
                    <a:lstStyle/>
                    <a:p>
                      <a:r>
                        <a:rPr lang="en-GB" sz="1200" dirty="0">
                          <a:solidFill>
                            <a:schemeClr val="tx1"/>
                          </a:solidFill>
                        </a:rPr>
                        <a:t>d) </a:t>
                      </a:r>
                      <a:r>
                        <a:rPr lang="en-GB" sz="1200" dirty="0"/>
                        <a:t>2.91, 2.2, 2.78, 2.01, 2.55</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9365710"/>
                  </a:ext>
                </a:extLst>
              </a:tr>
              <a:tr h="623046">
                <a:tc>
                  <a:txBody>
                    <a:bodyPr/>
                    <a:lstStyle/>
                    <a:p>
                      <a:r>
                        <a:rPr lang="en-GB" sz="1200" dirty="0">
                          <a:solidFill>
                            <a:schemeClr val="tx1"/>
                          </a:solidFill>
                        </a:rPr>
                        <a:t>e)</a:t>
                      </a:r>
                      <a:r>
                        <a:rPr lang="en-GB" sz="1200" dirty="0"/>
                        <a:t> 1.9, 2.04, 2.3, 2.22, 1.98</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1102065"/>
                  </a:ext>
                </a:extLst>
              </a:tr>
              <a:tr h="623046">
                <a:tc>
                  <a:txBody>
                    <a:bodyPr/>
                    <a:lstStyle/>
                    <a:p>
                      <a:r>
                        <a:rPr lang="en-GB" sz="1200" dirty="0">
                          <a:solidFill>
                            <a:schemeClr val="tx1"/>
                          </a:solidFill>
                        </a:rPr>
                        <a:t>f) </a:t>
                      </a:r>
                      <a:r>
                        <a:rPr lang="en-GB" sz="1200" dirty="0"/>
                        <a:t>0.65, 0.5, 0.7, 0.06, 0.49</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82279"/>
                  </a:ext>
                </a:extLst>
              </a:tr>
              <a:tr h="623046">
                <a:tc>
                  <a:txBody>
                    <a:bodyPr/>
                    <a:lstStyle/>
                    <a:p>
                      <a:r>
                        <a:rPr lang="en-GB" sz="1200" dirty="0">
                          <a:solidFill>
                            <a:schemeClr val="tx1"/>
                          </a:solidFill>
                        </a:rPr>
                        <a:t>g) </a:t>
                      </a:r>
                      <a:r>
                        <a:rPr lang="en-GB" sz="1200" dirty="0"/>
                        <a:t>3.99, 3.95, 4.01, 4.03, 3.9</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175931"/>
                  </a:ext>
                </a:extLst>
              </a:tr>
            </a:tbl>
          </a:graphicData>
        </a:graphic>
      </p:graphicFrame>
      <p:sp>
        <p:nvSpPr>
          <p:cNvPr id="19" name="TextBox 18">
            <a:extLst>
              <a:ext uri="{FF2B5EF4-FFF2-40B4-BE49-F238E27FC236}">
                <a16:creationId xmlns:a16="http://schemas.microsoft.com/office/drawing/2014/main" id="{CA59C41F-7059-24D6-9875-0221A78AF24F}"/>
              </a:ext>
            </a:extLst>
          </p:cNvPr>
          <p:cNvSpPr txBox="1"/>
          <p:nvPr/>
        </p:nvSpPr>
        <p:spPr>
          <a:xfrm>
            <a:off x="128760" y="4631731"/>
            <a:ext cx="5669123" cy="276999"/>
          </a:xfrm>
          <a:prstGeom prst="rect">
            <a:avLst/>
          </a:prstGeom>
          <a:noFill/>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17.</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For the following questions, list the numbers in </a:t>
            </a: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ascending</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order.</a:t>
            </a:r>
          </a:p>
        </p:txBody>
      </p:sp>
      <p:sp>
        <p:nvSpPr>
          <p:cNvPr id="20" name="Rectangle 19">
            <a:extLst>
              <a:ext uri="{FF2B5EF4-FFF2-40B4-BE49-F238E27FC236}">
                <a16:creationId xmlns:a16="http://schemas.microsoft.com/office/drawing/2014/main" id="{146D6924-BCD8-A882-E22B-B360AA7C8193}"/>
              </a:ext>
            </a:extLst>
          </p:cNvPr>
          <p:cNvSpPr/>
          <p:nvPr/>
        </p:nvSpPr>
        <p:spPr>
          <a:xfrm>
            <a:off x="70885" y="4305276"/>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645148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206913" y="9485594"/>
            <a:ext cx="1543050" cy="527403"/>
          </a:xfrm>
        </p:spPr>
        <p:txBody>
          <a:bodyPr/>
          <a:lstStyle/>
          <a:p>
            <a:fld id="{19F1D9CC-7119-45EC-A96C-D8C0660F3AAB}" type="slidenum">
              <a:rPr lang="en-GB" smtClean="0"/>
              <a:t>10</a:t>
            </a:fld>
            <a:endParaRPr lang="en-GB" dirty="0"/>
          </a:p>
        </p:txBody>
      </p:sp>
      <p:graphicFrame>
        <p:nvGraphicFramePr>
          <p:cNvPr id="10" name="Table 9">
            <a:extLst>
              <a:ext uri="{FF2B5EF4-FFF2-40B4-BE49-F238E27FC236}">
                <a16:creationId xmlns:a16="http://schemas.microsoft.com/office/drawing/2014/main" id="{0C290E95-F9FD-2952-6CC0-BE7B535A2699}"/>
              </a:ext>
            </a:extLst>
          </p:cNvPr>
          <p:cNvGraphicFramePr>
            <a:graphicFrameLocks noGrp="1"/>
          </p:cNvGraphicFramePr>
          <p:nvPr>
            <p:extLst>
              <p:ext uri="{D42A27DB-BD31-4B8C-83A1-F6EECF244321}">
                <p14:modId xmlns:p14="http://schemas.microsoft.com/office/powerpoint/2010/main" val="39806212"/>
              </p:ext>
            </p:extLst>
          </p:nvPr>
        </p:nvGraphicFramePr>
        <p:xfrm>
          <a:off x="142760" y="106675"/>
          <a:ext cx="6572479" cy="4292134"/>
        </p:xfrm>
        <a:graphic>
          <a:graphicData uri="http://schemas.openxmlformats.org/drawingml/2006/table">
            <a:tbl>
              <a:tblPr firstRow="1" bandRow="1">
                <a:tableStyleId>{5C22544A-7EE6-4342-B048-85BDC9FD1C3A}</a:tableStyleId>
              </a:tblPr>
              <a:tblGrid>
                <a:gridCol w="1061047">
                  <a:extLst>
                    <a:ext uri="{9D8B030D-6E8A-4147-A177-3AD203B41FA5}">
                      <a16:colId xmlns:a16="http://schemas.microsoft.com/office/drawing/2014/main" val="1568142362"/>
                    </a:ext>
                  </a:extLst>
                </a:gridCol>
                <a:gridCol w="1837144">
                  <a:extLst>
                    <a:ext uri="{9D8B030D-6E8A-4147-A177-3AD203B41FA5}">
                      <a16:colId xmlns:a16="http://schemas.microsoft.com/office/drawing/2014/main" val="3551711160"/>
                    </a:ext>
                  </a:extLst>
                </a:gridCol>
                <a:gridCol w="1837144">
                  <a:extLst>
                    <a:ext uri="{9D8B030D-6E8A-4147-A177-3AD203B41FA5}">
                      <a16:colId xmlns:a16="http://schemas.microsoft.com/office/drawing/2014/main" val="1712497518"/>
                    </a:ext>
                  </a:extLst>
                </a:gridCol>
                <a:gridCol w="1837144">
                  <a:extLst>
                    <a:ext uri="{9D8B030D-6E8A-4147-A177-3AD203B41FA5}">
                      <a16:colId xmlns:a16="http://schemas.microsoft.com/office/drawing/2014/main" val="886122921"/>
                    </a:ext>
                  </a:extLst>
                </a:gridCol>
              </a:tblGrid>
              <a:tr h="558891">
                <a:tc gridSpan="4">
                  <a:txBody>
                    <a:bodyPr/>
                    <a:lstStyle/>
                    <a:p>
                      <a:pPr algn="l"/>
                      <a:r>
                        <a:rPr lang="en-GB" sz="1200" b="0" dirty="0">
                          <a:solidFill>
                            <a:schemeClr val="tx1"/>
                          </a:solidFill>
                        </a:rPr>
                        <a:t>For the following questions, list the numbers in </a:t>
                      </a:r>
                      <a:r>
                        <a:rPr lang="en-GB" sz="1200" b="1" dirty="0">
                          <a:solidFill>
                            <a:schemeClr val="tx1"/>
                          </a:solidFill>
                        </a:rPr>
                        <a:t>descending</a:t>
                      </a:r>
                      <a:r>
                        <a:rPr lang="en-GB" sz="1200" b="0" dirty="0">
                          <a:solidFill>
                            <a:schemeClr val="tx1"/>
                          </a:solidFill>
                        </a:rPr>
                        <a:t> order.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6582307"/>
                  </a:ext>
                </a:extLst>
              </a:tr>
              <a:tr h="482747">
                <a:tc>
                  <a:txBody>
                    <a:bodyPr/>
                    <a:lstStyle/>
                    <a:p>
                      <a:r>
                        <a:rPr lang="en-US" sz="1100" b="1" dirty="0">
                          <a:solidFill>
                            <a:schemeClr val="tx1"/>
                          </a:solidFill>
                        </a:rPr>
                        <a:t>Steps</a:t>
                      </a:r>
                      <a:endParaRPr lang="en-GB"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i="0" kern="1200" dirty="0">
                          <a:solidFill>
                            <a:schemeClr val="dk1"/>
                          </a:solidFill>
                          <a:effectLst/>
                          <a:latin typeface="+mn-lt"/>
                          <a:ea typeface="+mn-ea"/>
                          <a:cs typeface="+mn-cs"/>
                        </a:rPr>
                        <a:t>6.4, 6.72, 6.31, 7.5, 7</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6.42, 6.87, 6, 7.1, 7.65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8, 7.4, 6.35, 7.35, 6.2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383875">
                <a:tc>
                  <a:txBody>
                    <a:bodyPr/>
                    <a:lstStyle/>
                    <a:p>
                      <a:pPr marL="0" indent="0" algn="ctr">
                        <a:buNone/>
                      </a:pPr>
                      <a:r>
                        <a:rPr lang="en-US" sz="1000" dirty="0">
                          <a:solidFill>
                            <a:schemeClr val="tx1"/>
                          </a:solidFill>
                        </a:rPr>
                        <a:t>Look at the place value of the leftmost digit. Write down the number with the largest place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866621">
                <a:tc>
                  <a:txBody>
                    <a:bodyPr/>
                    <a:lstStyle/>
                    <a:p>
                      <a:pPr algn="ctr"/>
                      <a:r>
                        <a:rPr lang="en-GB" sz="1000" dirty="0">
                          <a:solidFill>
                            <a:schemeClr val="tx1"/>
                          </a:solidFill>
                        </a:rPr>
                        <a:t>If any have the same place value, look at the digit to the right and write down the number with the </a:t>
                      </a:r>
                      <a:r>
                        <a:rPr lang="en-GB" sz="1000" b="1" dirty="0">
                          <a:solidFill>
                            <a:schemeClr val="tx1"/>
                          </a:solidFill>
                        </a:rPr>
                        <a:t>largest</a:t>
                      </a:r>
                      <a:r>
                        <a:rPr lang="en-GB" sz="1000" dirty="0">
                          <a:solidFill>
                            <a:schemeClr val="tx1"/>
                          </a:solidFill>
                        </a:rPr>
                        <a:t> value. Repeat until all numbers have been ordered.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11" name="TextBox 10">
            <a:extLst>
              <a:ext uri="{FF2B5EF4-FFF2-40B4-BE49-F238E27FC236}">
                <a16:creationId xmlns:a16="http://schemas.microsoft.com/office/drawing/2014/main" id="{9BB53A00-3C93-A4EF-83BB-8F1BC0D092E0}"/>
              </a:ext>
            </a:extLst>
          </p:cNvPr>
          <p:cNvSpPr txBox="1"/>
          <p:nvPr/>
        </p:nvSpPr>
        <p:spPr>
          <a:xfrm>
            <a:off x="1375064" y="452637"/>
            <a:ext cx="1410704" cy="276999"/>
          </a:xfrm>
          <a:prstGeom prst="rect">
            <a:avLst/>
          </a:prstGeom>
          <a:noFill/>
          <a:ln>
            <a:noFill/>
          </a:ln>
        </p:spPr>
        <p:txBody>
          <a:bodyPr wrap="square" rtlCol="0">
            <a:spAutoFit/>
          </a:bodyPr>
          <a:lstStyle/>
          <a:p>
            <a:r>
              <a:rPr lang="en-GB" sz="1200" b="1" i="1" dirty="0">
                <a:solidFill>
                  <a:srgbClr val="FF0000"/>
                </a:solidFill>
              </a:rPr>
              <a:t>Example 16 - I do…</a:t>
            </a:r>
          </a:p>
        </p:txBody>
      </p:sp>
      <p:sp>
        <p:nvSpPr>
          <p:cNvPr id="15" name="TextBox 14">
            <a:extLst>
              <a:ext uri="{FF2B5EF4-FFF2-40B4-BE49-F238E27FC236}">
                <a16:creationId xmlns:a16="http://schemas.microsoft.com/office/drawing/2014/main" id="{68BA388E-B56C-CBF0-34FC-7B399875D150}"/>
              </a:ext>
            </a:extLst>
          </p:cNvPr>
          <p:cNvSpPr txBox="1"/>
          <p:nvPr/>
        </p:nvSpPr>
        <p:spPr>
          <a:xfrm>
            <a:off x="5039181" y="410890"/>
            <a:ext cx="1643405" cy="276999"/>
          </a:xfrm>
          <a:prstGeom prst="rect">
            <a:avLst/>
          </a:prstGeom>
          <a:noFill/>
          <a:ln>
            <a:noFill/>
          </a:ln>
        </p:spPr>
        <p:txBody>
          <a:bodyPr wrap="square" rtlCol="0">
            <a:spAutoFit/>
          </a:bodyPr>
          <a:lstStyle/>
          <a:p>
            <a:r>
              <a:rPr lang="en-GB" sz="1200" b="1" i="1" dirty="0">
                <a:solidFill>
                  <a:srgbClr val="00B050"/>
                </a:solidFill>
              </a:rPr>
              <a:t>Example 18 – You do…</a:t>
            </a:r>
          </a:p>
        </p:txBody>
      </p:sp>
      <p:sp>
        <p:nvSpPr>
          <p:cNvPr id="16" name="TextBox 15">
            <a:extLst>
              <a:ext uri="{FF2B5EF4-FFF2-40B4-BE49-F238E27FC236}">
                <a16:creationId xmlns:a16="http://schemas.microsoft.com/office/drawing/2014/main" id="{617064A6-4D3F-FC6D-8F27-5BE6AE4C20AC}"/>
              </a:ext>
            </a:extLst>
          </p:cNvPr>
          <p:cNvSpPr txBox="1"/>
          <p:nvPr/>
        </p:nvSpPr>
        <p:spPr>
          <a:xfrm>
            <a:off x="3217877" y="410891"/>
            <a:ext cx="1643405" cy="276999"/>
          </a:xfrm>
          <a:prstGeom prst="rect">
            <a:avLst/>
          </a:prstGeom>
          <a:noFill/>
          <a:ln>
            <a:noFill/>
          </a:ln>
        </p:spPr>
        <p:txBody>
          <a:bodyPr wrap="square" rtlCol="0">
            <a:spAutoFit/>
          </a:bodyPr>
          <a:lstStyle/>
          <a:p>
            <a:r>
              <a:rPr lang="en-GB" sz="1200" b="1" i="1" dirty="0">
                <a:solidFill>
                  <a:schemeClr val="accent2"/>
                </a:solidFill>
              </a:rPr>
              <a:t>Example 17 – We do…</a:t>
            </a:r>
          </a:p>
        </p:txBody>
      </p:sp>
      <p:graphicFrame>
        <p:nvGraphicFramePr>
          <p:cNvPr id="14" name="Table 13">
            <a:extLst>
              <a:ext uri="{FF2B5EF4-FFF2-40B4-BE49-F238E27FC236}">
                <a16:creationId xmlns:a16="http://schemas.microsoft.com/office/drawing/2014/main" id="{7EA89A18-BB61-B291-95BA-B1841053A564}"/>
              </a:ext>
            </a:extLst>
          </p:cNvPr>
          <p:cNvGraphicFramePr>
            <a:graphicFrameLocks noGrp="1"/>
          </p:cNvGraphicFramePr>
          <p:nvPr>
            <p:extLst>
              <p:ext uri="{D42A27DB-BD31-4B8C-83A1-F6EECF244321}">
                <p14:modId xmlns:p14="http://schemas.microsoft.com/office/powerpoint/2010/main" val="2602188273"/>
              </p:ext>
            </p:extLst>
          </p:nvPr>
        </p:nvGraphicFramePr>
        <p:xfrm>
          <a:off x="221995" y="5438003"/>
          <a:ext cx="6493244" cy="1869138"/>
        </p:xfrm>
        <a:graphic>
          <a:graphicData uri="http://schemas.openxmlformats.org/drawingml/2006/table">
            <a:tbl>
              <a:tblPr firstRow="1" bandRow="1">
                <a:tableStyleId>{5C22544A-7EE6-4342-B048-85BDC9FD1C3A}</a:tableStyleId>
              </a:tblPr>
              <a:tblGrid>
                <a:gridCol w="3246622">
                  <a:extLst>
                    <a:ext uri="{9D8B030D-6E8A-4147-A177-3AD203B41FA5}">
                      <a16:colId xmlns:a16="http://schemas.microsoft.com/office/drawing/2014/main" val="1399749649"/>
                    </a:ext>
                  </a:extLst>
                </a:gridCol>
                <a:gridCol w="3246622">
                  <a:extLst>
                    <a:ext uri="{9D8B030D-6E8A-4147-A177-3AD203B41FA5}">
                      <a16:colId xmlns:a16="http://schemas.microsoft.com/office/drawing/2014/main" val="1832731737"/>
                    </a:ext>
                  </a:extLst>
                </a:gridCol>
              </a:tblGrid>
              <a:tr h="623046">
                <a:tc>
                  <a:txBody>
                    <a:bodyPr/>
                    <a:lstStyle/>
                    <a:p>
                      <a:r>
                        <a:rPr lang="en-GB" sz="1200" b="0" dirty="0">
                          <a:solidFill>
                            <a:schemeClr val="tx1"/>
                          </a:solidFill>
                        </a:rPr>
                        <a:t>a) </a:t>
                      </a:r>
                      <a:r>
                        <a:rPr lang="en-GB" sz="1200" dirty="0">
                          <a:solidFill>
                            <a:schemeClr val="tx1"/>
                          </a:solidFill>
                        </a:rPr>
                        <a:t>3.99, 3.95, 4.01, 4.03, 3.9</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6641263"/>
                  </a:ext>
                </a:extLst>
              </a:tr>
              <a:tr h="623046">
                <a:tc>
                  <a:txBody>
                    <a:bodyPr/>
                    <a:lstStyle/>
                    <a:p>
                      <a:r>
                        <a:rPr lang="en-GB" sz="1200" dirty="0">
                          <a:solidFill>
                            <a:schemeClr val="tx1"/>
                          </a:solidFill>
                        </a:rPr>
                        <a:t>b) </a:t>
                      </a:r>
                      <a:r>
                        <a:rPr lang="en-GB" sz="1200" dirty="0"/>
                        <a:t>0.78, 0.68, 0.79, 0.77, 0.7</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1583461"/>
                  </a:ext>
                </a:extLst>
              </a:tr>
              <a:tr h="623046">
                <a:tc>
                  <a:txBody>
                    <a:bodyPr/>
                    <a:lstStyle/>
                    <a:p>
                      <a:r>
                        <a:rPr lang="en-GB" sz="1200" dirty="0">
                          <a:solidFill>
                            <a:schemeClr val="tx1"/>
                          </a:solidFill>
                        </a:rPr>
                        <a:t>c) </a:t>
                      </a:r>
                      <a:r>
                        <a:rPr lang="en-GB" sz="1200" dirty="0"/>
                        <a:t>2.65, 2.69, 2.6, 2.72, 2.62</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1617696"/>
                  </a:ext>
                </a:extLst>
              </a:tr>
            </a:tbl>
          </a:graphicData>
        </a:graphic>
      </p:graphicFrame>
      <p:sp>
        <p:nvSpPr>
          <p:cNvPr id="17" name="TextBox 16">
            <a:extLst>
              <a:ext uri="{FF2B5EF4-FFF2-40B4-BE49-F238E27FC236}">
                <a16:creationId xmlns:a16="http://schemas.microsoft.com/office/drawing/2014/main" id="{F49CF5DA-D846-9267-A40E-BC3DE0B46D78}"/>
              </a:ext>
            </a:extLst>
          </p:cNvPr>
          <p:cNvSpPr txBox="1"/>
          <p:nvPr/>
        </p:nvSpPr>
        <p:spPr>
          <a:xfrm>
            <a:off x="168377" y="4904776"/>
            <a:ext cx="5669123" cy="276999"/>
          </a:xfrm>
          <a:prstGeom prst="rect">
            <a:avLst/>
          </a:prstGeom>
          <a:noFill/>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solidFill>
                  <a:prstClr val="black"/>
                </a:solidFill>
                <a:latin typeface="Calibri" panose="020F0502020204030204"/>
              </a:rPr>
              <a:t>18</a:t>
            </a: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For the following questions, list the numbers in </a:t>
            </a:r>
            <a:r>
              <a:rPr lang="en-GB" sz="1200" b="1" dirty="0">
                <a:solidFill>
                  <a:prstClr val="black"/>
                </a:solidFill>
                <a:latin typeface="Calibri" panose="020F0502020204030204"/>
              </a:rPr>
              <a:t>de</a:t>
            </a: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scending</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order.</a:t>
            </a:r>
          </a:p>
        </p:txBody>
      </p:sp>
      <p:sp>
        <p:nvSpPr>
          <p:cNvPr id="18" name="Rectangle 17">
            <a:extLst>
              <a:ext uri="{FF2B5EF4-FFF2-40B4-BE49-F238E27FC236}">
                <a16:creationId xmlns:a16="http://schemas.microsoft.com/office/drawing/2014/main" id="{98E4D7A7-537D-3270-D2DE-678B53B1068F}"/>
              </a:ext>
            </a:extLst>
          </p:cNvPr>
          <p:cNvSpPr/>
          <p:nvPr/>
        </p:nvSpPr>
        <p:spPr>
          <a:xfrm>
            <a:off x="110502" y="4578321"/>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graphicFrame>
        <p:nvGraphicFramePr>
          <p:cNvPr id="26" name="Table 25">
            <a:extLst>
              <a:ext uri="{FF2B5EF4-FFF2-40B4-BE49-F238E27FC236}">
                <a16:creationId xmlns:a16="http://schemas.microsoft.com/office/drawing/2014/main" id="{700D6673-BCE6-6186-6C0F-D6C99903AFDB}"/>
              </a:ext>
            </a:extLst>
          </p:cNvPr>
          <p:cNvGraphicFramePr>
            <a:graphicFrameLocks noGrp="1"/>
          </p:cNvGraphicFramePr>
          <p:nvPr>
            <p:extLst>
              <p:ext uri="{D42A27DB-BD31-4B8C-83A1-F6EECF244321}">
                <p14:modId xmlns:p14="http://schemas.microsoft.com/office/powerpoint/2010/main" val="3169435070"/>
              </p:ext>
            </p:extLst>
          </p:nvPr>
        </p:nvGraphicFramePr>
        <p:xfrm>
          <a:off x="174639" y="7668601"/>
          <a:ext cx="6575324" cy="1645920"/>
        </p:xfrm>
        <a:graphic>
          <a:graphicData uri="http://schemas.openxmlformats.org/drawingml/2006/table">
            <a:tbl>
              <a:tblPr firstRow="1" bandRow="1">
                <a:tableStyleId>{5C22544A-7EE6-4342-B048-85BDC9FD1C3A}</a:tableStyleId>
              </a:tblPr>
              <a:tblGrid>
                <a:gridCol w="3287662">
                  <a:extLst>
                    <a:ext uri="{9D8B030D-6E8A-4147-A177-3AD203B41FA5}">
                      <a16:colId xmlns:a16="http://schemas.microsoft.com/office/drawing/2014/main" val="1399749649"/>
                    </a:ext>
                  </a:extLst>
                </a:gridCol>
                <a:gridCol w="3287662">
                  <a:extLst>
                    <a:ext uri="{9D8B030D-6E8A-4147-A177-3AD203B41FA5}">
                      <a16:colId xmlns:a16="http://schemas.microsoft.com/office/drawing/2014/main" val="1832731737"/>
                    </a:ext>
                  </a:extLst>
                </a:gridCol>
              </a:tblGrid>
              <a:tr h="791050">
                <a:tc>
                  <a:txBody>
                    <a:bodyPr/>
                    <a:lstStyle/>
                    <a:p>
                      <a:r>
                        <a:rPr lang="en-GB" sz="1200" b="0" dirty="0">
                          <a:solidFill>
                            <a:schemeClr val="tx1"/>
                          </a:solidFill>
                        </a:rPr>
                        <a:t>a) Jadin weighs 96.5 pounds, Aaron weighs 89.09 pounds and </a:t>
                      </a:r>
                      <a:r>
                        <a:rPr lang="en-GB" sz="1200" b="0" dirty="0" err="1">
                          <a:solidFill>
                            <a:schemeClr val="tx1"/>
                          </a:solidFill>
                        </a:rPr>
                        <a:t>Kavonia</a:t>
                      </a:r>
                      <a:r>
                        <a:rPr lang="en-GB" sz="1200" b="0" dirty="0">
                          <a:solidFill>
                            <a:schemeClr val="tx1"/>
                          </a:solidFill>
                        </a:rPr>
                        <a:t> weighs 90.06 pounds. Order the students using their weights from heaviest to lightest.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6641263"/>
                  </a:ext>
                </a:extLst>
              </a:tr>
              <a:tr h="791050">
                <a:tc>
                  <a:txBody>
                    <a:bodyPr/>
                    <a:lstStyle/>
                    <a:p>
                      <a:r>
                        <a:rPr lang="en-GB" sz="1200" dirty="0">
                          <a:solidFill>
                            <a:schemeClr val="tx1"/>
                          </a:solidFill>
                        </a:rPr>
                        <a:t>b) Drew, Serenity and </a:t>
                      </a:r>
                      <a:r>
                        <a:rPr lang="en-GB" sz="1200" dirty="0" err="1">
                          <a:solidFill>
                            <a:schemeClr val="tx1"/>
                          </a:solidFill>
                        </a:rPr>
                        <a:t>Shimya</a:t>
                      </a:r>
                      <a:r>
                        <a:rPr lang="en-GB" sz="1200" dirty="0">
                          <a:solidFill>
                            <a:schemeClr val="tx1"/>
                          </a:solidFill>
                        </a:rPr>
                        <a:t> each save a portion of their £20 pocket money each week. Serenity saves 0.9,  </a:t>
                      </a:r>
                      <a:r>
                        <a:rPr lang="en-GB" sz="1200" dirty="0" err="1">
                          <a:solidFill>
                            <a:schemeClr val="tx1"/>
                          </a:solidFill>
                        </a:rPr>
                        <a:t>Shimya</a:t>
                      </a:r>
                      <a:r>
                        <a:rPr lang="en-GB" sz="1200" dirty="0">
                          <a:solidFill>
                            <a:schemeClr val="tx1"/>
                          </a:solidFill>
                        </a:rPr>
                        <a:t> saves 0.75, and Drew saves 0.8  of pocket money. Circle the correct statement.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1583461"/>
                  </a:ext>
                </a:extLst>
              </a:tr>
            </a:tbl>
          </a:graphicData>
        </a:graphic>
      </p:graphicFrame>
      <p:sp>
        <p:nvSpPr>
          <p:cNvPr id="27" name="TextBox 26">
            <a:extLst>
              <a:ext uri="{FF2B5EF4-FFF2-40B4-BE49-F238E27FC236}">
                <a16:creationId xmlns:a16="http://schemas.microsoft.com/office/drawing/2014/main" id="{BA846817-7BBB-114D-0B1B-930253E95DC3}"/>
              </a:ext>
            </a:extLst>
          </p:cNvPr>
          <p:cNvSpPr txBox="1"/>
          <p:nvPr/>
        </p:nvSpPr>
        <p:spPr>
          <a:xfrm>
            <a:off x="214256" y="7391602"/>
            <a:ext cx="5669123" cy="276999"/>
          </a:xfrm>
          <a:prstGeom prst="rect">
            <a:avLst/>
          </a:prstGeom>
          <a:noFill/>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19.</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8" name="Picture 27">
            <a:extLst>
              <a:ext uri="{FF2B5EF4-FFF2-40B4-BE49-F238E27FC236}">
                <a16:creationId xmlns:a16="http://schemas.microsoft.com/office/drawing/2014/main" id="{4742C4B6-CB19-CB15-B399-BB8CBD9B42E0}"/>
              </a:ext>
            </a:extLst>
          </p:cNvPr>
          <p:cNvPicPr>
            <a:picLocks noChangeAspect="1"/>
          </p:cNvPicPr>
          <p:nvPr/>
        </p:nvPicPr>
        <p:blipFill>
          <a:blip r:embed="rId3"/>
          <a:stretch>
            <a:fillRect/>
          </a:stretch>
        </p:blipFill>
        <p:spPr>
          <a:xfrm>
            <a:off x="3505863" y="8528795"/>
            <a:ext cx="2890700" cy="738051"/>
          </a:xfrm>
          <a:prstGeom prst="rect">
            <a:avLst/>
          </a:prstGeom>
        </p:spPr>
      </p:pic>
    </p:spTree>
    <p:extLst>
      <p:ext uri="{BB962C8B-B14F-4D97-AF65-F5344CB8AC3E}">
        <p14:creationId xmlns:p14="http://schemas.microsoft.com/office/powerpoint/2010/main" val="871156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6761B85-5108-7321-0AB8-98A472253EAD}"/>
              </a:ext>
            </a:extLst>
          </p:cNvPr>
          <p:cNvGraphicFramePr>
            <a:graphicFrameLocks noGrp="1"/>
          </p:cNvGraphicFramePr>
          <p:nvPr>
            <p:extLst>
              <p:ext uri="{D42A27DB-BD31-4B8C-83A1-F6EECF244321}">
                <p14:modId xmlns:p14="http://schemas.microsoft.com/office/powerpoint/2010/main" val="3381640872"/>
              </p:ext>
            </p:extLst>
          </p:nvPr>
        </p:nvGraphicFramePr>
        <p:xfrm>
          <a:off x="164101" y="114391"/>
          <a:ext cx="6572478" cy="8004806"/>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1568142362"/>
                    </a:ext>
                  </a:extLst>
                </a:gridCol>
                <a:gridCol w="3286239">
                  <a:extLst>
                    <a:ext uri="{9D8B030D-6E8A-4147-A177-3AD203B41FA5}">
                      <a16:colId xmlns:a16="http://schemas.microsoft.com/office/drawing/2014/main" val="3993666970"/>
                    </a:ext>
                  </a:extLst>
                </a:gridCol>
              </a:tblGrid>
              <a:tr h="534278">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20. </a:t>
                      </a:r>
                      <a:r>
                        <a:rPr lang="en-GB" sz="1200" b="0" dirty="0">
                          <a:solidFill>
                            <a:schemeClr val="tx1"/>
                          </a:solidFill>
                          <a:latin typeface="+mn-lt"/>
                        </a:rPr>
                        <a:t>For the following questions, arrange the temperatures from highest to lowest.</a:t>
                      </a:r>
                    </a:p>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9213032"/>
                  </a:ext>
                </a:extLst>
              </a:tr>
              <a:tr h="492556">
                <a:tc>
                  <a:txBody>
                    <a:bodyPr/>
                    <a:lstStyle/>
                    <a:p>
                      <a:r>
                        <a:rPr lang="en-US" sz="1200" baseline="0" dirty="0">
                          <a:solidFill>
                            <a:schemeClr val="tx1"/>
                          </a:solidFill>
                          <a:latin typeface="+mn-lt"/>
                        </a:rPr>
                        <a:t>a) </a:t>
                      </a:r>
                      <a:r>
                        <a:rPr lang="en-GB" sz="1200" dirty="0"/>
                        <a:t>11 °C, 10.8°C, 12.3 °C, 15 °C, 12.7 °C</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aseline="0" dirty="0">
                          <a:solidFill>
                            <a:schemeClr val="tx1"/>
                          </a:solidFill>
                          <a:latin typeface="+mn-lt"/>
                        </a:rPr>
                        <a:t>b)</a:t>
                      </a:r>
                      <a:r>
                        <a:rPr lang="en-GB" sz="1200" dirty="0"/>
                        <a:t> 8.5 °C, 0.7 °C, 3 °C, 0.9 °C, 6 °C, 1.3 °C, 5.1°C</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8128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8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20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2003803"/>
                  </a:ext>
                </a:extLst>
              </a:tr>
              <a:tr h="390643">
                <a:tc gridSpan="2">
                  <a:txBody>
                    <a:bodyPr/>
                    <a:lstStyle/>
                    <a:p>
                      <a:pPr marL="0" marR="0" lvl="0" indent="0" algn="l" rtl="0" eaLnBrk="1" fontAlgn="auto" latinLnBrk="0" hangingPunct="1">
                        <a:lnSpc>
                          <a:spcPct val="100000"/>
                        </a:lnSpc>
                        <a:spcBef>
                          <a:spcPts val="0"/>
                        </a:spcBef>
                        <a:spcAft>
                          <a:spcPts val="0"/>
                        </a:spcAft>
                        <a:buClrTx/>
                        <a:buSzTx/>
                        <a:buFontTx/>
                        <a:buNone/>
                      </a:pPr>
                      <a:r>
                        <a:rPr lang="en-US" sz="1200" b="1" baseline="0" dirty="0">
                          <a:solidFill>
                            <a:schemeClr val="tx1"/>
                          </a:solidFill>
                          <a:latin typeface="+mn-lt"/>
                        </a:rPr>
                        <a:t>21.</a:t>
                      </a:r>
                      <a:r>
                        <a:rPr lang="en-US" sz="1200" baseline="0" dirty="0">
                          <a:solidFill>
                            <a:schemeClr val="tx1"/>
                          </a:solidFill>
                          <a:latin typeface="+mn-lt"/>
                        </a:rPr>
                        <a:t> For the following questions, order the amounts of money from lowest to highest.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8490864"/>
                  </a:ext>
                </a:extLst>
              </a:tr>
              <a:tr h="488371">
                <a:tc>
                  <a:txBody>
                    <a:bodyPr/>
                    <a:lstStyle/>
                    <a:p>
                      <a:r>
                        <a:rPr lang="en-US" sz="1200" baseline="0" dirty="0">
                          <a:solidFill>
                            <a:schemeClr val="tx1"/>
                          </a:solidFill>
                          <a:latin typeface="+mn-lt"/>
                        </a:rPr>
                        <a:t>a) </a:t>
                      </a:r>
                      <a:r>
                        <a:rPr lang="en-GB" sz="1200" dirty="0"/>
                        <a:t>£6.74, £10, £1.99, £8, £3.30, £2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aseline="0" dirty="0">
                          <a:solidFill>
                            <a:schemeClr val="tx1"/>
                          </a:solidFill>
                          <a:latin typeface="+mn-lt"/>
                        </a:rPr>
                        <a:t>b) </a:t>
                      </a:r>
                      <a:r>
                        <a:rPr lang="en-GB" sz="1200" dirty="0"/>
                        <a:t>80p, £1, £0.09, 23p, £2.75, £0.82, £20</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47146034"/>
                  </a:ext>
                </a:extLst>
              </a:tr>
              <a:tr h="89080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8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6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2344843"/>
                  </a:ext>
                </a:extLst>
              </a:tr>
              <a:tr h="4426873">
                <a:tc>
                  <a:txBody>
                    <a:bodyPr/>
                    <a:lstStyle/>
                    <a:p>
                      <a:r>
                        <a:rPr lang="en-GB" sz="1200" dirty="0"/>
                        <a:t>24. The distance of various landmarks from Big Ben are listed below.</a:t>
                      </a:r>
                      <a:endParaRPr lang="en-GB"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dirty="0"/>
                        <a:t>Arrange the landmarks in order, from closest to furthest.</a:t>
                      </a:r>
                    </a:p>
                    <a:p>
                      <a:endParaRPr lang="en-GB" sz="1200" baseline="0" dirty="0">
                        <a:solidFill>
                          <a:schemeClr val="tx1"/>
                        </a:solidFill>
                        <a:latin typeface="+mn-lt"/>
                      </a:endParaRPr>
                    </a:p>
                    <a:p>
                      <a:endParaRPr lang="en-GB"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9034110"/>
                  </a:ext>
                </a:extLst>
              </a:tr>
            </a:tbl>
          </a:graphicData>
        </a:graphic>
      </p:graphicFrame>
      <p:pic>
        <p:nvPicPr>
          <p:cNvPr id="4" name="Picture 3">
            <a:extLst>
              <a:ext uri="{FF2B5EF4-FFF2-40B4-BE49-F238E27FC236}">
                <a16:creationId xmlns:a16="http://schemas.microsoft.com/office/drawing/2014/main" id="{7EAF7F3F-52E7-5056-BCAB-A052F07C8CA3}"/>
              </a:ext>
            </a:extLst>
          </p:cNvPr>
          <p:cNvPicPr>
            <a:picLocks noChangeAspect="1"/>
          </p:cNvPicPr>
          <p:nvPr/>
        </p:nvPicPr>
        <p:blipFill>
          <a:blip r:embed="rId2"/>
          <a:stretch>
            <a:fillRect/>
          </a:stretch>
        </p:blipFill>
        <p:spPr>
          <a:xfrm>
            <a:off x="198826" y="4738295"/>
            <a:ext cx="3177515" cy="1792855"/>
          </a:xfrm>
          <a:prstGeom prst="rect">
            <a:avLst/>
          </a:prstGeom>
        </p:spPr>
      </p:pic>
      <p:sp>
        <p:nvSpPr>
          <p:cNvPr id="3" name="Slide Number Placeholder 2">
            <a:extLst>
              <a:ext uri="{FF2B5EF4-FFF2-40B4-BE49-F238E27FC236}">
                <a16:creationId xmlns:a16="http://schemas.microsoft.com/office/drawing/2014/main" id="{0E148FB8-ED74-1B98-22B0-47856C8A2DA0}"/>
              </a:ext>
            </a:extLst>
          </p:cNvPr>
          <p:cNvSpPr>
            <a:spLocks noGrp="1"/>
          </p:cNvSpPr>
          <p:nvPr>
            <p:ph type="sldNum" sz="quarter" idx="12"/>
          </p:nvPr>
        </p:nvSpPr>
        <p:spPr>
          <a:xfrm>
            <a:off x="5193529" y="9510873"/>
            <a:ext cx="1543050" cy="527403"/>
          </a:xfrm>
        </p:spPr>
        <p:txBody>
          <a:bodyPr/>
          <a:lstStyle/>
          <a:p>
            <a:fld id="{086C3A38-D272-42AA-9C88-F1FBEAE20D2C}" type="slidenum">
              <a:rPr lang="en-GB" smtClean="0"/>
              <a:t>11</a:t>
            </a:fld>
            <a:endParaRPr lang="en-GB" dirty="0"/>
          </a:p>
        </p:txBody>
      </p:sp>
      <p:pic>
        <p:nvPicPr>
          <p:cNvPr id="10" name="Picture 9">
            <a:extLst>
              <a:ext uri="{FF2B5EF4-FFF2-40B4-BE49-F238E27FC236}">
                <a16:creationId xmlns:a16="http://schemas.microsoft.com/office/drawing/2014/main" id="{A8E6EB7F-782E-9632-1AED-C074FF75363E}"/>
              </a:ext>
            </a:extLst>
          </p:cNvPr>
          <p:cNvPicPr>
            <a:picLocks noChangeAspect="1"/>
          </p:cNvPicPr>
          <p:nvPr/>
        </p:nvPicPr>
        <p:blipFill>
          <a:blip r:embed="rId3"/>
          <a:stretch>
            <a:fillRect/>
          </a:stretch>
        </p:blipFill>
        <p:spPr>
          <a:xfrm>
            <a:off x="164101" y="8135962"/>
            <a:ext cx="6572478" cy="1517324"/>
          </a:xfrm>
          <a:prstGeom prst="rect">
            <a:avLst/>
          </a:prstGeom>
        </p:spPr>
      </p:pic>
    </p:spTree>
    <p:extLst>
      <p:ext uri="{BB962C8B-B14F-4D97-AF65-F5344CB8AC3E}">
        <p14:creationId xmlns:p14="http://schemas.microsoft.com/office/powerpoint/2010/main" val="2103105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2CE6CF-75F8-9450-B6C2-51215137C8CF}"/>
              </a:ext>
            </a:extLst>
          </p:cNvPr>
          <p:cNvSpPr>
            <a:spLocks noGrp="1"/>
          </p:cNvSpPr>
          <p:nvPr>
            <p:ph type="sldNum" sz="quarter" idx="12"/>
          </p:nvPr>
        </p:nvSpPr>
        <p:spPr>
          <a:xfrm>
            <a:off x="5194806" y="9425075"/>
            <a:ext cx="1543050" cy="527403"/>
          </a:xfrm>
        </p:spPr>
        <p:txBody>
          <a:bodyPr/>
          <a:lstStyle/>
          <a:p>
            <a:fld id="{19F1D9CC-7119-45EC-A96C-D8C0660F3AAB}" type="slidenum">
              <a:rPr lang="en-GB" smtClean="0"/>
              <a:t>12</a:t>
            </a:fld>
            <a:endParaRPr lang="en-GB"/>
          </a:p>
        </p:txBody>
      </p:sp>
      <p:cxnSp>
        <p:nvCxnSpPr>
          <p:cNvPr id="8" name="Straight Connector 7">
            <a:extLst>
              <a:ext uri="{FF2B5EF4-FFF2-40B4-BE49-F238E27FC236}">
                <a16:creationId xmlns:a16="http://schemas.microsoft.com/office/drawing/2014/main" id="{A74BCA94-1391-FE8F-A46B-C5A506E49A95}"/>
              </a:ext>
            </a:extLst>
          </p:cNvPr>
          <p:cNvCxnSpPr/>
          <p:nvPr/>
        </p:nvCxnSpPr>
        <p:spPr>
          <a:xfrm flipV="1">
            <a:off x="971599" y="2457765"/>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6A42F2A-0382-4273-1E3F-DEA1994D4C3F}"/>
              </a:ext>
            </a:extLst>
          </p:cNvPr>
          <p:cNvSpPr/>
          <p:nvPr/>
        </p:nvSpPr>
        <p:spPr>
          <a:xfrm>
            <a:off x="116918" y="527169"/>
            <a:ext cx="6699219" cy="416537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Connector 9">
            <a:extLst>
              <a:ext uri="{FF2B5EF4-FFF2-40B4-BE49-F238E27FC236}">
                <a16:creationId xmlns:a16="http://schemas.microsoft.com/office/drawing/2014/main" id="{955F3E39-2158-9297-7590-5DC49BCC50A7}"/>
              </a:ext>
            </a:extLst>
          </p:cNvPr>
          <p:cNvCxnSpPr>
            <a:cxnSpLocks/>
            <a:stCxn id="9" idx="1"/>
            <a:endCxn id="9" idx="3"/>
          </p:cNvCxnSpPr>
          <p:nvPr/>
        </p:nvCxnSpPr>
        <p:spPr>
          <a:xfrm>
            <a:off x="116918" y="2609856"/>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8C1A081C-650F-6285-E395-EE9395BFF294}"/>
              </a:ext>
            </a:extLst>
          </p:cNvPr>
          <p:cNvCxnSpPr>
            <a:cxnSpLocks/>
            <a:stCxn id="9" idx="2"/>
            <a:endCxn id="9" idx="0"/>
          </p:cNvCxnSpPr>
          <p:nvPr/>
        </p:nvCxnSpPr>
        <p:spPr>
          <a:xfrm flipV="1">
            <a:off x="3466528" y="527169"/>
            <a:ext cx="0" cy="4165373"/>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85474B94-F1EE-102A-52C9-780DF9318D29}"/>
              </a:ext>
            </a:extLst>
          </p:cNvPr>
          <p:cNvSpPr txBox="1"/>
          <p:nvPr/>
        </p:nvSpPr>
        <p:spPr>
          <a:xfrm>
            <a:off x="134673" y="527169"/>
            <a:ext cx="824713" cy="461665"/>
          </a:xfrm>
          <a:prstGeom prst="rect">
            <a:avLst/>
          </a:prstGeom>
          <a:noFill/>
        </p:spPr>
        <p:txBody>
          <a:bodyPr wrap="none" rtlCol="0">
            <a:spAutoFit/>
          </a:bodyPr>
          <a:lstStyle/>
          <a:p>
            <a:r>
              <a:rPr lang="en-US" sz="1200" b="1"/>
              <a:t>Definition</a:t>
            </a:r>
          </a:p>
          <a:p>
            <a:endParaRPr lang="en-US" sz="1200"/>
          </a:p>
        </p:txBody>
      </p:sp>
      <p:sp>
        <p:nvSpPr>
          <p:cNvPr id="13" name="TextBox 12">
            <a:extLst>
              <a:ext uri="{FF2B5EF4-FFF2-40B4-BE49-F238E27FC236}">
                <a16:creationId xmlns:a16="http://schemas.microsoft.com/office/drawing/2014/main" id="{6E7FC639-4EB8-2FC0-5967-C0C4B2AD6B6E}"/>
              </a:ext>
            </a:extLst>
          </p:cNvPr>
          <p:cNvSpPr txBox="1"/>
          <p:nvPr/>
        </p:nvSpPr>
        <p:spPr>
          <a:xfrm>
            <a:off x="5658724" y="494783"/>
            <a:ext cx="1112228" cy="276999"/>
          </a:xfrm>
          <a:prstGeom prst="rect">
            <a:avLst/>
          </a:prstGeom>
          <a:noFill/>
        </p:spPr>
        <p:txBody>
          <a:bodyPr wrap="none" rtlCol="0">
            <a:spAutoFit/>
          </a:bodyPr>
          <a:lstStyle/>
          <a:p>
            <a:r>
              <a:rPr lang="en-US" sz="1200" b="1"/>
              <a:t>Characteristics</a:t>
            </a:r>
            <a:endParaRPr lang="en-GB" sz="1200" b="1"/>
          </a:p>
        </p:txBody>
      </p:sp>
      <p:sp>
        <p:nvSpPr>
          <p:cNvPr id="14" name="TextBox 13">
            <a:extLst>
              <a:ext uri="{FF2B5EF4-FFF2-40B4-BE49-F238E27FC236}">
                <a16:creationId xmlns:a16="http://schemas.microsoft.com/office/drawing/2014/main" id="{0D99AB1F-E1BE-9351-76B6-48AF1A45FB9D}"/>
              </a:ext>
            </a:extLst>
          </p:cNvPr>
          <p:cNvSpPr txBox="1"/>
          <p:nvPr/>
        </p:nvSpPr>
        <p:spPr>
          <a:xfrm>
            <a:off x="134673" y="2286225"/>
            <a:ext cx="788164" cy="276999"/>
          </a:xfrm>
          <a:prstGeom prst="rect">
            <a:avLst/>
          </a:prstGeom>
          <a:noFill/>
        </p:spPr>
        <p:txBody>
          <a:bodyPr wrap="none" rtlCol="0">
            <a:spAutoFit/>
          </a:bodyPr>
          <a:lstStyle/>
          <a:p>
            <a:r>
              <a:rPr lang="en-US" sz="1200" b="1"/>
              <a:t>Examples</a:t>
            </a:r>
            <a:endParaRPr lang="en-GB" sz="1200" b="1"/>
          </a:p>
        </p:txBody>
      </p:sp>
      <p:sp>
        <p:nvSpPr>
          <p:cNvPr id="15" name="TextBox 14">
            <a:extLst>
              <a:ext uri="{FF2B5EF4-FFF2-40B4-BE49-F238E27FC236}">
                <a16:creationId xmlns:a16="http://schemas.microsoft.com/office/drawing/2014/main" id="{987FAC9C-9591-A8E8-A8BE-9F60059C593C}"/>
              </a:ext>
            </a:extLst>
          </p:cNvPr>
          <p:cNvSpPr txBox="1"/>
          <p:nvPr/>
        </p:nvSpPr>
        <p:spPr>
          <a:xfrm>
            <a:off x="5628395" y="2279767"/>
            <a:ext cx="1172885" cy="276999"/>
          </a:xfrm>
          <a:prstGeom prst="rect">
            <a:avLst/>
          </a:prstGeom>
          <a:noFill/>
        </p:spPr>
        <p:txBody>
          <a:bodyPr wrap="none" rtlCol="0">
            <a:spAutoFit/>
          </a:bodyPr>
          <a:lstStyle/>
          <a:p>
            <a:r>
              <a:rPr lang="en-US" sz="1200" b="1"/>
              <a:t>Non - Examples</a:t>
            </a:r>
            <a:endParaRPr lang="en-GB" sz="1200" b="1"/>
          </a:p>
        </p:txBody>
      </p:sp>
      <p:sp>
        <p:nvSpPr>
          <p:cNvPr id="16" name="TextBox 15">
            <a:extLst>
              <a:ext uri="{FF2B5EF4-FFF2-40B4-BE49-F238E27FC236}">
                <a16:creationId xmlns:a16="http://schemas.microsoft.com/office/drawing/2014/main" id="{EAE6E376-DF07-7D4E-22CF-6985D089806D}"/>
              </a:ext>
            </a:extLst>
          </p:cNvPr>
          <p:cNvSpPr txBox="1"/>
          <p:nvPr/>
        </p:nvSpPr>
        <p:spPr>
          <a:xfrm>
            <a:off x="145306" y="790397"/>
            <a:ext cx="3230335" cy="600164"/>
          </a:xfrm>
          <a:prstGeom prst="rect">
            <a:avLst/>
          </a:prstGeom>
          <a:noFill/>
        </p:spPr>
        <p:txBody>
          <a:bodyPr wrap="square" rtlCol="0">
            <a:spAutoFit/>
          </a:bodyPr>
          <a:lstStyle/>
          <a:p>
            <a:r>
              <a:rPr lang="en-GB" sz="1100"/>
              <a:t>Negative numbers are numbers that represent values that are less than zero. They show things like temperatures below zero, debts and losses.</a:t>
            </a:r>
            <a:endParaRPr lang="en-US" sz="1100"/>
          </a:p>
        </p:txBody>
      </p:sp>
      <p:sp>
        <p:nvSpPr>
          <p:cNvPr id="17" name="TextBox 16">
            <a:extLst>
              <a:ext uri="{FF2B5EF4-FFF2-40B4-BE49-F238E27FC236}">
                <a16:creationId xmlns:a16="http://schemas.microsoft.com/office/drawing/2014/main" id="{05181107-11C7-1807-62E3-693EB1F0A7D7}"/>
              </a:ext>
            </a:extLst>
          </p:cNvPr>
          <p:cNvSpPr txBox="1"/>
          <p:nvPr/>
        </p:nvSpPr>
        <p:spPr>
          <a:xfrm>
            <a:off x="2584094" y="2368977"/>
            <a:ext cx="1835118" cy="369332"/>
          </a:xfrm>
          <a:prstGeom prst="rect">
            <a:avLst/>
          </a:prstGeom>
          <a:solidFill>
            <a:schemeClr val="bg1"/>
          </a:solidFill>
          <a:ln>
            <a:solidFill>
              <a:schemeClr val="tx1"/>
            </a:solidFill>
          </a:ln>
        </p:spPr>
        <p:txBody>
          <a:bodyPr wrap="none" rtlCol="0">
            <a:spAutoFit/>
          </a:bodyPr>
          <a:lstStyle/>
          <a:p>
            <a:r>
              <a:rPr lang="en-US"/>
              <a:t>Negative Number</a:t>
            </a:r>
            <a:endParaRPr lang="en-GB"/>
          </a:p>
        </p:txBody>
      </p:sp>
      <p:sp>
        <p:nvSpPr>
          <p:cNvPr id="18" name="TextBox 17">
            <a:extLst>
              <a:ext uri="{FF2B5EF4-FFF2-40B4-BE49-F238E27FC236}">
                <a16:creationId xmlns:a16="http://schemas.microsoft.com/office/drawing/2014/main" id="{15FD7AED-69E3-00D5-8772-F46184807A76}"/>
              </a:ext>
            </a:extLst>
          </p:cNvPr>
          <p:cNvSpPr txBox="1"/>
          <p:nvPr/>
        </p:nvSpPr>
        <p:spPr>
          <a:xfrm>
            <a:off x="3515363" y="2728194"/>
            <a:ext cx="3230335" cy="1292662"/>
          </a:xfrm>
          <a:prstGeom prst="rect">
            <a:avLst/>
          </a:prstGeom>
          <a:noFill/>
        </p:spPr>
        <p:txBody>
          <a:bodyPr wrap="square" rtlCol="0">
            <a:spAutoFit/>
          </a:bodyPr>
          <a:lstStyle/>
          <a:p>
            <a:endParaRPr lang="en-US" sz="1100" dirty="0"/>
          </a:p>
          <a:p>
            <a:pPr marL="171450" indent="-171450">
              <a:buFont typeface="Arial" panose="020B0604020202020204" pitchFamily="34" charset="0"/>
              <a:buChar char="•"/>
            </a:pPr>
            <a:r>
              <a:rPr lang="en-GB" sz="1100" dirty="0"/>
              <a:t>Positive Numbers: Positive numbers are greater than zero and are not negative.</a:t>
            </a:r>
          </a:p>
          <a:p>
            <a:pPr marL="171450" indent="-171450">
              <a:buFont typeface="Arial" panose="020B0604020202020204" pitchFamily="34" charset="0"/>
              <a:buChar char="•"/>
            </a:pPr>
            <a:r>
              <a:rPr lang="en-GB" sz="1100" dirty="0"/>
              <a:t>Zero: Zero is not positive or negative.</a:t>
            </a:r>
          </a:p>
          <a:p>
            <a:pPr marL="171450" indent="-171450">
              <a:buFont typeface="Arial" panose="020B0604020202020204" pitchFamily="34" charset="0"/>
              <a:buChar char="•"/>
            </a:pPr>
            <a:endParaRPr lang="en-GB" sz="1100" dirty="0"/>
          </a:p>
          <a:p>
            <a:pPr marL="171450" indent="-171450">
              <a:buFont typeface="Arial" panose="020B0604020202020204" pitchFamily="34" charset="0"/>
              <a:buChar char="•"/>
            </a:pPr>
            <a:endParaRPr lang="en-GB" sz="1100" dirty="0"/>
          </a:p>
          <a:p>
            <a:pPr algn="ctr"/>
            <a:r>
              <a:rPr lang="en-GB" sz="1100" b="0" i="0" dirty="0">
                <a:effectLst/>
                <a:latin typeface="Söhne"/>
              </a:rPr>
              <a:t>5</a:t>
            </a:r>
            <a:r>
              <a:rPr lang="en-GB" sz="1100" dirty="0">
                <a:latin typeface="Söhne"/>
              </a:rPr>
              <a:t>          </a:t>
            </a:r>
            <a:r>
              <a:rPr lang="en-GB" sz="1100" b="0" i="0" dirty="0">
                <a:effectLst/>
                <a:latin typeface="Söhne"/>
              </a:rPr>
              <a:t>0</a:t>
            </a:r>
            <a:r>
              <a:rPr lang="en-GB" sz="1100" dirty="0">
                <a:latin typeface="Söhne"/>
              </a:rPr>
              <a:t>           </a:t>
            </a:r>
            <a:r>
              <a:rPr lang="en-GB" sz="1100" b="0" i="0" dirty="0">
                <a:effectLst/>
                <a:latin typeface="Söhne"/>
              </a:rPr>
              <a:t>2.5          </a:t>
            </a:r>
            <a:r>
              <a:rPr lang="en-GB" sz="1200" b="0" i="0" dirty="0">
                <a:effectLst/>
                <a:latin typeface="Söhne"/>
              </a:rPr>
              <a:t>⅔         </a:t>
            </a:r>
            <a:r>
              <a:rPr lang="en-GB" sz="1100" b="0" i="0" dirty="0">
                <a:effectLst/>
                <a:latin typeface="Söhne"/>
              </a:rPr>
              <a:t>200       45.67</a:t>
            </a:r>
            <a:endParaRPr lang="en-US" sz="1100" dirty="0"/>
          </a:p>
        </p:txBody>
      </p:sp>
      <p:sp>
        <p:nvSpPr>
          <p:cNvPr id="19" name="TextBox 18">
            <a:extLst>
              <a:ext uri="{FF2B5EF4-FFF2-40B4-BE49-F238E27FC236}">
                <a16:creationId xmlns:a16="http://schemas.microsoft.com/office/drawing/2014/main" id="{24E9F299-C174-69A8-8CBD-FCBE4BBC5129}"/>
              </a:ext>
            </a:extLst>
          </p:cNvPr>
          <p:cNvSpPr txBox="1"/>
          <p:nvPr/>
        </p:nvSpPr>
        <p:spPr>
          <a:xfrm>
            <a:off x="3452878" y="669041"/>
            <a:ext cx="3497414" cy="1446550"/>
          </a:xfrm>
          <a:prstGeom prst="rect">
            <a:avLst/>
          </a:prstGeom>
          <a:noFill/>
        </p:spPr>
        <p:txBody>
          <a:bodyPr wrap="square">
            <a:spAutoFit/>
          </a:bodyPr>
          <a:lstStyle/>
          <a:p>
            <a:r>
              <a:rPr lang="en-GB" sz="1100"/>
              <a:t>Negative numbers have a negative sign (-) in front of them, telling us they are less than zero. They are smaller than positive numbers. They are like the opposite of positive numbers. Positive numbers are on the right side of zero, and negative numbers are on the left side.</a:t>
            </a:r>
          </a:p>
          <a:p>
            <a:r>
              <a:rPr lang="en-GB" sz="1100"/>
              <a:t>When comparing negative numbers, the one with the smaller distance from zero is considered greater. For example, -3 is greater than -5 because -3 is closer to zero.</a:t>
            </a:r>
            <a:endParaRPr lang="en-US" sz="1100"/>
          </a:p>
        </p:txBody>
      </p:sp>
      <p:sp>
        <p:nvSpPr>
          <p:cNvPr id="20" name="TextBox 19">
            <a:extLst>
              <a:ext uri="{FF2B5EF4-FFF2-40B4-BE49-F238E27FC236}">
                <a16:creationId xmlns:a16="http://schemas.microsoft.com/office/drawing/2014/main" id="{B7D8D579-9F2B-13CF-1BD3-A122E47214A1}"/>
              </a:ext>
            </a:extLst>
          </p:cNvPr>
          <p:cNvSpPr txBox="1"/>
          <p:nvPr/>
        </p:nvSpPr>
        <p:spPr>
          <a:xfrm>
            <a:off x="72653" y="2899245"/>
            <a:ext cx="3473354" cy="1461939"/>
          </a:xfrm>
          <a:prstGeom prst="rect">
            <a:avLst/>
          </a:prstGeom>
          <a:noFill/>
        </p:spPr>
        <p:txBody>
          <a:bodyPr wrap="square">
            <a:spAutoFit/>
          </a:bodyPr>
          <a:lstStyle/>
          <a:p>
            <a:pPr marL="171450" indent="-171450">
              <a:buFont typeface="Arial" panose="020B0604020202020204" pitchFamily="34" charset="0"/>
              <a:buChar char="•"/>
            </a:pPr>
            <a:r>
              <a:rPr lang="en-GB" sz="1100" dirty="0"/>
              <a:t>Temperature: If the temperature drops below zero, like -10 degrees Celsius, it means it's colder than zero degrees.</a:t>
            </a:r>
          </a:p>
          <a:p>
            <a:pPr marL="171450" indent="-171450">
              <a:buFont typeface="Arial" panose="020B0604020202020204" pitchFamily="34" charset="0"/>
              <a:buChar char="•"/>
            </a:pPr>
            <a:r>
              <a:rPr lang="en-GB" sz="1100" dirty="0"/>
              <a:t>Debt: When you owe money, the amount is represented by a negative number. For example, if you owe £100, it can be written as -£100.</a:t>
            </a:r>
          </a:p>
          <a:p>
            <a:pPr marL="171450" indent="-171450">
              <a:buFont typeface="Arial" panose="020B0604020202020204" pitchFamily="34" charset="0"/>
              <a:buChar char="•"/>
            </a:pPr>
            <a:endParaRPr lang="en-GB" sz="1100" dirty="0"/>
          </a:p>
          <a:p>
            <a:pPr algn="ctr"/>
            <a:r>
              <a:rPr lang="en-GB" sz="1100" b="0" i="0" dirty="0">
                <a:effectLst/>
                <a:latin typeface="Söhne"/>
              </a:rPr>
              <a:t>-3         -10            -0.5           -</a:t>
            </a:r>
            <a:r>
              <a:rPr lang="en-GB" sz="1200" b="0" i="0" dirty="0">
                <a:effectLst/>
                <a:latin typeface="Söhne"/>
              </a:rPr>
              <a:t>⅔            </a:t>
            </a:r>
            <a:r>
              <a:rPr lang="en-GB" sz="1100" b="0" i="0" dirty="0">
                <a:effectLst/>
                <a:latin typeface="Söhne"/>
              </a:rPr>
              <a:t>-632.456</a:t>
            </a:r>
            <a:endParaRPr lang="en-GB" sz="1100" dirty="0"/>
          </a:p>
        </p:txBody>
      </p:sp>
      <p:sp>
        <p:nvSpPr>
          <p:cNvPr id="25" name="Rectangle 24">
            <a:extLst>
              <a:ext uri="{FF2B5EF4-FFF2-40B4-BE49-F238E27FC236}">
                <a16:creationId xmlns:a16="http://schemas.microsoft.com/office/drawing/2014/main" id="{F265B32B-160B-AB93-EB18-461AE44C0C68}"/>
              </a:ext>
            </a:extLst>
          </p:cNvPr>
          <p:cNvSpPr/>
          <p:nvPr/>
        </p:nvSpPr>
        <p:spPr>
          <a:xfrm>
            <a:off x="34083" y="32904"/>
            <a:ext cx="6014442"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Ordering negative numbers</a:t>
            </a:r>
            <a:endParaRPr lang="en-GB" sz="1200">
              <a:solidFill>
                <a:schemeClr val="bg1"/>
              </a:solidFill>
            </a:endParaRPr>
          </a:p>
        </p:txBody>
      </p:sp>
      <p:graphicFrame>
        <p:nvGraphicFramePr>
          <p:cNvPr id="27" name="Table 26">
            <a:extLst>
              <a:ext uri="{FF2B5EF4-FFF2-40B4-BE49-F238E27FC236}">
                <a16:creationId xmlns:a16="http://schemas.microsoft.com/office/drawing/2014/main" id="{EB9E4F02-17E5-3C3F-487C-041998B41725}"/>
              </a:ext>
            </a:extLst>
          </p:cNvPr>
          <p:cNvGraphicFramePr>
            <a:graphicFrameLocks noGrp="1"/>
          </p:cNvGraphicFramePr>
          <p:nvPr>
            <p:extLst>
              <p:ext uri="{D42A27DB-BD31-4B8C-83A1-F6EECF244321}">
                <p14:modId xmlns:p14="http://schemas.microsoft.com/office/powerpoint/2010/main" val="2817563136"/>
              </p:ext>
            </p:extLst>
          </p:nvPr>
        </p:nvGraphicFramePr>
        <p:xfrm>
          <a:off x="134673" y="4820996"/>
          <a:ext cx="6572478" cy="4604077"/>
        </p:xfrm>
        <a:graphic>
          <a:graphicData uri="http://schemas.openxmlformats.org/drawingml/2006/table">
            <a:tbl>
              <a:tblPr firstRow="1" bandRow="1">
                <a:tableStyleId>{5C22544A-7EE6-4342-B048-85BDC9FD1C3A}</a:tableStyleId>
              </a:tblPr>
              <a:tblGrid>
                <a:gridCol w="819024">
                  <a:extLst>
                    <a:ext uri="{9D8B030D-6E8A-4147-A177-3AD203B41FA5}">
                      <a16:colId xmlns:a16="http://schemas.microsoft.com/office/drawing/2014/main" val="1568142362"/>
                    </a:ext>
                  </a:extLst>
                </a:gridCol>
                <a:gridCol w="1917818">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497038">
                <a:tc gridSpan="4">
                  <a:txBody>
                    <a:bodyPr/>
                    <a:lstStyle/>
                    <a:p>
                      <a:pPr algn="l"/>
                      <a:r>
                        <a:rPr lang="en-GB" sz="1200" b="0" dirty="0">
                          <a:solidFill>
                            <a:schemeClr val="tx1"/>
                          </a:solidFill>
                        </a:rPr>
                        <a:t>For the following questions, list the numbers in </a:t>
                      </a:r>
                      <a:r>
                        <a:rPr lang="en-GB" sz="1200" b="1" dirty="0">
                          <a:solidFill>
                            <a:schemeClr val="tx1"/>
                          </a:solidFill>
                        </a:rPr>
                        <a:t>ascending</a:t>
                      </a:r>
                      <a:r>
                        <a:rPr lang="en-GB" sz="1200" b="0" dirty="0">
                          <a:solidFill>
                            <a:schemeClr val="tx1"/>
                          </a:solidFill>
                        </a:rPr>
                        <a:t> order.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6582307"/>
                  </a:ext>
                </a:extLst>
              </a:tr>
              <a:tr h="497038">
                <a:tc>
                  <a:txBody>
                    <a:bodyPr/>
                    <a:lstStyle/>
                    <a:p>
                      <a:endParaRPr lang="en-GB" sz="11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497038">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i="0" kern="1200">
                          <a:solidFill>
                            <a:schemeClr val="dk1"/>
                          </a:solidFill>
                          <a:effectLst/>
                          <a:latin typeface="+mn-lt"/>
                          <a:ea typeface="+mn-ea"/>
                          <a:cs typeface="+mn-cs"/>
                        </a:rPr>
                        <a:t>-9, 9, 0, -1,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i="0" kern="1200">
                          <a:solidFill>
                            <a:schemeClr val="dk1"/>
                          </a:solidFill>
                          <a:effectLst/>
                          <a:latin typeface="+mn-lt"/>
                          <a:ea typeface="+mn-ea"/>
                          <a:cs typeface="+mn-cs"/>
                        </a:rPr>
                        <a:t>-9, 9, 0, -11, -7</a:t>
                      </a: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-9, 9, 0, 11,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461873">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0">
                          <a:solidFill>
                            <a:schemeClr val="tx1"/>
                          </a:solidFill>
                        </a:rPr>
                        <a:t>Look for the negative furthest from zero. This is the smallest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4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65109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000" dirty="0">
                          <a:solidFill>
                            <a:schemeClr val="tx1"/>
                          </a:solidFill>
                        </a:rPr>
                        <a:t>Repeat this step until all negatives have been ordered, then order the positives.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28" name="TextBox 27">
            <a:extLst>
              <a:ext uri="{FF2B5EF4-FFF2-40B4-BE49-F238E27FC236}">
                <a16:creationId xmlns:a16="http://schemas.microsoft.com/office/drawing/2014/main" id="{D2D71FA2-DD7E-DA2A-1AC1-1E91CCE54C09}"/>
              </a:ext>
            </a:extLst>
          </p:cNvPr>
          <p:cNvSpPr txBox="1"/>
          <p:nvPr/>
        </p:nvSpPr>
        <p:spPr>
          <a:xfrm>
            <a:off x="1202132" y="5259048"/>
            <a:ext cx="1410704" cy="276999"/>
          </a:xfrm>
          <a:prstGeom prst="rect">
            <a:avLst/>
          </a:prstGeom>
          <a:noFill/>
          <a:ln>
            <a:noFill/>
          </a:ln>
        </p:spPr>
        <p:txBody>
          <a:bodyPr wrap="square" rtlCol="0">
            <a:spAutoFit/>
          </a:bodyPr>
          <a:lstStyle/>
          <a:p>
            <a:r>
              <a:rPr lang="en-GB" sz="1200" b="1" i="1" dirty="0">
                <a:solidFill>
                  <a:srgbClr val="FF0000"/>
                </a:solidFill>
              </a:rPr>
              <a:t>Example 25 - I do…</a:t>
            </a:r>
          </a:p>
        </p:txBody>
      </p:sp>
      <p:sp>
        <p:nvSpPr>
          <p:cNvPr id="29" name="TextBox 28">
            <a:extLst>
              <a:ext uri="{FF2B5EF4-FFF2-40B4-BE49-F238E27FC236}">
                <a16:creationId xmlns:a16="http://schemas.microsoft.com/office/drawing/2014/main" id="{FE940041-C524-CE30-6CC9-1FED4FE7541D}"/>
              </a:ext>
            </a:extLst>
          </p:cNvPr>
          <p:cNvSpPr txBox="1"/>
          <p:nvPr/>
        </p:nvSpPr>
        <p:spPr>
          <a:xfrm>
            <a:off x="5121488" y="5252227"/>
            <a:ext cx="1643405" cy="276999"/>
          </a:xfrm>
          <a:prstGeom prst="rect">
            <a:avLst/>
          </a:prstGeom>
          <a:noFill/>
          <a:ln>
            <a:noFill/>
          </a:ln>
        </p:spPr>
        <p:txBody>
          <a:bodyPr wrap="square" rtlCol="0">
            <a:spAutoFit/>
          </a:bodyPr>
          <a:lstStyle/>
          <a:p>
            <a:r>
              <a:rPr lang="en-GB" sz="1200" b="1" i="1" dirty="0">
                <a:solidFill>
                  <a:srgbClr val="00B050"/>
                </a:solidFill>
              </a:rPr>
              <a:t>Example 27 – You do…</a:t>
            </a:r>
          </a:p>
        </p:txBody>
      </p:sp>
      <p:sp>
        <p:nvSpPr>
          <p:cNvPr id="30" name="TextBox 29">
            <a:extLst>
              <a:ext uri="{FF2B5EF4-FFF2-40B4-BE49-F238E27FC236}">
                <a16:creationId xmlns:a16="http://schemas.microsoft.com/office/drawing/2014/main" id="{775F164C-C59F-91B7-D110-7FFB8DC3051D}"/>
              </a:ext>
            </a:extLst>
          </p:cNvPr>
          <p:cNvSpPr txBox="1"/>
          <p:nvPr/>
        </p:nvSpPr>
        <p:spPr>
          <a:xfrm>
            <a:off x="3163410" y="5239654"/>
            <a:ext cx="1643405" cy="276999"/>
          </a:xfrm>
          <a:prstGeom prst="rect">
            <a:avLst/>
          </a:prstGeom>
          <a:noFill/>
          <a:ln>
            <a:noFill/>
          </a:ln>
        </p:spPr>
        <p:txBody>
          <a:bodyPr wrap="square" rtlCol="0">
            <a:spAutoFit/>
          </a:bodyPr>
          <a:lstStyle/>
          <a:p>
            <a:r>
              <a:rPr lang="en-GB" sz="1200" b="1" i="1" dirty="0">
                <a:solidFill>
                  <a:schemeClr val="accent2"/>
                </a:solidFill>
              </a:rPr>
              <a:t>Example 26 – We do…</a:t>
            </a:r>
          </a:p>
        </p:txBody>
      </p:sp>
    </p:spTree>
    <p:extLst>
      <p:ext uri="{BB962C8B-B14F-4D97-AF65-F5344CB8AC3E}">
        <p14:creationId xmlns:p14="http://schemas.microsoft.com/office/powerpoint/2010/main" val="1221249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9E9B0B-29B4-D21F-7EF5-1E14B504CBFD}"/>
              </a:ext>
            </a:extLst>
          </p:cNvPr>
          <p:cNvSpPr>
            <a:spLocks noGrp="1"/>
          </p:cNvSpPr>
          <p:nvPr>
            <p:ph type="sldNum" sz="quarter" idx="12"/>
          </p:nvPr>
        </p:nvSpPr>
        <p:spPr>
          <a:xfrm>
            <a:off x="5187288" y="9147399"/>
            <a:ext cx="1543050" cy="527403"/>
          </a:xfrm>
        </p:spPr>
        <p:txBody>
          <a:bodyPr/>
          <a:lstStyle/>
          <a:p>
            <a:fld id="{19F1D9CC-7119-45EC-A96C-D8C0660F3AAB}" type="slidenum">
              <a:rPr lang="en-GB" smtClean="0"/>
              <a:t>13</a:t>
            </a:fld>
            <a:endParaRPr lang="en-GB"/>
          </a:p>
        </p:txBody>
      </p:sp>
      <p:sp>
        <p:nvSpPr>
          <p:cNvPr id="3" name="Rectangle 2">
            <a:extLst>
              <a:ext uri="{FF2B5EF4-FFF2-40B4-BE49-F238E27FC236}">
                <a16:creationId xmlns:a16="http://schemas.microsoft.com/office/drawing/2014/main" id="{141ECE3F-4A3E-F602-C1A8-B66869E591E5}"/>
              </a:ext>
            </a:extLst>
          </p:cNvPr>
          <p:cNvSpPr/>
          <p:nvPr/>
        </p:nvSpPr>
        <p:spPr>
          <a:xfrm>
            <a:off x="147794" y="19720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graphicFrame>
        <p:nvGraphicFramePr>
          <p:cNvPr id="4" name="Table 3">
            <a:extLst>
              <a:ext uri="{FF2B5EF4-FFF2-40B4-BE49-F238E27FC236}">
                <a16:creationId xmlns:a16="http://schemas.microsoft.com/office/drawing/2014/main" id="{91DFA472-8CAC-5466-331E-96055FD1D98C}"/>
              </a:ext>
            </a:extLst>
          </p:cNvPr>
          <p:cNvGraphicFramePr>
            <a:graphicFrameLocks noGrp="1"/>
          </p:cNvGraphicFramePr>
          <p:nvPr>
            <p:extLst>
              <p:ext uri="{D42A27DB-BD31-4B8C-83A1-F6EECF244321}">
                <p14:modId xmlns:p14="http://schemas.microsoft.com/office/powerpoint/2010/main" val="1498030917"/>
              </p:ext>
            </p:extLst>
          </p:nvPr>
        </p:nvGraphicFramePr>
        <p:xfrm>
          <a:off x="147794" y="612145"/>
          <a:ext cx="6572478" cy="4340854"/>
        </p:xfrm>
        <a:graphic>
          <a:graphicData uri="http://schemas.openxmlformats.org/drawingml/2006/table">
            <a:tbl>
              <a:tblPr firstRow="1" bandRow="1">
                <a:tableStyleId>{5C22544A-7EE6-4342-B048-85BDC9FD1C3A}</a:tableStyleId>
              </a:tblPr>
              <a:tblGrid>
                <a:gridCol w="2572257">
                  <a:extLst>
                    <a:ext uri="{9D8B030D-6E8A-4147-A177-3AD203B41FA5}">
                      <a16:colId xmlns:a16="http://schemas.microsoft.com/office/drawing/2014/main" val="3632647821"/>
                    </a:ext>
                  </a:extLst>
                </a:gridCol>
                <a:gridCol w="4000221">
                  <a:extLst>
                    <a:ext uri="{9D8B030D-6E8A-4147-A177-3AD203B41FA5}">
                      <a16:colId xmlns:a16="http://schemas.microsoft.com/office/drawing/2014/main" val="4273164257"/>
                    </a:ext>
                  </a:extLst>
                </a:gridCol>
              </a:tblGrid>
              <a:tr h="326822">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28. </a:t>
                      </a:r>
                      <a:r>
                        <a:rPr lang="en-GB" sz="1200" b="0" dirty="0">
                          <a:solidFill>
                            <a:schemeClr val="tx1"/>
                          </a:solidFill>
                          <a:latin typeface="+mn-lt"/>
                        </a:rPr>
                        <a:t>For the following questions, list the numbers in </a:t>
                      </a:r>
                      <a:r>
                        <a:rPr lang="en-GB" sz="1200" b="1" dirty="0">
                          <a:solidFill>
                            <a:schemeClr val="tx1"/>
                          </a:solidFill>
                          <a:latin typeface="+mn-lt"/>
                        </a:rPr>
                        <a:t>ascending</a:t>
                      </a:r>
                      <a:r>
                        <a:rPr lang="en-GB" sz="1200" b="0" dirty="0">
                          <a:solidFill>
                            <a:schemeClr val="tx1"/>
                          </a:solidFill>
                          <a:latin typeface="+mn-lt"/>
                        </a:rPr>
                        <a:t> order.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5532570"/>
                  </a:ext>
                </a:extLst>
              </a:tr>
              <a:tr h="501754">
                <a:tc>
                  <a:txBody>
                    <a:bodyPr/>
                    <a:lstStyle/>
                    <a:p>
                      <a:r>
                        <a:rPr lang="en-US" sz="1100" baseline="0">
                          <a:solidFill>
                            <a:schemeClr val="tx1"/>
                          </a:solidFill>
                          <a:latin typeface="+mn-lt"/>
                        </a:rPr>
                        <a:t>a) </a:t>
                      </a:r>
                      <a:r>
                        <a:rPr lang="en-GB" sz="1100" b="0" i="0" kern="1200">
                          <a:solidFill>
                            <a:schemeClr val="dk1"/>
                          </a:solidFill>
                          <a:effectLst/>
                          <a:latin typeface="+mn-lt"/>
                          <a:ea typeface="+mn-ea"/>
                          <a:cs typeface="+mn-cs"/>
                        </a:rPr>
                        <a:t>-3, 13, 3, -2, 0, 1</a:t>
                      </a:r>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8400191"/>
                  </a:ext>
                </a:extLst>
              </a:tr>
              <a:tr h="501754">
                <a:tc>
                  <a:txBody>
                    <a:bodyPr/>
                    <a:lstStyle/>
                    <a:p>
                      <a:r>
                        <a:rPr lang="en-US" sz="1400" baseline="0" dirty="0">
                          <a:solidFill>
                            <a:schemeClr val="tx1"/>
                          </a:solidFill>
                          <a:latin typeface="+mn-lt"/>
                        </a:rPr>
                        <a:t>b) </a:t>
                      </a:r>
                      <a:r>
                        <a:rPr lang="en-GB" sz="1400" b="0" i="0" kern="1200" dirty="0">
                          <a:solidFill>
                            <a:schemeClr val="dk1"/>
                          </a:solidFill>
                          <a:effectLst/>
                          <a:latin typeface="+mn-lt"/>
                          <a:ea typeface="+mn-ea"/>
                          <a:cs typeface="+mn-cs"/>
                        </a:rPr>
                        <a:t>-3, -1, 3, -7, 0, 14</a:t>
                      </a:r>
                      <a:endParaRPr lang="en-US" sz="14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7699537"/>
                  </a:ext>
                </a:extLst>
              </a:tr>
              <a:tr h="501754">
                <a:tc>
                  <a:txBody>
                    <a:bodyPr/>
                    <a:lstStyle/>
                    <a:p>
                      <a:r>
                        <a:rPr lang="en-US" sz="1100" baseline="0">
                          <a:solidFill>
                            <a:schemeClr val="tx1"/>
                          </a:solidFill>
                          <a:latin typeface="+mn-lt"/>
                        </a:rPr>
                        <a:t>c) -</a:t>
                      </a:r>
                      <a:r>
                        <a:rPr lang="en-GB" sz="1100" b="0" i="0" kern="1200">
                          <a:solidFill>
                            <a:schemeClr val="dk1"/>
                          </a:solidFill>
                          <a:effectLst/>
                          <a:latin typeface="+mn-lt"/>
                          <a:ea typeface="+mn-ea"/>
                          <a:cs typeface="+mn-cs"/>
                        </a:rPr>
                        <a:t>13, -1, 3, -7, 10, 14</a:t>
                      </a:r>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3278960"/>
                  </a:ext>
                </a:extLst>
              </a:tr>
              <a:tr h="50175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dirty="0">
                          <a:solidFill>
                            <a:schemeClr val="tx1"/>
                          </a:solidFill>
                          <a:latin typeface="+mn-lt"/>
                        </a:rPr>
                        <a:t>d) </a:t>
                      </a:r>
                      <a:r>
                        <a:rPr lang="en-GB" sz="1100" b="0" i="0" kern="1200" dirty="0">
                          <a:solidFill>
                            <a:schemeClr val="dk1"/>
                          </a:solidFill>
                          <a:effectLst/>
                          <a:latin typeface="+mn-lt"/>
                          <a:ea typeface="+mn-ea"/>
                          <a:cs typeface="+mn-cs"/>
                        </a:rPr>
                        <a:t>13, -11, 3, -72, 104, -4</a:t>
                      </a:r>
                      <a:endParaRPr lang="en-US" sz="1100" baseline="0" dirty="0">
                        <a:solidFill>
                          <a:schemeClr val="tx1"/>
                        </a:solidFill>
                        <a:latin typeface="+mn-lt"/>
                      </a:endParaRPr>
                    </a:p>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957616"/>
                  </a:ext>
                </a:extLst>
              </a:tr>
              <a:tr h="501754">
                <a:tc>
                  <a:txBody>
                    <a:bodyPr/>
                    <a:lstStyle/>
                    <a:p>
                      <a:r>
                        <a:rPr lang="en-US" sz="1100" baseline="0">
                          <a:solidFill>
                            <a:schemeClr val="tx1"/>
                          </a:solidFill>
                          <a:latin typeface="+mn-lt"/>
                        </a:rPr>
                        <a:t>e) </a:t>
                      </a:r>
                      <a:r>
                        <a:rPr lang="en-GB" sz="1100"/>
                        <a:t>3, −5, 1, 0, −2, 4 </a:t>
                      </a:r>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3337323"/>
                  </a:ext>
                </a:extLst>
              </a:tr>
              <a:tr h="501754">
                <a:tc>
                  <a:txBody>
                    <a:bodyPr/>
                    <a:lstStyle/>
                    <a:p>
                      <a:r>
                        <a:rPr lang="en-US" sz="1100" baseline="0" dirty="0">
                          <a:solidFill>
                            <a:schemeClr val="tx1"/>
                          </a:solidFill>
                          <a:latin typeface="+mn-lt"/>
                        </a:rPr>
                        <a:t>f) </a:t>
                      </a:r>
                      <a:r>
                        <a:rPr lang="en-GB" sz="1100" dirty="0"/>
                        <a:t>−1, 8, −5, 2, −9, −4, 3</a:t>
                      </a:r>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0762331"/>
                  </a:ext>
                </a:extLst>
              </a:tr>
              <a:tr h="501754">
                <a:tc>
                  <a:txBody>
                    <a:bodyPr/>
                    <a:lstStyle/>
                    <a:p>
                      <a:r>
                        <a:rPr lang="en-US" sz="1100" baseline="0">
                          <a:solidFill>
                            <a:schemeClr val="tx1"/>
                          </a:solidFill>
                          <a:latin typeface="+mn-lt"/>
                        </a:rPr>
                        <a:t>g) </a:t>
                      </a:r>
                      <a:r>
                        <a:rPr lang="en-GB" sz="1100"/>
                        <a:t>−1, −7, −2, 5, −6, 1</a:t>
                      </a:r>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4085176"/>
                  </a:ext>
                </a:extLst>
              </a:tr>
              <a:tr h="50175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h) </a:t>
                      </a:r>
                      <a:r>
                        <a:rPr lang="en-GB" sz="1200" dirty="0"/>
                        <a:t>10, −7, −3, 5, −9, −2, −12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37638818"/>
                  </a:ext>
                </a:extLst>
              </a:tr>
            </a:tbl>
          </a:graphicData>
        </a:graphic>
      </p:graphicFrame>
      <p:graphicFrame>
        <p:nvGraphicFramePr>
          <p:cNvPr id="6" name="Table 5">
            <a:extLst>
              <a:ext uri="{FF2B5EF4-FFF2-40B4-BE49-F238E27FC236}">
                <a16:creationId xmlns:a16="http://schemas.microsoft.com/office/drawing/2014/main" id="{0BA277E9-5C25-87DA-BA65-E7FD284B9476}"/>
              </a:ext>
            </a:extLst>
          </p:cNvPr>
          <p:cNvGraphicFramePr>
            <a:graphicFrameLocks noGrp="1"/>
          </p:cNvGraphicFramePr>
          <p:nvPr>
            <p:extLst>
              <p:ext uri="{D42A27DB-BD31-4B8C-83A1-F6EECF244321}">
                <p14:modId xmlns:p14="http://schemas.microsoft.com/office/powerpoint/2010/main" val="1050059932"/>
              </p:ext>
            </p:extLst>
          </p:nvPr>
        </p:nvGraphicFramePr>
        <p:xfrm>
          <a:off x="147794" y="5059361"/>
          <a:ext cx="6572478" cy="2419957"/>
        </p:xfrm>
        <a:graphic>
          <a:graphicData uri="http://schemas.openxmlformats.org/drawingml/2006/table">
            <a:tbl>
              <a:tblPr firstRow="1" bandRow="1">
                <a:tableStyleId>{5C22544A-7EE6-4342-B048-85BDC9FD1C3A}</a:tableStyleId>
              </a:tblPr>
              <a:tblGrid>
                <a:gridCol w="3445391">
                  <a:extLst>
                    <a:ext uri="{9D8B030D-6E8A-4147-A177-3AD203B41FA5}">
                      <a16:colId xmlns:a16="http://schemas.microsoft.com/office/drawing/2014/main" val="3585318020"/>
                    </a:ext>
                  </a:extLst>
                </a:gridCol>
                <a:gridCol w="3127087">
                  <a:extLst>
                    <a:ext uri="{9D8B030D-6E8A-4147-A177-3AD203B41FA5}">
                      <a16:colId xmlns:a16="http://schemas.microsoft.com/office/drawing/2014/main" val="3155652492"/>
                    </a:ext>
                  </a:extLst>
                </a:gridCol>
              </a:tblGrid>
              <a:tr h="334896">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29. Arrange the following temperatures in order, from lowest to highest.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5478197"/>
                  </a:ext>
                </a:extLst>
              </a:tr>
              <a:tr h="504284">
                <a:tc>
                  <a:txBody>
                    <a:bodyPr/>
                    <a:lstStyle/>
                    <a:p>
                      <a:r>
                        <a:rPr lang="en-US" sz="1200" baseline="0">
                          <a:solidFill>
                            <a:schemeClr val="tx1"/>
                          </a:solidFill>
                          <a:latin typeface="+mn-lt"/>
                        </a:rPr>
                        <a:t>a) -</a:t>
                      </a:r>
                      <a:r>
                        <a:rPr lang="en-GB" sz="1200"/>
                        <a:t>8°C, 12°C, 9°C, -15°C, 11°C, -7°C, 2°C</a:t>
                      </a:r>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8866046"/>
                  </a:ext>
                </a:extLst>
              </a:tr>
              <a:tr h="55833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aseline="0" dirty="0">
                          <a:solidFill>
                            <a:schemeClr val="tx1"/>
                          </a:solidFill>
                          <a:latin typeface="+mn-lt"/>
                        </a:rPr>
                        <a:t>b) </a:t>
                      </a:r>
                      <a:r>
                        <a:rPr lang="en-GB" sz="1400" dirty="0"/>
                        <a:t>2°C, −5°C, 4°C, 8°C, −3°C, 1°C, −7°C</a:t>
                      </a:r>
                      <a:endParaRPr lang="en-US" sz="1400" baseline="0" dirty="0">
                        <a:solidFill>
                          <a:schemeClr val="tx1"/>
                        </a:solidFill>
                        <a:latin typeface="+mn-lt"/>
                      </a:endParaRPr>
                    </a:p>
                    <a:p>
                      <a:endParaRPr lang="en-US" sz="14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7454377"/>
                  </a:ext>
                </a:extLst>
              </a:tr>
              <a:tr h="504284">
                <a:tc>
                  <a:txBody>
                    <a:bodyPr/>
                    <a:lstStyle/>
                    <a:p>
                      <a:r>
                        <a:rPr lang="en-US" sz="1200" baseline="0" dirty="0">
                          <a:solidFill>
                            <a:schemeClr val="tx1"/>
                          </a:solidFill>
                          <a:latin typeface="+mn-lt"/>
                        </a:rPr>
                        <a:t>c) </a:t>
                      </a:r>
                      <a:r>
                        <a:rPr lang="en-GB" sz="1200" dirty="0"/>
                        <a:t>5°C, −3°C, 11°C, 9°C, −14°C, 21°C, −1°C</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95435665"/>
                  </a:ext>
                </a:extLst>
              </a:tr>
              <a:tr h="32843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aseline="0" dirty="0">
                          <a:solidFill>
                            <a:schemeClr val="tx1"/>
                          </a:solidFill>
                          <a:latin typeface="+mn-lt"/>
                        </a:rPr>
                        <a:t>c) </a:t>
                      </a:r>
                      <a:r>
                        <a:rPr lang="en-GB" sz="1400" baseline="0" dirty="0">
                          <a:solidFill>
                            <a:schemeClr val="tx1"/>
                          </a:solidFill>
                          <a:latin typeface="+mn-lt"/>
                        </a:rPr>
                        <a:t>19</a:t>
                      </a:r>
                      <a:r>
                        <a:rPr lang="en-GB" sz="1400" dirty="0"/>
                        <a:t>°C, -92°C, 93°C, -91°C, −29°C, 21°C, 0°C</a:t>
                      </a:r>
                      <a:endParaRPr lang="en-US" sz="1400" baseline="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4262024"/>
                  </a:ext>
                </a:extLst>
              </a:tr>
            </a:tbl>
          </a:graphicData>
        </a:graphic>
      </p:graphicFrame>
      <p:graphicFrame>
        <p:nvGraphicFramePr>
          <p:cNvPr id="7" name="Table 6">
            <a:extLst>
              <a:ext uri="{FF2B5EF4-FFF2-40B4-BE49-F238E27FC236}">
                <a16:creationId xmlns:a16="http://schemas.microsoft.com/office/drawing/2014/main" id="{6F6378CB-2585-DF1D-1554-D3CDFBBF8138}"/>
              </a:ext>
            </a:extLst>
          </p:cNvPr>
          <p:cNvGraphicFramePr>
            <a:graphicFrameLocks noGrp="1"/>
          </p:cNvGraphicFramePr>
          <p:nvPr>
            <p:extLst>
              <p:ext uri="{D42A27DB-BD31-4B8C-83A1-F6EECF244321}">
                <p14:modId xmlns:p14="http://schemas.microsoft.com/office/powerpoint/2010/main" val="483296734"/>
              </p:ext>
            </p:extLst>
          </p:nvPr>
        </p:nvGraphicFramePr>
        <p:xfrm>
          <a:off x="147794" y="7422800"/>
          <a:ext cx="6572478" cy="2286000"/>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4012489937"/>
                    </a:ext>
                  </a:extLst>
                </a:gridCol>
                <a:gridCol w="3286239">
                  <a:extLst>
                    <a:ext uri="{9D8B030D-6E8A-4147-A177-3AD203B41FA5}">
                      <a16:colId xmlns:a16="http://schemas.microsoft.com/office/drawing/2014/main" val="964091021"/>
                    </a:ext>
                  </a:extLst>
                </a:gridCol>
              </a:tblGrid>
              <a:tr h="468000">
                <a:tc>
                  <a:txBody>
                    <a:bodyPr/>
                    <a:lstStyle/>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0" baseline="0" dirty="0">
                          <a:solidFill>
                            <a:schemeClr val="tx1"/>
                          </a:solidFill>
                          <a:latin typeface="+mn-lt"/>
                        </a:rPr>
                        <a:t>4. Arrange the towns in order of temperature, starting with the lowest.</a:t>
                      </a: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4026267"/>
                  </a:ext>
                </a:extLst>
              </a:tr>
            </a:tbl>
          </a:graphicData>
        </a:graphic>
      </p:graphicFrame>
      <p:pic>
        <p:nvPicPr>
          <p:cNvPr id="8" name="Picture 7">
            <a:extLst>
              <a:ext uri="{FF2B5EF4-FFF2-40B4-BE49-F238E27FC236}">
                <a16:creationId xmlns:a16="http://schemas.microsoft.com/office/drawing/2014/main" id="{6D64E538-76A9-8E5C-26F0-93C053D7D952}"/>
              </a:ext>
            </a:extLst>
          </p:cNvPr>
          <p:cNvPicPr>
            <a:picLocks noChangeAspect="1"/>
          </p:cNvPicPr>
          <p:nvPr/>
        </p:nvPicPr>
        <p:blipFill>
          <a:blip r:embed="rId2"/>
          <a:stretch>
            <a:fillRect/>
          </a:stretch>
        </p:blipFill>
        <p:spPr>
          <a:xfrm>
            <a:off x="373163" y="7556009"/>
            <a:ext cx="2705478" cy="2019582"/>
          </a:xfrm>
          <a:prstGeom prst="rect">
            <a:avLst/>
          </a:prstGeom>
        </p:spPr>
      </p:pic>
    </p:spTree>
    <p:extLst>
      <p:ext uri="{BB962C8B-B14F-4D97-AF65-F5344CB8AC3E}">
        <p14:creationId xmlns:p14="http://schemas.microsoft.com/office/powerpoint/2010/main" val="3443557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ECBD35-2FA9-D94C-85CC-B269D46DFAF6}"/>
              </a:ext>
            </a:extLst>
          </p:cNvPr>
          <p:cNvSpPr/>
          <p:nvPr/>
        </p:nvSpPr>
        <p:spPr>
          <a:xfrm>
            <a:off x="0" y="0"/>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GB" sz="1600" dirty="0">
                <a:solidFill>
                  <a:prstClr val="white"/>
                </a:solidFill>
              </a:rPr>
              <a:t>Subtopic 2a </a:t>
            </a:r>
            <a:r>
              <a:rPr kumimoji="0" lang="en-GB" sz="1600" i="0" u="none" strike="noStrike" kern="1200" cap="none" spc="0" normalizeH="0" baseline="0" noProof="0" dirty="0">
                <a:ln>
                  <a:noFill/>
                </a:ln>
                <a:solidFill>
                  <a:prstClr val="white"/>
                </a:solidFill>
                <a:effectLst/>
                <a:uLnTx/>
                <a:uFillTx/>
                <a:latin typeface="Calibri" panose="020F0502020204030204"/>
              </a:rPr>
              <a:t>– </a:t>
            </a:r>
            <a:r>
              <a:rPr lang="en-GB" sz="1600" dirty="0">
                <a:solidFill>
                  <a:prstClr val="white"/>
                </a:solidFill>
              </a:rPr>
              <a:t>Rounding to nearest integer, or decimal places</a:t>
            </a:r>
          </a:p>
        </p:txBody>
      </p:sp>
      <p:sp>
        <p:nvSpPr>
          <p:cNvPr id="4" name="Rectangle 3">
            <a:extLst>
              <a:ext uri="{FF2B5EF4-FFF2-40B4-BE49-F238E27FC236}">
                <a16:creationId xmlns:a16="http://schemas.microsoft.com/office/drawing/2014/main" id="{04BFD1EF-DBB4-2249-B998-BA5834451F7D}"/>
              </a:ext>
            </a:extLst>
          </p:cNvPr>
          <p:cNvSpPr/>
          <p:nvPr/>
        </p:nvSpPr>
        <p:spPr>
          <a:xfrm>
            <a:off x="72056" y="414784"/>
            <a:ext cx="6728829" cy="14174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40A63AA0-9785-7842-8746-181CA9DC5483}"/>
              </a:ext>
            </a:extLst>
          </p:cNvPr>
          <p:cNvSpPr txBox="1"/>
          <p:nvPr/>
        </p:nvSpPr>
        <p:spPr>
          <a:xfrm>
            <a:off x="304914" y="787525"/>
            <a:ext cx="114939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2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8D99EBB3-E635-9B48-A13A-F8FC9E5CF168}"/>
              </a:ext>
            </a:extLst>
          </p:cNvPr>
          <p:cNvSpPr txBox="1"/>
          <p:nvPr/>
        </p:nvSpPr>
        <p:spPr>
          <a:xfrm>
            <a:off x="422291" y="977943"/>
            <a:ext cx="5055338" cy="830997"/>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a:ln>
                  <a:noFill/>
                </a:ln>
                <a:solidFill>
                  <a:prstClr val="black"/>
                </a:solidFill>
                <a:effectLst/>
                <a:uLnTx/>
                <a:uFillTx/>
                <a:latin typeface="Calibri" panose="020F0502020204030204"/>
              </a:rPr>
              <a:t>To round a</a:t>
            </a:r>
            <a:r>
              <a:rPr kumimoji="0" lang="en-GB" sz="1200" b="0" i="0" u="none" strike="noStrike" kern="1200" cap="none" spc="0" normalizeH="0" noProof="0">
                <a:ln>
                  <a:noFill/>
                </a:ln>
                <a:solidFill>
                  <a:prstClr val="black"/>
                </a:solidFill>
                <a:effectLst/>
                <a:uLnTx/>
                <a:uFillTx/>
                <a:latin typeface="Calibri" panose="020F0502020204030204"/>
              </a:rPr>
              <a:t> whole number.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a:solidFill>
                  <a:prstClr val="black"/>
                </a:solidFill>
                <a:latin typeface="Calibri" panose="020F0502020204030204"/>
              </a:rPr>
              <a:t>To round numbers to the nearest 10, 100,1000.</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a:solidFill>
                  <a:prstClr val="black"/>
                </a:solidFill>
                <a:latin typeface="Calibri" panose="020F0502020204030204"/>
              </a:rPr>
              <a:t>To answer worded questions about rounding. </a:t>
            </a:r>
            <a:endParaRPr kumimoji="0" lang="en-GB" sz="1200" b="0" i="0" u="none" strike="noStrike" kern="1200" cap="none" spc="0" normalizeH="0" noProof="0">
              <a:ln>
                <a:noFill/>
              </a:ln>
              <a:solidFill>
                <a:prstClr val="black"/>
              </a:solidFill>
              <a:effectLst/>
              <a:uLnTx/>
              <a:uFillTx/>
              <a:latin typeface="Calibri" panose="020F0502020204030204"/>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200" b="0" i="0" u="none" strike="noStrike" kern="1200" cap="none" spc="0" normalizeH="0" baseline="0" noProof="0">
              <a:ln>
                <a:noFill/>
              </a:ln>
              <a:solidFill>
                <a:prstClr val="black"/>
              </a:solidFill>
              <a:effectLst/>
              <a:uLnTx/>
              <a:uFillTx/>
              <a:latin typeface="Calibri" panose="020F0502020204030204"/>
            </a:endParaRPr>
          </a:p>
        </p:txBody>
      </p:sp>
      <p:sp>
        <p:nvSpPr>
          <p:cNvPr id="7" name="TextBox 6">
            <a:extLst>
              <a:ext uri="{FF2B5EF4-FFF2-40B4-BE49-F238E27FC236}">
                <a16:creationId xmlns:a16="http://schemas.microsoft.com/office/drawing/2014/main" id="{F48C742E-559E-184B-B2D4-43B2F774DF10}"/>
              </a:ext>
            </a:extLst>
          </p:cNvPr>
          <p:cNvSpPr txBox="1"/>
          <p:nvPr/>
        </p:nvSpPr>
        <p:spPr>
          <a:xfrm>
            <a:off x="149877" y="472802"/>
            <a:ext cx="6590100"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 To </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round numbers to the nearest</a:t>
            </a:r>
            <a:r>
              <a:rPr kumimoji="0" lang="en-US" sz="1200" b="1" i="0" u="none" strike="noStrike" kern="1200" cap="none" spc="0" normalizeH="0" noProof="0">
                <a:ln>
                  <a:noFill/>
                </a:ln>
                <a:solidFill>
                  <a:prstClr val="black"/>
                </a:solidFill>
                <a:effectLst/>
                <a:uLnTx/>
                <a:uFillTx/>
                <a:latin typeface="Calibri" panose="020F0502020204030204"/>
                <a:ea typeface="+mn-ea"/>
                <a:cs typeface="+mn-cs"/>
              </a:rPr>
              <a:t> 10, 100, 1000.</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F56BA6AD-76E4-264F-9E79-1A6D05899D87}"/>
              </a:ext>
            </a:extLst>
          </p:cNvPr>
          <p:cNvSpPr txBox="1"/>
          <p:nvPr/>
        </p:nvSpPr>
        <p:spPr>
          <a:xfrm>
            <a:off x="5096560" y="926588"/>
            <a:ext cx="1373688" cy="769441"/>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a:ln>
                  <a:noFill/>
                </a:ln>
                <a:solidFill>
                  <a:prstClr val="black"/>
                </a:solidFill>
                <a:effectLst/>
                <a:uLnTx/>
                <a:uFillTx/>
                <a:latin typeface="Calibri" panose="020F0502020204030204"/>
                <a:ea typeface="+mn-ea"/>
                <a:cs typeface="+mn-cs"/>
              </a:rPr>
              <a:t>Keywords: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a:rPr>
              <a:t>Approximation</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a:rPr>
              <a:t>Integer </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lang="en-US" sz="1100">
                <a:solidFill>
                  <a:prstClr val="black"/>
                </a:solidFill>
                <a:latin typeface="Calibri" panose="020F0502020204030204"/>
              </a:rPr>
              <a:t>Round </a:t>
            </a:r>
          </a:p>
        </p:txBody>
      </p:sp>
      <p:sp>
        <p:nvSpPr>
          <p:cNvPr id="2" name="Slide Number Placeholder 1"/>
          <p:cNvSpPr>
            <a:spLocks noGrp="1"/>
          </p:cNvSpPr>
          <p:nvPr>
            <p:ph type="sldNum" sz="quarter" idx="12"/>
          </p:nvPr>
        </p:nvSpPr>
        <p:spPr>
          <a:xfrm>
            <a:off x="5314950" y="9532351"/>
            <a:ext cx="1543050" cy="527403"/>
          </a:xfrm>
        </p:spPr>
        <p:txBody>
          <a:bodyPr/>
          <a:lstStyle/>
          <a:p>
            <a:fld id="{19F1D9CC-7119-45EC-A96C-D8C0660F3AAB}" type="slidenum">
              <a:rPr lang="en-GB" smtClean="0"/>
              <a:t>14</a:t>
            </a:fld>
            <a:endParaRPr lang="en-GB"/>
          </a:p>
        </p:txBody>
      </p:sp>
      <p:cxnSp>
        <p:nvCxnSpPr>
          <p:cNvPr id="13" name="Straight Connector 12">
            <a:extLst>
              <a:ext uri="{FF2B5EF4-FFF2-40B4-BE49-F238E27FC236}">
                <a16:creationId xmlns:a16="http://schemas.microsoft.com/office/drawing/2014/main" id="{894A9321-F5C6-8407-F7F4-EE47D606566A}"/>
              </a:ext>
            </a:extLst>
          </p:cNvPr>
          <p:cNvCxnSpPr/>
          <p:nvPr/>
        </p:nvCxnSpPr>
        <p:spPr>
          <a:xfrm flipV="1">
            <a:off x="926737" y="3795207"/>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1BC6974-39A0-A92A-2C50-760FE805D7F7}"/>
              </a:ext>
            </a:extLst>
          </p:cNvPr>
          <p:cNvSpPr/>
          <p:nvPr/>
        </p:nvSpPr>
        <p:spPr>
          <a:xfrm>
            <a:off x="72056" y="1864612"/>
            <a:ext cx="6699219" cy="2459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Straight Connector 15">
            <a:extLst>
              <a:ext uri="{FF2B5EF4-FFF2-40B4-BE49-F238E27FC236}">
                <a16:creationId xmlns:a16="http://schemas.microsoft.com/office/drawing/2014/main" id="{098AD85F-4E29-4E6D-0E68-935029413EAA}"/>
              </a:ext>
            </a:extLst>
          </p:cNvPr>
          <p:cNvCxnSpPr>
            <a:stCxn id="14" idx="1"/>
            <a:endCxn id="14" idx="3"/>
          </p:cNvCxnSpPr>
          <p:nvPr/>
        </p:nvCxnSpPr>
        <p:spPr>
          <a:xfrm>
            <a:off x="72056" y="3094254"/>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7342CD05-B1FC-1B5E-5F20-E650D4A0F1E8}"/>
              </a:ext>
            </a:extLst>
          </p:cNvPr>
          <p:cNvCxnSpPr>
            <a:stCxn id="14" idx="2"/>
            <a:endCxn id="14" idx="0"/>
          </p:cNvCxnSpPr>
          <p:nvPr/>
        </p:nvCxnSpPr>
        <p:spPr>
          <a:xfrm flipV="1">
            <a:off x="3421666" y="1864612"/>
            <a:ext cx="0" cy="2459284"/>
          </a:xfrm>
          <a:prstGeom prst="line">
            <a:avLst/>
          </a:prstGeom>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90DE8249-28A7-55FE-2746-515FD645D1DE}"/>
              </a:ext>
            </a:extLst>
          </p:cNvPr>
          <p:cNvSpPr txBox="1"/>
          <p:nvPr/>
        </p:nvSpPr>
        <p:spPr>
          <a:xfrm>
            <a:off x="89811" y="1864611"/>
            <a:ext cx="824713" cy="461665"/>
          </a:xfrm>
          <a:prstGeom prst="rect">
            <a:avLst/>
          </a:prstGeom>
          <a:noFill/>
        </p:spPr>
        <p:txBody>
          <a:bodyPr wrap="none" rtlCol="0">
            <a:spAutoFit/>
          </a:bodyPr>
          <a:lstStyle/>
          <a:p>
            <a:r>
              <a:rPr lang="en-US" sz="1200" b="1"/>
              <a:t>Definition</a:t>
            </a:r>
          </a:p>
          <a:p>
            <a:endParaRPr lang="en-US" sz="1200"/>
          </a:p>
        </p:txBody>
      </p:sp>
      <p:sp>
        <p:nvSpPr>
          <p:cNvPr id="19" name="TextBox 18">
            <a:extLst>
              <a:ext uri="{FF2B5EF4-FFF2-40B4-BE49-F238E27FC236}">
                <a16:creationId xmlns:a16="http://schemas.microsoft.com/office/drawing/2014/main" id="{A7BB7743-D91F-D251-1E1B-C4F9A9C7DCA6}"/>
              </a:ext>
            </a:extLst>
          </p:cNvPr>
          <p:cNvSpPr txBox="1"/>
          <p:nvPr/>
        </p:nvSpPr>
        <p:spPr>
          <a:xfrm>
            <a:off x="5613862" y="1832225"/>
            <a:ext cx="1112228" cy="276999"/>
          </a:xfrm>
          <a:prstGeom prst="rect">
            <a:avLst/>
          </a:prstGeom>
          <a:noFill/>
        </p:spPr>
        <p:txBody>
          <a:bodyPr wrap="none" rtlCol="0">
            <a:spAutoFit/>
          </a:bodyPr>
          <a:lstStyle/>
          <a:p>
            <a:r>
              <a:rPr lang="en-US" sz="1200" b="1"/>
              <a:t>Characteristics</a:t>
            </a:r>
            <a:endParaRPr lang="en-GB" sz="1200" b="1"/>
          </a:p>
        </p:txBody>
      </p:sp>
      <p:sp>
        <p:nvSpPr>
          <p:cNvPr id="21" name="TextBox 20">
            <a:extLst>
              <a:ext uri="{FF2B5EF4-FFF2-40B4-BE49-F238E27FC236}">
                <a16:creationId xmlns:a16="http://schemas.microsoft.com/office/drawing/2014/main" id="{FF8A7FCE-E4AB-584B-91D7-31EFAE95661C}"/>
              </a:ext>
            </a:extLst>
          </p:cNvPr>
          <p:cNvSpPr txBox="1"/>
          <p:nvPr/>
        </p:nvSpPr>
        <p:spPr>
          <a:xfrm>
            <a:off x="104958" y="3122619"/>
            <a:ext cx="788164" cy="276999"/>
          </a:xfrm>
          <a:prstGeom prst="rect">
            <a:avLst/>
          </a:prstGeom>
          <a:noFill/>
        </p:spPr>
        <p:txBody>
          <a:bodyPr wrap="none" rtlCol="0">
            <a:spAutoFit/>
          </a:bodyPr>
          <a:lstStyle/>
          <a:p>
            <a:r>
              <a:rPr lang="en-US" sz="1200" b="1"/>
              <a:t>Examples</a:t>
            </a:r>
            <a:endParaRPr lang="en-GB" sz="1200" b="1"/>
          </a:p>
        </p:txBody>
      </p:sp>
      <p:sp>
        <p:nvSpPr>
          <p:cNvPr id="22" name="TextBox 21">
            <a:extLst>
              <a:ext uri="{FF2B5EF4-FFF2-40B4-BE49-F238E27FC236}">
                <a16:creationId xmlns:a16="http://schemas.microsoft.com/office/drawing/2014/main" id="{C94026B4-D7F4-3472-04A3-F5CDFABAA141}"/>
              </a:ext>
            </a:extLst>
          </p:cNvPr>
          <p:cNvSpPr txBox="1"/>
          <p:nvPr/>
        </p:nvSpPr>
        <p:spPr>
          <a:xfrm>
            <a:off x="5542375" y="3098238"/>
            <a:ext cx="1172885" cy="276999"/>
          </a:xfrm>
          <a:prstGeom prst="rect">
            <a:avLst/>
          </a:prstGeom>
          <a:noFill/>
        </p:spPr>
        <p:txBody>
          <a:bodyPr wrap="none" rtlCol="0">
            <a:spAutoFit/>
          </a:bodyPr>
          <a:lstStyle/>
          <a:p>
            <a:r>
              <a:rPr lang="en-US" sz="1200" b="1"/>
              <a:t>Non - Examples</a:t>
            </a:r>
            <a:endParaRPr lang="en-GB" sz="1200" b="1"/>
          </a:p>
        </p:txBody>
      </p:sp>
      <p:sp>
        <p:nvSpPr>
          <p:cNvPr id="23" name="TextBox 22">
            <a:extLst>
              <a:ext uri="{FF2B5EF4-FFF2-40B4-BE49-F238E27FC236}">
                <a16:creationId xmlns:a16="http://schemas.microsoft.com/office/drawing/2014/main" id="{032DA505-4F6C-5EC7-0E27-69706549D21D}"/>
              </a:ext>
            </a:extLst>
          </p:cNvPr>
          <p:cNvSpPr txBox="1"/>
          <p:nvPr/>
        </p:nvSpPr>
        <p:spPr>
          <a:xfrm>
            <a:off x="202111" y="2256524"/>
            <a:ext cx="3230335" cy="461665"/>
          </a:xfrm>
          <a:prstGeom prst="rect">
            <a:avLst/>
          </a:prstGeom>
          <a:noFill/>
        </p:spPr>
        <p:txBody>
          <a:bodyPr wrap="square" rtlCol="0">
            <a:spAutoFit/>
          </a:bodyPr>
          <a:lstStyle/>
          <a:p>
            <a:r>
              <a:rPr lang="en-US" sz="1200"/>
              <a:t>The process of finding an approximation for a number to a given accuracy</a:t>
            </a:r>
          </a:p>
        </p:txBody>
      </p:sp>
      <p:sp>
        <p:nvSpPr>
          <p:cNvPr id="24" name="TextBox 23">
            <a:extLst>
              <a:ext uri="{FF2B5EF4-FFF2-40B4-BE49-F238E27FC236}">
                <a16:creationId xmlns:a16="http://schemas.microsoft.com/office/drawing/2014/main" id="{9F92B69B-3359-3387-D362-C3364AD8D5C2}"/>
              </a:ext>
            </a:extLst>
          </p:cNvPr>
          <p:cNvSpPr txBox="1"/>
          <p:nvPr/>
        </p:nvSpPr>
        <p:spPr>
          <a:xfrm>
            <a:off x="3486693" y="2055023"/>
            <a:ext cx="3230335" cy="830997"/>
          </a:xfrm>
          <a:prstGeom prst="rect">
            <a:avLst/>
          </a:prstGeom>
          <a:noFill/>
        </p:spPr>
        <p:txBody>
          <a:bodyPr wrap="square" rtlCol="0">
            <a:spAutoFit/>
          </a:bodyPr>
          <a:lstStyle/>
          <a:p>
            <a:r>
              <a:rPr lang="en-US" sz="1200"/>
              <a:t>Numbers round up or down depending on the value they are closer to. </a:t>
            </a:r>
          </a:p>
          <a:p>
            <a:r>
              <a:rPr lang="en-US" sz="1200"/>
              <a:t>If a number is exactly halfway between the two values it could round to, it rounds up</a:t>
            </a:r>
          </a:p>
        </p:txBody>
      </p:sp>
      <p:sp>
        <p:nvSpPr>
          <p:cNvPr id="25" name="TextBox 24">
            <a:extLst>
              <a:ext uri="{FF2B5EF4-FFF2-40B4-BE49-F238E27FC236}">
                <a16:creationId xmlns:a16="http://schemas.microsoft.com/office/drawing/2014/main" id="{43071263-00F7-6B38-1E9A-DA4575B80708}"/>
              </a:ext>
            </a:extLst>
          </p:cNvPr>
          <p:cNvSpPr txBox="1"/>
          <p:nvPr/>
        </p:nvSpPr>
        <p:spPr>
          <a:xfrm>
            <a:off x="2907940" y="2984456"/>
            <a:ext cx="1076000" cy="369332"/>
          </a:xfrm>
          <a:prstGeom prst="rect">
            <a:avLst/>
          </a:prstGeom>
          <a:solidFill>
            <a:schemeClr val="bg1"/>
          </a:solidFill>
          <a:ln>
            <a:solidFill>
              <a:schemeClr val="tx1"/>
            </a:solidFill>
          </a:ln>
        </p:spPr>
        <p:txBody>
          <a:bodyPr wrap="none" rtlCol="0">
            <a:spAutoFit/>
          </a:bodyPr>
          <a:lstStyle/>
          <a:p>
            <a:r>
              <a:rPr lang="en-US"/>
              <a:t>Rounding</a:t>
            </a:r>
            <a:endParaRPr lang="en-GB"/>
          </a:p>
        </p:txBody>
      </p:sp>
      <p:sp>
        <p:nvSpPr>
          <p:cNvPr id="26" name="TextBox 25">
            <a:extLst>
              <a:ext uri="{FF2B5EF4-FFF2-40B4-BE49-F238E27FC236}">
                <a16:creationId xmlns:a16="http://schemas.microsoft.com/office/drawing/2014/main" id="{0BA4C268-67F1-1CE7-1A9B-508D5715F539}"/>
              </a:ext>
            </a:extLst>
          </p:cNvPr>
          <p:cNvSpPr txBox="1"/>
          <p:nvPr/>
        </p:nvSpPr>
        <p:spPr>
          <a:xfrm>
            <a:off x="180552" y="3474575"/>
            <a:ext cx="3230335" cy="830997"/>
          </a:xfrm>
          <a:prstGeom prst="rect">
            <a:avLst/>
          </a:prstGeom>
          <a:noFill/>
        </p:spPr>
        <p:txBody>
          <a:bodyPr wrap="square" rtlCol="0">
            <a:spAutoFit/>
          </a:bodyPr>
          <a:lstStyle/>
          <a:p>
            <a:r>
              <a:rPr lang="en-US" sz="1200"/>
              <a:t>1853 = 1850 to the nearest 10</a:t>
            </a:r>
          </a:p>
          <a:p>
            <a:r>
              <a:rPr lang="en-US" sz="1200"/>
              <a:t>1853 = 1900 to the nearest 100</a:t>
            </a:r>
          </a:p>
          <a:p>
            <a:r>
              <a:rPr lang="en-US" sz="1200"/>
              <a:t>1853 = 2000 to the nearest 1000</a:t>
            </a:r>
          </a:p>
          <a:p>
            <a:r>
              <a:rPr lang="en-US" sz="1200"/>
              <a:t>18.53 = 19 to the nearest integer</a:t>
            </a:r>
          </a:p>
        </p:txBody>
      </p:sp>
      <p:sp>
        <p:nvSpPr>
          <p:cNvPr id="27" name="TextBox 26">
            <a:extLst>
              <a:ext uri="{FF2B5EF4-FFF2-40B4-BE49-F238E27FC236}">
                <a16:creationId xmlns:a16="http://schemas.microsoft.com/office/drawing/2014/main" id="{A812D6FC-92F1-79DC-770D-7D112F6D86B6}"/>
              </a:ext>
            </a:extLst>
          </p:cNvPr>
          <p:cNvSpPr txBox="1"/>
          <p:nvPr/>
        </p:nvSpPr>
        <p:spPr>
          <a:xfrm>
            <a:off x="3432446" y="3290052"/>
            <a:ext cx="3230335" cy="1015663"/>
          </a:xfrm>
          <a:prstGeom prst="rect">
            <a:avLst/>
          </a:prstGeom>
          <a:noFill/>
        </p:spPr>
        <p:txBody>
          <a:bodyPr wrap="square" rtlCol="0">
            <a:spAutoFit/>
          </a:bodyPr>
          <a:lstStyle/>
          <a:p>
            <a:endParaRPr lang="en-US" sz="1200" dirty="0"/>
          </a:p>
          <a:p>
            <a:r>
              <a:rPr lang="en-US" sz="1200" dirty="0"/>
              <a:t>1853 ≠ 50 to the nearest 10</a:t>
            </a:r>
          </a:p>
          <a:p>
            <a:r>
              <a:rPr lang="en-US" sz="1200" dirty="0"/>
              <a:t>35 ≠ 30 to the nearest 10</a:t>
            </a:r>
          </a:p>
          <a:p>
            <a:r>
              <a:rPr lang="en-US" sz="1200" dirty="0"/>
              <a:t>18.53 ≠ 19.00 to the nearest integer</a:t>
            </a:r>
            <a:endParaRPr lang="en-US" sz="1200" dirty="0">
              <a:solidFill>
                <a:srgbClr val="FF0000"/>
              </a:solidFill>
            </a:endParaRPr>
          </a:p>
          <a:p>
            <a:r>
              <a:rPr lang="en-US" sz="1200" dirty="0"/>
              <a:t>18.68 ≠ 18.6 to one decimal place.</a:t>
            </a:r>
          </a:p>
        </p:txBody>
      </p:sp>
      <p:graphicFrame>
        <p:nvGraphicFramePr>
          <p:cNvPr id="10" name="Table 9">
            <a:extLst>
              <a:ext uri="{FF2B5EF4-FFF2-40B4-BE49-F238E27FC236}">
                <a16:creationId xmlns:a16="http://schemas.microsoft.com/office/drawing/2014/main" id="{9D64357A-2819-DB1E-830B-EA5E1CF89E55}"/>
              </a:ext>
            </a:extLst>
          </p:cNvPr>
          <p:cNvGraphicFramePr>
            <a:graphicFrameLocks noGrp="1"/>
          </p:cNvGraphicFramePr>
          <p:nvPr>
            <p:extLst>
              <p:ext uri="{D42A27DB-BD31-4B8C-83A1-F6EECF244321}">
                <p14:modId xmlns:p14="http://schemas.microsoft.com/office/powerpoint/2010/main" val="525877634"/>
              </p:ext>
            </p:extLst>
          </p:nvPr>
        </p:nvGraphicFramePr>
        <p:xfrm>
          <a:off x="76925" y="4352259"/>
          <a:ext cx="6694349" cy="5288129"/>
        </p:xfrm>
        <a:graphic>
          <a:graphicData uri="http://schemas.openxmlformats.org/drawingml/2006/table">
            <a:tbl>
              <a:tblPr firstRow="1" bandRow="1">
                <a:tableStyleId>{5C22544A-7EE6-4342-B048-85BDC9FD1C3A}</a:tableStyleId>
              </a:tblPr>
              <a:tblGrid>
                <a:gridCol w="1084478">
                  <a:extLst>
                    <a:ext uri="{9D8B030D-6E8A-4147-A177-3AD203B41FA5}">
                      <a16:colId xmlns:a16="http://schemas.microsoft.com/office/drawing/2014/main" val="1568142362"/>
                    </a:ext>
                  </a:extLst>
                </a:gridCol>
                <a:gridCol w="1869957">
                  <a:extLst>
                    <a:ext uri="{9D8B030D-6E8A-4147-A177-3AD203B41FA5}">
                      <a16:colId xmlns:a16="http://schemas.microsoft.com/office/drawing/2014/main" val="3551711160"/>
                    </a:ext>
                  </a:extLst>
                </a:gridCol>
                <a:gridCol w="1869957">
                  <a:extLst>
                    <a:ext uri="{9D8B030D-6E8A-4147-A177-3AD203B41FA5}">
                      <a16:colId xmlns:a16="http://schemas.microsoft.com/office/drawing/2014/main" val="1712497518"/>
                    </a:ext>
                  </a:extLst>
                </a:gridCol>
                <a:gridCol w="1869957">
                  <a:extLst>
                    <a:ext uri="{9D8B030D-6E8A-4147-A177-3AD203B41FA5}">
                      <a16:colId xmlns:a16="http://schemas.microsoft.com/office/drawing/2014/main" val="886122921"/>
                    </a:ext>
                  </a:extLst>
                </a:gridCol>
              </a:tblGrid>
              <a:tr h="460978">
                <a:tc>
                  <a:txBody>
                    <a:bodyPr/>
                    <a:lstStyle/>
                    <a:p>
                      <a:endParaRPr lang="en-GB" sz="12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dirty="0">
                          <a:solidFill>
                            <a:srgbClr val="FF0000"/>
                          </a:solidFill>
                        </a:rPr>
                        <a:t>Example 1 – I do…</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dirty="0">
                          <a:solidFill>
                            <a:schemeClr val="accent2"/>
                          </a:solidFill>
                        </a:rPr>
                        <a:t>Example 2 – We do…</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dirty="0">
                          <a:solidFill>
                            <a:srgbClr val="00B050"/>
                          </a:solidFill>
                        </a:rPr>
                        <a:t>Example 3 – You do…</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550742">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these numbers to the nearest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these numbers to the nearest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these numbers to the nearest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96179">
                <a:tc rowSpan="5">
                  <a:txBody>
                    <a:bodyPr/>
                    <a:lstStyle/>
                    <a:p>
                      <a:pPr marL="228600" indent="-228600">
                        <a:buAutoNum type="arabicParenR"/>
                      </a:pPr>
                      <a:r>
                        <a:rPr lang="en-US" sz="1200" dirty="0">
                          <a:solidFill>
                            <a:schemeClr val="tx1"/>
                          </a:solidFill>
                        </a:rPr>
                        <a:t>Identify the value you’re rounding to above and the value below.</a:t>
                      </a:r>
                    </a:p>
                    <a:p>
                      <a:pPr marL="228600" indent="-228600">
                        <a:buAutoNum type="arabicParenR"/>
                      </a:pPr>
                      <a:endParaRPr lang="en-US" sz="1200" dirty="0">
                        <a:solidFill>
                          <a:schemeClr val="tx1"/>
                        </a:solidFill>
                      </a:endParaRPr>
                    </a:p>
                    <a:p>
                      <a:pPr marL="228600" indent="-228600">
                        <a:buAutoNum type="arabicParenR"/>
                      </a:pPr>
                      <a:endParaRPr lang="en-US" sz="1200" dirty="0">
                        <a:solidFill>
                          <a:schemeClr val="tx1"/>
                        </a:solidFill>
                      </a:endParaRPr>
                    </a:p>
                    <a:p>
                      <a:pPr marL="228600" indent="-228600">
                        <a:buAutoNum type="arabicParenR"/>
                      </a:pPr>
                      <a:r>
                        <a:rPr lang="en-US" sz="1200" dirty="0">
                          <a:solidFill>
                            <a:schemeClr val="tx1"/>
                          </a:solidFill>
                        </a:rPr>
                        <a:t>Is it closer to the value above or the value below?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42950" lvl="1" indent="-285750">
                        <a:buFont typeface="+mj-lt"/>
                        <a:buAutoNum type="romanLcPeriod"/>
                      </a:pPr>
                      <a:r>
                        <a:rPr lang="en-US" sz="1200" dirty="0">
                          <a:solidFill>
                            <a:srgbClr val="000000"/>
                          </a:solidFill>
                        </a:rPr>
                        <a:t>53                 </a:t>
                      </a:r>
                    </a:p>
                    <a:p>
                      <a:pPr marL="742950" lvl="1" indent="-285750">
                        <a:buFont typeface="+mj-lt"/>
                        <a:buAutoNum type="romanLcPeriod"/>
                      </a:pPr>
                      <a:endParaRPr lang="en-US" sz="1200" dirty="0">
                        <a:solidFill>
                          <a:srgbClr val="000000"/>
                        </a:solidFill>
                      </a:endParaRPr>
                    </a:p>
                    <a:p>
                      <a:pPr marL="742950" lvl="1" indent="-285750">
                        <a:buFont typeface="+mj-lt"/>
                        <a:buAutoNum type="romanLcPeriod"/>
                      </a:pPr>
                      <a:r>
                        <a:rPr lang="en-US" sz="1200" dirty="0">
                          <a:solidFill>
                            <a:srgbClr val="000000"/>
                          </a:solidFill>
                        </a:rPr>
                        <a:t>125             </a:t>
                      </a:r>
                      <a:endParaRPr lang="en-US" sz="1200" dirty="0">
                        <a:solidFill>
                          <a:srgbClr val="FF0000"/>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42950" lvl="1" indent="-285750">
                        <a:buAutoNum type="romanLcParenR"/>
                      </a:pPr>
                      <a:r>
                        <a:rPr lang="en-US" sz="1200" dirty="0">
                          <a:solidFill>
                            <a:srgbClr val="000000"/>
                          </a:solidFill>
                        </a:rPr>
                        <a:t>67                </a:t>
                      </a:r>
                    </a:p>
                    <a:p>
                      <a:pPr marL="742950" lvl="1" indent="-285750">
                        <a:buAutoNum type="romanLcParenR"/>
                      </a:pPr>
                      <a:endParaRPr lang="en-US" sz="1200" dirty="0">
                        <a:solidFill>
                          <a:srgbClr val="000000"/>
                        </a:solidFill>
                      </a:endParaRPr>
                    </a:p>
                    <a:p>
                      <a:pPr marL="742950" lvl="1" indent="-285750">
                        <a:buAutoNum type="romanLcParenR"/>
                      </a:pPr>
                      <a:r>
                        <a:rPr lang="en-US" sz="1200" dirty="0">
                          <a:solidFill>
                            <a:srgbClr val="000000"/>
                          </a:solidFill>
                        </a:rPr>
                        <a:t>165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42950" lvl="1" indent="-285750">
                        <a:buAutoNum type="romanLcParenR"/>
                      </a:pPr>
                      <a:r>
                        <a:rPr lang="en-US" sz="1200" dirty="0">
                          <a:solidFill>
                            <a:srgbClr val="000000"/>
                          </a:solidFill>
                        </a:rPr>
                        <a:t>86               </a:t>
                      </a:r>
                    </a:p>
                    <a:p>
                      <a:pPr marL="742950" lvl="1" indent="-285750">
                        <a:buAutoNum type="romanLcParenR"/>
                      </a:pPr>
                      <a:endParaRPr lang="en-US" sz="1200" dirty="0">
                        <a:solidFill>
                          <a:srgbClr val="000000"/>
                        </a:solidFill>
                      </a:endParaRPr>
                    </a:p>
                    <a:p>
                      <a:pPr marL="742950" lvl="1" indent="-285750">
                        <a:buAutoNum type="romanLcParenR"/>
                      </a:pPr>
                      <a:r>
                        <a:rPr lang="en-US" sz="1200" dirty="0">
                          <a:solidFill>
                            <a:srgbClr val="000000"/>
                          </a:solidFill>
                        </a:rPr>
                        <a:t>135             </a:t>
                      </a:r>
                    </a:p>
                    <a:p>
                      <a:pPr algn="l"/>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537972">
                <a:tc vMerge="1">
                  <a:txBody>
                    <a:bodyPr/>
                    <a:lstStyle/>
                    <a:p>
                      <a:endParaRPr lang="en-GB"/>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these numbers to the nearest 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these numbers to the nearest 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these numbers to the nearest 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7201462"/>
                  </a:ext>
                </a:extLst>
              </a:tr>
              <a:tr h="1052143">
                <a:tc vMerge="1">
                  <a:txBody>
                    <a:bodyPr/>
                    <a:lstStyle/>
                    <a:p>
                      <a:endParaRPr lang="en-GB"/>
                    </a:p>
                  </a:txBody>
                  <a:tcPr/>
                </a:tc>
                <a:tc>
                  <a:txBody>
                    <a:bodyPr/>
                    <a:lstStyle/>
                    <a:p>
                      <a:pPr marL="742950" lvl="1" indent="-285750">
                        <a:buAutoNum type="romanLcParenR"/>
                      </a:pPr>
                      <a:r>
                        <a:rPr lang="en-US" sz="1200" dirty="0">
                          <a:solidFill>
                            <a:srgbClr val="000000"/>
                          </a:solidFill>
                        </a:rPr>
                        <a:t>489             </a:t>
                      </a:r>
                    </a:p>
                    <a:p>
                      <a:pPr marL="742950" lvl="1" indent="-285750">
                        <a:buAutoNum type="romanLcParenR"/>
                      </a:pPr>
                      <a:endParaRPr lang="en-US" sz="1200" dirty="0">
                        <a:solidFill>
                          <a:srgbClr val="000000"/>
                        </a:solidFill>
                      </a:endParaRPr>
                    </a:p>
                    <a:p>
                      <a:pPr marL="742950" lvl="1" indent="-285750">
                        <a:buAutoNum type="romanLcParenR"/>
                      </a:pPr>
                      <a:r>
                        <a:rPr lang="en-US" sz="1200" dirty="0">
                          <a:solidFill>
                            <a:srgbClr val="000000"/>
                          </a:solidFill>
                        </a:rPr>
                        <a:t>1350         </a:t>
                      </a:r>
                    </a:p>
                    <a:p>
                      <a:pPr algn="ctr"/>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42950" lvl="1" indent="-285750">
                        <a:buAutoNum type="romanLcParenR"/>
                      </a:pPr>
                      <a:r>
                        <a:rPr lang="en-US" sz="1200" dirty="0">
                          <a:solidFill>
                            <a:srgbClr val="000000"/>
                          </a:solidFill>
                        </a:rPr>
                        <a:t>821             </a:t>
                      </a:r>
                    </a:p>
                    <a:p>
                      <a:pPr marL="742950" lvl="1" indent="-285750">
                        <a:buAutoNum type="romanLcParenR"/>
                      </a:pPr>
                      <a:endParaRPr lang="en-US" sz="1200" dirty="0">
                        <a:solidFill>
                          <a:srgbClr val="000000"/>
                        </a:solidFill>
                      </a:endParaRPr>
                    </a:p>
                    <a:p>
                      <a:pPr marL="742950" lvl="1" indent="-285750">
                        <a:buAutoNum type="romanLcParenR"/>
                      </a:pPr>
                      <a:r>
                        <a:rPr lang="en-US" sz="1200" dirty="0">
                          <a:solidFill>
                            <a:srgbClr val="000000"/>
                          </a:solidFill>
                        </a:rPr>
                        <a:t>1150         </a:t>
                      </a:r>
                    </a:p>
                    <a:p>
                      <a:pPr algn="ctr"/>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42950" lvl="1" indent="-285750">
                        <a:buAutoNum type="romanLcParenR"/>
                      </a:pPr>
                      <a:r>
                        <a:rPr lang="en-US" sz="1200" dirty="0">
                          <a:solidFill>
                            <a:srgbClr val="000000"/>
                          </a:solidFill>
                        </a:rPr>
                        <a:t>676             </a:t>
                      </a:r>
                    </a:p>
                    <a:p>
                      <a:pPr marL="742950" lvl="1" indent="-285750">
                        <a:buAutoNum type="romanLcParenR"/>
                      </a:pPr>
                      <a:endParaRPr lang="en-US" sz="1200" dirty="0">
                        <a:solidFill>
                          <a:srgbClr val="000000"/>
                        </a:solidFill>
                      </a:endParaRPr>
                    </a:p>
                    <a:p>
                      <a:pPr marL="742950" lvl="1" indent="-285750">
                        <a:buAutoNum type="romanLcParenR"/>
                      </a:pPr>
                      <a:r>
                        <a:rPr lang="en-US" sz="1200" dirty="0">
                          <a:solidFill>
                            <a:srgbClr val="000000"/>
                          </a:solidFill>
                        </a:rPr>
                        <a:t>1492        </a:t>
                      </a:r>
                    </a:p>
                    <a:p>
                      <a:pPr algn="ctr"/>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884498"/>
                  </a:ext>
                </a:extLst>
              </a:tr>
              <a:tr h="537972">
                <a:tc vMerge="1">
                  <a:txBody>
                    <a:bodyPr/>
                    <a:lstStyle/>
                    <a:p>
                      <a:endParaRPr lang="en-GB"/>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143,981 to the nearest: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25,865 to the nearest: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162,912 to the nearest: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687071"/>
                  </a:ext>
                </a:extLst>
              </a:tr>
              <a:tr h="1052143">
                <a:tc vMerge="1">
                  <a:txBody>
                    <a:bodyPr/>
                    <a:lstStyle/>
                    <a:p>
                      <a:endParaRPr lang="en-GB" dirty="0"/>
                    </a:p>
                  </a:txBody>
                  <a:tcPr/>
                </a:tc>
                <a:tc>
                  <a:txBody>
                    <a:bodyPr/>
                    <a:lstStyle/>
                    <a:p>
                      <a:pPr marL="285750" indent="-285750">
                        <a:buAutoNum type="romanLcParenR"/>
                      </a:pPr>
                      <a:r>
                        <a:rPr lang="en-US" sz="1200" dirty="0"/>
                        <a:t>100</a:t>
                      </a:r>
                    </a:p>
                    <a:p>
                      <a:pPr marL="285750" indent="-285750">
                        <a:buAutoNum type="romanLcParenR"/>
                      </a:pPr>
                      <a:endParaRPr lang="en-US" sz="1200" dirty="0"/>
                    </a:p>
                    <a:p>
                      <a:pPr marL="285750" indent="-285750">
                        <a:buAutoNum type="romanLcParenR"/>
                      </a:pPr>
                      <a:r>
                        <a:rPr lang="en-US" sz="1200" dirty="0"/>
                        <a:t>1000</a:t>
                      </a:r>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AutoNum type="romanLcParenR"/>
                      </a:pPr>
                      <a:r>
                        <a:rPr lang="en-US" sz="1200" dirty="0"/>
                        <a:t>100</a:t>
                      </a:r>
                    </a:p>
                    <a:p>
                      <a:pPr marL="285750" indent="-285750">
                        <a:buAutoNum type="romanLcParenR"/>
                      </a:pPr>
                      <a:endParaRPr lang="en-US" sz="1200" dirty="0"/>
                    </a:p>
                    <a:p>
                      <a:pPr marL="285750" indent="-285750">
                        <a:buAutoNum type="romanLcParenR"/>
                      </a:pPr>
                      <a:r>
                        <a:rPr lang="en-US" sz="1200" dirty="0"/>
                        <a:t>1000</a:t>
                      </a:r>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AutoNum type="romanLcParenR"/>
                      </a:pPr>
                      <a:r>
                        <a:rPr lang="en-US" sz="1200" dirty="0"/>
                        <a:t>100</a:t>
                      </a:r>
                    </a:p>
                    <a:p>
                      <a:pPr marL="285750" indent="-285750">
                        <a:buAutoNum type="romanLcParenR"/>
                      </a:pPr>
                      <a:endParaRPr lang="en-US" sz="1200" dirty="0"/>
                    </a:p>
                    <a:p>
                      <a:pPr marL="285750" indent="-285750">
                        <a:buAutoNum type="romanLcParenR"/>
                      </a:pPr>
                      <a:r>
                        <a:rPr lang="en-US" sz="1200" dirty="0"/>
                        <a:t>1000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5728435"/>
                  </a:ext>
                </a:extLst>
              </a:tr>
            </a:tbl>
          </a:graphicData>
        </a:graphic>
      </p:graphicFrame>
    </p:spTree>
    <p:extLst>
      <p:ext uri="{BB962C8B-B14F-4D97-AF65-F5344CB8AC3E}">
        <p14:creationId xmlns:p14="http://schemas.microsoft.com/office/powerpoint/2010/main" val="387071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99838" y="9577373"/>
            <a:ext cx="1543050" cy="527403"/>
          </a:xfrm>
        </p:spPr>
        <p:txBody>
          <a:bodyPr/>
          <a:lstStyle/>
          <a:p>
            <a:fld id="{19F1D9CC-7119-45EC-A96C-D8C0660F3AAB}" type="slidenum">
              <a:rPr lang="en-GB" smtClean="0"/>
              <a:t>15</a:t>
            </a:fld>
            <a:endParaRPr lang="en-GB"/>
          </a:p>
        </p:txBody>
      </p:sp>
      <p:sp>
        <p:nvSpPr>
          <p:cNvPr id="9" name="TextBox 8">
            <a:extLst>
              <a:ext uri="{FF2B5EF4-FFF2-40B4-BE49-F238E27FC236}">
                <a16:creationId xmlns:a16="http://schemas.microsoft.com/office/drawing/2014/main" id="{5BF125D4-640A-244D-ABD9-8B1521447260}"/>
              </a:ext>
            </a:extLst>
          </p:cNvPr>
          <p:cNvSpPr txBox="1"/>
          <p:nvPr/>
        </p:nvSpPr>
        <p:spPr>
          <a:xfrm>
            <a:off x="53520" y="115914"/>
            <a:ext cx="7575550" cy="276999"/>
          </a:xfrm>
          <a:prstGeom prst="rect">
            <a:avLst/>
          </a:prstGeom>
          <a:noFill/>
        </p:spPr>
        <p:txBody>
          <a:bodyPr wrap="square">
            <a:spAutoFit/>
          </a:bodyPr>
          <a:lstStyle/>
          <a:p>
            <a:r>
              <a:rPr lang="en-GB" sz="1200" b="1"/>
              <a:t>1</a:t>
            </a:r>
            <a:r>
              <a:rPr lang="en-GB" sz="1200"/>
              <a:t>. Round each number to the nearest 10:</a:t>
            </a:r>
          </a:p>
        </p:txBody>
      </p:sp>
      <p:sp>
        <p:nvSpPr>
          <p:cNvPr id="47" name="TextBox 46">
            <a:extLst>
              <a:ext uri="{FF2B5EF4-FFF2-40B4-BE49-F238E27FC236}">
                <a16:creationId xmlns:a16="http://schemas.microsoft.com/office/drawing/2014/main" id="{D6E8C162-1637-76F6-15C8-34956B438B69}"/>
              </a:ext>
            </a:extLst>
          </p:cNvPr>
          <p:cNvSpPr txBox="1"/>
          <p:nvPr/>
        </p:nvSpPr>
        <p:spPr>
          <a:xfrm>
            <a:off x="53520" y="2840831"/>
            <a:ext cx="6512380" cy="1200329"/>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2</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Round each number </a:t>
            </a:r>
            <a:r>
              <a:rPr lang="en-GB" sz="1200" dirty="0">
                <a:solidFill>
                  <a:prstClr val="black"/>
                </a:solidFill>
                <a:latin typeface="Calibri" panose="020F0502020204030204"/>
              </a:rPr>
              <a:t>below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to the nearest 100</a:t>
            </a: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a) 245 = _______ (nearest 100)			b) 7620 = </a:t>
            </a:r>
            <a:r>
              <a:rPr kumimoji="0" lang="en-GB" sz="1200" b="0" i="0" u="none" strike="noStrike" kern="1200" cap="none" spc="0" normalizeH="0" baseline="0" noProof="0" dirty="0">
                <a:ln>
                  <a:noFill/>
                </a:ln>
                <a:effectLst/>
                <a:uLnTx/>
                <a:uFillTx/>
                <a:latin typeface="Calibri" panose="020F0502020204030204"/>
                <a:ea typeface="+mn-ea"/>
                <a:cs typeface="+mn-cs"/>
              </a:rPr>
              <a:t>__</a:t>
            </a:r>
            <a:r>
              <a:rPr lang="en-GB" sz="1200" b="1" dirty="0">
                <a:latin typeface="Calibri" panose="020F0502020204030204"/>
              </a:rPr>
              <a:t>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a:t>
            </a: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c) 4801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d) 9450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a:t>
            </a:r>
          </a:p>
        </p:txBody>
      </p:sp>
      <p:sp>
        <p:nvSpPr>
          <p:cNvPr id="81" name="TextBox 80">
            <a:extLst>
              <a:ext uri="{FF2B5EF4-FFF2-40B4-BE49-F238E27FC236}">
                <a16:creationId xmlns:a16="http://schemas.microsoft.com/office/drawing/2014/main" id="{1CF802C8-A3AC-F77C-355A-C9058B823DDB}"/>
              </a:ext>
            </a:extLst>
          </p:cNvPr>
          <p:cNvSpPr txBox="1"/>
          <p:nvPr/>
        </p:nvSpPr>
        <p:spPr>
          <a:xfrm>
            <a:off x="53520" y="4297822"/>
            <a:ext cx="6194921" cy="1938992"/>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e) 1234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f) 1254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a:t>
            </a:r>
          </a:p>
          <a:p>
            <a:pPr marR="0" lvl="0" algn="l" defTabSz="457200" rtl="0" eaLnBrk="1" fontAlgn="auto" latinLnBrk="0" hangingPunct="1">
              <a:lnSpc>
                <a:spcPct val="100000"/>
              </a:lnSpc>
              <a:spcBef>
                <a:spcPts val="0"/>
              </a:spcBef>
              <a:spcAft>
                <a:spcPts val="0"/>
              </a:spcAft>
              <a:buClrTx/>
              <a:buSzTx/>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endParaRPr lang="en-GB" sz="1200" dirty="0">
              <a:solidFill>
                <a:prstClr val="black"/>
              </a:solidFill>
              <a:latin typeface="Calibri" panose="020F0502020204030204"/>
            </a:endParaRPr>
          </a:p>
          <a:p>
            <a:pPr marR="0" lvl="0" algn="l" defTabSz="457200" rtl="0" eaLnBrk="1" fontAlgn="auto" latinLnBrk="0" hangingPunct="1">
              <a:lnSpc>
                <a:spcPct val="100000"/>
              </a:lnSpc>
              <a:spcBef>
                <a:spcPts val="0"/>
              </a:spcBef>
              <a:spcAft>
                <a:spcPts val="0"/>
              </a:spcAft>
              <a:buClrTx/>
              <a:buSzTx/>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g) 12540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h) 12054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a:t>
            </a:r>
          </a:p>
          <a:p>
            <a:pPr marR="0" lvl="0" algn="l" defTabSz="457200" rtl="0" eaLnBrk="1" fontAlgn="auto" latinLnBrk="0" hangingPunct="1">
              <a:lnSpc>
                <a:spcPct val="100000"/>
              </a:lnSpc>
              <a:spcBef>
                <a:spcPts val="0"/>
              </a:spcBef>
              <a:spcAft>
                <a:spcPts val="0"/>
              </a:spcAft>
              <a:buClrTx/>
              <a:buSzTx/>
              <a:tabLst/>
              <a:defRPr/>
            </a:pP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GB" sz="1200" b="0" i="0" u="none" strike="noStrike" kern="1200" cap="none" spc="0" normalizeH="0" baseline="0" noProof="0" dirty="0" err="1">
                <a:ln>
                  <a:noFill/>
                </a:ln>
                <a:solidFill>
                  <a:prstClr val="black"/>
                </a:solidFill>
                <a:effectLst/>
                <a:uLnTx/>
                <a:uFillTx/>
                <a:latin typeface="Calibri" panose="020F0502020204030204"/>
                <a:ea typeface="+mn-ea"/>
                <a:cs typeface="+mn-cs"/>
              </a:rPr>
              <a:t>i</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4708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j) 3902.8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a:t>
            </a:r>
          </a:p>
          <a:p>
            <a:pPr marR="0" lvl="0" algn="l" defTabSz="457200" rtl="0" eaLnBrk="1" fontAlgn="auto" latinLnBrk="0" hangingPunct="1">
              <a:lnSpc>
                <a:spcPct val="100000"/>
              </a:lnSpc>
              <a:spcBef>
                <a:spcPts val="0"/>
              </a:spcBef>
              <a:spcAft>
                <a:spcPts val="0"/>
              </a:spcAft>
              <a:buClrTx/>
              <a:buSzTx/>
              <a:tabLst/>
              <a:defRPr/>
            </a:pPr>
            <a:endParaRPr lang="en-GB" sz="1200" dirty="0">
              <a:solidFill>
                <a:prstClr val="black"/>
              </a:solidFill>
              <a:latin typeface="Calibri" panose="020F0502020204030204"/>
            </a:endParaRPr>
          </a:p>
          <a:p>
            <a:pPr marR="0" lvl="0" algn="l" defTabSz="457200" rtl="0" eaLnBrk="1" fontAlgn="auto" latinLnBrk="0" hangingPunct="1">
              <a:lnSpc>
                <a:spcPct val="100000"/>
              </a:lnSpc>
              <a:spcBef>
                <a:spcPts val="0"/>
              </a:spcBef>
              <a:spcAft>
                <a:spcPts val="0"/>
              </a:spcAft>
              <a:buClrTx/>
              <a:buSzTx/>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k) 76.34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l) 24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a:t>
            </a:r>
          </a:p>
        </p:txBody>
      </p:sp>
      <p:sp>
        <p:nvSpPr>
          <p:cNvPr id="143" name="TextBox 142">
            <a:extLst>
              <a:ext uri="{FF2B5EF4-FFF2-40B4-BE49-F238E27FC236}">
                <a16:creationId xmlns:a16="http://schemas.microsoft.com/office/drawing/2014/main" id="{9F042628-2A2B-CBD9-820D-DA4B4745EAA2}"/>
              </a:ext>
            </a:extLst>
          </p:cNvPr>
          <p:cNvSpPr txBox="1"/>
          <p:nvPr/>
        </p:nvSpPr>
        <p:spPr>
          <a:xfrm>
            <a:off x="53520" y="6475756"/>
            <a:ext cx="6889368" cy="3600986"/>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3</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Now round each number in question 3 to the nearest 1000</a:t>
            </a: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a) 4382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1000)	                	b) 43820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p>
          <a:p>
            <a:pPr marR="0" lvl="0" algn="l" defTabSz="457200" rtl="0" eaLnBrk="1" fontAlgn="auto" latinLnBrk="0" hangingPunct="1">
              <a:lnSpc>
                <a:spcPct val="100000"/>
              </a:lnSpc>
              <a:spcBef>
                <a:spcPts val="0"/>
              </a:spcBef>
              <a:spcAft>
                <a:spcPts val="0"/>
              </a:spcAft>
              <a:buClrTx/>
              <a:buSzTx/>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a:t>
            </a: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c) 43280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d) 40328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a:t>
            </a:r>
          </a:p>
          <a:p>
            <a:pPr marR="0" lvl="0" algn="l" defTabSz="457200" rtl="0" eaLnBrk="1" fontAlgn="auto" latinLnBrk="0" hangingPunct="1">
              <a:lnSpc>
                <a:spcPct val="100000"/>
              </a:lnSpc>
              <a:spcBef>
                <a:spcPts val="0"/>
              </a:spcBef>
              <a:spcAft>
                <a:spcPts val="0"/>
              </a:spcAft>
              <a:buClrTx/>
              <a:buSzTx/>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defTabSz="457200">
              <a:defRPr/>
            </a:pPr>
            <a:r>
              <a:rPr lang="en-GB" sz="1200" dirty="0"/>
              <a:t>e) 1234</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r>
              <a:rPr lang="en-GB" sz="1200" dirty="0"/>
              <a:t>		             f) 5839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p>
          <a:p>
            <a:pPr defTabSz="457200">
              <a:defRPr/>
            </a:pPr>
            <a:r>
              <a:rPr lang="en-GB" sz="1200" dirty="0"/>
              <a:t>	</a:t>
            </a:r>
          </a:p>
          <a:p>
            <a:pPr defTabSz="457200">
              <a:defRPr/>
            </a:pPr>
            <a:endParaRPr lang="en-GB" sz="1200" dirty="0"/>
          </a:p>
          <a:p>
            <a:pPr defTabSz="457200">
              <a:defRPr/>
            </a:pPr>
            <a:r>
              <a:rPr lang="en-GB" sz="1200" dirty="0"/>
              <a:t>g) 12540</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r>
              <a:rPr lang="en-GB" sz="1200" dirty="0"/>
              <a:t>		             h) 12054</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p>
          <a:p>
            <a:pPr defTabSz="457200">
              <a:defRPr/>
            </a:pPr>
            <a:br>
              <a:rPr lang="en-GB" sz="1200" dirty="0"/>
            </a:br>
            <a:br>
              <a:rPr lang="en-GB" sz="1200" dirty="0"/>
            </a:br>
            <a:r>
              <a:rPr lang="en-GB" sz="1200" dirty="0" err="1"/>
              <a:t>i</a:t>
            </a:r>
            <a:r>
              <a:rPr lang="en-GB" sz="1200" dirty="0"/>
              <a:t>) 104,708</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r>
              <a:rPr lang="en-GB" sz="1200" dirty="0"/>
              <a:t>		             j) 3902.8</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a:t>
            </a:r>
          </a:p>
          <a:p>
            <a:pPr defTabSz="457200">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defTabSz="457200">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GB" sz="1200" dirty="0"/>
              <a:t>	</a:t>
            </a:r>
          </a:p>
          <a:p>
            <a:pPr defTabSz="457200">
              <a:defRPr/>
            </a:pPr>
            <a:r>
              <a:rPr lang="en-GB" sz="1200" dirty="0"/>
              <a:t>k) 706.34</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r>
              <a:rPr lang="en-GB" sz="1200" dirty="0"/>
              <a:t>		             l) 324</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endParaRPr lang="en-GB" sz="1200" dirty="0"/>
          </a:p>
          <a:p>
            <a:pPr marR="0" lvl="0" algn="l" defTabSz="457200" rtl="0" eaLnBrk="1" fontAlgn="auto" latinLnBrk="0" hangingPunct="1">
              <a:lnSpc>
                <a:spcPct val="100000"/>
              </a:lnSpc>
              <a:spcBef>
                <a:spcPts val="0"/>
              </a:spcBef>
              <a:spcAft>
                <a:spcPts val="0"/>
              </a:spcAft>
              <a:buClrTx/>
              <a:buSzTx/>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 name="Table 3">
            <a:extLst>
              <a:ext uri="{FF2B5EF4-FFF2-40B4-BE49-F238E27FC236}">
                <a16:creationId xmlns:a16="http://schemas.microsoft.com/office/drawing/2014/main" id="{DA8A41CA-A8DC-B399-C93F-ACF515DC1522}"/>
              </a:ext>
            </a:extLst>
          </p:cNvPr>
          <p:cNvGraphicFramePr>
            <a:graphicFrameLocks noGrp="1"/>
          </p:cNvGraphicFramePr>
          <p:nvPr>
            <p:extLst>
              <p:ext uri="{D42A27DB-BD31-4B8C-83A1-F6EECF244321}">
                <p14:modId xmlns:p14="http://schemas.microsoft.com/office/powerpoint/2010/main" val="1043001775"/>
              </p:ext>
            </p:extLst>
          </p:nvPr>
        </p:nvGraphicFramePr>
        <p:xfrm>
          <a:off x="172810" y="528138"/>
          <a:ext cx="6512379" cy="2096712"/>
        </p:xfrm>
        <a:graphic>
          <a:graphicData uri="http://schemas.openxmlformats.org/drawingml/2006/table">
            <a:tbl>
              <a:tblPr firstRow="1" bandRow="1">
                <a:tableStyleId>{5940675A-B579-460E-94D1-54222C63F5DA}</a:tableStyleId>
              </a:tblPr>
              <a:tblGrid>
                <a:gridCol w="754219">
                  <a:extLst>
                    <a:ext uri="{9D8B030D-6E8A-4147-A177-3AD203B41FA5}">
                      <a16:colId xmlns:a16="http://schemas.microsoft.com/office/drawing/2014/main" val="4277609270"/>
                    </a:ext>
                  </a:extLst>
                </a:gridCol>
                <a:gridCol w="1416574">
                  <a:extLst>
                    <a:ext uri="{9D8B030D-6E8A-4147-A177-3AD203B41FA5}">
                      <a16:colId xmlns:a16="http://schemas.microsoft.com/office/drawing/2014/main" val="3333885263"/>
                    </a:ext>
                  </a:extLst>
                </a:gridCol>
                <a:gridCol w="870748">
                  <a:extLst>
                    <a:ext uri="{9D8B030D-6E8A-4147-A177-3AD203B41FA5}">
                      <a16:colId xmlns:a16="http://schemas.microsoft.com/office/drawing/2014/main" val="2108569520"/>
                    </a:ext>
                  </a:extLst>
                </a:gridCol>
                <a:gridCol w="1300045">
                  <a:extLst>
                    <a:ext uri="{9D8B030D-6E8A-4147-A177-3AD203B41FA5}">
                      <a16:colId xmlns:a16="http://schemas.microsoft.com/office/drawing/2014/main" val="3011052648"/>
                    </a:ext>
                  </a:extLst>
                </a:gridCol>
                <a:gridCol w="777597">
                  <a:extLst>
                    <a:ext uri="{9D8B030D-6E8A-4147-A177-3AD203B41FA5}">
                      <a16:colId xmlns:a16="http://schemas.microsoft.com/office/drawing/2014/main" val="3156669152"/>
                    </a:ext>
                  </a:extLst>
                </a:gridCol>
                <a:gridCol w="1393196">
                  <a:extLst>
                    <a:ext uri="{9D8B030D-6E8A-4147-A177-3AD203B41FA5}">
                      <a16:colId xmlns:a16="http://schemas.microsoft.com/office/drawing/2014/main" val="790511379"/>
                    </a:ext>
                  </a:extLst>
                </a:gridCol>
              </a:tblGrid>
              <a:tr h="524178">
                <a:tc>
                  <a:txBody>
                    <a:bodyPr/>
                    <a:lstStyle/>
                    <a:p>
                      <a:pPr marL="228600" indent="-228600">
                        <a:buAutoNum type="alphaLcParenR"/>
                      </a:pPr>
                      <a:r>
                        <a:rPr lang="en-GB" sz="1200" dirty="0"/>
                        <a:t>32</a:t>
                      </a:r>
                    </a:p>
                  </a:txBody>
                  <a:tcPr anchor="ctr"/>
                </a:tc>
                <a:tc>
                  <a:txBody>
                    <a:bodyPr/>
                    <a:lstStyle/>
                    <a:p>
                      <a:endParaRPr lang="en-GB" sz="2000" dirty="0">
                        <a:solidFill>
                          <a:srgbClr val="FF0000"/>
                        </a:solidFill>
                      </a:endParaRPr>
                    </a:p>
                  </a:txBody>
                  <a:tcPr anchor="ctr"/>
                </a:tc>
                <a:tc>
                  <a:txBody>
                    <a:bodyPr/>
                    <a:lstStyle/>
                    <a:p>
                      <a:r>
                        <a:rPr lang="en-GB" sz="1200" dirty="0"/>
                        <a:t>e) 59</a:t>
                      </a:r>
                    </a:p>
                  </a:txBody>
                  <a:tcPr anchor="ctr"/>
                </a:tc>
                <a:tc>
                  <a:txBody>
                    <a:bodyPr/>
                    <a:lstStyle/>
                    <a:p>
                      <a:endParaRPr lang="en-GB" sz="2000" dirty="0">
                        <a:solidFill>
                          <a:srgbClr val="FF0000"/>
                        </a:solidFill>
                      </a:endParaRPr>
                    </a:p>
                  </a:txBody>
                  <a:tcPr anchor="ctr"/>
                </a:tc>
                <a:tc>
                  <a:txBody>
                    <a:bodyPr/>
                    <a:lstStyle/>
                    <a:p>
                      <a:pPr marL="0" indent="0">
                        <a:buNone/>
                      </a:pPr>
                      <a:r>
                        <a:rPr lang="en-GB" sz="1200" dirty="0" err="1"/>
                        <a:t>i</a:t>
                      </a:r>
                      <a:r>
                        <a:rPr lang="en-GB" sz="1200" dirty="0"/>
                        <a:t>) 845</a:t>
                      </a:r>
                    </a:p>
                  </a:txBody>
                  <a:tcPr anchor="ctr"/>
                </a:tc>
                <a:tc>
                  <a:txBody>
                    <a:bodyPr/>
                    <a:lstStyle/>
                    <a:p>
                      <a:endParaRPr lang="en-GB" sz="1800" dirty="0">
                        <a:solidFill>
                          <a:srgbClr val="FF0000"/>
                        </a:solidFill>
                      </a:endParaRPr>
                    </a:p>
                  </a:txBody>
                  <a:tcPr anchor="ctr"/>
                </a:tc>
                <a:extLst>
                  <a:ext uri="{0D108BD9-81ED-4DB2-BD59-A6C34878D82A}">
                    <a16:rowId xmlns:a16="http://schemas.microsoft.com/office/drawing/2014/main" val="2638937097"/>
                  </a:ext>
                </a:extLst>
              </a:tr>
              <a:tr h="524178">
                <a:tc>
                  <a:txBody>
                    <a:bodyPr/>
                    <a:lstStyle/>
                    <a:p>
                      <a:r>
                        <a:rPr lang="en-GB" sz="1200" dirty="0"/>
                        <a:t>b) 67</a:t>
                      </a:r>
                    </a:p>
                  </a:txBody>
                  <a:tcPr anchor="ctr"/>
                </a:tc>
                <a:tc>
                  <a:txBody>
                    <a:bodyPr/>
                    <a:lstStyle/>
                    <a:p>
                      <a:endParaRPr lang="en-GB" sz="2000" dirty="0">
                        <a:solidFill>
                          <a:srgbClr val="FF0000"/>
                        </a:solidFill>
                      </a:endParaRPr>
                    </a:p>
                  </a:txBody>
                  <a:tcPr anchor="ctr"/>
                </a:tc>
                <a:tc>
                  <a:txBody>
                    <a:bodyPr/>
                    <a:lstStyle/>
                    <a:p>
                      <a:r>
                        <a:rPr lang="en-GB" sz="1200" dirty="0"/>
                        <a:t>f) 238</a:t>
                      </a:r>
                    </a:p>
                  </a:txBody>
                  <a:tcPr anchor="ctr"/>
                </a:tc>
                <a:tc>
                  <a:txBody>
                    <a:bodyPr/>
                    <a:lstStyle/>
                    <a:p>
                      <a:endParaRPr lang="en-GB" sz="2000" dirty="0">
                        <a:solidFill>
                          <a:srgbClr val="FF0000"/>
                        </a:solidFill>
                      </a:endParaRPr>
                    </a:p>
                  </a:txBody>
                  <a:tcPr anchor="ctr"/>
                </a:tc>
                <a:tc>
                  <a:txBody>
                    <a:bodyPr/>
                    <a:lstStyle/>
                    <a:p>
                      <a:r>
                        <a:rPr lang="en-GB" sz="1200" dirty="0"/>
                        <a:t>j) 1628</a:t>
                      </a:r>
                    </a:p>
                  </a:txBody>
                  <a:tcPr anchor="ctr"/>
                </a:tc>
                <a:tc>
                  <a:txBody>
                    <a:bodyPr/>
                    <a:lstStyle/>
                    <a:p>
                      <a:endParaRPr lang="en-GB" sz="1800" dirty="0">
                        <a:solidFill>
                          <a:srgbClr val="FF0000"/>
                        </a:solidFill>
                      </a:endParaRPr>
                    </a:p>
                  </a:txBody>
                  <a:tcPr anchor="ctr"/>
                </a:tc>
                <a:extLst>
                  <a:ext uri="{0D108BD9-81ED-4DB2-BD59-A6C34878D82A}">
                    <a16:rowId xmlns:a16="http://schemas.microsoft.com/office/drawing/2014/main" val="2537436870"/>
                  </a:ext>
                </a:extLst>
              </a:tr>
              <a:tr h="524178">
                <a:tc>
                  <a:txBody>
                    <a:bodyPr/>
                    <a:lstStyle/>
                    <a:p>
                      <a:r>
                        <a:rPr lang="en-GB" sz="1200" dirty="0"/>
                        <a:t>c) 71</a:t>
                      </a:r>
                    </a:p>
                  </a:txBody>
                  <a:tcPr anchor="ctr"/>
                </a:tc>
                <a:tc>
                  <a:txBody>
                    <a:bodyPr/>
                    <a:lstStyle/>
                    <a:p>
                      <a:endParaRPr lang="en-GB" sz="2000" dirty="0">
                        <a:solidFill>
                          <a:srgbClr val="FF0000"/>
                        </a:solidFill>
                      </a:endParaRPr>
                    </a:p>
                  </a:txBody>
                  <a:tcPr anchor="ctr"/>
                </a:tc>
                <a:tc>
                  <a:txBody>
                    <a:bodyPr/>
                    <a:lstStyle/>
                    <a:p>
                      <a:r>
                        <a:rPr lang="en-GB" sz="1200" dirty="0"/>
                        <a:t>g) 312</a:t>
                      </a:r>
                    </a:p>
                  </a:txBody>
                  <a:tcPr anchor="ctr"/>
                </a:tc>
                <a:tc>
                  <a:txBody>
                    <a:bodyPr/>
                    <a:lstStyle/>
                    <a:p>
                      <a:endParaRPr lang="en-GB" sz="2000" dirty="0">
                        <a:solidFill>
                          <a:srgbClr val="FF0000"/>
                        </a:solidFill>
                      </a:endParaRPr>
                    </a:p>
                  </a:txBody>
                  <a:tcPr anchor="ctr"/>
                </a:tc>
                <a:tc>
                  <a:txBody>
                    <a:bodyPr/>
                    <a:lstStyle/>
                    <a:p>
                      <a:r>
                        <a:rPr lang="en-GB" sz="1200" dirty="0"/>
                        <a:t>k) 502</a:t>
                      </a:r>
                    </a:p>
                  </a:txBody>
                  <a:tcPr anchor="ctr"/>
                </a:tc>
                <a:tc>
                  <a:txBody>
                    <a:bodyPr/>
                    <a:lstStyle/>
                    <a:p>
                      <a:endParaRPr lang="en-GB" sz="1800" dirty="0">
                        <a:solidFill>
                          <a:srgbClr val="FF0000"/>
                        </a:solidFill>
                      </a:endParaRPr>
                    </a:p>
                  </a:txBody>
                  <a:tcPr anchor="ctr"/>
                </a:tc>
                <a:extLst>
                  <a:ext uri="{0D108BD9-81ED-4DB2-BD59-A6C34878D82A}">
                    <a16:rowId xmlns:a16="http://schemas.microsoft.com/office/drawing/2014/main" val="1129532166"/>
                  </a:ext>
                </a:extLst>
              </a:tr>
              <a:tr h="524178">
                <a:tc>
                  <a:txBody>
                    <a:bodyPr/>
                    <a:lstStyle/>
                    <a:p>
                      <a:r>
                        <a:rPr lang="en-GB" sz="1200" dirty="0"/>
                        <a:t>d) 24</a:t>
                      </a:r>
                    </a:p>
                  </a:txBody>
                  <a:tcPr anchor="ctr"/>
                </a:tc>
                <a:tc>
                  <a:txBody>
                    <a:bodyPr/>
                    <a:lstStyle/>
                    <a:p>
                      <a:endParaRPr lang="en-GB" sz="2000" dirty="0">
                        <a:solidFill>
                          <a:srgbClr val="FF0000"/>
                        </a:solidFill>
                      </a:endParaRPr>
                    </a:p>
                  </a:txBody>
                  <a:tcPr anchor="ctr"/>
                </a:tc>
                <a:tc>
                  <a:txBody>
                    <a:bodyPr/>
                    <a:lstStyle/>
                    <a:p>
                      <a:r>
                        <a:rPr lang="en-GB" sz="1200" dirty="0"/>
                        <a:t>h) 333</a:t>
                      </a:r>
                    </a:p>
                  </a:txBody>
                  <a:tcPr anchor="ctr"/>
                </a:tc>
                <a:tc>
                  <a:txBody>
                    <a:bodyPr/>
                    <a:lstStyle/>
                    <a:p>
                      <a:endParaRPr lang="en-GB" sz="2000" dirty="0">
                        <a:solidFill>
                          <a:srgbClr val="FF0000"/>
                        </a:solidFill>
                      </a:endParaRPr>
                    </a:p>
                  </a:txBody>
                  <a:tcPr anchor="ctr"/>
                </a:tc>
                <a:tc>
                  <a:txBody>
                    <a:bodyPr/>
                    <a:lstStyle/>
                    <a:p>
                      <a:r>
                        <a:rPr lang="en-GB" sz="1200" dirty="0"/>
                        <a:t>l) 7555</a:t>
                      </a:r>
                    </a:p>
                  </a:txBody>
                  <a:tcPr anchor="ctr"/>
                </a:tc>
                <a:tc>
                  <a:txBody>
                    <a:bodyPr/>
                    <a:lstStyle/>
                    <a:p>
                      <a:endParaRPr lang="en-GB" sz="1800" dirty="0">
                        <a:solidFill>
                          <a:srgbClr val="FF0000"/>
                        </a:solidFill>
                      </a:endParaRPr>
                    </a:p>
                  </a:txBody>
                  <a:tcPr anchor="ctr"/>
                </a:tc>
                <a:extLst>
                  <a:ext uri="{0D108BD9-81ED-4DB2-BD59-A6C34878D82A}">
                    <a16:rowId xmlns:a16="http://schemas.microsoft.com/office/drawing/2014/main" val="3584385298"/>
                  </a:ext>
                </a:extLst>
              </a:tr>
            </a:tbl>
          </a:graphicData>
        </a:graphic>
      </p:graphicFrame>
    </p:spTree>
    <p:extLst>
      <p:ext uri="{BB962C8B-B14F-4D97-AF65-F5344CB8AC3E}">
        <p14:creationId xmlns:p14="http://schemas.microsoft.com/office/powerpoint/2010/main" val="1289636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F50A8F-70F5-9912-27F2-00E7C4F0653B}"/>
              </a:ext>
            </a:extLst>
          </p:cNvPr>
          <p:cNvSpPr>
            <a:spLocks noGrp="1"/>
          </p:cNvSpPr>
          <p:nvPr>
            <p:ph type="sldNum" sz="quarter" idx="12"/>
          </p:nvPr>
        </p:nvSpPr>
        <p:spPr/>
        <p:txBody>
          <a:bodyPr/>
          <a:lstStyle/>
          <a:p>
            <a:fld id="{19F1D9CC-7119-45EC-A96C-D8C0660F3AAB}" type="slidenum">
              <a:rPr lang="en-GB" smtClean="0"/>
              <a:t>16</a:t>
            </a:fld>
            <a:endParaRPr lang="en-GB"/>
          </a:p>
        </p:txBody>
      </p:sp>
      <p:graphicFrame>
        <p:nvGraphicFramePr>
          <p:cNvPr id="3" name="Table 2">
            <a:extLst>
              <a:ext uri="{FF2B5EF4-FFF2-40B4-BE49-F238E27FC236}">
                <a16:creationId xmlns:a16="http://schemas.microsoft.com/office/drawing/2014/main" id="{7D2BFEB6-4802-856E-0C73-7217D710E633}"/>
              </a:ext>
            </a:extLst>
          </p:cNvPr>
          <p:cNvGraphicFramePr>
            <a:graphicFrameLocks noGrp="1"/>
          </p:cNvGraphicFramePr>
          <p:nvPr>
            <p:extLst>
              <p:ext uri="{D42A27DB-BD31-4B8C-83A1-F6EECF244321}">
                <p14:modId xmlns:p14="http://schemas.microsoft.com/office/powerpoint/2010/main" val="3573060857"/>
              </p:ext>
            </p:extLst>
          </p:nvPr>
        </p:nvGraphicFramePr>
        <p:xfrm>
          <a:off x="275431" y="477838"/>
          <a:ext cx="6390480" cy="2059207"/>
        </p:xfrm>
        <a:graphic>
          <a:graphicData uri="http://schemas.openxmlformats.org/drawingml/2006/table">
            <a:tbl>
              <a:tblPr firstRow="1" bandRow="1">
                <a:tableStyleId>{5C22544A-7EE6-4342-B048-85BDC9FD1C3A}</a:tableStyleId>
              </a:tblPr>
              <a:tblGrid>
                <a:gridCol w="739440">
                  <a:extLst>
                    <a:ext uri="{9D8B030D-6E8A-4147-A177-3AD203B41FA5}">
                      <a16:colId xmlns:a16="http://schemas.microsoft.com/office/drawing/2014/main" val="1715529312"/>
                    </a:ext>
                  </a:extLst>
                </a:gridCol>
                <a:gridCol w="1883680">
                  <a:extLst>
                    <a:ext uri="{9D8B030D-6E8A-4147-A177-3AD203B41FA5}">
                      <a16:colId xmlns:a16="http://schemas.microsoft.com/office/drawing/2014/main" val="2547764406"/>
                    </a:ext>
                  </a:extLst>
                </a:gridCol>
                <a:gridCol w="1883680">
                  <a:extLst>
                    <a:ext uri="{9D8B030D-6E8A-4147-A177-3AD203B41FA5}">
                      <a16:colId xmlns:a16="http://schemas.microsoft.com/office/drawing/2014/main" val="4073140287"/>
                    </a:ext>
                  </a:extLst>
                </a:gridCol>
                <a:gridCol w="1883680">
                  <a:extLst>
                    <a:ext uri="{9D8B030D-6E8A-4147-A177-3AD203B41FA5}">
                      <a16:colId xmlns:a16="http://schemas.microsoft.com/office/drawing/2014/main" val="2271113664"/>
                    </a:ext>
                  </a:extLst>
                </a:gridCol>
              </a:tblGrid>
              <a:tr h="596167">
                <a:tc>
                  <a:txBody>
                    <a:bodyPr/>
                    <a:lstStyle/>
                    <a:p>
                      <a:r>
                        <a:rPr lang="en-GB" sz="1200">
                          <a:solidFill>
                            <a:schemeClr val="tx1"/>
                          </a:solidFill>
                        </a:rPr>
                        <a:t>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a:solidFill>
                            <a:schemeClr val="tx1"/>
                          </a:solidFill>
                        </a:rPr>
                        <a:t>Rounded to the nearest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a:solidFill>
                            <a:schemeClr val="tx1"/>
                          </a:solidFill>
                        </a:rPr>
                        <a:t>Rounded to the nearest 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a:solidFill>
                            <a:schemeClr val="tx1"/>
                          </a:solidFill>
                        </a:rPr>
                        <a:t>Rounded to the nearest 1000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943874"/>
                  </a:ext>
                </a:extLst>
              </a:tr>
              <a:tr h="357700">
                <a:tc>
                  <a:txBody>
                    <a:bodyPr/>
                    <a:lstStyle/>
                    <a:p>
                      <a:pPr algn="ctr"/>
                      <a:r>
                        <a:rPr lang="en-GB" sz="1200"/>
                        <a:t>6432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3025556"/>
                  </a:ext>
                </a:extLst>
              </a:tr>
              <a:tr h="357700">
                <a:tc>
                  <a:txBody>
                    <a:bodyPr/>
                    <a:lstStyle/>
                    <a:p>
                      <a:pPr algn="ctr"/>
                      <a:r>
                        <a:rPr lang="en-GB" sz="1200"/>
                        <a:t>9256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4987600"/>
                  </a:ext>
                </a:extLst>
              </a:tr>
              <a:tr h="357700">
                <a:tc>
                  <a:txBody>
                    <a:bodyPr/>
                    <a:lstStyle/>
                    <a:p>
                      <a:pPr algn="ctr"/>
                      <a:r>
                        <a:rPr lang="en-GB" sz="1200"/>
                        <a:t>40039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6173701"/>
                  </a:ext>
                </a:extLst>
              </a:tr>
              <a:tr h="357700">
                <a:tc>
                  <a:txBody>
                    <a:bodyPr/>
                    <a:lstStyle/>
                    <a:p>
                      <a:pPr algn="ctr"/>
                      <a:r>
                        <a:rPr lang="en-GB" sz="1200"/>
                        <a:t>4555.9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344352"/>
                  </a:ext>
                </a:extLst>
              </a:tr>
            </a:tbl>
          </a:graphicData>
        </a:graphic>
      </p:graphicFrame>
      <p:sp>
        <p:nvSpPr>
          <p:cNvPr id="7" name="TextBox 6">
            <a:extLst>
              <a:ext uri="{FF2B5EF4-FFF2-40B4-BE49-F238E27FC236}">
                <a16:creationId xmlns:a16="http://schemas.microsoft.com/office/drawing/2014/main" id="{A48B377A-F857-5C11-FD51-E129A0EEE0A2}"/>
              </a:ext>
            </a:extLst>
          </p:cNvPr>
          <p:cNvSpPr txBox="1"/>
          <p:nvPr/>
        </p:nvSpPr>
        <p:spPr>
          <a:xfrm>
            <a:off x="192088" y="200839"/>
            <a:ext cx="4913312" cy="276999"/>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4.</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Round these numbers to the given degree of accuracy</a:t>
            </a:r>
          </a:p>
        </p:txBody>
      </p:sp>
      <p:sp>
        <p:nvSpPr>
          <p:cNvPr id="8" name="TextBox 7">
            <a:extLst>
              <a:ext uri="{FF2B5EF4-FFF2-40B4-BE49-F238E27FC236}">
                <a16:creationId xmlns:a16="http://schemas.microsoft.com/office/drawing/2014/main" id="{AE43D87B-7EB3-1E7E-2441-CC365A6DDC2E}"/>
              </a:ext>
            </a:extLst>
          </p:cNvPr>
          <p:cNvSpPr txBox="1"/>
          <p:nvPr/>
        </p:nvSpPr>
        <p:spPr>
          <a:xfrm>
            <a:off x="192088" y="2583637"/>
            <a:ext cx="4593742" cy="461665"/>
          </a:xfrm>
          <a:prstGeom prst="rect">
            <a:avLst/>
          </a:prstGeom>
          <a:noFill/>
        </p:spPr>
        <p:txBody>
          <a:bodyPr wrap="square" rtlCol="0">
            <a:spAutoFit/>
          </a:bodyPr>
          <a:lstStyle/>
          <a:p>
            <a:r>
              <a:rPr lang="en-US" sz="1200" b="1"/>
              <a:t>5.  </a:t>
            </a:r>
            <a:r>
              <a:rPr lang="en-GB" sz="1200"/>
              <a:t>Look at these signs.</a:t>
            </a:r>
            <a:endParaRPr lang="en-US" sz="1200"/>
          </a:p>
          <a:p>
            <a:pPr marL="174625" indent="-174625"/>
            <a:r>
              <a:rPr lang="en-US" sz="1200"/>
              <a:t>	Which of these sentences could be true? Which must be false?</a:t>
            </a:r>
            <a:endParaRPr lang="en-GB" sz="1200"/>
          </a:p>
        </p:txBody>
      </p:sp>
      <p:pic>
        <p:nvPicPr>
          <p:cNvPr id="9" name="Picture 8">
            <a:extLst>
              <a:ext uri="{FF2B5EF4-FFF2-40B4-BE49-F238E27FC236}">
                <a16:creationId xmlns:a16="http://schemas.microsoft.com/office/drawing/2014/main" id="{C35D6C75-2CBC-BE87-CE44-F65DA25FAF41}"/>
              </a:ext>
            </a:extLst>
          </p:cNvPr>
          <p:cNvPicPr>
            <a:picLocks noChangeAspect="1"/>
          </p:cNvPicPr>
          <p:nvPr/>
        </p:nvPicPr>
        <p:blipFill>
          <a:blip r:embed="rId2"/>
          <a:stretch>
            <a:fillRect/>
          </a:stretch>
        </p:blipFill>
        <p:spPr>
          <a:xfrm>
            <a:off x="3701449" y="3069709"/>
            <a:ext cx="3019822" cy="697212"/>
          </a:xfrm>
          <a:prstGeom prst="rect">
            <a:avLst/>
          </a:prstGeom>
        </p:spPr>
      </p:pic>
      <p:sp>
        <p:nvSpPr>
          <p:cNvPr id="12" name="TextBox 11">
            <a:extLst>
              <a:ext uri="{FF2B5EF4-FFF2-40B4-BE49-F238E27FC236}">
                <a16:creationId xmlns:a16="http://schemas.microsoft.com/office/drawing/2014/main" id="{CCAC1CA8-C328-116B-9BB4-AB5800A27EC5}"/>
              </a:ext>
            </a:extLst>
          </p:cNvPr>
          <p:cNvSpPr txBox="1"/>
          <p:nvPr/>
        </p:nvSpPr>
        <p:spPr>
          <a:xfrm>
            <a:off x="166689" y="5601771"/>
            <a:ext cx="6219824" cy="461665"/>
          </a:xfrm>
          <a:prstGeom prst="rect">
            <a:avLst/>
          </a:prstGeom>
          <a:noFill/>
        </p:spPr>
        <p:txBody>
          <a:bodyPr wrap="square" rtlCol="0">
            <a:spAutoFit/>
          </a:bodyPr>
          <a:lstStyle/>
          <a:p>
            <a:pPr marL="180975" indent="-180975"/>
            <a:r>
              <a:rPr lang="en-US" sz="1200" b="1"/>
              <a:t>6. </a:t>
            </a:r>
            <a:r>
              <a:rPr lang="en-US" sz="1200"/>
              <a:t>The table shows the numbers of spectators in the crowds at ten Premier Division games on a weekend in October 2014.</a:t>
            </a:r>
            <a:endParaRPr lang="en-GB" sz="1200"/>
          </a:p>
        </p:txBody>
      </p:sp>
      <p:pic>
        <p:nvPicPr>
          <p:cNvPr id="13" name="Picture 12">
            <a:extLst>
              <a:ext uri="{FF2B5EF4-FFF2-40B4-BE49-F238E27FC236}">
                <a16:creationId xmlns:a16="http://schemas.microsoft.com/office/drawing/2014/main" id="{1A4240D1-7E82-CD21-CF84-E4276875E2A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3398979" y="6093043"/>
            <a:ext cx="3322292" cy="2380846"/>
          </a:xfrm>
          <a:prstGeom prst="rect">
            <a:avLst/>
          </a:prstGeom>
        </p:spPr>
      </p:pic>
      <p:sp>
        <p:nvSpPr>
          <p:cNvPr id="14" name="TextBox 13">
            <a:extLst>
              <a:ext uri="{FF2B5EF4-FFF2-40B4-BE49-F238E27FC236}">
                <a16:creationId xmlns:a16="http://schemas.microsoft.com/office/drawing/2014/main" id="{25EC2516-947B-944F-0E08-9CF005E99ABB}"/>
              </a:ext>
            </a:extLst>
          </p:cNvPr>
          <p:cNvSpPr txBox="1"/>
          <p:nvPr/>
        </p:nvSpPr>
        <p:spPr>
          <a:xfrm>
            <a:off x="275432" y="6093043"/>
            <a:ext cx="3808418" cy="2677656"/>
          </a:xfrm>
          <a:prstGeom prst="rect">
            <a:avLst/>
          </a:prstGeom>
          <a:noFill/>
        </p:spPr>
        <p:txBody>
          <a:bodyPr wrap="square" rtlCol="0">
            <a:spAutoFit/>
          </a:bodyPr>
          <a:lstStyle/>
          <a:p>
            <a:pPr marL="228600" indent="-228600">
              <a:buAutoNum type="alphaLcParenR"/>
            </a:pPr>
            <a:r>
              <a:rPr lang="en-US" sz="1200"/>
              <a:t>Which match had the largest crowd?</a:t>
            </a:r>
          </a:p>
          <a:p>
            <a:endParaRPr lang="en-US" sz="1200"/>
          </a:p>
          <a:p>
            <a:endParaRPr lang="en-US" sz="1200"/>
          </a:p>
          <a:p>
            <a:endParaRPr lang="en-US" sz="1200"/>
          </a:p>
          <a:p>
            <a:r>
              <a:rPr lang="en-US" sz="1200"/>
              <a:t>b)  Which had the smallest crowd?</a:t>
            </a:r>
          </a:p>
          <a:p>
            <a:endParaRPr lang="en-US" sz="1200"/>
          </a:p>
          <a:p>
            <a:endParaRPr lang="en-US" sz="1200"/>
          </a:p>
          <a:p>
            <a:endParaRPr lang="en-US" sz="1200"/>
          </a:p>
          <a:p>
            <a:r>
              <a:rPr lang="en-US" sz="1200"/>
              <a:t>c)  Round all the numbers to the nearest 1000.</a:t>
            </a:r>
          </a:p>
          <a:p>
            <a:endParaRPr lang="en-US" sz="1200"/>
          </a:p>
          <a:p>
            <a:endParaRPr lang="en-US" sz="1200"/>
          </a:p>
          <a:p>
            <a:endParaRPr lang="en-US" sz="1200"/>
          </a:p>
          <a:p>
            <a:r>
              <a:rPr lang="en-US" sz="1200"/>
              <a:t>d) Round all the numbers to the nearest 100.</a:t>
            </a:r>
          </a:p>
          <a:p>
            <a:endParaRPr lang="en-GB" sz="1200"/>
          </a:p>
        </p:txBody>
      </p:sp>
      <p:sp>
        <p:nvSpPr>
          <p:cNvPr id="4" name="TextBox 3">
            <a:extLst>
              <a:ext uri="{FF2B5EF4-FFF2-40B4-BE49-F238E27FC236}">
                <a16:creationId xmlns:a16="http://schemas.microsoft.com/office/drawing/2014/main" id="{4BB83E25-A2E9-19C6-3C42-6AA04D771171}"/>
              </a:ext>
            </a:extLst>
          </p:cNvPr>
          <p:cNvSpPr txBox="1"/>
          <p:nvPr/>
        </p:nvSpPr>
        <p:spPr>
          <a:xfrm>
            <a:off x="353220" y="3188075"/>
            <a:ext cx="7547983" cy="2292935"/>
          </a:xfrm>
          <a:prstGeom prst="rect">
            <a:avLst/>
          </a:prstGeom>
          <a:noFill/>
        </p:spPr>
        <p:txBody>
          <a:bodyPr wrap="square" rtlCol="0">
            <a:spAutoFit/>
          </a:bodyPr>
          <a:lstStyle/>
          <a:p>
            <a:pPr marL="228600" indent="-228600">
              <a:buAutoNum type="alphaLcParenR"/>
            </a:pPr>
            <a:r>
              <a:rPr lang="en-US" sz="1200" dirty="0"/>
              <a:t>There are 789 people living in </a:t>
            </a:r>
            <a:r>
              <a:rPr lang="en-US" sz="1200" dirty="0" err="1"/>
              <a:t>Elsecar</a:t>
            </a:r>
            <a:endParaRPr lang="en-US" sz="1200" dirty="0"/>
          </a:p>
          <a:p>
            <a:pPr marL="228600" indent="-228600">
              <a:buAutoNum type="alphaLcParenR"/>
            </a:pPr>
            <a:endParaRPr lang="en-US" sz="1200" dirty="0"/>
          </a:p>
          <a:p>
            <a:r>
              <a:rPr lang="en-US" sz="1200" dirty="0"/>
              <a:t>b) There are 1278 people living in Hoyland</a:t>
            </a:r>
          </a:p>
          <a:p>
            <a:endParaRPr lang="en-US" sz="1200" dirty="0"/>
          </a:p>
          <a:p>
            <a:r>
              <a:rPr lang="en-US" sz="1200" dirty="0"/>
              <a:t>c) There are 550 people living in Jump</a:t>
            </a:r>
          </a:p>
          <a:p>
            <a:endParaRPr lang="en-US" sz="1200" dirty="0"/>
          </a:p>
          <a:p>
            <a:r>
              <a:rPr lang="en-US" sz="1200" dirty="0"/>
              <a:t>d) There are 843 people living in </a:t>
            </a:r>
            <a:r>
              <a:rPr lang="en-US" sz="1200" dirty="0" err="1"/>
              <a:t>Elsecar</a:t>
            </a:r>
            <a:endParaRPr lang="en-US" sz="1200" dirty="0"/>
          </a:p>
          <a:p>
            <a:endParaRPr lang="en-US" sz="1200" dirty="0"/>
          </a:p>
          <a:p>
            <a:r>
              <a:rPr lang="en-US" sz="1200" dirty="0"/>
              <a:t>e) There are 1205 people living in Hoyland</a:t>
            </a:r>
          </a:p>
          <a:p>
            <a:endParaRPr lang="en-US" sz="1200" dirty="0"/>
          </a:p>
          <a:p>
            <a:r>
              <a:rPr lang="en-US" sz="1200" dirty="0"/>
              <a:t>f) There are 650 people living in Jump</a:t>
            </a:r>
          </a:p>
          <a:p>
            <a:endParaRPr lang="en-GB" sz="1100" dirty="0"/>
          </a:p>
        </p:txBody>
      </p:sp>
      <p:sp>
        <p:nvSpPr>
          <p:cNvPr id="5" name="TextBox 4">
            <a:extLst>
              <a:ext uri="{FF2B5EF4-FFF2-40B4-BE49-F238E27FC236}">
                <a16:creationId xmlns:a16="http://schemas.microsoft.com/office/drawing/2014/main" id="{11AB5683-0689-50DB-9054-FFCDE1F8C1EB}"/>
              </a:ext>
            </a:extLst>
          </p:cNvPr>
          <p:cNvSpPr txBox="1"/>
          <p:nvPr/>
        </p:nvSpPr>
        <p:spPr>
          <a:xfrm>
            <a:off x="568466" y="8752430"/>
            <a:ext cx="6165370" cy="369332"/>
          </a:xfrm>
          <a:prstGeom prst="rect">
            <a:avLst/>
          </a:prstGeom>
          <a:noFill/>
          <a:ln>
            <a:solidFill>
              <a:schemeClr val="tx1"/>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AD6EEE83-48DE-952F-29AB-ADE1CCE59EB3}"/>
              </a:ext>
            </a:extLst>
          </p:cNvPr>
          <p:cNvSpPr txBox="1"/>
          <p:nvPr/>
        </p:nvSpPr>
        <p:spPr>
          <a:xfrm>
            <a:off x="568466" y="7092458"/>
            <a:ext cx="2727345"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56141F2F-495C-B2F2-9573-1F9D8ED04865}"/>
              </a:ext>
            </a:extLst>
          </p:cNvPr>
          <p:cNvSpPr txBox="1"/>
          <p:nvPr/>
        </p:nvSpPr>
        <p:spPr>
          <a:xfrm>
            <a:off x="574655" y="6380059"/>
            <a:ext cx="2727345"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9E1B8C81-7F81-38DC-0167-5A38F529C93D}"/>
              </a:ext>
            </a:extLst>
          </p:cNvPr>
          <p:cNvSpPr txBox="1"/>
          <p:nvPr/>
        </p:nvSpPr>
        <p:spPr>
          <a:xfrm>
            <a:off x="568466" y="7832665"/>
            <a:ext cx="2727345"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6284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5402765" y="9588917"/>
            <a:ext cx="1543050" cy="527403"/>
          </a:xfrm>
        </p:spPr>
        <p:txBody>
          <a:bodyPr/>
          <a:lstStyle/>
          <a:p>
            <a:fld id="{19F1D9CC-7119-45EC-A96C-D8C0660F3AAB}" type="slidenum">
              <a:rPr lang="en-GB" smtClean="0">
                <a:solidFill>
                  <a:schemeClr val="tx1"/>
                </a:solidFill>
              </a:rPr>
              <a:t>17</a:t>
            </a:fld>
            <a:endParaRPr lang="en-GB">
              <a:solidFill>
                <a:schemeClr val="tx1"/>
              </a:solidFill>
            </a:endParaRPr>
          </a:p>
        </p:txBody>
      </p:sp>
      <p:sp>
        <p:nvSpPr>
          <p:cNvPr id="67" name="Rectangle 66">
            <a:extLst>
              <a:ext uri="{FF2B5EF4-FFF2-40B4-BE49-F238E27FC236}">
                <a16:creationId xmlns:a16="http://schemas.microsoft.com/office/drawing/2014/main" id="{B59D2F85-C40C-6F49-A8DC-9962E32C54A7}"/>
              </a:ext>
            </a:extLst>
          </p:cNvPr>
          <p:cNvSpPr/>
          <p:nvPr/>
        </p:nvSpPr>
        <p:spPr>
          <a:xfrm>
            <a:off x="82741" y="500289"/>
            <a:ext cx="6679742" cy="11607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71" name="TextBox 70">
            <a:extLst>
              <a:ext uri="{FF2B5EF4-FFF2-40B4-BE49-F238E27FC236}">
                <a16:creationId xmlns:a16="http://schemas.microsoft.com/office/drawing/2014/main" id="{F05264B7-DB58-7E49-B4A9-8F02D752A45D}"/>
              </a:ext>
            </a:extLst>
          </p:cNvPr>
          <p:cNvSpPr txBox="1"/>
          <p:nvPr/>
        </p:nvSpPr>
        <p:spPr>
          <a:xfrm>
            <a:off x="137040" y="805618"/>
            <a:ext cx="1399768" cy="276999"/>
          </a:xfrm>
          <a:prstGeom prst="rect">
            <a:avLst/>
          </a:prstGeom>
          <a:noFill/>
        </p:spPr>
        <p:txBody>
          <a:bodyPr wrap="square" rtlCol="0">
            <a:spAutoFit/>
          </a:bodyPr>
          <a:lstStyle/>
          <a:p>
            <a:r>
              <a:rPr lang="en-GB" sz="1200" b="1"/>
              <a:t>Objectives:</a:t>
            </a:r>
          </a:p>
        </p:txBody>
      </p:sp>
      <p:sp>
        <p:nvSpPr>
          <p:cNvPr id="72" name="TextBox 71">
            <a:extLst>
              <a:ext uri="{FF2B5EF4-FFF2-40B4-BE49-F238E27FC236}">
                <a16:creationId xmlns:a16="http://schemas.microsoft.com/office/drawing/2014/main" id="{FF2A834D-2195-C446-98E7-51533FA4411B}"/>
              </a:ext>
            </a:extLst>
          </p:cNvPr>
          <p:cNvSpPr txBox="1"/>
          <p:nvPr/>
        </p:nvSpPr>
        <p:spPr>
          <a:xfrm>
            <a:off x="845769" y="1006998"/>
            <a:ext cx="4667990" cy="461665"/>
          </a:xfrm>
          <a:prstGeom prst="rect">
            <a:avLst/>
          </a:prstGeom>
          <a:noFill/>
        </p:spPr>
        <p:txBody>
          <a:bodyPr wrap="square" rtlCol="0">
            <a:spAutoFit/>
          </a:bodyPr>
          <a:lstStyle/>
          <a:p>
            <a:pPr marL="342900" indent="-342900">
              <a:buFont typeface="+mj-lt"/>
              <a:buAutoNum type="arabicPeriod"/>
            </a:pPr>
            <a:r>
              <a:rPr lang="en-GB" sz="1200"/>
              <a:t>To round decimal numbers to a given number of decimal places.</a:t>
            </a:r>
            <a:endParaRPr lang="en-US" sz="1200"/>
          </a:p>
          <a:p>
            <a:pPr marL="342900" indent="-342900">
              <a:buFont typeface="+mj-lt"/>
              <a:buAutoNum type="arabicPeriod"/>
            </a:pPr>
            <a:r>
              <a:rPr lang="en-US" sz="1200"/>
              <a:t>To able to answer worded questions involving rounding.</a:t>
            </a:r>
            <a:endParaRPr lang="en-GB" sz="1200"/>
          </a:p>
        </p:txBody>
      </p:sp>
      <p:sp>
        <p:nvSpPr>
          <p:cNvPr id="73" name="TextBox 72">
            <a:extLst>
              <a:ext uri="{FF2B5EF4-FFF2-40B4-BE49-F238E27FC236}">
                <a16:creationId xmlns:a16="http://schemas.microsoft.com/office/drawing/2014/main" id="{2E771014-6049-D94F-9894-F3E0D5FBDFBE}"/>
              </a:ext>
            </a:extLst>
          </p:cNvPr>
          <p:cNvSpPr txBox="1"/>
          <p:nvPr/>
        </p:nvSpPr>
        <p:spPr>
          <a:xfrm>
            <a:off x="714552" y="542253"/>
            <a:ext cx="5243871" cy="276999"/>
          </a:xfrm>
          <a:prstGeom prst="rect">
            <a:avLst/>
          </a:prstGeom>
          <a:noFill/>
          <a:ln>
            <a:solidFill>
              <a:schemeClr val="tx1"/>
            </a:solidFill>
          </a:ln>
        </p:spPr>
        <p:txBody>
          <a:bodyPr wrap="none" rtlCol="0">
            <a:spAutoFit/>
          </a:bodyPr>
          <a:lstStyle/>
          <a:p>
            <a:pPr algn="ctr"/>
            <a:r>
              <a:rPr lang="en-GB" sz="1200"/>
              <a:t>LEARNING OUTCOME: To be able to round to one, two and three decimal places. </a:t>
            </a:r>
          </a:p>
        </p:txBody>
      </p:sp>
      <p:sp>
        <p:nvSpPr>
          <p:cNvPr id="74" name="TextBox 73">
            <a:extLst>
              <a:ext uri="{FF2B5EF4-FFF2-40B4-BE49-F238E27FC236}">
                <a16:creationId xmlns:a16="http://schemas.microsoft.com/office/drawing/2014/main" id="{7715F86B-6C3B-6849-A0A3-1AA8A5990EEB}"/>
              </a:ext>
            </a:extLst>
          </p:cNvPr>
          <p:cNvSpPr txBox="1"/>
          <p:nvPr/>
        </p:nvSpPr>
        <p:spPr>
          <a:xfrm>
            <a:off x="5923773" y="880970"/>
            <a:ext cx="806631" cy="646331"/>
          </a:xfrm>
          <a:prstGeom prst="rect">
            <a:avLst/>
          </a:prstGeom>
          <a:noFill/>
          <a:ln w="12700">
            <a:solidFill>
              <a:schemeClr val="tx1"/>
            </a:solidFill>
          </a:ln>
        </p:spPr>
        <p:txBody>
          <a:bodyPr wrap="none" rtlCol="0">
            <a:spAutoFit/>
          </a:bodyPr>
          <a:lstStyle/>
          <a:p>
            <a:r>
              <a:rPr lang="en-US" sz="900" b="1" u="sng"/>
              <a:t>Keywords:</a:t>
            </a:r>
            <a:endParaRPr lang="en-US" sz="900"/>
          </a:p>
          <a:p>
            <a:pPr marL="171450" indent="-171450">
              <a:buFontTx/>
              <a:buChar char="-"/>
            </a:pPr>
            <a:r>
              <a:rPr lang="en-US" sz="900"/>
              <a:t>Rounding</a:t>
            </a:r>
          </a:p>
          <a:p>
            <a:pPr marL="171450" indent="-171450">
              <a:buFontTx/>
              <a:buChar char="-"/>
            </a:pPr>
            <a:r>
              <a:rPr lang="en-US" sz="900"/>
              <a:t>Integer</a:t>
            </a:r>
          </a:p>
          <a:p>
            <a:pPr marL="171450" indent="-171450">
              <a:buFontTx/>
              <a:buChar char="-"/>
            </a:pPr>
            <a:r>
              <a:rPr lang="en-US" sz="900"/>
              <a:t>Decimal</a:t>
            </a:r>
          </a:p>
        </p:txBody>
      </p:sp>
      <p:grpSp>
        <p:nvGrpSpPr>
          <p:cNvPr id="5" name="Group 4">
            <a:extLst>
              <a:ext uri="{FF2B5EF4-FFF2-40B4-BE49-F238E27FC236}">
                <a16:creationId xmlns:a16="http://schemas.microsoft.com/office/drawing/2014/main" id="{63D56F03-962C-1CFC-441E-CEDEB55CC329}"/>
              </a:ext>
            </a:extLst>
          </p:cNvPr>
          <p:cNvGrpSpPr/>
          <p:nvPr/>
        </p:nvGrpSpPr>
        <p:grpSpPr>
          <a:xfrm>
            <a:off x="38604" y="1707952"/>
            <a:ext cx="6743356" cy="2345860"/>
            <a:chOff x="38604" y="1707952"/>
            <a:chExt cx="6743356" cy="2345860"/>
          </a:xfrm>
        </p:grpSpPr>
        <p:cxnSp>
          <p:nvCxnSpPr>
            <p:cNvPr id="61" name="Straight Connector 60">
              <a:extLst>
                <a:ext uri="{FF2B5EF4-FFF2-40B4-BE49-F238E27FC236}">
                  <a16:creationId xmlns:a16="http://schemas.microsoft.com/office/drawing/2014/main" id="{FE7EDCC2-ABAA-434F-8C0E-6C3A1F76BAE7}"/>
                </a:ext>
              </a:extLst>
            </p:cNvPr>
            <p:cNvCxnSpPr/>
            <p:nvPr/>
          </p:nvCxnSpPr>
          <p:spPr>
            <a:xfrm flipV="1">
              <a:off x="931051" y="3733837"/>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Rectangle 61"/>
            <p:cNvSpPr/>
            <p:nvPr/>
          </p:nvSpPr>
          <p:spPr>
            <a:xfrm>
              <a:off x="38604" y="1707952"/>
              <a:ext cx="6699219" cy="23458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3" name="Straight Connector 62"/>
            <p:cNvCxnSpPr/>
            <p:nvPr/>
          </p:nvCxnSpPr>
          <p:spPr>
            <a:xfrm>
              <a:off x="82741" y="3048615"/>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64" name="Straight Connector 63"/>
            <p:cNvCxnSpPr>
              <a:cxnSpLocks/>
              <a:stCxn id="62" idx="2"/>
              <a:endCxn id="62" idx="0"/>
            </p:cNvCxnSpPr>
            <p:nvPr/>
          </p:nvCxnSpPr>
          <p:spPr>
            <a:xfrm flipV="1">
              <a:off x="3388214" y="1707952"/>
              <a:ext cx="0" cy="2345860"/>
            </a:xfrm>
            <a:prstGeom prst="line">
              <a:avLst/>
            </a:prstGeom>
          </p:spPr>
          <p:style>
            <a:lnRef idx="1">
              <a:schemeClr val="dk1"/>
            </a:lnRef>
            <a:fillRef idx="0">
              <a:schemeClr val="dk1"/>
            </a:fillRef>
            <a:effectRef idx="0">
              <a:schemeClr val="dk1"/>
            </a:effectRef>
            <a:fontRef idx="minor">
              <a:schemeClr val="tx1"/>
            </a:fontRef>
          </p:style>
        </p:cxnSp>
        <p:sp>
          <p:nvSpPr>
            <p:cNvPr id="65" name="TextBox 64"/>
            <p:cNvSpPr txBox="1"/>
            <p:nvPr/>
          </p:nvSpPr>
          <p:spPr>
            <a:xfrm>
              <a:off x="78604" y="1799214"/>
              <a:ext cx="824713" cy="461665"/>
            </a:xfrm>
            <a:prstGeom prst="rect">
              <a:avLst/>
            </a:prstGeom>
            <a:noFill/>
          </p:spPr>
          <p:txBody>
            <a:bodyPr wrap="none" rtlCol="0">
              <a:spAutoFit/>
            </a:bodyPr>
            <a:lstStyle/>
            <a:p>
              <a:r>
                <a:rPr lang="en-US" sz="1200" b="1" dirty="0"/>
                <a:t>Definition</a:t>
              </a:r>
            </a:p>
            <a:p>
              <a:endParaRPr lang="en-US" sz="1200" dirty="0"/>
            </a:p>
          </p:txBody>
        </p:sp>
        <p:sp>
          <p:nvSpPr>
            <p:cNvPr id="68" name="TextBox 67"/>
            <p:cNvSpPr txBox="1"/>
            <p:nvPr/>
          </p:nvSpPr>
          <p:spPr>
            <a:xfrm>
              <a:off x="5606060" y="1816369"/>
              <a:ext cx="1112228" cy="276999"/>
            </a:xfrm>
            <a:prstGeom prst="rect">
              <a:avLst/>
            </a:prstGeom>
            <a:noFill/>
          </p:spPr>
          <p:txBody>
            <a:bodyPr wrap="none" rtlCol="0">
              <a:spAutoFit/>
            </a:bodyPr>
            <a:lstStyle/>
            <a:p>
              <a:r>
                <a:rPr lang="en-US" sz="1200" b="1" dirty="0"/>
                <a:t>Characteristics</a:t>
              </a:r>
              <a:endParaRPr lang="en-GB" sz="1200" b="1" dirty="0"/>
            </a:p>
          </p:txBody>
        </p:sp>
        <p:sp>
          <p:nvSpPr>
            <p:cNvPr id="95" name="TextBox 94"/>
            <p:cNvSpPr txBox="1"/>
            <p:nvPr/>
          </p:nvSpPr>
          <p:spPr>
            <a:xfrm>
              <a:off x="93352" y="3012456"/>
              <a:ext cx="788164" cy="276999"/>
            </a:xfrm>
            <a:prstGeom prst="rect">
              <a:avLst/>
            </a:prstGeom>
            <a:noFill/>
          </p:spPr>
          <p:txBody>
            <a:bodyPr wrap="none" rtlCol="0">
              <a:spAutoFit/>
            </a:bodyPr>
            <a:lstStyle/>
            <a:p>
              <a:r>
                <a:rPr lang="en-US" sz="1200" b="1"/>
                <a:t>Examples</a:t>
              </a:r>
              <a:endParaRPr lang="en-GB" sz="1200" b="1"/>
            </a:p>
          </p:txBody>
        </p:sp>
        <p:sp>
          <p:nvSpPr>
            <p:cNvPr id="96" name="TextBox 95"/>
            <p:cNvSpPr txBox="1"/>
            <p:nvPr/>
          </p:nvSpPr>
          <p:spPr>
            <a:xfrm>
              <a:off x="5546689" y="3036868"/>
              <a:ext cx="1172885" cy="276999"/>
            </a:xfrm>
            <a:prstGeom prst="rect">
              <a:avLst/>
            </a:prstGeom>
            <a:noFill/>
          </p:spPr>
          <p:txBody>
            <a:bodyPr wrap="none" rtlCol="0">
              <a:spAutoFit/>
            </a:bodyPr>
            <a:lstStyle/>
            <a:p>
              <a:r>
                <a:rPr lang="en-US" sz="1200" b="1"/>
                <a:t>Non - Examples</a:t>
              </a:r>
              <a:endParaRPr lang="en-GB" sz="1200" b="1"/>
            </a:p>
          </p:txBody>
        </p:sp>
        <p:sp>
          <p:nvSpPr>
            <p:cNvPr id="98" name="TextBox 97"/>
            <p:cNvSpPr txBox="1"/>
            <p:nvPr/>
          </p:nvSpPr>
          <p:spPr>
            <a:xfrm>
              <a:off x="78604" y="2186428"/>
              <a:ext cx="3230335" cy="461665"/>
            </a:xfrm>
            <a:prstGeom prst="rect">
              <a:avLst/>
            </a:prstGeom>
            <a:noFill/>
          </p:spPr>
          <p:txBody>
            <a:bodyPr wrap="square" rtlCol="0">
              <a:spAutoFit/>
            </a:bodyPr>
            <a:lstStyle/>
            <a:p>
              <a:r>
                <a:rPr lang="en-US" sz="1200"/>
                <a:t>Approximating a number to the closest number of given accuracy. </a:t>
              </a:r>
            </a:p>
          </p:txBody>
        </p:sp>
        <p:sp>
          <p:nvSpPr>
            <p:cNvPr id="99" name="TextBox 98"/>
            <p:cNvSpPr txBox="1"/>
            <p:nvPr/>
          </p:nvSpPr>
          <p:spPr>
            <a:xfrm>
              <a:off x="3476085" y="2104452"/>
              <a:ext cx="3230335" cy="830997"/>
            </a:xfrm>
            <a:prstGeom prst="rect">
              <a:avLst/>
            </a:prstGeom>
            <a:noFill/>
          </p:spPr>
          <p:txBody>
            <a:bodyPr wrap="square" rtlCol="0">
              <a:spAutoFit/>
            </a:bodyPr>
            <a:lstStyle/>
            <a:p>
              <a:pPr marL="171450" indent="-171450">
                <a:buFont typeface="Arial" panose="020B0604020202020204" pitchFamily="34" charset="0"/>
                <a:buChar char="•"/>
              </a:pPr>
              <a:r>
                <a:rPr lang="en-US" sz="1200" dirty="0"/>
                <a:t>After rounding the number will have the amount of decimal places that it has been rounded to. </a:t>
              </a:r>
            </a:p>
            <a:p>
              <a:pPr marL="171450" indent="-171450">
                <a:buFont typeface="Arial" panose="020B0604020202020204" pitchFamily="34" charset="0"/>
                <a:buChar char="•"/>
              </a:pPr>
              <a:endParaRPr lang="en-US" sz="1200" dirty="0"/>
            </a:p>
          </p:txBody>
        </p:sp>
        <p:sp>
          <p:nvSpPr>
            <p:cNvPr id="97" name="TextBox 96"/>
            <p:cNvSpPr txBox="1"/>
            <p:nvPr/>
          </p:nvSpPr>
          <p:spPr>
            <a:xfrm>
              <a:off x="2051347" y="2854897"/>
              <a:ext cx="2755306" cy="369332"/>
            </a:xfrm>
            <a:prstGeom prst="rect">
              <a:avLst/>
            </a:prstGeom>
            <a:solidFill>
              <a:schemeClr val="bg1"/>
            </a:solidFill>
            <a:ln>
              <a:solidFill>
                <a:schemeClr val="tx1"/>
              </a:solidFill>
            </a:ln>
          </p:spPr>
          <p:txBody>
            <a:bodyPr wrap="none" rtlCol="0">
              <a:spAutoFit/>
            </a:bodyPr>
            <a:lstStyle/>
            <a:p>
              <a:r>
                <a:rPr lang="en-US"/>
                <a:t>Rounding to decimal places</a:t>
              </a:r>
              <a:endParaRPr lang="en-GB"/>
            </a:p>
          </p:txBody>
        </p:sp>
        <p:sp>
          <p:nvSpPr>
            <p:cNvPr id="135" name="TextBox 134"/>
            <p:cNvSpPr txBox="1"/>
            <p:nvPr/>
          </p:nvSpPr>
          <p:spPr>
            <a:xfrm>
              <a:off x="118241" y="3260750"/>
              <a:ext cx="3230335" cy="646331"/>
            </a:xfrm>
            <a:prstGeom prst="rect">
              <a:avLst/>
            </a:prstGeom>
            <a:noFill/>
          </p:spPr>
          <p:txBody>
            <a:bodyPr wrap="square" rtlCol="0">
              <a:spAutoFit/>
            </a:bodyPr>
            <a:lstStyle/>
            <a:p>
              <a:r>
                <a:rPr lang="en-US" sz="1200" dirty="0"/>
                <a:t>1.75 rounded to one decimal place is 1.8</a:t>
              </a:r>
            </a:p>
            <a:p>
              <a:r>
                <a:rPr lang="en-US" sz="1200" dirty="0"/>
                <a:t>It gets rounded up and there is only one digit after the point (in the tenths column)</a:t>
              </a:r>
            </a:p>
          </p:txBody>
        </p:sp>
        <p:sp>
          <p:nvSpPr>
            <p:cNvPr id="136" name="TextBox 135"/>
            <p:cNvSpPr txBox="1"/>
            <p:nvPr/>
          </p:nvSpPr>
          <p:spPr>
            <a:xfrm>
              <a:off x="3447314" y="3319261"/>
              <a:ext cx="3230335" cy="461665"/>
            </a:xfrm>
            <a:prstGeom prst="rect">
              <a:avLst/>
            </a:prstGeom>
            <a:noFill/>
          </p:spPr>
          <p:txBody>
            <a:bodyPr wrap="square" rtlCol="0">
              <a:spAutoFit/>
            </a:bodyPr>
            <a:lstStyle/>
            <a:p>
              <a:pPr algn="ctr"/>
              <a:r>
                <a:rPr lang="en-US" sz="1200" dirty="0"/>
                <a:t>5.98 rounded to one decimal place is not 6.</a:t>
              </a:r>
            </a:p>
            <a:p>
              <a:pPr algn="ctr"/>
              <a:r>
                <a:rPr lang="en-US" sz="1200" dirty="0"/>
                <a:t>It is 6.0. You must include the tenths digit. </a:t>
              </a:r>
            </a:p>
          </p:txBody>
        </p:sp>
      </p:grpSp>
      <p:sp>
        <p:nvSpPr>
          <p:cNvPr id="137" name="Rectangle 136">
            <a:extLst>
              <a:ext uri="{FF2B5EF4-FFF2-40B4-BE49-F238E27FC236}">
                <a16:creationId xmlns:a16="http://schemas.microsoft.com/office/drawing/2014/main" id="{18A8F47A-AF22-7041-87DA-ED68FE8CA627}"/>
              </a:ext>
            </a:extLst>
          </p:cNvPr>
          <p:cNvSpPr/>
          <p:nvPr/>
        </p:nvSpPr>
        <p:spPr>
          <a:xfrm>
            <a:off x="1787857" y="4667448"/>
            <a:ext cx="4893725" cy="2017810"/>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rgbClr val="00B0F0"/>
              </a:solidFill>
            </a:endParaRPr>
          </a:p>
        </p:txBody>
      </p:sp>
      <p:sp>
        <p:nvSpPr>
          <p:cNvPr id="138" name="TextBox 137">
            <a:extLst>
              <a:ext uri="{FF2B5EF4-FFF2-40B4-BE49-F238E27FC236}">
                <a16:creationId xmlns:a16="http://schemas.microsoft.com/office/drawing/2014/main" id="{BCDC1A2B-2D26-C945-B722-18950FA49879}"/>
              </a:ext>
            </a:extLst>
          </p:cNvPr>
          <p:cNvSpPr txBox="1"/>
          <p:nvPr/>
        </p:nvSpPr>
        <p:spPr>
          <a:xfrm>
            <a:off x="2663994" y="4377269"/>
            <a:ext cx="1308500" cy="276999"/>
          </a:xfrm>
          <a:prstGeom prst="rect">
            <a:avLst/>
          </a:prstGeom>
          <a:noFill/>
          <a:ln>
            <a:noFill/>
          </a:ln>
        </p:spPr>
        <p:txBody>
          <a:bodyPr wrap="none" rtlCol="0">
            <a:spAutoFit/>
          </a:bodyPr>
          <a:lstStyle/>
          <a:p>
            <a:r>
              <a:rPr lang="en-GB" sz="1200" b="1" i="1" dirty="0">
                <a:solidFill>
                  <a:srgbClr val="FF0000"/>
                </a:solidFill>
              </a:rPr>
              <a:t>Example 1 - I do…</a:t>
            </a:r>
          </a:p>
        </p:txBody>
      </p:sp>
      <p:sp>
        <p:nvSpPr>
          <p:cNvPr id="139" name="TextBox 138">
            <a:extLst>
              <a:ext uri="{FF2B5EF4-FFF2-40B4-BE49-F238E27FC236}">
                <a16:creationId xmlns:a16="http://schemas.microsoft.com/office/drawing/2014/main" id="{4AF4150A-9218-D640-8777-2ECCBC4D10FB}"/>
              </a:ext>
            </a:extLst>
          </p:cNvPr>
          <p:cNvSpPr txBox="1"/>
          <p:nvPr/>
        </p:nvSpPr>
        <p:spPr>
          <a:xfrm>
            <a:off x="4358260" y="6705825"/>
            <a:ext cx="1498808" cy="276999"/>
          </a:xfrm>
          <a:prstGeom prst="rect">
            <a:avLst/>
          </a:prstGeom>
          <a:noFill/>
          <a:ln>
            <a:noFill/>
          </a:ln>
        </p:spPr>
        <p:txBody>
          <a:bodyPr wrap="none" rtlCol="0">
            <a:spAutoFit/>
          </a:bodyPr>
          <a:lstStyle/>
          <a:p>
            <a:r>
              <a:rPr lang="en-GB" sz="1200" b="1" i="1">
                <a:solidFill>
                  <a:srgbClr val="00B050"/>
                </a:solidFill>
              </a:rPr>
              <a:t>Example 3 - You do…</a:t>
            </a:r>
          </a:p>
        </p:txBody>
      </p:sp>
      <p:sp>
        <p:nvSpPr>
          <p:cNvPr id="140" name="Rectangle 139">
            <a:extLst>
              <a:ext uri="{FF2B5EF4-FFF2-40B4-BE49-F238E27FC236}">
                <a16:creationId xmlns:a16="http://schemas.microsoft.com/office/drawing/2014/main" id="{769D737F-0229-C443-B78C-5EA2F6EA4EC2}"/>
              </a:ext>
            </a:extLst>
          </p:cNvPr>
          <p:cNvSpPr/>
          <p:nvPr/>
        </p:nvSpPr>
        <p:spPr>
          <a:xfrm>
            <a:off x="3489239" y="6956223"/>
            <a:ext cx="3188410" cy="2324375"/>
          </a:xfrm>
          <a:prstGeom prst="rect">
            <a:avLst/>
          </a:prstGeom>
          <a:solidFill>
            <a:schemeClr val="bg1"/>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rgbClr val="00B0F0"/>
              </a:solidFill>
            </a:endParaRPr>
          </a:p>
        </p:txBody>
      </p:sp>
      <p:sp>
        <p:nvSpPr>
          <p:cNvPr id="141" name="TextBox 140">
            <a:extLst>
              <a:ext uri="{FF2B5EF4-FFF2-40B4-BE49-F238E27FC236}">
                <a16:creationId xmlns:a16="http://schemas.microsoft.com/office/drawing/2014/main" id="{BCDC1A2B-2D26-C945-B722-18950FA49879}"/>
              </a:ext>
            </a:extLst>
          </p:cNvPr>
          <p:cNvSpPr txBox="1"/>
          <p:nvPr/>
        </p:nvSpPr>
        <p:spPr>
          <a:xfrm>
            <a:off x="971950" y="6683876"/>
            <a:ext cx="1475789" cy="276999"/>
          </a:xfrm>
          <a:prstGeom prst="rect">
            <a:avLst/>
          </a:prstGeom>
          <a:noFill/>
          <a:ln>
            <a:noFill/>
          </a:ln>
        </p:spPr>
        <p:txBody>
          <a:bodyPr wrap="none" rtlCol="0">
            <a:spAutoFit/>
          </a:bodyPr>
          <a:lstStyle/>
          <a:p>
            <a:r>
              <a:rPr lang="en-GB" sz="1200" b="1" i="1">
                <a:solidFill>
                  <a:schemeClr val="accent2"/>
                </a:solidFill>
              </a:rPr>
              <a:t>Example 2 - We do…</a:t>
            </a:r>
          </a:p>
        </p:txBody>
      </p:sp>
      <p:sp>
        <p:nvSpPr>
          <p:cNvPr id="142" name="Rectangle 141">
            <a:extLst>
              <a:ext uri="{FF2B5EF4-FFF2-40B4-BE49-F238E27FC236}">
                <a16:creationId xmlns:a16="http://schemas.microsoft.com/office/drawing/2014/main" id="{18A8F47A-AF22-7041-87DA-ED68FE8CA627}"/>
              </a:ext>
            </a:extLst>
          </p:cNvPr>
          <p:cNvSpPr/>
          <p:nvPr/>
        </p:nvSpPr>
        <p:spPr>
          <a:xfrm>
            <a:off x="166576" y="6954694"/>
            <a:ext cx="3202186" cy="228066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rgbClr val="00B0F0"/>
              </a:solidFill>
            </a:endParaRPr>
          </a:p>
        </p:txBody>
      </p:sp>
      <p:grpSp>
        <p:nvGrpSpPr>
          <p:cNvPr id="143" name="Group 142"/>
          <p:cNvGrpSpPr/>
          <p:nvPr/>
        </p:nvGrpSpPr>
        <p:grpSpPr>
          <a:xfrm>
            <a:off x="2653084" y="5236253"/>
            <a:ext cx="3201620" cy="1403239"/>
            <a:chOff x="79513" y="1870423"/>
            <a:chExt cx="3201620" cy="1403239"/>
          </a:xfrm>
        </p:grpSpPr>
        <p:pic>
          <p:nvPicPr>
            <p:cNvPr id="144" name="Picture 143"/>
            <p:cNvPicPr>
              <a:picLocks noChangeAspect="1"/>
            </p:cNvPicPr>
            <p:nvPr/>
          </p:nvPicPr>
          <p:blipFill>
            <a:blip r:embed="rId3"/>
            <a:stretch>
              <a:fillRect/>
            </a:stretch>
          </p:blipFill>
          <p:spPr>
            <a:xfrm>
              <a:off x="241395" y="2204589"/>
              <a:ext cx="2921329" cy="744162"/>
            </a:xfrm>
            <a:prstGeom prst="rect">
              <a:avLst/>
            </a:prstGeom>
          </p:spPr>
        </p:pic>
        <p:sp>
          <p:nvSpPr>
            <p:cNvPr id="145" name="TextBox 144"/>
            <p:cNvSpPr txBox="1"/>
            <p:nvPr/>
          </p:nvSpPr>
          <p:spPr>
            <a:xfrm>
              <a:off x="79513" y="2089696"/>
              <a:ext cx="380232" cy="276999"/>
            </a:xfrm>
            <a:prstGeom prst="rect">
              <a:avLst/>
            </a:prstGeom>
            <a:noFill/>
          </p:spPr>
          <p:txBody>
            <a:bodyPr wrap="none" rtlCol="0">
              <a:spAutoFit/>
            </a:bodyPr>
            <a:lstStyle/>
            <a:p>
              <a:r>
                <a:rPr lang="en-US" sz="1200"/>
                <a:t>2.3</a:t>
              </a:r>
              <a:endParaRPr lang="en-GB" sz="1200"/>
            </a:p>
          </p:txBody>
        </p:sp>
        <p:sp>
          <p:nvSpPr>
            <p:cNvPr id="146" name="TextBox 145"/>
            <p:cNvSpPr txBox="1"/>
            <p:nvPr/>
          </p:nvSpPr>
          <p:spPr>
            <a:xfrm>
              <a:off x="2900901" y="2084865"/>
              <a:ext cx="380232" cy="276999"/>
            </a:xfrm>
            <a:prstGeom prst="rect">
              <a:avLst/>
            </a:prstGeom>
            <a:noFill/>
          </p:spPr>
          <p:txBody>
            <a:bodyPr wrap="none" rtlCol="0">
              <a:spAutoFit/>
            </a:bodyPr>
            <a:lstStyle/>
            <a:p>
              <a:r>
                <a:rPr lang="en-US" sz="1200"/>
                <a:t>2.4</a:t>
              </a:r>
              <a:endParaRPr lang="en-GB" sz="1200"/>
            </a:p>
          </p:txBody>
        </p:sp>
        <p:grpSp>
          <p:nvGrpSpPr>
            <p:cNvPr id="147" name="Group 146"/>
            <p:cNvGrpSpPr/>
            <p:nvPr/>
          </p:nvGrpSpPr>
          <p:grpSpPr>
            <a:xfrm>
              <a:off x="1452286" y="1870423"/>
              <a:ext cx="485438" cy="546060"/>
              <a:chOff x="3159017" y="5096404"/>
              <a:chExt cx="485438" cy="546060"/>
            </a:xfrm>
          </p:grpSpPr>
          <p:sp>
            <p:nvSpPr>
              <p:cNvPr id="151" name="Rectangle 150">
                <a:extLst>
                  <a:ext uri="{FF2B5EF4-FFF2-40B4-BE49-F238E27FC236}">
                    <a16:creationId xmlns:a16="http://schemas.microsoft.com/office/drawing/2014/main" id="{CEEF23AD-EA17-135A-DB95-1D1FECB286F3}"/>
                  </a:ext>
                </a:extLst>
              </p:cNvPr>
              <p:cNvSpPr/>
              <p:nvPr/>
            </p:nvSpPr>
            <p:spPr>
              <a:xfrm>
                <a:off x="3159017" y="5096404"/>
                <a:ext cx="48543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2.35</a:t>
                </a:r>
                <a:endParaRPr lang="en-GB" sz="1100">
                  <a:solidFill>
                    <a:schemeClr val="tx1"/>
                  </a:solidFill>
                </a:endParaRPr>
              </a:p>
            </p:txBody>
          </p:sp>
          <p:cxnSp>
            <p:nvCxnSpPr>
              <p:cNvPr id="152" name="Straight Arrow Connector 151"/>
              <p:cNvCxnSpPr/>
              <p:nvPr/>
            </p:nvCxnSpPr>
            <p:spPr>
              <a:xfrm>
                <a:off x="3402019" y="5427424"/>
                <a:ext cx="0" cy="2150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49" name="TextBox 148"/>
            <p:cNvSpPr txBox="1"/>
            <p:nvPr/>
          </p:nvSpPr>
          <p:spPr>
            <a:xfrm>
              <a:off x="138983" y="2996663"/>
              <a:ext cx="2328714" cy="276999"/>
            </a:xfrm>
            <a:prstGeom prst="rect">
              <a:avLst/>
            </a:prstGeom>
            <a:noFill/>
          </p:spPr>
          <p:txBody>
            <a:bodyPr wrap="none" rtlCol="0">
              <a:spAutoFit/>
            </a:bodyPr>
            <a:lstStyle/>
            <a:p>
              <a:r>
                <a:rPr lang="en-US" sz="1200"/>
                <a:t>2.35 rounded to 1 decimal place is</a:t>
              </a:r>
              <a:endParaRPr lang="en-GB" sz="1200"/>
            </a:p>
          </p:txBody>
        </p:sp>
        <p:sp>
          <p:nvSpPr>
            <p:cNvPr id="150" name="Rectangle 149">
              <a:extLst>
                <a:ext uri="{FF2B5EF4-FFF2-40B4-BE49-F238E27FC236}">
                  <a16:creationId xmlns:a16="http://schemas.microsoft.com/office/drawing/2014/main" id="{CEEF23AD-EA17-135A-DB95-1D1FECB286F3}"/>
                </a:ext>
              </a:extLst>
            </p:cNvPr>
            <p:cNvSpPr/>
            <p:nvPr/>
          </p:nvSpPr>
          <p:spPr>
            <a:xfrm>
              <a:off x="2593754" y="2942642"/>
              <a:ext cx="614295"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sp>
        <p:nvSpPr>
          <p:cNvPr id="3" name="TextBox 2"/>
          <p:cNvSpPr txBox="1"/>
          <p:nvPr/>
        </p:nvSpPr>
        <p:spPr>
          <a:xfrm>
            <a:off x="3483790" y="4690437"/>
            <a:ext cx="1513625" cy="461665"/>
          </a:xfrm>
          <a:prstGeom prst="rect">
            <a:avLst/>
          </a:prstGeom>
          <a:noFill/>
        </p:spPr>
        <p:txBody>
          <a:bodyPr wrap="square" rtlCol="0">
            <a:spAutoFit/>
          </a:bodyPr>
          <a:lstStyle/>
          <a:p>
            <a:pPr algn="ctr"/>
            <a:r>
              <a:rPr lang="en-US" sz="1200"/>
              <a:t>Round 2.35 to the one decimal place</a:t>
            </a:r>
            <a:endParaRPr lang="en-GB" sz="1200"/>
          </a:p>
        </p:txBody>
      </p:sp>
      <p:grpSp>
        <p:nvGrpSpPr>
          <p:cNvPr id="66" name="Group 65"/>
          <p:cNvGrpSpPr/>
          <p:nvPr/>
        </p:nvGrpSpPr>
        <p:grpSpPr>
          <a:xfrm>
            <a:off x="138475" y="7575994"/>
            <a:ext cx="3201620" cy="1188797"/>
            <a:chOff x="79513" y="2084865"/>
            <a:chExt cx="3201620" cy="1188797"/>
          </a:xfrm>
        </p:grpSpPr>
        <p:pic>
          <p:nvPicPr>
            <p:cNvPr id="69" name="Picture 68"/>
            <p:cNvPicPr>
              <a:picLocks noChangeAspect="1"/>
            </p:cNvPicPr>
            <p:nvPr/>
          </p:nvPicPr>
          <p:blipFill>
            <a:blip r:embed="rId3"/>
            <a:stretch>
              <a:fillRect/>
            </a:stretch>
          </p:blipFill>
          <p:spPr>
            <a:xfrm>
              <a:off x="241395" y="2204589"/>
              <a:ext cx="2921329" cy="744162"/>
            </a:xfrm>
            <a:prstGeom prst="rect">
              <a:avLst/>
            </a:prstGeom>
          </p:spPr>
        </p:pic>
        <p:sp>
          <p:nvSpPr>
            <p:cNvPr id="75" name="TextBox 74"/>
            <p:cNvSpPr txBox="1"/>
            <p:nvPr/>
          </p:nvSpPr>
          <p:spPr>
            <a:xfrm>
              <a:off x="79513" y="2089696"/>
              <a:ext cx="380232" cy="276999"/>
            </a:xfrm>
            <a:prstGeom prst="rect">
              <a:avLst/>
            </a:prstGeom>
            <a:noFill/>
          </p:spPr>
          <p:txBody>
            <a:bodyPr wrap="none" rtlCol="0">
              <a:spAutoFit/>
            </a:bodyPr>
            <a:lstStyle/>
            <a:p>
              <a:r>
                <a:rPr lang="en-US" sz="1200"/>
                <a:t>4.1</a:t>
              </a:r>
              <a:endParaRPr lang="en-GB" sz="1200"/>
            </a:p>
          </p:txBody>
        </p:sp>
        <p:sp>
          <p:nvSpPr>
            <p:cNvPr id="81" name="TextBox 80"/>
            <p:cNvSpPr txBox="1"/>
            <p:nvPr/>
          </p:nvSpPr>
          <p:spPr>
            <a:xfrm>
              <a:off x="2900901" y="2084865"/>
              <a:ext cx="380232" cy="276999"/>
            </a:xfrm>
            <a:prstGeom prst="rect">
              <a:avLst/>
            </a:prstGeom>
            <a:noFill/>
          </p:spPr>
          <p:txBody>
            <a:bodyPr wrap="none" rtlCol="0">
              <a:spAutoFit/>
            </a:bodyPr>
            <a:lstStyle/>
            <a:p>
              <a:r>
                <a:rPr lang="en-US" sz="1200"/>
                <a:t>4.2</a:t>
              </a:r>
              <a:endParaRPr lang="en-GB" sz="1200"/>
            </a:p>
          </p:txBody>
        </p:sp>
        <p:sp>
          <p:nvSpPr>
            <p:cNvPr id="83" name="TextBox 82"/>
            <p:cNvSpPr txBox="1"/>
            <p:nvPr/>
          </p:nvSpPr>
          <p:spPr>
            <a:xfrm>
              <a:off x="138983" y="2996663"/>
              <a:ext cx="2328714" cy="276999"/>
            </a:xfrm>
            <a:prstGeom prst="rect">
              <a:avLst/>
            </a:prstGeom>
            <a:noFill/>
          </p:spPr>
          <p:txBody>
            <a:bodyPr wrap="none" rtlCol="0">
              <a:spAutoFit/>
            </a:bodyPr>
            <a:lstStyle/>
            <a:p>
              <a:r>
                <a:rPr lang="en-US" sz="1200"/>
                <a:t>4.12 rounded to 1 decimal place is</a:t>
              </a:r>
              <a:endParaRPr lang="en-GB" sz="1200"/>
            </a:p>
          </p:txBody>
        </p:sp>
        <p:sp>
          <p:nvSpPr>
            <p:cNvPr id="84" name="Rectangle 83">
              <a:extLst>
                <a:ext uri="{FF2B5EF4-FFF2-40B4-BE49-F238E27FC236}">
                  <a16:creationId xmlns:a16="http://schemas.microsoft.com/office/drawing/2014/main" id="{CEEF23AD-EA17-135A-DB95-1D1FECB286F3}"/>
                </a:ext>
              </a:extLst>
            </p:cNvPr>
            <p:cNvSpPr/>
            <p:nvPr/>
          </p:nvSpPr>
          <p:spPr>
            <a:xfrm>
              <a:off x="2593754" y="2942642"/>
              <a:ext cx="614295"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sp>
        <p:nvSpPr>
          <p:cNvPr id="87" name="TextBox 86"/>
          <p:cNvSpPr txBox="1"/>
          <p:nvPr/>
        </p:nvSpPr>
        <p:spPr>
          <a:xfrm>
            <a:off x="921901" y="6999478"/>
            <a:ext cx="1513625" cy="461665"/>
          </a:xfrm>
          <a:prstGeom prst="rect">
            <a:avLst/>
          </a:prstGeom>
          <a:noFill/>
        </p:spPr>
        <p:txBody>
          <a:bodyPr wrap="square" rtlCol="0">
            <a:spAutoFit/>
          </a:bodyPr>
          <a:lstStyle/>
          <a:p>
            <a:pPr algn="ctr"/>
            <a:r>
              <a:rPr lang="en-US" sz="1200"/>
              <a:t>Round 4.12 to the one decimal place</a:t>
            </a:r>
            <a:endParaRPr lang="en-GB" sz="1200"/>
          </a:p>
        </p:txBody>
      </p:sp>
      <p:sp>
        <p:nvSpPr>
          <p:cNvPr id="4" name="Rectangle 3">
            <a:extLst>
              <a:ext uri="{FF2B5EF4-FFF2-40B4-BE49-F238E27FC236}">
                <a16:creationId xmlns:a16="http://schemas.microsoft.com/office/drawing/2014/main" id="{291BFC35-B028-3B06-6E95-BB2279C9C615}"/>
              </a:ext>
            </a:extLst>
          </p:cNvPr>
          <p:cNvSpPr/>
          <p:nvPr/>
        </p:nvSpPr>
        <p:spPr>
          <a:xfrm>
            <a:off x="82741" y="4116256"/>
            <a:ext cx="4943540"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Rounding to the one decimal place (nearest tenth) using number lines</a:t>
            </a:r>
            <a:endParaRPr lang="en-GB" sz="1200">
              <a:solidFill>
                <a:schemeClr val="bg1"/>
              </a:solidFill>
            </a:endParaRPr>
          </a:p>
        </p:txBody>
      </p:sp>
      <p:grpSp>
        <p:nvGrpSpPr>
          <p:cNvPr id="76" name="Group 75">
            <a:extLst>
              <a:ext uri="{FF2B5EF4-FFF2-40B4-BE49-F238E27FC236}">
                <a16:creationId xmlns:a16="http://schemas.microsoft.com/office/drawing/2014/main" id="{6CEC0A7A-34FB-9B39-353E-BC9BA4BCD2E8}"/>
              </a:ext>
            </a:extLst>
          </p:cNvPr>
          <p:cNvGrpSpPr/>
          <p:nvPr/>
        </p:nvGrpSpPr>
        <p:grpSpPr>
          <a:xfrm>
            <a:off x="3473925" y="7480696"/>
            <a:ext cx="3193833" cy="1333406"/>
            <a:chOff x="72369" y="1685354"/>
            <a:chExt cx="3193833" cy="1333406"/>
          </a:xfrm>
        </p:grpSpPr>
        <p:pic>
          <p:nvPicPr>
            <p:cNvPr id="77" name="Picture 76">
              <a:extLst>
                <a:ext uri="{FF2B5EF4-FFF2-40B4-BE49-F238E27FC236}">
                  <a16:creationId xmlns:a16="http://schemas.microsoft.com/office/drawing/2014/main" id="{FF6ABF2E-7D51-9E00-1D01-FD5C98A14E27}"/>
                </a:ext>
              </a:extLst>
            </p:cNvPr>
            <p:cNvPicPr>
              <a:picLocks noChangeAspect="1"/>
            </p:cNvPicPr>
            <p:nvPr/>
          </p:nvPicPr>
          <p:blipFill>
            <a:blip r:embed="rId3"/>
            <a:stretch>
              <a:fillRect/>
            </a:stretch>
          </p:blipFill>
          <p:spPr>
            <a:xfrm>
              <a:off x="207000" y="1823854"/>
              <a:ext cx="2921329" cy="744162"/>
            </a:xfrm>
            <a:prstGeom prst="rect">
              <a:avLst/>
            </a:prstGeom>
          </p:spPr>
        </p:pic>
        <p:sp>
          <p:nvSpPr>
            <p:cNvPr id="78" name="TextBox 77">
              <a:extLst>
                <a:ext uri="{FF2B5EF4-FFF2-40B4-BE49-F238E27FC236}">
                  <a16:creationId xmlns:a16="http://schemas.microsoft.com/office/drawing/2014/main" id="{1B3AF4F4-146F-1908-6C45-1C428F5F9897}"/>
                </a:ext>
              </a:extLst>
            </p:cNvPr>
            <p:cNvSpPr txBox="1"/>
            <p:nvPr/>
          </p:nvSpPr>
          <p:spPr>
            <a:xfrm>
              <a:off x="72369" y="1685354"/>
              <a:ext cx="380232" cy="276999"/>
            </a:xfrm>
            <a:prstGeom prst="rect">
              <a:avLst/>
            </a:prstGeom>
            <a:noFill/>
          </p:spPr>
          <p:txBody>
            <a:bodyPr wrap="none" rtlCol="0">
              <a:spAutoFit/>
            </a:bodyPr>
            <a:lstStyle/>
            <a:p>
              <a:r>
                <a:rPr lang="en-US" sz="1200"/>
                <a:t>5.7</a:t>
              </a:r>
              <a:endParaRPr lang="en-GB" sz="1200"/>
            </a:p>
          </p:txBody>
        </p:sp>
        <p:sp>
          <p:nvSpPr>
            <p:cNvPr id="79" name="TextBox 78">
              <a:extLst>
                <a:ext uri="{FF2B5EF4-FFF2-40B4-BE49-F238E27FC236}">
                  <a16:creationId xmlns:a16="http://schemas.microsoft.com/office/drawing/2014/main" id="{4F32305A-F727-496D-E2E5-C596D682A1E6}"/>
                </a:ext>
              </a:extLst>
            </p:cNvPr>
            <p:cNvSpPr txBox="1"/>
            <p:nvPr/>
          </p:nvSpPr>
          <p:spPr>
            <a:xfrm>
              <a:off x="2885970" y="1685354"/>
              <a:ext cx="380232" cy="276999"/>
            </a:xfrm>
            <a:prstGeom prst="rect">
              <a:avLst/>
            </a:prstGeom>
            <a:noFill/>
          </p:spPr>
          <p:txBody>
            <a:bodyPr wrap="none" rtlCol="0">
              <a:spAutoFit/>
            </a:bodyPr>
            <a:lstStyle/>
            <a:p>
              <a:r>
                <a:rPr lang="en-US" sz="1200"/>
                <a:t>5.8</a:t>
              </a:r>
              <a:endParaRPr lang="en-GB" sz="1200"/>
            </a:p>
          </p:txBody>
        </p:sp>
        <p:sp>
          <p:nvSpPr>
            <p:cNvPr id="80" name="Rectangle 79">
              <a:extLst>
                <a:ext uri="{FF2B5EF4-FFF2-40B4-BE49-F238E27FC236}">
                  <a16:creationId xmlns:a16="http://schemas.microsoft.com/office/drawing/2014/main" id="{EDE9972B-E96B-5597-118D-364FDAFC3CFE}"/>
                </a:ext>
              </a:extLst>
            </p:cNvPr>
            <p:cNvSpPr/>
            <p:nvPr/>
          </p:nvSpPr>
          <p:spPr>
            <a:xfrm>
              <a:off x="2624471" y="2687740"/>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sp>
        <p:nvSpPr>
          <p:cNvPr id="82" name="Rectangle 81">
            <a:extLst>
              <a:ext uri="{FF2B5EF4-FFF2-40B4-BE49-F238E27FC236}">
                <a16:creationId xmlns:a16="http://schemas.microsoft.com/office/drawing/2014/main" id="{33B10EAF-0B90-6C74-76EE-A896D12EB5DF}"/>
              </a:ext>
            </a:extLst>
          </p:cNvPr>
          <p:cNvSpPr/>
          <p:nvPr/>
        </p:nvSpPr>
        <p:spPr>
          <a:xfrm>
            <a:off x="3608556" y="8504521"/>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5" name="TextBox 84">
            <a:extLst>
              <a:ext uri="{FF2B5EF4-FFF2-40B4-BE49-F238E27FC236}">
                <a16:creationId xmlns:a16="http://schemas.microsoft.com/office/drawing/2014/main" id="{ED28C76E-D478-3BD4-4127-557DB45F31D7}"/>
              </a:ext>
            </a:extLst>
          </p:cNvPr>
          <p:cNvSpPr txBox="1"/>
          <p:nvPr/>
        </p:nvSpPr>
        <p:spPr>
          <a:xfrm>
            <a:off x="4196293" y="6954694"/>
            <a:ext cx="1513625" cy="461665"/>
          </a:xfrm>
          <a:prstGeom prst="rect">
            <a:avLst/>
          </a:prstGeom>
          <a:noFill/>
        </p:spPr>
        <p:txBody>
          <a:bodyPr wrap="square" rtlCol="0">
            <a:spAutoFit/>
          </a:bodyPr>
          <a:lstStyle/>
          <a:p>
            <a:pPr algn="ctr"/>
            <a:r>
              <a:rPr lang="en-US" sz="1200"/>
              <a:t>Round 5.78 to the one decimal place</a:t>
            </a:r>
            <a:endParaRPr lang="en-GB" sz="1200"/>
          </a:p>
        </p:txBody>
      </p:sp>
      <p:sp>
        <p:nvSpPr>
          <p:cNvPr id="86" name="Rectangle 85">
            <a:extLst>
              <a:ext uri="{FF2B5EF4-FFF2-40B4-BE49-F238E27FC236}">
                <a16:creationId xmlns:a16="http://schemas.microsoft.com/office/drawing/2014/main" id="{2BD3790F-29FF-91F0-A18D-02C6B34D0C6A}"/>
              </a:ext>
            </a:extLst>
          </p:cNvPr>
          <p:cNvSpPr/>
          <p:nvPr/>
        </p:nvSpPr>
        <p:spPr>
          <a:xfrm>
            <a:off x="4035978" y="8553292"/>
            <a:ext cx="2019335" cy="276999"/>
          </a:xfrm>
          <a:prstGeom prst="rect">
            <a:avLst/>
          </a:prstGeom>
        </p:spPr>
        <p:txBody>
          <a:bodyPr wrap="none">
            <a:spAutoFit/>
          </a:bodyPr>
          <a:lstStyle/>
          <a:p>
            <a:r>
              <a:rPr lang="en-US" sz="1200"/>
              <a:t>rounded to 1 decimal place is</a:t>
            </a:r>
            <a:endParaRPr lang="en-GB" sz="1200"/>
          </a:p>
        </p:txBody>
      </p:sp>
      <p:sp>
        <p:nvSpPr>
          <p:cNvPr id="91" name="Rectangle 90">
            <a:extLst>
              <a:ext uri="{FF2B5EF4-FFF2-40B4-BE49-F238E27FC236}">
                <a16:creationId xmlns:a16="http://schemas.microsoft.com/office/drawing/2014/main" id="{6E3C7116-C7E4-0713-ECF1-D5077230201C}"/>
              </a:ext>
            </a:extLst>
          </p:cNvPr>
          <p:cNvSpPr/>
          <p:nvPr/>
        </p:nvSpPr>
        <p:spPr>
          <a:xfrm>
            <a:off x="257470" y="4667824"/>
            <a:ext cx="1530387" cy="2017810"/>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a:solidFill>
                  <a:schemeClr val="tx1"/>
                </a:solidFill>
              </a:rPr>
              <a:t>Steps:</a:t>
            </a:r>
          </a:p>
          <a:p>
            <a:pPr algn="ctr"/>
            <a:endParaRPr lang="en-GB" sz="900">
              <a:solidFill>
                <a:schemeClr val="tx1"/>
              </a:solidFill>
            </a:endParaRPr>
          </a:p>
          <a:p>
            <a:pPr marL="228600" indent="-228600" algn="ctr">
              <a:buAutoNum type="arabicParenR"/>
            </a:pPr>
            <a:r>
              <a:rPr lang="en-GB" sz="900">
                <a:solidFill>
                  <a:schemeClr val="tx1"/>
                </a:solidFill>
              </a:rPr>
              <a:t>Place the number on the number line.</a:t>
            </a:r>
          </a:p>
          <a:p>
            <a:pPr marL="228600" indent="-228600" algn="ctr">
              <a:buAutoNum type="arabicParenR"/>
            </a:pPr>
            <a:endParaRPr lang="en-GB" sz="900">
              <a:solidFill>
                <a:schemeClr val="tx1"/>
              </a:solidFill>
            </a:endParaRPr>
          </a:p>
          <a:p>
            <a:pPr marL="228600" indent="-228600" algn="ctr">
              <a:buAutoNum type="arabicParenR"/>
            </a:pPr>
            <a:r>
              <a:rPr lang="en-GB" sz="900">
                <a:solidFill>
                  <a:schemeClr val="tx1"/>
                </a:solidFill>
              </a:rPr>
              <a:t>See if the number is closer to the lower value or the upper value.</a:t>
            </a:r>
          </a:p>
          <a:p>
            <a:pPr marL="228600" indent="-228600" algn="ctr">
              <a:buAutoNum type="arabicParenR"/>
            </a:pPr>
            <a:endParaRPr lang="en-GB" sz="900">
              <a:solidFill>
                <a:schemeClr val="tx1"/>
              </a:solidFill>
            </a:endParaRPr>
          </a:p>
          <a:p>
            <a:pPr marL="228600" indent="-228600" algn="ctr">
              <a:buAutoNum type="arabicParenR"/>
            </a:pPr>
            <a:r>
              <a:rPr lang="en-GB" sz="900">
                <a:solidFill>
                  <a:schemeClr val="tx1"/>
                </a:solidFill>
              </a:rPr>
              <a:t>Write down what the number rounds to.</a:t>
            </a:r>
          </a:p>
        </p:txBody>
      </p:sp>
      <p:sp>
        <p:nvSpPr>
          <p:cNvPr id="2" name="Rectangle 1">
            <a:extLst>
              <a:ext uri="{FF2B5EF4-FFF2-40B4-BE49-F238E27FC236}">
                <a16:creationId xmlns:a16="http://schemas.microsoft.com/office/drawing/2014/main" id="{E5A8462C-F3D0-331C-3434-2CBD0082A815}"/>
              </a:ext>
            </a:extLst>
          </p:cNvPr>
          <p:cNvSpPr/>
          <p:nvPr/>
        </p:nvSpPr>
        <p:spPr>
          <a:xfrm>
            <a:off x="0" y="0"/>
            <a:ext cx="6858000" cy="28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1600" dirty="0">
                <a:solidFill>
                  <a:prstClr val="white"/>
                </a:solidFill>
              </a:rPr>
              <a:t>Rounding to decimal places</a:t>
            </a:r>
          </a:p>
        </p:txBody>
      </p:sp>
    </p:spTree>
    <p:extLst>
      <p:ext uri="{BB962C8B-B14F-4D97-AF65-F5344CB8AC3E}">
        <p14:creationId xmlns:p14="http://schemas.microsoft.com/office/powerpoint/2010/main" val="3441728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extBox 74"/>
          <p:cNvSpPr txBox="1"/>
          <p:nvPr/>
        </p:nvSpPr>
        <p:spPr>
          <a:xfrm>
            <a:off x="1889674" y="113804"/>
            <a:ext cx="2942024" cy="276999"/>
          </a:xfrm>
          <a:prstGeom prst="rect">
            <a:avLst/>
          </a:prstGeom>
          <a:noFill/>
        </p:spPr>
        <p:txBody>
          <a:bodyPr wrap="none" rtlCol="0">
            <a:spAutoFit/>
          </a:bodyPr>
          <a:lstStyle/>
          <a:p>
            <a:r>
              <a:rPr lang="en-US" sz="1200"/>
              <a:t>1. Round each number to one decimal place</a:t>
            </a:r>
            <a:endParaRPr lang="en-GB" sz="1200"/>
          </a:p>
        </p:txBody>
      </p:sp>
      <p:grpSp>
        <p:nvGrpSpPr>
          <p:cNvPr id="76" name="Group 75"/>
          <p:cNvGrpSpPr/>
          <p:nvPr/>
        </p:nvGrpSpPr>
        <p:grpSpPr>
          <a:xfrm>
            <a:off x="71285" y="544868"/>
            <a:ext cx="2230640" cy="1039517"/>
            <a:chOff x="78902" y="5821182"/>
            <a:chExt cx="2230640" cy="1039517"/>
          </a:xfrm>
        </p:grpSpPr>
        <p:sp>
          <p:nvSpPr>
            <p:cNvPr id="77" name="TextBox 76"/>
            <p:cNvSpPr txBox="1"/>
            <p:nvPr/>
          </p:nvSpPr>
          <p:spPr>
            <a:xfrm>
              <a:off x="96145" y="5821182"/>
              <a:ext cx="614271" cy="276999"/>
            </a:xfrm>
            <a:prstGeom prst="rect">
              <a:avLst/>
            </a:prstGeom>
            <a:noFill/>
          </p:spPr>
          <p:txBody>
            <a:bodyPr wrap="none" rtlCol="0">
              <a:spAutoFit/>
            </a:bodyPr>
            <a:lstStyle/>
            <a:p>
              <a:r>
                <a:rPr lang="en-US" sz="1200"/>
                <a:t>a) 0.45</a:t>
              </a:r>
              <a:endParaRPr lang="en-GB" sz="1200"/>
            </a:p>
          </p:txBody>
        </p:sp>
        <p:grpSp>
          <p:nvGrpSpPr>
            <p:cNvPr id="78" name="Group 77"/>
            <p:cNvGrpSpPr/>
            <p:nvPr/>
          </p:nvGrpSpPr>
          <p:grpSpPr>
            <a:xfrm>
              <a:off x="78902" y="6183908"/>
              <a:ext cx="2230640" cy="676791"/>
              <a:chOff x="78902" y="6183908"/>
              <a:chExt cx="2230640" cy="676791"/>
            </a:xfrm>
          </p:grpSpPr>
          <p:pic>
            <p:nvPicPr>
              <p:cNvPr id="79" name="Picture 78"/>
              <p:cNvPicPr>
                <a:picLocks noChangeAspect="1"/>
              </p:cNvPicPr>
              <p:nvPr/>
            </p:nvPicPr>
            <p:blipFill>
              <a:blip r:embed="rId2"/>
              <a:stretch>
                <a:fillRect/>
              </a:stretch>
            </p:blipFill>
            <p:spPr>
              <a:xfrm>
                <a:off x="248591" y="6380767"/>
                <a:ext cx="1884050" cy="479932"/>
              </a:xfrm>
              <a:prstGeom prst="rect">
                <a:avLst/>
              </a:prstGeom>
            </p:spPr>
          </p:pic>
          <p:sp>
            <p:nvSpPr>
              <p:cNvPr id="80" name="TextBox 79"/>
              <p:cNvSpPr txBox="1"/>
              <p:nvPr/>
            </p:nvSpPr>
            <p:spPr>
              <a:xfrm>
                <a:off x="78902" y="6183908"/>
                <a:ext cx="380232" cy="276999"/>
              </a:xfrm>
              <a:prstGeom prst="rect">
                <a:avLst/>
              </a:prstGeom>
              <a:noFill/>
            </p:spPr>
            <p:txBody>
              <a:bodyPr wrap="none" rtlCol="0">
                <a:spAutoFit/>
              </a:bodyPr>
              <a:lstStyle/>
              <a:p>
                <a:r>
                  <a:rPr lang="en-US" sz="1200"/>
                  <a:t>0.4</a:t>
                </a:r>
                <a:endParaRPr lang="en-GB" sz="1200"/>
              </a:p>
            </p:txBody>
          </p:sp>
          <p:sp>
            <p:nvSpPr>
              <p:cNvPr id="81" name="TextBox 80"/>
              <p:cNvSpPr txBox="1"/>
              <p:nvPr/>
            </p:nvSpPr>
            <p:spPr>
              <a:xfrm>
                <a:off x="1929310" y="6183908"/>
                <a:ext cx="380232" cy="276999"/>
              </a:xfrm>
              <a:prstGeom prst="rect">
                <a:avLst/>
              </a:prstGeom>
              <a:noFill/>
            </p:spPr>
            <p:txBody>
              <a:bodyPr wrap="none" rtlCol="0">
                <a:spAutoFit/>
              </a:bodyPr>
              <a:lstStyle/>
              <a:p>
                <a:r>
                  <a:rPr lang="en-US" sz="1200"/>
                  <a:t>0.5</a:t>
                </a:r>
                <a:endParaRPr lang="en-GB" sz="1200"/>
              </a:p>
            </p:txBody>
          </p:sp>
        </p:grpSp>
      </p:grpSp>
      <p:grpSp>
        <p:nvGrpSpPr>
          <p:cNvPr id="83" name="Group 82"/>
          <p:cNvGrpSpPr/>
          <p:nvPr/>
        </p:nvGrpSpPr>
        <p:grpSpPr>
          <a:xfrm>
            <a:off x="2329792" y="526334"/>
            <a:ext cx="2036496" cy="1039517"/>
            <a:chOff x="96145" y="5821182"/>
            <a:chExt cx="2036496" cy="1039517"/>
          </a:xfrm>
        </p:grpSpPr>
        <p:sp>
          <p:nvSpPr>
            <p:cNvPr id="84" name="TextBox 83"/>
            <p:cNvSpPr txBox="1"/>
            <p:nvPr/>
          </p:nvSpPr>
          <p:spPr>
            <a:xfrm>
              <a:off x="96145" y="5821182"/>
              <a:ext cx="620683" cy="276999"/>
            </a:xfrm>
            <a:prstGeom prst="rect">
              <a:avLst/>
            </a:prstGeom>
            <a:noFill/>
          </p:spPr>
          <p:txBody>
            <a:bodyPr wrap="none" rtlCol="0">
              <a:spAutoFit/>
            </a:bodyPr>
            <a:lstStyle/>
            <a:p>
              <a:r>
                <a:rPr lang="en-US" sz="1200"/>
                <a:t>b) 2.48</a:t>
              </a:r>
              <a:endParaRPr lang="en-GB" sz="1200"/>
            </a:p>
          </p:txBody>
        </p:sp>
        <p:pic>
          <p:nvPicPr>
            <p:cNvPr id="86" name="Picture 85"/>
            <p:cNvPicPr>
              <a:picLocks noChangeAspect="1"/>
            </p:cNvPicPr>
            <p:nvPr/>
          </p:nvPicPr>
          <p:blipFill>
            <a:blip r:embed="rId2"/>
            <a:stretch>
              <a:fillRect/>
            </a:stretch>
          </p:blipFill>
          <p:spPr>
            <a:xfrm>
              <a:off x="248591" y="6380767"/>
              <a:ext cx="1884050" cy="479932"/>
            </a:xfrm>
            <a:prstGeom prst="rect">
              <a:avLst/>
            </a:prstGeom>
          </p:spPr>
        </p:pic>
      </p:grpSp>
      <p:grpSp>
        <p:nvGrpSpPr>
          <p:cNvPr id="89" name="Group 88"/>
          <p:cNvGrpSpPr/>
          <p:nvPr/>
        </p:nvGrpSpPr>
        <p:grpSpPr>
          <a:xfrm>
            <a:off x="4582621" y="379106"/>
            <a:ext cx="2037168" cy="1172400"/>
            <a:chOff x="95473" y="5688299"/>
            <a:chExt cx="2037168" cy="1172400"/>
          </a:xfrm>
        </p:grpSpPr>
        <p:sp>
          <p:nvSpPr>
            <p:cNvPr id="90" name="TextBox 89"/>
            <p:cNvSpPr txBox="1"/>
            <p:nvPr/>
          </p:nvSpPr>
          <p:spPr>
            <a:xfrm>
              <a:off x="95473" y="5688299"/>
              <a:ext cx="606256" cy="276999"/>
            </a:xfrm>
            <a:prstGeom prst="rect">
              <a:avLst/>
            </a:prstGeom>
            <a:noFill/>
          </p:spPr>
          <p:txBody>
            <a:bodyPr wrap="none" rtlCol="0">
              <a:spAutoFit/>
            </a:bodyPr>
            <a:lstStyle/>
            <a:p>
              <a:r>
                <a:rPr lang="en-US" sz="1200"/>
                <a:t>c) 3.48</a:t>
              </a:r>
              <a:endParaRPr lang="en-GB" sz="1200"/>
            </a:p>
          </p:txBody>
        </p:sp>
        <p:pic>
          <p:nvPicPr>
            <p:cNvPr id="92" name="Picture 91"/>
            <p:cNvPicPr>
              <a:picLocks noChangeAspect="1"/>
            </p:cNvPicPr>
            <p:nvPr/>
          </p:nvPicPr>
          <p:blipFill>
            <a:blip r:embed="rId2"/>
            <a:stretch>
              <a:fillRect/>
            </a:stretch>
          </p:blipFill>
          <p:spPr>
            <a:xfrm>
              <a:off x="248591" y="6380767"/>
              <a:ext cx="1884050" cy="479932"/>
            </a:xfrm>
            <a:prstGeom prst="rect">
              <a:avLst/>
            </a:prstGeom>
          </p:spPr>
        </p:pic>
      </p:grpSp>
      <p:grpSp>
        <p:nvGrpSpPr>
          <p:cNvPr id="95" name="Group 94"/>
          <p:cNvGrpSpPr/>
          <p:nvPr/>
        </p:nvGrpSpPr>
        <p:grpSpPr>
          <a:xfrm>
            <a:off x="117679" y="2406019"/>
            <a:ext cx="2211232" cy="1039517"/>
            <a:chOff x="80698" y="5821182"/>
            <a:chExt cx="2211232" cy="1039517"/>
          </a:xfrm>
        </p:grpSpPr>
        <p:sp>
          <p:nvSpPr>
            <p:cNvPr id="96" name="TextBox 95"/>
            <p:cNvSpPr txBox="1"/>
            <p:nvPr/>
          </p:nvSpPr>
          <p:spPr>
            <a:xfrm>
              <a:off x="96145" y="5821182"/>
              <a:ext cx="620683" cy="276999"/>
            </a:xfrm>
            <a:prstGeom prst="rect">
              <a:avLst/>
            </a:prstGeom>
            <a:noFill/>
          </p:spPr>
          <p:txBody>
            <a:bodyPr wrap="none" rtlCol="0">
              <a:spAutoFit/>
            </a:bodyPr>
            <a:lstStyle/>
            <a:p>
              <a:r>
                <a:rPr lang="en-US" sz="1200"/>
                <a:t>d) 5.58</a:t>
              </a:r>
              <a:endParaRPr lang="en-GB" sz="1200"/>
            </a:p>
          </p:txBody>
        </p:sp>
        <p:grpSp>
          <p:nvGrpSpPr>
            <p:cNvPr id="97" name="Group 96"/>
            <p:cNvGrpSpPr/>
            <p:nvPr/>
          </p:nvGrpSpPr>
          <p:grpSpPr>
            <a:xfrm>
              <a:off x="80698" y="6183908"/>
              <a:ext cx="2211232" cy="676791"/>
              <a:chOff x="80698" y="6183908"/>
              <a:chExt cx="2211232" cy="676791"/>
            </a:xfrm>
          </p:grpSpPr>
          <p:pic>
            <p:nvPicPr>
              <p:cNvPr id="98" name="Picture 97"/>
              <p:cNvPicPr>
                <a:picLocks noChangeAspect="1"/>
              </p:cNvPicPr>
              <p:nvPr/>
            </p:nvPicPr>
            <p:blipFill>
              <a:blip r:embed="rId2"/>
              <a:stretch>
                <a:fillRect/>
              </a:stretch>
            </p:blipFill>
            <p:spPr>
              <a:xfrm>
                <a:off x="248591" y="6380767"/>
                <a:ext cx="1884050" cy="479932"/>
              </a:xfrm>
              <a:prstGeom prst="rect">
                <a:avLst/>
              </a:prstGeom>
            </p:spPr>
          </p:pic>
          <p:sp>
            <p:nvSpPr>
              <p:cNvPr id="99" name="TextBox 98"/>
              <p:cNvSpPr txBox="1"/>
              <p:nvPr/>
            </p:nvSpPr>
            <p:spPr>
              <a:xfrm>
                <a:off x="80698" y="6205755"/>
                <a:ext cx="380232" cy="276999"/>
              </a:xfrm>
              <a:prstGeom prst="rect">
                <a:avLst/>
              </a:prstGeom>
              <a:noFill/>
            </p:spPr>
            <p:txBody>
              <a:bodyPr wrap="none" rtlCol="0">
                <a:spAutoFit/>
              </a:bodyPr>
              <a:lstStyle/>
              <a:p>
                <a:r>
                  <a:rPr lang="en-US" sz="1200"/>
                  <a:t>5.5</a:t>
                </a:r>
                <a:endParaRPr lang="en-GB" sz="1200"/>
              </a:p>
            </p:txBody>
          </p:sp>
          <p:sp>
            <p:nvSpPr>
              <p:cNvPr id="100" name="TextBox 99"/>
              <p:cNvSpPr txBox="1"/>
              <p:nvPr/>
            </p:nvSpPr>
            <p:spPr>
              <a:xfrm>
                <a:off x="1911698" y="6183908"/>
                <a:ext cx="380232" cy="276999"/>
              </a:xfrm>
              <a:prstGeom prst="rect">
                <a:avLst/>
              </a:prstGeom>
              <a:noFill/>
            </p:spPr>
            <p:txBody>
              <a:bodyPr wrap="none" rtlCol="0">
                <a:spAutoFit/>
              </a:bodyPr>
              <a:lstStyle/>
              <a:p>
                <a:r>
                  <a:rPr lang="en-US" sz="1200"/>
                  <a:t>5.6</a:t>
                </a:r>
                <a:endParaRPr lang="en-GB" sz="1200"/>
              </a:p>
            </p:txBody>
          </p:sp>
        </p:grpSp>
      </p:grpSp>
      <p:grpSp>
        <p:nvGrpSpPr>
          <p:cNvPr id="101" name="Group 100"/>
          <p:cNvGrpSpPr/>
          <p:nvPr/>
        </p:nvGrpSpPr>
        <p:grpSpPr>
          <a:xfrm>
            <a:off x="2339701" y="2387485"/>
            <a:ext cx="2271749" cy="1039517"/>
            <a:chOff x="61456" y="5821182"/>
            <a:chExt cx="2271749" cy="1039517"/>
          </a:xfrm>
        </p:grpSpPr>
        <p:sp>
          <p:nvSpPr>
            <p:cNvPr id="102" name="TextBox 101"/>
            <p:cNvSpPr txBox="1"/>
            <p:nvPr/>
          </p:nvSpPr>
          <p:spPr>
            <a:xfrm>
              <a:off x="96145" y="5821182"/>
              <a:ext cx="617477" cy="276999"/>
            </a:xfrm>
            <a:prstGeom prst="rect">
              <a:avLst/>
            </a:prstGeom>
            <a:noFill/>
          </p:spPr>
          <p:txBody>
            <a:bodyPr wrap="none" rtlCol="0">
              <a:spAutoFit/>
            </a:bodyPr>
            <a:lstStyle/>
            <a:p>
              <a:r>
                <a:rPr lang="en-US" sz="1200"/>
                <a:t>e) 7.69</a:t>
              </a:r>
              <a:endParaRPr lang="en-GB" sz="1200"/>
            </a:p>
          </p:txBody>
        </p:sp>
        <p:grpSp>
          <p:nvGrpSpPr>
            <p:cNvPr id="103" name="Group 102"/>
            <p:cNvGrpSpPr/>
            <p:nvPr/>
          </p:nvGrpSpPr>
          <p:grpSpPr>
            <a:xfrm>
              <a:off x="61456" y="6183908"/>
              <a:ext cx="2271749" cy="676791"/>
              <a:chOff x="61456" y="6183908"/>
              <a:chExt cx="2271749" cy="676791"/>
            </a:xfrm>
          </p:grpSpPr>
          <p:pic>
            <p:nvPicPr>
              <p:cNvPr id="104" name="Picture 103"/>
              <p:cNvPicPr>
                <a:picLocks noChangeAspect="1"/>
              </p:cNvPicPr>
              <p:nvPr/>
            </p:nvPicPr>
            <p:blipFill>
              <a:blip r:embed="rId2"/>
              <a:stretch>
                <a:fillRect/>
              </a:stretch>
            </p:blipFill>
            <p:spPr>
              <a:xfrm>
                <a:off x="248591" y="6380767"/>
                <a:ext cx="1884050" cy="479932"/>
              </a:xfrm>
              <a:prstGeom prst="rect">
                <a:avLst/>
              </a:prstGeom>
            </p:spPr>
          </p:pic>
          <p:sp>
            <p:nvSpPr>
              <p:cNvPr id="105" name="TextBox 104"/>
              <p:cNvSpPr txBox="1"/>
              <p:nvPr/>
            </p:nvSpPr>
            <p:spPr>
              <a:xfrm>
                <a:off x="61456" y="6206256"/>
                <a:ext cx="380232" cy="276999"/>
              </a:xfrm>
              <a:prstGeom prst="rect">
                <a:avLst/>
              </a:prstGeom>
              <a:noFill/>
            </p:spPr>
            <p:txBody>
              <a:bodyPr wrap="none" rtlCol="0">
                <a:spAutoFit/>
              </a:bodyPr>
              <a:lstStyle/>
              <a:p>
                <a:r>
                  <a:rPr lang="en-US" sz="1200"/>
                  <a:t>7.6</a:t>
                </a:r>
                <a:endParaRPr lang="en-GB" sz="1200"/>
              </a:p>
            </p:txBody>
          </p:sp>
          <p:sp>
            <p:nvSpPr>
              <p:cNvPr id="106" name="TextBox 105"/>
              <p:cNvSpPr txBox="1"/>
              <p:nvPr/>
            </p:nvSpPr>
            <p:spPr>
              <a:xfrm>
                <a:off x="1952973" y="6183908"/>
                <a:ext cx="380232" cy="276999"/>
              </a:xfrm>
              <a:prstGeom prst="rect">
                <a:avLst/>
              </a:prstGeom>
              <a:noFill/>
            </p:spPr>
            <p:txBody>
              <a:bodyPr wrap="none" rtlCol="0">
                <a:spAutoFit/>
              </a:bodyPr>
              <a:lstStyle/>
              <a:p>
                <a:r>
                  <a:rPr lang="en-US" sz="1200"/>
                  <a:t>7.7</a:t>
                </a:r>
                <a:endParaRPr lang="en-GB" sz="1200"/>
              </a:p>
            </p:txBody>
          </p:sp>
        </p:grpSp>
      </p:grpSp>
      <p:grpSp>
        <p:nvGrpSpPr>
          <p:cNvPr id="107" name="Group 106"/>
          <p:cNvGrpSpPr/>
          <p:nvPr/>
        </p:nvGrpSpPr>
        <p:grpSpPr>
          <a:xfrm>
            <a:off x="4616807" y="2368951"/>
            <a:ext cx="2212895" cy="1039517"/>
            <a:chOff x="81407" y="5821182"/>
            <a:chExt cx="2212895" cy="1039517"/>
          </a:xfrm>
        </p:grpSpPr>
        <p:sp>
          <p:nvSpPr>
            <p:cNvPr id="108" name="TextBox 107"/>
            <p:cNvSpPr txBox="1"/>
            <p:nvPr/>
          </p:nvSpPr>
          <p:spPr>
            <a:xfrm>
              <a:off x="96145" y="5821182"/>
              <a:ext cx="589264" cy="276999"/>
            </a:xfrm>
            <a:prstGeom prst="rect">
              <a:avLst/>
            </a:prstGeom>
            <a:noFill/>
          </p:spPr>
          <p:txBody>
            <a:bodyPr wrap="none" rtlCol="0">
              <a:spAutoFit/>
            </a:bodyPr>
            <a:lstStyle/>
            <a:p>
              <a:r>
                <a:rPr lang="en-US" sz="1200"/>
                <a:t>f) 9.21</a:t>
              </a:r>
              <a:endParaRPr lang="en-GB" sz="1200"/>
            </a:p>
          </p:txBody>
        </p:sp>
        <p:grpSp>
          <p:nvGrpSpPr>
            <p:cNvPr id="109" name="Group 108"/>
            <p:cNvGrpSpPr/>
            <p:nvPr/>
          </p:nvGrpSpPr>
          <p:grpSpPr>
            <a:xfrm>
              <a:off x="81407" y="6193965"/>
              <a:ext cx="2212895" cy="666734"/>
              <a:chOff x="81407" y="6193965"/>
              <a:chExt cx="2212895" cy="666734"/>
            </a:xfrm>
          </p:grpSpPr>
          <p:pic>
            <p:nvPicPr>
              <p:cNvPr id="110" name="Picture 109"/>
              <p:cNvPicPr>
                <a:picLocks noChangeAspect="1"/>
              </p:cNvPicPr>
              <p:nvPr/>
            </p:nvPicPr>
            <p:blipFill>
              <a:blip r:embed="rId2"/>
              <a:stretch>
                <a:fillRect/>
              </a:stretch>
            </p:blipFill>
            <p:spPr>
              <a:xfrm>
                <a:off x="248591" y="6380767"/>
                <a:ext cx="1884050" cy="479932"/>
              </a:xfrm>
              <a:prstGeom prst="rect">
                <a:avLst/>
              </a:prstGeom>
            </p:spPr>
          </p:pic>
          <p:sp>
            <p:nvSpPr>
              <p:cNvPr id="111" name="TextBox 110"/>
              <p:cNvSpPr txBox="1"/>
              <p:nvPr/>
            </p:nvSpPr>
            <p:spPr>
              <a:xfrm>
                <a:off x="81407" y="6193965"/>
                <a:ext cx="380232" cy="276999"/>
              </a:xfrm>
              <a:prstGeom prst="rect">
                <a:avLst/>
              </a:prstGeom>
              <a:noFill/>
            </p:spPr>
            <p:txBody>
              <a:bodyPr wrap="none" rtlCol="0">
                <a:spAutoFit/>
              </a:bodyPr>
              <a:lstStyle/>
              <a:p>
                <a:r>
                  <a:rPr lang="en-US" sz="1200"/>
                  <a:t>9.2</a:t>
                </a:r>
                <a:endParaRPr lang="en-GB" sz="1200"/>
              </a:p>
            </p:txBody>
          </p:sp>
          <p:sp>
            <p:nvSpPr>
              <p:cNvPr id="112" name="TextBox 111"/>
              <p:cNvSpPr txBox="1"/>
              <p:nvPr/>
            </p:nvSpPr>
            <p:spPr>
              <a:xfrm>
                <a:off x="1914070" y="6222983"/>
                <a:ext cx="380232" cy="276999"/>
              </a:xfrm>
              <a:prstGeom prst="rect">
                <a:avLst/>
              </a:prstGeom>
              <a:noFill/>
            </p:spPr>
            <p:txBody>
              <a:bodyPr wrap="none" rtlCol="0">
                <a:spAutoFit/>
              </a:bodyPr>
              <a:lstStyle/>
              <a:p>
                <a:r>
                  <a:rPr lang="en-US" sz="1200"/>
                  <a:t>9.3</a:t>
                </a:r>
                <a:endParaRPr lang="en-GB" sz="1200"/>
              </a:p>
            </p:txBody>
          </p:sp>
        </p:grpSp>
      </p:grpSp>
      <p:sp>
        <p:nvSpPr>
          <p:cNvPr id="130" name="TextBox 129"/>
          <p:cNvSpPr txBox="1"/>
          <p:nvPr/>
        </p:nvSpPr>
        <p:spPr>
          <a:xfrm>
            <a:off x="577260" y="1560051"/>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131" name="Rectangle 130">
            <a:extLst>
              <a:ext uri="{FF2B5EF4-FFF2-40B4-BE49-F238E27FC236}">
                <a16:creationId xmlns:a16="http://schemas.microsoft.com/office/drawing/2014/main" id="{CEEF23AD-EA17-135A-DB95-1D1FECB286F3}"/>
              </a:ext>
            </a:extLst>
          </p:cNvPr>
          <p:cNvSpPr/>
          <p:nvPr/>
        </p:nvSpPr>
        <p:spPr>
          <a:xfrm>
            <a:off x="1722177" y="1709692"/>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2" name="Rectangle 131">
            <a:extLst>
              <a:ext uri="{FF2B5EF4-FFF2-40B4-BE49-F238E27FC236}">
                <a16:creationId xmlns:a16="http://schemas.microsoft.com/office/drawing/2014/main" id="{CEEF23AD-EA17-135A-DB95-1D1FECB286F3}"/>
              </a:ext>
            </a:extLst>
          </p:cNvPr>
          <p:cNvSpPr/>
          <p:nvPr/>
        </p:nvSpPr>
        <p:spPr>
          <a:xfrm>
            <a:off x="133886" y="1706004"/>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4" name="Rectangle 133">
            <a:extLst>
              <a:ext uri="{FF2B5EF4-FFF2-40B4-BE49-F238E27FC236}">
                <a16:creationId xmlns:a16="http://schemas.microsoft.com/office/drawing/2014/main" id="{CEEF23AD-EA17-135A-DB95-1D1FECB286F3}"/>
              </a:ext>
            </a:extLst>
          </p:cNvPr>
          <p:cNvSpPr/>
          <p:nvPr/>
        </p:nvSpPr>
        <p:spPr>
          <a:xfrm>
            <a:off x="4008379" y="1693739"/>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5" name="Rectangle 134">
            <a:extLst>
              <a:ext uri="{FF2B5EF4-FFF2-40B4-BE49-F238E27FC236}">
                <a16:creationId xmlns:a16="http://schemas.microsoft.com/office/drawing/2014/main" id="{CEEF23AD-EA17-135A-DB95-1D1FECB286F3}"/>
              </a:ext>
            </a:extLst>
          </p:cNvPr>
          <p:cNvSpPr/>
          <p:nvPr/>
        </p:nvSpPr>
        <p:spPr>
          <a:xfrm>
            <a:off x="2420088" y="1690051"/>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7" name="Rectangle 136">
            <a:extLst>
              <a:ext uri="{FF2B5EF4-FFF2-40B4-BE49-F238E27FC236}">
                <a16:creationId xmlns:a16="http://schemas.microsoft.com/office/drawing/2014/main" id="{CEEF23AD-EA17-135A-DB95-1D1FECB286F3}"/>
              </a:ext>
            </a:extLst>
          </p:cNvPr>
          <p:cNvSpPr/>
          <p:nvPr/>
        </p:nvSpPr>
        <p:spPr>
          <a:xfrm>
            <a:off x="6264400" y="1698818"/>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8" name="Rectangle 137">
            <a:extLst>
              <a:ext uri="{FF2B5EF4-FFF2-40B4-BE49-F238E27FC236}">
                <a16:creationId xmlns:a16="http://schemas.microsoft.com/office/drawing/2014/main" id="{CEEF23AD-EA17-135A-DB95-1D1FECB286F3}"/>
              </a:ext>
            </a:extLst>
          </p:cNvPr>
          <p:cNvSpPr/>
          <p:nvPr/>
        </p:nvSpPr>
        <p:spPr>
          <a:xfrm>
            <a:off x="4676109" y="1695130"/>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0" name="Rectangle 139">
            <a:extLst>
              <a:ext uri="{FF2B5EF4-FFF2-40B4-BE49-F238E27FC236}">
                <a16:creationId xmlns:a16="http://schemas.microsoft.com/office/drawing/2014/main" id="{CEEF23AD-EA17-135A-DB95-1D1FECB286F3}"/>
              </a:ext>
            </a:extLst>
          </p:cNvPr>
          <p:cNvSpPr/>
          <p:nvPr/>
        </p:nvSpPr>
        <p:spPr>
          <a:xfrm>
            <a:off x="1727069" y="3514324"/>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1" name="Rectangle 140">
            <a:extLst>
              <a:ext uri="{FF2B5EF4-FFF2-40B4-BE49-F238E27FC236}">
                <a16:creationId xmlns:a16="http://schemas.microsoft.com/office/drawing/2014/main" id="{CEEF23AD-EA17-135A-DB95-1D1FECB286F3}"/>
              </a:ext>
            </a:extLst>
          </p:cNvPr>
          <p:cNvSpPr/>
          <p:nvPr/>
        </p:nvSpPr>
        <p:spPr>
          <a:xfrm>
            <a:off x="138778" y="3510636"/>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3" name="Rectangle 142">
            <a:extLst>
              <a:ext uri="{FF2B5EF4-FFF2-40B4-BE49-F238E27FC236}">
                <a16:creationId xmlns:a16="http://schemas.microsoft.com/office/drawing/2014/main" id="{CEEF23AD-EA17-135A-DB95-1D1FECB286F3}"/>
              </a:ext>
            </a:extLst>
          </p:cNvPr>
          <p:cNvSpPr/>
          <p:nvPr/>
        </p:nvSpPr>
        <p:spPr>
          <a:xfrm>
            <a:off x="4008379" y="3552171"/>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4" name="Rectangle 143">
            <a:extLst>
              <a:ext uri="{FF2B5EF4-FFF2-40B4-BE49-F238E27FC236}">
                <a16:creationId xmlns:a16="http://schemas.microsoft.com/office/drawing/2014/main" id="{CEEF23AD-EA17-135A-DB95-1D1FECB286F3}"/>
              </a:ext>
            </a:extLst>
          </p:cNvPr>
          <p:cNvSpPr/>
          <p:nvPr/>
        </p:nvSpPr>
        <p:spPr>
          <a:xfrm>
            <a:off x="2420088" y="3548483"/>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6" name="Rectangle 145">
            <a:extLst>
              <a:ext uri="{FF2B5EF4-FFF2-40B4-BE49-F238E27FC236}">
                <a16:creationId xmlns:a16="http://schemas.microsoft.com/office/drawing/2014/main" id="{CEEF23AD-EA17-135A-DB95-1D1FECB286F3}"/>
              </a:ext>
            </a:extLst>
          </p:cNvPr>
          <p:cNvSpPr/>
          <p:nvPr/>
        </p:nvSpPr>
        <p:spPr>
          <a:xfrm>
            <a:off x="6264400" y="3540309"/>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7" name="Rectangle 146">
            <a:extLst>
              <a:ext uri="{FF2B5EF4-FFF2-40B4-BE49-F238E27FC236}">
                <a16:creationId xmlns:a16="http://schemas.microsoft.com/office/drawing/2014/main" id="{CEEF23AD-EA17-135A-DB95-1D1FECB286F3}"/>
              </a:ext>
            </a:extLst>
          </p:cNvPr>
          <p:cNvSpPr/>
          <p:nvPr/>
        </p:nvSpPr>
        <p:spPr>
          <a:xfrm>
            <a:off x="4676109" y="3536621"/>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149" name="Straight Connector 148"/>
          <p:cNvCxnSpPr/>
          <p:nvPr/>
        </p:nvCxnSpPr>
        <p:spPr>
          <a:xfrm>
            <a:off x="2314714" y="511989"/>
            <a:ext cx="0" cy="3472436"/>
          </a:xfrm>
          <a:prstGeom prst="line">
            <a:avLst/>
          </a:prstGeom>
        </p:spPr>
        <p:style>
          <a:lnRef idx="1">
            <a:schemeClr val="dk1"/>
          </a:lnRef>
          <a:fillRef idx="0">
            <a:schemeClr val="dk1"/>
          </a:fillRef>
          <a:effectRef idx="0">
            <a:schemeClr val="dk1"/>
          </a:effectRef>
          <a:fontRef idx="minor">
            <a:schemeClr val="tx1"/>
          </a:fontRef>
        </p:style>
      </p:cxnSp>
      <p:cxnSp>
        <p:nvCxnSpPr>
          <p:cNvPr id="150" name="Straight Connector 149"/>
          <p:cNvCxnSpPr/>
          <p:nvPr/>
        </p:nvCxnSpPr>
        <p:spPr>
          <a:xfrm>
            <a:off x="4579335" y="519868"/>
            <a:ext cx="0" cy="3472436"/>
          </a:xfrm>
          <a:prstGeom prst="line">
            <a:avLst/>
          </a:prstGeom>
        </p:spPr>
        <p:style>
          <a:lnRef idx="1">
            <a:schemeClr val="dk1"/>
          </a:lnRef>
          <a:fillRef idx="0">
            <a:schemeClr val="dk1"/>
          </a:fillRef>
          <a:effectRef idx="0">
            <a:schemeClr val="dk1"/>
          </a:effectRef>
          <a:fontRef idx="minor">
            <a:schemeClr val="tx1"/>
          </a:fontRef>
        </p:style>
      </p:cxnSp>
      <p:cxnSp>
        <p:nvCxnSpPr>
          <p:cNvPr id="151" name="Straight Connector 150"/>
          <p:cNvCxnSpPr/>
          <p:nvPr/>
        </p:nvCxnSpPr>
        <p:spPr>
          <a:xfrm flipH="1">
            <a:off x="97054" y="2249683"/>
            <a:ext cx="6779455" cy="0"/>
          </a:xfrm>
          <a:prstGeom prst="line">
            <a:avLst/>
          </a:prstGeom>
        </p:spPr>
        <p:style>
          <a:lnRef idx="1">
            <a:schemeClr val="dk1"/>
          </a:lnRef>
          <a:fillRef idx="0">
            <a:schemeClr val="dk1"/>
          </a:fillRef>
          <a:effectRef idx="0">
            <a:schemeClr val="dk1"/>
          </a:effectRef>
          <a:fontRef idx="minor">
            <a:schemeClr val="tx1"/>
          </a:fontRef>
        </p:style>
      </p:cxnSp>
      <p:sp>
        <p:nvSpPr>
          <p:cNvPr id="9" name="Slide Number Placeholder 8"/>
          <p:cNvSpPr>
            <a:spLocks noGrp="1"/>
          </p:cNvSpPr>
          <p:nvPr>
            <p:ph type="sldNum" sz="quarter" idx="12"/>
          </p:nvPr>
        </p:nvSpPr>
        <p:spPr>
          <a:xfrm>
            <a:off x="5386723" y="9591355"/>
            <a:ext cx="1543050" cy="527403"/>
          </a:xfrm>
        </p:spPr>
        <p:txBody>
          <a:bodyPr/>
          <a:lstStyle/>
          <a:p>
            <a:fld id="{5A4F90BD-8434-408E-ABCB-72142A229B01}" type="slidenum">
              <a:rPr lang="en-GB" smtClean="0"/>
              <a:t>18</a:t>
            </a:fld>
            <a:endParaRPr lang="en-GB"/>
          </a:p>
        </p:txBody>
      </p:sp>
      <p:grpSp>
        <p:nvGrpSpPr>
          <p:cNvPr id="129" name="Group 128"/>
          <p:cNvGrpSpPr/>
          <p:nvPr/>
        </p:nvGrpSpPr>
        <p:grpSpPr>
          <a:xfrm>
            <a:off x="64036" y="4030976"/>
            <a:ext cx="2250632" cy="1039517"/>
            <a:chOff x="74938" y="5821182"/>
            <a:chExt cx="2250632" cy="1039517"/>
          </a:xfrm>
        </p:grpSpPr>
        <p:sp>
          <p:nvSpPr>
            <p:cNvPr id="148" name="TextBox 147"/>
            <p:cNvSpPr txBox="1"/>
            <p:nvPr/>
          </p:nvSpPr>
          <p:spPr>
            <a:xfrm>
              <a:off x="96145" y="5821182"/>
              <a:ext cx="612668" cy="276999"/>
            </a:xfrm>
            <a:prstGeom prst="rect">
              <a:avLst/>
            </a:prstGeom>
            <a:noFill/>
          </p:spPr>
          <p:txBody>
            <a:bodyPr wrap="none" rtlCol="0">
              <a:spAutoFit/>
            </a:bodyPr>
            <a:lstStyle/>
            <a:p>
              <a:r>
                <a:rPr lang="en-US" sz="1200"/>
                <a:t>g) 9.91</a:t>
              </a:r>
              <a:endParaRPr lang="en-GB" sz="1200"/>
            </a:p>
          </p:txBody>
        </p:sp>
        <p:grpSp>
          <p:nvGrpSpPr>
            <p:cNvPr id="152" name="Group 151"/>
            <p:cNvGrpSpPr/>
            <p:nvPr/>
          </p:nvGrpSpPr>
          <p:grpSpPr>
            <a:xfrm>
              <a:off x="74938" y="6183908"/>
              <a:ext cx="2250632" cy="676791"/>
              <a:chOff x="74938" y="6183908"/>
              <a:chExt cx="2250632" cy="676791"/>
            </a:xfrm>
          </p:grpSpPr>
          <p:pic>
            <p:nvPicPr>
              <p:cNvPr id="153" name="Picture 152"/>
              <p:cNvPicPr>
                <a:picLocks noChangeAspect="1"/>
              </p:cNvPicPr>
              <p:nvPr/>
            </p:nvPicPr>
            <p:blipFill>
              <a:blip r:embed="rId2"/>
              <a:stretch>
                <a:fillRect/>
              </a:stretch>
            </p:blipFill>
            <p:spPr>
              <a:xfrm>
                <a:off x="248591" y="6380767"/>
                <a:ext cx="1884050" cy="479932"/>
              </a:xfrm>
              <a:prstGeom prst="rect">
                <a:avLst/>
              </a:prstGeom>
            </p:spPr>
          </p:pic>
          <p:sp>
            <p:nvSpPr>
              <p:cNvPr id="154" name="TextBox 153"/>
              <p:cNvSpPr txBox="1"/>
              <p:nvPr/>
            </p:nvSpPr>
            <p:spPr>
              <a:xfrm>
                <a:off x="74938" y="6183908"/>
                <a:ext cx="380232" cy="276999"/>
              </a:xfrm>
              <a:prstGeom prst="rect">
                <a:avLst/>
              </a:prstGeom>
              <a:noFill/>
            </p:spPr>
            <p:txBody>
              <a:bodyPr wrap="none" rtlCol="0">
                <a:spAutoFit/>
              </a:bodyPr>
              <a:lstStyle/>
              <a:p>
                <a:r>
                  <a:rPr lang="en-US" sz="1200"/>
                  <a:t>9.9</a:t>
                </a:r>
                <a:endParaRPr lang="en-GB" sz="1200"/>
              </a:p>
            </p:txBody>
          </p:sp>
          <p:sp>
            <p:nvSpPr>
              <p:cNvPr id="155" name="TextBox 154"/>
              <p:cNvSpPr txBox="1"/>
              <p:nvPr/>
            </p:nvSpPr>
            <p:spPr>
              <a:xfrm>
                <a:off x="1866790" y="6183908"/>
                <a:ext cx="458780" cy="276999"/>
              </a:xfrm>
              <a:prstGeom prst="rect">
                <a:avLst/>
              </a:prstGeom>
              <a:noFill/>
            </p:spPr>
            <p:txBody>
              <a:bodyPr wrap="none" rtlCol="0">
                <a:spAutoFit/>
              </a:bodyPr>
              <a:lstStyle/>
              <a:p>
                <a:r>
                  <a:rPr lang="en-US" sz="1200"/>
                  <a:t>10.0</a:t>
                </a:r>
                <a:endParaRPr lang="en-GB" sz="1200"/>
              </a:p>
            </p:txBody>
          </p:sp>
        </p:grpSp>
      </p:grpSp>
      <p:grpSp>
        <p:nvGrpSpPr>
          <p:cNvPr id="157" name="Group 156"/>
          <p:cNvGrpSpPr/>
          <p:nvPr/>
        </p:nvGrpSpPr>
        <p:grpSpPr>
          <a:xfrm>
            <a:off x="2261986" y="4012442"/>
            <a:ext cx="2294973" cy="1039517"/>
            <a:chOff x="31624" y="5821182"/>
            <a:chExt cx="2294973" cy="1039517"/>
          </a:xfrm>
        </p:grpSpPr>
        <p:sp>
          <p:nvSpPr>
            <p:cNvPr id="158" name="TextBox 157"/>
            <p:cNvSpPr txBox="1"/>
            <p:nvPr/>
          </p:nvSpPr>
          <p:spPr>
            <a:xfrm>
              <a:off x="96145" y="5821182"/>
              <a:ext cx="699230" cy="276999"/>
            </a:xfrm>
            <a:prstGeom prst="rect">
              <a:avLst/>
            </a:prstGeom>
            <a:noFill/>
          </p:spPr>
          <p:txBody>
            <a:bodyPr wrap="none" rtlCol="0">
              <a:spAutoFit/>
            </a:bodyPr>
            <a:lstStyle/>
            <a:p>
              <a:r>
                <a:rPr lang="en-US" sz="1200"/>
                <a:t>h) 10.66</a:t>
              </a:r>
              <a:endParaRPr lang="en-GB" sz="1200"/>
            </a:p>
          </p:txBody>
        </p:sp>
        <p:grpSp>
          <p:nvGrpSpPr>
            <p:cNvPr id="159" name="Group 158"/>
            <p:cNvGrpSpPr/>
            <p:nvPr/>
          </p:nvGrpSpPr>
          <p:grpSpPr>
            <a:xfrm>
              <a:off x="31624" y="6191773"/>
              <a:ext cx="2294973" cy="668926"/>
              <a:chOff x="31624" y="6191773"/>
              <a:chExt cx="2294973" cy="668926"/>
            </a:xfrm>
          </p:grpSpPr>
          <p:pic>
            <p:nvPicPr>
              <p:cNvPr id="160" name="Picture 159"/>
              <p:cNvPicPr>
                <a:picLocks noChangeAspect="1"/>
              </p:cNvPicPr>
              <p:nvPr/>
            </p:nvPicPr>
            <p:blipFill>
              <a:blip r:embed="rId2"/>
              <a:stretch>
                <a:fillRect/>
              </a:stretch>
            </p:blipFill>
            <p:spPr>
              <a:xfrm>
                <a:off x="248591" y="6380767"/>
                <a:ext cx="1884050" cy="479932"/>
              </a:xfrm>
              <a:prstGeom prst="rect">
                <a:avLst/>
              </a:prstGeom>
            </p:spPr>
          </p:pic>
          <p:sp>
            <p:nvSpPr>
              <p:cNvPr id="161" name="TextBox 160"/>
              <p:cNvSpPr txBox="1"/>
              <p:nvPr/>
            </p:nvSpPr>
            <p:spPr>
              <a:xfrm>
                <a:off x="31624" y="6191773"/>
                <a:ext cx="458780" cy="276999"/>
              </a:xfrm>
              <a:prstGeom prst="rect">
                <a:avLst/>
              </a:prstGeom>
              <a:noFill/>
            </p:spPr>
            <p:txBody>
              <a:bodyPr wrap="none" rtlCol="0">
                <a:spAutoFit/>
              </a:bodyPr>
              <a:lstStyle/>
              <a:p>
                <a:r>
                  <a:rPr lang="en-US" sz="1200"/>
                  <a:t>10.6</a:t>
                </a:r>
                <a:endParaRPr lang="en-GB" sz="1200"/>
              </a:p>
            </p:txBody>
          </p:sp>
          <p:sp>
            <p:nvSpPr>
              <p:cNvPr id="162" name="TextBox 161"/>
              <p:cNvSpPr txBox="1"/>
              <p:nvPr/>
            </p:nvSpPr>
            <p:spPr>
              <a:xfrm>
                <a:off x="1867817" y="6201965"/>
                <a:ext cx="458780" cy="276999"/>
              </a:xfrm>
              <a:prstGeom prst="rect">
                <a:avLst/>
              </a:prstGeom>
              <a:noFill/>
            </p:spPr>
            <p:txBody>
              <a:bodyPr wrap="none" rtlCol="0">
                <a:spAutoFit/>
              </a:bodyPr>
              <a:lstStyle/>
              <a:p>
                <a:r>
                  <a:rPr lang="en-US" sz="1200"/>
                  <a:t>10.7</a:t>
                </a:r>
                <a:endParaRPr lang="en-GB" sz="1200"/>
              </a:p>
            </p:txBody>
          </p:sp>
        </p:grpSp>
      </p:grpSp>
      <p:grpSp>
        <p:nvGrpSpPr>
          <p:cNvPr id="163" name="Group 162"/>
          <p:cNvGrpSpPr/>
          <p:nvPr/>
        </p:nvGrpSpPr>
        <p:grpSpPr>
          <a:xfrm>
            <a:off x="4553662" y="3998097"/>
            <a:ext cx="2253816" cy="1039517"/>
            <a:chOff x="69799" y="5821182"/>
            <a:chExt cx="2253816" cy="1039517"/>
          </a:xfrm>
        </p:grpSpPr>
        <p:sp>
          <p:nvSpPr>
            <p:cNvPr id="164" name="TextBox 163"/>
            <p:cNvSpPr txBox="1"/>
            <p:nvPr/>
          </p:nvSpPr>
          <p:spPr>
            <a:xfrm>
              <a:off x="96145" y="5821182"/>
              <a:ext cx="654346" cy="276999"/>
            </a:xfrm>
            <a:prstGeom prst="rect">
              <a:avLst/>
            </a:prstGeom>
            <a:noFill/>
          </p:spPr>
          <p:txBody>
            <a:bodyPr wrap="none" rtlCol="0">
              <a:spAutoFit/>
            </a:bodyPr>
            <a:lstStyle/>
            <a:p>
              <a:r>
                <a:rPr lang="en-US" sz="1200" err="1"/>
                <a:t>i</a:t>
              </a:r>
              <a:r>
                <a:rPr lang="en-US" sz="1200"/>
                <a:t>) 12.76</a:t>
              </a:r>
              <a:endParaRPr lang="en-GB" sz="1200"/>
            </a:p>
          </p:txBody>
        </p:sp>
        <p:grpSp>
          <p:nvGrpSpPr>
            <p:cNvPr id="165" name="Group 164"/>
            <p:cNvGrpSpPr/>
            <p:nvPr/>
          </p:nvGrpSpPr>
          <p:grpSpPr>
            <a:xfrm>
              <a:off x="69799" y="6191723"/>
              <a:ext cx="2253816" cy="668976"/>
              <a:chOff x="69799" y="6191723"/>
              <a:chExt cx="2253816" cy="668976"/>
            </a:xfrm>
          </p:grpSpPr>
          <p:pic>
            <p:nvPicPr>
              <p:cNvPr id="166" name="Picture 165"/>
              <p:cNvPicPr>
                <a:picLocks noChangeAspect="1"/>
              </p:cNvPicPr>
              <p:nvPr/>
            </p:nvPicPr>
            <p:blipFill>
              <a:blip r:embed="rId2"/>
              <a:stretch>
                <a:fillRect/>
              </a:stretch>
            </p:blipFill>
            <p:spPr>
              <a:xfrm>
                <a:off x="248591" y="6380767"/>
                <a:ext cx="1884050" cy="479932"/>
              </a:xfrm>
              <a:prstGeom prst="rect">
                <a:avLst/>
              </a:prstGeom>
            </p:spPr>
          </p:pic>
          <p:sp>
            <p:nvSpPr>
              <p:cNvPr id="167" name="TextBox 166"/>
              <p:cNvSpPr txBox="1"/>
              <p:nvPr/>
            </p:nvSpPr>
            <p:spPr>
              <a:xfrm>
                <a:off x="69799" y="6204228"/>
                <a:ext cx="458780" cy="276999"/>
              </a:xfrm>
              <a:prstGeom prst="rect">
                <a:avLst/>
              </a:prstGeom>
              <a:noFill/>
            </p:spPr>
            <p:txBody>
              <a:bodyPr wrap="none" rtlCol="0">
                <a:spAutoFit/>
              </a:bodyPr>
              <a:lstStyle/>
              <a:p>
                <a:r>
                  <a:rPr lang="en-US" sz="1200"/>
                  <a:t>12.7</a:t>
                </a:r>
                <a:endParaRPr lang="en-GB" sz="1200"/>
              </a:p>
            </p:txBody>
          </p:sp>
          <p:sp>
            <p:nvSpPr>
              <p:cNvPr id="168" name="TextBox 167"/>
              <p:cNvSpPr txBox="1"/>
              <p:nvPr/>
            </p:nvSpPr>
            <p:spPr>
              <a:xfrm>
                <a:off x="1864835" y="6191723"/>
                <a:ext cx="458780" cy="276999"/>
              </a:xfrm>
              <a:prstGeom prst="rect">
                <a:avLst/>
              </a:prstGeom>
              <a:noFill/>
            </p:spPr>
            <p:txBody>
              <a:bodyPr wrap="none" rtlCol="0">
                <a:spAutoFit/>
              </a:bodyPr>
              <a:lstStyle/>
              <a:p>
                <a:r>
                  <a:rPr lang="en-US" sz="1200"/>
                  <a:t>12.8</a:t>
                </a:r>
                <a:endParaRPr lang="en-GB" sz="1200"/>
              </a:p>
            </p:txBody>
          </p:sp>
        </p:grpSp>
      </p:grpSp>
      <p:grpSp>
        <p:nvGrpSpPr>
          <p:cNvPr id="169" name="Group 168"/>
          <p:cNvGrpSpPr/>
          <p:nvPr/>
        </p:nvGrpSpPr>
        <p:grpSpPr>
          <a:xfrm>
            <a:off x="50817" y="5891880"/>
            <a:ext cx="2316264" cy="1039764"/>
            <a:chOff x="17121" y="5820935"/>
            <a:chExt cx="2316264" cy="1039764"/>
          </a:xfrm>
        </p:grpSpPr>
        <p:sp>
          <p:nvSpPr>
            <p:cNvPr id="170" name="TextBox 169"/>
            <p:cNvSpPr txBox="1"/>
            <p:nvPr/>
          </p:nvSpPr>
          <p:spPr>
            <a:xfrm>
              <a:off x="17121" y="5820935"/>
              <a:ext cx="655949" cy="276999"/>
            </a:xfrm>
            <a:prstGeom prst="rect">
              <a:avLst/>
            </a:prstGeom>
            <a:noFill/>
          </p:spPr>
          <p:txBody>
            <a:bodyPr wrap="none" rtlCol="0">
              <a:spAutoFit/>
            </a:bodyPr>
            <a:lstStyle/>
            <a:p>
              <a:r>
                <a:rPr lang="en-US" sz="1200"/>
                <a:t>j) 23.53</a:t>
              </a:r>
              <a:endParaRPr lang="en-GB" sz="1200"/>
            </a:p>
          </p:txBody>
        </p:sp>
        <p:grpSp>
          <p:nvGrpSpPr>
            <p:cNvPr id="171" name="Group 170"/>
            <p:cNvGrpSpPr/>
            <p:nvPr/>
          </p:nvGrpSpPr>
          <p:grpSpPr>
            <a:xfrm>
              <a:off x="46592" y="6183908"/>
              <a:ext cx="2286793" cy="676791"/>
              <a:chOff x="46592" y="6183908"/>
              <a:chExt cx="2286793" cy="676791"/>
            </a:xfrm>
          </p:grpSpPr>
          <p:pic>
            <p:nvPicPr>
              <p:cNvPr id="172" name="Picture 171"/>
              <p:cNvPicPr>
                <a:picLocks noChangeAspect="1"/>
              </p:cNvPicPr>
              <p:nvPr/>
            </p:nvPicPr>
            <p:blipFill>
              <a:blip r:embed="rId2"/>
              <a:stretch>
                <a:fillRect/>
              </a:stretch>
            </p:blipFill>
            <p:spPr>
              <a:xfrm>
                <a:off x="248591" y="6380767"/>
                <a:ext cx="1884050" cy="479932"/>
              </a:xfrm>
              <a:prstGeom prst="rect">
                <a:avLst/>
              </a:prstGeom>
            </p:spPr>
          </p:pic>
          <p:sp>
            <p:nvSpPr>
              <p:cNvPr id="173" name="TextBox 172"/>
              <p:cNvSpPr txBox="1"/>
              <p:nvPr/>
            </p:nvSpPr>
            <p:spPr>
              <a:xfrm>
                <a:off x="46592" y="6183908"/>
                <a:ext cx="458780" cy="276999"/>
              </a:xfrm>
              <a:prstGeom prst="rect">
                <a:avLst/>
              </a:prstGeom>
              <a:noFill/>
            </p:spPr>
            <p:txBody>
              <a:bodyPr wrap="none" rtlCol="0">
                <a:spAutoFit/>
              </a:bodyPr>
              <a:lstStyle/>
              <a:p>
                <a:r>
                  <a:rPr lang="en-US" sz="1200"/>
                  <a:t>23.5</a:t>
                </a:r>
                <a:endParaRPr lang="en-GB" sz="1200"/>
              </a:p>
            </p:txBody>
          </p:sp>
          <p:sp>
            <p:nvSpPr>
              <p:cNvPr id="174" name="TextBox 173"/>
              <p:cNvSpPr txBox="1"/>
              <p:nvPr/>
            </p:nvSpPr>
            <p:spPr>
              <a:xfrm>
                <a:off x="1874605" y="6183908"/>
                <a:ext cx="458780" cy="276999"/>
              </a:xfrm>
              <a:prstGeom prst="rect">
                <a:avLst/>
              </a:prstGeom>
              <a:noFill/>
            </p:spPr>
            <p:txBody>
              <a:bodyPr wrap="none" rtlCol="0">
                <a:spAutoFit/>
              </a:bodyPr>
              <a:lstStyle/>
              <a:p>
                <a:r>
                  <a:rPr lang="en-US" sz="1200"/>
                  <a:t>23.6</a:t>
                </a:r>
                <a:endParaRPr lang="en-GB" sz="1200"/>
              </a:p>
            </p:txBody>
          </p:sp>
        </p:grpSp>
      </p:grpSp>
      <p:grpSp>
        <p:nvGrpSpPr>
          <p:cNvPr id="175" name="Group 174"/>
          <p:cNvGrpSpPr/>
          <p:nvPr/>
        </p:nvGrpSpPr>
        <p:grpSpPr>
          <a:xfrm>
            <a:off x="2345335" y="5873593"/>
            <a:ext cx="2238905" cy="1039517"/>
            <a:chOff x="70375" y="5821182"/>
            <a:chExt cx="2238905" cy="1039517"/>
          </a:xfrm>
        </p:grpSpPr>
        <p:sp>
          <p:nvSpPr>
            <p:cNvPr id="176" name="TextBox 175"/>
            <p:cNvSpPr txBox="1"/>
            <p:nvPr/>
          </p:nvSpPr>
          <p:spPr>
            <a:xfrm>
              <a:off x="96145" y="5821182"/>
              <a:ext cx="689612" cy="276999"/>
            </a:xfrm>
            <a:prstGeom prst="rect">
              <a:avLst/>
            </a:prstGeom>
            <a:noFill/>
          </p:spPr>
          <p:txBody>
            <a:bodyPr wrap="none" rtlCol="0">
              <a:spAutoFit/>
            </a:bodyPr>
            <a:lstStyle/>
            <a:p>
              <a:r>
                <a:rPr lang="en-US" sz="1200"/>
                <a:t>k) 24.61</a:t>
              </a:r>
              <a:endParaRPr lang="en-GB" sz="1200"/>
            </a:p>
          </p:txBody>
        </p:sp>
        <p:grpSp>
          <p:nvGrpSpPr>
            <p:cNvPr id="177" name="Group 176"/>
            <p:cNvGrpSpPr/>
            <p:nvPr/>
          </p:nvGrpSpPr>
          <p:grpSpPr>
            <a:xfrm>
              <a:off x="70375" y="6183908"/>
              <a:ext cx="2238905" cy="676791"/>
              <a:chOff x="70375" y="6183908"/>
              <a:chExt cx="2238905" cy="676791"/>
            </a:xfrm>
          </p:grpSpPr>
          <p:pic>
            <p:nvPicPr>
              <p:cNvPr id="178" name="Picture 177"/>
              <p:cNvPicPr>
                <a:picLocks noChangeAspect="1"/>
              </p:cNvPicPr>
              <p:nvPr/>
            </p:nvPicPr>
            <p:blipFill>
              <a:blip r:embed="rId2"/>
              <a:stretch>
                <a:fillRect/>
              </a:stretch>
            </p:blipFill>
            <p:spPr>
              <a:xfrm>
                <a:off x="248591" y="6380767"/>
                <a:ext cx="1884050" cy="479932"/>
              </a:xfrm>
              <a:prstGeom prst="rect">
                <a:avLst/>
              </a:prstGeom>
            </p:spPr>
          </p:pic>
          <p:sp>
            <p:nvSpPr>
              <p:cNvPr id="179" name="TextBox 178"/>
              <p:cNvSpPr txBox="1"/>
              <p:nvPr/>
            </p:nvSpPr>
            <p:spPr>
              <a:xfrm>
                <a:off x="70375" y="6206256"/>
                <a:ext cx="458780" cy="276999"/>
              </a:xfrm>
              <a:prstGeom prst="rect">
                <a:avLst/>
              </a:prstGeom>
              <a:noFill/>
            </p:spPr>
            <p:txBody>
              <a:bodyPr wrap="none" rtlCol="0">
                <a:spAutoFit/>
              </a:bodyPr>
              <a:lstStyle/>
              <a:p>
                <a:r>
                  <a:rPr lang="en-US" sz="1200"/>
                  <a:t>24.6</a:t>
                </a:r>
                <a:endParaRPr lang="en-GB" sz="1200"/>
              </a:p>
            </p:txBody>
          </p:sp>
          <p:sp>
            <p:nvSpPr>
              <p:cNvPr id="180" name="TextBox 179"/>
              <p:cNvSpPr txBox="1"/>
              <p:nvPr/>
            </p:nvSpPr>
            <p:spPr>
              <a:xfrm>
                <a:off x="1850500" y="6183908"/>
                <a:ext cx="458780" cy="276999"/>
              </a:xfrm>
              <a:prstGeom prst="rect">
                <a:avLst/>
              </a:prstGeom>
              <a:noFill/>
            </p:spPr>
            <p:txBody>
              <a:bodyPr wrap="none" rtlCol="0">
                <a:spAutoFit/>
              </a:bodyPr>
              <a:lstStyle/>
              <a:p>
                <a:r>
                  <a:rPr lang="en-US" sz="1200"/>
                  <a:t>24.7</a:t>
                </a:r>
                <a:endParaRPr lang="en-GB" sz="1200"/>
              </a:p>
            </p:txBody>
          </p:sp>
        </p:grpSp>
      </p:grpSp>
      <p:grpSp>
        <p:nvGrpSpPr>
          <p:cNvPr id="181" name="Group 180"/>
          <p:cNvGrpSpPr/>
          <p:nvPr/>
        </p:nvGrpSpPr>
        <p:grpSpPr>
          <a:xfrm>
            <a:off x="4592172" y="5855059"/>
            <a:ext cx="2303928" cy="1039517"/>
            <a:chOff x="60057" y="5821182"/>
            <a:chExt cx="2303928" cy="1039517"/>
          </a:xfrm>
        </p:grpSpPr>
        <p:sp>
          <p:nvSpPr>
            <p:cNvPr id="182" name="TextBox 181"/>
            <p:cNvSpPr txBox="1"/>
            <p:nvPr/>
          </p:nvSpPr>
          <p:spPr>
            <a:xfrm>
              <a:off x="96145" y="5821182"/>
              <a:ext cx="654346" cy="276999"/>
            </a:xfrm>
            <a:prstGeom prst="rect">
              <a:avLst/>
            </a:prstGeom>
            <a:noFill/>
          </p:spPr>
          <p:txBody>
            <a:bodyPr wrap="none" rtlCol="0">
              <a:spAutoFit/>
            </a:bodyPr>
            <a:lstStyle/>
            <a:p>
              <a:r>
                <a:rPr lang="en-US" sz="1200"/>
                <a:t>l) 38.72</a:t>
              </a:r>
              <a:endParaRPr lang="en-GB" sz="1200"/>
            </a:p>
          </p:txBody>
        </p:sp>
        <p:grpSp>
          <p:nvGrpSpPr>
            <p:cNvPr id="183" name="Group 182"/>
            <p:cNvGrpSpPr/>
            <p:nvPr/>
          </p:nvGrpSpPr>
          <p:grpSpPr>
            <a:xfrm>
              <a:off x="60057" y="6183908"/>
              <a:ext cx="2303928" cy="676791"/>
              <a:chOff x="60057" y="6183908"/>
              <a:chExt cx="2303928" cy="676791"/>
            </a:xfrm>
          </p:grpSpPr>
          <p:pic>
            <p:nvPicPr>
              <p:cNvPr id="184" name="Picture 183"/>
              <p:cNvPicPr>
                <a:picLocks noChangeAspect="1"/>
              </p:cNvPicPr>
              <p:nvPr/>
            </p:nvPicPr>
            <p:blipFill>
              <a:blip r:embed="rId2"/>
              <a:stretch>
                <a:fillRect/>
              </a:stretch>
            </p:blipFill>
            <p:spPr>
              <a:xfrm>
                <a:off x="248591" y="6380767"/>
                <a:ext cx="1884050" cy="479932"/>
              </a:xfrm>
              <a:prstGeom prst="rect">
                <a:avLst/>
              </a:prstGeom>
            </p:spPr>
          </p:pic>
          <p:sp>
            <p:nvSpPr>
              <p:cNvPr id="185" name="TextBox 184"/>
              <p:cNvSpPr txBox="1"/>
              <p:nvPr/>
            </p:nvSpPr>
            <p:spPr>
              <a:xfrm>
                <a:off x="60057" y="6193965"/>
                <a:ext cx="458780" cy="276999"/>
              </a:xfrm>
              <a:prstGeom prst="rect">
                <a:avLst/>
              </a:prstGeom>
              <a:noFill/>
            </p:spPr>
            <p:txBody>
              <a:bodyPr wrap="none" rtlCol="0">
                <a:spAutoFit/>
              </a:bodyPr>
              <a:lstStyle/>
              <a:p>
                <a:r>
                  <a:rPr lang="en-US" sz="1200"/>
                  <a:t>38.7</a:t>
                </a:r>
                <a:endParaRPr lang="en-GB" sz="1200"/>
              </a:p>
            </p:txBody>
          </p:sp>
          <p:sp>
            <p:nvSpPr>
              <p:cNvPr id="186" name="TextBox 185"/>
              <p:cNvSpPr txBox="1"/>
              <p:nvPr/>
            </p:nvSpPr>
            <p:spPr>
              <a:xfrm>
                <a:off x="1905205" y="6183908"/>
                <a:ext cx="458780" cy="276999"/>
              </a:xfrm>
              <a:prstGeom prst="rect">
                <a:avLst/>
              </a:prstGeom>
              <a:noFill/>
            </p:spPr>
            <p:txBody>
              <a:bodyPr wrap="none" rtlCol="0">
                <a:spAutoFit/>
              </a:bodyPr>
              <a:lstStyle/>
              <a:p>
                <a:r>
                  <a:rPr lang="en-US" sz="1200"/>
                  <a:t>38.8</a:t>
                </a:r>
                <a:endParaRPr lang="en-GB" sz="1200"/>
              </a:p>
            </p:txBody>
          </p:sp>
        </p:grpSp>
      </p:grpSp>
      <p:sp>
        <p:nvSpPr>
          <p:cNvPr id="204" name="Rectangle 203">
            <a:extLst>
              <a:ext uri="{FF2B5EF4-FFF2-40B4-BE49-F238E27FC236}">
                <a16:creationId xmlns:a16="http://schemas.microsoft.com/office/drawing/2014/main" id="{CEEF23AD-EA17-135A-DB95-1D1FECB286F3}"/>
              </a:ext>
            </a:extLst>
          </p:cNvPr>
          <p:cNvSpPr/>
          <p:nvPr/>
        </p:nvSpPr>
        <p:spPr>
          <a:xfrm>
            <a:off x="1718892" y="5195800"/>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05" name="Rectangle 204">
            <a:extLst>
              <a:ext uri="{FF2B5EF4-FFF2-40B4-BE49-F238E27FC236}">
                <a16:creationId xmlns:a16="http://schemas.microsoft.com/office/drawing/2014/main" id="{CEEF23AD-EA17-135A-DB95-1D1FECB286F3}"/>
              </a:ext>
            </a:extLst>
          </p:cNvPr>
          <p:cNvSpPr/>
          <p:nvPr/>
        </p:nvSpPr>
        <p:spPr>
          <a:xfrm>
            <a:off x="130601" y="5192112"/>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07" name="Rectangle 206">
            <a:extLst>
              <a:ext uri="{FF2B5EF4-FFF2-40B4-BE49-F238E27FC236}">
                <a16:creationId xmlns:a16="http://schemas.microsoft.com/office/drawing/2014/main" id="{CEEF23AD-EA17-135A-DB95-1D1FECB286F3}"/>
              </a:ext>
            </a:extLst>
          </p:cNvPr>
          <p:cNvSpPr/>
          <p:nvPr/>
        </p:nvSpPr>
        <p:spPr>
          <a:xfrm>
            <a:off x="4005094" y="5179847"/>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08" name="Rectangle 207">
            <a:extLst>
              <a:ext uri="{FF2B5EF4-FFF2-40B4-BE49-F238E27FC236}">
                <a16:creationId xmlns:a16="http://schemas.microsoft.com/office/drawing/2014/main" id="{CEEF23AD-EA17-135A-DB95-1D1FECB286F3}"/>
              </a:ext>
            </a:extLst>
          </p:cNvPr>
          <p:cNvSpPr/>
          <p:nvPr/>
        </p:nvSpPr>
        <p:spPr>
          <a:xfrm>
            <a:off x="2416803" y="5176159"/>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0" name="Rectangle 209">
            <a:extLst>
              <a:ext uri="{FF2B5EF4-FFF2-40B4-BE49-F238E27FC236}">
                <a16:creationId xmlns:a16="http://schemas.microsoft.com/office/drawing/2014/main" id="{CEEF23AD-EA17-135A-DB95-1D1FECB286F3}"/>
              </a:ext>
            </a:extLst>
          </p:cNvPr>
          <p:cNvSpPr/>
          <p:nvPr/>
        </p:nvSpPr>
        <p:spPr>
          <a:xfrm>
            <a:off x="6261115" y="5184926"/>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1" name="Rectangle 210">
            <a:extLst>
              <a:ext uri="{FF2B5EF4-FFF2-40B4-BE49-F238E27FC236}">
                <a16:creationId xmlns:a16="http://schemas.microsoft.com/office/drawing/2014/main" id="{CEEF23AD-EA17-135A-DB95-1D1FECB286F3}"/>
              </a:ext>
            </a:extLst>
          </p:cNvPr>
          <p:cNvSpPr/>
          <p:nvPr/>
        </p:nvSpPr>
        <p:spPr>
          <a:xfrm>
            <a:off x="4672824" y="5181238"/>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3" name="Rectangle 212">
            <a:extLst>
              <a:ext uri="{FF2B5EF4-FFF2-40B4-BE49-F238E27FC236}">
                <a16:creationId xmlns:a16="http://schemas.microsoft.com/office/drawing/2014/main" id="{CEEF23AD-EA17-135A-DB95-1D1FECB286F3}"/>
              </a:ext>
            </a:extLst>
          </p:cNvPr>
          <p:cNvSpPr/>
          <p:nvPr/>
        </p:nvSpPr>
        <p:spPr>
          <a:xfrm>
            <a:off x="1723784" y="7000432"/>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4" name="Rectangle 213">
            <a:extLst>
              <a:ext uri="{FF2B5EF4-FFF2-40B4-BE49-F238E27FC236}">
                <a16:creationId xmlns:a16="http://schemas.microsoft.com/office/drawing/2014/main" id="{CEEF23AD-EA17-135A-DB95-1D1FECB286F3}"/>
              </a:ext>
            </a:extLst>
          </p:cNvPr>
          <p:cNvSpPr/>
          <p:nvPr/>
        </p:nvSpPr>
        <p:spPr>
          <a:xfrm>
            <a:off x="135493" y="6996744"/>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6" name="Rectangle 215">
            <a:extLst>
              <a:ext uri="{FF2B5EF4-FFF2-40B4-BE49-F238E27FC236}">
                <a16:creationId xmlns:a16="http://schemas.microsoft.com/office/drawing/2014/main" id="{CEEF23AD-EA17-135A-DB95-1D1FECB286F3}"/>
              </a:ext>
            </a:extLst>
          </p:cNvPr>
          <p:cNvSpPr/>
          <p:nvPr/>
        </p:nvSpPr>
        <p:spPr>
          <a:xfrm>
            <a:off x="4005094" y="7038279"/>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7" name="Rectangle 216">
            <a:extLst>
              <a:ext uri="{FF2B5EF4-FFF2-40B4-BE49-F238E27FC236}">
                <a16:creationId xmlns:a16="http://schemas.microsoft.com/office/drawing/2014/main" id="{CEEF23AD-EA17-135A-DB95-1D1FECB286F3}"/>
              </a:ext>
            </a:extLst>
          </p:cNvPr>
          <p:cNvSpPr/>
          <p:nvPr/>
        </p:nvSpPr>
        <p:spPr>
          <a:xfrm>
            <a:off x="2416803" y="7034591"/>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9" name="Rectangle 218">
            <a:extLst>
              <a:ext uri="{FF2B5EF4-FFF2-40B4-BE49-F238E27FC236}">
                <a16:creationId xmlns:a16="http://schemas.microsoft.com/office/drawing/2014/main" id="{CEEF23AD-EA17-135A-DB95-1D1FECB286F3}"/>
              </a:ext>
            </a:extLst>
          </p:cNvPr>
          <p:cNvSpPr/>
          <p:nvPr/>
        </p:nvSpPr>
        <p:spPr>
          <a:xfrm>
            <a:off x="6261115" y="7026417"/>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20" name="Rectangle 219">
            <a:extLst>
              <a:ext uri="{FF2B5EF4-FFF2-40B4-BE49-F238E27FC236}">
                <a16:creationId xmlns:a16="http://schemas.microsoft.com/office/drawing/2014/main" id="{CEEF23AD-EA17-135A-DB95-1D1FECB286F3}"/>
              </a:ext>
            </a:extLst>
          </p:cNvPr>
          <p:cNvSpPr/>
          <p:nvPr/>
        </p:nvSpPr>
        <p:spPr>
          <a:xfrm>
            <a:off x="4672824" y="7022729"/>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221" name="Straight Connector 220"/>
          <p:cNvCxnSpPr/>
          <p:nvPr/>
        </p:nvCxnSpPr>
        <p:spPr>
          <a:xfrm flipH="1">
            <a:off x="2301944" y="3998097"/>
            <a:ext cx="9485" cy="5423052"/>
          </a:xfrm>
          <a:prstGeom prst="line">
            <a:avLst/>
          </a:prstGeom>
        </p:spPr>
        <p:style>
          <a:lnRef idx="1">
            <a:schemeClr val="dk1"/>
          </a:lnRef>
          <a:fillRef idx="0">
            <a:schemeClr val="dk1"/>
          </a:fillRef>
          <a:effectRef idx="0">
            <a:schemeClr val="dk1"/>
          </a:effectRef>
          <a:fontRef idx="minor">
            <a:schemeClr val="tx1"/>
          </a:fontRef>
        </p:style>
      </p:cxnSp>
      <p:cxnSp>
        <p:nvCxnSpPr>
          <p:cNvPr id="222" name="Straight Connector 221"/>
          <p:cNvCxnSpPr/>
          <p:nvPr/>
        </p:nvCxnSpPr>
        <p:spPr>
          <a:xfrm flipH="1">
            <a:off x="4566353" y="4005976"/>
            <a:ext cx="9697" cy="5415173"/>
          </a:xfrm>
          <a:prstGeom prst="line">
            <a:avLst/>
          </a:prstGeom>
        </p:spPr>
        <p:style>
          <a:lnRef idx="1">
            <a:schemeClr val="dk1"/>
          </a:lnRef>
          <a:fillRef idx="0">
            <a:schemeClr val="dk1"/>
          </a:fillRef>
          <a:effectRef idx="0">
            <a:schemeClr val="dk1"/>
          </a:effectRef>
          <a:fontRef idx="minor">
            <a:schemeClr val="tx1"/>
          </a:fontRef>
        </p:style>
      </p:cxnSp>
      <p:grpSp>
        <p:nvGrpSpPr>
          <p:cNvPr id="223" name="Group 222"/>
          <p:cNvGrpSpPr/>
          <p:nvPr/>
        </p:nvGrpSpPr>
        <p:grpSpPr>
          <a:xfrm>
            <a:off x="30200" y="7701179"/>
            <a:ext cx="2252918" cy="1039517"/>
            <a:chOff x="41387" y="5821182"/>
            <a:chExt cx="2252918" cy="1039517"/>
          </a:xfrm>
        </p:grpSpPr>
        <p:sp>
          <p:nvSpPr>
            <p:cNvPr id="224" name="TextBox 223"/>
            <p:cNvSpPr txBox="1"/>
            <p:nvPr/>
          </p:nvSpPr>
          <p:spPr>
            <a:xfrm>
              <a:off x="96145" y="5821182"/>
              <a:ext cx="742511" cy="276999"/>
            </a:xfrm>
            <a:prstGeom prst="rect">
              <a:avLst/>
            </a:prstGeom>
            <a:noFill/>
          </p:spPr>
          <p:txBody>
            <a:bodyPr wrap="none" rtlCol="0">
              <a:spAutoFit/>
            </a:bodyPr>
            <a:lstStyle/>
            <a:p>
              <a:r>
                <a:rPr lang="en-US" sz="1200"/>
                <a:t>m) 50.59</a:t>
              </a:r>
              <a:endParaRPr lang="en-GB" sz="1200"/>
            </a:p>
          </p:txBody>
        </p:sp>
        <p:grpSp>
          <p:nvGrpSpPr>
            <p:cNvPr id="225" name="Group 224"/>
            <p:cNvGrpSpPr/>
            <p:nvPr/>
          </p:nvGrpSpPr>
          <p:grpSpPr>
            <a:xfrm>
              <a:off x="41387" y="6183908"/>
              <a:ext cx="2252918" cy="676791"/>
              <a:chOff x="41387" y="6183908"/>
              <a:chExt cx="2252918" cy="676791"/>
            </a:xfrm>
          </p:grpSpPr>
          <p:pic>
            <p:nvPicPr>
              <p:cNvPr id="226" name="Picture 225"/>
              <p:cNvPicPr>
                <a:picLocks noChangeAspect="1"/>
              </p:cNvPicPr>
              <p:nvPr/>
            </p:nvPicPr>
            <p:blipFill>
              <a:blip r:embed="rId2"/>
              <a:stretch>
                <a:fillRect/>
              </a:stretch>
            </p:blipFill>
            <p:spPr>
              <a:xfrm>
                <a:off x="248591" y="6380767"/>
                <a:ext cx="1884050" cy="479932"/>
              </a:xfrm>
              <a:prstGeom prst="rect">
                <a:avLst/>
              </a:prstGeom>
            </p:spPr>
          </p:pic>
          <p:sp>
            <p:nvSpPr>
              <p:cNvPr id="227" name="TextBox 226"/>
              <p:cNvSpPr txBox="1"/>
              <p:nvPr/>
            </p:nvSpPr>
            <p:spPr>
              <a:xfrm>
                <a:off x="41387" y="6183908"/>
                <a:ext cx="458780" cy="276999"/>
              </a:xfrm>
              <a:prstGeom prst="rect">
                <a:avLst/>
              </a:prstGeom>
              <a:noFill/>
            </p:spPr>
            <p:txBody>
              <a:bodyPr wrap="none" rtlCol="0">
                <a:spAutoFit/>
              </a:bodyPr>
              <a:lstStyle/>
              <a:p>
                <a:r>
                  <a:rPr lang="en-US" sz="1200"/>
                  <a:t>50.5</a:t>
                </a:r>
                <a:endParaRPr lang="en-GB" sz="1200"/>
              </a:p>
            </p:txBody>
          </p:sp>
          <p:sp>
            <p:nvSpPr>
              <p:cNvPr id="228" name="TextBox 227"/>
              <p:cNvSpPr txBox="1"/>
              <p:nvPr/>
            </p:nvSpPr>
            <p:spPr>
              <a:xfrm>
                <a:off x="1835525" y="6183908"/>
                <a:ext cx="458780" cy="276999"/>
              </a:xfrm>
              <a:prstGeom prst="rect">
                <a:avLst/>
              </a:prstGeom>
              <a:noFill/>
            </p:spPr>
            <p:txBody>
              <a:bodyPr wrap="none" rtlCol="0">
                <a:spAutoFit/>
              </a:bodyPr>
              <a:lstStyle/>
              <a:p>
                <a:r>
                  <a:rPr lang="en-US" sz="1200"/>
                  <a:t>50.6</a:t>
                </a:r>
                <a:endParaRPr lang="en-GB" sz="1200"/>
              </a:p>
            </p:txBody>
          </p:sp>
        </p:grpSp>
      </p:grpSp>
      <p:grpSp>
        <p:nvGrpSpPr>
          <p:cNvPr id="230" name="Group 229"/>
          <p:cNvGrpSpPr/>
          <p:nvPr/>
        </p:nvGrpSpPr>
        <p:grpSpPr>
          <a:xfrm>
            <a:off x="2301944" y="7682645"/>
            <a:ext cx="2263078" cy="1039517"/>
            <a:chOff x="71867" y="5821182"/>
            <a:chExt cx="2263078" cy="1039517"/>
          </a:xfrm>
        </p:grpSpPr>
        <p:sp>
          <p:nvSpPr>
            <p:cNvPr id="231" name="TextBox 230"/>
            <p:cNvSpPr txBox="1"/>
            <p:nvPr/>
          </p:nvSpPr>
          <p:spPr>
            <a:xfrm>
              <a:off x="96145" y="5821182"/>
              <a:ext cx="699230" cy="276999"/>
            </a:xfrm>
            <a:prstGeom prst="rect">
              <a:avLst/>
            </a:prstGeom>
            <a:noFill/>
          </p:spPr>
          <p:txBody>
            <a:bodyPr wrap="none" rtlCol="0">
              <a:spAutoFit/>
            </a:bodyPr>
            <a:lstStyle/>
            <a:p>
              <a:r>
                <a:rPr lang="en-US" sz="1200"/>
                <a:t>n) 75.78</a:t>
              </a:r>
              <a:endParaRPr lang="en-GB" sz="1200"/>
            </a:p>
          </p:txBody>
        </p:sp>
        <p:grpSp>
          <p:nvGrpSpPr>
            <p:cNvPr id="232" name="Group 231"/>
            <p:cNvGrpSpPr/>
            <p:nvPr/>
          </p:nvGrpSpPr>
          <p:grpSpPr>
            <a:xfrm>
              <a:off x="71867" y="6183908"/>
              <a:ext cx="2263078" cy="676791"/>
              <a:chOff x="71867" y="6183908"/>
              <a:chExt cx="2263078" cy="676791"/>
            </a:xfrm>
          </p:grpSpPr>
          <p:pic>
            <p:nvPicPr>
              <p:cNvPr id="233" name="Picture 232"/>
              <p:cNvPicPr>
                <a:picLocks noChangeAspect="1"/>
              </p:cNvPicPr>
              <p:nvPr/>
            </p:nvPicPr>
            <p:blipFill>
              <a:blip r:embed="rId2"/>
              <a:stretch>
                <a:fillRect/>
              </a:stretch>
            </p:blipFill>
            <p:spPr>
              <a:xfrm>
                <a:off x="248591" y="6380767"/>
                <a:ext cx="1884050" cy="479932"/>
              </a:xfrm>
              <a:prstGeom prst="rect">
                <a:avLst/>
              </a:prstGeom>
            </p:spPr>
          </p:pic>
          <p:sp>
            <p:nvSpPr>
              <p:cNvPr id="234" name="TextBox 233"/>
              <p:cNvSpPr txBox="1"/>
              <p:nvPr/>
            </p:nvSpPr>
            <p:spPr>
              <a:xfrm>
                <a:off x="71867" y="6183908"/>
                <a:ext cx="458780" cy="276999"/>
              </a:xfrm>
              <a:prstGeom prst="rect">
                <a:avLst/>
              </a:prstGeom>
              <a:noFill/>
            </p:spPr>
            <p:txBody>
              <a:bodyPr wrap="none" rtlCol="0">
                <a:spAutoFit/>
              </a:bodyPr>
              <a:lstStyle/>
              <a:p>
                <a:r>
                  <a:rPr lang="en-US" sz="1200"/>
                  <a:t>75.7</a:t>
                </a:r>
                <a:endParaRPr lang="en-GB" sz="1200"/>
              </a:p>
            </p:txBody>
          </p:sp>
          <p:sp>
            <p:nvSpPr>
              <p:cNvPr id="235" name="TextBox 234"/>
              <p:cNvSpPr txBox="1"/>
              <p:nvPr/>
            </p:nvSpPr>
            <p:spPr>
              <a:xfrm>
                <a:off x="1876165" y="6183908"/>
                <a:ext cx="458780" cy="276999"/>
              </a:xfrm>
              <a:prstGeom prst="rect">
                <a:avLst/>
              </a:prstGeom>
              <a:noFill/>
            </p:spPr>
            <p:txBody>
              <a:bodyPr wrap="none" rtlCol="0">
                <a:spAutoFit/>
              </a:bodyPr>
              <a:lstStyle/>
              <a:p>
                <a:r>
                  <a:rPr lang="en-US" sz="1200"/>
                  <a:t>75.8</a:t>
                </a:r>
                <a:endParaRPr lang="en-GB" sz="1200"/>
              </a:p>
            </p:txBody>
          </p:sp>
        </p:grpSp>
      </p:grpSp>
      <p:grpSp>
        <p:nvGrpSpPr>
          <p:cNvPr id="236" name="Group 235"/>
          <p:cNvGrpSpPr/>
          <p:nvPr/>
        </p:nvGrpSpPr>
        <p:grpSpPr>
          <a:xfrm>
            <a:off x="4530045" y="7668300"/>
            <a:ext cx="2324038" cy="1039517"/>
            <a:chOff x="46467" y="5821182"/>
            <a:chExt cx="2324038" cy="1039517"/>
          </a:xfrm>
        </p:grpSpPr>
        <p:sp>
          <p:nvSpPr>
            <p:cNvPr id="237" name="TextBox 236"/>
            <p:cNvSpPr txBox="1"/>
            <p:nvPr/>
          </p:nvSpPr>
          <p:spPr>
            <a:xfrm>
              <a:off x="96145" y="5821182"/>
              <a:ext cx="700833" cy="276999"/>
            </a:xfrm>
            <a:prstGeom prst="rect">
              <a:avLst/>
            </a:prstGeom>
            <a:noFill/>
          </p:spPr>
          <p:txBody>
            <a:bodyPr wrap="none" rtlCol="0">
              <a:spAutoFit/>
            </a:bodyPr>
            <a:lstStyle/>
            <a:p>
              <a:r>
                <a:rPr lang="en-US" sz="1200"/>
                <a:t>o) 84.58</a:t>
              </a:r>
              <a:endParaRPr lang="en-GB" sz="1200"/>
            </a:p>
          </p:txBody>
        </p:sp>
        <p:grpSp>
          <p:nvGrpSpPr>
            <p:cNvPr id="238" name="Group 237"/>
            <p:cNvGrpSpPr/>
            <p:nvPr/>
          </p:nvGrpSpPr>
          <p:grpSpPr>
            <a:xfrm>
              <a:off x="46467" y="6183908"/>
              <a:ext cx="2324038" cy="676791"/>
              <a:chOff x="46467" y="6183908"/>
              <a:chExt cx="2324038" cy="676791"/>
            </a:xfrm>
          </p:grpSpPr>
          <p:pic>
            <p:nvPicPr>
              <p:cNvPr id="239" name="Picture 238"/>
              <p:cNvPicPr>
                <a:picLocks noChangeAspect="1"/>
              </p:cNvPicPr>
              <p:nvPr/>
            </p:nvPicPr>
            <p:blipFill>
              <a:blip r:embed="rId2"/>
              <a:stretch>
                <a:fillRect/>
              </a:stretch>
            </p:blipFill>
            <p:spPr>
              <a:xfrm>
                <a:off x="248591" y="6380767"/>
                <a:ext cx="1884050" cy="479932"/>
              </a:xfrm>
              <a:prstGeom prst="rect">
                <a:avLst/>
              </a:prstGeom>
            </p:spPr>
          </p:pic>
          <p:sp>
            <p:nvSpPr>
              <p:cNvPr id="240" name="TextBox 239"/>
              <p:cNvSpPr txBox="1"/>
              <p:nvPr/>
            </p:nvSpPr>
            <p:spPr>
              <a:xfrm>
                <a:off x="46467" y="6204228"/>
                <a:ext cx="458780" cy="276999"/>
              </a:xfrm>
              <a:prstGeom prst="rect">
                <a:avLst/>
              </a:prstGeom>
              <a:noFill/>
            </p:spPr>
            <p:txBody>
              <a:bodyPr wrap="none" rtlCol="0">
                <a:spAutoFit/>
              </a:bodyPr>
              <a:lstStyle/>
              <a:p>
                <a:r>
                  <a:rPr lang="en-US" sz="1200"/>
                  <a:t>84.5</a:t>
                </a:r>
                <a:endParaRPr lang="en-GB" sz="1200"/>
              </a:p>
            </p:txBody>
          </p:sp>
          <p:sp>
            <p:nvSpPr>
              <p:cNvPr id="241" name="TextBox 240"/>
              <p:cNvSpPr txBox="1"/>
              <p:nvPr/>
            </p:nvSpPr>
            <p:spPr>
              <a:xfrm>
                <a:off x="1911725" y="6183908"/>
                <a:ext cx="458780" cy="276999"/>
              </a:xfrm>
              <a:prstGeom prst="rect">
                <a:avLst/>
              </a:prstGeom>
              <a:noFill/>
            </p:spPr>
            <p:txBody>
              <a:bodyPr wrap="none" rtlCol="0">
                <a:spAutoFit/>
              </a:bodyPr>
              <a:lstStyle/>
              <a:p>
                <a:r>
                  <a:rPr lang="en-US" sz="1200"/>
                  <a:t>84.6</a:t>
                </a:r>
                <a:endParaRPr lang="en-GB" sz="1200"/>
              </a:p>
            </p:txBody>
          </p:sp>
        </p:grpSp>
      </p:grpSp>
      <p:sp>
        <p:nvSpPr>
          <p:cNvPr id="250" name="Rectangle 249">
            <a:extLst>
              <a:ext uri="{FF2B5EF4-FFF2-40B4-BE49-F238E27FC236}">
                <a16:creationId xmlns:a16="http://schemas.microsoft.com/office/drawing/2014/main" id="{CEEF23AD-EA17-135A-DB95-1D1FECB286F3}"/>
              </a:ext>
            </a:extLst>
          </p:cNvPr>
          <p:cNvSpPr/>
          <p:nvPr/>
        </p:nvSpPr>
        <p:spPr>
          <a:xfrm>
            <a:off x="1718607" y="8866003"/>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1" name="Rectangle 250">
            <a:extLst>
              <a:ext uri="{FF2B5EF4-FFF2-40B4-BE49-F238E27FC236}">
                <a16:creationId xmlns:a16="http://schemas.microsoft.com/office/drawing/2014/main" id="{CEEF23AD-EA17-135A-DB95-1D1FECB286F3}"/>
              </a:ext>
            </a:extLst>
          </p:cNvPr>
          <p:cNvSpPr/>
          <p:nvPr/>
        </p:nvSpPr>
        <p:spPr>
          <a:xfrm>
            <a:off x="130316" y="8862315"/>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3" name="Rectangle 252">
            <a:extLst>
              <a:ext uri="{FF2B5EF4-FFF2-40B4-BE49-F238E27FC236}">
                <a16:creationId xmlns:a16="http://schemas.microsoft.com/office/drawing/2014/main" id="{CEEF23AD-EA17-135A-DB95-1D1FECB286F3}"/>
              </a:ext>
            </a:extLst>
          </p:cNvPr>
          <p:cNvSpPr/>
          <p:nvPr/>
        </p:nvSpPr>
        <p:spPr>
          <a:xfrm>
            <a:off x="4004809" y="8850050"/>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4" name="Rectangle 253">
            <a:extLst>
              <a:ext uri="{FF2B5EF4-FFF2-40B4-BE49-F238E27FC236}">
                <a16:creationId xmlns:a16="http://schemas.microsoft.com/office/drawing/2014/main" id="{CEEF23AD-EA17-135A-DB95-1D1FECB286F3}"/>
              </a:ext>
            </a:extLst>
          </p:cNvPr>
          <p:cNvSpPr/>
          <p:nvPr/>
        </p:nvSpPr>
        <p:spPr>
          <a:xfrm>
            <a:off x="2416518" y="8846362"/>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6" name="Rectangle 255">
            <a:extLst>
              <a:ext uri="{FF2B5EF4-FFF2-40B4-BE49-F238E27FC236}">
                <a16:creationId xmlns:a16="http://schemas.microsoft.com/office/drawing/2014/main" id="{CEEF23AD-EA17-135A-DB95-1D1FECB286F3}"/>
              </a:ext>
            </a:extLst>
          </p:cNvPr>
          <p:cNvSpPr/>
          <p:nvPr/>
        </p:nvSpPr>
        <p:spPr>
          <a:xfrm>
            <a:off x="6260830" y="8855129"/>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7" name="Rectangle 256">
            <a:extLst>
              <a:ext uri="{FF2B5EF4-FFF2-40B4-BE49-F238E27FC236}">
                <a16:creationId xmlns:a16="http://schemas.microsoft.com/office/drawing/2014/main" id="{CEEF23AD-EA17-135A-DB95-1D1FECB286F3}"/>
              </a:ext>
            </a:extLst>
          </p:cNvPr>
          <p:cNvSpPr/>
          <p:nvPr/>
        </p:nvSpPr>
        <p:spPr>
          <a:xfrm>
            <a:off x="4672539" y="8851441"/>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258" name="Straight Connector 257"/>
          <p:cNvCxnSpPr/>
          <p:nvPr/>
        </p:nvCxnSpPr>
        <p:spPr>
          <a:xfrm flipH="1">
            <a:off x="82310" y="5749043"/>
            <a:ext cx="6779455" cy="0"/>
          </a:xfrm>
          <a:prstGeom prst="line">
            <a:avLst/>
          </a:prstGeom>
        </p:spPr>
        <p:style>
          <a:lnRef idx="1">
            <a:schemeClr val="dk1"/>
          </a:lnRef>
          <a:fillRef idx="0">
            <a:schemeClr val="dk1"/>
          </a:fillRef>
          <a:effectRef idx="0">
            <a:schemeClr val="dk1"/>
          </a:effectRef>
          <a:fontRef idx="minor">
            <a:schemeClr val="tx1"/>
          </a:fontRef>
        </p:style>
      </p:cxnSp>
      <p:cxnSp>
        <p:nvCxnSpPr>
          <p:cNvPr id="259" name="Straight Connector 258"/>
          <p:cNvCxnSpPr/>
          <p:nvPr/>
        </p:nvCxnSpPr>
        <p:spPr>
          <a:xfrm flipH="1">
            <a:off x="76548" y="7479705"/>
            <a:ext cx="6779455" cy="0"/>
          </a:xfrm>
          <a:prstGeom prst="line">
            <a:avLst/>
          </a:prstGeom>
        </p:spPr>
        <p:style>
          <a:lnRef idx="1">
            <a:schemeClr val="dk1"/>
          </a:lnRef>
          <a:fillRef idx="0">
            <a:schemeClr val="dk1"/>
          </a:fillRef>
          <a:effectRef idx="0">
            <a:schemeClr val="dk1"/>
          </a:effectRef>
          <a:fontRef idx="minor">
            <a:schemeClr val="tx1"/>
          </a:fontRef>
        </p:style>
      </p:cxnSp>
      <p:cxnSp>
        <p:nvCxnSpPr>
          <p:cNvPr id="260" name="Straight Connector 259"/>
          <p:cNvCxnSpPr/>
          <p:nvPr/>
        </p:nvCxnSpPr>
        <p:spPr>
          <a:xfrm flipH="1">
            <a:off x="94853" y="9421149"/>
            <a:ext cx="6779455" cy="0"/>
          </a:xfrm>
          <a:prstGeom prst="line">
            <a:avLst/>
          </a:prstGeom>
        </p:spPr>
        <p:style>
          <a:lnRef idx="1">
            <a:schemeClr val="dk1"/>
          </a:lnRef>
          <a:fillRef idx="0">
            <a:schemeClr val="dk1"/>
          </a:fillRef>
          <a:effectRef idx="0">
            <a:schemeClr val="dk1"/>
          </a:effectRef>
          <a:fontRef idx="minor">
            <a:schemeClr val="tx1"/>
          </a:fontRef>
        </p:style>
      </p:cxnSp>
      <p:cxnSp>
        <p:nvCxnSpPr>
          <p:cNvPr id="261" name="Straight Connector 260"/>
          <p:cNvCxnSpPr/>
          <p:nvPr/>
        </p:nvCxnSpPr>
        <p:spPr>
          <a:xfrm flipH="1">
            <a:off x="91445" y="4016668"/>
            <a:ext cx="6779455" cy="0"/>
          </a:xfrm>
          <a:prstGeom prst="line">
            <a:avLst/>
          </a:prstGeom>
        </p:spPr>
        <p:style>
          <a:lnRef idx="1">
            <a:schemeClr val="dk1"/>
          </a:lnRef>
          <a:fillRef idx="0">
            <a:schemeClr val="dk1"/>
          </a:fillRef>
          <a:effectRef idx="0">
            <a:schemeClr val="dk1"/>
          </a:effectRef>
          <a:fontRef idx="minor">
            <a:schemeClr val="tx1"/>
          </a:fontRef>
        </p:style>
      </p:cxnSp>
      <p:sp>
        <p:nvSpPr>
          <p:cNvPr id="201" name="TextBox 200"/>
          <p:cNvSpPr txBox="1"/>
          <p:nvPr/>
        </p:nvSpPr>
        <p:spPr>
          <a:xfrm>
            <a:off x="2319635" y="927590"/>
            <a:ext cx="380232" cy="276999"/>
          </a:xfrm>
          <a:prstGeom prst="rect">
            <a:avLst/>
          </a:prstGeom>
          <a:noFill/>
        </p:spPr>
        <p:txBody>
          <a:bodyPr wrap="none" rtlCol="0">
            <a:spAutoFit/>
          </a:bodyPr>
          <a:lstStyle/>
          <a:p>
            <a:r>
              <a:rPr lang="en-US" sz="1200"/>
              <a:t>2.4</a:t>
            </a:r>
            <a:endParaRPr lang="en-GB" sz="1200"/>
          </a:p>
        </p:txBody>
      </p:sp>
      <p:sp>
        <p:nvSpPr>
          <p:cNvPr id="202" name="TextBox 201"/>
          <p:cNvSpPr txBox="1"/>
          <p:nvPr/>
        </p:nvSpPr>
        <p:spPr>
          <a:xfrm>
            <a:off x="4170043" y="927590"/>
            <a:ext cx="380232" cy="276999"/>
          </a:xfrm>
          <a:prstGeom prst="rect">
            <a:avLst/>
          </a:prstGeom>
          <a:noFill/>
        </p:spPr>
        <p:txBody>
          <a:bodyPr wrap="none" rtlCol="0">
            <a:spAutoFit/>
          </a:bodyPr>
          <a:lstStyle/>
          <a:p>
            <a:r>
              <a:rPr lang="en-US" sz="1200"/>
              <a:t>2.5</a:t>
            </a:r>
            <a:endParaRPr lang="en-GB" sz="1200"/>
          </a:p>
        </p:txBody>
      </p:sp>
      <p:sp>
        <p:nvSpPr>
          <p:cNvPr id="203" name="TextBox 202"/>
          <p:cNvSpPr txBox="1"/>
          <p:nvPr/>
        </p:nvSpPr>
        <p:spPr>
          <a:xfrm>
            <a:off x="4590384" y="939324"/>
            <a:ext cx="380232" cy="276999"/>
          </a:xfrm>
          <a:prstGeom prst="rect">
            <a:avLst/>
          </a:prstGeom>
          <a:noFill/>
        </p:spPr>
        <p:txBody>
          <a:bodyPr wrap="none" rtlCol="0">
            <a:spAutoFit/>
          </a:bodyPr>
          <a:lstStyle/>
          <a:p>
            <a:r>
              <a:rPr lang="en-US" sz="1200"/>
              <a:t>3.4</a:t>
            </a:r>
            <a:endParaRPr lang="en-GB" sz="1200"/>
          </a:p>
        </p:txBody>
      </p:sp>
      <p:sp>
        <p:nvSpPr>
          <p:cNvPr id="206" name="TextBox 205"/>
          <p:cNvSpPr txBox="1"/>
          <p:nvPr/>
        </p:nvSpPr>
        <p:spPr>
          <a:xfrm>
            <a:off x="6440792" y="939324"/>
            <a:ext cx="380232" cy="276999"/>
          </a:xfrm>
          <a:prstGeom prst="rect">
            <a:avLst/>
          </a:prstGeom>
          <a:noFill/>
        </p:spPr>
        <p:txBody>
          <a:bodyPr wrap="none" rtlCol="0">
            <a:spAutoFit/>
          </a:bodyPr>
          <a:lstStyle/>
          <a:p>
            <a:r>
              <a:rPr lang="en-US" sz="1200"/>
              <a:t>3.5</a:t>
            </a:r>
            <a:endParaRPr lang="en-GB" sz="1200"/>
          </a:p>
        </p:txBody>
      </p:sp>
      <p:sp>
        <p:nvSpPr>
          <p:cNvPr id="209" name="TextBox 208"/>
          <p:cNvSpPr txBox="1"/>
          <p:nvPr/>
        </p:nvSpPr>
        <p:spPr>
          <a:xfrm>
            <a:off x="2902811" y="1478262"/>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12" name="TextBox 211"/>
          <p:cNvSpPr txBox="1"/>
          <p:nvPr/>
        </p:nvSpPr>
        <p:spPr>
          <a:xfrm>
            <a:off x="5170281" y="1527381"/>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15" name="TextBox 214"/>
          <p:cNvSpPr txBox="1"/>
          <p:nvPr/>
        </p:nvSpPr>
        <p:spPr>
          <a:xfrm>
            <a:off x="548916" y="3385096"/>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18" name="TextBox 217"/>
          <p:cNvSpPr txBox="1"/>
          <p:nvPr/>
        </p:nvSpPr>
        <p:spPr>
          <a:xfrm>
            <a:off x="2874467" y="3303307"/>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29" name="TextBox 228"/>
          <p:cNvSpPr txBox="1"/>
          <p:nvPr/>
        </p:nvSpPr>
        <p:spPr>
          <a:xfrm>
            <a:off x="5141937" y="3352426"/>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2" name="TextBox 241"/>
          <p:cNvSpPr txBox="1"/>
          <p:nvPr/>
        </p:nvSpPr>
        <p:spPr>
          <a:xfrm>
            <a:off x="548916" y="5051829"/>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3" name="TextBox 242"/>
          <p:cNvSpPr txBox="1"/>
          <p:nvPr/>
        </p:nvSpPr>
        <p:spPr>
          <a:xfrm>
            <a:off x="2897853" y="5032452"/>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4" name="TextBox 243"/>
          <p:cNvSpPr txBox="1"/>
          <p:nvPr/>
        </p:nvSpPr>
        <p:spPr>
          <a:xfrm>
            <a:off x="5141937" y="5019159"/>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5" name="TextBox 244"/>
          <p:cNvSpPr txBox="1"/>
          <p:nvPr/>
        </p:nvSpPr>
        <p:spPr>
          <a:xfrm>
            <a:off x="572466" y="6822187"/>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6" name="TextBox 245"/>
          <p:cNvSpPr txBox="1"/>
          <p:nvPr/>
        </p:nvSpPr>
        <p:spPr>
          <a:xfrm>
            <a:off x="2921403" y="6802810"/>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7" name="TextBox 246"/>
          <p:cNvSpPr txBox="1"/>
          <p:nvPr/>
        </p:nvSpPr>
        <p:spPr>
          <a:xfrm>
            <a:off x="5165487" y="6789517"/>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8" name="TextBox 247"/>
          <p:cNvSpPr txBox="1"/>
          <p:nvPr/>
        </p:nvSpPr>
        <p:spPr>
          <a:xfrm>
            <a:off x="570672" y="8762868"/>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9" name="TextBox 248"/>
          <p:cNvSpPr txBox="1"/>
          <p:nvPr/>
        </p:nvSpPr>
        <p:spPr>
          <a:xfrm>
            <a:off x="2919609" y="8743491"/>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52" name="TextBox 251"/>
          <p:cNvSpPr txBox="1"/>
          <p:nvPr/>
        </p:nvSpPr>
        <p:spPr>
          <a:xfrm>
            <a:off x="5163693" y="8730198"/>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 name="Rectangle 1">
            <a:extLst>
              <a:ext uri="{FF2B5EF4-FFF2-40B4-BE49-F238E27FC236}">
                <a16:creationId xmlns:a16="http://schemas.microsoft.com/office/drawing/2014/main" id="{B17FFF98-84D8-2185-F1C6-1B3F1AA30B9D}"/>
              </a:ext>
            </a:extLst>
          </p:cNvPr>
          <p:cNvSpPr/>
          <p:nvPr/>
        </p:nvSpPr>
        <p:spPr>
          <a:xfrm>
            <a:off x="71285" y="6538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2669769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B4A988A4-03CD-D549-9F12-81AFECBDEF37}"/>
              </a:ext>
            </a:extLst>
          </p:cNvPr>
          <p:cNvCxnSpPr>
            <a:cxnSpLocks/>
          </p:cNvCxnSpPr>
          <p:nvPr/>
        </p:nvCxnSpPr>
        <p:spPr>
          <a:xfrm>
            <a:off x="954274" y="1986683"/>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 name="Table 2"/>
          <p:cNvGraphicFramePr>
            <a:graphicFrameLocks noGrp="1"/>
          </p:cNvGraphicFramePr>
          <p:nvPr/>
        </p:nvGraphicFramePr>
        <p:xfrm>
          <a:off x="156015" y="542310"/>
          <a:ext cx="6543680" cy="280416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185400">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Round each number to one decimal place.</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545293">
                <a:tc>
                  <a:txBody>
                    <a:bodyPr/>
                    <a:lstStyle/>
                    <a:p>
                      <a:pPr marL="0" indent="0">
                        <a:buNone/>
                      </a:pPr>
                      <a:r>
                        <a:rPr lang="en-US" sz="1100"/>
                        <a:t>1)</a:t>
                      </a:r>
                      <a:r>
                        <a:rPr lang="en-US" sz="1100" baseline="0"/>
                        <a:t> </a:t>
                      </a:r>
                      <a:r>
                        <a:rPr lang="en-US" sz="1100"/>
                        <a:t>Draw a line between the value in the tenths column and the hundredths</a:t>
                      </a:r>
                      <a:r>
                        <a:rPr lang="en-US" sz="1100" baseline="0"/>
                        <a:t> column.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25329">
                <a:tc>
                  <a:txBody>
                    <a:bodyPr/>
                    <a:lstStyle/>
                    <a:p>
                      <a:pPr marL="0" indent="0">
                        <a:buNone/>
                      </a:pPr>
                      <a:r>
                        <a:rPr lang="en-US" sz="1100"/>
                        <a:t>2) Underline the number in the hundredths column.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425329">
                <a:tc>
                  <a:txBody>
                    <a:bodyPr/>
                    <a:lstStyle/>
                    <a:p>
                      <a:pPr marL="0" indent="0">
                        <a:buNone/>
                      </a:pPr>
                      <a:r>
                        <a:rPr lang="en-US" sz="1100"/>
                        <a:t>3) If it is </a:t>
                      </a:r>
                      <a:r>
                        <a:rPr lang="en-US" sz="1100" b="1"/>
                        <a:t>below 5</a:t>
                      </a:r>
                      <a:r>
                        <a:rPr lang="en-US" sz="1100"/>
                        <a:t>, then the tenths column stays the same.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r h="4253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4)</a:t>
                      </a:r>
                      <a:r>
                        <a:rPr lang="en-US" sz="1100"/>
                        <a:t> If it is </a:t>
                      </a:r>
                      <a:r>
                        <a:rPr lang="en-US" sz="1100" b="1"/>
                        <a:t>5 or above</a:t>
                      </a:r>
                      <a:r>
                        <a:rPr lang="en-US" sz="1100"/>
                        <a:t>, then the tenths column is rounded up</a:t>
                      </a:r>
                      <a:endParaRPr lang="en-GB"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9025439"/>
                  </a:ext>
                </a:extLst>
              </a:tr>
            </a:tbl>
          </a:graphicData>
        </a:graphic>
      </p:graphicFrame>
      <p:sp>
        <p:nvSpPr>
          <p:cNvPr id="4" name="TextBox 3">
            <a:extLst>
              <a:ext uri="{FF2B5EF4-FFF2-40B4-BE49-F238E27FC236}">
                <a16:creationId xmlns:a16="http://schemas.microsoft.com/office/drawing/2014/main" id="{BCDC1A2B-2D26-C945-B722-18950FA49879}"/>
              </a:ext>
            </a:extLst>
          </p:cNvPr>
          <p:cNvSpPr txBox="1"/>
          <p:nvPr/>
        </p:nvSpPr>
        <p:spPr>
          <a:xfrm>
            <a:off x="1937634" y="285026"/>
            <a:ext cx="1410704" cy="276999"/>
          </a:xfrm>
          <a:prstGeom prst="rect">
            <a:avLst/>
          </a:prstGeom>
          <a:noFill/>
          <a:ln>
            <a:noFill/>
          </a:ln>
        </p:spPr>
        <p:txBody>
          <a:bodyPr wrap="square" rtlCol="0">
            <a:spAutoFit/>
          </a:bodyPr>
          <a:lstStyle/>
          <a:p>
            <a:r>
              <a:rPr lang="en-GB" sz="1200" b="1" i="1">
                <a:solidFill>
                  <a:srgbClr val="FF0000"/>
                </a:solidFill>
              </a:rPr>
              <a:t>Example 4 - I do…</a:t>
            </a:r>
          </a:p>
        </p:txBody>
      </p:sp>
      <p:sp>
        <p:nvSpPr>
          <p:cNvPr id="5" name="TextBox 4">
            <a:extLst>
              <a:ext uri="{FF2B5EF4-FFF2-40B4-BE49-F238E27FC236}">
                <a16:creationId xmlns:a16="http://schemas.microsoft.com/office/drawing/2014/main" id="{4AF4150A-9218-D640-8777-2ECCBC4D10FB}"/>
              </a:ext>
            </a:extLst>
          </p:cNvPr>
          <p:cNvSpPr txBox="1"/>
          <p:nvPr/>
        </p:nvSpPr>
        <p:spPr>
          <a:xfrm>
            <a:off x="5071531" y="262918"/>
            <a:ext cx="1643405" cy="276999"/>
          </a:xfrm>
          <a:prstGeom prst="rect">
            <a:avLst/>
          </a:prstGeom>
          <a:noFill/>
          <a:ln>
            <a:noFill/>
          </a:ln>
        </p:spPr>
        <p:txBody>
          <a:bodyPr wrap="square" rtlCol="0">
            <a:spAutoFit/>
          </a:bodyPr>
          <a:lstStyle/>
          <a:p>
            <a:r>
              <a:rPr lang="en-GB" sz="1200" b="1" i="1">
                <a:solidFill>
                  <a:srgbClr val="00B050"/>
                </a:solidFill>
              </a:rPr>
              <a:t>Example 6 – You do…</a:t>
            </a:r>
          </a:p>
        </p:txBody>
      </p:sp>
      <p:sp>
        <p:nvSpPr>
          <p:cNvPr id="6" name="TextBox 5">
            <a:extLst>
              <a:ext uri="{FF2B5EF4-FFF2-40B4-BE49-F238E27FC236}">
                <a16:creationId xmlns:a16="http://schemas.microsoft.com/office/drawing/2014/main" id="{BCDC1A2B-2D26-C945-B722-18950FA49879}"/>
              </a:ext>
            </a:extLst>
          </p:cNvPr>
          <p:cNvSpPr txBox="1"/>
          <p:nvPr/>
        </p:nvSpPr>
        <p:spPr>
          <a:xfrm>
            <a:off x="3462352" y="275019"/>
            <a:ext cx="1667605" cy="276999"/>
          </a:xfrm>
          <a:prstGeom prst="rect">
            <a:avLst/>
          </a:prstGeom>
          <a:noFill/>
          <a:ln>
            <a:noFill/>
          </a:ln>
        </p:spPr>
        <p:txBody>
          <a:bodyPr wrap="square" rtlCol="0">
            <a:spAutoFit/>
          </a:bodyPr>
          <a:lstStyle/>
          <a:p>
            <a:r>
              <a:rPr lang="en-GB" sz="1200" b="1" i="1">
                <a:solidFill>
                  <a:schemeClr val="accent2"/>
                </a:solidFill>
              </a:rPr>
              <a:t>Example 5 - We do…</a:t>
            </a:r>
          </a:p>
        </p:txBody>
      </p:sp>
      <p:sp>
        <p:nvSpPr>
          <p:cNvPr id="7" name="TextBox 6"/>
          <p:cNvSpPr txBox="1"/>
          <p:nvPr/>
        </p:nvSpPr>
        <p:spPr>
          <a:xfrm>
            <a:off x="1912100" y="829317"/>
            <a:ext cx="1419715" cy="1015663"/>
          </a:xfrm>
          <a:prstGeom prst="rect">
            <a:avLst/>
          </a:prstGeom>
          <a:noFill/>
        </p:spPr>
        <p:txBody>
          <a:bodyPr wrap="square" rtlCol="0">
            <a:spAutoFit/>
          </a:bodyPr>
          <a:lstStyle/>
          <a:p>
            <a:pPr algn="ctr"/>
            <a:r>
              <a:rPr lang="en-US" sz="1200"/>
              <a:t>Round 0.58 to one decimal place</a:t>
            </a:r>
          </a:p>
          <a:p>
            <a:pPr algn="ctr"/>
            <a:endParaRPr lang="en-US" sz="1200"/>
          </a:p>
          <a:p>
            <a:pPr algn="ctr"/>
            <a:r>
              <a:rPr lang="en-US" sz="1200"/>
              <a:t>0 . 5 | </a:t>
            </a:r>
            <a:r>
              <a:rPr lang="en-US" sz="1200" u="sng"/>
              <a:t>8</a:t>
            </a:r>
            <a:r>
              <a:rPr lang="en-US" sz="1200"/>
              <a:t>   </a:t>
            </a:r>
          </a:p>
          <a:p>
            <a:pPr algn="ctr"/>
            <a:endParaRPr lang="en-US" sz="1200" u="sng"/>
          </a:p>
        </p:txBody>
      </p:sp>
      <p:sp>
        <p:nvSpPr>
          <p:cNvPr id="8" name="TextBox 7"/>
          <p:cNvSpPr txBox="1"/>
          <p:nvPr/>
        </p:nvSpPr>
        <p:spPr>
          <a:xfrm>
            <a:off x="3444471" y="839293"/>
            <a:ext cx="1627060" cy="461665"/>
          </a:xfrm>
          <a:prstGeom prst="rect">
            <a:avLst/>
          </a:prstGeom>
          <a:noFill/>
        </p:spPr>
        <p:txBody>
          <a:bodyPr wrap="square" rtlCol="0">
            <a:spAutoFit/>
          </a:bodyPr>
          <a:lstStyle/>
          <a:p>
            <a:pPr algn="ctr"/>
            <a:r>
              <a:rPr lang="en-US" sz="1200"/>
              <a:t>Round 2.92 to one decimal place</a:t>
            </a:r>
          </a:p>
        </p:txBody>
      </p:sp>
      <p:sp>
        <p:nvSpPr>
          <p:cNvPr id="9" name="TextBox 8"/>
          <p:cNvSpPr txBox="1"/>
          <p:nvPr/>
        </p:nvSpPr>
        <p:spPr>
          <a:xfrm>
            <a:off x="5214009" y="829317"/>
            <a:ext cx="1321082" cy="461665"/>
          </a:xfrm>
          <a:prstGeom prst="rect">
            <a:avLst/>
          </a:prstGeom>
          <a:noFill/>
        </p:spPr>
        <p:txBody>
          <a:bodyPr wrap="square" rtlCol="0">
            <a:spAutoFit/>
          </a:bodyPr>
          <a:lstStyle/>
          <a:p>
            <a:pPr algn="ctr"/>
            <a:r>
              <a:rPr lang="en-US" sz="1200"/>
              <a:t>Round 3.69 to one decimal place</a:t>
            </a:r>
          </a:p>
        </p:txBody>
      </p:sp>
      <p:sp>
        <p:nvSpPr>
          <p:cNvPr id="13" name="Rectangle 12">
            <a:extLst>
              <a:ext uri="{FF2B5EF4-FFF2-40B4-BE49-F238E27FC236}">
                <a16:creationId xmlns:a16="http://schemas.microsoft.com/office/drawing/2014/main" id="{CEEF23AD-EA17-135A-DB95-1D1FECB286F3}"/>
              </a:ext>
            </a:extLst>
          </p:cNvPr>
          <p:cNvSpPr/>
          <p:nvPr/>
        </p:nvSpPr>
        <p:spPr>
          <a:xfrm>
            <a:off x="1897333" y="165856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FF0000"/>
              </a:solidFill>
            </a:endParaRPr>
          </a:p>
        </p:txBody>
      </p:sp>
      <p:sp>
        <p:nvSpPr>
          <p:cNvPr id="15" name="Rectangle 14">
            <a:extLst>
              <a:ext uri="{FF2B5EF4-FFF2-40B4-BE49-F238E27FC236}">
                <a16:creationId xmlns:a16="http://schemas.microsoft.com/office/drawing/2014/main" id="{CEEF23AD-EA17-135A-DB95-1D1FECB286F3}"/>
              </a:ext>
            </a:extLst>
          </p:cNvPr>
          <p:cNvSpPr/>
          <p:nvPr/>
        </p:nvSpPr>
        <p:spPr>
          <a:xfrm>
            <a:off x="3521808" y="165388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FF0000"/>
              </a:solidFill>
            </a:endParaRPr>
          </a:p>
        </p:txBody>
      </p:sp>
      <p:sp>
        <p:nvSpPr>
          <p:cNvPr id="17" name="Rectangle 16">
            <a:extLst>
              <a:ext uri="{FF2B5EF4-FFF2-40B4-BE49-F238E27FC236}">
                <a16:creationId xmlns:a16="http://schemas.microsoft.com/office/drawing/2014/main" id="{CEEF23AD-EA17-135A-DB95-1D1FECB286F3}"/>
              </a:ext>
            </a:extLst>
          </p:cNvPr>
          <p:cNvSpPr/>
          <p:nvPr/>
        </p:nvSpPr>
        <p:spPr>
          <a:xfrm>
            <a:off x="5164724" y="165388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FF0000"/>
              </a:solidFill>
            </a:endParaRPr>
          </a:p>
        </p:txBody>
      </p:sp>
      <p:sp>
        <p:nvSpPr>
          <p:cNvPr id="21" name="TextBox 20"/>
          <p:cNvSpPr txBox="1"/>
          <p:nvPr/>
        </p:nvSpPr>
        <p:spPr>
          <a:xfrm>
            <a:off x="2063435" y="3424423"/>
            <a:ext cx="3015762" cy="276999"/>
          </a:xfrm>
          <a:prstGeom prst="rect">
            <a:avLst/>
          </a:prstGeom>
          <a:noFill/>
        </p:spPr>
        <p:txBody>
          <a:bodyPr wrap="none" rtlCol="0">
            <a:spAutoFit/>
          </a:bodyPr>
          <a:lstStyle/>
          <a:p>
            <a:r>
              <a:rPr lang="en-US" sz="1200"/>
              <a:t>2. Round each number to one decimal place. </a:t>
            </a:r>
            <a:endParaRPr lang="en-GB" sz="1200"/>
          </a:p>
        </p:txBody>
      </p:sp>
      <p:sp>
        <p:nvSpPr>
          <p:cNvPr id="22" name="TextBox 21"/>
          <p:cNvSpPr txBox="1"/>
          <p:nvPr/>
        </p:nvSpPr>
        <p:spPr>
          <a:xfrm>
            <a:off x="303696" y="3749845"/>
            <a:ext cx="614271" cy="276999"/>
          </a:xfrm>
          <a:prstGeom prst="rect">
            <a:avLst/>
          </a:prstGeom>
          <a:noFill/>
        </p:spPr>
        <p:txBody>
          <a:bodyPr wrap="none" rtlCol="0">
            <a:spAutoFit/>
          </a:bodyPr>
          <a:lstStyle/>
          <a:p>
            <a:r>
              <a:rPr lang="en-US" sz="1200"/>
              <a:t>a) 0.81</a:t>
            </a:r>
            <a:endParaRPr lang="en-GB" sz="1200"/>
          </a:p>
        </p:txBody>
      </p:sp>
      <p:sp>
        <p:nvSpPr>
          <p:cNvPr id="23" name="TextBox 22"/>
          <p:cNvSpPr txBox="1"/>
          <p:nvPr/>
        </p:nvSpPr>
        <p:spPr>
          <a:xfrm>
            <a:off x="1355953" y="3741142"/>
            <a:ext cx="620683" cy="276999"/>
          </a:xfrm>
          <a:prstGeom prst="rect">
            <a:avLst/>
          </a:prstGeom>
          <a:noFill/>
        </p:spPr>
        <p:txBody>
          <a:bodyPr wrap="none" rtlCol="0">
            <a:spAutoFit/>
          </a:bodyPr>
          <a:lstStyle/>
          <a:p>
            <a:r>
              <a:rPr lang="en-US" sz="1200"/>
              <a:t>b) 0.85</a:t>
            </a:r>
            <a:endParaRPr lang="en-GB" sz="1200"/>
          </a:p>
        </p:txBody>
      </p:sp>
      <p:sp>
        <p:nvSpPr>
          <p:cNvPr id="24" name="TextBox 23"/>
          <p:cNvSpPr txBox="1"/>
          <p:nvPr/>
        </p:nvSpPr>
        <p:spPr>
          <a:xfrm>
            <a:off x="2432612" y="3741143"/>
            <a:ext cx="606256" cy="276999"/>
          </a:xfrm>
          <a:prstGeom prst="rect">
            <a:avLst/>
          </a:prstGeom>
          <a:noFill/>
        </p:spPr>
        <p:txBody>
          <a:bodyPr wrap="none" rtlCol="0">
            <a:spAutoFit/>
          </a:bodyPr>
          <a:lstStyle/>
          <a:p>
            <a:r>
              <a:rPr lang="en-US" sz="1200"/>
              <a:t>c) 1.85</a:t>
            </a:r>
            <a:endParaRPr lang="en-GB" sz="1200"/>
          </a:p>
        </p:txBody>
      </p:sp>
      <p:sp>
        <p:nvSpPr>
          <p:cNvPr id="25" name="TextBox 24"/>
          <p:cNvSpPr txBox="1"/>
          <p:nvPr/>
        </p:nvSpPr>
        <p:spPr>
          <a:xfrm>
            <a:off x="3439658" y="3764235"/>
            <a:ext cx="620683" cy="276999"/>
          </a:xfrm>
          <a:prstGeom prst="rect">
            <a:avLst/>
          </a:prstGeom>
          <a:noFill/>
        </p:spPr>
        <p:txBody>
          <a:bodyPr wrap="none" rtlCol="0">
            <a:spAutoFit/>
          </a:bodyPr>
          <a:lstStyle/>
          <a:p>
            <a:r>
              <a:rPr lang="en-US" sz="1200"/>
              <a:t>d) 1.89</a:t>
            </a:r>
            <a:endParaRPr lang="en-GB" sz="1200"/>
          </a:p>
        </p:txBody>
      </p:sp>
      <p:sp>
        <p:nvSpPr>
          <p:cNvPr id="26" name="TextBox 25"/>
          <p:cNvSpPr txBox="1"/>
          <p:nvPr/>
        </p:nvSpPr>
        <p:spPr>
          <a:xfrm>
            <a:off x="4543421" y="3760755"/>
            <a:ext cx="617477" cy="276999"/>
          </a:xfrm>
          <a:prstGeom prst="rect">
            <a:avLst/>
          </a:prstGeom>
          <a:noFill/>
        </p:spPr>
        <p:txBody>
          <a:bodyPr wrap="none" rtlCol="0">
            <a:spAutoFit/>
          </a:bodyPr>
          <a:lstStyle/>
          <a:p>
            <a:r>
              <a:rPr lang="en-US" sz="1200"/>
              <a:t>e) 2.05</a:t>
            </a:r>
            <a:endParaRPr lang="en-GB" sz="1200"/>
          </a:p>
        </p:txBody>
      </p:sp>
      <p:sp>
        <p:nvSpPr>
          <p:cNvPr id="27" name="Rectangle 26">
            <a:extLst>
              <a:ext uri="{FF2B5EF4-FFF2-40B4-BE49-F238E27FC236}">
                <a16:creationId xmlns:a16="http://schemas.microsoft.com/office/drawing/2014/main" id="{CEEF23AD-EA17-135A-DB95-1D1FECB286F3}"/>
              </a:ext>
            </a:extLst>
          </p:cNvPr>
          <p:cNvSpPr/>
          <p:nvPr/>
        </p:nvSpPr>
        <p:spPr>
          <a:xfrm>
            <a:off x="348706" y="42643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8" name="Rectangle 27">
            <a:extLst>
              <a:ext uri="{FF2B5EF4-FFF2-40B4-BE49-F238E27FC236}">
                <a16:creationId xmlns:a16="http://schemas.microsoft.com/office/drawing/2014/main" id="{CEEF23AD-EA17-135A-DB95-1D1FECB286F3}"/>
              </a:ext>
            </a:extLst>
          </p:cNvPr>
          <p:cNvSpPr/>
          <p:nvPr/>
        </p:nvSpPr>
        <p:spPr>
          <a:xfrm>
            <a:off x="1392661" y="42643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Rectangle 28">
            <a:extLst>
              <a:ext uri="{FF2B5EF4-FFF2-40B4-BE49-F238E27FC236}">
                <a16:creationId xmlns:a16="http://schemas.microsoft.com/office/drawing/2014/main" id="{CEEF23AD-EA17-135A-DB95-1D1FECB286F3}"/>
              </a:ext>
            </a:extLst>
          </p:cNvPr>
          <p:cNvSpPr/>
          <p:nvPr/>
        </p:nvSpPr>
        <p:spPr>
          <a:xfrm>
            <a:off x="2448545" y="42643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0" name="Rectangle 29">
            <a:extLst>
              <a:ext uri="{FF2B5EF4-FFF2-40B4-BE49-F238E27FC236}">
                <a16:creationId xmlns:a16="http://schemas.microsoft.com/office/drawing/2014/main" id="{CEEF23AD-EA17-135A-DB95-1D1FECB286F3}"/>
              </a:ext>
            </a:extLst>
          </p:cNvPr>
          <p:cNvSpPr/>
          <p:nvPr/>
        </p:nvSpPr>
        <p:spPr>
          <a:xfrm>
            <a:off x="3522743" y="42643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1" name="Rectangle 30">
            <a:extLst>
              <a:ext uri="{FF2B5EF4-FFF2-40B4-BE49-F238E27FC236}">
                <a16:creationId xmlns:a16="http://schemas.microsoft.com/office/drawing/2014/main" id="{CEEF23AD-EA17-135A-DB95-1D1FECB286F3}"/>
              </a:ext>
            </a:extLst>
          </p:cNvPr>
          <p:cNvSpPr/>
          <p:nvPr/>
        </p:nvSpPr>
        <p:spPr>
          <a:xfrm>
            <a:off x="4574407" y="42643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2" name="TextBox 31"/>
          <p:cNvSpPr txBox="1"/>
          <p:nvPr/>
        </p:nvSpPr>
        <p:spPr>
          <a:xfrm>
            <a:off x="5638434" y="3786402"/>
            <a:ext cx="589264" cy="276999"/>
          </a:xfrm>
          <a:prstGeom prst="rect">
            <a:avLst/>
          </a:prstGeom>
          <a:noFill/>
        </p:spPr>
        <p:txBody>
          <a:bodyPr wrap="none" rtlCol="0">
            <a:spAutoFit/>
          </a:bodyPr>
          <a:lstStyle/>
          <a:p>
            <a:r>
              <a:rPr lang="en-US" sz="1200"/>
              <a:t>f) 2.65</a:t>
            </a:r>
            <a:endParaRPr lang="en-GB" sz="1200"/>
          </a:p>
        </p:txBody>
      </p:sp>
      <p:sp>
        <p:nvSpPr>
          <p:cNvPr id="33" name="Rectangle 32">
            <a:extLst>
              <a:ext uri="{FF2B5EF4-FFF2-40B4-BE49-F238E27FC236}">
                <a16:creationId xmlns:a16="http://schemas.microsoft.com/office/drawing/2014/main" id="{CEEF23AD-EA17-135A-DB95-1D1FECB286F3}"/>
              </a:ext>
            </a:extLst>
          </p:cNvPr>
          <p:cNvSpPr/>
          <p:nvPr/>
        </p:nvSpPr>
        <p:spPr>
          <a:xfrm>
            <a:off x="5623509" y="42643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2" name="TextBox 81"/>
          <p:cNvSpPr txBox="1"/>
          <p:nvPr/>
        </p:nvSpPr>
        <p:spPr>
          <a:xfrm>
            <a:off x="335454" y="4721413"/>
            <a:ext cx="612668" cy="276999"/>
          </a:xfrm>
          <a:prstGeom prst="rect">
            <a:avLst/>
          </a:prstGeom>
          <a:noFill/>
        </p:spPr>
        <p:txBody>
          <a:bodyPr wrap="none" rtlCol="0">
            <a:spAutoFit/>
          </a:bodyPr>
          <a:lstStyle/>
          <a:p>
            <a:r>
              <a:rPr lang="en-US" sz="1200"/>
              <a:t>g) 3.84</a:t>
            </a:r>
            <a:endParaRPr lang="en-GB" sz="1200"/>
          </a:p>
        </p:txBody>
      </p:sp>
      <p:sp>
        <p:nvSpPr>
          <p:cNvPr id="83" name="TextBox 82"/>
          <p:cNvSpPr txBox="1"/>
          <p:nvPr/>
        </p:nvSpPr>
        <p:spPr>
          <a:xfrm>
            <a:off x="1387711" y="4712710"/>
            <a:ext cx="620683" cy="276999"/>
          </a:xfrm>
          <a:prstGeom prst="rect">
            <a:avLst/>
          </a:prstGeom>
          <a:noFill/>
        </p:spPr>
        <p:txBody>
          <a:bodyPr wrap="none" rtlCol="0">
            <a:spAutoFit/>
          </a:bodyPr>
          <a:lstStyle/>
          <a:p>
            <a:r>
              <a:rPr lang="en-US" sz="1200"/>
              <a:t>h) 3.88</a:t>
            </a:r>
            <a:endParaRPr lang="en-GB" sz="1200"/>
          </a:p>
        </p:txBody>
      </p:sp>
      <p:sp>
        <p:nvSpPr>
          <p:cNvPr id="84" name="TextBox 83"/>
          <p:cNvSpPr txBox="1"/>
          <p:nvPr/>
        </p:nvSpPr>
        <p:spPr>
          <a:xfrm>
            <a:off x="2464370" y="4712711"/>
            <a:ext cx="575799" cy="276999"/>
          </a:xfrm>
          <a:prstGeom prst="rect">
            <a:avLst/>
          </a:prstGeom>
          <a:noFill/>
        </p:spPr>
        <p:txBody>
          <a:bodyPr wrap="none" rtlCol="0">
            <a:spAutoFit/>
          </a:bodyPr>
          <a:lstStyle/>
          <a:p>
            <a:r>
              <a:rPr lang="en-US" sz="1200"/>
              <a:t>i) 4.67</a:t>
            </a:r>
            <a:endParaRPr lang="en-GB" sz="1200"/>
          </a:p>
        </p:txBody>
      </p:sp>
      <p:sp>
        <p:nvSpPr>
          <p:cNvPr id="85" name="TextBox 84"/>
          <p:cNvSpPr txBox="1"/>
          <p:nvPr/>
        </p:nvSpPr>
        <p:spPr>
          <a:xfrm>
            <a:off x="3471416" y="4735803"/>
            <a:ext cx="577402" cy="276999"/>
          </a:xfrm>
          <a:prstGeom prst="rect">
            <a:avLst/>
          </a:prstGeom>
          <a:noFill/>
        </p:spPr>
        <p:txBody>
          <a:bodyPr wrap="none" rtlCol="0">
            <a:spAutoFit/>
          </a:bodyPr>
          <a:lstStyle/>
          <a:p>
            <a:r>
              <a:rPr lang="en-US" sz="1200"/>
              <a:t>j) 4.81</a:t>
            </a:r>
            <a:endParaRPr lang="en-GB" sz="1200"/>
          </a:p>
        </p:txBody>
      </p:sp>
      <p:sp>
        <p:nvSpPr>
          <p:cNvPr id="86" name="TextBox 85"/>
          <p:cNvSpPr txBox="1"/>
          <p:nvPr/>
        </p:nvSpPr>
        <p:spPr>
          <a:xfrm>
            <a:off x="4575179" y="4732323"/>
            <a:ext cx="611065" cy="276999"/>
          </a:xfrm>
          <a:prstGeom prst="rect">
            <a:avLst/>
          </a:prstGeom>
          <a:noFill/>
        </p:spPr>
        <p:txBody>
          <a:bodyPr wrap="none" rtlCol="0">
            <a:spAutoFit/>
          </a:bodyPr>
          <a:lstStyle/>
          <a:p>
            <a:r>
              <a:rPr lang="en-US" sz="1200"/>
              <a:t>k) 5.23</a:t>
            </a:r>
            <a:endParaRPr lang="en-GB" sz="1200"/>
          </a:p>
        </p:txBody>
      </p:sp>
      <p:sp>
        <p:nvSpPr>
          <p:cNvPr id="87" name="Rectangle 86">
            <a:extLst>
              <a:ext uri="{FF2B5EF4-FFF2-40B4-BE49-F238E27FC236}">
                <a16:creationId xmlns:a16="http://schemas.microsoft.com/office/drawing/2014/main" id="{CEEF23AD-EA17-135A-DB95-1D1FECB286F3}"/>
              </a:ext>
            </a:extLst>
          </p:cNvPr>
          <p:cNvSpPr/>
          <p:nvPr/>
        </p:nvSpPr>
        <p:spPr>
          <a:xfrm>
            <a:off x="348706" y="525084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8" name="Rectangle 87">
            <a:extLst>
              <a:ext uri="{FF2B5EF4-FFF2-40B4-BE49-F238E27FC236}">
                <a16:creationId xmlns:a16="http://schemas.microsoft.com/office/drawing/2014/main" id="{CEEF23AD-EA17-135A-DB95-1D1FECB286F3}"/>
              </a:ext>
            </a:extLst>
          </p:cNvPr>
          <p:cNvSpPr/>
          <p:nvPr/>
        </p:nvSpPr>
        <p:spPr>
          <a:xfrm>
            <a:off x="1392661" y="525084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9" name="Rectangle 88">
            <a:extLst>
              <a:ext uri="{FF2B5EF4-FFF2-40B4-BE49-F238E27FC236}">
                <a16:creationId xmlns:a16="http://schemas.microsoft.com/office/drawing/2014/main" id="{CEEF23AD-EA17-135A-DB95-1D1FECB286F3}"/>
              </a:ext>
            </a:extLst>
          </p:cNvPr>
          <p:cNvSpPr/>
          <p:nvPr/>
        </p:nvSpPr>
        <p:spPr>
          <a:xfrm>
            <a:off x="2448545" y="525084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0" name="Rectangle 89">
            <a:extLst>
              <a:ext uri="{FF2B5EF4-FFF2-40B4-BE49-F238E27FC236}">
                <a16:creationId xmlns:a16="http://schemas.microsoft.com/office/drawing/2014/main" id="{CEEF23AD-EA17-135A-DB95-1D1FECB286F3}"/>
              </a:ext>
            </a:extLst>
          </p:cNvPr>
          <p:cNvSpPr/>
          <p:nvPr/>
        </p:nvSpPr>
        <p:spPr>
          <a:xfrm>
            <a:off x="3522743" y="525084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1" name="Rectangle 90">
            <a:extLst>
              <a:ext uri="{FF2B5EF4-FFF2-40B4-BE49-F238E27FC236}">
                <a16:creationId xmlns:a16="http://schemas.microsoft.com/office/drawing/2014/main" id="{CEEF23AD-EA17-135A-DB95-1D1FECB286F3}"/>
              </a:ext>
            </a:extLst>
          </p:cNvPr>
          <p:cNvSpPr/>
          <p:nvPr/>
        </p:nvSpPr>
        <p:spPr>
          <a:xfrm>
            <a:off x="4574407" y="525084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2" name="TextBox 91"/>
          <p:cNvSpPr txBox="1"/>
          <p:nvPr/>
        </p:nvSpPr>
        <p:spPr>
          <a:xfrm>
            <a:off x="5670192" y="4757970"/>
            <a:ext cx="575799" cy="276999"/>
          </a:xfrm>
          <a:prstGeom prst="rect">
            <a:avLst/>
          </a:prstGeom>
          <a:noFill/>
        </p:spPr>
        <p:txBody>
          <a:bodyPr wrap="none" rtlCol="0">
            <a:spAutoFit/>
          </a:bodyPr>
          <a:lstStyle/>
          <a:p>
            <a:r>
              <a:rPr lang="en-US" sz="1200"/>
              <a:t>l) 5.28</a:t>
            </a:r>
            <a:endParaRPr lang="en-GB" sz="1200"/>
          </a:p>
        </p:txBody>
      </p:sp>
      <p:sp>
        <p:nvSpPr>
          <p:cNvPr id="93" name="Rectangle 92">
            <a:extLst>
              <a:ext uri="{FF2B5EF4-FFF2-40B4-BE49-F238E27FC236}">
                <a16:creationId xmlns:a16="http://schemas.microsoft.com/office/drawing/2014/main" id="{CEEF23AD-EA17-135A-DB95-1D1FECB286F3}"/>
              </a:ext>
            </a:extLst>
          </p:cNvPr>
          <p:cNvSpPr/>
          <p:nvPr/>
        </p:nvSpPr>
        <p:spPr>
          <a:xfrm>
            <a:off x="5623509" y="525084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4" name="TextBox 93"/>
          <p:cNvSpPr txBox="1"/>
          <p:nvPr/>
        </p:nvSpPr>
        <p:spPr>
          <a:xfrm>
            <a:off x="316948" y="5677488"/>
            <a:ext cx="663964" cy="276999"/>
          </a:xfrm>
          <a:prstGeom prst="rect">
            <a:avLst/>
          </a:prstGeom>
          <a:noFill/>
        </p:spPr>
        <p:txBody>
          <a:bodyPr wrap="none" rtlCol="0">
            <a:spAutoFit/>
          </a:bodyPr>
          <a:lstStyle/>
          <a:p>
            <a:r>
              <a:rPr lang="en-US" sz="1200"/>
              <a:t>m) 6.74</a:t>
            </a:r>
            <a:endParaRPr lang="en-GB" sz="1200"/>
          </a:p>
        </p:txBody>
      </p:sp>
      <p:sp>
        <p:nvSpPr>
          <p:cNvPr id="95" name="TextBox 94"/>
          <p:cNvSpPr txBox="1"/>
          <p:nvPr/>
        </p:nvSpPr>
        <p:spPr>
          <a:xfrm>
            <a:off x="1369205" y="5668785"/>
            <a:ext cx="620683" cy="276999"/>
          </a:xfrm>
          <a:prstGeom prst="rect">
            <a:avLst/>
          </a:prstGeom>
          <a:noFill/>
        </p:spPr>
        <p:txBody>
          <a:bodyPr wrap="none" rtlCol="0">
            <a:spAutoFit/>
          </a:bodyPr>
          <a:lstStyle/>
          <a:p>
            <a:r>
              <a:rPr lang="en-US" sz="1200"/>
              <a:t>n) 6.89</a:t>
            </a:r>
            <a:endParaRPr lang="en-GB" sz="1200"/>
          </a:p>
        </p:txBody>
      </p:sp>
      <p:sp>
        <p:nvSpPr>
          <p:cNvPr id="96" name="TextBox 95"/>
          <p:cNvSpPr txBox="1"/>
          <p:nvPr/>
        </p:nvSpPr>
        <p:spPr>
          <a:xfrm>
            <a:off x="2445864" y="5668786"/>
            <a:ext cx="622286" cy="276999"/>
          </a:xfrm>
          <a:prstGeom prst="rect">
            <a:avLst/>
          </a:prstGeom>
          <a:noFill/>
        </p:spPr>
        <p:txBody>
          <a:bodyPr wrap="none" rtlCol="0">
            <a:spAutoFit/>
          </a:bodyPr>
          <a:lstStyle/>
          <a:p>
            <a:r>
              <a:rPr lang="en-US" sz="1200"/>
              <a:t>o) 7.49</a:t>
            </a:r>
            <a:endParaRPr lang="en-GB" sz="1200"/>
          </a:p>
        </p:txBody>
      </p:sp>
      <p:sp>
        <p:nvSpPr>
          <p:cNvPr id="97" name="TextBox 96"/>
          <p:cNvSpPr txBox="1"/>
          <p:nvPr/>
        </p:nvSpPr>
        <p:spPr>
          <a:xfrm>
            <a:off x="3452910" y="5691878"/>
            <a:ext cx="620683" cy="276999"/>
          </a:xfrm>
          <a:prstGeom prst="rect">
            <a:avLst/>
          </a:prstGeom>
          <a:noFill/>
        </p:spPr>
        <p:txBody>
          <a:bodyPr wrap="none" rtlCol="0">
            <a:spAutoFit/>
          </a:bodyPr>
          <a:lstStyle/>
          <a:p>
            <a:r>
              <a:rPr lang="en-US" sz="1200"/>
              <a:t>p) 7.52</a:t>
            </a:r>
            <a:endParaRPr lang="en-GB" sz="1200"/>
          </a:p>
        </p:txBody>
      </p:sp>
      <p:sp>
        <p:nvSpPr>
          <p:cNvPr id="98" name="TextBox 97"/>
          <p:cNvSpPr txBox="1"/>
          <p:nvPr/>
        </p:nvSpPr>
        <p:spPr>
          <a:xfrm>
            <a:off x="4556673" y="5688398"/>
            <a:ext cx="620683" cy="276999"/>
          </a:xfrm>
          <a:prstGeom prst="rect">
            <a:avLst/>
          </a:prstGeom>
          <a:noFill/>
        </p:spPr>
        <p:txBody>
          <a:bodyPr wrap="none" rtlCol="0">
            <a:spAutoFit/>
          </a:bodyPr>
          <a:lstStyle/>
          <a:p>
            <a:r>
              <a:rPr lang="en-US" sz="1200"/>
              <a:t>q) 7.68</a:t>
            </a:r>
            <a:endParaRPr lang="en-GB" sz="1200"/>
          </a:p>
        </p:txBody>
      </p:sp>
      <p:sp>
        <p:nvSpPr>
          <p:cNvPr id="99" name="Rectangle 98">
            <a:extLst>
              <a:ext uri="{FF2B5EF4-FFF2-40B4-BE49-F238E27FC236}">
                <a16:creationId xmlns:a16="http://schemas.microsoft.com/office/drawing/2014/main" id="{CEEF23AD-EA17-135A-DB95-1D1FECB286F3}"/>
              </a:ext>
            </a:extLst>
          </p:cNvPr>
          <p:cNvSpPr/>
          <p:nvPr/>
        </p:nvSpPr>
        <p:spPr>
          <a:xfrm>
            <a:off x="348706" y="621293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0" name="Rectangle 99">
            <a:extLst>
              <a:ext uri="{FF2B5EF4-FFF2-40B4-BE49-F238E27FC236}">
                <a16:creationId xmlns:a16="http://schemas.microsoft.com/office/drawing/2014/main" id="{CEEF23AD-EA17-135A-DB95-1D1FECB286F3}"/>
              </a:ext>
            </a:extLst>
          </p:cNvPr>
          <p:cNvSpPr/>
          <p:nvPr/>
        </p:nvSpPr>
        <p:spPr>
          <a:xfrm>
            <a:off x="1392661" y="621293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1" name="Rectangle 100">
            <a:extLst>
              <a:ext uri="{FF2B5EF4-FFF2-40B4-BE49-F238E27FC236}">
                <a16:creationId xmlns:a16="http://schemas.microsoft.com/office/drawing/2014/main" id="{CEEF23AD-EA17-135A-DB95-1D1FECB286F3}"/>
              </a:ext>
            </a:extLst>
          </p:cNvPr>
          <p:cNvSpPr/>
          <p:nvPr/>
        </p:nvSpPr>
        <p:spPr>
          <a:xfrm>
            <a:off x="2448545" y="621293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2" name="Rectangle 101">
            <a:extLst>
              <a:ext uri="{FF2B5EF4-FFF2-40B4-BE49-F238E27FC236}">
                <a16:creationId xmlns:a16="http://schemas.microsoft.com/office/drawing/2014/main" id="{CEEF23AD-EA17-135A-DB95-1D1FECB286F3}"/>
              </a:ext>
            </a:extLst>
          </p:cNvPr>
          <p:cNvSpPr/>
          <p:nvPr/>
        </p:nvSpPr>
        <p:spPr>
          <a:xfrm>
            <a:off x="3522743" y="621293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3" name="Rectangle 102">
            <a:extLst>
              <a:ext uri="{FF2B5EF4-FFF2-40B4-BE49-F238E27FC236}">
                <a16:creationId xmlns:a16="http://schemas.microsoft.com/office/drawing/2014/main" id="{CEEF23AD-EA17-135A-DB95-1D1FECB286F3}"/>
              </a:ext>
            </a:extLst>
          </p:cNvPr>
          <p:cNvSpPr/>
          <p:nvPr/>
        </p:nvSpPr>
        <p:spPr>
          <a:xfrm>
            <a:off x="4574407" y="621293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4" name="TextBox 103"/>
          <p:cNvSpPr txBox="1"/>
          <p:nvPr/>
        </p:nvSpPr>
        <p:spPr>
          <a:xfrm>
            <a:off x="5651686" y="5714045"/>
            <a:ext cx="593432" cy="276999"/>
          </a:xfrm>
          <a:prstGeom prst="rect">
            <a:avLst/>
          </a:prstGeom>
          <a:noFill/>
        </p:spPr>
        <p:txBody>
          <a:bodyPr wrap="none" rtlCol="0">
            <a:spAutoFit/>
          </a:bodyPr>
          <a:lstStyle/>
          <a:p>
            <a:r>
              <a:rPr lang="en-US" sz="1200"/>
              <a:t>r) 7.91</a:t>
            </a:r>
            <a:endParaRPr lang="en-GB" sz="1200"/>
          </a:p>
        </p:txBody>
      </p:sp>
      <p:sp>
        <p:nvSpPr>
          <p:cNvPr id="105" name="Rectangle 104">
            <a:extLst>
              <a:ext uri="{FF2B5EF4-FFF2-40B4-BE49-F238E27FC236}">
                <a16:creationId xmlns:a16="http://schemas.microsoft.com/office/drawing/2014/main" id="{CEEF23AD-EA17-135A-DB95-1D1FECB286F3}"/>
              </a:ext>
            </a:extLst>
          </p:cNvPr>
          <p:cNvSpPr/>
          <p:nvPr/>
        </p:nvSpPr>
        <p:spPr>
          <a:xfrm>
            <a:off x="5623509" y="621293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2" name="TextBox 131"/>
          <p:cNvSpPr txBox="1"/>
          <p:nvPr/>
        </p:nvSpPr>
        <p:spPr>
          <a:xfrm>
            <a:off x="1912100" y="2080748"/>
            <a:ext cx="1419715" cy="1015663"/>
          </a:xfrm>
          <a:prstGeom prst="rect">
            <a:avLst/>
          </a:prstGeom>
          <a:noFill/>
        </p:spPr>
        <p:txBody>
          <a:bodyPr wrap="square" rtlCol="0">
            <a:spAutoFit/>
          </a:bodyPr>
          <a:lstStyle/>
          <a:p>
            <a:pPr algn="ctr"/>
            <a:r>
              <a:rPr lang="en-US" sz="1200"/>
              <a:t>Round 2.21 to one decimal place</a:t>
            </a:r>
          </a:p>
          <a:p>
            <a:pPr algn="ctr"/>
            <a:endParaRPr lang="en-US" sz="1200"/>
          </a:p>
          <a:p>
            <a:pPr algn="ctr"/>
            <a:r>
              <a:rPr lang="en-US" sz="1200"/>
              <a:t>2 . 2 | </a:t>
            </a:r>
            <a:r>
              <a:rPr lang="en-US" sz="1200" u="sng"/>
              <a:t>1</a:t>
            </a:r>
            <a:r>
              <a:rPr lang="en-US" sz="1200"/>
              <a:t>   </a:t>
            </a:r>
          </a:p>
          <a:p>
            <a:pPr algn="ctr"/>
            <a:endParaRPr lang="en-US" sz="1200" u="sng"/>
          </a:p>
        </p:txBody>
      </p:sp>
      <p:sp>
        <p:nvSpPr>
          <p:cNvPr id="133" name="TextBox 132"/>
          <p:cNvSpPr txBox="1"/>
          <p:nvPr/>
        </p:nvSpPr>
        <p:spPr>
          <a:xfrm>
            <a:off x="3444471" y="2090724"/>
            <a:ext cx="1627060" cy="461665"/>
          </a:xfrm>
          <a:prstGeom prst="rect">
            <a:avLst/>
          </a:prstGeom>
          <a:noFill/>
        </p:spPr>
        <p:txBody>
          <a:bodyPr wrap="square" rtlCol="0">
            <a:spAutoFit/>
          </a:bodyPr>
          <a:lstStyle/>
          <a:p>
            <a:pPr algn="ctr"/>
            <a:r>
              <a:rPr lang="en-US" sz="1200"/>
              <a:t>Round 5.05 to one decimal place</a:t>
            </a:r>
          </a:p>
        </p:txBody>
      </p:sp>
      <p:sp>
        <p:nvSpPr>
          <p:cNvPr id="134" name="TextBox 133"/>
          <p:cNvSpPr txBox="1"/>
          <p:nvPr/>
        </p:nvSpPr>
        <p:spPr>
          <a:xfrm>
            <a:off x="5214009" y="2080748"/>
            <a:ext cx="1321082" cy="461665"/>
          </a:xfrm>
          <a:prstGeom prst="rect">
            <a:avLst/>
          </a:prstGeom>
          <a:noFill/>
        </p:spPr>
        <p:txBody>
          <a:bodyPr wrap="square" rtlCol="0">
            <a:spAutoFit/>
          </a:bodyPr>
          <a:lstStyle/>
          <a:p>
            <a:pPr algn="ctr"/>
            <a:r>
              <a:rPr lang="en-US" sz="1200"/>
              <a:t>Round 4.78 to one decimal place</a:t>
            </a:r>
          </a:p>
        </p:txBody>
      </p:sp>
      <p:sp>
        <p:nvSpPr>
          <p:cNvPr id="135" name="Rectangle 134">
            <a:extLst>
              <a:ext uri="{FF2B5EF4-FFF2-40B4-BE49-F238E27FC236}">
                <a16:creationId xmlns:a16="http://schemas.microsoft.com/office/drawing/2014/main" id="{CEEF23AD-EA17-135A-DB95-1D1FECB286F3}"/>
              </a:ext>
            </a:extLst>
          </p:cNvPr>
          <p:cNvSpPr/>
          <p:nvPr/>
        </p:nvSpPr>
        <p:spPr>
          <a:xfrm>
            <a:off x="1897333" y="290999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FF0000"/>
              </a:solidFill>
            </a:endParaRPr>
          </a:p>
        </p:txBody>
      </p:sp>
      <p:sp>
        <p:nvSpPr>
          <p:cNvPr id="136" name="Rectangle 135">
            <a:extLst>
              <a:ext uri="{FF2B5EF4-FFF2-40B4-BE49-F238E27FC236}">
                <a16:creationId xmlns:a16="http://schemas.microsoft.com/office/drawing/2014/main" id="{CEEF23AD-EA17-135A-DB95-1D1FECB286F3}"/>
              </a:ext>
            </a:extLst>
          </p:cNvPr>
          <p:cNvSpPr/>
          <p:nvPr/>
        </p:nvSpPr>
        <p:spPr>
          <a:xfrm>
            <a:off x="3521808" y="290531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FF0000"/>
              </a:solidFill>
            </a:endParaRPr>
          </a:p>
        </p:txBody>
      </p:sp>
      <p:sp>
        <p:nvSpPr>
          <p:cNvPr id="137" name="Rectangle 136">
            <a:extLst>
              <a:ext uri="{FF2B5EF4-FFF2-40B4-BE49-F238E27FC236}">
                <a16:creationId xmlns:a16="http://schemas.microsoft.com/office/drawing/2014/main" id="{CEEF23AD-EA17-135A-DB95-1D1FECB286F3}"/>
              </a:ext>
            </a:extLst>
          </p:cNvPr>
          <p:cNvSpPr/>
          <p:nvPr/>
        </p:nvSpPr>
        <p:spPr>
          <a:xfrm>
            <a:off x="5164724" y="290531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FF0000"/>
              </a:solidFill>
            </a:endParaRPr>
          </a:p>
        </p:txBody>
      </p:sp>
      <p:cxnSp>
        <p:nvCxnSpPr>
          <p:cNvPr id="138" name="Straight Connector 137">
            <a:extLst>
              <a:ext uri="{FF2B5EF4-FFF2-40B4-BE49-F238E27FC236}">
                <a16:creationId xmlns:a16="http://schemas.microsoft.com/office/drawing/2014/main" id="{B4A988A4-03CD-D549-9F12-81AFECBDEF37}"/>
              </a:ext>
            </a:extLst>
          </p:cNvPr>
          <p:cNvCxnSpPr>
            <a:cxnSpLocks/>
          </p:cNvCxnSpPr>
          <p:nvPr/>
        </p:nvCxnSpPr>
        <p:spPr>
          <a:xfrm>
            <a:off x="989209" y="8404865"/>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139" name="Table 138"/>
          <p:cNvGraphicFramePr>
            <a:graphicFrameLocks noGrp="1"/>
          </p:cNvGraphicFramePr>
          <p:nvPr/>
        </p:nvGraphicFramePr>
        <p:xfrm>
          <a:off x="190950" y="6960492"/>
          <a:ext cx="6543680" cy="280416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185400">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Round each number to one decimal place.</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545293">
                <a:tc>
                  <a:txBody>
                    <a:bodyPr/>
                    <a:lstStyle/>
                    <a:p>
                      <a:pPr marL="0" indent="0">
                        <a:buNone/>
                      </a:pPr>
                      <a:r>
                        <a:rPr lang="en-US" sz="1100"/>
                        <a:t>1)</a:t>
                      </a:r>
                      <a:r>
                        <a:rPr lang="en-US" sz="1100" baseline="0"/>
                        <a:t> </a:t>
                      </a:r>
                      <a:r>
                        <a:rPr lang="en-US" sz="1100"/>
                        <a:t>Draw a line between the value in the tenths column and the hundredths</a:t>
                      </a:r>
                      <a:r>
                        <a:rPr lang="en-US" sz="1100" baseline="0"/>
                        <a:t> column.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25329">
                <a:tc>
                  <a:txBody>
                    <a:bodyPr/>
                    <a:lstStyle/>
                    <a:p>
                      <a:pPr marL="0" indent="0">
                        <a:buNone/>
                      </a:pPr>
                      <a:r>
                        <a:rPr lang="en-US" sz="1100"/>
                        <a:t>2) Underline the number in the hundredths column.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425329">
                <a:tc>
                  <a:txBody>
                    <a:bodyPr/>
                    <a:lstStyle/>
                    <a:p>
                      <a:pPr marL="0" indent="0">
                        <a:buNone/>
                      </a:pPr>
                      <a:r>
                        <a:rPr lang="en-US" sz="1100"/>
                        <a:t>3) If it is </a:t>
                      </a:r>
                      <a:r>
                        <a:rPr lang="en-US" sz="1100" b="1"/>
                        <a:t>below 5</a:t>
                      </a:r>
                      <a:r>
                        <a:rPr lang="en-US" sz="1100"/>
                        <a:t>, then the tenths column stays the same.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r h="4253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4)</a:t>
                      </a:r>
                      <a:r>
                        <a:rPr lang="en-US" sz="1100"/>
                        <a:t> If it is </a:t>
                      </a:r>
                      <a:r>
                        <a:rPr lang="en-US" sz="1100" b="1"/>
                        <a:t>5 or above</a:t>
                      </a:r>
                      <a:r>
                        <a:rPr lang="en-US" sz="1100"/>
                        <a:t>, then the tenths column is rounded up.</a:t>
                      </a:r>
                      <a:endParaRPr lang="en-GB"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9025439"/>
                  </a:ext>
                </a:extLst>
              </a:tr>
            </a:tbl>
          </a:graphicData>
        </a:graphic>
      </p:graphicFrame>
      <p:sp>
        <p:nvSpPr>
          <p:cNvPr id="140" name="TextBox 139">
            <a:extLst>
              <a:ext uri="{FF2B5EF4-FFF2-40B4-BE49-F238E27FC236}">
                <a16:creationId xmlns:a16="http://schemas.microsoft.com/office/drawing/2014/main" id="{BCDC1A2B-2D26-C945-B722-18950FA49879}"/>
              </a:ext>
            </a:extLst>
          </p:cNvPr>
          <p:cNvSpPr txBox="1"/>
          <p:nvPr/>
        </p:nvSpPr>
        <p:spPr>
          <a:xfrm>
            <a:off x="1972569" y="6703208"/>
            <a:ext cx="1410704" cy="276999"/>
          </a:xfrm>
          <a:prstGeom prst="rect">
            <a:avLst/>
          </a:prstGeom>
          <a:noFill/>
          <a:ln>
            <a:noFill/>
          </a:ln>
        </p:spPr>
        <p:txBody>
          <a:bodyPr wrap="square" rtlCol="0">
            <a:spAutoFit/>
          </a:bodyPr>
          <a:lstStyle/>
          <a:p>
            <a:r>
              <a:rPr lang="en-GB" sz="1200" b="1" i="1">
                <a:solidFill>
                  <a:srgbClr val="FF0000"/>
                </a:solidFill>
              </a:rPr>
              <a:t>Example 7 - I do…</a:t>
            </a:r>
          </a:p>
        </p:txBody>
      </p:sp>
      <p:sp>
        <p:nvSpPr>
          <p:cNvPr id="141" name="TextBox 140">
            <a:extLst>
              <a:ext uri="{FF2B5EF4-FFF2-40B4-BE49-F238E27FC236}">
                <a16:creationId xmlns:a16="http://schemas.microsoft.com/office/drawing/2014/main" id="{4AF4150A-9218-D640-8777-2ECCBC4D10FB}"/>
              </a:ext>
            </a:extLst>
          </p:cNvPr>
          <p:cNvSpPr txBox="1"/>
          <p:nvPr/>
        </p:nvSpPr>
        <p:spPr>
          <a:xfrm>
            <a:off x="5106466" y="6681100"/>
            <a:ext cx="1643405" cy="276999"/>
          </a:xfrm>
          <a:prstGeom prst="rect">
            <a:avLst/>
          </a:prstGeom>
          <a:noFill/>
          <a:ln>
            <a:noFill/>
          </a:ln>
        </p:spPr>
        <p:txBody>
          <a:bodyPr wrap="square" rtlCol="0">
            <a:spAutoFit/>
          </a:bodyPr>
          <a:lstStyle/>
          <a:p>
            <a:r>
              <a:rPr lang="en-GB" sz="1200" b="1" i="1">
                <a:solidFill>
                  <a:srgbClr val="00B050"/>
                </a:solidFill>
              </a:rPr>
              <a:t>Example 9 – You do…</a:t>
            </a:r>
          </a:p>
        </p:txBody>
      </p:sp>
      <p:sp>
        <p:nvSpPr>
          <p:cNvPr id="142" name="TextBox 141">
            <a:extLst>
              <a:ext uri="{FF2B5EF4-FFF2-40B4-BE49-F238E27FC236}">
                <a16:creationId xmlns:a16="http://schemas.microsoft.com/office/drawing/2014/main" id="{BCDC1A2B-2D26-C945-B722-18950FA49879}"/>
              </a:ext>
            </a:extLst>
          </p:cNvPr>
          <p:cNvSpPr txBox="1"/>
          <p:nvPr/>
        </p:nvSpPr>
        <p:spPr>
          <a:xfrm>
            <a:off x="3497287" y="6693201"/>
            <a:ext cx="1667605" cy="276999"/>
          </a:xfrm>
          <a:prstGeom prst="rect">
            <a:avLst/>
          </a:prstGeom>
          <a:noFill/>
          <a:ln>
            <a:noFill/>
          </a:ln>
        </p:spPr>
        <p:txBody>
          <a:bodyPr wrap="square" rtlCol="0">
            <a:spAutoFit/>
          </a:bodyPr>
          <a:lstStyle/>
          <a:p>
            <a:r>
              <a:rPr lang="en-GB" sz="1200" b="1" i="1">
                <a:solidFill>
                  <a:schemeClr val="accent2"/>
                </a:solidFill>
              </a:rPr>
              <a:t>Example 8 - We do…</a:t>
            </a:r>
          </a:p>
        </p:txBody>
      </p:sp>
      <p:sp>
        <p:nvSpPr>
          <p:cNvPr id="143" name="TextBox 142"/>
          <p:cNvSpPr txBox="1"/>
          <p:nvPr/>
        </p:nvSpPr>
        <p:spPr>
          <a:xfrm>
            <a:off x="1947035" y="7247499"/>
            <a:ext cx="1419715" cy="1015663"/>
          </a:xfrm>
          <a:prstGeom prst="rect">
            <a:avLst/>
          </a:prstGeom>
          <a:noFill/>
        </p:spPr>
        <p:txBody>
          <a:bodyPr wrap="square" rtlCol="0">
            <a:spAutoFit/>
          </a:bodyPr>
          <a:lstStyle/>
          <a:p>
            <a:pPr algn="ctr"/>
            <a:r>
              <a:rPr lang="en-US" sz="1200"/>
              <a:t>Round 1.95 to one decimal place</a:t>
            </a:r>
          </a:p>
          <a:p>
            <a:pPr algn="ctr"/>
            <a:endParaRPr lang="en-US" sz="1200"/>
          </a:p>
          <a:p>
            <a:pPr algn="ctr"/>
            <a:r>
              <a:rPr lang="en-US" sz="1200"/>
              <a:t>1 . 9 | </a:t>
            </a:r>
            <a:r>
              <a:rPr lang="en-US" sz="1200" u="sng"/>
              <a:t>5</a:t>
            </a:r>
            <a:r>
              <a:rPr lang="en-US" sz="1200"/>
              <a:t>   </a:t>
            </a:r>
          </a:p>
          <a:p>
            <a:pPr algn="ctr"/>
            <a:endParaRPr lang="en-US" sz="1200" u="sng"/>
          </a:p>
        </p:txBody>
      </p:sp>
      <p:sp>
        <p:nvSpPr>
          <p:cNvPr id="144" name="TextBox 143"/>
          <p:cNvSpPr txBox="1"/>
          <p:nvPr/>
        </p:nvSpPr>
        <p:spPr>
          <a:xfrm>
            <a:off x="3479406" y="7257475"/>
            <a:ext cx="1627060" cy="461665"/>
          </a:xfrm>
          <a:prstGeom prst="rect">
            <a:avLst/>
          </a:prstGeom>
          <a:noFill/>
        </p:spPr>
        <p:txBody>
          <a:bodyPr wrap="square" rtlCol="0">
            <a:spAutoFit/>
          </a:bodyPr>
          <a:lstStyle/>
          <a:p>
            <a:pPr algn="ctr"/>
            <a:r>
              <a:rPr lang="en-US" sz="1200"/>
              <a:t>Round 3.96 to one decimal place</a:t>
            </a:r>
          </a:p>
        </p:txBody>
      </p:sp>
      <p:sp>
        <p:nvSpPr>
          <p:cNvPr id="145" name="TextBox 144"/>
          <p:cNvSpPr txBox="1"/>
          <p:nvPr/>
        </p:nvSpPr>
        <p:spPr>
          <a:xfrm>
            <a:off x="5248944" y="7247499"/>
            <a:ext cx="1321082" cy="461665"/>
          </a:xfrm>
          <a:prstGeom prst="rect">
            <a:avLst/>
          </a:prstGeom>
          <a:noFill/>
        </p:spPr>
        <p:txBody>
          <a:bodyPr wrap="square" rtlCol="0">
            <a:spAutoFit/>
          </a:bodyPr>
          <a:lstStyle/>
          <a:p>
            <a:pPr algn="ctr"/>
            <a:r>
              <a:rPr lang="en-US" sz="1200"/>
              <a:t>Round 4.98 to one decimal place</a:t>
            </a:r>
          </a:p>
        </p:txBody>
      </p:sp>
      <p:sp>
        <p:nvSpPr>
          <p:cNvPr id="146" name="Rectangle 145">
            <a:extLst>
              <a:ext uri="{FF2B5EF4-FFF2-40B4-BE49-F238E27FC236}">
                <a16:creationId xmlns:a16="http://schemas.microsoft.com/office/drawing/2014/main" id="{CEEF23AD-EA17-135A-DB95-1D1FECB286F3}"/>
              </a:ext>
            </a:extLst>
          </p:cNvPr>
          <p:cNvSpPr/>
          <p:nvPr/>
        </p:nvSpPr>
        <p:spPr>
          <a:xfrm>
            <a:off x="1932268" y="807674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7" name="Rectangle 146">
            <a:extLst>
              <a:ext uri="{FF2B5EF4-FFF2-40B4-BE49-F238E27FC236}">
                <a16:creationId xmlns:a16="http://schemas.microsoft.com/office/drawing/2014/main" id="{CEEF23AD-EA17-135A-DB95-1D1FECB286F3}"/>
              </a:ext>
            </a:extLst>
          </p:cNvPr>
          <p:cNvSpPr/>
          <p:nvPr/>
        </p:nvSpPr>
        <p:spPr>
          <a:xfrm>
            <a:off x="3556743" y="8072070"/>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8" name="Rectangle 147">
            <a:extLst>
              <a:ext uri="{FF2B5EF4-FFF2-40B4-BE49-F238E27FC236}">
                <a16:creationId xmlns:a16="http://schemas.microsoft.com/office/drawing/2014/main" id="{CEEF23AD-EA17-135A-DB95-1D1FECB286F3}"/>
              </a:ext>
            </a:extLst>
          </p:cNvPr>
          <p:cNvSpPr/>
          <p:nvPr/>
        </p:nvSpPr>
        <p:spPr>
          <a:xfrm>
            <a:off x="5199659" y="8072070"/>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9" name="TextBox 148"/>
          <p:cNvSpPr txBox="1"/>
          <p:nvPr/>
        </p:nvSpPr>
        <p:spPr>
          <a:xfrm>
            <a:off x="1947035" y="8498930"/>
            <a:ext cx="1419715" cy="1015663"/>
          </a:xfrm>
          <a:prstGeom prst="rect">
            <a:avLst/>
          </a:prstGeom>
          <a:noFill/>
        </p:spPr>
        <p:txBody>
          <a:bodyPr wrap="square" rtlCol="0">
            <a:spAutoFit/>
          </a:bodyPr>
          <a:lstStyle/>
          <a:p>
            <a:pPr algn="ctr"/>
            <a:r>
              <a:rPr lang="en-US" sz="1200"/>
              <a:t>Round 2.99 to one decimal place</a:t>
            </a:r>
          </a:p>
          <a:p>
            <a:pPr algn="ctr"/>
            <a:endParaRPr lang="en-US" sz="1200"/>
          </a:p>
          <a:p>
            <a:pPr algn="ctr"/>
            <a:r>
              <a:rPr lang="en-US" sz="1200"/>
              <a:t>2 . 9 | </a:t>
            </a:r>
            <a:r>
              <a:rPr lang="en-US" sz="1200" u="sng"/>
              <a:t>9</a:t>
            </a:r>
            <a:r>
              <a:rPr lang="en-US" sz="1200"/>
              <a:t>   </a:t>
            </a:r>
          </a:p>
          <a:p>
            <a:pPr algn="ctr"/>
            <a:endParaRPr lang="en-US" sz="1200" u="sng"/>
          </a:p>
        </p:txBody>
      </p:sp>
      <p:sp>
        <p:nvSpPr>
          <p:cNvPr id="150" name="TextBox 149"/>
          <p:cNvSpPr txBox="1"/>
          <p:nvPr/>
        </p:nvSpPr>
        <p:spPr>
          <a:xfrm>
            <a:off x="3479406" y="8508906"/>
            <a:ext cx="1627060" cy="461665"/>
          </a:xfrm>
          <a:prstGeom prst="rect">
            <a:avLst/>
          </a:prstGeom>
          <a:noFill/>
        </p:spPr>
        <p:txBody>
          <a:bodyPr wrap="square" rtlCol="0">
            <a:spAutoFit/>
          </a:bodyPr>
          <a:lstStyle/>
          <a:p>
            <a:pPr algn="ctr"/>
            <a:r>
              <a:rPr lang="en-US" sz="1200"/>
              <a:t>Round 5.95 to one decimal place</a:t>
            </a:r>
          </a:p>
        </p:txBody>
      </p:sp>
      <p:sp>
        <p:nvSpPr>
          <p:cNvPr id="151" name="TextBox 150"/>
          <p:cNvSpPr txBox="1"/>
          <p:nvPr/>
        </p:nvSpPr>
        <p:spPr>
          <a:xfrm>
            <a:off x="5248944" y="8498930"/>
            <a:ext cx="1321082" cy="461665"/>
          </a:xfrm>
          <a:prstGeom prst="rect">
            <a:avLst/>
          </a:prstGeom>
          <a:noFill/>
        </p:spPr>
        <p:txBody>
          <a:bodyPr wrap="square" rtlCol="0">
            <a:spAutoFit/>
          </a:bodyPr>
          <a:lstStyle/>
          <a:p>
            <a:pPr algn="ctr"/>
            <a:r>
              <a:rPr lang="en-US" sz="1200"/>
              <a:t>Round 7.97 to one decimal place</a:t>
            </a:r>
          </a:p>
        </p:txBody>
      </p:sp>
      <p:sp>
        <p:nvSpPr>
          <p:cNvPr id="152" name="Rectangle 151">
            <a:extLst>
              <a:ext uri="{FF2B5EF4-FFF2-40B4-BE49-F238E27FC236}">
                <a16:creationId xmlns:a16="http://schemas.microsoft.com/office/drawing/2014/main" id="{CEEF23AD-EA17-135A-DB95-1D1FECB286F3}"/>
              </a:ext>
            </a:extLst>
          </p:cNvPr>
          <p:cNvSpPr/>
          <p:nvPr/>
        </p:nvSpPr>
        <p:spPr>
          <a:xfrm>
            <a:off x="1932268" y="932817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3" name="Rectangle 152">
            <a:extLst>
              <a:ext uri="{FF2B5EF4-FFF2-40B4-BE49-F238E27FC236}">
                <a16:creationId xmlns:a16="http://schemas.microsoft.com/office/drawing/2014/main" id="{CEEF23AD-EA17-135A-DB95-1D1FECB286F3}"/>
              </a:ext>
            </a:extLst>
          </p:cNvPr>
          <p:cNvSpPr/>
          <p:nvPr/>
        </p:nvSpPr>
        <p:spPr>
          <a:xfrm>
            <a:off x="3556743" y="932350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4" name="Rectangle 153">
            <a:extLst>
              <a:ext uri="{FF2B5EF4-FFF2-40B4-BE49-F238E27FC236}">
                <a16:creationId xmlns:a16="http://schemas.microsoft.com/office/drawing/2014/main" id="{CEEF23AD-EA17-135A-DB95-1D1FECB286F3}"/>
              </a:ext>
            </a:extLst>
          </p:cNvPr>
          <p:cNvSpPr/>
          <p:nvPr/>
        </p:nvSpPr>
        <p:spPr>
          <a:xfrm>
            <a:off x="5199659" y="932350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5"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19</a:t>
            </a:fld>
            <a:endParaRPr lang="en-GB"/>
          </a:p>
        </p:txBody>
      </p:sp>
      <p:sp>
        <p:nvSpPr>
          <p:cNvPr id="10" name="Rectangle 9">
            <a:extLst>
              <a:ext uri="{FF2B5EF4-FFF2-40B4-BE49-F238E27FC236}">
                <a16:creationId xmlns:a16="http://schemas.microsoft.com/office/drawing/2014/main" id="{0501D5D4-BC8A-2E8C-B3B2-37FCF408A3FE}"/>
              </a:ext>
            </a:extLst>
          </p:cNvPr>
          <p:cNvSpPr/>
          <p:nvPr/>
        </p:nvSpPr>
        <p:spPr>
          <a:xfrm>
            <a:off x="156015" y="339706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11" name="Rectangle 10">
            <a:extLst>
              <a:ext uri="{FF2B5EF4-FFF2-40B4-BE49-F238E27FC236}">
                <a16:creationId xmlns:a16="http://schemas.microsoft.com/office/drawing/2014/main" id="{02E8A77D-2499-681F-7483-A76D9B6CCEEE}"/>
              </a:ext>
            </a:extLst>
          </p:cNvPr>
          <p:cNvSpPr/>
          <p:nvPr/>
        </p:nvSpPr>
        <p:spPr>
          <a:xfrm>
            <a:off x="135657" y="26292"/>
            <a:ext cx="4943540"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Rounding without using a number line</a:t>
            </a:r>
            <a:endParaRPr lang="en-GB" sz="1200">
              <a:solidFill>
                <a:schemeClr val="bg1"/>
              </a:solidFill>
            </a:endParaRPr>
          </a:p>
        </p:txBody>
      </p:sp>
    </p:spTree>
    <p:extLst>
      <p:ext uri="{BB962C8B-B14F-4D97-AF65-F5344CB8AC3E}">
        <p14:creationId xmlns:p14="http://schemas.microsoft.com/office/powerpoint/2010/main" val="767224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46502" y="66588"/>
            <a:ext cx="3015762" cy="276999"/>
          </a:xfrm>
          <a:prstGeom prst="rect">
            <a:avLst/>
          </a:prstGeom>
          <a:noFill/>
        </p:spPr>
        <p:txBody>
          <a:bodyPr wrap="none" rtlCol="0">
            <a:spAutoFit/>
          </a:bodyPr>
          <a:lstStyle/>
          <a:p>
            <a:r>
              <a:rPr lang="en-US" sz="1200"/>
              <a:t>3. Round each number to one decimal place. </a:t>
            </a:r>
            <a:endParaRPr lang="en-GB" sz="1200"/>
          </a:p>
        </p:txBody>
      </p:sp>
      <p:sp>
        <p:nvSpPr>
          <p:cNvPr id="61" name="TextBox 60"/>
          <p:cNvSpPr txBox="1"/>
          <p:nvPr/>
        </p:nvSpPr>
        <p:spPr>
          <a:xfrm>
            <a:off x="393011" y="435939"/>
            <a:ext cx="614271" cy="276999"/>
          </a:xfrm>
          <a:prstGeom prst="rect">
            <a:avLst/>
          </a:prstGeom>
          <a:noFill/>
        </p:spPr>
        <p:txBody>
          <a:bodyPr wrap="none" rtlCol="0">
            <a:spAutoFit/>
          </a:bodyPr>
          <a:lstStyle/>
          <a:p>
            <a:r>
              <a:rPr lang="en-US" sz="1200"/>
              <a:t>a) 0.95</a:t>
            </a:r>
            <a:endParaRPr lang="en-GB" sz="1200"/>
          </a:p>
        </p:txBody>
      </p:sp>
      <p:sp>
        <p:nvSpPr>
          <p:cNvPr id="62" name="TextBox 61"/>
          <p:cNvSpPr txBox="1"/>
          <p:nvPr/>
        </p:nvSpPr>
        <p:spPr>
          <a:xfrm>
            <a:off x="1445268" y="427236"/>
            <a:ext cx="620683" cy="276999"/>
          </a:xfrm>
          <a:prstGeom prst="rect">
            <a:avLst/>
          </a:prstGeom>
          <a:noFill/>
        </p:spPr>
        <p:txBody>
          <a:bodyPr wrap="none" rtlCol="0">
            <a:spAutoFit/>
          </a:bodyPr>
          <a:lstStyle/>
          <a:p>
            <a:r>
              <a:rPr lang="en-US" sz="1200"/>
              <a:t>b) 1.95</a:t>
            </a:r>
            <a:endParaRPr lang="en-GB" sz="1200"/>
          </a:p>
        </p:txBody>
      </p:sp>
      <p:sp>
        <p:nvSpPr>
          <p:cNvPr id="63" name="TextBox 62"/>
          <p:cNvSpPr txBox="1"/>
          <p:nvPr/>
        </p:nvSpPr>
        <p:spPr>
          <a:xfrm>
            <a:off x="2521927" y="427237"/>
            <a:ext cx="606256" cy="276999"/>
          </a:xfrm>
          <a:prstGeom prst="rect">
            <a:avLst/>
          </a:prstGeom>
          <a:noFill/>
        </p:spPr>
        <p:txBody>
          <a:bodyPr wrap="none" rtlCol="0">
            <a:spAutoFit/>
          </a:bodyPr>
          <a:lstStyle/>
          <a:p>
            <a:r>
              <a:rPr lang="en-US" sz="1200"/>
              <a:t>c) 2.95</a:t>
            </a:r>
            <a:endParaRPr lang="en-GB" sz="1200"/>
          </a:p>
        </p:txBody>
      </p:sp>
      <p:sp>
        <p:nvSpPr>
          <p:cNvPr id="64" name="TextBox 63"/>
          <p:cNvSpPr txBox="1"/>
          <p:nvPr/>
        </p:nvSpPr>
        <p:spPr>
          <a:xfrm>
            <a:off x="3528973" y="450329"/>
            <a:ext cx="620683" cy="276999"/>
          </a:xfrm>
          <a:prstGeom prst="rect">
            <a:avLst/>
          </a:prstGeom>
          <a:noFill/>
        </p:spPr>
        <p:txBody>
          <a:bodyPr wrap="none" rtlCol="0">
            <a:spAutoFit/>
          </a:bodyPr>
          <a:lstStyle/>
          <a:p>
            <a:r>
              <a:rPr lang="en-US" sz="1200"/>
              <a:t>d) 3.92</a:t>
            </a:r>
            <a:endParaRPr lang="en-GB" sz="1200"/>
          </a:p>
        </p:txBody>
      </p:sp>
      <p:sp>
        <p:nvSpPr>
          <p:cNvPr id="65" name="TextBox 64"/>
          <p:cNvSpPr txBox="1"/>
          <p:nvPr/>
        </p:nvSpPr>
        <p:spPr>
          <a:xfrm>
            <a:off x="4632736" y="446849"/>
            <a:ext cx="617477" cy="276999"/>
          </a:xfrm>
          <a:prstGeom prst="rect">
            <a:avLst/>
          </a:prstGeom>
          <a:noFill/>
        </p:spPr>
        <p:txBody>
          <a:bodyPr wrap="none" rtlCol="0">
            <a:spAutoFit/>
          </a:bodyPr>
          <a:lstStyle/>
          <a:p>
            <a:r>
              <a:rPr lang="en-US" sz="1200"/>
              <a:t>e) 3.94</a:t>
            </a:r>
            <a:endParaRPr lang="en-GB" sz="1200"/>
          </a:p>
        </p:txBody>
      </p:sp>
      <p:sp>
        <p:nvSpPr>
          <p:cNvPr id="66" name="Rectangle 65">
            <a:extLst>
              <a:ext uri="{FF2B5EF4-FFF2-40B4-BE49-F238E27FC236}">
                <a16:creationId xmlns:a16="http://schemas.microsoft.com/office/drawing/2014/main" id="{CEEF23AD-EA17-135A-DB95-1D1FECB286F3}"/>
              </a:ext>
            </a:extLst>
          </p:cNvPr>
          <p:cNvSpPr/>
          <p:nvPr/>
        </p:nvSpPr>
        <p:spPr>
          <a:xfrm>
            <a:off x="424769" y="100862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CEEF23AD-EA17-135A-DB95-1D1FECB286F3}"/>
              </a:ext>
            </a:extLst>
          </p:cNvPr>
          <p:cNvSpPr/>
          <p:nvPr/>
        </p:nvSpPr>
        <p:spPr>
          <a:xfrm>
            <a:off x="1468724" y="100862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Rectangle 67">
            <a:extLst>
              <a:ext uri="{FF2B5EF4-FFF2-40B4-BE49-F238E27FC236}">
                <a16:creationId xmlns:a16="http://schemas.microsoft.com/office/drawing/2014/main" id="{CEEF23AD-EA17-135A-DB95-1D1FECB286F3}"/>
              </a:ext>
            </a:extLst>
          </p:cNvPr>
          <p:cNvSpPr/>
          <p:nvPr/>
        </p:nvSpPr>
        <p:spPr>
          <a:xfrm>
            <a:off x="2524608" y="100862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9" name="Rectangle 68">
            <a:extLst>
              <a:ext uri="{FF2B5EF4-FFF2-40B4-BE49-F238E27FC236}">
                <a16:creationId xmlns:a16="http://schemas.microsoft.com/office/drawing/2014/main" id="{CEEF23AD-EA17-135A-DB95-1D1FECB286F3}"/>
              </a:ext>
            </a:extLst>
          </p:cNvPr>
          <p:cNvSpPr/>
          <p:nvPr/>
        </p:nvSpPr>
        <p:spPr>
          <a:xfrm>
            <a:off x="3598806" y="100862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CEEF23AD-EA17-135A-DB95-1D1FECB286F3}"/>
              </a:ext>
            </a:extLst>
          </p:cNvPr>
          <p:cNvSpPr/>
          <p:nvPr/>
        </p:nvSpPr>
        <p:spPr>
          <a:xfrm>
            <a:off x="4650470" y="100862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1" name="TextBox 70"/>
          <p:cNvSpPr txBox="1"/>
          <p:nvPr/>
        </p:nvSpPr>
        <p:spPr>
          <a:xfrm>
            <a:off x="5727749" y="472496"/>
            <a:ext cx="589264" cy="276999"/>
          </a:xfrm>
          <a:prstGeom prst="rect">
            <a:avLst/>
          </a:prstGeom>
          <a:noFill/>
        </p:spPr>
        <p:txBody>
          <a:bodyPr wrap="none" rtlCol="0">
            <a:spAutoFit/>
          </a:bodyPr>
          <a:lstStyle/>
          <a:p>
            <a:r>
              <a:rPr lang="en-US" sz="1200"/>
              <a:t>f) 3.95</a:t>
            </a:r>
            <a:endParaRPr lang="en-GB" sz="1200"/>
          </a:p>
        </p:txBody>
      </p:sp>
      <p:sp>
        <p:nvSpPr>
          <p:cNvPr id="72" name="Rectangle 71">
            <a:extLst>
              <a:ext uri="{FF2B5EF4-FFF2-40B4-BE49-F238E27FC236}">
                <a16:creationId xmlns:a16="http://schemas.microsoft.com/office/drawing/2014/main" id="{CEEF23AD-EA17-135A-DB95-1D1FECB286F3}"/>
              </a:ext>
            </a:extLst>
          </p:cNvPr>
          <p:cNvSpPr/>
          <p:nvPr/>
        </p:nvSpPr>
        <p:spPr>
          <a:xfrm>
            <a:off x="5699572" y="100862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3" name="TextBox 72"/>
          <p:cNvSpPr txBox="1"/>
          <p:nvPr/>
        </p:nvSpPr>
        <p:spPr>
          <a:xfrm>
            <a:off x="424769" y="1407507"/>
            <a:ext cx="612668" cy="276999"/>
          </a:xfrm>
          <a:prstGeom prst="rect">
            <a:avLst/>
          </a:prstGeom>
          <a:noFill/>
        </p:spPr>
        <p:txBody>
          <a:bodyPr wrap="none" rtlCol="0">
            <a:spAutoFit/>
          </a:bodyPr>
          <a:lstStyle/>
          <a:p>
            <a:r>
              <a:rPr lang="en-US" sz="1200"/>
              <a:t>g) 4.99</a:t>
            </a:r>
            <a:endParaRPr lang="en-GB" sz="1200"/>
          </a:p>
        </p:txBody>
      </p:sp>
      <p:sp>
        <p:nvSpPr>
          <p:cNvPr id="74" name="TextBox 73"/>
          <p:cNvSpPr txBox="1"/>
          <p:nvPr/>
        </p:nvSpPr>
        <p:spPr>
          <a:xfrm>
            <a:off x="1477026" y="1398804"/>
            <a:ext cx="620683" cy="276999"/>
          </a:xfrm>
          <a:prstGeom prst="rect">
            <a:avLst/>
          </a:prstGeom>
          <a:noFill/>
        </p:spPr>
        <p:txBody>
          <a:bodyPr wrap="none" rtlCol="0">
            <a:spAutoFit/>
          </a:bodyPr>
          <a:lstStyle/>
          <a:p>
            <a:r>
              <a:rPr lang="en-US" sz="1200"/>
              <a:t>h) 9.95</a:t>
            </a:r>
            <a:endParaRPr lang="en-GB" sz="1200"/>
          </a:p>
        </p:txBody>
      </p:sp>
      <p:sp>
        <p:nvSpPr>
          <p:cNvPr id="75" name="TextBox 74"/>
          <p:cNvSpPr txBox="1"/>
          <p:nvPr/>
        </p:nvSpPr>
        <p:spPr>
          <a:xfrm>
            <a:off x="2553685" y="1398805"/>
            <a:ext cx="575799" cy="276999"/>
          </a:xfrm>
          <a:prstGeom prst="rect">
            <a:avLst/>
          </a:prstGeom>
          <a:noFill/>
        </p:spPr>
        <p:txBody>
          <a:bodyPr wrap="none" rtlCol="0">
            <a:spAutoFit/>
          </a:bodyPr>
          <a:lstStyle/>
          <a:p>
            <a:r>
              <a:rPr lang="en-US" sz="1200"/>
              <a:t>i) 5.97</a:t>
            </a:r>
            <a:endParaRPr lang="en-GB" sz="1200"/>
          </a:p>
        </p:txBody>
      </p:sp>
      <p:sp>
        <p:nvSpPr>
          <p:cNvPr id="76" name="TextBox 75"/>
          <p:cNvSpPr txBox="1"/>
          <p:nvPr/>
        </p:nvSpPr>
        <p:spPr>
          <a:xfrm>
            <a:off x="3560731" y="1421897"/>
            <a:ext cx="577402" cy="276999"/>
          </a:xfrm>
          <a:prstGeom prst="rect">
            <a:avLst/>
          </a:prstGeom>
          <a:noFill/>
        </p:spPr>
        <p:txBody>
          <a:bodyPr wrap="none" rtlCol="0">
            <a:spAutoFit/>
          </a:bodyPr>
          <a:lstStyle/>
          <a:p>
            <a:r>
              <a:rPr lang="en-US" sz="1200"/>
              <a:t>j) 5.99</a:t>
            </a:r>
            <a:endParaRPr lang="en-GB" sz="1200"/>
          </a:p>
        </p:txBody>
      </p:sp>
      <p:sp>
        <p:nvSpPr>
          <p:cNvPr id="77" name="TextBox 76"/>
          <p:cNvSpPr txBox="1"/>
          <p:nvPr/>
        </p:nvSpPr>
        <p:spPr>
          <a:xfrm>
            <a:off x="4664494" y="1418417"/>
            <a:ext cx="611065" cy="276999"/>
          </a:xfrm>
          <a:prstGeom prst="rect">
            <a:avLst/>
          </a:prstGeom>
          <a:noFill/>
        </p:spPr>
        <p:txBody>
          <a:bodyPr wrap="none" rtlCol="0">
            <a:spAutoFit/>
          </a:bodyPr>
          <a:lstStyle/>
          <a:p>
            <a:r>
              <a:rPr lang="en-US" sz="1200"/>
              <a:t>k) 7.96</a:t>
            </a:r>
            <a:endParaRPr lang="en-GB" sz="1200"/>
          </a:p>
        </p:txBody>
      </p:sp>
      <p:sp>
        <p:nvSpPr>
          <p:cNvPr id="78" name="Rectangle 77">
            <a:extLst>
              <a:ext uri="{FF2B5EF4-FFF2-40B4-BE49-F238E27FC236}">
                <a16:creationId xmlns:a16="http://schemas.microsoft.com/office/drawing/2014/main" id="{CEEF23AD-EA17-135A-DB95-1D1FECB286F3}"/>
              </a:ext>
            </a:extLst>
          </p:cNvPr>
          <p:cNvSpPr/>
          <p:nvPr/>
        </p:nvSpPr>
        <p:spPr>
          <a:xfrm>
            <a:off x="424769" y="196103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9" name="Rectangle 78">
            <a:extLst>
              <a:ext uri="{FF2B5EF4-FFF2-40B4-BE49-F238E27FC236}">
                <a16:creationId xmlns:a16="http://schemas.microsoft.com/office/drawing/2014/main" id="{CEEF23AD-EA17-135A-DB95-1D1FECB286F3}"/>
              </a:ext>
            </a:extLst>
          </p:cNvPr>
          <p:cNvSpPr/>
          <p:nvPr/>
        </p:nvSpPr>
        <p:spPr>
          <a:xfrm>
            <a:off x="1468724" y="196103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0" name="Rectangle 79">
            <a:extLst>
              <a:ext uri="{FF2B5EF4-FFF2-40B4-BE49-F238E27FC236}">
                <a16:creationId xmlns:a16="http://schemas.microsoft.com/office/drawing/2014/main" id="{CEEF23AD-EA17-135A-DB95-1D1FECB286F3}"/>
              </a:ext>
            </a:extLst>
          </p:cNvPr>
          <p:cNvSpPr/>
          <p:nvPr/>
        </p:nvSpPr>
        <p:spPr>
          <a:xfrm>
            <a:off x="2524608" y="196103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1" name="Rectangle 80">
            <a:extLst>
              <a:ext uri="{FF2B5EF4-FFF2-40B4-BE49-F238E27FC236}">
                <a16:creationId xmlns:a16="http://schemas.microsoft.com/office/drawing/2014/main" id="{CEEF23AD-EA17-135A-DB95-1D1FECB286F3}"/>
              </a:ext>
            </a:extLst>
          </p:cNvPr>
          <p:cNvSpPr/>
          <p:nvPr/>
        </p:nvSpPr>
        <p:spPr>
          <a:xfrm>
            <a:off x="3598806" y="196103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2" name="Rectangle 81">
            <a:extLst>
              <a:ext uri="{FF2B5EF4-FFF2-40B4-BE49-F238E27FC236}">
                <a16:creationId xmlns:a16="http://schemas.microsoft.com/office/drawing/2014/main" id="{CEEF23AD-EA17-135A-DB95-1D1FECB286F3}"/>
              </a:ext>
            </a:extLst>
          </p:cNvPr>
          <p:cNvSpPr/>
          <p:nvPr/>
        </p:nvSpPr>
        <p:spPr>
          <a:xfrm>
            <a:off x="4650470" y="196103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3" name="TextBox 82"/>
          <p:cNvSpPr txBox="1"/>
          <p:nvPr/>
        </p:nvSpPr>
        <p:spPr>
          <a:xfrm>
            <a:off x="5759507" y="1444064"/>
            <a:ext cx="575799" cy="276999"/>
          </a:xfrm>
          <a:prstGeom prst="rect">
            <a:avLst/>
          </a:prstGeom>
          <a:noFill/>
        </p:spPr>
        <p:txBody>
          <a:bodyPr wrap="none" rtlCol="0">
            <a:spAutoFit/>
          </a:bodyPr>
          <a:lstStyle/>
          <a:p>
            <a:r>
              <a:rPr lang="en-US" sz="1200"/>
              <a:t>l) 8.99</a:t>
            </a:r>
            <a:endParaRPr lang="en-GB" sz="1200"/>
          </a:p>
        </p:txBody>
      </p:sp>
      <p:sp>
        <p:nvSpPr>
          <p:cNvPr id="84" name="Rectangle 83">
            <a:extLst>
              <a:ext uri="{FF2B5EF4-FFF2-40B4-BE49-F238E27FC236}">
                <a16:creationId xmlns:a16="http://schemas.microsoft.com/office/drawing/2014/main" id="{CEEF23AD-EA17-135A-DB95-1D1FECB286F3}"/>
              </a:ext>
            </a:extLst>
          </p:cNvPr>
          <p:cNvSpPr/>
          <p:nvPr/>
        </p:nvSpPr>
        <p:spPr>
          <a:xfrm>
            <a:off x="5699572" y="196103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5" name="TextBox 84"/>
          <p:cNvSpPr txBox="1"/>
          <p:nvPr/>
        </p:nvSpPr>
        <p:spPr>
          <a:xfrm>
            <a:off x="406263" y="2363582"/>
            <a:ext cx="663964" cy="276999"/>
          </a:xfrm>
          <a:prstGeom prst="rect">
            <a:avLst/>
          </a:prstGeom>
          <a:noFill/>
        </p:spPr>
        <p:txBody>
          <a:bodyPr wrap="none" rtlCol="0">
            <a:spAutoFit/>
          </a:bodyPr>
          <a:lstStyle/>
          <a:p>
            <a:r>
              <a:rPr lang="en-US" sz="1200"/>
              <a:t>m) 9.98</a:t>
            </a:r>
            <a:endParaRPr lang="en-GB" sz="1200"/>
          </a:p>
        </p:txBody>
      </p:sp>
      <p:sp>
        <p:nvSpPr>
          <p:cNvPr id="86" name="TextBox 85"/>
          <p:cNvSpPr txBox="1"/>
          <p:nvPr/>
        </p:nvSpPr>
        <p:spPr>
          <a:xfrm>
            <a:off x="1458520" y="2354879"/>
            <a:ext cx="699230" cy="276999"/>
          </a:xfrm>
          <a:prstGeom prst="rect">
            <a:avLst/>
          </a:prstGeom>
          <a:noFill/>
        </p:spPr>
        <p:txBody>
          <a:bodyPr wrap="none" rtlCol="0">
            <a:spAutoFit/>
          </a:bodyPr>
          <a:lstStyle/>
          <a:p>
            <a:r>
              <a:rPr lang="en-US" sz="1200"/>
              <a:t>n) 10.98</a:t>
            </a:r>
            <a:endParaRPr lang="en-GB" sz="1200"/>
          </a:p>
        </p:txBody>
      </p:sp>
      <p:sp>
        <p:nvSpPr>
          <p:cNvPr id="87" name="TextBox 86"/>
          <p:cNvSpPr txBox="1"/>
          <p:nvPr/>
        </p:nvSpPr>
        <p:spPr>
          <a:xfrm>
            <a:off x="2535179" y="2354880"/>
            <a:ext cx="700833" cy="276999"/>
          </a:xfrm>
          <a:prstGeom prst="rect">
            <a:avLst/>
          </a:prstGeom>
          <a:noFill/>
        </p:spPr>
        <p:txBody>
          <a:bodyPr wrap="none" rtlCol="0">
            <a:spAutoFit/>
          </a:bodyPr>
          <a:lstStyle/>
          <a:p>
            <a:r>
              <a:rPr lang="en-US" sz="1200"/>
              <a:t>o) 12.97</a:t>
            </a:r>
            <a:endParaRPr lang="en-GB" sz="1200"/>
          </a:p>
        </p:txBody>
      </p:sp>
      <p:sp>
        <p:nvSpPr>
          <p:cNvPr id="88" name="TextBox 87"/>
          <p:cNvSpPr txBox="1"/>
          <p:nvPr/>
        </p:nvSpPr>
        <p:spPr>
          <a:xfrm>
            <a:off x="3542225" y="2377972"/>
            <a:ext cx="699230" cy="276999"/>
          </a:xfrm>
          <a:prstGeom prst="rect">
            <a:avLst/>
          </a:prstGeom>
          <a:noFill/>
        </p:spPr>
        <p:txBody>
          <a:bodyPr wrap="none" rtlCol="0">
            <a:spAutoFit/>
          </a:bodyPr>
          <a:lstStyle/>
          <a:p>
            <a:r>
              <a:rPr lang="en-US" sz="1200"/>
              <a:t>p) 21.98</a:t>
            </a:r>
            <a:endParaRPr lang="en-GB" sz="1200"/>
          </a:p>
        </p:txBody>
      </p:sp>
      <p:sp>
        <p:nvSpPr>
          <p:cNvPr id="89" name="TextBox 88"/>
          <p:cNvSpPr txBox="1"/>
          <p:nvPr/>
        </p:nvSpPr>
        <p:spPr>
          <a:xfrm>
            <a:off x="4645988" y="2374492"/>
            <a:ext cx="699230" cy="276999"/>
          </a:xfrm>
          <a:prstGeom prst="rect">
            <a:avLst/>
          </a:prstGeom>
          <a:noFill/>
        </p:spPr>
        <p:txBody>
          <a:bodyPr wrap="none" rtlCol="0">
            <a:spAutoFit/>
          </a:bodyPr>
          <a:lstStyle/>
          <a:p>
            <a:r>
              <a:rPr lang="en-US" sz="1200"/>
              <a:t>q) 27.99</a:t>
            </a:r>
            <a:endParaRPr lang="en-GB" sz="1200"/>
          </a:p>
        </p:txBody>
      </p:sp>
      <p:sp>
        <p:nvSpPr>
          <p:cNvPr id="90" name="Rectangle 89">
            <a:extLst>
              <a:ext uri="{FF2B5EF4-FFF2-40B4-BE49-F238E27FC236}">
                <a16:creationId xmlns:a16="http://schemas.microsoft.com/office/drawing/2014/main" id="{CEEF23AD-EA17-135A-DB95-1D1FECB286F3}"/>
              </a:ext>
            </a:extLst>
          </p:cNvPr>
          <p:cNvSpPr/>
          <p:nvPr/>
        </p:nvSpPr>
        <p:spPr>
          <a:xfrm>
            <a:off x="438021" y="293053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1" name="Rectangle 90">
            <a:extLst>
              <a:ext uri="{FF2B5EF4-FFF2-40B4-BE49-F238E27FC236}">
                <a16:creationId xmlns:a16="http://schemas.microsoft.com/office/drawing/2014/main" id="{CEEF23AD-EA17-135A-DB95-1D1FECB286F3}"/>
              </a:ext>
            </a:extLst>
          </p:cNvPr>
          <p:cNvSpPr/>
          <p:nvPr/>
        </p:nvSpPr>
        <p:spPr>
          <a:xfrm>
            <a:off x="1481976" y="293053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2" name="Rectangle 91">
            <a:extLst>
              <a:ext uri="{FF2B5EF4-FFF2-40B4-BE49-F238E27FC236}">
                <a16:creationId xmlns:a16="http://schemas.microsoft.com/office/drawing/2014/main" id="{CEEF23AD-EA17-135A-DB95-1D1FECB286F3}"/>
              </a:ext>
            </a:extLst>
          </p:cNvPr>
          <p:cNvSpPr/>
          <p:nvPr/>
        </p:nvSpPr>
        <p:spPr>
          <a:xfrm>
            <a:off x="2537860" y="293053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3" name="Rectangle 92">
            <a:extLst>
              <a:ext uri="{FF2B5EF4-FFF2-40B4-BE49-F238E27FC236}">
                <a16:creationId xmlns:a16="http://schemas.microsoft.com/office/drawing/2014/main" id="{CEEF23AD-EA17-135A-DB95-1D1FECB286F3}"/>
              </a:ext>
            </a:extLst>
          </p:cNvPr>
          <p:cNvSpPr/>
          <p:nvPr/>
        </p:nvSpPr>
        <p:spPr>
          <a:xfrm>
            <a:off x="3612058" y="293053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4" name="Rectangle 93">
            <a:extLst>
              <a:ext uri="{FF2B5EF4-FFF2-40B4-BE49-F238E27FC236}">
                <a16:creationId xmlns:a16="http://schemas.microsoft.com/office/drawing/2014/main" id="{CEEF23AD-EA17-135A-DB95-1D1FECB286F3}"/>
              </a:ext>
            </a:extLst>
          </p:cNvPr>
          <p:cNvSpPr/>
          <p:nvPr/>
        </p:nvSpPr>
        <p:spPr>
          <a:xfrm>
            <a:off x="4663722" y="293053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5" name="TextBox 94"/>
          <p:cNvSpPr txBox="1"/>
          <p:nvPr/>
        </p:nvSpPr>
        <p:spPr>
          <a:xfrm>
            <a:off x="5741001" y="2400139"/>
            <a:ext cx="671979" cy="276999"/>
          </a:xfrm>
          <a:prstGeom prst="rect">
            <a:avLst/>
          </a:prstGeom>
          <a:noFill/>
        </p:spPr>
        <p:txBody>
          <a:bodyPr wrap="none" rtlCol="0">
            <a:spAutoFit/>
          </a:bodyPr>
          <a:lstStyle/>
          <a:p>
            <a:r>
              <a:rPr lang="en-US" sz="1200"/>
              <a:t>r) 36.99</a:t>
            </a:r>
            <a:endParaRPr lang="en-GB" sz="1200"/>
          </a:p>
        </p:txBody>
      </p:sp>
      <p:sp>
        <p:nvSpPr>
          <p:cNvPr id="96" name="Rectangle 95">
            <a:extLst>
              <a:ext uri="{FF2B5EF4-FFF2-40B4-BE49-F238E27FC236}">
                <a16:creationId xmlns:a16="http://schemas.microsoft.com/office/drawing/2014/main" id="{CEEF23AD-EA17-135A-DB95-1D1FECB286F3}"/>
              </a:ext>
            </a:extLst>
          </p:cNvPr>
          <p:cNvSpPr/>
          <p:nvPr/>
        </p:nvSpPr>
        <p:spPr>
          <a:xfrm>
            <a:off x="5712824" y="293053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1"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20</a:t>
            </a:fld>
            <a:endParaRPr lang="en-GB"/>
          </a:p>
        </p:txBody>
      </p:sp>
      <p:sp>
        <p:nvSpPr>
          <p:cNvPr id="2" name="Rectangle 1">
            <a:extLst>
              <a:ext uri="{FF2B5EF4-FFF2-40B4-BE49-F238E27FC236}">
                <a16:creationId xmlns:a16="http://schemas.microsoft.com/office/drawing/2014/main" id="{BDB95F71-0335-BF9D-6775-7056F4FC75E9}"/>
              </a:ext>
            </a:extLst>
          </p:cNvPr>
          <p:cNvSpPr/>
          <p:nvPr/>
        </p:nvSpPr>
        <p:spPr>
          <a:xfrm>
            <a:off x="117204" y="36267"/>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5" name="Rectangle 4">
            <a:extLst>
              <a:ext uri="{FF2B5EF4-FFF2-40B4-BE49-F238E27FC236}">
                <a16:creationId xmlns:a16="http://schemas.microsoft.com/office/drawing/2014/main" id="{18A8F47A-AF22-7041-87DA-ED68FE8CA627}"/>
              </a:ext>
            </a:extLst>
          </p:cNvPr>
          <p:cNvSpPr/>
          <p:nvPr/>
        </p:nvSpPr>
        <p:spPr>
          <a:xfrm>
            <a:off x="1682862" y="4437412"/>
            <a:ext cx="4943539" cy="2017810"/>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rgbClr val="00B0F0"/>
              </a:solidFill>
            </a:endParaRPr>
          </a:p>
        </p:txBody>
      </p:sp>
      <p:sp>
        <p:nvSpPr>
          <p:cNvPr id="6" name="TextBox 5">
            <a:extLst>
              <a:ext uri="{FF2B5EF4-FFF2-40B4-BE49-F238E27FC236}">
                <a16:creationId xmlns:a16="http://schemas.microsoft.com/office/drawing/2014/main" id="{BCDC1A2B-2D26-C945-B722-18950FA49879}"/>
              </a:ext>
            </a:extLst>
          </p:cNvPr>
          <p:cNvSpPr txBox="1"/>
          <p:nvPr/>
        </p:nvSpPr>
        <p:spPr>
          <a:xfrm>
            <a:off x="3392019" y="4178876"/>
            <a:ext cx="1387046" cy="276999"/>
          </a:xfrm>
          <a:prstGeom prst="rect">
            <a:avLst/>
          </a:prstGeom>
          <a:noFill/>
          <a:ln>
            <a:noFill/>
          </a:ln>
        </p:spPr>
        <p:txBody>
          <a:bodyPr wrap="none" rtlCol="0">
            <a:spAutoFit/>
          </a:bodyPr>
          <a:lstStyle/>
          <a:p>
            <a:r>
              <a:rPr lang="en-GB" sz="1200" b="1" i="1">
                <a:solidFill>
                  <a:srgbClr val="FF0000"/>
                </a:solidFill>
              </a:rPr>
              <a:t>Example 16 - I do…</a:t>
            </a:r>
          </a:p>
        </p:txBody>
      </p:sp>
      <p:sp>
        <p:nvSpPr>
          <p:cNvPr id="7" name="TextBox 6">
            <a:extLst>
              <a:ext uri="{FF2B5EF4-FFF2-40B4-BE49-F238E27FC236}">
                <a16:creationId xmlns:a16="http://schemas.microsoft.com/office/drawing/2014/main" id="{4AF4150A-9218-D640-8777-2ECCBC4D10FB}"/>
              </a:ext>
            </a:extLst>
          </p:cNvPr>
          <p:cNvSpPr txBox="1"/>
          <p:nvPr/>
        </p:nvSpPr>
        <p:spPr>
          <a:xfrm>
            <a:off x="4205351" y="6449733"/>
            <a:ext cx="1577355" cy="276999"/>
          </a:xfrm>
          <a:prstGeom prst="rect">
            <a:avLst/>
          </a:prstGeom>
          <a:noFill/>
          <a:ln>
            <a:noFill/>
          </a:ln>
        </p:spPr>
        <p:txBody>
          <a:bodyPr wrap="none" rtlCol="0">
            <a:spAutoFit/>
          </a:bodyPr>
          <a:lstStyle/>
          <a:p>
            <a:r>
              <a:rPr lang="en-GB" sz="1200" b="1" i="1">
                <a:solidFill>
                  <a:srgbClr val="00B050"/>
                </a:solidFill>
              </a:rPr>
              <a:t>Example 18 - You do…</a:t>
            </a:r>
          </a:p>
        </p:txBody>
      </p:sp>
      <p:sp>
        <p:nvSpPr>
          <p:cNvPr id="8" name="Rectangle 7">
            <a:extLst>
              <a:ext uri="{FF2B5EF4-FFF2-40B4-BE49-F238E27FC236}">
                <a16:creationId xmlns:a16="http://schemas.microsoft.com/office/drawing/2014/main" id="{769D737F-0229-C443-B78C-5EA2F6EA4EC2}"/>
              </a:ext>
            </a:extLst>
          </p:cNvPr>
          <p:cNvSpPr/>
          <p:nvPr/>
        </p:nvSpPr>
        <p:spPr>
          <a:xfrm>
            <a:off x="3526082" y="6726732"/>
            <a:ext cx="3122613" cy="2324375"/>
          </a:xfrm>
          <a:prstGeom prst="rect">
            <a:avLst/>
          </a:prstGeom>
          <a:solidFill>
            <a:schemeClr val="bg1"/>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rgbClr val="00B0F0"/>
              </a:solidFill>
            </a:endParaRPr>
          </a:p>
        </p:txBody>
      </p:sp>
      <p:sp>
        <p:nvSpPr>
          <p:cNvPr id="9" name="TextBox 8">
            <a:extLst>
              <a:ext uri="{FF2B5EF4-FFF2-40B4-BE49-F238E27FC236}">
                <a16:creationId xmlns:a16="http://schemas.microsoft.com/office/drawing/2014/main" id="{BCDC1A2B-2D26-C945-B722-18950FA49879}"/>
              </a:ext>
            </a:extLst>
          </p:cNvPr>
          <p:cNvSpPr txBox="1"/>
          <p:nvPr/>
        </p:nvSpPr>
        <p:spPr>
          <a:xfrm>
            <a:off x="1206822" y="6478767"/>
            <a:ext cx="1554336" cy="276999"/>
          </a:xfrm>
          <a:prstGeom prst="rect">
            <a:avLst/>
          </a:prstGeom>
          <a:noFill/>
          <a:ln>
            <a:noFill/>
          </a:ln>
        </p:spPr>
        <p:txBody>
          <a:bodyPr wrap="square" rtlCol="0">
            <a:spAutoFit/>
          </a:bodyPr>
          <a:lstStyle/>
          <a:p>
            <a:r>
              <a:rPr lang="en-GB" sz="1200" b="1" i="1">
                <a:solidFill>
                  <a:schemeClr val="accent2"/>
                </a:solidFill>
              </a:rPr>
              <a:t>Example 17 - We do…</a:t>
            </a:r>
          </a:p>
        </p:txBody>
      </p:sp>
      <p:sp>
        <p:nvSpPr>
          <p:cNvPr id="10" name="Rectangle 9">
            <a:extLst>
              <a:ext uri="{FF2B5EF4-FFF2-40B4-BE49-F238E27FC236}">
                <a16:creationId xmlns:a16="http://schemas.microsoft.com/office/drawing/2014/main" id="{18A8F47A-AF22-7041-87DA-ED68FE8CA627}"/>
              </a:ext>
            </a:extLst>
          </p:cNvPr>
          <p:cNvSpPr/>
          <p:nvPr/>
        </p:nvSpPr>
        <p:spPr>
          <a:xfrm>
            <a:off x="129883" y="6732212"/>
            <a:ext cx="3299117" cy="231429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rgbClr val="00B0F0"/>
              </a:solidFill>
            </a:endParaRPr>
          </a:p>
        </p:txBody>
      </p:sp>
      <p:grpSp>
        <p:nvGrpSpPr>
          <p:cNvPr id="11" name="Group 10"/>
          <p:cNvGrpSpPr/>
          <p:nvPr/>
        </p:nvGrpSpPr>
        <p:grpSpPr>
          <a:xfrm>
            <a:off x="2625198" y="4968393"/>
            <a:ext cx="3245093" cy="1441063"/>
            <a:chOff x="79513" y="1832599"/>
            <a:chExt cx="3245093" cy="1441063"/>
          </a:xfrm>
        </p:grpSpPr>
        <p:pic>
          <p:nvPicPr>
            <p:cNvPr id="12" name="Picture 11"/>
            <p:cNvPicPr>
              <a:picLocks noChangeAspect="1"/>
            </p:cNvPicPr>
            <p:nvPr/>
          </p:nvPicPr>
          <p:blipFill>
            <a:blip r:embed="rId2"/>
            <a:stretch>
              <a:fillRect/>
            </a:stretch>
          </p:blipFill>
          <p:spPr>
            <a:xfrm>
              <a:off x="241395" y="2204589"/>
              <a:ext cx="2921329" cy="744162"/>
            </a:xfrm>
            <a:prstGeom prst="rect">
              <a:avLst/>
            </a:prstGeom>
          </p:spPr>
        </p:pic>
        <p:sp>
          <p:nvSpPr>
            <p:cNvPr id="13" name="TextBox 12"/>
            <p:cNvSpPr txBox="1"/>
            <p:nvPr/>
          </p:nvSpPr>
          <p:spPr>
            <a:xfrm>
              <a:off x="79513" y="2089696"/>
              <a:ext cx="458780" cy="276999"/>
            </a:xfrm>
            <a:prstGeom prst="rect">
              <a:avLst/>
            </a:prstGeom>
            <a:noFill/>
          </p:spPr>
          <p:txBody>
            <a:bodyPr wrap="none" rtlCol="0">
              <a:spAutoFit/>
            </a:bodyPr>
            <a:lstStyle/>
            <a:p>
              <a:r>
                <a:rPr lang="en-US" sz="1200"/>
                <a:t>2.35</a:t>
              </a:r>
              <a:endParaRPr lang="en-GB" sz="1200"/>
            </a:p>
          </p:txBody>
        </p:sp>
        <p:sp>
          <p:nvSpPr>
            <p:cNvPr id="14" name="TextBox 13"/>
            <p:cNvSpPr txBox="1"/>
            <p:nvPr/>
          </p:nvSpPr>
          <p:spPr>
            <a:xfrm>
              <a:off x="2865826" y="2089696"/>
              <a:ext cx="458780" cy="276999"/>
            </a:xfrm>
            <a:prstGeom prst="rect">
              <a:avLst/>
            </a:prstGeom>
            <a:noFill/>
          </p:spPr>
          <p:txBody>
            <a:bodyPr wrap="none" rtlCol="0">
              <a:spAutoFit/>
            </a:bodyPr>
            <a:lstStyle/>
            <a:p>
              <a:r>
                <a:rPr lang="en-US" sz="1200"/>
                <a:t>2.36</a:t>
              </a:r>
              <a:endParaRPr lang="en-GB" sz="1200"/>
            </a:p>
          </p:txBody>
        </p:sp>
        <p:grpSp>
          <p:nvGrpSpPr>
            <p:cNvPr id="15" name="Group 14"/>
            <p:cNvGrpSpPr/>
            <p:nvPr/>
          </p:nvGrpSpPr>
          <p:grpSpPr>
            <a:xfrm>
              <a:off x="845349" y="1832599"/>
              <a:ext cx="540146" cy="567844"/>
              <a:chOff x="2552080" y="5058580"/>
              <a:chExt cx="540146" cy="567844"/>
            </a:xfrm>
          </p:grpSpPr>
          <p:sp>
            <p:nvSpPr>
              <p:cNvPr id="18" name="Rectangle 17">
                <a:extLst>
                  <a:ext uri="{FF2B5EF4-FFF2-40B4-BE49-F238E27FC236}">
                    <a16:creationId xmlns:a16="http://schemas.microsoft.com/office/drawing/2014/main" id="{CEEF23AD-EA17-135A-DB95-1D1FECB286F3}"/>
                  </a:ext>
                </a:extLst>
              </p:cNvPr>
              <p:cNvSpPr/>
              <p:nvPr/>
            </p:nvSpPr>
            <p:spPr>
              <a:xfrm>
                <a:off x="2552080" y="5058580"/>
                <a:ext cx="54014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2.353</a:t>
                </a:r>
                <a:endParaRPr lang="en-GB" sz="1100">
                  <a:solidFill>
                    <a:schemeClr val="tx1"/>
                  </a:solidFill>
                </a:endParaRPr>
              </a:p>
            </p:txBody>
          </p:sp>
          <p:cxnSp>
            <p:nvCxnSpPr>
              <p:cNvPr id="19" name="Straight Arrow Connector 18"/>
              <p:cNvCxnSpPr/>
              <p:nvPr/>
            </p:nvCxnSpPr>
            <p:spPr>
              <a:xfrm>
                <a:off x="2830519" y="5411384"/>
                <a:ext cx="0" cy="2150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6" name="TextBox 15"/>
            <p:cNvSpPr txBox="1"/>
            <p:nvPr/>
          </p:nvSpPr>
          <p:spPr>
            <a:xfrm>
              <a:off x="138983" y="2996663"/>
              <a:ext cx="2468176" cy="276999"/>
            </a:xfrm>
            <a:prstGeom prst="rect">
              <a:avLst/>
            </a:prstGeom>
            <a:noFill/>
          </p:spPr>
          <p:txBody>
            <a:bodyPr wrap="none" rtlCol="0">
              <a:spAutoFit/>
            </a:bodyPr>
            <a:lstStyle/>
            <a:p>
              <a:r>
                <a:rPr lang="en-US" sz="1200"/>
                <a:t>2.353 rounded to 2 decimal places is</a:t>
              </a:r>
              <a:endParaRPr lang="en-GB" sz="1200"/>
            </a:p>
          </p:txBody>
        </p:sp>
        <p:sp>
          <p:nvSpPr>
            <p:cNvPr id="17" name="Rectangle 16">
              <a:extLst>
                <a:ext uri="{FF2B5EF4-FFF2-40B4-BE49-F238E27FC236}">
                  <a16:creationId xmlns:a16="http://schemas.microsoft.com/office/drawing/2014/main" id="{CEEF23AD-EA17-135A-DB95-1D1FECB286F3}"/>
                </a:ext>
              </a:extLst>
            </p:cNvPr>
            <p:cNvSpPr/>
            <p:nvPr/>
          </p:nvSpPr>
          <p:spPr>
            <a:xfrm>
              <a:off x="2593754" y="2942642"/>
              <a:ext cx="614295"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grpSp>
        <p:nvGrpSpPr>
          <p:cNvPr id="20" name="Group 19"/>
          <p:cNvGrpSpPr/>
          <p:nvPr/>
        </p:nvGrpSpPr>
        <p:grpSpPr>
          <a:xfrm>
            <a:off x="3504568" y="7451686"/>
            <a:ext cx="3219064" cy="1333406"/>
            <a:chOff x="72369" y="1685354"/>
            <a:chExt cx="3219064" cy="1333406"/>
          </a:xfrm>
        </p:grpSpPr>
        <p:pic>
          <p:nvPicPr>
            <p:cNvPr id="21" name="Picture 20"/>
            <p:cNvPicPr>
              <a:picLocks noChangeAspect="1"/>
            </p:cNvPicPr>
            <p:nvPr/>
          </p:nvPicPr>
          <p:blipFill>
            <a:blip r:embed="rId2"/>
            <a:stretch>
              <a:fillRect/>
            </a:stretch>
          </p:blipFill>
          <p:spPr>
            <a:xfrm>
              <a:off x="207000" y="1823854"/>
              <a:ext cx="2921329" cy="744162"/>
            </a:xfrm>
            <a:prstGeom prst="rect">
              <a:avLst/>
            </a:prstGeom>
          </p:spPr>
        </p:pic>
        <p:sp>
          <p:nvSpPr>
            <p:cNvPr id="22" name="TextBox 21"/>
            <p:cNvSpPr txBox="1"/>
            <p:nvPr/>
          </p:nvSpPr>
          <p:spPr>
            <a:xfrm>
              <a:off x="72369" y="1685354"/>
              <a:ext cx="458780" cy="276999"/>
            </a:xfrm>
            <a:prstGeom prst="rect">
              <a:avLst/>
            </a:prstGeom>
            <a:noFill/>
          </p:spPr>
          <p:txBody>
            <a:bodyPr wrap="none" rtlCol="0">
              <a:spAutoFit/>
            </a:bodyPr>
            <a:lstStyle/>
            <a:p>
              <a:r>
                <a:rPr lang="en-US" sz="1200"/>
                <a:t>4.78</a:t>
              </a:r>
              <a:endParaRPr lang="en-GB" sz="1200"/>
            </a:p>
          </p:txBody>
        </p:sp>
        <p:sp>
          <p:nvSpPr>
            <p:cNvPr id="23" name="TextBox 22"/>
            <p:cNvSpPr txBox="1"/>
            <p:nvPr/>
          </p:nvSpPr>
          <p:spPr>
            <a:xfrm>
              <a:off x="2832653" y="1690976"/>
              <a:ext cx="458780" cy="276999"/>
            </a:xfrm>
            <a:prstGeom prst="rect">
              <a:avLst/>
            </a:prstGeom>
            <a:noFill/>
          </p:spPr>
          <p:txBody>
            <a:bodyPr wrap="none" rtlCol="0">
              <a:spAutoFit/>
            </a:bodyPr>
            <a:lstStyle/>
            <a:p>
              <a:r>
                <a:rPr lang="en-US" sz="1200"/>
                <a:t>4.79</a:t>
              </a:r>
              <a:endParaRPr lang="en-GB" sz="1200"/>
            </a:p>
          </p:txBody>
        </p:sp>
        <p:sp>
          <p:nvSpPr>
            <p:cNvPr id="24" name="Rectangle 23">
              <a:extLst>
                <a:ext uri="{FF2B5EF4-FFF2-40B4-BE49-F238E27FC236}">
                  <a16:creationId xmlns:a16="http://schemas.microsoft.com/office/drawing/2014/main" id="{CEEF23AD-EA17-135A-DB95-1D1FECB286F3}"/>
                </a:ext>
              </a:extLst>
            </p:cNvPr>
            <p:cNvSpPr/>
            <p:nvPr/>
          </p:nvSpPr>
          <p:spPr>
            <a:xfrm>
              <a:off x="2624471" y="2687740"/>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sp>
        <p:nvSpPr>
          <p:cNvPr id="25" name="Rectangle 24">
            <a:extLst>
              <a:ext uri="{FF2B5EF4-FFF2-40B4-BE49-F238E27FC236}">
                <a16:creationId xmlns:a16="http://schemas.microsoft.com/office/drawing/2014/main" id="{CEEF23AD-EA17-135A-DB95-1D1FECB286F3}"/>
              </a:ext>
            </a:extLst>
          </p:cNvPr>
          <p:cNvSpPr/>
          <p:nvPr/>
        </p:nvSpPr>
        <p:spPr>
          <a:xfrm>
            <a:off x="3636951" y="8425361"/>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TextBox 28"/>
          <p:cNvSpPr txBox="1"/>
          <p:nvPr/>
        </p:nvSpPr>
        <p:spPr>
          <a:xfrm>
            <a:off x="3455904" y="4460401"/>
            <a:ext cx="1513625" cy="461665"/>
          </a:xfrm>
          <a:prstGeom prst="rect">
            <a:avLst/>
          </a:prstGeom>
          <a:noFill/>
        </p:spPr>
        <p:txBody>
          <a:bodyPr wrap="square" rtlCol="0">
            <a:spAutoFit/>
          </a:bodyPr>
          <a:lstStyle/>
          <a:p>
            <a:pPr algn="ctr"/>
            <a:r>
              <a:rPr lang="en-US" sz="1200"/>
              <a:t>Round 2.353 to two decimal places</a:t>
            </a:r>
            <a:endParaRPr lang="en-GB" sz="1200"/>
          </a:p>
        </p:txBody>
      </p:sp>
      <p:grpSp>
        <p:nvGrpSpPr>
          <p:cNvPr id="30" name="Group 29"/>
          <p:cNvGrpSpPr/>
          <p:nvPr/>
        </p:nvGrpSpPr>
        <p:grpSpPr>
          <a:xfrm>
            <a:off x="246917" y="7496273"/>
            <a:ext cx="3280168" cy="1270685"/>
            <a:chOff x="79513" y="2084865"/>
            <a:chExt cx="3280168" cy="1270685"/>
          </a:xfrm>
        </p:grpSpPr>
        <p:pic>
          <p:nvPicPr>
            <p:cNvPr id="31" name="Picture 30"/>
            <p:cNvPicPr>
              <a:picLocks noChangeAspect="1"/>
            </p:cNvPicPr>
            <p:nvPr/>
          </p:nvPicPr>
          <p:blipFill>
            <a:blip r:embed="rId2"/>
            <a:stretch>
              <a:fillRect/>
            </a:stretch>
          </p:blipFill>
          <p:spPr>
            <a:xfrm>
              <a:off x="241395" y="2204589"/>
              <a:ext cx="2921329" cy="744162"/>
            </a:xfrm>
            <a:prstGeom prst="rect">
              <a:avLst/>
            </a:prstGeom>
          </p:spPr>
        </p:pic>
        <p:sp>
          <p:nvSpPr>
            <p:cNvPr id="32" name="TextBox 31"/>
            <p:cNvSpPr txBox="1"/>
            <p:nvPr/>
          </p:nvSpPr>
          <p:spPr>
            <a:xfrm>
              <a:off x="79513" y="2089696"/>
              <a:ext cx="458780" cy="276999"/>
            </a:xfrm>
            <a:prstGeom prst="rect">
              <a:avLst/>
            </a:prstGeom>
            <a:noFill/>
          </p:spPr>
          <p:txBody>
            <a:bodyPr wrap="none" rtlCol="0">
              <a:spAutoFit/>
            </a:bodyPr>
            <a:lstStyle/>
            <a:p>
              <a:r>
                <a:rPr lang="en-US" sz="1200"/>
                <a:t>3.12</a:t>
              </a:r>
              <a:endParaRPr lang="en-GB" sz="1200"/>
            </a:p>
          </p:txBody>
        </p:sp>
        <p:sp>
          <p:nvSpPr>
            <p:cNvPr id="33" name="TextBox 32"/>
            <p:cNvSpPr txBox="1"/>
            <p:nvPr/>
          </p:nvSpPr>
          <p:spPr>
            <a:xfrm>
              <a:off x="2900901" y="2084865"/>
              <a:ext cx="458780" cy="276999"/>
            </a:xfrm>
            <a:prstGeom prst="rect">
              <a:avLst/>
            </a:prstGeom>
            <a:noFill/>
          </p:spPr>
          <p:txBody>
            <a:bodyPr wrap="none" rtlCol="0">
              <a:spAutoFit/>
            </a:bodyPr>
            <a:lstStyle/>
            <a:p>
              <a:r>
                <a:rPr lang="en-US" sz="1200"/>
                <a:t>3.13</a:t>
              </a:r>
              <a:endParaRPr lang="en-GB" sz="1200"/>
            </a:p>
          </p:txBody>
        </p:sp>
        <p:sp>
          <p:nvSpPr>
            <p:cNvPr id="34" name="TextBox 33"/>
            <p:cNvSpPr txBox="1"/>
            <p:nvPr/>
          </p:nvSpPr>
          <p:spPr>
            <a:xfrm>
              <a:off x="138983" y="3064903"/>
              <a:ext cx="2468176" cy="276999"/>
            </a:xfrm>
            <a:prstGeom prst="rect">
              <a:avLst/>
            </a:prstGeom>
            <a:noFill/>
          </p:spPr>
          <p:txBody>
            <a:bodyPr wrap="none" rtlCol="0">
              <a:spAutoFit/>
            </a:bodyPr>
            <a:lstStyle/>
            <a:p>
              <a:r>
                <a:rPr lang="en-US" sz="1200"/>
                <a:t>3.129 rounded to 2 decimal places is</a:t>
              </a:r>
              <a:endParaRPr lang="en-GB" sz="1200"/>
            </a:p>
          </p:txBody>
        </p:sp>
        <p:sp>
          <p:nvSpPr>
            <p:cNvPr id="35" name="Rectangle 34">
              <a:extLst>
                <a:ext uri="{FF2B5EF4-FFF2-40B4-BE49-F238E27FC236}">
                  <a16:creationId xmlns:a16="http://schemas.microsoft.com/office/drawing/2014/main" id="{CEEF23AD-EA17-135A-DB95-1D1FECB286F3}"/>
                </a:ext>
              </a:extLst>
            </p:cNvPr>
            <p:cNvSpPr/>
            <p:nvPr/>
          </p:nvSpPr>
          <p:spPr>
            <a:xfrm>
              <a:off x="2593754" y="3024530"/>
              <a:ext cx="614295"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sp>
        <p:nvSpPr>
          <p:cNvPr id="36" name="TextBox 35"/>
          <p:cNvSpPr txBox="1"/>
          <p:nvPr/>
        </p:nvSpPr>
        <p:spPr>
          <a:xfrm>
            <a:off x="1062805" y="6792903"/>
            <a:ext cx="1513625" cy="461665"/>
          </a:xfrm>
          <a:prstGeom prst="rect">
            <a:avLst/>
          </a:prstGeom>
          <a:noFill/>
        </p:spPr>
        <p:txBody>
          <a:bodyPr wrap="square" rtlCol="0">
            <a:spAutoFit/>
          </a:bodyPr>
          <a:lstStyle/>
          <a:p>
            <a:pPr algn="ctr"/>
            <a:r>
              <a:rPr lang="en-US" sz="1200"/>
              <a:t>Round 3.129 to two decimal places</a:t>
            </a:r>
            <a:endParaRPr lang="en-GB" sz="1200"/>
          </a:p>
        </p:txBody>
      </p:sp>
      <p:sp>
        <p:nvSpPr>
          <p:cNvPr id="37" name="TextBox 36"/>
          <p:cNvSpPr txBox="1"/>
          <p:nvPr/>
        </p:nvSpPr>
        <p:spPr>
          <a:xfrm>
            <a:off x="4224688" y="6718582"/>
            <a:ext cx="1513625" cy="461665"/>
          </a:xfrm>
          <a:prstGeom prst="rect">
            <a:avLst/>
          </a:prstGeom>
          <a:noFill/>
        </p:spPr>
        <p:txBody>
          <a:bodyPr wrap="square" rtlCol="0">
            <a:spAutoFit/>
          </a:bodyPr>
          <a:lstStyle/>
          <a:p>
            <a:pPr algn="ctr"/>
            <a:r>
              <a:rPr lang="en-US" sz="1200"/>
              <a:t>Round 4.782 to two decimal places</a:t>
            </a:r>
            <a:endParaRPr lang="en-GB" sz="1200"/>
          </a:p>
        </p:txBody>
      </p:sp>
      <p:sp>
        <p:nvSpPr>
          <p:cNvPr id="39" name="Rectangle 38"/>
          <p:cNvSpPr/>
          <p:nvPr/>
        </p:nvSpPr>
        <p:spPr>
          <a:xfrm>
            <a:off x="4064373" y="8474132"/>
            <a:ext cx="2080249" cy="276999"/>
          </a:xfrm>
          <a:prstGeom prst="rect">
            <a:avLst/>
          </a:prstGeom>
        </p:spPr>
        <p:txBody>
          <a:bodyPr wrap="none">
            <a:spAutoFit/>
          </a:bodyPr>
          <a:lstStyle/>
          <a:p>
            <a:r>
              <a:rPr lang="en-US" sz="1200"/>
              <a:t>rounded to 2 decimal places is</a:t>
            </a:r>
            <a:endParaRPr lang="en-GB" sz="1200"/>
          </a:p>
        </p:txBody>
      </p:sp>
      <p:sp>
        <p:nvSpPr>
          <p:cNvPr id="42" name="Rectangle 41">
            <a:extLst>
              <a:ext uri="{FF2B5EF4-FFF2-40B4-BE49-F238E27FC236}">
                <a16:creationId xmlns:a16="http://schemas.microsoft.com/office/drawing/2014/main" id="{1E8D51BA-1099-CAF3-C942-E6160CB100BD}"/>
              </a:ext>
            </a:extLst>
          </p:cNvPr>
          <p:cNvSpPr/>
          <p:nvPr/>
        </p:nvSpPr>
        <p:spPr>
          <a:xfrm>
            <a:off x="95946" y="3957694"/>
            <a:ext cx="4943540"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Rounding to two decimal places</a:t>
            </a:r>
            <a:endParaRPr lang="en-GB" sz="1200">
              <a:solidFill>
                <a:schemeClr val="bg1"/>
              </a:solidFill>
            </a:endParaRPr>
          </a:p>
        </p:txBody>
      </p:sp>
      <p:sp>
        <p:nvSpPr>
          <p:cNvPr id="26" name="Rectangle 25">
            <a:extLst>
              <a:ext uri="{FF2B5EF4-FFF2-40B4-BE49-F238E27FC236}">
                <a16:creationId xmlns:a16="http://schemas.microsoft.com/office/drawing/2014/main" id="{0873779A-3300-6DA3-9351-7011CB33D5D6}"/>
              </a:ext>
            </a:extLst>
          </p:cNvPr>
          <p:cNvSpPr/>
          <p:nvPr/>
        </p:nvSpPr>
        <p:spPr>
          <a:xfrm>
            <a:off x="140400" y="4437017"/>
            <a:ext cx="1530387" cy="2017810"/>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a:solidFill>
                  <a:schemeClr val="tx1"/>
                </a:solidFill>
              </a:rPr>
              <a:t>Steps:</a:t>
            </a:r>
          </a:p>
          <a:p>
            <a:pPr algn="ctr"/>
            <a:endParaRPr lang="en-GB" sz="900">
              <a:solidFill>
                <a:schemeClr val="tx1"/>
              </a:solidFill>
            </a:endParaRPr>
          </a:p>
          <a:p>
            <a:pPr marL="228600" indent="-228600" algn="ctr">
              <a:buAutoNum type="arabicParenR"/>
            </a:pPr>
            <a:r>
              <a:rPr lang="en-GB" sz="900">
                <a:solidFill>
                  <a:schemeClr val="tx1"/>
                </a:solidFill>
              </a:rPr>
              <a:t>Place the number on the number line.</a:t>
            </a:r>
          </a:p>
          <a:p>
            <a:pPr marL="228600" indent="-228600" algn="ctr">
              <a:buAutoNum type="arabicParenR"/>
            </a:pPr>
            <a:endParaRPr lang="en-GB" sz="900">
              <a:solidFill>
                <a:schemeClr val="tx1"/>
              </a:solidFill>
            </a:endParaRPr>
          </a:p>
          <a:p>
            <a:pPr marL="228600" indent="-228600" algn="ctr">
              <a:buAutoNum type="arabicParenR"/>
            </a:pPr>
            <a:r>
              <a:rPr lang="en-GB" sz="900">
                <a:solidFill>
                  <a:schemeClr val="tx1"/>
                </a:solidFill>
              </a:rPr>
              <a:t>See if the number is closer to the lower value or the upper value.</a:t>
            </a:r>
          </a:p>
          <a:p>
            <a:pPr marL="228600" indent="-228600" algn="ctr">
              <a:buAutoNum type="arabicParenR"/>
            </a:pPr>
            <a:endParaRPr lang="en-GB" sz="900">
              <a:solidFill>
                <a:schemeClr val="tx1"/>
              </a:solidFill>
            </a:endParaRPr>
          </a:p>
          <a:p>
            <a:pPr marL="228600" indent="-228600" algn="ctr">
              <a:buAutoNum type="arabicParenR"/>
            </a:pPr>
            <a:r>
              <a:rPr lang="en-GB" sz="900">
                <a:solidFill>
                  <a:schemeClr val="tx1"/>
                </a:solidFill>
              </a:rPr>
              <a:t>Write down what the number rounds to.</a:t>
            </a:r>
          </a:p>
        </p:txBody>
      </p:sp>
    </p:spTree>
    <p:extLst>
      <p:ext uri="{BB962C8B-B14F-4D97-AF65-F5344CB8AC3E}">
        <p14:creationId xmlns:p14="http://schemas.microsoft.com/office/powerpoint/2010/main" val="2345233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2074655" y="230652"/>
            <a:ext cx="3080074" cy="276999"/>
          </a:xfrm>
          <a:prstGeom prst="rect">
            <a:avLst/>
          </a:prstGeom>
          <a:noFill/>
        </p:spPr>
        <p:txBody>
          <a:bodyPr wrap="none" rtlCol="0">
            <a:spAutoFit/>
          </a:bodyPr>
          <a:lstStyle/>
          <a:p>
            <a:r>
              <a:rPr lang="en-US" sz="1200"/>
              <a:t>6. Round each number to two decimal places. </a:t>
            </a:r>
            <a:endParaRPr lang="en-GB" sz="1200"/>
          </a:p>
        </p:txBody>
      </p:sp>
      <p:grpSp>
        <p:nvGrpSpPr>
          <p:cNvPr id="45" name="Group 44"/>
          <p:cNvGrpSpPr/>
          <p:nvPr/>
        </p:nvGrpSpPr>
        <p:grpSpPr>
          <a:xfrm>
            <a:off x="21035" y="684497"/>
            <a:ext cx="2309188" cy="1039517"/>
            <a:chOff x="78902" y="5821182"/>
            <a:chExt cx="2309188" cy="1039517"/>
          </a:xfrm>
        </p:grpSpPr>
        <p:sp>
          <p:nvSpPr>
            <p:cNvPr id="46" name="TextBox 45"/>
            <p:cNvSpPr txBox="1"/>
            <p:nvPr/>
          </p:nvSpPr>
          <p:spPr>
            <a:xfrm>
              <a:off x="96145" y="5821182"/>
              <a:ext cx="692818" cy="276999"/>
            </a:xfrm>
            <a:prstGeom prst="rect">
              <a:avLst/>
            </a:prstGeom>
            <a:noFill/>
          </p:spPr>
          <p:txBody>
            <a:bodyPr wrap="none" rtlCol="0">
              <a:spAutoFit/>
            </a:bodyPr>
            <a:lstStyle/>
            <a:p>
              <a:r>
                <a:rPr lang="en-US" sz="1200"/>
                <a:t>a) 0.435</a:t>
              </a:r>
              <a:endParaRPr lang="en-GB" sz="1200"/>
            </a:p>
          </p:txBody>
        </p:sp>
        <p:grpSp>
          <p:nvGrpSpPr>
            <p:cNvPr id="47" name="Group 46"/>
            <p:cNvGrpSpPr/>
            <p:nvPr/>
          </p:nvGrpSpPr>
          <p:grpSpPr>
            <a:xfrm>
              <a:off x="78902" y="6183908"/>
              <a:ext cx="2309188" cy="676791"/>
              <a:chOff x="78902" y="6183908"/>
              <a:chExt cx="2309188" cy="676791"/>
            </a:xfrm>
          </p:grpSpPr>
          <p:pic>
            <p:nvPicPr>
              <p:cNvPr id="48" name="Picture 47"/>
              <p:cNvPicPr>
                <a:picLocks noChangeAspect="1"/>
              </p:cNvPicPr>
              <p:nvPr/>
            </p:nvPicPr>
            <p:blipFill>
              <a:blip r:embed="rId2"/>
              <a:stretch>
                <a:fillRect/>
              </a:stretch>
            </p:blipFill>
            <p:spPr>
              <a:xfrm>
                <a:off x="248591" y="6380767"/>
                <a:ext cx="1884050" cy="479932"/>
              </a:xfrm>
              <a:prstGeom prst="rect">
                <a:avLst/>
              </a:prstGeom>
            </p:spPr>
          </p:pic>
          <p:sp>
            <p:nvSpPr>
              <p:cNvPr id="49" name="TextBox 48"/>
              <p:cNvSpPr txBox="1"/>
              <p:nvPr/>
            </p:nvSpPr>
            <p:spPr>
              <a:xfrm>
                <a:off x="78902" y="6183908"/>
                <a:ext cx="458780" cy="276999"/>
              </a:xfrm>
              <a:prstGeom prst="rect">
                <a:avLst/>
              </a:prstGeom>
              <a:noFill/>
            </p:spPr>
            <p:txBody>
              <a:bodyPr wrap="none" rtlCol="0">
                <a:spAutoFit/>
              </a:bodyPr>
              <a:lstStyle/>
              <a:p>
                <a:r>
                  <a:rPr lang="en-US" sz="1200"/>
                  <a:t>0.43</a:t>
                </a:r>
                <a:endParaRPr lang="en-GB" sz="1200"/>
              </a:p>
            </p:txBody>
          </p:sp>
          <p:sp>
            <p:nvSpPr>
              <p:cNvPr id="50" name="TextBox 49"/>
              <p:cNvSpPr txBox="1"/>
              <p:nvPr/>
            </p:nvSpPr>
            <p:spPr>
              <a:xfrm>
                <a:off x="1929310" y="6183908"/>
                <a:ext cx="458780" cy="276999"/>
              </a:xfrm>
              <a:prstGeom prst="rect">
                <a:avLst/>
              </a:prstGeom>
              <a:noFill/>
            </p:spPr>
            <p:txBody>
              <a:bodyPr wrap="none" rtlCol="0">
                <a:spAutoFit/>
              </a:bodyPr>
              <a:lstStyle/>
              <a:p>
                <a:r>
                  <a:rPr lang="en-US" sz="1200"/>
                  <a:t>0.44</a:t>
                </a:r>
                <a:endParaRPr lang="en-GB" sz="1200"/>
              </a:p>
            </p:txBody>
          </p:sp>
        </p:grpSp>
      </p:grpSp>
      <p:grpSp>
        <p:nvGrpSpPr>
          <p:cNvPr id="51" name="Group 50"/>
          <p:cNvGrpSpPr/>
          <p:nvPr/>
        </p:nvGrpSpPr>
        <p:grpSpPr>
          <a:xfrm>
            <a:off x="2279542" y="665963"/>
            <a:ext cx="2036496" cy="1039517"/>
            <a:chOff x="96145" y="5821182"/>
            <a:chExt cx="2036496" cy="1039517"/>
          </a:xfrm>
        </p:grpSpPr>
        <p:sp>
          <p:nvSpPr>
            <p:cNvPr id="52" name="TextBox 51"/>
            <p:cNvSpPr txBox="1"/>
            <p:nvPr/>
          </p:nvSpPr>
          <p:spPr>
            <a:xfrm>
              <a:off x="96145" y="5821182"/>
              <a:ext cx="699230" cy="276999"/>
            </a:xfrm>
            <a:prstGeom prst="rect">
              <a:avLst/>
            </a:prstGeom>
            <a:noFill/>
          </p:spPr>
          <p:txBody>
            <a:bodyPr wrap="none" rtlCol="0">
              <a:spAutoFit/>
            </a:bodyPr>
            <a:lstStyle/>
            <a:p>
              <a:r>
                <a:rPr lang="en-US" sz="1200"/>
                <a:t>b) 2.483</a:t>
              </a:r>
              <a:endParaRPr lang="en-GB" sz="1200"/>
            </a:p>
          </p:txBody>
        </p:sp>
        <p:pic>
          <p:nvPicPr>
            <p:cNvPr id="53" name="Picture 52"/>
            <p:cNvPicPr>
              <a:picLocks noChangeAspect="1"/>
            </p:cNvPicPr>
            <p:nvPr/>
          </p:nvPicPr>
          <p:blipFill>
            <a:blip r:embed="rId2"/>
            <a:stretch>
              <a:fillRect/>
            </a:stretch>
          </p:blipFill>
          <p:spPr>
            <a:xfrm>
              <a:off x="248591" y="6380767"/>
              <a:ext cx="1884050" cy="479932"/>
            </a:xfrm>
            <a:prstGeom prst="rect">
              <a:avLst/>
            </a:prstGeom>
          </p:spPr>
        </p:pic>
      </p:grpSp>
      <p:grpSp>
        <p:nvGrpSpPr>
          <p:cNvPr id="54" name="Group 53"/>
          <p:cNvGrpSpPr/>
          <p:nvPr/>
        </p:nvGrpSpPr>
        <p:grpSpPr>
          <a:xfrm>
            <a:off x="4518153" y="616311"/>
            <a:ext cx="2051386" cy="1074824"/>
            <a:chOff x="81255" y="5785875"/>
            <a:chExt cx="2051386" cy="1074824"/>
          </a:xfrm>
        </p:grpSpPr>
        <p:sp>
          <p:nvSpPr>
            <p:cNvPr id="55" name="TextBox 54"/>
            <p:cNvSpPr txBox="1"/>
            <p:nvPr/>
          </p:nvSpPr>
          <p:spPr>
            <a:xfrm>
              <a:off x="81255" y="5785875"/>
              <a:ext cx="684803" cy="276999"/>
            </a:xfrm>
            <a:prstGeom prst="rect">
              <a:avLst/>
            </a:prstGeom>
            <a:noFill/>
          </p:spPr>
          <p:txBody>
            <a:bodyPr wrap="none" rtlCol="0">
              <a:spAutoFit/>
            </a:bodyPr>
            <a:lstStyle/>
            <a:p>
              <a:r>
                <a:rPr lang="en-US" sz="1200"/>
                <a:t>c) 3.883</a:t>
              </a:r>
              <a:endParaRPr lang="en-GB" sz="1200"/>
            </a:p>
          </p:txBody>
        </p:sp>
        <p:pic>
          <p:nvPicPr>
            <p:cNvPr id="56" name="Picture 55"/>
            <p:cNvPicPr>
              <a:picLocks noChangeAspect="1"/>
            </p:cNvPicPr>
            <p:nvPr/>
          </p:nvPicPr>
          <p:blipFill>
            <a:blip r:embed="rId2"/>
            <a:stretch>
              <a:fillRect/>
            </a:stretch>
          </p:blipFill>
          <p:spPr>
            <a:xfrm>
              <a:off x="248591" y="6380767"/>
              <a:ext cx="1884050" cy="479932"/>
            </a:xfrm>
            <a:prstGeom prst="rect">
              <a:avLst/>
            </a:prstGeom>
          </p:spPr>
        </p:pic>
      </p:grpSp>
      <p:grpSp>
        <p:nvGrpSpPr>
          <p:cNvPr id="57" name="Group 56"/>
          <p:cNvGrpSpPr/>
          <p:nvPr/>
        </p:nvGrpSpPr>
        <p:grpSpPr>
          <a:xfrm>
            <a:off x="67429" y="2545648"/>
            <a:ext cx="2236616" cy="1039517"/>
            <a:chOff x="80698" y="5821182"/>
            <a:chExt cx="2236616" cy="1039517"/>
          </a:xfrm>
        </p:grpSpPr>
        <p:sp>
          <p:nvSpPr>
            <p:cNvPr id="58" name="TextBox 57"/>
            <p:cNvSpPr txBox="1"/>
            <p:nvPr/>
          </p:nvSpPr>
          <p:spPr>
            <a:xfrm>
              <a:off x="96145" y="5821182"/>
              <a:ext cx="699230" cy="276999"/>
            </a:xfrm>
            <a:prstGeom prst="rect">
              <a:avLst/>
            </a:prstGeom>
            <a:noFill/>
          </p:spPr>
          <p:txBody>
            <a:bodyPr wrap="none" rtlCol="0">
              <a:spAutoFit/>
            </a:bodyPr>
            <a:lstStyle/>
            <a:p>
              <a:r>
                <a:rPr lang="en-US" sz="1200"/>
                <a:t>d) 5.582</a:t>
              </a:r>
              <a:endParaRPr lang="en-GB" sz="1200"/>
            </a:p>
          </p:txBody>
        </p:sp>
        <p:grpSp>
          <p:nvGrpSpPr>
            <p:cNvPr id="59" name="Group 58"/>
            <p:cNvGrpSpPr/>
            <p:nvPr/>
          </p:nvGrpSpPr>
          <p:grpSpPr>
            <a:xfrm>
              <a:off x="80698" y="6205199"/>
              <a:ext cx="2236616" cy="655500"/>
              <a:chOff x="80698" y="6205199"/>
              <a:chExt cx="2236616" cy="655500"/>
            </a:xfrm>
          </p:grpSpPr>
          <p:pic>
            <p:nvPicPr>
              <p:cNvPr id="60" name="Picture 59"/>
              <p:cNvPicPr>
                <a:picLocks noChangeAspect="1"/>
              </p:cNvPicPr>
              <p:nvPr/>
            </p:nvPicPr>
            <p:blipFill>
              <a:blip r:embed="rId2"/>
              <a:stretch>
                <a:fillRect/>
              </a:stretch>
            </p:blipFill>
            <p:spPr>
              <a:xfrm>
                <a:off x="248591" y="6380767"/>
                <a:ext cx="1884050" cy="479932"/>
              </a:xfrm>
              <a:prstGeom prst="rect">
                <a:avLst/>
              </a:prstGeom>
            </p:spPr>
          </p:pic>
          <p:sp>
            <p:nvSpPr>
              <p:cNvPr id="61" name="TextBox 60"/>
              <p:cNvSpPr txBox="1"/>
              <p:nvPr/>
            </p:nvSpPr>
            <p:spPr>
              <a:xfrm>
                <a:off x="80698" y="6205755"/>
                <a:ext cx="458780" cy="276999"/>
              </a:xfrm>
              <a:prstGeom prst="rect">
                <a:avLst/>
              </a:prstGeom>
              <a:noFill/>
            </p:spPr>
            <p:txBody>
              <a:bodyPr wrap="none" rtlCol="0">
                <a:spAutoFit/>
              </a:bodyPr>
              <a:lstStyle/>
              <a:p>
                <a:r>
                  <a:rPr lang="en-US" sz="1200"/>
                  <a:t>5.58</a:t>
                </a:r>
                <a:endParaRPr lang="en-GB" sz="1200"/>
              </a:p>
            </p:txBody>
          </p:sp>
          <p:sp>
            <p:nvSpPr>
              <p:cNvPr id="62" name="TextBox 61"/>
              <p:cNvSpPr txBox="1"/>
              <p:nvPr/>
            </p:nvSpPr>
            <p:spPr>
              <a:xfrm>
                <a:off x="1858534" y="6205199"/>
                <a:ext cx="458780" cy="276999"/>
              </a:xfrm>
              <a:prstGeom prst="rect">
                <a:avLst/>
              </a:prstGeom>
              <a:noFill/>
            </p:spPr>
            <p:txBody>
              <a:bodyPr wrap="none" rtlCol="0">
                <a:spAutoFit/>
              </a:bodyPr>
              <a:lstStyle/>
              <a:p>
                <a:r>
                  <a:rPr lang="en-US" sz="1200"/>
                  <a:t>5.59</a:t>
                </a:r>
                <a:endParaRPr lang="en-GB" sz="1200"/>
              </a:p>
            </p:txBody>
          </p:sp>
        </p:grpSp>
      </p:grpSp>
      <p:grpSp>
        <p:nvGrpSpPr>
          <p:cNvPr id="63" name="Group 62"/>
          <p:cNvGrpSpPr/>
          <p:nvPr/>
        </p:nvGrpSpPr>
        <p:grpSpPr>
          <a:xfrm>
            <a:off x="2289451" y="2527114"/>
            <a:ext cx="2278962" cy="1039517"/>
            <a:chOff x="61456" y="5821182"/>
            <a:chExt cx="2278962" cy="1039517"/>
          </a:xfrm>
        </p:grpSpPr>
        <p:sp>
          <p:nvSpPr>
            <p:cNvPr id="64" name="TextBox 63"/>
            <p:cNvSpPr txBox="1"/>
            <p:nvPr/>
          </p:nvSpPr>
          <p:spPr>
            <a:xfrm>
              <a:off x="96145" y="5821182"/>
              <a:ext cx="696024" cy="276999"/>
            </a:xfrm>
            <a:prstGeom prst="rect">
              <a:avLst/>
            </a:prstGeom>
            <a:noFill/>
          </p:spPr>
          <p:txBody>
            <a:bodyPr wrap="none" rtlCol="0">
              <a:spAutoFit/>
            </a:bodyPr>
            <a:lstStyle/>
            <a:p>
              <a:r>
                <a:rPr lang="en-US" sz="1200"/>
                <a:t>e) 7.682</a:t>
              </a:r>
              <a:endParaRPr lang="en-GB" sz="1200"/>
            </a:p>
          </p:txBody>
        </p:sp>
        <p:grpSp>
          <p:nvGrpSpPr>
            <p:cNvPr id="65" name="Group 64"/>
            <p:cNvGrpSpPr/>
            <p:nvPr/>
          </p:nvGrpSpPr>
          <p:grpSpPr>
            <a:xfrm>
              <a:off x="61456" y="6183908"/>
              <a:ext cx="2278962" cy="676791"/>
              <a:chOff x="61456" y="6183908"/>
              <a:chExt cx="2278962" cy="676791"/>
            </a:xfrm>
          </p:grpSpPr>
          <p:pic>
            <p:nvPicPr>
              <p:cNvPr id="66" name="Picture 65"/>
              <p:cNvPicPr>
                <a:picLocks noChangeAspect="1"/>
              </p:cNvPicPr>
              <p:nvPr/>
            </p:nvPicPr>
            <p:blipFill>
              <a:blip r:embed="rId2"/>
              <a:stretch>
                <a:fillRect/>
              </a:stretch>
            </p:blipFill>
            <p:spPr>
              <a:xfrm>
                <a:off x="248591" y="6380767"/>
                <a:ext cx="1884050" cy="479932"/>
              </a:xfrm>
              <a:prstGeom prst="rect">
                <a:avLst/>
              </a:prstGeom>
            </p:spPr>
          </p:pic>
          <p:sp>
            <p:nvSpPr>
              <p:cNvPr id="67" name="TextBox 66"/>
              <p:cNvSpPr txBox="1"/>
              <p:nvPr/>
            </p:nvSpPr>
            <p:spPr>
              <a:xfrm>
                <a:off x="61456" y="6206256"/>
                <a:ext cx="458780" cy="276999"/>
              </a:xfrm>
              <a:prstGeom prst="rect">
                <a:avLst/>
              </a:prstGeom>
              <a:noFill/>
            </p:spPr>
            <p:txBody>
              <a:bodyPr wrap="none" rtlCol="0">
                <a:spAutoFit/>
              </a:bodyPr>
              <a:lstStyle/>
              <a:p>
                <a:r>
                  <a:rPr lang="en-US" sz="1200"/>
                  <a:t>7.68</a:t>
                </a:r>
                <a:endParaRPr lang="en-GB" sz="1200"/>
              </a:p>
            </p:txBody>
          </p:sp>
          <p:sp>
            <p:nvSpPr>
              <p:cNvPr id="68" name="TextBox 67"/>
              <p:cNvSpPr txBox="1"/>
              <p:nvPr/>
            </p:nvSpPr>
            <p:spPr>
              <a:xfrm>
                <a:off x="1881638" y="6183908"/>
                <a:ext cx="458780" cy="276999"/>
              </a:xfrm>
              <a:prstGeom prst="rect">
                <a:avLst/>
              </a:prstGeom>
              <a:noFill/>
            </p:spPr>
            <p:txBody>
              <a:bodyPr wrap="none" rtlCol="0">
                <a:spAutoFit/>
              </a:bodyPr>
              <a:lstStyle/>
              <a:p>
                <a:r>
                  <a:rPr lang="en-US" sz="1200"/>
                  <a:t>7.69</a:t>
                </a:r>
                <a:endParaRPr lang="en-GB" sz="1200"/>
              </a:p>
            </p:txBody>
          </p:sp>
        </p:grpSp>
      </p:grpSp>
      <p:grpSp>
        <p:nvGrpSpPr>
          <p:cNvPr id="69" name="Group 68"/>
          <p:cNvGrpSpPr/>
          <p:nvPr/>
        </p:nvGrpSpPr>
        <p:grpSpPr>
          <a:xfrm>
            <a:off x="4566557" y="2508580"/>
            <a:ext cx="2291443" cy="1039517"/>
            <a:chOff x="81407" y="5821182"/>
            <a:chExt cx="2291443" cy="1039517"/>
          </a:xfrm>
        </p:grpSpPr>
        <p:sp>
          <p:nvSpPr>
            <p:cNvPr id="70" name="TextBox 69"/>
            <p:cNvSpPr txBox="1"/>
            <p:nvPr/>
          </p:nvSpPr>
          <p:spPr>
            <a:xfrm>
              <a:off x="96145" y="5821182"/>
              <a:ext cx="667812" cy="276999"/>
            </a:xfrm>
            <a:prstGeom prst="rect">
              <a:avLst/>
            </a:prstGeom>
            <a:noFill/>
          </p:spPr>
          <p:txBody>
            <a:bodyPr wrap="none" rtlCol="0">
              <a:spAutoFit/>
            </a:bodyPr>
            <a:lstStyle/>
            <a:p>
              <a:r>
                <a:rPr lang="en-US" sz="1200"/>
                <a:t>f) 9.214</a:t>
              </a:r>
              <a:endParaRPr lang="en-GB" sz="1200"/>
            </a:p>
          </p:txBody>
        </p:sp>
        <p:grpSp>
          <p:nvGrpSpPr>
            <p:cNvPr id="71" name="Group 70"/>
            <p:cNvGrpSpPr/>
            <p:nvPr/>
          </p:nvGrpSpPr>
          <p:grpSpPr>
            <a:xfrm>
              <a:off x="81407" y="6193965"/>
              <a:ext cx="2291443" cy="666734"/>
              <a:chOff x="81407" y="6193965"/>
              <a:chExt cx="2291443" cy="666734"/>
            </a:xfrm>
          </p:grpSpPr>
          <p:pic>
            <p:nvPicPr>
              <p:cNvPr id="72" name="Picture 71"/>
              <p:cNvPicPr>
                <a:picLocks noChangeAspect="1"/>
              </p:cNvPicPr>
              <p:nvPr/>
            </p:nvPicPr>
            <p:blipFill>
              <a:blip r:embed="rId2"/>
              <a:stretch>
                <a:fillRect/>
              </a:stretch>
            </p:blipFill>
            <p:spPr>
              <a:xfrm>
                <a:off x="248591" y="6380767"/>
                <a:ext cx="1884050" cy="479932"/>
              </a:xfrm>
              <a:prstGeom prst="rect">
                <a:avLst/>
              </a:prstGeom>
            </p:spPr>
          </p:pic>
          <p:sp>
            <p:nvSpPr>
              <p:cNvPr id="73" name="TextBox 72"/>
              <p:cNvSpPr txBox="1"/>
              <p:nvPr/>
            </p:nvSpPr>
            <p:spPr>
              <a:xfrm>
                <a:off x="81407" y="6193965"/>
                <a:ext cx="458780" cy="276999"/>
              </a:xfrm>
              <a:prstGeom prst="rect">
                <a:avLst/>
              </a:prstGeom>
              <a:noFill/>
            </p:spPr>
            <p:txBody>
              <a:bodyPr wrap="none" rtlCol="0">
                <a:spAutoFit/>
              </a:bodyPr>
              <a:lstStyle/>
              <a:p>
                <a:r>
                  <a:rPr lang="en-US" sz="1200"/>
                  <a:t>9.21</a:t>
                </a:r>
                <a:endParaRPr lang="en-GB" sz="1200"/>
              </a:p>
            </p:txBody>
          </p:sp>
          <p:sp>
            <p:nvSpPr>
              <p:cNvPr id="74" name="TextBox 73"/>
              <p:cNvSpPr txBox="1"/>
              <p:nvPr/>
            </p:nvSpPr>
            <p:spPr>
              <a:xfrm>
                <a:off x="1914070" y="6222983"/>
                <a:ext cx="458780" cy="276999"/>
              </a:xfrm>
              <a:prstGeom prst="rect">
                <a:avLst/>
              </a:prstGeom>
              <a:noFill/>
            </p:spPr>
            <p:txBody>
              <a:bodyPr wrap="none" rtlCol="0">
                <a:spAutoFit/>
              </a:bodyPr>
              <a:lstStyle/>
              <a:p>
                <a:r>
                  <a:rPr lang="en-US" sz="1200"/>
                  <a:t>9.22</a:t>
                </a:r>
                <a:endParaRPr lang="en-GB" sz="1200"/>
              </a:p>
            </p:txBody>
          </p:sp>
        </p:grpSp>
      </p:grpSp>
      <p:sp>
        <p:nvSpPr>
          <p:cNvPr id="75" name="TextBox 74"/>
          <p:cNvSpPr txBox="1"/>
          <p:nvPr/>
        </p:nvSpPr>
        <p:spPr>
          <a:xfrm>
            <a:off x="527010" y="1699680"/>
            <a:ext cx="1118893" cy="646331"/>
          </a:xfrm>
          <a:prstGeom prst="rect">
            <a:avLst/>
          </a:prstGeom>
          <a:noFill/>
        </p:spPr>
        <p:txBody>
          <a:bodyPr wrap="square" rtlCol="0">
            <a:spAutoFit/>
          </a:bodyPr>
          <a:lstStyle/>
          <a:p>
            <a:pPr algn="ctr"/>
            <a:r>
              <a:rPr lang="en-US" sz="1200"/>
              <a:t> rounded to the 2 decimal places is</a:t>
            </a:r>
            <a:endParaRPr lang="en-GB" sz="1200"/>
          </a:p>
        </p:txBody>
      </p:sp>
      <p:sp>
        <p:nvSpPr>
          <p:cNvPr id="76" name="Rectangle 75">
            <a:extLst>
              <a:ext uri="{FF2B5EF4-FFF2-40B4-BE49-F238E27FC236}">
                <a16:creationId xmlns:a16="http://schemas.microsoft.com/office/drawing/2014/main" id="{CEEF23AD-EA17-135A-DB95-1D1FECB286F3}"/>
              </a:ext>
            </a:extLst>
          </p:cNvPr>
          <p:cNvSpPr/>
          <p:nvPr/>
        </p:nvSpPr>
        <p:spPr>
          <a:xfrm>
            <a:off x="1671927" y="1849321"/>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7" name="Rectangle 76">
            <a:extLst>
              <a:ext uri="{FF2B5EF4-FFF2-40B4-BE49-F238E27FC236}">
                <a16:creationId xmlns:a16="http://schemas.microsoft.com/office/drawing/2014/main" id="{CEEF23AD-EA17-135A-DB95-1D1FECB286F3}"/>
              </a:ext>
            </a:extLst>
          </p:cNvPr>
          <p:cNvSpPr/>
          <p:nvPr/>
        </p:nvSpPr>
        <p:spPr>
          <a:xfrm>
            <a:off x="83636" y="1845633"/>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8" name="Rectangle 77">
            <a:extLst>
              <a:ext uri="{FF2B5EF4-FFF2-40B4-BE49-F238E27FC236}">
                <a16:creationId xmlns:a16="http://schemas.microsoft.com/office/drawing/2014/main" id="{CEEF23AD-EA17-135A-DB95-1D1FECB286F3}"/>
              </a:ext>
            </a:extLst>
          </p:cNvPr>
          <p:cNvSpPr/>
          <p:nvPr/>
        </p:nvSpPr>
        <p:spPr>
          <a:xfrm>
            <a:off x="3958129" y="1833368"/>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9" name="Rectangle 78">
            <a:extLst>
              <a:ext uri="{FF2B5EF4-FFF2-40B4-BE49-F238E27FC236}">
                <a16:creationId xmlns:a16="http://schemas.microsoft.com/office/drawing/2014/main" id="{CEEF23AD-EA17-135A-DB95-1D1FECB286F3}"/>
              </a:ext>
            </a:extLst>
          </p:cNvPr>
          <p:cNvSpPr/>
          <p:nvPr/>
        </p:nvSpPr>
        <p:spPr>
          <a:xfrm>
            <a:off x="2369838" y="1829680"/>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0" name="Rectangle 79">
            <a:extLst>
              <a:ext uri="{FF2B5EF4-FFF2-40B4-BE49-F238E27FC236}">
                <a16:creationId xmlns:a16="http://schemas.microsoft.com/office/drawing/2014/main" id="{CEEF23AD-EA17-135A-DB95-1D1FECB286F3}"/>
              </a:ext>
            </a:extLst>
          </p:cNvPr>
          <p:cNvSpPr/>
          <p:nvPr/>
        </p:nvSpPr>
        <p:spPr>
          <a:xfrm>
            <a:off x="6214150" y="1838447"/>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1" name="Rectangle 80">
            <a:extLst>
              <a:ext uri="{FF2B5EF4-FFF2-40B4-BE49-F238E27FC236}">
                <a16:creationId xmlns:a16="http://schemas.microsoft.com/office/drawing/2014/main" id="{CEEF23AD-EA17-135A-DB95-1D1FECB286F3}"/>
              </a:ext>
            </a:extLst>
          </p:cNvPr>
          <p:cNvSpPr/>
          <p:nvPr/>
        </p:nvSpPr>
        <p:spPr>
          <a:xfrm>
            <a:off x="4625859" y="1834759"/>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2" name="Rectangle 81">
            <a:extLst>
              <a:ext uri="{FF2B5EF4-FFF2-40B4-BE49-F238E27FC236}">
                <a16:creationId xmlns:a16="http://schemas.microsoft.com/office/drawing/2014/main" id="{CEEF23AD-EA17-135A-DB95-1D1FECB286F3}"/>
              </a:ext>
            </a:extLst>
          </p:cNvPr>
          <p:cNvSpPr/>
          <p:nvPr/>
        </p:nvSpPr>
        <p:spPr>
          <a:xfrm>
            <a:off x="1676819" y="3653953"/>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3" name="Rectangle 82">
            <a:extLst>
              <a:ext uri="{FF2B5EF4-FFF2-40B4-BE49-F238E27FC236}">
                <a16:creationId xmlns:a16="http://schemas.microsoft.com/office/drawing/2014/main" id="{CEEF23AD-EA17-135A-DB95-1D1FECB286F3}"/>
              </a:ext>
            </a:extLst>
          </p:cNvPr>
          <p:cNvSpPr/>
          <p:nvPr/>
        </p:nvSpPr>
        <p:spPr>
          <a:xfrm>
            <a:off x="88528" y="3650265"/>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4" name="Rectangle 83">
            <a:extLst>
              <a:ext uri="{FF2B5EF4-FFF2-40B4-BE49-F238E27FC236}">
                <a16:creationId xmlns:a16="http://schemas.microsoft.com/office/drawing/2014/main" id="{CEEF23AD-EA17-135A-DB95-1D1FECB286F3}"/>
              </a:ext>
            </a:extLst>
          </p:cNvPr>
          <p:cNvSpPr/>
          <p:nvPr/>
        </p:nvSpPr>
        <p:spPr>
          <a:xfrm>
            <a:off x="3958129" y="3691800"/>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5" name="Rectangle 84">
            <a:extLst>
              <a:ext uri="{FF2B5EF4-FFF2-40B4-BE49-F238E27FC236}">
                <a16:creationId xmlns:a16="http://schemas.microsoft.com/office/drawing/2014/main" id="{CEEF23AD-EA17-135A-DB95-1D1FECB286F3}"/>
              </a:ext>
            </a:extLst>
          </p:cNvPr>
          <p:cNvSpPr/>
          <p:nvPr/>
        </p:nvSpPr>
        <p:spPr>
          <a:xfrm>
            <a:off x="2369838" y="3688112"/>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6" name="Rectangle 85">
            <a:extLst>
              <a:ext uri="{FF2B5EF4-FFF2-40B4-BE49-F238E27FC236}">
                <a16:creationId xmlns:a16="http://schemas.microsoft.com/office/drawing/2014/main" id="{CEEF23AD-EA17-135A-DB95-1D1FECB286F3}"/>
              </a:ext>
            </a:extLst>
          </p:cNvPr>
          <p:cNvSpPr/>
          <p:nvPr/>
        </p:nvSpPr>
        <p:spPr>
          <a:xfrm>
            <a:off x="6214150" y="3679938"/>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7" name="Rectangle 86">
            <a:extLst>
              <a:ext uri="{FF2B5EF4-FFF2-40B4-BE49-F238E27FC236}">
                <a16:creationId xmlns:a16="http://schemas.microsoft.com/office/drawing/2014/main" id="{CEEF23AD-EA17-135A-DB95-1D1FECB286F3}"/>
              </a:ext>
            </a:extLst>
          </p:cNvPr>
          <p:cNvSpPr/>
          <p:nvPr/>
        </p:nvSpPr>
        <p:spPr>
          <a:xfrm>
            <a:off x="4625859" y="3676250"/>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88" name="Straight Connector 87"/>
          <p:cNvCxnSpPr/>
          <p:nvPr/>
        </p:nvCxnSpPr>
        <p:spPr>
          <a:xfrm>
            <a:off x="2264464" y="651618"/>
            <a:ext cx="0" cy="3472436"/>
          </a:xfrm>
          <a:prstGeom prst="line">
            <a:avLst/>
          </a:prstGeom>
        </p:spPr>
        <p:style>
          <a:lnRef idx="1">
            <a:schemeClr val="dk1"/>
          </a:lnRef>
          <a:fillRef idx="0">
            <a:schemeClr val="dk1"/>
          </a:fillRef>
          <a:effectRef idx="0">
            <a:schemeClr val="dk1"/>
          </a:effectRef>
          <a:fontRef idx="minor">
            <a:schemeClr val="tx1"/>
          </a:fontRef>
        </p:style>
      </p:cxnSp>
      <p:cxnSp>
        <p:nvCxnSpPr>
          <p:cNvPr id="89" name="Straight Connector 88"/>
          <p:cNvCxnSpPr/>
          <p:nvPr/>
        </p:nvCxnSpPr>
        <p:spPr>
          <a:xfrm>
            <a:off x="4529085" y="659497"/>
            <a:ext cx="0" cy="3472436"/>
          </a:xfrm>
          <a:prstGeom prst="line">
            <a:avLst/>
          </a:prstGeom>
        </p:spPr>
        <p:style>
          <a:lnRef idx="1">
            <a:schemeClr val="dk1"/>
          </a:lnRef>
          <a:fillRef idx="0">
            <a:schemeClr val="dk1"/>
          </a:fillRef>
          <a:effectRef idx="0">
            <a:schemeClr val="dk1"/>
          </a:effectRef>
          <a:fontRef idx="minor">
            <a:schemeClr val="tx1"/>
          </a:fontRef>
        </p:style>
      </p:cxnSp>
      <p:cxnSp>
        <p:nvCxnSpPr>
          <p:cNvPr id="90" name="Straight Connector 89"/>
          <p:cNvCxnSpPr/>
          <p:nvPr/>
        </p:nvCxnSpPr>
        <p:spPr>
          <a:xfrm flipH="1">
            <a:off x="46804" y="2389312"/>
            <a:ext cx="6779455" cy="0"/>
          </a:xfrm>
          <a:prstGeom prst="line">
            <a:avLst/>
          </a:prstGeom>
        </p:spPr>
        <p:style>
          <a:lnRef idx="1">
            <a:schemeClr val="dk1"/>
          </a:lnRef>
          <a:fillRef idx="0">
            <a:schemeClr val="dk1"/>
          </a:fillRef>
          <a:effectRef idx="0">
            <a:schemeClr val="dk1"/>
          </a:effectRef>
          <a:fontRef idx="minor">
            <a:schemeClr val="tx1"/>
          </a:fontRef>
        </p:style>
      </p:cxnSp>
      <p:sp>
        <p:nvSpPr>
          <p:cNvPr id="117" name="TextBox 116"/>
          <p:cNvSpPr txBox="1"/>
          <p:nvPr/>
        </p:nvSpPr>
        <p:spPr>
          <a:xfrm>
            <a:off x="2269385" y="1067219"/>
            <a:ext cx="458780" cy="276999"/>
          </a:xfrm>
          <a:prstGeom prst="rect">
            <a:avLst/>
          </a:prstGeom>
          <a:noFill/>
        </p:spPr>
        <p:txBody>
          <a:bodyPr wrap="none" rtlCol="0">
            <a:spAutoFit/>
          </a:bodyPr>
          <a:lstStyle/>
          <a:p>
            <a:r>
              <a:rPr lang="en-US" sz="1200"/>
              <a:t>2.48</a:t>
            </a:r>
            <a:endParaRPr lang="en-GB" sz="1200"/>
          </a:p>
        </p:txBody>
      </p:sp>
      <p:sp>
        <p:nvSpPr>
          <p:cNvPr id="118" name="TextBox 117"/>
          <p:cNvSpPr txBox="1"/>
          <p:nvPr/>
        </p:nvSpPr>
        <p:spPr>
          <a:xfrm>
            <a:off x="4119793" y="1067219"/>
            <a:ext cx="458780" cy="276999"/>
          </a:xfrm>
          <a:prstGeom prst="rect">
            <a:avLst/>
          </a:prstGeom>
          <a:noFill/>
        </p:spPr>
        <p:txBody>
          <a:bodyPr wrap="none" rtlCol="0">
            <a:spAutoFit/>
          </a:bodyPr>
          <a:lstStyle/>
          <a:p>
            <a:r>
              <a:rPr lang="en-US" sz="1200"/>
              <a:t>2.49</a:t>
            </a:r>
            <a:endParaRPr lang="en-GB" sz="1200"/>
          </a:p>
        </p:txBody>
      </p:sp>
      <p:sp>
        <p:nvSpPr>
          <p:cNvPr id="119" name="TextBox 118"/>
          <p:cNvSpPr txBox="1"/>
          <p:nvPr/>
        </p:nvSpPr>
        <p:spPr>
          <a:xfrm>
            <a:off x="4474265" y="1052188"/>
            <a:ext cx="458780" cy="276999"/>
          </a:xfrm>
          <a:prstGeom prst="rect">
            <a:avLst/>
          </a:prstGeom>
          <a:noFill/>
        </p:spPr>
        <p:txBody>
          <a:bodyPr wrap="none" rtlCol="0">
            <a:spAutoFit/>
          </a:bodyPr>
          <a:lstStyle/>
          <a:p>
            <a:r>
              <a:rPr lang="en-US" sz="1200"/>
              <a:t>3.88</a:t>
            </a:r>
            <a:endParaRPr lang="en-GB" sz="1200"/>
          </a:p>
        </p:txBody>
      </p:sp>
      <p:sp>
        <p:nvSpPr>
          <p:cNvPr id="120" name="TextBox 119"/>
          <p:cNvSpPr txBox="1"/>
          <p:nvPr/>
        </p:nvSpPr>
        <p:spPr>
          <a:xfrm>
            <a:off x="6367479" y="1078953"/>
            <a:ext cx="458780" cy="276999"/>
          </a:xfrm>
          <a:prstGeom prst="rect">
            <a:avLst/>
          </a:prstGeom>
          <a:noFill/>
        </p:spPr>
        <p:txBody>
          <a:bodyPr wrap="none" rtlCol="0">
            <a:spAutoFit/>
          </a:bodyPr>
          <a:lstStyle/>
          <a:p>
            <a:r>
              <a:rPr lang="en-US" sz="1200"/>
              <a:t>2.89</a:t>
            </a:r>
            <a:endParaRPr lang="en-GB" sz="1200"/>
          </a:p>
        </p:txBody>
      </p:sp>
      <p:sp>
        <p:nvSpPr>
          <p:cNvPr id="121" name="TextBox 120"/>
          <p:cNvSpPr txBox="1"/>
          <p:nvPr/>
        </p:nvSpPr>
        <p:spPr>
          <a:xfrm>
            <a:off x="2852561" y="1617891"/>
            <a:ext cx="1118893" cy="646331"/>
          </a:xfrm>
          <a:prstGeom prst="rect">
            <a:avLst/>
          </a:prstGeom>
          <a:noFill/>
        </p:spPr>
        <p:txBody>
          <a:bodyPr wrap="square" rtlCol="0">
            <a:spAutoFit/>
          </a:bodyPr>
          <a:lstStyle/>
          <a:p>
            <a:pPr algn="ctr"/>
            <a:r>
              <a:rPr lang="en-US" sz="1200"/>
              <a:t> rounded to the 2 decimal places is</a:t>
            </a:r>
            <a:endParaRPr lang="en-GB" sz="1200"/>
          </a:p>
        </p:txBody>
      </p:sp>
      <p:sp>
        <p:nvSpPr>
          <p:cNvPr id="122" name="TextBox 121"/>
          <p:cNvSpPr txBox="1"/>
          <p:nvPr/>
        </p:nvSpPr>
        <p:spPr>
          <a:xfrm>
            <a:off x="5120031" y="1667010"/>
            <a:ext cx="1118893" cy="646331"/>
          </a:xfrm>
          <a:prstGeom prst="rect">
            <a:avLst/>
          </a:prstGeom>
          <a:noFill/>
        </p:spPr>
        <p:txBody>
          <a:bodyPr wrap="square" rtlCol="0">
            <a:spAutoFit/>
          </a:bodyPr>
          <a:lstStyle/>
          <a:p>
            <a:pPr algn="ctr"/>
            <a:r>
              <a:rPr lang="en-US" sz="1200"/>
              <a:t> rounded to the 2 decimal places is</a:t>
            </a:r>
            <a:endParaRPr lang="en-GB" sz="1200"/>
          </a:p>
        </p:txBody>
      </p:sp>
      <p:sp>
        <p:nvSpPr>
          <p:cNvPr id="123" name="TextBox 122"/>
          <p:cNvSpPr txBox="1"/>
          <p:nvPr/>
        </p:nvSpPr>
        <p:spPr>
          <a:xfrm>
            <a:off x="498666" y="3524725"/>
            <a:ext cx="1118893" cy="646331"/>
          </a:xfrm>
          <a:prstGeom prst="rect">
            <a:avLst/>
          </a:prstGeom>
          <a:noFill/>
        </p:spPr>
        <p:txBody>
          <a:bodyPr wrap="square" rtlCol="0">
            <a:spAutoFit/>
          </a:bodyPr>
          <a:lstStyle/>
          <a:p>
            <a:pPr algn="ctr"/>
            <a:r>
              <a:rPr lang="en-US" sz="1200"/>
              <a:t> rounded to the 2 decimal places is</a:t>
            </a:r>
            <a:endParaRPr lang="en-GB" sz="1200"/>
          </a:p>
        </p:txBody>
      </p:sp>
      <p:sp>
        <p:nvSpPr>
          <p:cNvPr id="124" name="TextBox 123"/>
          <p:cNvSpPr txBox="1"/>
          <p:nvPr/>
        </p:nvSpPr>
        <p:spPr>
          <a:xfrm>
            <a:off x="2824217" y="3442936"/>
            <a:ext cx="1118893" cy="646331"/>
          </a:xfrm>
          <a:prstGeom prst="rect">
            <a:avLst/>
          </a:prstGeom>
          <a:noFill/>
        </p:spPr>
        <p:txBody>
          <a:bodyPr wrap="square" rtlCol="0">
            <a:spAutoFit/>
          </a:bodyPr>
          <a:lstStyle/>
          <a:p>
            <a:pPr algn="ctr"/>
            <a:r>
              <a:rPr lang="en-US" sz="1200"/>
              <a:t> rounded to the 2 decimal places is</a:t>
            </a:r>
            <a:endParaRPr lang="en-GB" sz="1200"/>
          </a:p>
        </p:txBody>
      </p:sp>
      <p:sp>
        <p:nvSpPr>
          <p:cNvPr id="125" name="TextBox 124"/>
          <p:cNvSpPr txBox="1"/>
          <p:nvPr/>
        </p:nvSpPr>
        <p:spPr>
          <a:xfrm>
            <a:off x="5091687" y="3492055"/>
            <a:ext cx="1118893" cy="646331"/>
          </a:xfrm>
          <a:prstGeom prst="rect">
            <a:avLst/>
          </a:prstGeom>
          <a:noFill/>
        </p:spPr>
        <p:txBody>
          <a:bodyPr wrap="square" rtlCol="0">
            <a:spAutoFit/>
          </a:bodyPr>
          <a:lstStyle/>
          <a:p>
            <a:pPr algn="ctr"/>
            <a:r>
              <a:rPr lang="en-US" sz="1200"/>
              <a:t>  rounded to the 2 decimal places is</a:t>
            </a:r>
            <a:endParaRPr lang="en-GB" sz="1200"/>
          </a:p>
        </p:txBody>
      </p:sp>
      <p:sp>
        <p:nvSpPr>
          <p:cNvPr id="129"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21</a:t>
            </a:fld>
            <a:endParaRPr lang="en-GB"/>
          </a:p>
        </p:txBody>
      </p:sp>
      <p:sp>
        <p:nvSpPr>
          <p:cNvPr id="28" name="Rectangle 27">
            <a:extLst>
              <a:ext uri="{FF2B5EF4-FFF2-40B4-BE49-F238E27FC236}">
                <a16:creationId xmlns:a16="http://schemas.microsoft.com/office/drawing/2014/main" id="{A7175FD4-5AE1-D68B-5D8A-B0156BA844A7}"/>
              </a:ext>
            </a:extLst>
          </p:cNvPr>
          <p:cNvSpPr/>
          <p:nvPr/>
        </p:nvSpPr>
        <p:spPr>
          <a:xfrm>
            <a:off x="199841" y="127557"/>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cxnSp>
        <p:nvCxnSpPr>
          <p:cNvPr id="23" name="Straight Connector 22">
            <a:extLst>
              <a:ext uri="{FF2B5EF4-FFF2-40B4-BE49-F238E27FC236}">
                <a16:creationId xmlns:a16="http://schemas.microsoft.com/office/drawing/2014/main" id="{B4A988A4-03CD-D549-9F12-81AFECBDEF37}"/>
              </a:ext>
            </a:extLst>
          </p:cNvPr>
          <p:cNvCxnSpPr>
            <a:cxnSpLocks/>
          </p:cNvCxnSpPr>
          <p:nvPr/>
        </p:nvCxnSpPr>
        <p:spPr>
          <a:xfrm>
            <a:off x="955419" y="5947889"/>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4" name="Table 23"/>
          <p:cNvGraphicFramePr>
            <a:graphicFrameLocks noGrp="1"/>
          </p:cNvGraphicFramePr>
          <p:nvPr>
            <p:extLst>
              <p:ext uri="{D42A27DB-BD31-4B8C-83A1-F6EECF244321}">
                <p14:modId xmlns:p14="http://schemas.microsoft.com/office/powerpoint/2010/main" val="3810353239"/>
              </p:ext>
            </p:extLst>
          </p:nvPr>
        </p:nvGraphicFramePr>
        <p:xfrm>
          <a:off x="157160" y="4503516"/>
          <a:ext cx="6543680" cy="302043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2844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Round each number to two decimal places.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36576">
                <a:tc>
                  <a:txBody>
                    <a:bodyPr/>
                    <a:lstStyle/>
                    <a:p>
                      <a:pPr marL="0" indent="0">
                        <a:buNone/>
                      </a:pPr>
                      <a:r>
                        <a:rPr lang="en-US" sz="1100"/>
                        <a:t>1)</a:t>
                      </a:r>
                      <a:r>
                        <a:rPr lang="en-US" sz="1100" baseline="0"/>
                        <a:t> </a:t>
                      </a:r>
                      <a:r>
                        <a:rPr lang="en-US" sz="1100"/>
                        <a:t>Draw a line between the value in the hundredths column and the thousandths</a:t>
                      </a:r>
                      <a:r>
                        <a:rPr lang="en-US" sz="1100" baseline="0"/>
                        <a:t> column.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68483">
                <a:tc>
                  <a:txBody>
                    <a:bodyPr/>
                    <a:lstStyle/>
                    <a:p>
                      <a:pPr marL="0" indent="0">
                        <a:buNone/>
                      </a:pPr>
                      <a:r>
                        <a:rPr lang="en-US" sz="1100"/>
                        <a:t>2) Underline the number in the </a:t>
                      </a:r>
                      <a:r>
                        <a:rPr lang="en-US" sz="1100" b="1"/>
                        <a:t>thousandths</a:t>
                      </a:r>
                      <a:r>
                        <a:rPr lang="en-US" sz="1100" b="1" baseline="0"/>
                        <a:t> </a:t>
                      </a:r>
                      <a:r>
                        <a:rPr lang="en-US" sz="1100"/>
                        <a:t>column.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652529">
                <a:tc>
                  <a:txBody>
                    <a:bodyPr/>
                    <a:lstStyle/>
                    <a:p>
                      <a:pPr marL="0" indent="0">
                        <a:buNone/>
                      </a:pPr>
                      <a:r>
                        <a:rPr lang="en-US" sz="1100"/>
                        <a:t>3) If it is </a:t>
                      </a:r>
                      <a:r>
                        <a:rPr lang="en-US" sz="1100" b="1"/>
                        <a:t>below 5</a:t>
                      </a:r>
                      <a:r>
                        <a:rPr lang="en-US" sz="1100"/>
                        <a:t>, then the hundredths column stays the same.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r h="6525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4)</a:t>
                      </a:r>
                      <a:r>
                        <a:rPr lang="en-US" sz="1100"/>
                        <a:t> If it is </a:t>
                      </a:r>
                      <a:r>
                        <a:rPr lang="en-US" sz="1100" b="1"/>
                        <a:t>5 or above</a:t>
                      </a:r>
                      <a:r>
                        <a:rPr lang="en-US" sz="1100"/>
                        <a:t>, then the hundredths column is rounded up</a:t>
                      </a:r>
                      <a:endParaRPr lang="en-GB"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9025439"/>
                  </a:ext>
                </a:extLst>
              </a:tr>
            </a:tbl>
          </a:graphicData>
        </a:graphic>
      </p:graphicFrame>
      <p:sp>
        <p:nvSpPr>
          <p:cNvPr id="25" name="TextBox 24">
            <a:extLst>
              <a:ext uri="{FF2B5EF4-FFF2-40B4-BE49-F238E27FC236}">
                <a16:creationId xmlns:a16="http://schemas.microsoft.com/office/drawing/2014/main" id="{BCDC1A2B-2D26-C945-B722-18950FA49879}"/>
              </a:ext>
            </a:extLst>
          </p:cNvPr>
          <p:cNvSpPr txBox="1"/>
          <p:nvPr/>
        </p:nvSpPr>
        <p:spPr>
          <a:xfrm>
            <a:off x="1938779" y="4246232"/>
            <a:ext cx="1410704" cy="276999"/>
          </a:xfrm>
          <a:prstGeom prst="rect">
            <a:avLst/>
          </a:prstGeom>
          <a:noFill/>
          <a:ln>
            <a:noFill/>
          </a:ln>
        </p:spPr>
        <p:txBody>
          <a:bodyPr wrap="square" rtlCol="0">
            <a:spAutoFit/>
          </a:bodyPr>
          <a:lstStyle/>
          <a:p>
            <a:r>
              <a:rPr lang="en-GB" sz="1200" b="1" i="1">
                <a:solidFill>
                  <a:srgbClr val="FF0000"/>
                </a:solidFill>
              </a:rPr>
              <a:t>Example 19 - I do…</a:t>
            </a:r>
          </a:p>
        </p:txBody>
      </p:sp>
      <p:sp>
        <p:nvSpPr>
          <p:cNvPr id="26" name="TextBox 25">
            <a:extLst>
              <a:ext uri="{FF2B5EF4-FFF2-40B4-BE49-F238E27FC236}">
                <a16:creationId xmlns:a16="http://schemas.microsoft.com/office/drawing/2014/main" id="{4AF4150A-9218-D640-8777-2ECCBC4D10FB}"/>
              </a:ext>
            </a:extLst>
          </p:cNvPr>
          <p:cNvSpPr txBox="1"/>
          <p:nvPr/>
        </p:nvSpPr>
        <p:spPr>
          <a:xfrm>
            <a:off x="5072676" y="4224124"/>
            <a:ext cx="1643405" cy="276999"/>
          </a:xfrm>
          <a:prstGeom prst="rect">
            <a:avLst/>
          </a:prstGeom>
          <a:noFill/>
          <a:ln>
            <a:noFill/>
          </a:ln>
        </p:spPr>
        <p:txBody>
          <a:bodyPr wrap="square" rtlCol="0">
            <a:spAutoFit/>
          </a:bodyPr>
          <a:lstStyle/>
          <a:p>
            <a:r>
              <a:rPr lang="en-GB" sz="1200" b="1" i="1">
                <a:solidFill>
                  <a:srgbClr val="00B050"/>
                </a:solidFill>
              </a:rPr>
              <a:t>Example 21 – You do…</a:t>
            </a:r>
          </a:p>
        </p:txBody>
      </p:sp>
      <p:sp>
        <p:nvSpPr>
          <p:cNvPr id="27" name="TextBox 26">
            <a:extLst>
              <a:ext uri="{FF2B5EF4-FFF2-40B4-BE49-F238E27FC236}">
                <a16:creationId xmlns:a16="http://schemas.microsoft.com/office/drawing/2014/main" id="{BCDC1A2B-2D26-C945-B722-18950FA49879}"/>
              </a:ext>
            </a:extLst>
          </p:cNvPr>
          <p:cNvSpPr txBox="1"/>
          <p:nvPr/>
        </p:nvSpPr>
        <p:spPr>
          <a:xfrm>
            <a:off x="3463497" y="4236225"/>
            <a:ext cx="1667605" cy="276999"/>
          </a:xfrm>
          <a:prstGeom prst="rect">
            <a:avLst/>
          </a:prstGeom>
          <a:noFill/>
          <a:ln>
            <a:noFill/>
          </a:ln>
        </p:spPr>
        <p:txBody>
          <a:bodyPr wrap="square" rtlCol="0">
            <a:spAutoFit/>
          </a:bodyPr>
          <a:lstStyle/>
          <a:p>
            <a:r>
              <a:rPr lang="en-GB" sz="1200" b="1" i="1">
                <a:solidFill>
                  <a:schemeClr val="accent2"/>
                </a:solidFill>
              </a:rPr>
              <a:t>Example 20 - We do…</a:t>
            </a:r>
          </a:p>
        </p:txBody>
      </p:sp>
      <p:sp>
        <p:nvSpPr>
          <p:cNvPr id="38" name="TextBox 37"/>
          <p:cNvSpPr txBox="1"/>
          <p:nvPr/>
        </p:nvSpPr>
        <p:spPr>
          <a:xfrm>
            <a:off x="1913245" y="4790523"/>
            <a:ext cx="1419715" cy="1015663"/>
          </a:xfrm>
          <a:prstGeom prst="rect">
            <a:avLst/>
          </a:prstGeom>
          <a:noFill/>
        </p:spPr>
        <p:txBody>
          <a:bodyPr wrap="square" rtlCol="0">
            <a:spAutoFit/>
          </a:bodyPr>
          <a:lstStyle/>
          <a:p>
            <a:pPr algn="ctr"/>
            <a:r>
              <a:rPr lang="en-US" sz="1200"/>
              <a:t>Round 3.588 to two decimal places.</a:t>
            </a:r>
          </a:p>
          <a:p>
            <a:pPr algn="ctr"/>
            <a:endParaRPr lang="en-US" sz="1200"/>
          </a:p>
          <a:p>
            <a:pPr algn="ctr"/>
            <a:r>
              <a:rPr lang="en-US" sz="1200"/>
              <a:t>3 . 5  8 | </a:t>
            </a:r>
            <a:r>
              <a:rPr lang="en-US" sz="1200" u="sng"/>
              <a:t>8</a:t>
            </a:r>
            <a:r>
              <a:rPr lang="en-US" sz="1200"/>
              <a:t>     </a:t>
            </a:r>
          </a:p>
          <a:p>
            <a:pPr algn="ctr"/>
            <a:endParaRPr lang="en-US" sz="1200" u="sng"/>
          </a:p>
        </p:txBody>
      </p:sp>
      <p:sp>
        <p:nvSpPr>
          <p:cNvPr id="40" name="TextBox 39"/>
          <p:cNvSpPr txBox="1"/>
          <p:nvPr/>
        </p:nvSpPr>
        <p:spPr>
          <a:xfrm>
            <a:off x="3445616" y="4833326"/>
            <a:ext cx="1627060" cy="461665"/>
          </a:xfrm>
          <a:prstGeom prst="rect">
            <a:avLst/>
          </a:prstGeom>
          <a:noFill/>
        </p:spPr>
        <p:txBody>
          <a:bodyPr wrap="square" rtlCol="0">
            <a:spAutoFit/>
          </a:bodyPr>
          <a:lstStyle/>
          <a:p>
            <a:pPr algn="ctr"/>
            <a:r>
              <a:rPr lang="en-US" sz="1200"/>
              <a:t>Round 4.491 to two decimal places.</a:t>
            </a:r>
          </a:p>
        </p:txBody>
      </p:sp>
      <p:sp>
        <p:nvSpPr>
          <p:cNvPr id="41" name="TextBox 40"/>
          <p:cNvSpPr txBox="1"/>
          <p:nvPr/>
        </p:nvSpPr>
        <p:spPr>
          <a:xfrm>
            <a:off x="5185332" y="4790523"/>
            <a:ext cx="1485686" cy="461665"/>
          </a:xfrm>
          <a:prstGeom prst="rect">
            <a:avLst/>
          </a:prstGeom>
          <a:noFill/>
        </p:spPr>
        <p:txBody>
          <a:bodyPr wrap="square" rtlCol="0">
            <a:spAutoFit/>
          </a:bodyPr>
          <a:lstStyle/>
          <a:p>
            <a:pPr algn="ctr"/>
            <a:r>
              <a:rPr lang="en-US" sz="1200"/>
              <a:t>Round 7.693 to two decimal places.</a:t>
            </a:r>
          </a:p>
        </p:txBody>
      </p:sp>
      <p:sp>
        <p:nvSpPr>
          <p:cNvPr id="126" name="TextBox 125"/>
          <p:cNvSpPr txBox="1"/>
          <p:nvPr/>
        </p:nvSpPr>
        <p:spPr>
          <a:xfrm>
            <a:off x="1929768" y="6009928"/>
            <a:ext cx="1419715" cy="830997"/>
          </a:xfrm>
          <a:prstGeom prst="rect">
            <a:avLst/>
          </a:prstGeom>
          <a:noFill/>
        </p:spPr>
        <p:txBody>
          <a:bodyPr wrap="square" rtlCol="0">
            <a:spAutoFit/>
          </a:bodyPr>
          <a:lstStyle/>
          <a:p>
            <a:pPr algn="ctr"/>
            <a:r>
              <a:rPr lang="en-US" sz="1200"/>
              <a:t>Round 19.997 to two decimal places. </a:t>
            </a:r>
          </a:p>
          <a:p>
            <a:pPr algn="ctr"/>
            <a:endParaRPr lang="en-US" sz="1200"/>
          </a:p>
          <a:p>
            <a:pPr algn="ctr"/>
            <a:endParaRPr lang="en-US" sz="1200" u="sng"/>
          </a:p>
        </p:txBody>
      </p:sp>
      <p:sp>
        <p:nvSpPr>
          <p:cNvPr id="127" name="TextBox 126"/>
          <p:cNvSpPr txBox="1"/>
          <p:nvPr/>
        </p:nvSpPr>
        <p:spPr>
          <a:xfrm>
            <a:off x="3572461" y="6004521"/>
            <a:ext cx="1419715" cy="830997"/>
          </a:xfrm>
          <a:prstGeom prst="rect">
            <a:avLst/>
          </a:prstGeom>
          <a:noFill/>
        </p:spPr>
        <p:txBody>
          <a:bodyPr wrap="square" rtlCol="0">
            <a:spAutoFit/>
          </a:bodyPr>
          <a:lstStyle/>
          <a:p>
            <a:pPr algn="ctr"/>
            <a:r>
              <a:rPr lang="en-US" sz="1200"/>
              <a:t>Round 67.592 to two decimal places.</a:t>
            </a:r>
          </a:p>
          <a:p>
            <a:pPr algn="ctr"/>
            <a:endParaRPr lang="en-US" sz="1200"/>
          </a:p>
          <a:p>
            <a:pPr algn="ctr"/>
            <a:endParaRPr lang="en-US" sz="1200" u="sng"/>
          </a:p>
        </p:txBody>
      </p:sp>
      <p:sp>
        <p:nvSpPr>
          <p:cNvPr id="128" name="TextBox 127"/>
          <p:cNvSpPr txBox="1"/>
          <p:nvPr/>
        </p:nvSpPr>
        <p:spPr>
          <a:xfrm>
            <a:off x="5215154" y="6009928"/>
            <a:ext cx="1419715" cy="1015663"/>
          </a:xfrm>
          <a:prstGeom prst="rect">
            <a:avLst/>
          </a:prstGeom>
          <a:noFill/>
        </p:spPr>
        <p:txBody>
          <a:bodyPr wrap="square" rtlCol="0">
            <a:spAutoFit/>
          </a:bodyPr>
          <a:lstStyle/>
          <a:p>
            <a:pPr algn="ctr"/>
            <a:r>
              <a:rPr lang="en-US" sz="1200"/>
              <a:t>Round 71.395 to two decimal places.</a:t>
            </a:r>
          </a:p>
          <a:p>
            <a:pPr algn="ctr"/>
            <a:endParaRPr lang="en-US" sz="1200"/>
          </a:p>
          <a:p>
            <a:pPr algn="ctr"/>
            <a:endParaRPr lang="en-US" sz="1200"/>
          </a:p>
          <a:p>
            <a:pPr algn="ctr"/>
            <a:endParaRPr lang="en-US" sz="1200" u="sng"/>
          </a:p>
        </p:txBody>
      </p:sp>
      <p:sp>
        <p:nvSpPr>
          <p:cNvPr id="43" name="Rectangle 42">
            <a:extLst>
              <a:ext uri="{FF2B5EF4-FFF2-40B4-BE49-F238E27FC236}">
                <a16:creationId xmlns:a16="http://schemas.microsoft.com/office/drawing/2014/main" id="{CEEF23AD-EA17-135A-DB95-1D1FECB286F3}"/>
              </a:ext>
            </a:extLst>
          </p:cNvPr>
          <p:cNvSpPr/>
          <p:nvPr/>
        </p:nvSpPr>
        <p:spPr>
          <a:xfrm>
            <a:off x="1898478" y="561977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0" name="Rectangle 129">
            <a:extLst>
              <a:ext uri="{FF2B5EF4-FFF2-40B4-BE49-F238E27FC236}">
                <a16:creationId xmlns:a16="http://schemas.microsoft.com/office/drawing/2014/main" id="{CEEF23AD-EA17-135A-DB95-1D1FECB286F3}"/>
              </a:ext>
            </a:extLst>
          </p:cNvPr>
          <p:cNvSpPr/>
          <p:nvPr/>
        </p:nvSpPr>
        <p:spPr>
          <a:xfrm>
            <a:off x="1898478" y="697384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1" name="Rectangle 130">
            <a:extLst>
              <a:ext uri="{FF2B5EF4-FFF2-40B4-BE49-F238E27FC236}">
                <a16:creationId xmlns:a16="http://schemas.microsoft.com/office/drawing/2014/main" id="{CEEF23AD-EA17-135A-DB95-1D1FECB286F3}"/>
              </a:ext>
            </a:extLst>
          </p:cNvPr>
          <p:cNvSpPr/>
          <p:nvPr/>
        </p:nvSpPr>
        <p:spPr>
          <a:xfrm>
            <a:off x="3522953" y="561509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2" name="Rectangle 131">
            <a:extLst>
              <a:ext uri="{FF2B5EF4-FFF2-40B4-BE49-F238E27FC236}">
                <a16:creationId xmlns:a16="http://schemas.microsoft.com/office/drawing/2014/main" id="{CEEF23AD-EA17-135A-DB95-1D1FECB286F3}"/>
              </a:ext>
            </a:extLst>
          </p:cNvPr>
          <p:cNvSpPr/>
          <p:nvPr/>
        </p:nvSpPr>
        <p:spPr>
          <a:xfrm>
            <a:off x="3522953" y="696916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3" name="Rectangle 132">
            <a:extLst>
              <a:ext uri="{FF2B5EF4-FFF2-40B4-BE49-F238E27FC236}">
                <a16:creationId xmlns:a16="http://schemas.microsoft.com/office/drawing/2014/main" id="{CEEF23AD-EA17-135A-DB95-1D1FECB286F3}"/>
              </a:ext>
            </a:extLst>
          </p:cNvPr>
          <p:cNvSpPr/>
          <p:nvPr/>
        </p:nvSpPr>
        <p:spPr>
          <a:xfrm>
            <a:off x="5165869" y="561509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4" name="Rectangle 133">
            <a:extLst>
              <a:ext uri="{FF2B5EF4-FFF2-40B4-BE49-F238E27FC236}">
                <a16:creationId xmlns:a16="http://schemas.microsoft.com/office/drawing/2014/main" id="{CEEF23AD-EA17-135A-DB95-1D1FECB286F3}"/>
              </a:ext>
            </a:extLst>
          </p:cNvPr>
          <p:cNvSpPr/>
          <p:nvPr/>
        </p:nvSpPr>
        <p:spPr>
          <a:xfrm>
            <a:off x="5165869" y="696916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3" name="TextBox 92">
            <a:extLst>
              <a:ext uri="{FF2B5EF4-FFF2-40B4-BE49-F238E27FC236}">
                <a16:creationId xmlns:a16="http://schemas.microsoft.com/office/drawing/2014/main" id="{000DE7F8-2777-FC57-CBDF-432CDF1B08C7}"/>
              </a:ext>
            </a:extLst>
          </p:cNvPr>
          <p:cNvSpPr txBox="1"/>
          <p:nvPr/>
        </p:nvSpPr>
        <p:spPr>
          <a:xfrm>
            <a:off x="1977752" y="7507404"/>
            <a:ext cx="3080074" cy="276999"/>
          </a:xfrm>
          <a:prstGeom prst="rect">
            <a:avLst/>
          </a:prstGeom>
          <a:noFill/>
        </p:spPr>
        <p:txBody>
          <a:bodyPr wrap="none" rtlCol="0">
            <a:spAutoFit/>
          </a:bodyPr>
          <a:lstStyle/>
          <a:p>
            <a:r>
              <a:rPr lang="en-US" sz="1200"/>
              <a:t>7. Round each number to two decimal places. </a:t>
            </a:r>
            <a:endParaRPr lang="en-GB" sz="1200"/>
          </a:p>
        </p:txBody>
      </p:sp>
      <p:sp>
        <p:nvSpPr>
          <p:cNvPr id="94" name="TextBox 93">
            <a:extLst>
              <a:ext uri="{FF2B5EF4-FFF2-40B4-BE49-F238E27FC236}">
                <a16:creationId xmlns:a16="http://schemas.microsoft.com/office/drawing/2014/main" id="{3C1F378F-A21C-4445-8E03-84CEA7E4EF00}"/>
              </a:ext>
            </a:extLst>
          </p:cNvPr>
          <p:cNvSpPr txBox="1"/>
          <p:nvPr/>
        </p:nvSpPr>
        <p:spPr>
          <a:xfrm>
            <a:off x="241260" y="7955859"/>
            <a:ext cx="692818" cy="276999"/>
          </a:xfrm>
          <a:prstGeom prst="rect">
            <a:avLst/>
          </a:prstGeom>
          <a:noFill/>
        </p:spPr>
        <p:txBody>
          <a:bodyPr wrap="none" rtlCol="0">
            <a:spAutoFit/>
          </a:bodyPr>
          <a:lstStyle/>
          <a:p>
            <a:r>
              <a:rPr lang="en-US" sz="1200"/>
              <a:t>a) 1.594</a:t>
            </a:r>
            <a:endParaRPr lang="en-GB" sz="1200"/>
          </a:p>
        </p:txBody>
      </p:sp>
      <p:sp>
        <p:nvSpPr>
          <p:cNvPr id="95" name="TextBox 94">
            <a:extLst>
              <a:ext uri="{FF2B5EF4-FFF2-40B4-BE49-F238E27FC236}">
                <a16:creationId xmlns:a16="http://schemas.microsoft.com/office/drawing/2014/main" id="{E753950E-7296-848E-A025-96ED3612E345}"/>
              </a:ext>
            </a:extLst>
          </p:cNvPr>
          <p:cNvSpPr txBox="1"/>
          <p:nvPr/>
        </p:nvSpPr>
        <p:spPr>
          <a:xfrm>
            <a:off x="1293517" y="7947156"/>
            <a:ext cx="699230" cy="276999"/>
          </a:xfrm>
          <a:prstGeom prst="rect">
            <a:avLst/>
          </a:prstGeom>
          <a:noFill/>
        </p:spPr>
        <p:txBody>
          <a:bodyPr wrap="none" rtlCol="0">
            <a:spAutoFit/>
          </a:bodyPr>
          <a:lstStyle/>
          <a:p>
            <a:r>
              <a:rPr lang="en-US" sz="1200"/>
              <a:t>b) 1.954</a:t>
            </a:r>
            <a:endParaRPr lang="en-GB" sz="1200"/>
          </a:p>
        </p:txBody>
      </p:sp>
      <p:sp>
        <p:nvSpPr>
          <p:cNvPr id="96" name="TextBox 95">
            <a:extLst>
              <a:ext uri="{FF2B5EF4-FFF2-40B4-BE49-F238E27FC236}">
                <a16:creationId xmlns:a16="http://schemas.microsoft.com/office/drawing/2014/main" id="{273A101E-1896-F9D8-F418-8AFDA399F265}"/>
              </a:ext>
            </a:extLst>
          </p:cNvPr>
          <p:cNvSpPr txBox="1"/>
          <p:nvPr/>
        </p:nvSpPr>
        <p:spPr>
          <a:xfrm>
            <a:off x="2370176" y="7947157"/>
            <a:ext cx="684803" cy="276999"/>
          </a:xfrm>
          <a:prstGeom prst="rect">
            <a:avLst/>
          </a:prstGeom>
          <a:noFill/>
        </p:spPr>
        <p:txBody>
          <a:bodyPr wrap="none" rtlCol="0">
            <a:spAutoFit/>
          </a:bodyPr>
          <a:lstStyle/>
          <a:p>
            <a:r>
              <a:rPr lang="en-US" sz="1200"/>
              <a:t>c) 1.495</a:t>
            </a:r>
            <a:endParaRPr lang="en-GB" sz="1200"/>
          </a:p>
        </p:txBody>
      </p:sp>
      <p:sp>
        <p:nvSpPr>
          <p:cNvPr id="114" name="TextBox 113">
            <a:extLst>
              <a:ext uri="{FF2B5EF4-FFF2-40B4-BE49-F238E27FC236}">
                <a16:creationId xmlns:a16="http://schemas.microsoft.com/office/drawing/2014/main" id="{75F0FA0B-100F-310A-B69E-C58536853269}"/>
              </a:ext>
            </a:extLst>
          </p:cNvPr>
          <p:cNvSpPr txBox="1"/>
          <p:nvPr/>
        </p:nvSpPr>
        <p:spPr>
          <a:xfrm>
            <a:off x="3377222" y="7970249"/>
            <a:ext cx="699230" cy="276999"/>
          </a:xfrm>
          <a:prstGeom prst="rect">
            <a:avLst/>
          </a:prstGeom>
          <a:noFill/>
        </p:spPr>
        <p:txBody>
          <a:bodyPr wrap="none" rtlCol="0">
            <a:spAutoFit/>
          </a:bodyPr>
          <a:lstStyle/>
          <a:p>
            <a:r>
              <a:rPr lang="en-US" sz="1200"/>
              <a:t>d) 2.495</a:t>
            </a:r>
            <a:endParaRPr lang="en-GB" sz="1200"/>
          </a:p>
        </p:txBody>
      </p:sp>
      <p:sp>
        <p:nvSpPr>
          <p:cNvPr id="115" name="TextBox 114">
            <a:extLst>
              <a:ext uri="{FF2B5EF4-FFF2-40B4-BE49-F238E27FC236}">
                <a16:creationId xmlns:a16="http://schemas.microsoft.com/office/drawing/2014/main" id="{062B15B8-09A7-7026-E654-039968B4F291}"/>
              </a:ext>
            </a:extLst>
          </p:cNvPr>
          <p:cNvSpPr txBox="1"/>
          <p:nvPr/>
        </p:nvSpPr>
        <p:spPr>
          <a:xfrm>
            <a:off x="4480985" y="7966769"/>
            <a:ext cx="696024" cy="276999"/>
          </a:xfrm>
          <a:prstGeom prst="rect">
            <a:avLst/>
          </a:prstGeom>
          <a:noFill/>
        </p:spPr>
        <p:txBody>
          <a:bodyPr wrap="none" rtlCol="0">
            <a:spAutoFit/>
          </a:bodyPr>
          <a:lstStyle/>
          <a:p>
            <a:r>
              <a:rPr lang="en-US" sz="1200"/>
              <a:t>e) 2.954</a:t>
            </a:r>
            <a:endParaRPr lang="en-GB" sz="1200"/>
          </a:p>
        </p:txBody>
      </p:sp>
      <p:sp>
        <p:nvSpPr>
          <p:cNvPr id="116" name="Rectangle 115">
            <a:extLst>
              <a:ext uri="{FF2B5EF4-FFF2-40B4-BE49-F238E27FC236}">
                <a16:creationId xmlns:a16="http://schemas.microsoft.com/office/drawing/2014/main" id="{44C9A2ED-5728-733D-B176-D2CB5C1A2AF3}"/>
              </a:ext>
            </a:extLst>
          </p:cNvPr>
          <p:cNvSpPr/>
          <p:nvPr/>
        </p:nvSpPr>
        <p:spPr>
          <a:xfrm>
            <a:off x="273018" y="852854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5" name="Rectangle 134">
            <a:extLst>
              <a:ext uri="{FF2B5EF4-FFF2-40B4-BE49-F238E27FC236}">
                <a16:creationId xmlns:a16="http://schemas.microsoft.com/office/drawing/2014/main" id="{E062A0F6-19DC-63D8-518E-6DD32B3E66EB}"/>
              </a:ext>
            </a:extLst>
          </p:cNvPr>
          <p:cNvSpPr/>
          <p:nvPr/>
        </p:nvSpPr>
        <p:spPr>
          <a:xfrm>
            <a:off x="1316973" y="852854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6" name="Rectangle 135">
            <a:extLst>
              <a:ext uri="{FF2B5EF4-FFF2-40B4-BE49-F238E27FC236}">
                <a16:creationId xmlns:a16="http://schemas.microsoft.com/office/drawing/2014/main" id="{66D30FEB-D269-F766-5075-F17D413DF73C}"/>
              </a:ext>
            </a:extLst>
          </p:cNvPr>
          <p:cNvSpPr/>
          <p:nvPr/>
        </p:nvSpPr>
        <p:spPr>
          <a:xfrm>
            <a:off x="2372857" y="852854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7" name="Rectangle 136">
            <a:extLst>
              <a:ext uri="{FF2B5EF4-FFF2-40B4-BE49-F238E27FC236}">
                <a16:creationId xmlns:a16="http://schemas.microsoft.com/office/drawing/2014/main" id="{AB24A281-7138-316E-A3C9-AA3EE2D9838E}"/>
              </a:ext>
            </a:extLst>
          </p:cNvPr>
          <p:cNvSpPr/>
          <p:nvPr/>
        </p:nvSpPr>
        <p:spPr>
          <a:xfrm>
            <a:off x="3447055" y="852854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8" name="Rectangle 137">
            <a:extLst>
              <a:ext uri="{FF2B5EF4-FFF2-40B4-BE49-F238E27FC236}">
                <a16:creationId xmlns:a16="http://schemas.microsoft.com/office/drawing/2014/main" id="{3C4E0463-F392-6D33-D147-E307E0F2A1FD}"/>
              </a:ext>
            </a:extLst>
          </p:cNvPr>
          <p:cNvSpPr/>
          <p:nvPr/>
        </p:nvSpPr>
        <p:spPr>
          <a:xfrm>
            <a:off x="4498719" y="852854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9" name="TextBox 138">
            <a:extLst>
              <a:ext uri="{FF2B5EF4-FFF2-40B4-BE49-F238E27FC236}">
                <a16:creationId xmlns:a16="http://schemas.microsoft.com/office/drawing/2014/main" id="{7957B300-AE07-B26B-6B1E-573F0B9C6475}"/>
              </a:ext>
            </a:extLst>
          </p:cNvPr>
          <p:cNvSpPr txBox="1"/>
          <p:nvPr/>
        </p:nvSpPr>
        <p:spPr>
          <a:xfrm>
            <a:off x="5575998" y="7992416"/>
            <a:ext cx="667812" cy="276999"/>
          </a:xfrm>
          <a:prstGeom prst="rect">
            <a:avLst/>
          </a:prstGeom>
          <a:noFill/>
        </p:spPr>
        <p:txBody>
          <a:bodyPr wrap="none" rtlCol="0">
            <a:spAutoFit/>
          </a:bodyPr>
          <a:lstStyle/>
          <a:p>
            <a:r>
              <a:rPr lang="en-US" sz="1200"/>
              <a:t>f) 2.495</a:t>
            </a:r>
            <a:endParaRPr lang="en-GB" sz="1200"/>
          </a:p>
        </p:txBody>
      </p:sp>
      <p:sp>
        <p:nvSpPr>
          <p:cNvPr id="140" name="Rectangle 139">
            <a:extLst>
              <a:ext uri="{FF2B5EF4-FFF2-40B4-BE49-F238E27FC236}">
                <a16:creationId xmlns:a16="http://schemas.microsoft.com/office/drawing/2014/main" id="{8A200A57-CB23-A635-A90C-F3B02DB1CD14}"/>
              </a:ext>
            </a:extLst>
          </p:cNvPr>
          <p:cNvSpPr/>
          <p:nvPr/>
        </p:nvSpPr>
        <p:spPr>
          <a:xfrm>
            <a:off x="5547821" y="852854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1" name="TextBox 140">
            <a:extLst>
              <a:ext uri="{FF2B5EF4-FFF2-40B4-BE49-F238E27FC236}">
                <a16:creationId xmlns:a16="http://schemas.microsoft.com/office/drawing/2014/main" id="{D0CEDB94-C5CF-9693-43EC-A7ABD1A78653}"/>
              </a:ext>
            </a:extLst>
          </p:cNvPr>
          <p:cNvSpPr txBox="1"/>
          <p:nvPr/>
        </p:nvSpPr>
        <p:spPr>
          <a:xfrm>
            <a:off x="273018" y="8927427"/>
            <a:ext cx="691215" cy="276999"/>
          </a:xfrm>
          <a:prstGeom prst="rect">
            <a:avLst/>
          </a:prstGeom>
          <a:noFill/>
        </p:spPr>
        <p:txBody>
          <a:bodyPr wrap="none" rtlCol="0">
            <a:spAutoFit/>
          </a:bodyPr>
          <a:lstStyle/>
          <a:p>
            <a:r>
              <a:rPr lang="en-US" sz="1200"/>
              <a:t>g) 3.159</a:t>
            </a:r>
            <a:endParaRPr lang="en-GB" sz="1200"/>
          </a:p>
        </p:txBody>
      </p:sp>
      <p:sp>
        <p:nvSpPr>
          <p:cNvPr id="142" name="TextBox 141">
            <a:extLst>
              <a:ext uri="{FF2B5EF4-FFF2-40B4-BE49-F238E27FC236}">
                <a16:creationId xmlns:a16="http://schemas.microsoft.com/office/drawing/2014/main" id="{7D71F98D-CA9F-E58E-311B-909245D76302}"/>
              </a:ext>
            </a:extLst>
          </p:cNvPr>
          <p:cNvSpPr txBox="1"/>
          <p:nvPr/>
        </p:nvSpPr>
        <p:spPr>
          <a:xfrm>
            <a:off x="1325275" y="8918724"/>
            <a:ext cx="699230" cy="276999"/>
          </a:xfrm>
          <a:prstGeom prst="rect">
            <a:avLst/>
          </a:prstGeom>
          <a:noFill/>
        </p:spPr>
        <p:txBody>
          <a:bodyPr wrap="none" rtlCol="0">
            <a:spAutoFit/>
          </a:bodyPr>
          <a:lstStyle/>
          <a:p>
            <a:r>
              <a:rPr lang="en-US" sz="1200"/>
              <a:t>h) 3.259</a:t>
            </a:r>
            <a:endParaRPr lang="en-GB" sz="1200"/>
          </a:p>
        </p:txBody>
      </p:sp>
      <p:sp>
        <p:nvSpPr>
          <p:cNvPr id="143" name="TextBox 142">
            <a:extLst>
              <a:ext uri="{FF2B5EF4-FFF2-40B4-BE49-F238E27FC236}">
                <a16:creationId xmlns:a16="http://schemas.microsoft.com/office/drawing/2014/main" id="{ACD1CB3D-DE84-EAB1-851C-4D54C64B7BED}"/>
              </a:ext>
            </a:extLst>
          </p:cNvPr>
          <p:cNvSpPr txBox="1"/>
          <p:nvPr/>
        </p:nvSpPr>
        <p:spPr>
          <a:xfrm>
            <a:off x="2401934" y="8918725"/>
            <a:ext cx="654346" cy="276999"/>
          </a:xfrm>
          <a:prstGeom prst="rect">
            <a:avLst/>
          </a:prstGeom>
          <a:noFill/>
        </p:spPr>
        <p:txBody>
          <a:bodyPr wrap="none" rtlCol="0">
            <a:spAutoFit/>
          </a:bodyPr>
          <a:lstStyle/>
          <a:p>
            <a:r>
              <a:rPr lang="en-US" sz="1200"/>
              <a:t>i) 3.952</a:t>
            </a:r>
            <a:endParaRPr lang="en-GB" sz="1200"/>
          </a:p>
        </p:txBody>
      </p:sp>
      <p:sp>
        <p:nvSpPr>
          <p:cNvPr id="144" name="TextBox 143">
            <a:extLst>
              <a:ext uri="{FF2B5EF4-FFF2-40B4-BE49-F238E27FC236}">
                <a16:creationId xmlns:a16="http://schemas.microsoft.com/office/drawing/2014/main" id="{D510D8B8-BCF0-274E-F492-EDE909BFCB70}"/>
              </a:ext>
            </a:extLst>
          </p:cNvPr>
          <p:cNvSpPr txBox="1"/>
          <p:nvPr/>
        </p:nvSpPr>
        <p:spPr>
          <a:xfrm>
            <a:off x="3408980" y="8941817"/>
            <a:ext cx="655949" cy="276999"/>
          </a:xfrm>
          <a:prstGeom prst="rect">
            <a:avLst/>
          </a:prstGeom>
          <a:noFill/>
        </p:spPr>
        <p:txBody>
          <a:bodyPr wrap="none" rtlCol="0">
            <a:spAutoFit/>
          </a:bodyPr>
          <a:lstStyle/>
          <a:p>
            <a:r>
              <a:rPr lang="en-US" sz="1200"/>
              <a:t>j) 4.952</a:t>
            </a:r>
            <a:endParaRPr lang="en-GB" sz="1200"/>
          </a:p>
        </p:txBody>
      </p:sp>
      <p:sp>
        <p:nvSpPr>
          <p:cNvPr id="145" name="TextBox 144">
            <a:extLst>
              <a:ext uri="{FF2B5EF4-FFF2-40B4-BE49-F238E27FC236}">
                <a16:creationId xmlns:a16="http://schemas.microsoft.com/office/drawing/2014/main" id="{0CA13745-3E65-5904-AAA3-F9EC09FBA59C}"/>
              </a:ext>
            </a:extLst>
          </p:cNvPr>
          <p:cNvSpPr txBox="1"/>
          <p:nvPr/>
        </p:nvSpPr>
        <p:spPr>
          <a:xfrm>
            <a:off x="4512743" y="8938337"/>
            <a:ext cx="689612" cy="276999"/>
          </a:xfrm>
          <a:prstGeom prst="rect">
            <a:avLst/>
          </a:prstGeom>
          <a:noFill/>
        </p:spPr>
        <p:txBody>
          <a:bodyPr wrap="none" rtlCol="0">
            <a:spAutoFit/>
          </a:bodyPr>
          <a:lstStyle/>
          <a:p>
            <a:r>
              <a:rPr lang="en-US" sz="1200"/>
              <a:t>k) 7.925</a:t>
            </a:r>
            <a:endParaRPr lang="en-GB" sz="1200"/>
          </a:p>
        </p:txBody>
      </p:sp>
      <p:sp>
        <p:nvSpPr>
          <p:cNvPr id="146" name="Rectangle 145">
            <a:extLst>
              <a:ext uri="{FF2B5EF4-FFF2-40B4-BE49-F238E27FC236}">
                <a16:creationId xmlns:a16="http://schemas.microsoft.com/office/drawing/2014/main" id="{F92BAAFD-6D2F-CD85-7A87-1FB5F1456596}"/>
              </a:ext>
            </a:extLst>
          </p:cNvPr>
          <p:cNvSpPr/>
          <p:nvPr/>
        </p:nvSpPr>
        <p:spPr>
          <a:xfrm>
            <a:off x="273018" y="946319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7" name="Rectangle 146">
            <a:extLst>
              <a:ext uri="{FF2B5EF4-FFF2-40B4-BE49-F238E27FC236}">
                <a16:creationId xmlns:a16="http://schemas.microsoft.com/office/drawing/2014/main" id="{2FA27B6B-E081-D2A7-5A6D-30BC8134D1F4}"/>
              </a:ext>
            </a:extLst>
          </p:cNvPr>
          <p:cNvSpPr/>
          <p:nvPr/>
        </p:nvSpPr>
        <p:spPr>
          <a:xfrm>
            <a:off x="1316973" y="946319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8" name="Rectangle 147">
            <a:extLst>
              <a:ext uri="{FF2B5EF4-FFF2-40B4-BE49-F238E27FC236}">
                <a16:creationId xmlns:a16="http://schemas.microsoft.com/office/drawing/2014/main" id="{DCB35A92-1B9C-6117-B596-820F7B812271}"/>
              </a:ext>
            </a:extLst>
          </p:cNvPr>
          <p:cNvSpPr/>
          <p:nvPr/>
        </p:nvSpPr>
        <p:spPr>
          <a:xfrm>
            <a:off x="2372857" y="946319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9" name="Rectangle 148">
            <a:extLst>
              <a:ext uri="{FF2B5EF4-FFF2-40B4-BE49-F238E27FC236}">
                <a16:creationId xmlns:a16="http://schemas.microsoft.com/office/drawing/2014/main" id="{4A3AD4EA-891F-0A04-D8BC-8D99A4E1DA3D}"/>
              </a:ext>
            </a:extLst>
          </p:cNvPr>
          <p:cNvSpPr/>
          <p:nvPr/>
        </p:nvSpPr>
        <p:spPr>
          <a:xfrm>
            <a:off x="3447055" y="946319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0" name="Rectangle 149">
            <a:extLst>
              <a:ext uri="{FF2B5EF4-FFF2-40B4-BE49-F238E27FC236}">
                <a16:creationId xmlns:a16="http://schemas.microsoft.com/office/drawing/2014/main" id="{BC6AEAB0-8905-6CDA-5B7E-A955E14D8DED}"/>
              </a:ext>
            </a:extLst>
          </p:cNvPr>
          <p:cNvSpPr/>
          <p:nvPr/>
        </p:nvSpPr>
        <p:spPr>
          <a:xfrm>
            <a:off x="4498719" y="946319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1" name="TextBox 150">
            <a:extLst>
              <a:ext uri="{FF2B5EF4-FFF2-40B4-BE49-F238E27FC236}">
                <a16:creationId xmlns:a16="http://schemas.microsoft.com/office/drawing/2014/main" id="{0757A6D4-E31A-B598-E284-E7D1B3E2078A}"/>
              </a:ext>
            </a:extLst>
          </p:cNvPr>
          <p:cNvSpPr txBox="1"/>
          <p:nvPr/>
        </p:nvSpPr>
        <p:spPr>
          <a:xfrm>
            <a:off x="5607756" y="8963984"/>
            <a:ext cx="654346" cy="276999"/>
          </a:xfrm>
          <a:prstGeom prst="rect">
            <a:avLst/>
          </a:prstGeom>
          <a:noFill/>
        </p:spPr>
        <p:txBody>
          <a:bodyPr wrap="none" rtlCol="0">
            <a:spAutoFit/>
          </a:bodyPr>
          <a:lstStyle/>
          <a:p>
            <a:r>
              <a:rPr lang="en-US" sz="1200"/>
              <a:t>l) 7.239</a:t>
            </a:r>
            <a:endParaRPr lang="en-GB" sz="1200"/>
          </a:p>
        </p:txBody>
      </p:sp>
      <p:sp>
        <p:nvSpPr>
          <p:cNvPr id="152" name="Rectangle 151">
            <a:extLst>
              <a:ext uri="{FF2B5EF4-FFF2-40B4-BE49-F238E27FC236}">
                <a16:creationId xmlns:a16="http://schemas.microsoft.com/office/drawing/2014/main" id="{9EE7DACB-3D47-E7A6-6FBE-E51672BA46C7}"/>
              </a:ext>
            </a:extLst>
          </p:cNvPr>
          <p:cNvSpPr/>
          <p:nvPr/>
        </p:nvSpPr>
        <p:spPr>
          <a:xfrm>
            <a:off x="5547821" y="946319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3" name="Rectangle 152">
            <a:extLst>
              <a:ext uri="{FF2B5EF4-FFF2-40B4-BE49-F238E27FC236}">
                <a16:creationId xmlns:a16="http://schemas.microsoft.com/office/drawing/2014/main" id="{9C2231B8-9772-E88D-2EE5-A19EC7DFC947}"/>
              </a:ext>
            </a:extLst>
          </p:cNvPr>
          <p:cNvSpPr/>
          <p:nvPr/>
        </p:nvSpPr>
        <p:spPr>
          <a:xfrm>
            <a:off x="95988" y="753701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2798923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 name="Table 66"/>
          <p:cNvGraphicFramePr>
            <a:graphicFrameLocks noGrp="1"/>
          </p:cNvGraphicFramePr>
          <p:nvPr/>
        </p:nvGraphicFramePr>
        <p:xfrm>
          <a:off x="151212" y="593173"/>
          <a:ext cx="6555576" cy="3484668"/>
        </p:xfrm>
        <a:graphic>
          <a:graphicData uri="http://schemas.openxmlformats.org/drawingml/2006/table">
            <a:tbl>
              <a:tblPr firstRow="1" bandRow="1">
                <a:tableStyleId>{5C22544A-7EE6-4342-B048-85BDC9FD1C3A}</a:tableStyleId>
              </a:tblPr>
              <a:tblGrid>
                <a:gridCol w="1638894">
                  <a:extLst>
                    <a:ext uri="{9D8B030D-6E8A-4147-A177-3AD203B41FA5}">
                      <a16:colId xmlns:a16="http://schemas.microsoft.com/office/drawing/2014/main" val="3183964300"/>
                    </a:ext>
                  </a:extLst>
                </a:gridCol>
                <a:gridCol w="1638894">
                  <a:extLst>
                    <a:ext uri="{9D8B030D-6E8A-4147-A177-3AD203B41FA5}">
                      <a16:colId xmlns:a16="http://schemas.microsoft.com/office/drawing/2014/main" val="3461607869"/>
                    </a:ext>
                  </a:extLst>
                </a:gridCol>
                <a:gridCol w="1638894">
                  <a:extLst>
                    <a:ext uri="{9D8B030D-6E8A-4147-A177-3AD203B41FA5}">
                      <a16:colId xmlns:a16="http://schemas.microsoft.com/office/drawing/2014/main" val="536052972"/>
                    </a:ext>
                  </a:extLst>
                </a:gridCol>
                <a:gridCol w="1638894">
                  <a:extLst>
                    <a:ext uri="{9D8B030D-6E8A-4147-A177-3AD203B41FA5}">
                      <a16:colId xmlns:a16="http://schemas.microsoft.com/office/drawing/2014/main" val="3206477790"/>
                    </a:ext>
                  </a:extLst>
                </a:gridCol>
              </a:tblGrid>
              <a:tr h="316788">
                <a:tc>
                  <a:txBody>
                    <a:bodyPr/>
                    <a:lstStyle/>
                    <a:p>
                      <a:pPr algn="ctr"/>
                      <a:r>
                        <a:rPr lang="en-GB" sz="1200">
                          <a:solidFill>
                            <a:schemeClr val="tx1"/>
                          </a:solidFill>
                        </a:rPr>
                        <a:t>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a:solidFill>
                            <a:schemeClr val="tx1"/>
                          </a:solidFill>
                        </a:rPr>
                        <a:t>1 decimal place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a:solidFill>
                            <a:schemeClr val="tx1"/>
                          </a:solidFill>
                        </a:rPr>
                        <a:t>2 decimal places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a:solidFill>
                            <a:schemeClr val="tx1"/>
                          </a:solidFill>
                        </a:rPr>
                        <a:t>3 decimal places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9660539"/>
                  </a:ext>
                </a:extLst>
              </a:tr>
              <a:tr h="316788">
                <a:tc>
                  <a:txBody>
                    <a:bodyPr/>
                    <a:lstStyle/>
                    <a:p>
                      <a:r>
                        <a:rPr lang="en-GB" sz="1200">
                          <a:solidFill>
                            <a:schemeClr val="tx1"/>
                          </a:solidFill>
                        </a:rPr>
                        <a:t>1.  0.1234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037769"/>
                  </a:ext>
                </a:extLst>
              </a:tr>
              <a:tr h="316788">
                <a:tc>
                  <a:txBody>
                    <a:bodyPr/>
                    <a:lstStyle/>
                    <a:p>
                      <a:r>
                        <a:rPr lang="en-GB" sz="1200">
                          <a:solidFill>
                            <a:schemeClr val="tx1"/>
                          </a:solidFill>
                        </a:rPr>
                        <a:t>2.  0.2345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8698579"/>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3.  0.3456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9020854"/>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4.  0.4567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1988231"/>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5.  0.04567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54844"/>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6.  0.40567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0872940"/>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7.  0.45067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0678759"/>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8.  9.45067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2078203"/>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9.  9.45967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306072"/>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10.  9.95967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0462795"/>
                  </a:ext>
                </a:extLst>
              </a:tr>
            </a:tbl>
          </a:graphicData>
        </a:graphic>
      </p:graphicFrame>
      <p:sp>
        <p:nvSpPr>
          <p:cNvPr id="68" name="TextBox 67"/>
          <p:cNvSpPr txBox="1"/>
          <p:nvPr/>
        </p:nvSpPr>
        <p:spPr>
          <a:xfrm>
            <a:off x="194834" y="238765"/>
            <a:ext cx="4076693" cy="276999"/>
          </a:xfrm>
          <a:prstGeom prst="rect">
            <a:avLst/>
          </a:prstGeom>
          <a:noFill/>
        </p:spPr>
        <p:txBody>
          <a:bodyPr wrap="none" rtlCol="0">
            <a:spAutoFit/>
          </a:bodyPr>
          <a:lstStyle/>
          <a:p>
            <a:r>
              <a:rPr lang="en-US" sz="1200" dirty="0"/>
              <a:t>9. Round each number to one, two and three decimal places. </a:t>
            </a:r>
            <a:endParaRPr lang="en-GB" sz="1200" dirty="0"/>
          </a:p>
        </p:txBody>
      </p:sp>
      <p:sp>
        <p:nvSpPr>
          <p:cNvPr id="69"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22</a:t>
            </a:fld>
            <a:endParaRPr lang="en-GB"/>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ADACB53-D3DF-10FC-3064-4BF0359A02A1}"/>
                  </a:ext>
                </a:extLst>
              </p:cNvPr>
              <p:cNvSpPr txBox="1"/>
              <p:nvPr/>
            </p:nvSpPr>
            <p:spPr>
              <a:xfrm>
                <a:off x="1776859" y="4705968"/>
                <a:ext cx="2880320" cy="276999"/>
              </a:xfrm>
              <a:prstGeom prst="rect">
                <a:avLst/>
              </a:prstGeom>
              <a:noFill/>
            </p:spPr>
            <p:txBody>
              <a:bodyPr wrap="square" rtlCol="0">
                <a:spAutoFit/>
              </a:bodyPr>
              <a:lstStyle/>
              <a:p>
                <a:pPr algn="ctr"/>
                <a:r>
                  <a:rPr lang="en-GB" sz="1200" b="0"/>
                  <a:t>b) </a:t>
                </a:r>
                <a14:m>
                  <m:oMath xmlns:m="http://schemas.openxmlformats.org/officeDocument/2006/math">
                    <m:r>
                      <a:rPr lang="en-GB" sz="1200" b="0" i="1" smtClean="0">
                        <a:latin typeface="Cambria Math" panose="02040503050406030204" pitchFamily="18" charset="0"/>
                      </a:rPr>
                      <m:t>13.49581</m:t>
                    </m:r>
                  </m:oMath>
                </a14:m>
                <a:endParaRPr lang="en-GB" sz="1200"/>
              </a:p>
            </p:txBody>
          </p:sp>
        </mc:Choice>
        <mc:Fallback xmlns="">
          <p:sp>
            <p:nvSpPr>
              <p:cNvPr id="70" name="TextBox 69">
                <a:extLst>
                  <a:ext uri="{FF2B5EF4-FFF2-40B4-BE49-F238E27FC236}">
                    <a16:creationId xmlns:a16="http://schemas.microsoft.com/office/drawing/2014/main" id="{3ADACB53-D3DF-10FC-3064-4BF0359A02A1}"/>
                  </a:ext>
                </a:extLst>
              </p:cNvPr>
              <p:cNvSpPr txBox="1">
                <a:spLocks noRot="1" noChangeAspect="1" noMove="1" noResize="1" noEditPoints="1" noAdjustHandles="1" noChangeArrowheads="1" noChangeShapeType="1" noTextEdit="1"/>
              </p:cNvSpPr>
              <p:nvPr/>
            </p:nvSpPr>
            <p:spPr>
              <a:xfrm>
                <a:off x="1776859" y="4705968"/>
                <a:ext cx="2880320" cy="276999"/>
              </a:xfrm>
              <a:prstGeom prst="rect">
                <a:avLst/>
              </a:prstGeom>
              <a:blipFill>
                <a:blip r:embed="rId2"/>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0EBC16F2-5E71-E272-B53D-97A03DA677FA}"/>
                  </a:ext>
                </a:extLst>
              </p:cNvPr>
              <p:cNvSpPr txBox="1"/>
              <p:nvPr/>
            </p:nvSpPr>
            <p:spPr>
              <a:xfrm>
                <a:off x="-314014" y="4615483"/>
                <a:ext cx="2880320" cy="276999"/>
              </a:xfrm>
              <a:prstGeom prst="rect">
                <a:avLst/>
              </a:prstGeom>
              <a:noFill/>
            </p:spPr>
            <p:txBody>
              <a:bodyPr wrap="square" rtlCol="0">
                <a:spAutoFit/>
              </a:bodyPr>
              <a:lstStyle/>
              <a:p>
                <a:pPr algn="ctr"/>
                <a:r>
                  <a:rPr lang="en-GB" sz="1200" b="0"/>
                  <a:t>a) </a:t>
                </a:r>
                <a14:m>
                  <m:oMath xmlns:m="http://schemas.openxmlformats.org/officeDocument/2006/math">
                    <m:r>
                      <a:rPr lang="en-GB" sz="1200" b="0" i="1" smtClean="0">
                        <a:latin typeface="Cambria Math" panose="02040503050406030204" pitchFamily="18" charset="0"/>
                      </a:rPr>
                      <m:t>7.74026</m:t>
                    </m:r>
                  </m:oMath>
                </a14:m>
                <a:endParaRPr lang="en-GB" sz="1200"/>
              </a:p>
            </p:txBody>
          </p:sp>
        </mc:Choice>
        <mc:Fallback xmlns="">
          <p:sp>
            <p:nvSpPr>
              <p:cNvPr id="71" name="TextBox 70">
                <a:extLst>
                  <a:ext uri="{FF2B5EF4-FFF2-40B4-BE49-F238E27FC236}">
                    <a16:creationId xmlns:a16="http://schemas.microsoft.com/office/drawing/2014/main" id="{0EBC16F2-5E71-E272-B53D-97A03DA677FA}"/>
                  </a:ext>
                </a:extLst>
              </p:cNvPr>
              <p:cNvSpPr txBox="1">
                <a:spLocks noRot="1" noChangeAspect="1" noMove="1" noResize="1" noEditPoints="1" noAdjustHandles="1" noChangeArrowheads="1" noChangeShapeType="1" noTextEdit="1"/>
              </p:cNvSpPr>
              <p:nvPr/>
            </p:nvSpPr>
            <p:spPr>
              <a:xfrm>
                <a:off x="-314014" y="4615483"/>
                <a:ext cx="2880320" cy="276999"/>
              </a:xfrm>
              <a:prstGeom prst="rect">
                <a:avLst/>
              </a:prstGeom>
              <a:blipFill>
                <a:blip r:embed="rId3"/>
                <a:stretch>
                  <a:fillRect b="-15217"/>
                </a:stretch>
              </a:blipFill>
            </p:spPr>
            <p:txBody>
              <a:bodyPr/>
              <a:lstStyle/>
              <a:p>
                <a:r>
                  <a:rPr lang="en-US">
                    <a:noFill/>
                  </a:rPr>
                  <a:t> </a:t>
                </a:r>
              </a:p>
            </p:txBody>
          </p:sp>
        </mc:Fallback>
      </mc:AlternateContent>
      <p:graphicFrame>
        <p:nvGraphicFramePr>
          <p:cNvPr id="72" name="Table 71">
            <a:extLst>
              <a:ext uri="{FF2B5EF4-FFF2-40B4-BE49-F238E27FC236}">
                <a16:creationId xmlns:a16="http://schemas.microsoft.com/office/drawing/2014/main" id="{5D91BA67-5EB5-634F-E5E1-0E53D4993C19}"/>
              </a:ext>
            </a:extLst>
          </p:cNvPr>
          <p:cNvGraphicFramePr>
            <a:graphicFrameLocks noGrp="1"/>
          </p:cNvGraphicFramePr>
          <p:nvPr/>
        </p:nvGraphicFramePr>
        <p:xfrm>
          <a:off x="93758" y="4982967"/>
          <a:ext cx="1726077" cy="1483360"/>
        </p:xfrm>
        <a:graphic>
          <a:graphicData uri="http://schemas.openxmlformats.org/drawingml/2006/table">
            <a:tbl>
              <a:tblPr bandRow="1">
                <a:tableStyleId>{073A0DAA-6AF3-43AB-8588-CEC1D06C72B9}</a:tableStyleId>
              </a:tblPr>
              <a:tblGrid>
                <a:gridCol w="586866">
                  <a:extLst>
                    <a:ext uri="{9D8B030D-6E8A-4147-A177-3AD203B41FA5}">
                      <a16:colId xmlns:a16="http://schemas.microsoft.com/office/drawing/2014/main" val="20000"/>
                    </a:ext>
                  </a:extLst>
                </a:gridCol>
                <a:gridCol w="1139211">
                  <a:extLst>
                    <a:ext uri="{9D8B030D-6E8A-4147-A177-3AD203B41FA5}">
                      <a16:colId xmlns:a16="http://schemas.microsoft.com/office/drawing/2014/main" val="20001"/>
                    </a:ext>
                  </a:extLst>
                </a:gridCol>
              </a:tblGrid>
              <a:tr h="370840">
                <a:tc>
                  <a:txBody>
                    <a:bodyPr/>
                    <a:lstStyle/>
                    <a:p>
                      <a:r>
                        <a:rPr lang="en-GB" sz="1200"/>
                        <a:t>1dp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GB" sz="1200"/>
                        <a:t>2dp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GB" sz="1200"/>
                        <a:t>3dp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GB" sz="1200"/>
                        <a:t>4dp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DDEE77EB-B3C8-239A-9CD5-B110E48B1B2B}"/>
                  </a:ext>
                </a:extLst>
              </p:cNvPr>
              <p:cNvSpPr txBox="1"/>
              <p:nvPr/>
            </p:nvSpPr>
            <p:spPr>
              <a:xfrm>
                <a:off x="3977680" y="4705967"/>
                <a:ext cx="2880320" cy="276999"/>
              </a:xfrm>
              <a:prstGeom prst="rect">
                <a:avLst/>
              </a:prstGeom>
              <a:noFill/>
            </p:spPr>
            <p:txBody>
              <a:bodyPr wrap="square" rtlCol="0">
                <a:spAutoFit/>
              </a:bodyPr>
              <a:lstStyle/>
              <a:p>
                <a:pPr algn="ctr"/>
                <a:r>
                  <a:rPr lang="en-GB" sz="1200" b="0"/>
                  <a:t>c) </a:t>
                </a:r>
                <a14:m>
                  <m:oMath xmlns:m="http://schemas.openxmlformats.org/officeDocument/2006/math">
                    <m:r>
                      <a:rPr lang="en-GB" sz="1200" b="0" i="1" smtClean="0">
                        <a:latin typeface="Cambria Math" panose="02040503050406030204" pitchFamily="18" charset="0"/>
                      </a:rPr>
                      <m:t>9.990099009</m:t>
                    </m:r>
                  </m:oMath>
                </a14:m>
                <a:endParaRPr lang="en-GB" sz="1200"/>
              </a:p>
            </p:txBody>
          </p:sp>
        </mc:Choice>
        <mc:Fallback xmlns="">
          <p:sp>
            <p:nvSpPr>
              <p:cNvPr id="73" name="TextBox 72">
                <a:extLst>
                  <a:ext uri="{FF2B5EF4-FFF2-40B4-BE49-F238E27FC236}">
                    <a16:creationId xmlns:a16="http://schemas.microsoft.com/office/drawing/2014/main" id="{DDEE77EB-B3C8-239A-9CD5-B110E48B1B2B}"/>
                  </a:ext>
                </a:extLst>
              </p:cNvPr>
              <p:cNvSpPr txBox="1">
                <a:spLocks noRot="1" noChangeAspect="1" noMove="1" noResize="1" noEditPoints="1" noAdjustHandles="1" noChangeArrowheads="1" noChangeShapeType="1" noTextEdit="1"/>
              </p:cNvSpPr>
              <p:nvPr/>
            </p:nvSpPr>
            <p:spPr>
              <a:xfrm>
                <a:off x="3977680" y="4705967"/>
                <a:ext cx="2880320" cy="276999"/>
              </a:xfrm>
              <a:prstGeom prst="rect">
                <a:avLst/>
              </a:prstGeom>
              <a:blipFill>
                <a:blip r:embed="rId4"/>
                <a:stretch>
                  <a:fillRect t="-2222" b="-17778"/>
                </a:stretch>
              </a:blipFill>
            </p:spPr>
            <p:txBody>
              <a:bodyPr/>
              <a:lstStyle/>
              <a:p>
                <a:r>
                  <a:rPr lang="en-US">
                    <a:noFill/>
                  </a:rPr>
                  <a:t> </a:t>
                </a:r>
              </a:p>
            </p:txBody>
          </p:sp>
        </mc:Fallback>
      </mc:AlternateContent>
      <p:graphicFrame>
        <p:nvGraphicFramePr>
          <p:cNvPr id="74" name="Table 73">
            <a:extLst>
              <a:ext uri="{FF2B5EF4-FFF2-40B4-BE49-F238E27FC236}">
                <a16:creationId xmlns:a16="http://schemas.microsoft.com/office/drawing/2014/main" id="{9E70A74D-B33B-BE41-EEC6-BCEB6A9D56E7}"/>
              </a:ext>
            </a:extLst>
          </p:cNvPr>
          <p:cNvGraphicFramePr>
            <a:graphicFrameLocks noGrp="1"/>
          </p:cNvGraphicFramePr>
          <p:nvPr/>
        </p:nvGraphicFramePr>
        <p:xfrm>
          <a:off x="4288907" y="4982966"/>
          <a:ext cx="2365419" cy="1483360"/>
        </p:xfrm>
        <a:graphic>
          <a:graphicData uri="http://schemas.openxmlformats.org/drawingml/2006/table">
            <a:tbl>
              <a:tblPr bandRow="1">
                <a:tableStyleId>{073A0DAA-6AF3-43AB-8588-CEC1D06C72B9}</a:tableStyleId>
              </a:tblPr>
              <a:tblGrid>
                <a:gridCol w="985779">
                  <a:extLst>
                    <a:ext uri="{9D8B030D-6E8A-4147-A177-3AD203B41FA5}">
                      <a16:colId xmlns:a16="http://schemas.microsoft.com/office/drawing/2014/main" val="20000"/>
                    </a:ext>
                  </a:extLst>
                </a:gridCol>
                <a:gridCol w="1379640">
                  <a:extLst>
                    <a:ext uri="{9D8B030D-6E8A-4147-A177-3AD203B41FA5}">
                      <a16:colId xmlns:a16="http://schemas.microsoft.com/office/drawing/2014/main" val="20001"/>
                    </a:ext>
                  </a:extLst>
                </a:gridCol>
              </a:tblGrid>
              <a:tr h="370840">
                <a:tc>
                  <a:txBody>
                    <a:bodyPr/>
                    <a:lstStyle/>
                    <a:p>
                      <a:r>
                        <a:rPr lang="en-GB" sz="1200"/>
                        <a:t>5dp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GB" sz="1200"/>
                        <a:t>6dp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GB" sz="1200"/>
                        <a:t>7dp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GB" sz="1200"/>
                        <a:t>8dp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75" name="TextBox 74">
            <a:extLst>
              <a:ext uri="{FF2B5EF4-FFF2-40B4-BE49-F238E27FC236}">
                <a16:creationId xmlns:a16="http://schemas.microsoft.com/office/drawing/2014/main" id="{AAE8FD93-BEED-B22F-5179-B7E7F3F194FA}"/>
              </a:ext>
            </a:extLst>
          </p:cNvPr>
          <p:cNvSpPr txBox="1"/>
          <p:nvPr/>
        </p:nvSpPr>
        <p:spPr>
          <a:xfrm>
            <a:off x="122950" y="4245227"/>
            <a:ext cx="3682611" cy="276999"/>
          </a:xfrm>
          <a:prstGeom prst="rect">
            <a:avLst/>
          </a:prstGeom>
          <a:noFill/>
        </p:spPr>
        <p:txBody>
          <a:bodyPr wrap="none" rtlCol="0">
            <a:spAutoFit/>
          </a:bodyPr>
          <a:lstStyle/>
          <a:p>
            <a:r>
              <a:rPr lang="en-US" sz="1200" dirty="0"/>
              <a:t>10. Round each number to the decimal places specified. </a:t>
            </a:r>
            <a:endParaRPr lang="en-GB" sz="1200" dirty="0"/>
          </a:p>
        </p:txBody>
      </p:sp>
      <p:graphicFrame>
        <p:nvGraphicFramePr>
          <p:cNvPr id="76" name="Table 75">
            <a:extLst>
              <a:ext uri="{FF2B5EF4-FFF2-40B4-BE49-F238E27FC236}">
                <a16:creationId xmlns:a16="http://schemas.microsoft.com/office/drawing/2014/main" id="{994DC10E-7915-710F-3E7C-558ECAB542FC}"/>
              </a:ext>
            </a:extLst>
          </p:cNvPr>
          <p:cNvGraphicFramePr>
            <a:graphicFrameLocks noGrp="1"/>
          </p:cNvGraphicFramePr>
          <p:nvPr/>
        </p:nvGraphicFramePr>
        <p:xfrm>
          <a:off x="2158534" y="4982967"/>
          <a:ext cx="1726077" cy="1483360"/>
        </p:xfrm>
        <a:graphic>
          <a:graphicData uri="http://schemas.openxmlformats.org/drawingml/2006/table">
            <a:tbl>
              <a:tblPr bandRow="1">
                <a:tableStyleId>{073A0DAA-6AF3-43AB-8588-CEC1D06C72B9}</a:tableStyleId>
              </a:tblPr>
              <a:tblGrid>
                <a:gridCol w="586866">
                  <a:extLst>
                    <a:ext uri="{9D8B030D-6E8A-4147-A177-3AD203B41FA5}">
                      <a16:colId xmlns:a16="http://schemas.microsoft.com/office/drawing/2014/main" val="20000"/>
                    </a:ext>
                  </a:extLst>
                </a:gridCol>
                <a:gridCol w="1139211">
                  <a:extLst>
                    <a:ext uri="{9D8B030D-6E8A-4147-A177-3AD203B41FA5}">
                      <a16:colId xmlns:a16="http://schemas.microsoft.com/office/drawing/2014/main" val="20001"/>
                    </a:ext>
                  </a:extLst>
                </a:gridCol>
              </a:tblGrid>
              <a:tr h="370840">
                <a:tc>
                  <a:txBody>
                    <a:bodyPr/>
                    <a:lstStyle/>
                    <a:p>
                      <a:r>
                        <a:rPr lang="en-GB" sz="1200"/>
                        <a:t>1dp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GB" sz="1200"/>
                        <a:t>2dp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GB" sz="1200"/>
                        <a:t>3dp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GB" sz="1200"/>
                        <a:t>4dp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77" name="TextBox 76">
            <a:extLst>
              <a:ext uri="{FF2B5EF4-FFF2-40B4-BE49-F238E27FC236}">
                <a16:creationId xmlns:a16="http://schemas.microsoft.com/office/drawing/2014/main" id="{91F2FC92-C125-7F4B-C7A5-93E53C9DB81C}"/>
              </a:ext>
            </a:extLst>
          </p:cNvPr>
          <p:cNvSpPr txBox="1"/>
          <p:nvPr/>
        </p:nvSpPr>
        <p:spPr>
          <a:xfrm>
            <a:off x="95468" y="6743326"/>
            <a:ext cx="6611320" cy="1569660"/>
          </a:xfrm>
          <a:prstGeom prst="rect">
            <a:avLst/>
          </a:prstGeom>
          <a:noFill/>
        </p:spPr>
        <p:txBody>
          <a:bodyPr wrap="square">
            <a:spAutoFit/>
          </a:bodyPr>
          <a:lstStyle/>
          <a:p>
            <a:r>
              <a:rPr lang="en-US" sz="1200"/>
              <a:t>11: 51.26% of the people living in a town are female. Round this figure to one decimal place. </a:t>
            </a:r>
          </a:p>
          <a:p>
            <a:endParaRPr lang="en-US" sz="1200"/>
          </a:p>
          <a:p>
            <a:endParaRPr lang="en-US" sz="1200"/>
          </a:p>
          <a:p>
            <a:endParaRPr lang="en-US" sz="1200"/>
          </a:p>
          <a:p>
            <a:endParaRPr lang="en-US" sz="1200"/>
          </a:p>
          <a:p>
            <a:r>
              <a:rPr lang="en-US" sz="1200"/>
              <a:t>12. Walter has worked out a calculation on a calculator. </a:t>
            </a:r>
          </a:p>
          <a:p>
            <a:r>
              <a:rPr lang="en-US" sz="1200"/>
              <a:t>Shown on the calculator is the answer. (a) Round the answer to one decimal place (b) Round the answer to two decimal places </a:t>
            </a:r>
          </a:p>
        </p:txBody>
      </p:sp>
      <p:sp>
        <p:nvSpPr>
          <p:cNvPr id="78" name="Rectangle 77">
            <a:extLst>
              <a:ext uri="{FF2B5EF4-FFF2-40B4-BE49-F238E27FC236}">
                <a16:creationId xmlns:a16="http://schemas.microsoft.com/office/drawing/2014/main" id="{A37F4AD8-A307-854F-963A-94F532864206}"/>
              </a:ext>
            </a:extLst>
          </p:cNvPr>
          <p:cNvSpPr/>
          <p:nvPr/>
        </p:nvSpPr>
        <p:spPr>
          <a:xfrm>
            <a:off x="151215" y="7024182"/>
            <a:ext cx="6464121" cy="51803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9" name="Rectangle 34">
            <a:extLst>
              <a:ext uri="{FF2B5EF4-FFF2-40B4-BE49-F238E27FC236}">
                <a16:creationId xmlns:a16="http://schemas.microsoft.com/office/drawing/2014/main" id="{E005C492-9022-0290-52DA-ADE27A5A94F3}"/>
              </a:ext>
            </a:extLst>
          </p:cNvPr>
          <p:cNvSpPr/>
          <p:nvPr/>
        </p:nvSpPr>
        <p:spPr>
          <a:xfrm>
            <a:off x="151212" y="8338050"/>
            <a:ext cx="4466977" cy="974777"/>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pic>
        <p:nvPicPr>
          <p:cNvPr id="80" name="Picture 79">
            <a:extLst>
              <a:ext uri="{FF2B5EF4-FFF2-40B4-BE49-F238E27FC236}">
                <a16:creationId xmlns:a16="http://schemas.microsoft.com/office/drawing/2014/main" id="{F7C389D2-AEFE-6A6A-A222-061C6C365162}"/>
              </a:ext>
            </a:extLst>
          </p:cNvPr>
          <p:cNvPicPr>
            <a:picLocks noChangeAspect="1"/>
          </p:cNvPicPr>
          <p:nvPr/>
        </p:nvPicPr>
        <p:blipFill>
          <a:blip r:embed="rId5"/>
          <a:stretch>
            <a:fillRect/>
          </a:stretch>
        </p:blipFill>
        <p:spPr>
          <a:xfrm>
            <a:off x="4669516" y="8338050"/>
            <a:ext cx="1813343" cy="1152480"/>
          </a:xfrm>
          <a:prstGeom prst="rect">
            <a:avLst/>
          </a:prstGeom>
        </p:spPr>
      </p:pic>
    </p:spTree>
    <p:extLst>
      <p:ext uri="{BB962C8B-B14F-4D97-AF65-F5344CB8AC3E}">
        <p14:creationId xmlns:p14="http://schemas.microsoft.com/office/powerpoint/2010/main" val="3848312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EB31203-9840-BF41-BC21-9BBDC9FD889E}"/>
              </a:ext>
            </a:extLst>
          </p:cNvPr>
          <p:cNvSpPr/>
          <p:nvPr/>
        </p:nvSpPr>
        <p:spPr>
          <a:xfrm>
            <a:off x="62231" y="349311"/>
            <a:ext cx="6728829" cy="14174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11A70DB0-E034-5E48-820B-5C1AA0BA9573}"/>
              </a:ext>
            </a:extLst>
          </p:cNvPr>
          <p:cNvSpPr txBox="1"/>
          <p:nvPr/>
        </p:nvSpPr>
        <p:spPr>
          <a:xfrm>
            <a:off x="32528" y="721564"/>
            <a:ext cx="114939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4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7" name="TextBox 6">
            <a:extLst>
              <a:ext uri="{FF2B5EF4-FFF2-40B4-BE49-F238E27FC236}">
                <a16:creationId xmlns:a16="http://schemas.microsoft.com/office/drawing/2014/main" id="{36530E70-874D-7543-8430-2F865F81EB0F}"/>
              </a:ext>
            </a:extLst>
          </p:cNvPr>
          <p:cNvSpPr txBox="1"/>
          <p:nvPr/>
        </p:nvSpPr>
        <p:spPr>
          <a:xfrm>
            <a:off x="902330" y="416060"/>
            <a:ext cx="5048103"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To round decimals to a given degree of accuracy.</a:t>
            </a:r>
          </a:p>
        </p:txBody>
      </p:sp>
      <p:sp>
        <p:nvSpPr>
          <p:cNvPr id="8" name="TextBox 7">
            <a:extLst>
              <a:ext uri="{FF2B5EF4-FFF2-40B4-BE49-F238E27FC236}">
                <a16:creationId xmlns:a16="http://schemas.microsoft.com/office/drawing/2014/main" id="{169B8EF0-B913-6D41-A23F-4869CF21BF26}"/>
              </a:ext>
            </a:extLst>
          </p:cNvPr>
          <p:cNvSpPr txBox="1"/>
          <p:nvPr/>
        </p:nvSpPr>
        <p:spPr>
          <a:xfrm>
            <a:off x="5489759" y="824218"/>
            <a:ext cx="1233799" cy="861774"/>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prstClr val="black"/>
                </a:solidFill>
                <a:effectLst/>
                <a:uLnTx/>
                <a:uFillTx/>
                <a:latin typeface="Calibri" panose="020F0502020204030204"/>
                <a:ea typeface="+mn-ea"/>
                <a:cs typeface="+mn-cs"/>
              </a:rPr>
              <a:t>Keywords: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significant figure</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Approximate</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lang="en-US" sz="1000">
                <a:solidFill>
                  <a:prstClr val="black"/>
                </a:solidFill>
                <a:latin typeface="Calibri" panose="020F0502020204030204"/>
              </a:rPr>
              <a:t>estimate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lide Number Placeholder 1">
            <a:extLst>
              <a:ext uri="{FF2B5EF4-FFF2-40B4-BE49-F238E27FC236}">
                <a16:creationId xmlns:a16="http://schemas.microsoft.com/office/drawing/2014/main" id="{7AED5B24-E8CB-254F-AF98-D924432534A4}"/>
              </a:ext>
            </a:extLst>
          </p:cNvPr>
          <p:cNvSpPr txBox="1">
            <a:spLocks/>
          </p:cNvSpPr>
          <p:nvPr/>
        </p:nvSpPr>
        <p:spPr>
          <a:xfrm>
            <a:off x="5371986" y="9543590"/>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8F39A130-8099-1D64-347C-E9696BE9198C}"/>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bg1"/>
                </a:solidFill>
              </a:rPr>
              <a:t>Subtopic 9 – Rounding to significant figures</a:t>
            </a:r>
          </a:p>
        </p:txBody>
      </p:sp>
      <p:sp>
        <p:nvSpPr>
          <p:cNvPr id="17" name="TextBox 1">
            <a:extLst>
              <a:ext uri="{FF2B5EF4-FFF2-40B4-BE49-F238E27FC236}">
                <a16:creationId xmlns:a16="http://schemas.microsoft.com/office/drawing/2014/main" id="{B69EA680-BCE1-00DB-1E68-3616EC928688}"/>
              </a:ext>
            </a:extLst>
          </p:cNvPr>
          <p:cNvSpPr txBox="1"/>
          <p:nvPr/>
        </p:nvSpPr>
        <p:spPr>
          <a:xfrm>
            <a:off x="902330" y="858782"/>
            <a:ext cx="4667990"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buFont typeface="+mj-lt"/>
              <a:buAutoNum type="arabicPeriod"/>
            </a:pPr>
            <a:r>
              <a:rPr lang="en-GB" sz="1200"/>
              <a:t>To be able to identify significant figures.</a:t>
            </a:r>
          </a:p>
          <a:p>
            <a:pPr marL="342900" indent="-342900">
              <a:buFont typeface="+mj-lt"/>
              <a:buAutoNum type="arabicPeriod"/>
            </a:pPr>
            <a:r>
              <a:rPr lang="en-GB" sz="1200"/>
              <a:t>To be able to round to a given number of decimal places.</a:t>
            </a:r>
          </a:p>
          <a:p>
            <a:pPr marL="342900" indent="-342900">
              <a:buFont typeface="+mj-lt"/>
              <a:buAutoNum type="arabicPeriod"/>
            </a:pPr>
            <a:r>
              <a:rPr lang="en-GB" sz="1200"/>
              <a:t>To be able to round to a given number of significant figures.</a:t>
            </a:r>
          </a:p>
        </p:txBody>
      </p:sp>
      <p:cxnSp>
        <p:nvCxnSpPr>
          <p:cNvPr id="22" name="Straight Connector 21">
            <a:extLst>
              <a:ext uri="{FF2B5EF4-FFF2-40B4-BE49-F238E27FC236}">
                <a16:creationId xmlns:a16="http://schemas.microsoft.com/office/drawing/2014/main" id="{7D7E2F86-796A-4B82-D9EA-E7C903718AC8}"/>
              </a:ext>
            </a:extLst>
          </p:cNvPr>
          <p:cNvCxnSpPr>
            <a:cxnSpLocks/>
          </p:cNvCxnSpPr>
          <p:nvPr/>
        </p:nvCxnSpPr>
        <p:spPr>
          <a:xfrm>
            <a:off x="1006901" y="6900223"/>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3" name="Table 22">
            <a:extLst>
              <a:ext uri="{FF2B5EF4-FFF2-40B4-BE49-F238E27FC236}">
                <a16:creationId xmlns:a16="http://schemas.microsoft.com/office/drawing/2014/main" id="{3555ACF4-F2AD-3318-8EC7-9F2FB257A1CE}"/>
              </a:ext>
            </a:extLst>
          </p:cNvPr>
          <p:cNvGraphicFramePr>
            <a:graphicFrameLocks noGrp="1"/>
          </p:cNvGraphicFramePr>
          <p:nvPr>
            <p:extLst>
              <p:ext uri="{D42A27DB-BD31-4B8C-83A1-F6EECF244321}">
                <p14:modId xmlns:p14="http://schemas.microsoft.com/office/powerpoint/2010/main" val="3737814199"/>
              </p:ext>
            </p:extLst>
          </p:nvPr>
        </p:nvGraphicFramePr>
        <p:xfrm>
          <a:off x="208641" y="5455850"/>
          <a:ext cx="6558921" cy="3204042"/>
        </p:xfrm>
        <a:graphic>
          <a:graphicData uri="http://schemas.openxmlformats.org/drawingml/2006/table">
            <a:tbl>
              <a:tblPr firstRow="1" bandRow="1">
                <a:tableStyleId>{5C22544A-7EE6-4342-B048-85BDC9FD1C3A}</a:tableStyleId>
              </a:tblPr>
              <a:tblGrid>
                <a:gridCol w="1455714">
                  <a:extLst>
                    <a:ext uri="{9D8B030D-6E8A-4147-A177-3AD203B41FA5}">
                      <a16:colId xmlns:a16="http://schemas.microsoft.com/office/drawing/2014/main" val="4294787734"/>
                    </a:ext>
                  </a:extLst>
                </a:gridCol>
                <a:gridCol w="1701069">
                  <a:extLst>
                    <a:ext uri="{9D8B030D-6E8A-4147-A177-3AD203B41FA5}">
                      <a16:colId xmlns:a16="http://schemas.microsoft.com/office/drawing/2014/main" val="609968388"/>
                    </a:ext>
                  </a:extLst>
                </a:gridCol>
                <a:gridCol w="1701069">
                  <a:extLst>
                    <a:ext uri="{9D8B030D-6E8A-4147-A177-3AD203B41FA5}">
                      <a16:colId xmlns:a16="http://schemas.microsoft.com/office/drawing/2014/main" val="3207776717"/>
                    </a:ext>
                  </a:extLst>
                </a:gridCol>
                <a:gridCol w="1701069">
                  <a:extLst>
                    <a:ext uri="{9D8B030D-6E8A-4147-A177-3AD203B41FA5}">
                      <a16:colId xmlns:a16="http://schemas.microsoft.com/office/drawing/2014/main" val="1889420402"/>
                    </a:ext>
                  </a:extLst>
                </a:gridCol>
              </a:tblGrid>
              <a:tr h="359428">
                <a:tc gridSpan="4">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Identify which</a:t>
                      </a:r>
                      <a:r>
                        <a:rPr lang="en-US" sz="1200" b="0" baseline="0" dirty="0">
                          <a:solidFill>
                            <a:schemeClr val="tx1"/>
                          </a:solidFill>
                        </a:rPr>
                        <a:t> digit is the significant figure</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a:solidFill>
                            <a:schemeClr val="tx1"/>
                          </a:solidFill>
                        </a:rPr>
                        <a:t>Identify which</a:t>
                      </a:r>
                      <a:r>
                        <a:rPr lang="en-US" sz="1100" b="1" baseline="0">
                          <a:solidFill>
                            <a:schemeClr val="tx1"/>
                          </a:solidFill>
                        </a:rPr>
                        <a:t> digit is the significant figure</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422307">
                <a:tc>
                  <a:txBody>
                    <a:bodyPr/>
                    <a:lstStyle/>
                    <a:p>
                      <a:pPr marL="0" indent="0">
                        <a:buNone/>
                      </a:pPr>
                      <a:r>
                        <a:rPr lang="en-US" sz="1100">
                          <a:solidFill>
                            <a:schemeClr val="tx1"/>
                          </a:solidFill>
                        </a:rPr>
                        <a:t>1) Identify the position of the first non-zero digit, starting from the left.</a:t>
                      </a:r>
                    </a:p>
                    <a:p>
                      <a:pPr marL="228600" indent="-228600">
                        <a:buAutoNum type="arabicParenR"/>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422307">
                <a:tc>
                  <a:txBody>
                    <a:bodyPr/>
                    <a:lstStyle/>
                    <a:p>
                      <a:pPr marL="0" indent="0">
                        <a:buNone/>
                      </a:pPr>
                      <a:r>
                        <a:rPr lang="en-US" sz="1100" dirty="0">
                          <a:solidFill>
                            <a:schemeClr val="tx1"/>
                          </a:solidFill>
                        </a:rPr>
                        <a:t>2) Count until you reach the required digit.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728910507"/>
                  </a:ext>
                </a:extLst>
              </a:tr>
            </a:tbl>
          </a:graphicData>
        </a:graphic>
      </p:graphicFrame>
      <p:sp>
        <p:nvSpPr>
          <p:cNvPr id="24" name="TextBox 23">
            <a:extLst>
              <a:ext uri="{FF2B5EF4-FFF2-40B4-BE49-F238E27FC236}">
                <a16:creationId xmlns:a16="http://schemas.microsoft.com/office/drawing/2014/main" id="{BEA41BC9-3C07-3CB0-069C-E90FF3DBCB7F}"/>
              </a:ext>
            </a:extLst>
          </p:cNvPr>
          <p:cNvSpPr txBox="1"/>
          <p:nvPr/>
        </p:nvSpPr>
        <p:spPr>
          <a:xfrm>
            <a:off x="719917" y="5141267"/>
            <a:ext cx="1410704" cy="276999"/>
          </a:xfrm>
          <a:prstGeom prst="rect">
            <a:avLst/>
          </a:prstGeom>
          <a:noFill/>
          <a:ln>
            <a:noFill/>
          </a:ln>
        </p:spPr>
        <p:txBody>
          <a:bodyPr wrap="square" rtlCol="0">
            <a:spAutoFit/>
          </a:bodyPr>
          <a:lstStyle/>
          <a:p>
            <a:r>
              <a:rPr lang="en-GB" sz="1200" b="1" i="1">
                <a:solidFill>
                  <a:srgbClr val="FF0000"/>
                </a:solidFill>
              </a:rPr>
              <a:t>Example 1 - I do…</a:t>
            </a:r>
          </a:p>
        </p:txBody>
      </p:sp>
      <p:sp>
        <p:nvSpPr>
          <p:cNvPr id="25" name="TextBox 24">
            <a:extLst>
              <a:ext uri="{FF2B5EF4-FFF2-40B4-BE49-F238E27FC236}">
                <a16:creationId xmlns:a16="http://schemas.microsoft.com/office/drawing/2014/main" id="{E5385075-6BBC-AD63-7C52-4966A3DA6608}"/>
              </a:ext>
            </a:extLst>
          </p:cNvPr>
          <p:cNvSpPr txBox="1"/>
          <p:nvPr/>
        </p:nvSpPr>
        <p:spPr>
          <a:xfrm>
            <a:off x="4920922" y="5141267"/>
            <a:ext cx="1643405" cy="276999"/>
          </a:xfrm>
          <a:prstGeom prst="rect">
            <a:avLst/>
          </a:prstGeom>
          <a:noFill/>
          <a:ln>
            <a:noFill/>
          </a:ln>
        </p:spPr>
        <p:txBody>
          <a:bodyPr wrap="square" rtlCol="0">
            <a:spAutoFit/>
          </a:bodyPr>
          <a:lstStyle/>
          <a:p>
            <a:r>
              <a:rPr lang="en-GB" sz="1200" b="1" i="1">
                <a:solidFill>
                  <a:srgbClr val="00B050"/>
                </a:solidFill>
              </a:rPr>
              <a:t>Example 3 – You do…</a:t>
            </a:r>
          </a:p>
        </p:txBody>
      </p:sp>
      <p:sp>
        <p:nvSpPr>
          <p:cNvPr id="26" name="TextBox 25">
            <a:extLst>
              <a:ext uri="{FF2B5EF4-FFF2-40B4-BE49-F238E27FC236}">
                <a16:creationId xmlns:a16="http://schemas.microsoft.com/office/drawing/2014/main" id="{01317B0F-BEDE-CA59-EC9C-CDBCEA7CEB32}"/>
              </a:ext>
            </a:extLst>
          </p:cNvPr>
          <p:cNvSpPr txBox="1"/>
          <p:nvPr/>
        </p:nvSpPr>
        <p:spPr>
          <a:xfrm>
            <a:off x="2788721" y="5132428"/>
            <a:ext cx="1667605" cy="276999"/>
          </a:xfrm>
          <a:prstGeom prst="rect">
            <a:avLst/>
          </a:prstGeom>
          <a:noFill/>
          <a:ln>
            <a:noFill/>
          </a:ln>
        </p:spPr>
        <p:txBody>
          <a:bodyPr wrap="square" rtlCol="0">
            <a:spAutoFit/>
          </a:bodyPr>
          <a:lstStyle/>
          <a:p>
            <a:r>
              <a:rPr lang="en-GB" sz="1200" b="1" i="1">
                <a:solidFill>
                  <a:schemeClr val="accent2"/>
                </a:solidFill>
              </a:rPr>
              <a:t>Example 2 - We do…</a:t>
            </a:r>
          </a:p>
        </p:txBody>
      </p:sp>
      <p:sp>
        <p:nvSpPr>
          <p:cNvPr id="27" name="TextBox 26">
            <a:extLst>
              <a:ext uri="{FF2B5EF4-FFF2-40B4-BE49-F238E27FC236}">
                <a16:creationId xmlns:a16="http://schemas.microsoft.com/office/drawing/2014/main" id="{FC34730D-830A-F761-4728-9C4C4127A59B}"/>
              </a:ext>
            </a:extLst>
          </p:cNvPr>
          <p:cNvSpPr txBox="1"/>
          <p:nvPr/>
        </p:nvSpPr>
        <p:spPr>
          <a:xfrm>
            <a:off x="1784888" y="5829358"/>
            <a:ext cx="1419715" cy="2677656"/>
          </a:xfrm>
          <a:prstGeom prst="rect">
            <a:avLst/>
          </a:prstGeom>
          <a:noFill/>
        </p:spPr>
        <p:txBody>
          <a:bodyPr wrap="square" rtlCol="0">
            <a:spAutoFit/>
          </a:bodyPr>
          <a:lstStyle/>
          <a:p>
            <a:pPr algn="ctr"/>
            <a:r>
              <a:rPr lang="en-US" sz="1200"/>
              <a:t>Which significant figure is the 5?</a:t>
            </a:r>
          </a:p>
          <a:p>
            <a:pPr algn="ctr"/>
            <a:endParaRPr lang="en-US" sz="1200"/>
          </a:p>
          <a:p>
            <a:pPr algn="ctr"/>
            <a:r>
              <a:rPr lang="en-US" sz="1200"/>
              <a:t>560</a:t>
            </a:r>
          </a:p>
          <a:p>
            <a:pPr algn="ctr"/>
            <a:endParaRPr lang="en-US" sz="1200"/>
          </a:p>
          <a:p>
            <a:pPr algn="ctr"/>
            <a:endParaRPr lang="en-US" sz="1200"/>
          </a:p>
          <a:p>
            <a:pPr algn="ctr"/>
            <a:endParaRPr lang="en-US" sz="1200"/>
          </a:p>
          <a:p>
            <a:pPr algn="ctr"/>
            <a:r>
              <a:rPr lang="en-US" sz="1200"/>
              <a:t>0.05</a:t>
            </a:r>
          </a:p>
          <a:p>
            <a:pPr algn="ctr"/>
            <a:endParaRPr lang="en-US" sz="1200"/>
          </a:p>
          <a:p>
            <a:pPr algn="ctr"/>
            <a:endParaRPr lang="en-US" sz="1200"/>
          </a:p>
          <a:p>
            <a:pPr algn="ctr"/>
            <a:endParaRPr lang="en-US" sz="1200"/>
          </a:p>
          <a:p>
            <a:pPr algn="ctr"/>
            <a:r>
              <a:rPr lang="en-US" sz="1200"/>
              <a:t>0.00475</a:t>
            </a:r>
          </a:p>
          <a:p>
            <a:pPr algn="ctr"/>
            <a:endParaRPr lang="en-US" sz="1200"/>
          </a:p>
          <a:p>
            <a:pPr algn="ctr"/>
            <a:endParaRPr lang="en-US" sz="1200" u="sng"/>
          </a:p>
        </p:txBody>
      </p:sp>
      <p:sp>
        <p:nvSpPr>
          <p:cNvPr id="28" name="Rectangle 27">
            <a:extLst>
              <a:ext uri="{FF2B5EF4-FFF2-40B4-BE49-F238E27FC236}">
                <a16:creationId xmlns:a16="http://schemas.microsoft.com/office/drawing/2014/main" id="{BAA2267A-C1F2-D644-0A31-68A8FDE54DF0}"/>
              </a:ext>
            </a:extLst>
          </p:cNvPr>
          <p:cNvSpPr/>
          <p:nvPr/>
        </p:nvSpPr>
        <p:spPr>
          <a:xfrm>
            <a:off x="1781066" y="665154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Rectangle 28">
            <a:extLst>
              <a:ext uri="{FF2B5EF4-FFF2-40B4-BE49-F238E27FC236}">
                <a16:creationId xmlns:a16="http://schemas.microsoft.com/office/drawing/2014/main" id="{60B19DDE-10E1-EAE0-1662-D5A2EF1D8D97}"/>
              </a:ext>
            </a:extLst>
          </p:cNvPr>
          <p:cNvSpPr/>
          <p:nvPr/>
        </p:nvSpPr>
        <p:spPr>
          <a:xfrm>
            <a:off x="1788537" y="736417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0" name="Rectangle 29">
            <a:extLst>
              <a:ext uri="{FF2B5EF4-FFF2-40B4-BE49-F238E27FC236}">
                <a16:creationId xmlns:a16="http://schemas.microsoft.com/office/drawing/2014/main" id="{502F6F51-37E0-2D3A-937F-E429089769F2}"/>
              </a:ext>
            </a:extLst>
          </p:cNvPr>
          <p:cNvSpPr/>
          <p:nvPr/>
        </p:nvSpPr>
        <p:spPr>
          <a:xfrm>
            <a:off x="1770121" y="813821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31" name="Straight Connector 30">
            <a:extLst>
              <a:ext uri="{FF2B5EF4-FFF2-40B4-BE49-F238E27FC236}">
                <a16:creationId xmlns:a16="http://schemas.microsoft.com/office/drawing/2014/main" id="{33CB9E62-A8BA-270D-69F5-AAF365F83DE6}"/>
              </a:ext>
            </a:extLst>
          </p:cNvPr>
          <p:cNvCxnSpPr>
            <a:cxnSpLocks/>
          </p:cNvCxnSpPr>
          <p:nvPr/>
        </p:nvCxnSpPr>
        <p:spPr>
          <a:xfrm>
            <a:off x="3312475" y="6923316"/>
            <a:ext cx="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DBD1BBE-BE56-AE41-7419-C77A5764DEEF}"/>
              </a:ext>
            </a:extLst>
          </p:cNvPr>
          <p:cNvSpPr txBox="1"/>
          <p:nvPr/>
        </p:nvSpPr>
        <p:spPr>
          <a:xfrm>
            <a:off x="3518962" y="5852451"/>
            <a:ext cx="1419715" cy="2677656"/>
          </a:xfrm>
          <a:prstGeom prst="rect">
            <a:avLst/>
          </a:prstGeom>
          <a:noFill/>
        </p:spPr>
        <p:txBody>
          <a:bodyPr wrap="square" rtlCol="0">
            <a:spAutoFit/>
          </a:bodyPr>
          <a:lstStyle/>
          <a:p>
            <a:pPr algn="ctr"/>
            <a:r>
              <a:rPr lang="en-US" sz="1200"/>
              <a:t>Which significant figure is the 6?</a:t>
            </a:r>
          </a:p>
          <a:p>
            <a:pPr algn="ctr"/>
            <a:endParaRPr lang="en-US" sz="1200"/>
          </a:p>
          <a:p>
            <a:pPr algn="ctr"/>
            <a:r>
              <a:rPr lang="en-US" sz="1200"/>
              <a:t>260</a:t>
            </a:r>
          </a:p>
          <a:p>
            <a:pPr algn="ctr"/>
            <a:endParaRPr lang="en-US" sz="1200"/>
          </a:p>
          <a:p>
            <a:pPr algn="ctr"/>
            <a:endParaRPr lang="en-US" sz="1200"/>
          </a:p>
          <a:p>
            <a:pPr algn="ctr"/>
            <a:endParaRPr lang="en-US" sz="1200"/>
          </a:p>
          <a:p>
            <a:pPr algn="ctr"/>
            <a:r>
              <a:rPr lang="en-US" sz="1200"/>
              <a:t>0.61</a:t>
            </a:r>
          </a:p>
          <a:p>
            <a:pPr algn="ctr"/>
            <a:endParaRPr lang="en-US" sz="1200"/>
          </a:p>
          <a:p>
            <a:pPr algn="ctr"/>
            <a:endParaRPr lang="en-US" sz="1200"/>
          </a:p>
          <a:p>
            <a:pPr algn="ctr"/>
            <a:endParaRPr lang="en-US" sz="1200"/>
          </a:p>
          <a:p>
            <a:pPr algn="ctr"/>
            <a:r>
              <a:rPr lang="en-US" sz="1200"/>
              <a:t>0.00672</a:t>
            </a:r>
          </a:p>
          <a:p>
            <a:pPr algn="ctr"/>
            <a:endParaRPr lang="en-US" sz="1200"/>
          </a:p>
          <a:p>
            <a:pPr algn="ctr"/>
            <a:endParaRPr lang="en-US" sz="1200" u="sng"/>
          </a:p>
        </p:txBody>
      </p:sp>
      <p:sp>
        <p:nvSpPr>
          <p:cNvPr id="34" name="Rectangle 33">
            <a:extLst>
              <a:ext uri="{FF2B5EF4-FFF2-40B4-BE49-F238E27FC236}">
                <a16:creationId xmlns:a16="http://schemas.microsoft.com/office/drawing/2014/main" id="{9E9C396A-2207-BDAD-11E1-2E6AFDB7D80E}"/>
              </a:ext>
            </a:extLst>
          </p:cNvPr>
          <p:cNvSpPr/>
          <p:nvPr/>
        </p:nvSpPr>
        <p:spPr>
          <a:xfrm>
            <a:off x="3515140" y="6674635"/>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5" name="Rectangle 34">
            <a:extLst>
              <a:ext uri="{FF2B5EF4-FFF2-40B4-BE49-F238E27FC236}">
                <a16:creationId xmlns:a16="http://schemas.microsoft.com/office/drawing/2014/main" id="{FE756CCB-166A-C680-CE1D-50F4DBE94D66}"/>
              </a:ext>
            </a:extLst>
          </p:cNvPr>
          <p:cNvSpPr/>
          <p:nvPr/>
        </p:nvSpPr>
        <p:spPr>
          <a:xfrm>
            <a:off x="3522611" y="738726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6" name="Rectangle 35">
            <a:extLst>
              <a:ext uri="{FF2B5EF4-FFF2-40B4-BE49-F238E27FC236}">
                <a16:creationId xmlns:a16="http://schemas.microsoft.com/office/drawing/2014/main" id="{3D3B54F3-CDC0-D548-E43D-62E8189B9C28}"/>
              </a:ext>
            </a:extLst>
          </p:cNvPr>
          <p:cNvSpPr/>
          <p:nvPr/>
        </p:nvSpPr>
        <p:spPr>
          <a:xfrm>
            <a:off x="3504195" y="816131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37" name="Straight Connector 36">
            <a:extLst>
              <a:ext uri="{FF2B5EF4-FFF2-40B4-BE49-F238E27FC236}">
                <a16:creationId xmlns:a16="http://schemas.microsoft.com/office/drawing/2014/main" id="{7C23A99A-457B-0CEC-8CA5-6BDDA41547DB}"/>
              </a:ext>
            </a:extLst>
          </p:cNvPr>
          <p:cNvCxnSpPr>
            <a:cxnSpLocks/>
          </p:cNvCxnSpPr>
          <p:nvPr/>
        </p:nvCxnSpPr>
        <p:spPr>
          <a:xfrm>
            <a:off x="5581218" y="6936305"/>
            <a:ext cx="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B2D38C4-DF4B-E107-9EBB-C7975A5522D0}"/>
              </a:ext>
            </a:extLst>
          </p:cNvPr>
          <p:cNvSpPr txBox="1"/>
          <p:nvPr/>
        </p:nvSpPr>
        <p:spPr>
          <a:xfrm>
            <a:off x="5244780" y="5865440"/>
            <a:ext cx="1419715" cy="2677656"/>
          </a:xfrm>
          <a:prstGeom prst="rect">
            <a:avLst/>
          </a:prstGeom>
          <a:noFill/>
        </p:spPr>
        <p:txBody>
          <a:bodyPr wrap="square" rtlCol="0">
            <a:spAutoFit/>
          </a:bodyPr>
          <a:lstStyle/>
          <a:p>
            <a:pPr algn="ctr"/>
            <a:r>
              <a:rPr lang="en-US" sz="1200"/>
              <a:t>Which significant figure is the 4?</a:t>
            </a:r>
          </a:p>
          <a:p>
            <a:pPr algn="ctr"/>
            <a:endParaRPr lang="en-US" sz="1200"/>
          </a:p>
          <a:p>
            <a:pPr algn="ctr"/>
            <a:r>
              <a:rPr lang="en-US" sz="1200"/>
              <a:t>425</a:t>
            </a:r>
          </a:p>
          <a:p>
            <a:pPr algn="ctr"/>
            <a:endParaRPr lang="en-US" sz="1200"/>
          </a:p>
          <a:p>
            <a:pPr algn="ctr"/>
            <a:endParaRPr lang="en-US" sz="1200"/>
          </a:p>
          <a:p>
            <a:pPr algn="ctr"/>
            <a:endParaRPr lang="en-US" sz="1200"/>
          </a:p>
          <a:p>
            <a:pPr algn="ctr"/>
            <a:r>
              <a:rPr lang="en-US" sz="1200"/>
              <a:t>0.041</a:t>
            </a:r>
          </a:p>
          <a:p>
            <a:pPr algn="ctr"/>
            <a:endParaRPr lang="en-US" sz="1200"/>
          </a:p>
          <a:p>
            <a:pPr algn="ctr"/>
            <a:endParaRPr lang="en-US" sz="1200"/>
          </a:p>
          <a:p>
            <a:pPr algn="ctr"/>
            <a:endParaRPr lang="en-US" sz="1200"/>
          </a:p>
          <a:p>
            <a:pPr algn="ctr"/>
            <a:r>
              <a:rPr lang="en-US" sz="1200"/>
              <a:t>0.07041</a:t>
            </a:r>
          </a:p>
          <a:p>
            <a:pPr algn="ctr"/>
            <a:endParaRPr lang="en-US" sz="1200"/>
          </a:p>
          <a:p>
            <a:pPr algn="ctr"/>
            <a:endParaRPr lang="en-US" sz="1200" u="sng"/>
          </a:p>
        </p:txBody>
      </p:sp>
      <p:sp>
        <p:nvSpPr>
          <p:cNvPr id="39" name="Rectangle 38">
            <a:extLst>
              <a:ext uri="{FF2B5EF4-FFF2-40B4-BE49-F238E27FC236}">
                <a16:creationId xmlns:a16="http://schemas.microsoft.com/office/drawing/2014/main" id="{730F7EE9-6CC5-2F74-ABFF-CE4A99852AEB}"/>
              </a:ext>
            </a:extLst>
          </p:cNvPr>
          <p:cNvSpPr/>
          <p:nvPr/>
        </p:nvSpPr>
        <p:spPr>
          <a:xfrm>
            <a:off x="5240958" y="668762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0" name="Rectangle 39">
            <a:extLst>
              <a:ext uri="{FF2B5EF4-FFF2-40B4-BE49-F238E27FC236}">
                <a16:creationId xmlns:a16="http://schemas.microsoft.com/office/drawing/2014/main" id="{2C26DFE0-DFEA-A2DB-94DE-DAC9F2C10F43}"/>
              </a:ext>
            </a:extLst>
          </p:cNvPr>
          <p:cNvSpPr/>
          <p:nvPr/>
        </p:nvSpPr>
        <p:spPr>
          <a:xfrm>
            <a:off x="5248429" y="740025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1" name="Rectangle 40">
            <a:extLst>
              <a:ext uri="{FF2B5EF4-FFF2-40B4-BE49-F238E27FC236}">
                <a16:creationId xmlns:a16="http://schemas.microsoft.com/office/drawing/2014/main" id="{95EEEC8C-60F4-A3CB-8158-846F078D869E}"/>
              </a:ext>
            </a:extLst>
          </p:cNvPr>
          <p:cNvSpPr/>
          <p:nvPr/>
        </p:nvSpPr>
        <p:spPr>
          <a:xfrm>
            <a:off x="5230013" y="8174300"/>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2" name="Rectangle 41">
            <a:extLst>
              <a:ext uri="{FF2B5EF4-FFF2-40B4-BE49-F238E27FC236}">
                <a16:creationId xmlns:a16="http://schemas.microsoft.com/office/drawing/2014/main" id="{C2A9D6F1-B8E7-1FC2-D314-415AF129923D}"/>
              </a:ext>
            </a:extLst>
          </p:cNvPr>
          <p:cNvSpPr/>
          <p:nvPr/>
        </p:nvSpPr>
        <p:spPr>
          <a:xfrm>
            <a:off x="107607" y="4821009"/>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Identifying significant figures.</a:t>
            </a:r>
            <a:endParaRPr lang="en-GB" sz="1200">
              <a:solidFill>
                <a:schemeClr val="bg1"/>
              </a:solidFill>
            </a:endParaRPr>
          </a:p>
        </p:txBody>
      </p:sp>
      <p:cxnSp>
        <p:nvCxnSpPr>
          <p:cNvPr id="86" name="Straight Connector 85">
            <a:extLst>
              <a:ext uri="{FF2B5EF4-FFF2-40B4-BE49-F238E27FC236}">
                <a16:creationId xmlns:a16="http://schemas.microsoft.com/office/drawing/2014/main" id="{BEED737A-B355-56AA-94BB-73F1A759A29C}"/>
              </a:ext>
            </a:extLst>
          </p:cNvPr>
          <p:cNvCxnSpPr/>
          <p:nvPr/>
        </p:nvCxnSpPr>
        <p:spPr>
          <a:xfrm flipV="1">
            <a:off x="933267" y="3990012"/>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7" name="Rectangle 86">
            <a:extLst>
              <a:ext uri="{FF2B5EF4-FFF2-40B4-BE49-F238E27FC236}">
                <a16:creationId xmlns:a16="http://schemas.microsoft.com/office/drawing/2014/main" id="{9136F971-062E-CF77-ABA6-4BE40B10969B}"/>
              </a:ext>
            </a:extLst>
          </p:cNvPr>
          <p:cNvSpPr/>
          <p:nvPr/>
        </p:nvSpPr>
        <p:spPr>
          <a:xfrm>
            <a:off x="78586" y="2059417"/>
            <a:ext cx="6699219" cy="2459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8" name="Straight Connector 87">
            <a:extLst>
              <a:ext uri="{FF2B5EF4-FFF2-40B4-BE49-F238E27FC236}">
                <a16:creationId xmlns:a16="http://schemas.microsoft.com/office/drawing/2014/main" id="{F09375BC-74D8-E824-91D5-9B280A81981D}"/>
              </a:ext>
            </a:extLst>
          </p:cNvPr>
          <p:cNvCxnSpPr>
            <a:stCxn id="87" idx="1"/>
            <a:endCxn id="87" idx="3"/>
          </p:cNvCxnSpPr>
          <p:nvPr/>
        </p:nvCxnSpPr>
        <p:spPr>
          <a:xfrm>
            <a:off x="78586" y="3289059"/>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89" name="Straight Connector 88">
            <a:extLst>
              <a:ext uri="{FF2B5EF4-FFF2-40B4-BE49-F238E27FC236}">
                <a16:creationId xmlns:a16="http://schemas.microsoft.com/office/drawing/2014/main" id="{DF7FF265-FCF6-5C56-4C0F-27ADB7D4AF91}"/>
              </a:ext>
            </a:extLst>
          </p:cNvPr>
          <p:cNvCxnSpPr>
            <a:stCxn id="87" idx="2"/>
            <a:endCxn id="87" idx="0"/>
          </p:cNvCxnSpPr>
          <p:nvPr/>
        </p:nvCxnSpPr>
        <p:spPr>
          <a:xfrm flipV="1">
            <a:off x="3428196" y="2059417"/>
            <a:ext cx="0" cy="2459284"/>
          </a:xfrm>
          <a:prstGeom prst="line">
            <a:avLst/>
          </a:prstGeom>
        </p:spPr>
        <p:style>
          <a:lnRef idx="1">
            <a:schemeClr val="dk1"/>
          </a:lnRef>
          <a:fillRef idx="0">
            <a:schemeClr val="dk1"/>
          </a:fillRef>
          <a:effectRef idx="0">
            <a:schemeClr val="dk1"/>
          </a:effectRef>
          <a:fontRef idx="minor">
            <a:schemeClr val="tx1"/>
          </a:fontRef>
        </p:style>
      </p:cxnSp>
      <p:sp>
        <p:nvSpPr>
          <p:cNvPr id="90" name="TextBox 89">
            <a:extLst>
              <a:ext uri="{FF2B5EF4-FFF2-40B4-BE49-F238E27FC236}">
                <a16:creationId xmlns:a16="http://schemas.microsoft.com/office/drawing/2014/main" id="{7914AE47-CDBF-33D2-1E20-BB17DF5BF534}"/>
              </a:ext>
            </a:extLst>
          </p:cNvPr>
          <p:cNvSpPr txBox="1"/>
          <p:nvPr/>
        </p:nvSpPr>
        <p:spPr>
          <a:xfrm>
            <a:off x="96341" y="2059416"/>
            <a:ext cx="824713" cy="461665"/>
          </a:xfrm>
          <a:prstGeom prst="rect">
            <a:avLst/>
          </a:prstGeom>
          <a:noFill/>
        </p:spPr>
        <p:txBody>
          <a:bodyPr wrap="none" rtlCol="0">
            <a:spAutoFit/>
          </a:bodyPr>
          <a:lstStyle/>
          <a:p>
            <a:r>
              <a:rPr lang="en-US" sz="1200" b="1"/>
              <a:t>Definition</a:t>
            </a:r>
          </a:p>
          <a:p>
            <a:endParaRPr lang="en-US" sz="1200"/>
          </a:p>
        </p:txBody>
      </p:sp>
      <p:sp>
        <p:nvSpPr>
          <p:cNvPr id="91" name="TextBox 90">
            <a:extLst>
              <a:ext uri="{FF2B5EF4-FFF2-40B4-BE49-F238E27FC236}">
                <a16:creationId xmlns:a16="http://schemas.microsoft.com/office/drawing/2014/main" id="{1EEB0497-D340-DEB9-8961-256AE9634DB4}"/>
              </a:ext>
            </a:extLst>
          </p:cNvPr>
          <p:cNvSpPr txBox="1"/>
          <p:nvPr/>
        </p:nvSpPr>
        <p:spPr>
          <a:xfrm>
            <a:off x="5620392" y="2027030"/>
            <a:ext cx="1112228" cy="276999"/>
          </a:xfrm>
          <a:prstGeom prst="rect">
            <a:avLst/>
          </a:prstGeom>
          <a:noFill/>
        </p:spPr>
        <p:txBody>
          <a:bodyPr wrap="none" rtlCol="0">
            <a:spAutoFit/>
          </a:bodyPr>
          <a:lstStyle/>
          <a:p>
            <a:r>
              <a:rPr lang="en-US" sz="1200" b="1"/>
              <a:t>Characteristics</a:t>
            </a:r>
            <a:endParaRPr lang="en-GB" sz="1200" b="1"/>
          </a:p>
        </p:txBody>
      </p:sp>
      <p:sp>
        <p:nvSpPr>
          <p:cNvPr id="92" name="TextBox 91">
            <a:extLst>
              <a:ext uri="{FF2B5EF4-FFF2-40B4-BE49-F238E27FC236}">
                <a16:creationId xmlns:a16="http://schemas.microsoft.com/office/drawing/2014/main" id="{AED2589C-4A72-6529-48D7-192B2F4DED90}"/>
              </a:ext>
            </a:extLst>
          </p:cNvPr>
          <p:cNvSpPr txBox="1"/>
          <p:nvPr/>
        </p:nvSpPr>
        <p:spPr>
          <a:xfrm>
            <a:off x="111488" y="3317424"/>
            <a:ext cx="788164" cy="276999"/>
          </a:xfrm>
          <a:prstGeom prst="rect">
            <a:avLst/>
          </a:prstGeom>
          <a:noFill/>
        </p:spPr>
        <p:txBody>
          <a:bodyPr wrap="none" rtlCol="0">
            <a:spAutoFit/>
          </a:bodyPr>
          <a:lstStyle/>
          <a:p>
            <a:r>
              <a:rPr lang="en-US" sz="1200" b="1"/>
              <a:t>Examples</a:t>
            </a:r>
            <a:endParaRPr lang="en-GB" sz="1200" b="1"/>
          </a:p>
        </p:txBody>
      </p:sp>
      <p:sp>
        <p:nvSpPr>
          <p:cNvPr id="93" name="TextBox 92">
            <a:extLst>
              <a:ext uri="{FF2B5EF4-FFF2-40B4-BE49-F238E27FC236}">
                <a16:creationId xmlns:a16="http://schemas.microsoft.com/office/drawing/2014/main" id="{E9935EC7-4C90-C44E-F4BF-0519C0CD4CB6}"/>
              </a:ext>
            </a:extLst>
          </p:cNvPr>
          <p:cNvSpPr txBox="1"/>
          <p:nvPr/>
        </p:nvSpPr>
        <p:spPr>
          <a:xfrm>
            <a:off x="5548905" y="3293043"/>
            <a:ext cx="1172885" cy="276999"/>
          </a:xfrm>
          <a:prstGeom prst="rect">
            <a:avLst/>
          </a:prstGeom>
          <a:noFill/>
        </p:spPr>
        <p:txBody>
          <a:bodyPr wrap="none" rtlCol="0">
            <a:spAutoFit/>
          </a:bodyPr>
          <a:lstStyle/>
          <a:p>
            <a:r>
              <a:rPr lang="en-US" sz="1200" b="1"/>
              <a:t>Non - Examples</a:t>
            </a:r>
            <a:endParaRPr lang="en-GB" sz="1200" b="1"/>
          </a:p>
        </p:txBody>
      </p:sp>
      <p:sp>
        <p:nvSpPr>
          <p:cNvPr id="94" name="TextBox 93">
            <a:extLst>
              <a:ext uri="{FF2B5EF4-FFF2-40B4-BE49-F238E27FC236}">
                <a16:creationId xmlns:a16="http://schemas.microsoft.com/office/drawing/2014/main" id="{9804C343-5BBB-D16B-7EE8-E39E88F07A7F}"/>
              </a:ext>
            </a:extLst>
          </p:cNvPr>
          <p:cNvSpPr txBox="1"/>
          <p:nvPr/>
        </p:nvSpPr>
        <p:spPr>
          <a:xfrm>
            <a:off x="208641" y="2451329"/>
            <a:ext cx="3230335" cy="461665"/>
          </a:xfrm>
          <a:prstGeom prst="rect">
            <a:avLst/>
          </a:prstGeom>
          <a:noFill/>
        </p:spPr>
        <p:txBody>
          <a:bodyPr wrap="square" rtlCol="0">
            <a:spAutoFit/>
          </a:bodyPr>
          <a:lstStyle/>
          <a:p>
            <a:r>
              <a:rPr lang="en-US" sz="1200"/>
              <a:t>The process of finding an approximation for a number to a given accuracy</a:t>
            </a:r>
          </a:p>
        </p:txBody>
      </p:sp>
      <p:sp>
        <p:nvSpPr>
          <p:cNvPr id="95" name="TextBox 94">
            <a:extLst>
              <a:ext uri="{FF2B5EF4-FFF2-40B4-BE49-F238E27FC236}">
                <a16:creationId xmlns:a16="http://schemas.microsoft.com/office/drawing/2014/main" id="{E340B2B8-7830-132A-9213-CD92CE8137D4}"/>
              </a:ext>
            </a:extLst>
          </p:cNvPr>
          <p:cNvSpPr txBox="1"/>
          <p:nvPr/>
        </p:nvSpPr>
        <p:spPr>
          <a:xfrm>
            <a:off x="3493223" y="2222118"/>
            <a:ext cx="3230335" cy="1015663"/>
          </a:xfrm>
          <a:prstGeom prst="rect">
            <a:avLst/>
          </a:prstGeom>
          <a:noFill/>
        </p:spPr>
        <p:txBody>
          <a:bodyPr wrap="square" rtlCol="0">
            <a:spAutoFit/>
          </a:bodyPr>
          <a:lstStyle/>
          <a:p>
            <a:r>
              <a:rPr lang="en-US" sz="1200"/>
              <a:t>Numbers round up or down depending on the value they are closer to (and exactly halfway between rounds up).</a:t>
            </a:r>
          </a:p>
          <a:p>
            <a:r>
              <a:rPr lang="en-US" sz="1200"/>
              <a:t>The first significant figure is the first non-zero digit. All following digits count as significant.</a:t>
            </a:r>
          </a:p>
        </p:txBody>
      </p:sp>
      <p:sp>
        <p:nvSpPr>
          <p:cNvPr id="96" name="TextBox 95">
            <a:extLst>
              <a:ext uri="{FF2B5EF4-FFF2-40B4-BE49-F238E27FC236}">
                <a16:creationId xmlns:a16="http://schemas.microsoft.com/office/drawing/2014/main" id="{6887FD1B-68A2-8D3A-2DE7-27DADA0C02C0}"/>
              </a:ext>
            </a:extLst>
          </p:cNvPr>
          <p:cNvSpPr txBox="1"/>
          <p:nvPr/>
        </p:nvSpPr>
        <p:spPr>
          <a:xfrm>
            <a:off x="2914470" y="3179261"/>
            <a:ext cx="1076000" cy="369332"/>
          </a:xfrm>
          <a:prstGeom prst="rect">
            <a:avLst/>
          </a:prstGeom>
          <a:solidFill>
            <a:schemeClr val="bg1"/>
          </a:solidFill>
          <a:ln>
            <a:solidFill>
              <a:schemeClr val="tx1"/>
            </a:solidFill>
          </a:ln>
        </p:spPr>
        <p:txBody>
          <a:bodyPr wrap="none" rtlCol="0">
            <a:spAutoFit/>
          </a:bodyPr>
          <a:lstStyle/>
          <a:p>
            <a:r>
              <a:rPr lang="en-US"/>
              <a:t>Rounding</a:t>
            </a:r>
            <a:endParaRPr lang="en-GB"/>
          </a:p>
        </p:txBody>
      </p:sp>
      <p:sp>
        <p:nvSpPr>
          <p:cNvPr id="97" name="TextBox 96">
            <a:extLst>
              <a:ext uri="{FF2B5EF4-FFF2-40B4-BE49-F238E27FC236}">
                <a16:creationId xmlns:a16="http://schemas.microsoft.com/office/drawing/2014/main" id="{767E6D51-70C7-6907-2A90-69111CE2F28D}"/>
              </a:ext>
            </a:extLst>
          </p:cNvPr>
          <p:cNvSpPr txBox="1"/>
          <p:nvPr/>
        </p:nvSpPr>
        <p:spPr>
          <a:xfrm>
            <a:off x="187082" y="3600105"/>
            <a:ext cx="3230335" cy="830997"/>
          </a:xfrm>
          <a:prstGeom prst="rect">
            <a:avLst/>
          </a:prstGeom>
          <a:noFill/>
        </p:spPr>
        <p:txBody>
          <a:bodyPr wrap="square" rtlCol="0">
            <a:spAutoFit/>
          </a:bodyPr>
          <a:lstStyle/>
          <a:p>
            <a:r>
              <a:rPr lang="en-US" sz="1200"/>
              <a:t>170.8 = 200 to 1 significant figure</a:t>
            </a:r>
          </a:p>
          <a:p>
            <a:r>
              <a:rPr lang="en-US" sz="1200"/>
              <a:t>107.8 = 110 to 2 significant figures</a:t>
            </a:r>
          </a:p>
          <a:p>
            <a:r>
              <a:rPr lang="en-US" sz="1200"/>
              <a:t>0.01079 = 0.0108 to 3 significant figures</a:t>
            </a:r>
          </a:p>
          <a:p>
            <a:r>
              <a:rPr lang="en-US" sz="1200"/>
              <a:t>0.01038 = 0.010 to 2 significant figures</a:t>
            </a:r>
          </a:p>
        </p:txBody>
      </p:sp>
      <p:sp>
        <p:nvSpPr>
          <p:cNvPr id="2" name="Rectangle 1">
            <a:extLst>
              <a:ext uri="{FF2B5EF4-FFF2-40B4-BE49-F238E27FC236}">
                <a16:creationId xmlns:a16="http://schemas.microsoft.com/office/drawing/2014/main" id="{AFB924ED-B345-CEB5-C316-712496271260}"/>
              </a:ext>
            </a:extLst>
          </p:cNvPr>
          <p:cNvSpPr/>
          <p:nvPr/>
        </p:nvSpPr>
        <p:spPr>
          <a:xfrm>
            <a:off x="0" y="0"/>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GB" sz="1600" dirty="0">
                <a:solidFill>
                  <a:prstClr val="white"/>
                </a:solidFill>
              </a:rPr>
              <a:t>Subtopic 2b </a:t>
            </a:r>
            <a:r>
              <a:rPr kumimoji="0" lang="en-GB" sz="1600" i="0" u="none" strike="noStrike" kern="1200" cap="none" spc="0" normalizeH="0" baseline="0" noProof="0" dirty="0">
                <a:ln>
                  <a:noFill/>
                </a:ln>
                <a:solidFill>
                  <a:prstClr val="white"/>
                </a:solidFill>
                <a:effectLst/>
                <a:uLnTx/>
                <a:uFillTx/>
                <a:latin typeface="Calibri" panose="020F0502020204030204"/>
              </a:rPr>
              <a:t>– </a:t>
            </a:r>
            <a:r>
              <a:rPr lang="en-GB" sz="1600" dirty="0">
                <a:solidFill>
                  <a:prstClr val="white"/>
                </a:solidFill>
              </a:rPr>
              <a:t>Rounding to Significant Figures</a:t>
            </a:r>
          </a:p>
        </p:txBody>
      </p:sp>
    </p:spTree>
    <p:extLst>
      <p:ext uri="{BB962C8B-B14F-4D97-AF65-F5344CB8AC3E}">
        <p14:creationId xmlns:p14="http://schemas.microsoft.com/office/powerpoint/2010/main" val="262385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02342" y="102878"/>
            <a:ext cx="2547557" cy="276999"/>
          </a:xfrm>
          <a:prstGeom prst="rect">
            <a:avLst/>
          </a:prstGeom>
          <a:noFill/>
        </p:spPr>
        <p:txBody>
          <a:bodyPr wrap="none" rtlCol="0">
            <a:spAutoFit/>
          </a:bodyPr>
          <a:lstStyle/>
          <a:p>
            <a:r>
              <a:rPr lang="en-US" sz="1200"/>
              <a:t>1. Which significant figure is the four?</a:t>
            </a:r>
            <a:endParaRPr lang="en-GB" sz="1200"/>
          </a:p>
        </p:txBody>
      </p:sp>
      <p:sp>
        <p:nvSpPr>
          <p:cNvPr id="6" name="TextBox 5"/>
          <p:cNvSpPr txBox="1"/>
          <p:nvPr/>
        </p:nvSpPr>
        <p:spPr>
          <a:xfrm>
            <a:off x="362982" y="509461"/>
            <a:ext cx="575799" cy="276999"/>
          </a:xfrm>
          <a:prstGeom prst="rect">
            <a:avLst/>
          </a:prstGeom>
          <a:noFill/>
        </p:spPr>
        <p:txBody>
          <a:bodyPr wrap="none" rtlCol="0">
            <a:spAutoFit/>
          </a:bodyPr>
          <a:lstStyle/>
          <a:p>
            <a:r>
              <a:rPr lang="en-US" sz="1200"/>
              <a:t>a) 450</a:t>
            </a:r>
            <a:endParaRPr lang="en-GB" sz="1200"/>
          </a:p>
        </p:txBody>
      </p:sp>
      <p:sp>
        <p:nvSpPr>
          <p:cNvPr id="7" name="TextBox 6"/>
          <p:cNvSpPr txBox="1"/>
          <p:nvPr/>
        </p:nvSpPr>
        <p:spPr>
          <a:xfrm>
            <a:off x="1415239" y="500758"/>
            <a:ext cx="582211" cy="276999"/>
          </a:xfrm>
          <a:prstGeom prst="rect">
            <a:avLst/>
          </a:prstGeom>
          <a:noFill/>
        </p:spPr>
        <p:txBody>
          <a:bodyPr wrap="none" rtlCol="0">
            <a:spAutoFit/>
          </a:bodyPr>
          <a:lstStyle/>
          <a:p>
            <a:r>
              <a:rPr lang="en-US" sz="1200"/>
              <a:t>b) 540</a:t>
            </a:r>
            <a:endParaRPr lang="en-GB" sz="1200"/>
          </a:p>
        </p:txBody>
      </p:sp>
      <p:sp>
        <p:nvSpPr>
          <p:cNvPr id="8" name="TextBox 7"/>
          <p:cNvSpPr txBox="1"/>
          <p:nvPr/>
        </p:nvSpPr>
        <p:spPr>
          <a:xfrm>
            <a:off x="2491898" y="500759"/>
            <a:ext cx="646331" cy="276999"/>
          </a:xfrm>
          <a:prstGeom prst="rect">
            <a:avLst/>
          </a:prstGeom>
          <a:noFill/>
        </p:spPr>
        <p:txBody>
          <a:bodyPr wrap="none" rtlCol="0">
            <a:spAutoFit/>
          </a:bodyPr>
          <a:lstStyle/>
          <a:p>
            <a:r>
              <a:rPr lang="en-US" sz="1200"/>
              <a:t>c) 5400</a:t>
            </a:r>
            <a:endParaRPr lang="en-GB" sz="1200"/>
          </a:p>
        </p:txBody>
      </p:sp>
      <p:sp>
        <p:nvSpPr>
          <p:cNvPr id="9" name="TextBox 8"/>
          <p:cNvSpPr txBox="1"/>
          <p:nvPr/>
        </p:nvSpPr>
        <p:spPr>
          <a:xfrm>
            <a:off x="3498944" y="523851"/>
            <a:ext cx="739305" cy="276999"/>
          </a:xfrm>
          <a:prstGeom prst="rect">
            <a:avLst/>
          </a:prstGeom>
          <a:noFill/>
        </p:spPr>
        <p:txBody>
          <a:bodyPr wrap="none" rtlCol="0">
            <a:spAutoFit/>
          </a:bodyPr>
          <a:lstStyle/>
          <a:p>
            <a:r>
              <a:rPr lang="en-US" sz="1200"/>
              <a:t>d) 50400</a:t>
            </a:r>
            <a:endParaRPr lang="en-GB" sz="1200"/>
          </a:p>
        </p:txBody>
      </p:sp>
      <p:sp>
        <p:nvSpPr>
          <p:cNvPr id="10" name="TextBox 9"/>
          <p:cNvSpPr txBox="1"/>
          <p:nvPr/>
        </p:nvSpPr>
        <p:spPr>
          <a:xfrm>
            <a:off x="4602707" y="520371"/>
            <a:ext cx="736099" cy="276999"/>
          </a:xfrm>
          <a:prstGeom prst="rect">
            <a:avLst/>
          </a:prstGeom>
          <a:noFill/>
        </p:spPr>
        <p:txBody>
          <a:bodyPr wrap="none" rtlCol="0">
            <a:spAutoFit/>
          </a:bodyPr>
          <a:lstStyle/>
          <a:p>
            <a:r>
              <a:rPr lang="en-US" sz="1200"/>
              <a:t>e) 50040</a:t>
            </a:r>
            <a:endParaRPr lang="en-GB" sz="1200"/>
          </a:p>
        </p:txBody>
      </p:sp>
      <p:sp>
        <p:nvSpPr>
          <p:cNvPr id="11" name="Rectangle 10">
            <a:extLst>
              <a:ext uri="{FF2B5EF4-FFF2-40B4-BE49-F238E27FC236}">
                <a16:creationId xmlns:a16="http://schemas.microsoft.com/office/drawing/2014/main" id="{CEEF23AD-EA17-135A-DB95-1D1FECB286F3}"/>
              </a:ext>
            </a:extLst>
          </p:cNvPr>
          <p:cNvSpPr/>
          <p:nvPr/>
        </p:nvSpPr>
        <p:spPr>
          <a:xfrm>
            <a:off x="422917" y="84295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2" name="Rectangle 11">
            <a:extLst>
              <a:ext uri="{FF2B5EF4-FFF2-40B4-BE49-F238E27FC236}">
                <a16:creationId xmlns:a16="http://schemas.microsoft.com/office/drawing/2014/main" id="{CEEF23AD-EA17-135A-DB95-1D1FECB286F3}"/>
              </a:ext>
            </a:extLst>
          </p:cNvPr>
          <p:cNvSpPr/>
          <p:nvPr/>
        </p:nvSpPr>
        <p:spPr>
          <a:xfrm>
            <a:off x="1466872" y="84295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 name="Rectangle 12">
            <a:extLst>
              <a:ext uri="{FF2B5EF4-FFF2-40B4-BE49-F238E27FC236}">
                <a16:creationId xmlns:a16="http://schemas.microsoft.com/office/drawing/2014/main" id="{CEEF23AD-EA17-135A-DB95-1D1FECB286F3}"/>
              </a:ext>
            </a:extLst>
          </p:cNvPr>
          <p:cNvSpPr/>
          <p:nvPr/>
        </p:nvSpPr>
        <p:spPr>
          <a:xfrm>
            <a:off x="2522756" y="84295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 name="Rectangle 13">
            <a:extLst>
              <a:ext uri="{FF2B5EF4-FFF2-40B4-BE49-F238E27FC236}">
                <a16:creationId xmlns:a16="http://schemas.microsoft.com/office/drawing/2014/main" id="{CEEF23AD-EA17-135A-DB95-1D1FECB286F3}"/>
              </a:ext>
            </a:extLst>
          </p:cNvPr>
          <p:cNvSpPr/>
          <p:nvPr/>
        </p:nvSpPr>
        <p:spPr>
          <a:xfrm>
            <a:off x="3596954" y="84295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 name="Rectangle 14">
            <a:extLst>
              <a:ext uri="{FF2B5EF4-FFF2-40B4-BE49-F238E27FC236}">
                <a16:creationId xmlns:a16="http://schemas.microsoft.com/office/drawing/2014/main" id="{CEEF23AD-EA17-135A-DB95-1D1FECB286F3}"/>
              </a:ext>
            </a:extLst>
          </p:cNvPr>
          <p:cNvSpPr/>
          <p:nvPr/>
        </p:nvSpPr>
        <p:spPr>
          <a:xfrm>
            <a:off x="4648618" y="84295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6" name="TextBox 15"/>
          <p:cNvSpPr txBox="1"/>
          <p:nvPr/>
        </p:nvSpPr>
        <p:spPr>
          <a:xfrm>
            <a:off x="5697720" y="546018"/>
            <a:ext cx="707886" cy="276999"/>
          </a:xfrm>
          <a:prstGeom prst="rect">
            <a:avLst/>
          </a:prstGeom>
          <a:noFill/>
        </p:spPr>
        <p:txBody>
          <a:bodyPr wrap="none" rtlCol="0">
            <a:spAutoFit/>
          </a:bodyPr>
          <a:lstStyle/>
          <a:p>
            <a:r>
              <a:rPr lang="en-US" sz="1200"/>
              <a:t>f) 54000</a:t>
            </a:r>
            <a:endParaRPr lang="en-GB" sz="1200"/>
          </a:p>
        </p:txBody>
      </p:sp>
      <p:sp>
        <p:nvSpPr>
          <p:cNvPr id="17" name="Rectangle 16">
            <a:extLst>
              <a:ext uri="{FF2B5EF4-FFF2-40B4-BE49-F238E27FC236}">
                <a16:creationId xmlns:a16="http://schemas.microsoft.com/office/drawing/2014/main" id="{CEEF23AD-EA17-135A-DB95-1D1FECB286F3}"/>
              </a:ext>
            </a:extLst>
          </p:cNvPr>
          <p:cNvSpPr/>
          <p:nvPr/>
        </p:nvSpPr>
        <p:spPr>
          <a:xfrm>
            <a:off x="5697720" y="842958"/>
            <a:ext cx="981055"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8" name="TextBox 17"/>
          <p:cNvSpPr txBox="1"/>
          <p:nvPr/>
        </p:nvSpPr>
        <p:spPr>
          <a:xfrm>
            <a:off x="333414" y="1250232"/>
            <a:ext cx="534121" cy="276999"/>
          </a:xfrm>
          <a:prstGeom prst="rect">
            <a:avLst/>
          </a:prstGeom>
          <a:noFill/>
        </p:spPr>
        <p:txBody>
          <a:bodyPr wrap="none" rtlCol="0">
            <a:spAutoFit/>
          </a:bodyPr>
          <a:lstStyle/>
          <a:p>
            <a:r>
              <a:rPr lang="en-US" sz="1200"/>
              <a:t>g) 0.4</a:t>
            </a:r>
            <a:endParaRPr lang="en-GB" sz="1200"/>
          </a:p>
        </p:txBody>
      </p:sp>
      <p:sp>
        <p:nvSpPr>
          <p:cNvPr id="19" name="TextBox 18"/>
          <p:cNvSpPr txBox="1"/>
          <p:nvPr/>
        </p:nvSpPr>
        <p:spPr>
          <a:xfrm>
            <a:off x="1385671" y="1241529"/>
            <a:ext cx="699230" cy="276999"/>
          </a:xfrm>
          <a:prstGeom prst="rect">
            <a:avLst/>
          </a:prstGeom>
          <a:noFill/>
        </p:spPr>
        <p:txBody>
          <a:bodyPr wrap="none" rtlCol="0">
            <a:spAutoFit/>
          </a:bodyPr>
          <a:lstStyle/>
          <a:p>
            <a:r>
              <a:rPr lang="en-US" sz="1200"/>
              <a:t>h) 0.504</a:t>
            </a:r>
            <a:endParaRPr lang="en-GB" sz="1200"/>
          </a:p>
        </p:txBody>
      </p:sp>
      <p:sp>
        <p:nvSpPr>
          <p:cNvPr id="20" name="TextBox 19"/>
          <p:cNvSpPr txBox="1"/>
          <p:nvPr/>
        </p:nvSpPr>
        <p:spPr>
          <a:xfrm>
            <a:off x="2462330" y="1241530"/>
            <a:ext cx="732893" cy="276999"/>
          </a:xfrm>
          <a:prstGeom prst="rect">
            <a:avLst/>
          </a:prstGeom>
          <a:noFill/>
        </p:spPr>
        <p:txBody>
          <a:bodyPr wrap="none" rtlCol="0">
            <a:spAutoFit/>
          </a:bodyPr>
          <a:lstStyle/>
          <a:p>
            <a:r>
              <a:rPr lang="en-US" sz="1200"/>
              <a:t>i) 0.0504</a:t>
            </a:r>
            <a:endParaRPr lang="en-GB" sz="1200"/>
          </a:p>
        </p:txBody>
      </p:sp>
      <p:sp>
        <p:nvSpPr>
          <p:cNvPr id="21" name="TextBox 20"/>
          <p:cNvSpPr txBox="1"/>
          <p:nvPr/>
        </p:nvSpPr>
        <p:spPr>
          <a:xfrm>
            <a:off x="3469376" y="1264622"/>
            <a:ext cx="813043" cy="276999"/>
          </a:xfrm>
          <a:prstGeom prst="rect">
            <a:avLst/>
          </a:prstGeom>
          <a:noFill/>
        </p:spPr>
        <p:txBody>
          <a:bodyPr wrap="none" rtlCol="0">
            <a:spAutoFit/>
          </a:bodyPr>
          <a:lstStyle/>
          <a:p>
            <a:r>
              <a:rPr lang="en-US" sz="1200"/>
              <a:t>j) 0.05043</a:t>
            </a:r>
            <a:endParaRPr lang="en-GB" sz="1200"/>
          </a:p>
        </p:txBody>
      </p:sp>
      <p:sp>
        <p:nvSpPr>
          <p:cNvPr id="22" name="TextBox 21"/>
          <p:cNvSpPr txBox="1"/>
          <p:nvPr/>
        </p:nvSpPr>
        <p:spPr>
          <a:xfrm>
            <a:off x="4573139" y="1261142"/>
            <a:ext cx="768159" cy="276999"/>
          </a:xfrm>
          <a:prstGeom prst="rect">
            <a:avLst/>
          </a:prstGeom>
          <a:noFill/>
        </p:spPr>
        <p:txBody>
          <a:bodyPr wrap="none" rtlCol="0">
            <a:spAutoFit/>
          </a:bodyPr>
          <a:lstStyle/>
          <a:p>
            <a:r>
              <a:rPr lang="en-US" sz="1200"/>
              <a:t>k) 1.5004</a:t>
            </a:r>
            <a:endParaRPr lang="en-GB" sz="1200"/>
          </a:p>
        </p:txBody>
      </p:sp>
      <p:sp>
        <p:nvSpPr>
          <p:cNvPr id="23" name="Rectangle 22">
            <a:extLst>
              <a:ext uri="{FF2B5EF4-FFF2-40B4-BE49-F238E27FC236}">
                <a16:creationId xmlns:a16="http://schemas.microsoft.com/office/drawing/2014/main" id="{CEEF23AD-EA17-135A-DB95-1D1FECB286F3}"/>
              </a:ext>
            </a:extLst>
          </p:cNvPr>
          <p:cNvSpPr/>
          <p:nvPr/>
        </p:nvSpPr>
        <p:spPr>
          <a:xfrm>
            <a:off x="393349" y="158372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4" name="Rectangle 23">
            <a:extLst>
              <a:ext uri="{FF2B5EF4-FFF2-40B4-BE49-F238E27FC236}">
                <a16:creationId xmlns:a16="http://schemas.microsoft.com/office/drawing/2014/main" id="{CEEF23AD-EA17-135A-DB95-1D1FECB286F3}"/>
              </a:ext>
            </a:extLst>
          </p:cNvPr>
          <p:cNvSpPr/>
          <p:nvPr/>
        </p:nvSpPr>
        <p:spPr>
          <a:xfrm>
            <a:off x="1437304" y="158372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 name="Rectangle 24">
            <a:extLst>
              <a:ext uri="{FF2B5EF4-FFF2-40B4-BE49-F238E27FC236}">
                <a16:creationId xmlns:a16="http://schemas.microsoft.com/office/drawing/2014/main" id="{CEEF23AD-EA17-135A-DB95-1D1FECB286F3}"/>
              </a:ext>
            </a:extLst>
          </p:cNvPr>
          <p:cNvSpPr/>
          <p:nvPr/>
        </p:nvSpPr>
        <p:spPr>
          <a:xfrm>
            <a:off x="2493188" y="158372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6" name="Rectangle 25">
            <a:extLst>
              <a:ext uri="{FF2B5EF4-FFF2-40B4-BE49-F238E27FC236}">
                <a16:creationId xmlns:a16="http://schemas.microsoft.com/office/drawing/2014/main" id="{CEEF23AD-EA17-135A-DB95-1D1FECB286F3}"/>
              </a:ext>
            </a:extLst>
          </p:cNvPr>
          <p:cNvSpPr/>
          <p:nvPr/>
        </p:nvSpPr>
        <p:spPr>
          <a:xfrm>
            <a:off x="3567386" y="158372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7" name="Rectangle 26">
            <a:extLst>
              <a:ext uri="{FF2B5EF4-FFF2-40B4-BE49-F238E27FC236}">
                <a16:creationId xmlns:a16="http://schemas.microsoft.com/office/drawing/2014/main" id="{CEEF23AD-EA17-135A-DB95-1D1FECB286F3}"/>
              </a:ext>
            </a:extLst>
          </p:cNvPr>
          <p:cNvSpPr/>
          <p:nvPr/>
        </p:nvSpPr>
        <p:spPr>
          <a:xfrm>
            <a:off x="4619050" y="158372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8" name="TextBox 27"/>
          <p:cNvSpPr txBox="1"/>
          <p:nvPr/>
        </p:nvSpPr>
        <p:spPr>
          <a:xfrm>
            <a:off x="5668152" y="1286789"/>
            <a:ext cx="968535" cy="276999"/>
          </a:xfrm>
          <a:prstGeom prst="rect">
            <a:avLst/>
          </a:prstGeom>
          <a:noFill/>
        </p:spPr>
        <p:txBody>
          <a:bodyPr wrap="none" rtlCol="0">
            <a:spAutoFit/>
          </a:bodyPr>
          <a:lstStyle/>
          <a:p>
            <a:r>
              <a:rPr lang="en-US" sz="1200"/>
              <a:t>l) 0.0050042</a:t>
            </a:r>
            <a:endParaRPr lang="en-GB" sz="1200"/>
          </a:p>
        </p:txBody>
      </p:sp>
      <p:sp>
        <p:nvSpPr>
          <p:cNvPr id="29" name="Rectangle 28">
            <a:extLst>
              <a:ext uri="{FF2B5EF4-FFF2-40B4-BE49-F238E27FC236}">
                <a16:creationId xmlns:a16="http://schemas.microsoft.com/office/drawing/2014/main" id="{CEEF23AD-EA17-135A-DB95-1D1FECB286F3}"/>
              </a:ext>
            </a:extLst>
          </p:cNvPr>
          <p:cNvSpPr/>
          <p:nvPr/>
        </p:nvSpPr>
        <p:spPr>
          <a:xfrm>
            <a:off x="5668152" y="1583729"/>
            <a:ext cx="1010623"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30" name="Straight Connector 29">
            <a:extLst>
              <a:ext uri="{FF2B5EF4-FFF2-40B4-BE49-F238E27FC236}">
                <a16:creationId xmlns:a16="http://schemas.microsoft.com/office/drawing/2014/main" id="{B4A988A4-03CD-D549-9F12-81AFECBDEF37}"/>
              </a:ext>
            </a:extLst>
          </p:cNvPr>
          <p:cNvCxnSpPr>
            <a:cxnSpLocks/>
          </p:cNvCxnSpPr>
          <p:nvPr/>
        </p:nvCxnSpPr>
        <p:spPr>
          <a:xfrm>
            <a:off x="933354" y="3969731"/>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Table 30"/>
          <p:cNvGraphicFramePr>
            <a:graphicFrameLocks noGrp="1"/>
          </p:cNvGraphicFramePr>
          <p:nvPr>
            <p:extLst>
              <p:ext uri="{D42A27DB-BD31-4B8C-83A1-F6EECF244321}">
                <p14:modId xmlns:p14="http://schemas.microsoft.com/office/powerpoint/2010/main" val="734999288"/>
              </p:ext>
            </p:extLst>
          </p:nvPr>
        </p:nvGraphicFramePr>
        <p:xfrm>
          <a:off x="135095" y="2525358"/>
          <a:ext cx="6543680" cy="2938582"/>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32878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Round</a:t>
                      </a:r>
                      <a:r>
                        <a:rPr lang="en-US" sz="1200" b="0" baseline="0" dirty="0">
                          <a:solidFill>
                            <a:schemeClr val="tx1"/>
                          </a:solidFill>
                        </a:rPr>
                        <a:t> </a:t>
                      </a:r>
                      <a:r>
                        <a:rPr lang="en-US" sz="1200" b="0" dirty="0">
                          <a:solidFill>
                            <a:schemeClr val="tx1"/>
                          </a:solidFill>
                        </a:rPr>
                        <a:t>to 1 significant figure</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67002">
                <a:tc>
                  <a:txBody>
                    <a:bodyPr/>
                    <a:lstStyle/>
                    <a:p>
                      <a:pPr marL="0" indent="0">
                        <a:buNone/>
                      </a:pPr>
                      <a:r>
                        <a:rPr lang="en-US" sz="1100"/>
                        <a:t>1)</a:t>
                      </a:r>
                      <a:r>
                        <a:rPr lang="en-US" sz="1100" baseline="0"/>
                        <a:t> </a:t>
                      </a:r>
                      <a:r>
                        <a:rPr lang="en-US" sz="1100"/>
                        <a:t>Draw a line between</a:t>
                      </a:r>
                      <a:r>
                        <a:rPr lang="en-US" sz="1100" baseline="0"/>
                        <a:t> the </a:t>
                      </a:r>
                      <a:r>
                        <a:rPr lang="en-US" sz="1100" b="1" baseline="0"/>
                        <a:t>first and second </a:t>
                      </a:r>
                      <a:r>
                        <a:rPr lang="en-US" sz="1100" baseline="0"/>
                        <a:t>significant figure.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0799">
                <a:tc>
                  <a:txBody>
                    <a:bodyPr/>
                    <a:lstStyle/>
                    <a:p>
                      <a:pPr marL="0" indent="0">
                        <a:buNone/>
                      </a:pPr>
                      <a:r>
                        <a:rPr lang="en-US" sz="1100"/>
                        <a:t>2) If the </a:t>
                      </a:r>
                      <a:r>
                        <a:rPr lang="en-US" sz="1100" baseline="0"/>
                        <a:t>2</a:t>
                      </a:r>
                      <a:r>
                        <a:rPr lang="en-US" sz="1100" baseline="30000"/>
                        <a:t>nd</a:t>
                      </a:r>
                      <a:r>
                        <a:rPr lang="en-US" sz="1100" baseline="0"/>
                        <a:t> significant figure is </a:t>
                      </a:r>
                      <a:r>
                        <a:rPr lang="en-US" sz="1100" b="1" baseline="0"/>
                        <a:t>5 or above</a:t>
                      </a:r>
                      <a:r>
                        <a:rPr lang="en-US" sz="1100" baseline="0"/>
                        <a:t>, the 1</a:t>
                      </a:r>
                      <a:r>
                        <a:rPr lang="en-US" sz="1100" baseline="30000"/>
                        <a:t>st</a:t>
                      </a:r>
                      <a:r>
                        <a:rPr lang="en-US" sz="1100" baseline="0"/>
                        <a:t> significant figure rounds </a:t>
                      </a:r>
                      <a:r>
                        <a:rPr lang="en-US" sz="1100" b="1" baseline="0"/>
                        <a:t>up.  </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754261">
                <a:tc>
                  <a:txBody>
                    <a:bodyPr/>
                    <a:lstStyle/>
                    <a:p>
                      <a:pPr marL="0" indent="0">
                        <a:buNone/>
                      </a:pPr>
                      <a:r>
                        <a:rPr lang="en-US" sz="1100" dirty="0"/>
                        <a:t>3) If the </a:t>
                      </a:r>
                      <a:r>
                        <a:rPr lang="en-US" sz="1100" baseline="0" dirty="0"/>
                        <a:t>2</a:t>
                      </a:r>
                      <a:r>
                        <a:rPr lang="en-US" sz="1100" baseline="30000" dirty="0"/>
                        <a:t>nd</a:t>
                      </a:r>
                      <a:r>
                        <a:rPr lang="en-US" sz="1100" baseline="0" dirty="0"/>
                        <a:t> significant figure is </a:t>
                      </a:r>
                      <a:r>
                        <a:rPr lang="en-US" sz="1100" b="1" baseline="0" dirty="0"/>
                        <a:t>4 or below</a:t>
                      </a:r>
                      <a:r>
                        <a:rPr lang="en-US" sz="1100" baseline="0" dirty="0"/>
                        <a:t>, the 1</a:t>
                      </a:r>
                      <a:r>
                        <a:rPr lang="en-US" sz="1100" baseline="30000" dirty="0"/>
                        <a:t>st</a:t>
                      </a:r>
                      <a:r>
                        <a:rPr lang="en-US" sz="1100" baseline="0" dirty="0"/>
                        <a:t> significant figure stays the same.</a:t>
                      </a:r>
                      <a:endParaRPr lang="en-US" sz="11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p:sp>
        <p:nvSpPr>
          <p:cNvPr id="32" name="TextBox 31">
            <a:extLst>
              <a:ext uri="{FF2B5EF4-FFF2-40B4-BE49-F238E27FC236}">
                <a16:creationId xmlns:a16="http://schemas.microsoft.com/office/drawing/2014/main" id="{BCDC1A2B-2D26-C945-B722-18950FA49879}"/>
              </a:ext>
            </a:extLst>
          </p:cNvPr>
          <p:cNvSpPr txBox="1"/>
          <p:nvPr/>
        </p:nvSpPr>
        <p:spPr>
          <a:xfrm>
            <a:off x="1916714" y="2268074"/>
            <a:ext cx="1410704" cy="276999"/>
          </a:xfrm>
          <a:prstGeom prst="rect">
            <a:avLst/>
          </a:prstGeom>
          <a:noFill/>
          <a:ln>
            <a:noFill/>
          </a:ln>
        </p:spPr>
        <p:txBody>
          <a:bodyPr wrap="square" rtlCol="0">
            <a:spAutoFit/>
          </a:bodyPr>
          <a:lstStyle/>
          <a:p>
            <a:r>
              <a:rPr lang="en-GB" sz="1200" b="1" i="1">
                <a:solidFill>
                  <a:srgbClr val="FF0000"/>
                </a:solidFill>
              </a:rPr>
              <a:t>Example 4 - I do…</a:t>
            </a:r>
          </a:p>
        </p:txBody>
      </p:sp>
      <p:sp>
        <p:nvSpPr>
          <p:cNvPr id="33" name="TextBox 32">
            <a:extLst>
              <a:ext uri="{FF2B5EF4-FFF2-40B4-BE49-F238E27FC236}">
                <a16:creationId xmlns:a16="http://schemas.microsoft.com/office/drawing/2014/main" id="{4AF4150A-9218-D640-8777-2ECCBC4D10FB}"/>
              </a:ext>
            </a:extLst>
          </p:cNvPr>
          <p:cNvSpPr txBox="1"/>
          <p:nvPr/>
        </p:nvSpPr>
        <p:spPr>
          <a:xfrm>
            <a:off x="5050611" y="2245966"/>
            <a:ext cx="1643405" cy="276999"/>
          </a:xfrm>
          <a:prstGeom prst="rect">
            <a:avLst/>
          </a:prstGeom>
          <a:noFill/>
          <a:ln>
            <a:noFill/>
          </a:ln>
        </p:spPr>
        <p:txBody>
          <a:bodyPr wrap="square" rtlCol="0">
            <a:spAutoFit/>
          </a:bodyPr>
          <a:lstStyle/>
          <a:p>
            <a:r>
              <a:rPr lang="en-GB" sz="1200" b="1" i="1">
                <a:solidFill>
                  <a:srgbClr val="00B050"/>
                </a:solidFill>
              </a:rPr>
              <a:t>Example 6 – You do…</a:t>
            </a:r>
          </a:p>
        </p:txBody>
      </p:sp>
      <p:sp>
        <p:nvSpPr>
          <p:cNvPr id="34" name="TextBox 33">
            <a:extLst>
              <a:ext uri="{FF2B5EF4-FFF2-40B4-BE49-F238E27FC236}">
                <a16:creationId xmlns:a16="http://schemas.microsoft.com/office/drawing/2014/main" id="{BCDC1A2B-2D26-C945-B722-18950FA49879}"/>
              </a:ext>
            </a:extLst>
          </p:cNvPr>
          <p:cNvSpPr txBox="1"/>
          <p:nvPr/>
        </p:nvSpPr>
        <p:spPr>
          <a:xfrm>
            <a:off x="3441432" y="2258067"/>
            <a:ext cx="1667605" cy="276999"/>
          </a:xfrm>
          <a:prstGeom prst="rect">
            <a:avLst/>
          </a:prstGeom>
          <a:noFill/>
          <a:ln>
            <a:noFill/>
          </a:ln>
        </p:spPr>
        <p:txBody>
          <a:bodyPr wrap="square" rtlCol="0">
            <a:spAutoFit/>
          </a:bodyPr>
          <a:lstStyle/>
          <a:p>
            <a:r>
              <a:rPr lang="en-GB" sz="1200" b="1" i="1">
                <a:solidFill>
                  <a:schemeClr val="accent2"/>
                </a:solidFill>
              </a:rPr>
              <a:t>Example 5 - We do…</a:t>
            </a:r>
          </a:p>
        </p:txBody>
      </p:sp>
      <p:sp>
        <p:nvSpPr>
          <p:cNvPr id="35" name="TextBox 34"/>
          <p:cNvSpPr txBox="1"/>
          <p:nvPr/>
        </p:nvSpPr>
        <p:spPr>
          <a:xfrm>
            <a:off x="1891180" y="2812365"/>
            <a:ext cx="1419715" cy="1384995"/>
          </a:xfrm>
          <a:prstGeom prst="rect">
            <a:avLst/>
          </a:prstGeom>
          <a:noFill/>
        </p:spPr>
        <p:txBody>
          <a:bodyPr wrap="square" rtlCol="0">
            <a:spAutoFit/>
          </a:bodyPr>
          <a:lstStyle/>
          <a:p>
            <a:pPr algn="ctr"/>
            <a:r>
              <a:rPr lang="en-US" sz="1200"/>
              <a:t>Round 36 to one significant figure</a:t>
            </a:r>
          </a:p>
          <a:p>
            <a:pPr algn="ctr"/>
            <a:endParaRPr lang="en-US" sz="1200"/>
          </a:p>
          <a:p>
            <a:pPr algn="ctr"/>
            <a:r>
              <a:rPr lang="en-US" sz="1200"/>
              <a:t>3  |  </a:t>
            </a:r>
            <a:r>
              <a:rPr lang="en-US" sz="1200" u="sng"/>
              <a:t>6</a:t>
            </a:r>
          </a:p>
          <a:p>
            <a:pPr algn="ctr"/>
            <a:endParaRPr lang="en-US" sz="1200"/>
          </a:p>
          <a:p>
            <a:pPr algn="ctr"/>
            <a:endParaRPr lang="en-US" sz="1200"/>
          </a:p>
          <a:p>
            <a:pPr algn="ctr"/>
            <a:endParaRPr lang="en-US" sz="1200" u="sng"/>
          </a:p>
        </p:txBody>
      </p:sp>
      <p:sp>
        <p:nvSpPr>
          <p:cNvPr id="37" name="Rectangle 36">
            <a:extLst>
              <a:ext uri="{FF2B5EF4-FFF2-40B4-BE49-F238E27FC236}">
                <a16:creationId xmlns:a16="http://schemas.microsoft.com/office/drawing/2014/main" id="{CEEF23AD-EA17-135A-DB95-1D1FECB286F3}"/>
              </a:ext>
            </a:extLst>
          </p:cNvPr>
          <p:cNvSpPr/>
          <p:nvPr/>
        </p:nvSpPr>
        <p:spPr>
          <a:xfrm>
            <a:off x="1876413" y="364161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8" name="Rectangle 37">
            <a:extLst>
              <a:ext uri="{FF2B5EF4-FFF2-40B4-BE49-F238E27FC236}">
                <a16:creationId xmlns:a16="http://schemas.microsoft.com/office/drawing/2014/main" id="{CEEF23AD-EA17-135A-DB95-1D1FECB286F3}"/>
              </a:ext>
            </a:extLst>
          </p:cNvPr>
          <p:cNvSpPr/>
          <p:nvPr/>
        </p:nvSpPr>
        <p:spPr>
          <a:xfrm>
            <a:off x="1876413" y="499568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9" name="Rectangle 38">
            <a:extLst>
              <a:ext uri="{FF2B5EF4-FFF2-40B4-BE49-F238E27FC236}">
                <a16:creationId xmlns:a16="http://schemas.microsoft.com/office/drawing/2014/main" id="{CEEF23AD-EA17-135A-DB95-1D1FECB286F3}"/>
              </a:ext>
            </a:extLst>
          </p:cNvPr>
          <p:cNvSpPr/>
          <p:nvPr/>
        </p:nvSpPr>
        <p:spPr>
          <a:xfrm>
            <a:off x="3500888" y="363693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0" name="Rectangle 39">
            <a:extLst>
              <a:ext uri="{FF2B5EF4-FFF2-40B4-BE49-F238E27FC236}">
                <a16:creationId xmlns:a16="http://schemas.microsoft.com/office/drawing/2014/main" id="{CEEF23AD-EA17-135A-DB95-1D1FECB286F3}"/>
              </a:ext>
            </a:extLst>
          </p:cNvPr>
          <p:cNvSpPr/>
          <p:nvPr/>
        </p:nvSpPr>
        <p:spPr>
          <a:xfrm>
            <a:off x="3500888" y="499100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1" name="Rectangle 40">
            <a:extLst>
              <a:ext uri="{FF2B5EF4-FFF2-40B4-BE49-F238E27FC236}">
                <a16:creationId xmlns:a16="http://schemas.microsoft.com/office/drawing/2014/main" id="{CEEF23AD-EA17-135A-DB95-1D1FECB286F3}"/>
              </a:ext>
            </a:extLst>
          </p:cNvPr>
          <p:cNvSpPr/>
          <p:nvPr/>
        </p:nvSpPr>
        <p:spPr>
          <a:xfrm>
            <a:off x="5143804" y="363693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2" name="Rectangle 41">
            <a:extLst>
              <a:ext uri="{FF2B5EF4-FFF2-40B4-BE49-F238E27FC236}">
                <a16:creationId xmlns:a16="http://schemas.microsoft.com/office/drawing/2014/main" id="{CEEF23AD-EA17-135A-DB95-1D1FECB286F3}"/>
              </a:ext>
            </a:extLst>
          </p:cNvPr>
          <p:cNvSpPr/>
          <p:nvPr/>
        </p:nvSpPr>
        <p:spPr>
          <a:xfrm>
            <a:off x="5143804" y="499100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7" name="TextBox 46"/>
          <p:cNvSpPr txBox="1"/>
          <p:nvPr/>
        </p:nvSpPr>
        <p:spPr>
          <a:xfrm>
            <a:off x="1886481" y="4002310"/>
            <a:ext cx="1419715" cy="1384995"/>
          </a:xfrm>
          <a:prstGeom prst="rect">
            <a:avLst/>
          </a:prstGeom>
          <a:noFill/>
        </p:spPr>
        <p:txBody>
          <a:bodyPr wrap="square" rtlCol="0">
            <a:spAutoFit/>
          </a:bodyPr>
          <a:lstStyle/>
          <a:p>
            <a:pPr algn="ctr"/>
            <a:r>
              <a:rPr lang="en-US" sz="1200"/>
              <a:t>Round 453 to one significant figure</a:t>
            </a:r>
          </a:p>
          <a:p>
            <a:pPr algn="ctr"/>
            <a:endParaRPr lang="en-US" sz="1200"/>
          </a:p>
          <a:p>
            <a:pPr algn="ctr"/>
            <a:r>
              <a:rPr lang="en-US" sz="1200"/>
              <a:t>4  |  </a:t>
            </a:r>
            <a:r>
              <a:rPr lang="en-US" sz="1200" u="sng"/>
              <a:t>5</a:t>
            </a:r>
            <a:r>
              <a:rPr lang="en-US" sz="1200"/>
              <a:t>    3</a:t>
            </a:r>
            <a:endParaRPr lang="en-US" sz="1200" u="sng"/>
          </a:p>
          <a:p>
            <a:pPr algn="ctr"/>
            <a:endParaRPr lang="en-US" sz="1200"/>
          </a:p>
          <a:p>
            <a:pPr algn="ctr"/>
            <a:endParaRPr lang="en-US" sz="1200"/>
          </a:p>
          <a:p>
            <a:pPr algn="ctr"/>
            <a:endParaRPr lang="en-US" sz="1200" u="sng"/>
          </a:p>
        </p:txBody>
      </p:sp>
      <p:sp>
        <p:nvSpPr>
          <p:cNvPr id="48" name="TextBox 47"/>
          <p:cNvSpPr txBox="1"/>
          <p:nvPr/>
        </p:nvSpPr>
        <p:spPr>
          <a:xfrm>
            <a:off x="3502401" y="2852169"/>
            <a:ext cx="1419715" cy="1015663"/>
          </a:xfrm>
          <a:prstGeom prst="rect">
            <a:avLst/>
          </a:prstGeom>
          <a:noFill/>
        </p:spPr>
        <p:txBody>
          <a:bodyPr wrap="square" rtlCol="0">
            <a:spAutoFit/>
          </a:bodyPr>
          <a:lstStyle/>
          <a:p>
            <a:pPr algn="ctr"/>
            <a:r>
              <a:rPr lang="en-US" sz="1200"/>
              <a:t>Round 49 to one significant figure</a:t>
            </a:r>
          </a:p>
          <a:p>
            <a:pPr algn="ctr"/>
            <a:endParaRPr lang="en-US" sz="1200"/>
          </a:p>
          <a:p>
            <a:pPr algn="ctr"/>
            <a:endParaRPr lang="en-US" sz="1200"/>
          </a:p>
          <a:p>
            <a:pPr algn="ctr"/>
            <a:endParaRPr lang="en-US" sz="1200" u="sng"/>
          </a:p>
        </p:txBody>
      </p:sp>
      <p:sp>
        <p:nvSpPr>
          <p:cNvPr id="49" name="TextBox 48"/>
          <p:cNvSpPr txBox="1"/>
          <p:nvPr/>
        </p:nvSpPr>
        <p:spPr>
          <a:xfrm>
            <a:off x="3481423" y="4011403"/>
            <a:ext cx="1419715" cy="1015663"/>
          </a:xfrm>
          <a:prstGeom prst="rect">
            <a:avLst/>
          </a:prstGeom>
          <a:noFill/>
        </p:spPr>
        <p:txBody>
          <a:bodyPr wrap="square" rtlCol="0">
            <a:spAutoFit/>
          </a:bodyPr>
          <a:lstStyle/>
          <a:p>
            <a:pPr algn="ctr"/>
            <a:r>
              <a:rPr lang="en-US" sz="1200"/>
              <a:t>Round 4353 to one significant figure</a:t>
            </a:r>
          </a:p>
          <a:p>
            <a:pPr algn="ctr"/>
            <a:endParaRPr lang="en-US" sz="1200"/>
          </a:p>
          <a:p>
            <a:pPr algn="ctr"/>
            <a:endParaRPr lang="en-US" sz="1200"/>
          </a:p>
          <a:p>
            <a:pPr algn="ctr"/>
            <a:endParaRPr lang="en-US" sz="1200" u="sng"/>
          </a:p>
        </p:txBody>
      </p:sp>
      <p:sp>
        <p:nvSpPr>
          <p:cNvPr id="50" name="TextBox 49"/>
          <p:cNvSpPr txBox="1"/>
          <p:nvPr/>
        </p:nvSpPr>
        <p:spPr>
          <a:xfrm>
            <a:off x="5178036" y="2844465"/>
            <a:ext cx="1419715" cy="1015663"/>
          </a:xfrm>
          <a:prstGeom prst="rect">
            <a:avLst/>
          </a:prstGeom>
          <a:noFill/>
        </p:spPr>
        <p:txBody>
          <a:bodyPr wrap="square" rtlCol="0">
            <a:spAutoFit/>
          </a:bodyPr>
          <a:lstStyle/>
          <a:p>
            <a:pPr algn="ctr"/>
            <a:r>
              <a:rPr lang="en-US" sz="1200"/>
              <a:t>Round 75 to one significant figure</a:t>
            </a:r>
          </a:p>
          <a:p>
            <a:pPr algn="ctr"/>
            <a:endParaRPr lang="en-US" sz="1200"/>
          </a:p>
          <a:p>
            <a:pPr algn="ctr"/>
            <a:endParaRPr lang="en-US" sz="1200"/>
          </a:p>
          <a:p>
            <a:pPr algn="ctr"/>
            <a:endParaRPr lang="en-US" sz="1200" u="sng"/>
          </a:p>
        </p:txBody>
      </p:sp>
      <p:sp>
        <p:nvSpPr>
          <p:cNvPr id="51" name="TextBox 50"/>
          <p:cNvSpPr txBox="1"/>
          <p:nvPr/>
        </p:nvSpPr>
        <p:spPr>
          <a:xfrm>
            <a:off x="5173337" y="4034410"/>
            <a:ext cx="1419715" cy="1015663"/>
          </a:xfrm>
          <a:prstGeom prst="rect">
            <a:avLst/>
          </a:prstGeom>
          <a:noFill/>
        </p:spPr>
        <p:txBody>
          <a:bodyPr wrap="square" rtlCol="0">
            <a:spAutoFit/>
          </a:bodyPr>
          <a:lstStyle/>
          <a:p>
            <a:pPr algn="ctr"/>
            <a:r>
              <a:rPr lang="en-US" sz="1200"/>
              <a:t>Round 4531 to one significant figure</a:t>
            </a:r>
          </a:p>
          <a:p>
            <a:pPr algn="ctr"/>
            <a:endParaRPr lang="en-US" sz="1200"/>
          </a:p>
          <a:p>
            <a:pPr algn="ctr"/>
            <a:endParaRPr lang="en-US" sz="1200"/>
          </a:p>
          <a:p>
            <a:pPr algn="ctr"/>
            <a:endParaRPr lang="en-US" sz="1200" u="sng"/>
          </a:p>
        </p:txBody>
      </p:sp>
      <p:sp>
        <p:nvSpPr>
          <p:cNvPr id="54" name="TextBox 53"/>
          <p:cNvSpPr txBox="1"/>
          <p:nvPr/>
        </p:nvSpPr>
        <p:spPr>
          <a:xfrm>
            <a:off x="1388238" y="5501139"/>
            <a:ext cx="3028650" cy="276999"/>
          </a:xfrm>
          <a:prstGeom prst="rect">
            <a:avLst/>
          </a:prstGeom>
          <a:noFill/>
        </p:spPr>
        <p:txBody>
          <a:bodyPr wrap="none" rtlCol="0">
            <a:spAutoFit/>
          </a:bodyPr>
          <a:lstStyle/>
          <a:p>
            <a:r>
              <a:rPr lang="en-US" sz="1200"/>
              <a:t>2. Round each number to 1 significant figure. </a:t>
            </a:r>
            <a:endParaRPr lang="en-GB" sz="1200"/>
          </a:p>
        </p:txBody>
      </p:sp>
      <p:sp>
        <p:nvSpPr>
          <p:cNvPr id="56" name="TextBox 55"/>
          <p:cNvSpPr txBox="1"/>
          <p:nvPr/>
        </p:nvSpPr>
        <p:spPr>
          <a:xfrm>
            <a:off x="367452" y="5772661"/>
            <a:ext cx="497252" cy="276999"/>
          </a:xfrm>
          <a:prstGeom prst="rect">
            <a:avLst/>
          </a:prstGeom>
          <a:noFill/>
        </p:spPr>
        <p:txBody>
          <a:bodyPr wrap="none" rtlCol="0">
            <a:spAutoFit/>
          </a:bodyPr>
          <a:lstStyle/>
          <a:p>
            <a:r>
              <a:rPr lang="en-US" sz="1200"/>
              <a:t>a) 12</a:t>
            </a:r>
            <a:endParaRPr lang="en-GB" sz="1200"/>
          </a:p>
        </p:txBody>
      </p:sp>
      <p:sp>
        <p:nvSpPr>
          <p:cNvPr id="57" name="TextBox 56"/>
          <p:cNvSpPr txBox="1"/>
          <p:nvPr/>
        </p:nvSpPr>
        <p:spPr>
          <a:xfrm>
            <a:off x="1419709" y="5763958"/>
            <a:ext cx="503664" cy="276999"/>
          </a:xfrm>
          <a:prstGeom prst="rect">
            <a:avLst/>
          </a:prstGeom>
          <a:noFill/>
        </p:spPr>
        <p:txBody>
          <a:bodyPr wrap="none" rtlCol="0">
            <a:spAutoFit/>
          </a:bodyPr>
          <a:lstStyle/>
          <a:p>
            <a:r>
              <a:rPr lang="en-US" sz="1200"/>
              <a:t>b) 15</a:t>
            </a:r>
            <a:endParaRPr lang="en-GB" sz="1200"/>
          </a:p>
        </p:txBody>
      </p:sp>
      <p:sp>
        <p:nvSpPr>
          <p:cNvPr id="58" name="TextBox 57"/>
          <p:cNvSpPr txBox="1"/>
          <p:nvPr/>
        </p:nvSpPr>
        <p:spPr>
          <a:xfrm>
            <a:off x="2496368" y="5763959"/>
            <a:ext cx="489236" cy="276999"/>
          </a:xfrm>
          <a:prstGeom prst="rect">
            <a:avLst/>
          </a:prstGeom>
          <a:noFill/>
        </p:spPr>
        <p:txBody>
          <a:bodyPr wrap="none" rtlCol="0">
            <a:spAutoFit/>
          </a:bodyPr>
          <a:lstStyle/>
          <a:p>
            <a:r>
              <a:rPr lang="en-US" sz="1200"/>
              <a:t>c) 24</a:t>
            </a:r>
            <a:endParaRPr lang="en-GB" sz="1200"/>
          </a:p>
        </p:txBody>
      </p:sp>
      <p:sp>
        <p:nvSpPr>
          <p:cNvPr id="59" name="TextBox 58"/>
          <p:cNvSpPr txBox="1"/>
          <p:nvPr/>
        </p:nvSpPr>
        <p:spPr>
          <a:xfrm>
            <a:off x="3503414" y="5787051"/>
            <a:ext cx="503664" cy="276999"/>
          </a:xfrm>
          <a:prstGeom prst="rect">
            <a:avLst/>
          </a:prstGeom>
          <a:noFill/>
        </p:spPr>
        <p:txBody>
          <a:bodyPr wrap="none" rtlCol="0">
            <a:spAutoFit/>
          </a:bodyPr>
          <a:lstStyle/>
          <a:p>
            <a:r>
              <a:rPr lang="en-US" sz="1200"/>
              <a:t>d) 27</a:t>
            </a:r>
            <a:endParaRPr lang="en-GB" sz="1200"/>
          </a:p>
        </p:txBody>
      </p:sp>
      <p:sp>
        <p:nvSpPr>
          <p:cNvPr id="60" name="TextBox 59"/>
          <p:cNvSpPr txBox="1"/>
          <p:nvPr/>
        </p:nvSpPr>
        <p:spPr>
          <a:xfrm>
            <a:off x="4607177" y="5783571"/>
            <a:ext cx="500458" cy="276999"/>
          </a:xfrm>
          <a:prstGeom prst="rect">
            <a:avLst/>
          </a:prstGeom>
          <a:noFill/>
        </p:spPr>
        <p:txBody>
          <a:bodyPr wrap="none" rtlCol="0">
            <a:spAutoFit/>
          </a:bodyPr>
          <a:lstStyle/>
          <a:p>
            <a:r>
              <a:rPr lang="en-US" sz="1200"/>
              <a:t>e) 35</a:t>
            </a:r>
            <a:endParaRPr lang="en-GB" sz="1200"/>
          </a:p>
        </p:txBody>
      </p:sp>
      <p:sp>
        <p:nvSpPr>
          <p:cNvPr id="61" name="Rectangle 60">
            <a:extLst>
              <a:ext uri="{FF2B5EF4-FFF2-40B4-BE49-F238E27FC236}">
                <a16:creationId xmlns:a16="http://schemas.microsoft.com/office/drawing/2014/main" id="{CEEF23AD-EA17-135A-DB95-1D1FECB286F3}"/>
              </a:ext>
            </a:extLst>
          </p:cNvPr>
          <p:cNvSpPr/>
          <p:nvPr/>
        </p:nvSpPr>
        <p:spPr>
          <a:xfrm>
            <a:off x="399210" y="634535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2" name="Rectangle 61">
            <a:extLst>
              <a:ext uri="{FF2B5EF4-FFF2-40B4-BE49-F238E27FC236}">
                <a16:creationId xmlns:a16="http://schemas.microsoft.com/office/drawing/2014/main" id="{CEEF23AD-EA17-135A-DB95-1D1FECB286F3}"/>
              </a:ext>
            </a:extLst>
          </p:cNvPr>
          <p:cNvSpPr/>
          <p:nvPr/>
        </p:nvSpPr>
        <p:spPr>
          <a:xfrm>
            <a:off x="1443165" y="634535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3" name="Rectangle 62">
            <a:extLst>
              <a:ext uri="{FF2B5EF4-FFF2-40B4-BE49-F238E27FC236}">
                <a16:creationId xmlns:a16="http://schemas.microsoft.com/office/drawing/2014/main" id="{CEEF23AD-EA17-135A-DB95-1D1FECB286F3}"/>
              </a:ext>
            </a:extLst>
          </p:cNvPr>
          <p:cNvSpPr/>
          <p:nvPr/>
        </p:nvSpPr>
        <p:spPr>
          <a:xfrm>
            <a:off x="2499049" y="634535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4" name="Rectangle 63">
            <a:extLst>
              <a:ext uri="{FF2B5EF4-FFF2-40B4-BE49-F238E27FC236}">
                <a16:creationId xmlns:a16="http://schemas.microsoft.com/office/drawing/2014/main" id="{CEEF23AD-EA17-135A-DB95-1D1FECB286F3}"/>
              </a:ext>
            </a:extLst>
          </p:cNvPr>
          <p:cNvSpPr/>
          <p:nvPr/>
        </p:nvSpPr>
        <p:spPr>
          <a:xfrm>
            <a:off x="3573247" y="634535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5" name="Rectangle 64">
            <a:extLst>
              <a:ext uri="{FF2B5EF4-FFF2-40B4-BE49-F238E27FC236}">
                <a16:creationId xmlns:a16="http://schemas.microsoft.com/office/drawing/2014/main" id="{CEEF23AD-EA17-135A-DB95-1D1FECB286F3}"/>
              </a:ext>
            </a:extLst>
          </p:cNvPr>
          <p:cNvSpPr/>
          <p:nvPr/>
        </p:nvSpPr>
        <p:spPr>
          <a:xfrm>
            <a:off x="4624911" y="634535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6" name="TextBox 65"/>
          <p:cNvSpPr txBox="1"/>
          <p:nvPr/>
        </p:nvSpPr>
        <p:spPr>
          <a:xfrm>
            <a:off x="5702190" y="5809218"/>
            <a:ext cx="472245" cy="276999"/>
          </a:xfrm>
          <a:prstGeom prst="rect">
            <a:avLst/>
          </a:prstGeom>
          <a:noFill/>
        </p:spPr>
        <p:txBody>
          <a:bodyPr wrap="none" rtlCol="0">
            <a:spAutoFit/>
          </a:bodyPr>
          <a:lstStyle/>
          <a:p>
            <a:r>
              <a:rPr lang="en-US" sz="1200"/>
              <a:t>f) 39</a:t>
            </a:r>
            <a:endParaRPr lang="en-GB" sz="1200"/>
          </a:p>
        </p:txBody>
      </p:sp>
      <p:sp>
        <p:nvSpPr>
          <p:cNvPr id="67" name="Rectangle 66">
            <a:extLst>
              <a:ext uri="{FF2B5EF4-FFF2-40B4-BE49-F238E27FC236}">
                <a16:creationId xmlns:a16="http://schemas.microsoft.com/office/drawing/2014/main" id="{CEEF23AD-EA17-135A-DB95-1D1FECB286F3}"/>
              </a:ext>
            </a:extLst>
          </p:cNvPr>
          <p:cNvSpPr/>
          <p:nvPr/>
        </p:nvSpPr>
        <p:spPr>
          <a:xfrm>
            <a:off x="5674013" y="634535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TextBox 67"/>
          <p:cNvSpPr txBox="1"/>
          <p:nvPr/>
        </p:nvSpPr>
        <p:spPr>
          <a:xfrm>
            <a:off x="399210" y="6806984"/>
            <a:ext cx="574196" cy="276999"/>
          </a:xfrm>
          <a:prstGeom prst="rect">
            <a:avLst/>
          </a:prstGeom>
          <a:noFill/>
        </p:spPr>
        <p:txBody>
          <a:bodyPr wrap="none" rtlCol="0">
            <a:spAutoFit/>
          </a:bodyPr>
          <a:lstStyle/>
          <a:p>
            <a:r>
              <a:rPr lang="en-US" sz="1200"/>
              <a:t>g) 390</a:t>
            </a:r>
            <a:endParaRPr lang="en-GB" sz="1200"/>
          </a:p>
        </p:txBody>
      </p:sp>
      <p:sp>
        <p:nvSpPr>
          <p:cNvPr id="69" name="TextBox 68"/>
          <p:cNvSpPr txBox="1"/>
          <p:nvPr/>
        </p:nvSpPr>
        <p:spPr>
          <a:xfrm>
            <a:off x="1451467" y="6798281"/>
            <a:ext cx="582211" cy="276999"/>
          </a:xfrm>
          <a:prstGeom prst="rect">
            <a:avLst/>
          </a:prstGeom>
          <a:noFill/>
        </p:spPr>
        <p:txBody>
          <a:bodyPr wrap="none" rtlCol="0">
            <a:spAutoFit/>
          </a:bodyPr>
          <a:lstStyle/>
          <a:p>
            <a:r>
              <a:rPr lang="en-US" sz="1200"/>
              <a:t>h) 395</a:t>
            </a:r>
            <a:endParaRPr lang="en-GB" sz="1200"/>
          </a:p>
        </p:txBody>
      </p:sp>
      <p:sp>
        <p:nvSpPr>
          <p:cNvPr id="70" name="TextBox 69"/>
          <p:cNvSpPr txBox="1"/>
          <p:nvPr/>
        </p:nvSpPr>
        <p:spPr>
          <a:xfrm>
            <a:off x="2528126" y="6798282"/>
            <a:ext cx="537327" cy="276999"/>
          </a:xfrm>
          <a:prstGeom prst="rect">
            <a:avLst/>
          </a:prstGeom>
          <a:noFill/>
        </p:spPr>
        <p:txBody>
          <a:bodyPr wrap="none" rtlCol="0">
            <a:spAutoFit/>
          </a:bodyPr>
          <a:lstStyle/>
          <a:p>
            <a:r>
              <a:rPr lang="en-US" sz="1200"/>
              <a:t>i) 401</a:t>
            </a:r>
            <a:endParaRPr lang="en-GB" sz="1200"/>
          </a:p>
        </p:txBody>
      </p:sp>
      <p:sp>
        <p:nvSpPr>
          <p:cNvPr id="71" name="TextBox 70"/>
          <p:cNvSpPr txBox="1"/>
          <p:nvPr/>
        </p:nvSpPr>
        <p:spPr>
          <a:xfrm>
            <a:off x="3535172" y="6821374"/>
            <a:ext cx="538930" cy="276999"/>
          </a:xfrm>
          <a:prstGeom prst="rect">
            <a:avLst/>
          </a:prstGeom>
          <a:noFill/>
        </p:spPr>
        <p:txBody>
          <a:bodyPr wrap="none" rtlCol="0">
            <a:spAutoFit/>
          </a:bodyPr>
          <a:lstStyle/>
          <a:p>
            <a:r>
              <a:rPr lang="en-US" sz="1200"/>
              <a:t>j) 450</a:t>
            </a:r>
            <a:endParaRPr lang="en-GB" sz="1200"/>
          </a:p>
        </p:txBody>
      </p:sp>
      <p:sp>
        <p:nvSpPr>
          <p:cNvPr id="72" name="TextBox 71"/>
          <p:cNvSpPr txBox="1"/>
          <p:nvPr/>
        </p:nvSpPr>
        <p:spPr>
          <a:xfrm>
            <a:off x="4638935" y="6817894"/>
            <a:ext cx="572593" cy="276999"/>
          </a:xfrm>
          <a:prstGeom prst="rect">
            <a:avLst/>
          </a:prstGeom>
          <a:noFill/>
        </p:spPr>
        <p:txBody>
          <a:bodyPr wrap="none" rtlCol="0">
            <a:spAutoFit/>
          </a:bodyPr>
          <a:lstStyle/>
          <a:p>
            <a:r>
              <a:rPr lang="en-US" sz="1200"/>
              <a:t>k) 570</a:t>
            </a:r>
            <a:endParaRPr lang="en-GB" sz="1200"/>
          </a:p>
        </p:txBody>
      </p:sp>
      <p:sp>
        <p:nvSpPr>
          <p:cNvPr id="73" name="Rectangle 72">
            <a:extLst>
              <a:ext uri="{FF2B5EF4-FFF2-40B4-BE49-F238E27FC236}">
                <a16:creationId xmlns:a16="http://schemas.microsoft.com/office/drawing/2014/main" id="{CEEF23AD-EA17-135A-DB95-1D1FECB286F3}"/>
              </a:ext>
            </a:extLst>
          </p:cNvPr>
          <p:cNvSpPr/>
          <p:nvPr/>
        </p:nvSpPr>
        <p:spPr>
          <a:xfrm>
            <a:off x="399210" y="7342753"/>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4" name="Rectangle 73">
            <a:extLst>
              <a:ext uri="{FF2B5EF4-FFF2-40B4-BE49-F238E27FC236}">
                <a16:creationId xmlns:a16="http://schemas.microsoft.com/office/drawing/2014/main" id="{CEEF23AD-EA17-135A-DB95-1D1FECB286F3}"/>
              </a:ext>
            </a:extLst>
          </p:cNvPr>
          <p:cNvSpPr/>
          <p:nvPr/>
        </p:nvSpPr>
        <p:spPr>
          <a:xfrm>
            <a:off x="1443165" y="7342753"/>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5" name="Rectangle 74">
            <a:extLst>
              <a:ext uri="{FF2B5EF4-FFF2-40B4-BE49-F238E27FC236}">
                <a16:creationId xmlns:a16="http://schemas.microsoft.com/office/drawing/2014/main" id="{CEEF23AD-EA17-135A-DB95-1D1FECB286F3}"/>
              </a:ext>
            </a:extLst>
          </p:cNvPr>
          <p:cNvSpPr/>
          <p:nvPr/>
        </p:nvSpPr>
        <p:spPr>
          <a:xfrm>
            <a:off x="2499049" y="7342753"/>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6" name="Rectangle 75">
            <a:extLst>
              <a:ext uri="{FF2B5EF4-FFF2-40B4-BE49-F238E27FC236}">
                <a16:creationId xmlns:a16="http://schemas.microsoft.com/office/drawing/2014/main" id="{CEEF23AD-EA17-135A-DB95-1D1FECB286F3}"/>
              </a:ext>
            </a:extLst>
          </p:cNvPr>
          <p:cNvSpPr/>
          <p:nvPr/>
        </p:nvSpPr>
        <p:spPr>
          <a:xfrm>
            <a:off x="3573247" y="7342753"/>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7" name="Rectangle 76">
            <a:extLst>
              <a:ext uri="{FF2B5EF4-FFF2-40B4-BE49-F238E27FC236}">
                <a16:creationId xmlns:a16="http://schemas.microsoft.com/office/drawing/2014/main" id="{CEEF23AD-EA17-135A-DB95-1D1FECB286F3}"/>
              </a:ext>
            </a:extLst>
          </p:cNvPr>
          <p:cNvSpPr/>
          <p:nvPr/>
        </p:nvSpPr>
        <p:spPr>
          <a:xfrm>
            <a:off x="4624911" y="7342753"/>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8" name="TextBox 77"/>
          <p:cNvSpPr txBox="1"/>
          <p:nvPr/>
        </p:nvSpPr>
        <p:spPr>
          <a:xfrm>
            <a:off x="5733948" y="6843541"/>
            <a:ext cx="537327" cy="276999"/>
          </a:xfrm>
          <a:prstGeom prst="rect">
            <a:avLst/>
          </a:prstGeom>
          <a:noFill/>
        </p:spPr>
        <p:txBody>
          <a:bodyPr wrap="none" rtlCol="0">
            <a:spAutoFit/>
          </a:bodyPr>
          <a:lstStyle/>
          <a:p>
            <a:r>
              <a:rPr lang="en-US" sz="1200"/>
              <a:t>l) 690</a:t>
            </a:r>
            <a:endParaRPr lang="en-GB" sz="1200"/>
          </a:p>
        </p:txBody>
      </p:sp>
      <p:sp>
        <p:nvSpPr>
          <p:cNvPr id="79" name="Rectangle 78">
            <a:extLst>
              <a:ext uri="{FF2B5EF4-FFF2-40B4-BE49-F238E27FC236}">
                <a16:creationId xmlns:a16="http://schemas.microsoft.com/office/drawing/2014/main" id="{CEEF23AD-EA17-135A-DB95-1D1FECB286F3}"/>
              </a:ext>
            </a:extLst>
          </p:cNvPr>
          <p:cNvSpPr/>
          <p:nvPr/>
        </p:nvSpPr>
        <p:spPr>
          <a:xfrm>
            <a:off x="5674013" y="7342753"/>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0" name="TextBox 79"/>
          <p:cNvSpPr txBox="1"/>
          <p:nvPr/>
        </p:nvSpPr>
        <p:spPr>
          <a:xfrm>
            <a:off x="380704" y="7753572"/>
            <a:ext cx="704039" cy="276999"/>
          </a:xfrm>
          <a:prstGeom prst="rect">
            <a:avLst/>
          </a:prstGeom>
          <a:noFill/>
        </p:spPr>
        <p:txBody>
          <a:bodyPr wrap="none" rtlCol="0">
            <a:spAutoFit/>
          </a:bodyPr>
          <a:lstStyle/>
          <a:p>
            <a:r>
              <a:rPr lang="en-US" sz="1200"/>
              <a:t>m) 1200</a:t>
            </a:r>
            <a:endParaRPr lang="en-GB" sz="1200"/>
          </a:p>
        </p:txBody>
      </p:sp>
      <p:sp>
        <p:nvSpPr>
          <p:cNvPr id="81" name="TextBox 80"/>
          <p:cNvSpPr txBox="1"/>
          <p:nvPr/>
        </p:nvSpPr>
        <p:spPr>
          <a:xfrm>
            <a:off x="1425065" y="7740804"/>
            <a:ext cx="660758" cy="276999"/>
          </a:xfrm>
          <a:prstGeom prst="rect">
            <a:avLst/>
          </a:prstGeom>
          <a:noFill/>
        </p:spPr>
        <p:txBody>
          <a:bodyPr wrap="none" rtlCol="0">
            <a:spAutoFit/>
          </a:bodyPr>
          <a:lstStyle/>
          <a:p>
            <a:r>
              <a:rPr lang="en-US" sz="1200"/>
              <a:t>n) 1500</a:t>
            </a:r>
            <a:endParaRPr lang="en-GB" sz="1200"/>
          </a:p>
        </p:txBody>
      </p:sp>
      <p:sp>
        <p:nvSpPr>
          <p:cNvPr id="82" name="TextBox 81"/>
          <p:cNvSpPr txBox="1"/>
          <p:nvPr/>
        </p:nvSpPr>
        <p:spPr>
          <a:xfrm>
            <a:off x="2481789" y="7764481"/>
            <a:ext cx="662361" cy="276999"/>
          </a:xfrm>
          <a:prstGeom prst="rect">
            <a:avLst/>
          </a:prstGeom>
          <a:noFill/>
        </p:spPr>
        <p:txBody>
          <a:bodyPr wrap="none" rtlCol="0">
            <a:spAutoFit/>
          </a:bodyPr>
          <a:lstStyle/>
          <a:p>
            <a:r>
              <a:rPr lang="en-US" sz="1200"/>
              <a:t>o) 1005</a:t>
            </a:r>
            <a:endParaRPr lang="en-GB" sz="1200"/>
          </a:p>
        </p:txBody>
      </p:sp>
      <p:sp>
        <p:nvSpPr>
          <p:cNvPr id="83" name="TextBox 82"/>
          <p:cNvSpPr txBox="1"/>
          <p:nvPr/>
        </p:nvSpPr>
        <p:spPr>
          <a:xfrm>
            <a:off x="3516666" y="7767962"/>
            <a:ext cx="660758" cy="276999"/>
          </a:xfrm>
          <a:prstGeom prst="rect">
            <a:avLst/>
          </a:prstGeom>
          <a:noFill/>
        </p:spPr>
        <p:txBody>
          <a:bodyPr wrap="none" rtlCol="0">
            <a:spAutoFit/>
          </a:bodyPr>
          <a:lstStyle/>
          <a:p>
            <a:r>
              <a:rPr lang="en-US" sz="1200"/>
              <a:t>p) 1050</a:t>
            </a:r>
            <a:endParaRPr lang="en-GB" sz="1200"/>
          </a:p>
        </p:txBody>
      </p:sp>
      <p:sp>
        <p:nvSpPr>
          <p:cNvPr id="84" name="TextBox 83"/>
          <p:cNvSpPr txBox="1"/>
          <p:nvPr/>
        </p:nvSpPr>
        <p:spPr>
          <a:xfrm>
            <a:off x="4603971" y="7753572"/>
            <a:ext cx="660758" cy="276999"/>
          </a:xfrm>
          <a:prstGeom prst="rect">
            <a:avLst/>
          </a:prstGeom>
          <a:noFill/>
        </p:spPr>
        <p:txBody>
          <a:bodyPr wrap="none" rtlCol="0">
            <a:spAutoFit/>
          </a:bodyPr>
          <a:lstStyle/>
          <a:p>
            <a:r>
              <a:rPr lang="en-US" sz="1200"/>
              <a:t>q) 2950</a:t>
            </a:r>
            <a:endParaRPr lang="en-GB" sz="1200"/>
          </a:p>
        </p:txBody>
      </p:sp>
      <p:sp>
        <p:nvSpPr>
          <p:cNvPr id="85" name="Rectangle 84">
            <a:extLst>
              <a:ext uri="{FF2B5EF4-FFF2-40B4-BE49-F238E27FC236}">
                <a16:creationId xmlns:a16="http://schemas.microsoft.com/office/drawing/2014/main" id="{CEEF23AD-EA17-135A-DB95-1D1FECB286F3}"/>
              </a:ext>
            </a:extLst>
          </p:cNvPr>
          <p:cNvSpPr/>
          <p:nvPr/>
        </p:nvSpPr>
        <p:spPr>
          <a:xfrm>
            <a:off x="412462" y="832052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6" name="Rectangle 85">
            <a:extLst>
              <a:ext uri="{FF2B5EF4-FFF2-40B4-BE49-F238E27FC236}">
                <a16:creationId xmlns:a16="http://schemas.microsoft.com/office/drawing/2014/main" id="{CEEF23AD-EA17-135A-DB95-1D1FECB286F3}"/>
              </a:ext>
            </a:extLst>
          </p:cNvPr>
          <p:cNvSpPr/>
          <p:nvPr/>
        </p:nvSpPr>
        <p:spPr>
          <a:xfrm>
            <a:off x="1456417" y="832052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7" name="Rectangle 86">
            <a:extLst>
              <a:ext uri="{FF2B5EF4-FFF2-40B4-BE49-F238E27FC236}">
                <a16:creationId xmlns:a16="http://schemas.microsoft.com/office/drawing/2014/main" id="{CEEF23AD-EA17-135A-DB95-1D1FECB286F3}"/>
              </a:ext>
            </a:extLst>
          </p:cNvPr>
          <p:cNvSpPr/>
          <p:nvPr/>
        </p:nvSpPr>
        <p:spPr>
          <a:xfrm>
            <a:off x="2512301" y="832052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8" name="Rectangle 87">
            <a:extLst>
              <a:ext uri="{FF2B5EF4-FFF2-40B4-BE49-F238E27FC236}">
                <a16:creationId xmlns:a16="http://schemas.microsoft.com/office/drawing/2014/main" id="{CEEF23AD-EA17-135A-DB95-1D1FECB286F3}"/>
              </a:ext>
            </a:extLst>
          </p:cNvPr>
          <p:cNvSpPr/>
          <p:nvPr/>
        </p:nvSpPr>
        <p:spPr>
          <a:xfrm>
            <a:off x="3586499" y="832052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9" name="Rectangle 88">
            <a:extLst>
              <a:ext uri="{FF2B5EF4-FFF2-40B4-BE49-F238E27FC236}">
                <a16:creationId xmlns:a16="http://schemas.microsoft.com/office/drawing/2014/main" id="{CEEF23AD-EA17-135A-DB95-1D1FECB286F3}"/>
              </a:ext>
            </a:extLst>
          </p:cNvPr>
          <p:cNvSpPr/>
          <p:nvPr/>
        </p:nvSpPr>
        <p:spPr>
          <a:xfrm>
            <a:off x="4638163" y="832052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0" name="TextBox 89"/>
          <p:cNvSpPr txBox="1"/>
          <p:nvPr/>
        </p:nvSpPr>
        <p:spPr>
          <a:xfrm>
            <a:off x="5650766" y="7748583"/>
            <a:ext cx="633507" cy="276999"/>
          </a:xfrm>
          <a:prstGeom prst="rect">
            <a:avLst/>
          </a:prstGeom>
          <a:noFill/>
        </p:spPr>
        <p:txBody>
          <a:bodyPr wrap="none" rtlCol="0">
            <a:spAutoFit/>
          </a:bodyPr>
          <a:lstStyle/>
          <a:p>
            <a:r>
              <a:rPr lang="en-US" sz="1200"/>
              <a:t>r) 2095</a:t>
            </a:r>
            <a:endParaRPr lang="en-GB" sz="1200"/>
          </a:p>
        </p:txBody>
      </p:sp>
      <p:sp>
        <p:nvSpPr>
          <p:cNvPr id="91" name="Rectangle 90">
            <a:extLst>
              <a:ext uri="{FF2B5EF4-FFF2-40B4-BE49-F238E27FC236}">
                <a16:creationId xmlns:a16="http://schemas.microsoft.com/office/drawing/2014/main" id="{CEEF23AD-EA17-135A-DB95-1D1FECB286F3}"/>
              </a:ext>
            </a:extLst>
          </p:cNvPr>
          <p:cNvSpPr/>
          <p:nvPr/>
        </p:nvSpPr>
        <p:spPr>
          <a:xfrm>
            <a:off x="5687265" y="832052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2" name="TextBox 91"/>
          <p:cNvSpPr txBox="1"/>
          <p:nvPr/>
        </p:nvSpPr>
        <p:spPr>
          <a:xfrm>
            <a:off x="361591" y="8810988"/>
            <a:ext cx="641522" cy="276999"/>
          </a:xfrm>
          <a:prstGeom prst="rect">
            <a:avLst/>
          </a:prstGeom>
          <a:noFill/>
        </p:spPr>
        <p:txBody>
          <a:bodyPr wrap="none" rtlCol="0">
            <a:spAutoFit/>
          </a:bodyPr>
          <a:lstStyle/>
          <a:p>
            <a:r>
              <a:rPr lang="en-US" sz="1200"/>
              <a:t>s) 2495</a:t>
            </a:r>
            <a:endParaRPr lang="en-GB" sz="1200"/>
          </a:p>
        </p:txBody>
      </p:sp>
      <p:sp>
        <p:nvSpPr>
          <p:cNvPr id="93" name="TextBox 92"/>
          <p:cNvSpPr txBox="1"/>
          <p:nvPr/>
        </p:nvSpPr>
        <p:spPr>
          <a:xfrm>
            <a:off x="1381085" y="8805999"/>
            <a:ext cx="631904" cy="276999"/>
          </a:xfrm>
          <a:prstGeom prst="rect">
            <a:avLst/>
          </a:prstGeom>
          <a:noFill/>
        </p:spPr>
        <p:txBody>
          <a:bodyPr wrap="none" rtlCol="0">
            <a:spAutoFit/>
          </a:bodyPr>
          <a:lstStyle/>
          <a:p>
            <a:r>
              <a:rPr lang="en-US" sz="1200"/>
              <a:t>t) 2945</a:t>
            </a:r>
            <a:endParaRPr lang="en-GB" sz="1200"/>
          </a:p>
        </p:txBody>
      </p:sp>
      <p:sp>
        <p:nvSpPr>
          <p:cNvPr id="94" name="TextBox 93"/>
          <p:cNvSpPr txBox="1"/>
          <p:nvPr/>
        </p:nvSpPr>
        <p:spPr>
          <a:xfrm>
            <a:off x="2462676" y="8821897"/>
            <a:ext cx="660758" cy="276999"/>
          </a:xfrm>
          <a:prstGeom prst="rect">
            <a:avLst/>
          </a:prstGeom>
          <a:noFill/>
        </p:spPr>
        <p:txBody>
          <a:bodyPr wrap="none" rtlCol="0">
            <a:spAutoFit/>
          </a:bodyPr>
          <a:lstStyle/>
          <a:p>
            <a:r>
              <a:rPr lang="en-US" sz="1200"/>
              <a:t>u) 3059</a:t>
            </a:r>
            <a:endParaRPr lang="en-GB" sz="1200"/>
          </a:p>
        </p:txBody>
      </p:sp>
      <p:sp>
        <p:nvSpPr>
          <p:cNvPr id="95" name="TextBox 94"/>
          <p:cNvSpPr txBox="1"/>
          <p:nvPr/>
        </p:nvSpPr>
        <p:spPr>
          <a:xfrm>
            <a:off x="3497553" y="8825378"/>
            <a:ext cx="649537" cy="276999"/>
          </a:xfrm>
          <a:prstGeom prst="rect">
            <a:avLst/>
          </a:prstGeom>
          <a:noFill/>
        </p:spPr>
        <p:txBody>
          <a:bodyPr wrap="none" rtlCol="0">
            <a:spAutoFit/>
          </a:bodyPr>
          <a:lstStyle/>
          <a:p>
            <a:r>
              <a:rPr lang="en-US" sz="1200"/>
              <a:t>v) 3595</a:t>
            </a:r>
            <a:endParaRPr lang="en-GB" sz="1200"/>
          </a:p>
        </p:txBody>
      </p:sp>
      <p:sp>
        <p:nvSpPr>
          <p:cNvPr id="96" name="TextBox 95"/>
          <p:cNvSpPr txBox="1"/>
          <p:nvPr/>
        </p:nvSpPr>
        <p:spPr>
          <a:xfrm>
            <a:off x="4584858" y="8810988"/>
            <a:ext cx="691215" cy="276999"/>
          </a:xfrm>
          <a:prstGeom prst="rect">
            <a:avLst/>
          </a:prstGeom>
          <a:noFill/>
        </p:spPr>
        <p:txBody>
          <a:bodyPr wrap="none" rtlCol="0">
            <a:spAutoFit/>
          </a:bodyPr>
          <a:lstStyle/>
          <a:p>
            <a:r>
              <a:rPr lang="en-US" sz="1200"/>
              <a:t>w) 8099</a:t>
            </a:r>
            <a:endParaRPr lang="en-GB" sz="1200"/>
          </a:p>
        </p:txBody>
      </p:sp>
      <p:sp>
        <p:nvSpPr>
          <p:cNvPr id="97" name="Rectangle 96">
            <a:extLst>
              <a:ext uri="{FF2B5EF4-FFF2-40B4-BE49-F238E27FC236}">
                <a16:creationId xmlns:a16="http://schemas.microsoft.com/office/drawing/2014/main" id="{CEEF23AD-EA17-135A-DB95-1D1FECB286F3}"/>
              </a:ext>
            </a:extLst>
          </p:cNvPr>
          <p:cNvSpPr/>
          <p:nvPr/>
        </p:nvSpPr>
        <p:spPr>
          <a:xfrm>
            <a:off x="393349" y="937793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8" name="Rectangle 97">
            <a:extLst>
              <a:ext uri="{FF2B5EF4-FFF2-40B4-BE49-F238E27FC236}">
                <a16:creationId xmlns:a16="http://schemas.microsoft.com/office/drawing/2014/main" id="{CEEF23AD-EA17-135A-DB95-1D1FECB286F3}"/>
              </a:ext>
            </a:extLst>
          </p:cNvPr>
          <p:cNvSpPr/>
          <p:nvPr/>
        </p:nvSpPr>
        <p:spPr>
          <a:xfrm>
            <a:off x="1437304" y="937793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9" name="Rectangle 98">
            <a:extLst>
              <a:ext uri="{FF2B5EF4-FFF2-40B4-BE49-F238E27FC236}">
                <a16:creationId xmlns:a16="http://schemas.microsoft.com/office/drawing/2014/main" id="{CEEF23AD-EA17-135A-DB95-1D1FECB286F3}"/>
              </a:ext>
            </a:extLst>
          </p:cNvPr>
          <p:cNvSpPr/>
          <p:nvPr/>
        </p:nvSpPr>
        <p:spPr>
          <a:xfrm>
            <a:off x="2493188" y="937793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0" name="Rectangle 99">
            <a:extLst>
              <a:ext uri="{FF2B5EF4-FFF2-40B4-BE49-F238E27FC236}">
                <a16:creationId xmlns:a16="http://schemas.microsoft.com/office/drawing/2014/main" id="{CEEF23AD-EA17-135A-DB95-1D1FECB286F3}"/>
              </a:ext>
            </a:extLst>
          </p:cNvPr>
          <p:cNvSpPr/>
          <p:nvPr/>
        </p:nvSpPr>
        <p:spPr>
          <a:xfrm>
            <a:off x="3567386" y="937793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1" name="Rectangle 100">
            <a:extLst>
              <a:ext uri="{FF2B5EF4-FFF2-40B4-BE49-F238E27FC236}">
                <a16:creationId xmlns:a16="http://schemas.microsoft.com/office/drawing/2014/main" id="{CEEF23AD-EA17-135A-DB95-1D1FECB286F3}"/>
              </a:ext>
            </a:extLst>
          </p:cNvPr>
          <p:cNvSpPr/>
          <p:nvPr/>
        </p:nvSpPr>
        <p:spPr>
          <a:xfrm>
            <a:off x="4619050" y="937793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2" name="TextBox 101"/>
          <p:cNvSpPr txBox="1"/>
          <p:nvPr/>
        </p:nvSpPr>
        <p:spPr>
          <a:xfrm>
            <a:off x="5631653" y="8805999"/>
            <a:ext cx="647934" cy="276999"/>
          </a:xfrm>
          <a:prstGeom prst="rect">
            <a:avLst/>
          </a:prstGeom>
          <a:noFill/>
        </p:spPr>
        <p:txBody>
          <a:bodyPr wrap="none" rtlCol="0">
            <a:spAutoFit/>
          </a:bodyPr>
          <a:lstStyle/>
          <a:p>
            <a:r>
              <a:rPr lang="en-US" sz="1200"/>
              <a:t>x) 6499</a:t>
            </a:r>
            <a:endParaRPr lang="en-GB" sz="1200"/>
          </a:p>
        </p:txBody>
      </p:sp>
      <p:sp>
        <p:nvSpPr>
          <p:cNvPr id="103" name="Rectangle 102">
            <a:extLst>
              <a:ext uri="{FF2B5EF4-FFF2-40B4-BE49-F238E27FC236}">
                <a16:creationId xmlns:a16="http://schemas.microsoft.com/office/drawing/2014/main" id="{CEEF23AD-EA17-135A-DB95-1D1FECB286F3}"/>
              </a:ext>
            </a:extLst>
          </p:cNvPr>
          <p:cNvSpPr/>
          <p:nvPr/>
        </p:nvSpPr>
        <p:spPr>
          <a:xfrm>
            <a:off x="5668152" y="937793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4"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24</a:t>
            </a:fld>
            <a:endParaRPr lang="en-GB"/>
          </a:p>
        </p:txBody>
      </p:sp>
      <p:sp>
        <p:nvSpPr>
          <p:cNvPr id="2" name="Rectangle 1">
            <a:extLst>
              <a:ext uri="{FF2B5EF4-FFF2-40B4-BE49-F238E27FC236}">
                <a16:creationId xmlns:a16="http://schemas.microsoft.com/office/drawing/2014/main" id="{5C609556-485E-D7FC-E3BC-6E52AFE92B75}"/>
              </a:ext>
            </a:extLst>
          </p:cNvPr>
          <p:cNvSpPr/>
          <p:nvPr/>
        </p:nvSpPr>
        <p:spPr>
          <a:xfrm>
            <a:off x="47101" y="5056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36" name="Rectangle 35">
            <a:extLst>
              <a:ext uri="{FF2B5EF4-FFF2-40B4-BE49-F238E27FC236}">
                <a16:creationId xmlns:a16="http://schemas.microsoft.com/office/drawing/2014/main" id="{55045F7A-F120-4728-0DCE-30BB6DA6466D}"/>
              </a:ext>
            </a:extLst>
          </p:cNvPr>
          <p:cNvSpPr/>
          <p:nvPr/>
        </p:nvSpPr>
        <p:spPr>
          <a:xfrm>
            <a:off x="104897" y="547514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3" name="Rectangle 2">
            <a:extLst>
              <a:ext uri="{FF2B5EF4-FFF2-40B4-BE49-F238E27FC236}">
                <a16:creationId xmlns:a16="http://schemas.microsoft.com/office/drawing/2014/main" id="{F13433E1-C16F-56D3-7237-76F8D4E1BDDC}"/>
              </a:ext>
            </a:extLst>
          </p:cNvPr>
          <p:cNvSpPr/>
          <p:nvPr/>
        </p:nvSpPr>
        <p:spPr>
          <a:xfrm>
            <a:off x="83431" y="2090207"/>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Rounding to one significant figure.</a:t>
            </a:r>
            <a:endParaRPr lang="en-GB" sz="1200">
              <a:solidFill>
                <a:schemeClr val="bg1"/>
              </a:solidFill>
            </a:endParaRPr>
          </a:p>
        </p:txBody>
      </p:sp>
    </p:spTree>
    <p:extLst>
      <p:ext uri="{BB962C8B-B14F-4D97-AF65-F5344CB8AC3E}">
        <p14:creationId xmlns:p14="http://schemas.microsoft.com/office/powerpoint/2010/main" val="2748859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9536" y="167389"/>
            <a:ext cx="728084" cy="276999"/>
          </a:xfrm>
          <a:prstGeom prst="rect">
            <a:avLst/>
          </a:prstGeom>
          <a:noFill/>
        </p:spPr>
        <p:txBody>
          <a:bodyPr wrap="none" rtlCol="0">
            <a:spAutoFit/>
          </a:bodyPr>
          <a:lstStyle/>
          <a:p>
            <a:r>
              <a:rPr lang="en-US" sz="1200"/>
              <a:t>y) 12100</a:t>
            </a:r>
            <a:endParaRPr lang="en-GB" sz="1200"/>
          </a:p>
        </p:txBody>
      </p:sp>
      <p:sp>
        <p:nvSpPr>
          <p:cNvPr id="3" name="TextBox 2"/>
          <p:cNvSpPr txBox="1"/>
          <p:nvPr/>
        </p:nvSpPr>
        <p:spPr>
          <a:xfrm>
            <a:off x="1513897" y="154621"/>
            <a:ext cx="720069" cy="276999"/>
          </a:xfrm>
          <a:prstGeom prst="rect">
            <a:avLst/>
          </a:prstGeom>
          <a:noFill/>
        </p:spPr>
        <p:txBody>
          <a:bodyPr wrap="none" rtlCol="0">
            <a:spAutoFit/>
          </a:bodyPr>
          <a:lstStyle/>
          <a:p>
            <a:r>
              <a:rPr lang="en-US" sz="1200"/>
              <a:t>z) 46100</a:t>
            </a:r>
            <a:endParaRPr lang="en-GB" sz="1200"/>
          </a:p>
        </p:txBody>
      </p:sp>
      <p:sp>
        <p:nvSpPr>
          <p:cNvPr id="4" name="TextBox 3"/>
          <p:cNvSpPr txBox="1"/>
          <p:nvPr/>
        </p:nvSpPr>
        <p:spPr>
          <a:xfrm>
            <a:off x="2514011" y="176672"/>
            <a:ext cx="811441" cy="276999"/>
          </a:xfrm>
          <a:prstGeom prst="rect">
            <a:avLst/>
          </a:prstGeom>
          <a:noFill/>
        </p:spPr>
        <p:txBody>
          <a:bodyPr wrap="none" rtlCol="0">
            <a:spAutoFit/>
          </a:bodyPr>
          <a:lstStyle/>
          <a:p>
            <a:r>
              <a:rPr lang="en-US" sz="1200"/>
              <a:t>a1) 65400</a:t>
            </a:r>
            <a:endParaRPr lang="en-GB" sz="1200"/>
          </a:p>
        </p:txBody>
      </p:sp>
      <p:sp>
        <p:nvSpPr>
          <p:cNvPr id="5" name="TextBox 4"/>
          <p:cNvSpPr txBox="1"/>
          <p:nvPr/>
        </p:nvSpPr>
        <p:spPr>
          <a:xfrm>
            <a:off x="3575181" y="185689"/>
            <a:ext cx="817853" cy="276999"/>
          </a:xfrm>
          <a:prstGeom prst="rect">
            <a:avLst/>
          </a:prstGeom>
          <a:noFill/>
        </p:spPr>
        <p:txBody>
          <a:bodyPr wrap="none" rtlCol="0">
            <a:spAutoFit/>
          </a:bodyPr>
          <a:lstStyle/>
          <a:p>
            <a:r>
              <a:rPr lang="en-US" sz="1200"/>
              <a:t>b1) 95120</a:t>
            </a:r>
            <a:endParaRPr lang="en-GB" sz="1200"/>
          </a:p>
        </p:txBody>
      </p:sp>
      <p:sp>
        <p:nvSpPr>
          <p:cNvPr id="6" name="TextBox 5"/>
          <p:cNvSpPr txBox="1"/>
          <p:nvPr/>
        </p:nvSpPr>
        <p:spPr>
          <a:xfrm>
            <a:off x="4597198" y="172599"/>
            <a:ext cx="803425" cy="276999"/>
          </a:xfrm>
          <a:prstGeom prst="rect">
            <a:avLst/>
          </a:prstGeom>
          <a:noFill/>
        </p:spPr>
        <p:txBody>
          <a:bodyPr wrap="none" rtlCol="0">
            <a:spAutoFit/>
          </a:bodyPr>
          <a:lstStyle/>
          <a:p>
            <a:r>
              <a:rPr lang="en-US" sz="1200"/>
              <a:t>c1) 96290</a:t>
            </a:r>
            <a:endParaRPr lang="en-GB" sz="1200"/>
          </a:p>
        </p:txBody>
      </p:sp>
      <p:sp>
        <p:nvSpPr>
          <p:cNvPr id="7" name="Rectangle 6">
            <a:extLst>
              <a:ext uri="{FF2B5EF4-FFF2-40B4-BE49-F238E27FC236}">
                <a16:creationId xmlns:a16="http://schemas.microsoft.com/office/drawing/2014/main" id="{CEEF23AD-EA17-135A-DB95-1D1FECB286F3}"/>
              </a:ext>
            </a:extLst>
          </p:cNvPr>
          <p:cNvSpPr/>
          <p:nvPr/>
        </p:nvSpPr>
        <p:spPr>
          <a:xfrm>
            <a:off x="501294" y="73433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 name="Rectangle 7">
            <a:extLst>
              <a:ext uri="{FF2B5EF4-FFF2-40B4-BE49-F238E27FC236}">
                <a16:creationId xmlns:a16="http://schemas.microsoft.com/office/drawing/2014/main" id="{CEEF23AD-EA17-135A-DB95-1D1FECB286F3}"/>
              </a:ext>
            </a:extLst>
          </p:cNvPr>
          <p:cNvSpPr/>
          <p:nvPr/>
        </p:nvSpPr>
        <p:spPr>
          <a:xfrm>
            <a:off x="1545249" y="73433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 name="Rectangle 8">
            <a:extLst>
              <a:ext uri="{FF2B5EF4-FFF2-40B4-BE49-F238E27FC236}">
                <a16:creationId xmlns:a16="http://schemas.microsoft.com/office/drawing/2014/main" id="{CEEF23AD-EA17-135A-DB95-1D1FECB286F3}"/>
              </a:ext>
            </a:extLst>
          </p:cNvPr>
          <p:cNvSpPr/>
          <p:nvPr/>
        </p:nvSpPr>
        <p:spPr>
          <a:xfrm>
            <a:off x="2601133" y="73433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Rectangle 9">
            <a:extLst>
              <a:ext uri="{FF2B5EF4-FFF2-40B4-BE49-F238E27FC236}">
                <a16:creationId xmlns:a16="http://schemas.microsoft.com/office/drawing/2014/main" id="{CEEF23AD-EA17-135A-DB95-1D1FECB286F3}"/>
              </a:ext>
            </a:extLst>
          </p:cNvPr>
          <p:cNvSpPr/>
          <p:nvPr/>
        </p:nvSpPr>
        <p:spPr>
          <a:xfrm>
            <a:off x="3675331" y="73433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1" name="Rectangle 10">
            <a:extLst>
              <a:ext uri="{FF2B5EF4-FFF2-40B4-BE49-F238E27FC236}">
                <a16:creationId xmlns:a16="http://schemas.microsoft.com/office/drawing/2014/main" id="{CEEF23AD-EA17-135A-DB95-1D1FECB286F3}"/>
              </a:ext>
            </a:extLst>
          </p:cNvPr>
          <p:cNvSpPr/>
          <p:nvPr/>
        </p:nvSpPr>
        <p:spPr>
          <a:xfrm>
            <a:off x="4726995" y="73433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2" name="TextBox 11"/>
          <p:cNvSpPr txBox="1"/>
          <p:nvPr/>
        </p:nvSpPr>
        <p:spPr>
          <a:xfrm>
            <a:off x="5688684" y="167389"/>
            <a:ext cx="896399" cy="276999"/>
          </a:xfrm>
          <a:prstGeom prst="rect">
            <a:avLst/>
          </a:prstGeom>
          <a:noFill/>
        </p:spPr>
        <p:txBody>
          <a:bodyPr wrap="none" rtlCol="0">
            <a:spAutoFit/>
          </a:bodyPr>
          <a:lstStyle/>
          <a:p>
            <a:r>
              <a:rPr lang="en-US" sz="1200"/>
              <a:t>d1) 863000</a:t>
            </a:r>
            <a:endParaRPr lang="en-GB" sz="1200"/>
          </a:p>
        </p:txBody>
      </p:sp>
      <p:sp>
        <p:nvSpPr>
          <p:cNvPr id="13" name="Rectangle 12">
            <a:extLst>
              <a:ext uri="{FF2B5EF4-FFF2-40B4-BE49-F238E27FC236}">
                <a16:creationId xmlns:a16="http://schemas.microsoft.com/office/drawing/2014/main" id="{CEEF23AD-EA17-135A-DB95-1D1FECB286F3}"/>
              </a:ext>
            </a:extLst>
          </p:cNvPr>
          <p:cNvSpPr/>
          <p:nvPr/>
        </p:nvSpPr>
        <p:spPr>
          <a:xfrm>
            <a:off x="5776097" y="73433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15" name="Straight Connector 14">
            <a:extLst>
              <a:ext uri="{FF2B5EF4-FFF2-40B4-BE49-F238E27FC236}">
                <a16:creationId xmlns:a16="http://schemas.microsoft.com/office/drawing/2014/main" id="{B4A988A4-03CD-D549-9F12-81AFECBDEF37}"/>
              </a:ext>
            </a:extLst>
          </p:cNvPr>
          <p:cNvCxnSpPr>
            <a:cxnSpLocks/>
          </p:cNvCxnSpPr>
          <p:nvPr/>
        </p:nvCxnSpPr>
        <p:spPr>
          <a:xfrm>
            <a:off x="957941" y="3130178"/>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16" name="Table 15"/>
          <p:cNvGraphicFramePr>
            <a:graphicFrameLocks noGrp="1"/>
          </p:cNvGraphicFramePr>
          <p:nvPr>
            <p:extLst>
              <p:ext uri="{D42A27DB-BD31-4B8C-83A1-F6EECF244321}">
                <p14:modId xmlns:p14="http://schemas.microsoft.com/office/powerpoint/2010/main" val="1684008846"/>
              </p:ext>
            </p:extLst>
          </p:nvPr>
        </p:nvGraphicFramePr>
        <p:xfrm>
          <a:off x="159682" y="1685805"/>
          <a:ext cx="6543680" cy="2938582"/>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32878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Round to 1 significant figure</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67002">
                <a:tc>
                  <a:txBody>
                    <a:bodyPr/>
                    <a:lstStyle/>
                    <a:p>
                      <a:pPr marL="0" indent="0">
                        <a:buNone/>
                      </a:pPr>
                      <a:r>
                        <a:rPr lang="en-US" sz="1100"/>
                        <a:t>1)</a:t>
                      </a:r>
                      <a:r>
                        <a:rPr lang="en-US" sz="1100" baseline="0"/>
                        <a:t> </a:t>
                      </a:r>
                      <a:r>
                        <a:rPr lang="en-US" sz="1100"/>
                        <a:t>Draw a line between</a:t>
                      </a:r>
                      <a:r>
                        <a:rPr lang="en-US" sz="1100" baseline="0"/>
                        <a:t> the </a:t>
                      </a:r>
                      <a:r>
                        <a:rPr lang="en-US" sz="1100" b="1" baseline="0"/>
                        <a:t>first and second </a:t>
                      </a:r>
                      <a:r>
                        <a:rPr lang="en-US" sz="1100" baseline="0"/>
                        <a:t>significant figure.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0799">
                <a:tc>
                  <a:txBody>
                    <a:bodyPr/>
                    <a:lstStyle/>
                    <a:p>
                      <a:pPr marL="0" indent="0">
                        <a:buNone/>
                      </a:pPr>
                      <a:r>
                        <a:rPr lang="en-US" sz="1100"/>
                        <a:t>2) If the </a:t>
                      </a:r>
                      <a:r>
                        <a:rPr lang="en-US" sz="1100" baseline="0"/>
                        <a:t>2</a:t>
                      </a:r>
                      <a:r>
                        <a:rPr lang="en-US" sz="1100" baseline="30000"/>
                        <a:t>nd</a:t>
                      </a:r>
                      <a:r>
                        <a:rPr lang="en-US" sz="1100" baseline="0"/>
                        <a:t> significant figure is </a:t>
                      </a:r>
                      <a:r>
                        <a:rPr lang="en-US" sz="1100" b="1" baseline="0"/>
                        <a:t>5 or above</a:t>
                      </a:r>
                      <a:r>
                        <a:rPr lang="en-US" sz="1100" baseline="0"/>
                        <a:t>, the 1</a:t>
                      </a:r>
                      <a:r>
                        <a:rPr lang="en-US" sz="1100" baseline="30000"/>
                        <a:t>st</a:t>
                      </a:r>
                      <a:r>
                        <a:rPr lang="en-US" sz="1100" baseline="0"/>
                        <a:t> significant figure rounds </a:t>
                      </a:r>
                      <a:r>
                        <a:rPr lang="en-US" sz="1100" b="1" baseline="0"/>
                        <a:t>up.  </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754261">
                <a:tc>
                  <a:txBody>
                    <a:bodyPr/>
                    <a:lstStyle/>
                    <a:p>
                      <a:pPr marL="0" indent="0">
                        <a:buNone/>
                      </a:pPr>
                      <a:r>
                        <a:rPr lang="en-US" sz="1100" dirty="0"/>
                        <a:t>3) If the </a:t>
                      </a:r>
                      <a:r>
                        <a:rPr lang="en-US" sz="1100" baseline="0" dirty="0"/>
                        <a:t>2</a:t>
                      </a:r>
                      <a:r>
                        <a:rPr lang="en-US" sz="1100" baseline="30000" dirty="0"/>
                        <a:t>nd</a:t>
                      </a:r>
                      <a:r>
                        <a:rPr lang="en-US" sz="1100" baseline="0" dirty="0"/>
                        <a:t> significant figure is </a:t>
                      </a:r>
                      <a:r>
                        <a:rPr lang="en-US" sz="1100" b="1" baseline="0" dirty="0"/>
                        <a:t>4 or below</a:t>
                      </a:r>
                      <a:r>
                        <a:rPr lang="en-US" sz="1100" baseline="0" dirty="0"/>
                        <a:t>, the 1</a:t>
                      </a:r>
                      <a:r>
                        <a:rPr lang="en-US" sz="1100" baseline="30000" dirty="0"/>
                        <a:t>st</a:t>
                      </a:r>
                      <a:r>
                        <a:rPr lang="en-US" sz="1100" baseline="0" dirty="0"/>
                        <a:t> significant figure stays the same.</a:t>
                      </a:r>
                      <a:endParaRPr lang="en-US" sz="11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p:sp>
        <p:nvSpPr>
          <p:cNvPr id="17" name="TextBox 16">
            <a:extLst>
              <a:ext uri="{FF2B5EF4-FFF2-40B4-BE49-F238E27FC236}">
                <a16:creationId xmlns:a16="http://schemas.microsoft.com/office/drawing/2014/main" id="{BCDC1A2B-2D26-C945-B722-18950FA49879}"/>
              </a:ext>
            </a:extLst>
          </p:cNvPr>
          <p:cNvSpPr txBox="1"/>
          <p:nvPr/>
        </p:nvSpPr>
        <p:spPr>
          <a:xfrm>
            <a:off x="1941301" y="1428521"/>
            <a:ext cx="1410704" cy="276999"/>
          </a:xfrm>
          <a:prstGeom prst="rect">
            <a:avLst/>
          </a:prstGeom>
          <a:noFill/>
          <a:ln>
            <a:noFill/>
          </a:ln>
        </p:spPr>
        <p:txBody>
          <a:bodyPr wrap="square" rtlCol="0">
            <a:spAutoFit/>
          </a:bodyPr>
          <a:lstStyle/>
          <a:p>
            <a:r>
              <a:rPr lang="en-GB" sz="1200" b="1" i="1">
                <a:solidFill>
                  <a:srgbClr val="FF0000"/>
                </a:solidFill>
              </a:rPr>
              <a:t>Example 7 - I do…</a:t>
            </a:r>
          </a:p>
        </p:txBody>
      </p:sp>
      <p:sp>
        <p:nvSpPr>
          <p:cNvPr id="18" name="TextBox 17">
            <a:extLst>
              <a:ext uri="{FF2B5EF4-FFF2-40B4-BE49-F238E27FC236}">
                <a16:creationId xmlns:a16="http://schemas.microsoft.com/office/drawing/2014/main" id="{4AF4150A-9218-D640-8777-2ECCBC4D10FB}"/>
              </a:ext>
            </a:extLst>
          </p:cNvPr>
          <p:cNvSpPr txBox="1"/>
          <p:nvPr/>
        </p:nvSpPr>
        <p:spPr>
          <a:xfrm>
            <a:off x="5075198" y="1406413"/>
            <a:ext cx="1643405" cy="276999"/>
          </a:xfrm>
          <a:prstGeom prst="rect">
            <a:avLst/>
          </a:prstGeom>
          <a:noFill/>
          <a:ln>
            <a:noFill/>
          </a:ln>
        </p:spPr>
        <p:txBody>
          <a:bodyPr wrap="square" rtlCol="0">
            <a:spAutoFit/>
          </a:bodyPr>
          <a:lstStyle/>
          <a:p>
            <a:r>
              <a:rPr lang="en-GB" sz="1200" b="1" i="1">
                <a:solidFill>
                  <a:srgbClr val="00B050"/>
                </a:solidFill>
              </a:rPr>
              <a:t>Example 9 – You do…</a:t>
            </a:r>
          </a:p>
        </p:txBody>
      </p:sp>
      <p:sp>
        <p:nvSpPr>
          <p:cNvPr id="19" name="TextBox 18">
            <a:extLst>
              <a:ext uri="{FF2B5EF4-FFF2-40B4-BE49-F238E27FC236}">
                <a16:creationId xmlns:a16="http://schemas.microsoft.com/office/drawing/2014/main" id="{BCDC1A2B-2D26-C945-B722-18950FA49879}"/>
              </a:ext>
            </a:extLst>
          </p:cNvPr>
          <p:cNvSpPr txBox="1"/>
          <p:nvPr/>
        </p:nvSpPr>
        <p:spPr>
          <a:xfrm>
            <a:off x="3466019" y="1418514"/>
            <a:ext cx="1667605" cy="276999"/>
          </a:xfrm>
          <a:prstGeom prst="rect">
            <a:avLst/>
          </a:prstGeom>
          <a:noFill/>
          <a:ln>
            <a:noFill/>
          </a:ln>
        </p:spPr>
        <p:txBody>
          <a:bodyPr wrap="square" rtlCol="0">
            <a:spAutoFit/>
          </a:bodyPr>
          <a:lstStyle/>
          <a:p>
            <a:r>
              <a:rPr lang="en-GB" sz="1200" b="1" i="1">
                <a:solidFill>
                  <a:schemeClr val="accent2"/>
                </a:solidFill>
              </a:rPr>
              <a:t>Example 8 - We do…</a:t>
            </a:r>
          </a:p>
        </p:txBody>
      </p:sp>
      <p:sp>
        <p:nvSpPr>
          <p:cNvPr id="20" name="TextBox 19"/>
          <p:cNvSpPr txBox="1"/>
          <p:nvPr/>
        </p:nvSpPr>
        <p:spPr>
          <a:xfrm>
            <a:off x="1915767" y="1999316"/>
            <a:ext cx="1419715" cy="1384995"/>
          </a:xfrm>
          <a:prstGeom prst="rect">
            <a:avLst/>
          </a:prstGeom>
          <a:noFill/>
        </p:spPr>
        <p:txBody>
          <a:bodyPr wrap="square" rtlCol="0">
            <a:spAutoFit/>
          </a:bodyPr>
          <a:lstStyle/>
          <a:p>
            <a:pPr algn="ctr"/>
            <a:r>
              <a:rPr lang="en-US" sz="1200"/>
              <a:t>Round 1.25 to one significant figure</a:t>
            </a:r>
          </a:p>
          <a:p>
            <a:pPr algn="ctr"/>
            <a:endParaRPr lang="en-US" sz="1200"/>
          </a:p>
          <a:p>
            <a:pPr algn="ctr"/>
            <a:r>
              <a:rPr lang="en-US" sz="1200"/>
              <a:t>1  |  </a:t>
            </a:r>
            <a:r>
              <a:rPr lang="en-US" sz="1200" u="sng"/>
              <a:t>2</a:t>
            </a:r>
            <a:r>
              <a:rPr lang="en-US" sz="1200"/>
              <a:t>    5    </a:t>
            </a:r>
            <a:endParaRPr lang="en-US" sz="1200" u="sng"/>
          </a:p>
          <a:p>
            <a:pPr algn="ctr"/>
            <a:endParaRPr lang="en-US" sz="1200"/>
          </a:p>
          <a:p>
            <a:pPr algn="ctr"/>
            <a:endParaRPr lang="en-US" sz="1200"/>
          </a:p>
          <a:p>
            <a:pPr algn="ctr"/>
            <a:endParaRPr lang="en-US" sz="1200" u="sng"/>
          </a:p>
        </p:txBody>
      </p:sp>
      <p:sp>
        <p:nvSpPr>
          <p:cNvPr id="21" name="Rectangle 20">
            <a:extLst>
              <a:ext uri="{FF2B5EF4-FFF2-40B4-BE49-F238E27FC236}">
                <a16:creationId xmlns:a16="http://schemas.microsoft.com/office/drawing/2014/main" id="{CEEF23AD-EA17-135A-DB95-1D1FECB286F3}"/>
              </a:ext>
            </a:extLst>
          </p:cNvPr>
          <p:cNvSpPr/>
          <p:nvPr/>
        </p:nvSpPr>
        <p:spPr>
          <a:xfrm>
            <a:off x="1901000" y="280206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2" name="Rectangle 21">
            <a:extLst>
              <a:ext uri="{FF2B5EF4-FFF2-40B4-BE49-F238E27FC236}">
                <a16:creationId xmlns:a16="http://schemas.microsoft.com/office/drawing/2014/main" id="{CEEF23AD-EA17-135A-DB95-1D1FECB286F3}"/>
              </a:ext>
            </a:extLst>
          </p:cNvPr>
          <p:cNvSpPr/>
          <p:nvPr/>
        </p:nvSpPr>
        <p:spPr>
          <a:xfrm>
            <a:off x="1901000" y="415613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3" name="Rectangle 22">
            <a:extLst>
              <a:ext uri="{FF2B5EF4-FFF2-40B4-BE49-F238E27FC236}">
                <a16:creationId xmlns:a16="http://schemas.microsoft.com/office/drawing/2014/main" id="{CEEF23AD-EA17-135A-DB95-1D1FECB286F3}"/>
              </a:ext>
            </a:extLst>
          </p:cNvPr>
          <p:cNvSpPr/>
          <p:nvPr/>
        </p:nvSpPr>
        <p:spPr>
          <a:xfrm>
            <a:off x="3525475" y="279738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4" name="Rectangle 23">
            <a:extLst>
              <a:ext uri="{FF2B5EF4-FFF2-40B4-BE49-F238E27FC236}">
                <a16:creationId xmlns:a16="http://schemas.microsoft.com/office/drawing/2014/main" id="{CEEF23AD-EA17-135A-DB95-1D1FECB286F3}"/>
              </a:ext>
            </a:extLst>
          </p:cNvPr>
          <p:cNvSpPr/>
          <p:nvPr/>
        </p:nvSpPr>
        <p:spPr>
          <a:xfrm>
            <a:off x="3525475" y="415145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 name="Rectangle 24">
            <a:extLst>
              <a:ext uri="{FF2B5EF4-FFF2-40B4-BE49-F238E27FC236}">
                <a16:creationId xmlns:a16="http://schemas.microsoft.com/office/drawing/2014/main" id="{CEEF23AD-EA17-135A-DB95-1D1FECB286F3}"/>
              </a:ext>
            </a:extLst>
          </p:cNvPr>
          <p:cNvSpPr/>
          <p:nvPr/>
        </p:nvSpPr>
        <p:spPr>
          <a:xfrm>
            <a:off x="5168391" y="279738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6" name="Rectangle 25">
            <a:extLst>
              <a:ext uri="{FF2B5EF4-FFF2-40B4-BE49-F238E27FC236}">
                <a16:creationId xmlns:a16="http://schemas.microsoft.com/office/drawing/2014/main" id="{CEEF23AD-EA17-135A-DB95-1D1FECB286F3}"/>
              </a:ext>
            </a:extLst>
          </p:cNvPr>
          <p:cNvSpPr/>
          <p:nvPr/>
        </p:nvSpPr>
        <p:spPr>
          <a:xfrm>
            <a:off x="5168391" y="415145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7" name="TextBox 26"/>
          <p:cNvSpPr txBox="1"/>
          <p:nvPr/>
        </p:nvSpPr>
        <p:spPr>
          <a:xfrm>
            <a:off x="1838695" y="3171850"/>
            <a:ext cx="1579701" cy="1384995"/>
          </a:xfrm>
          <a:prstGeom prst="rect">
            <a:avLst/>
          </a:prstGeom>
          <a:noFill/>
        </p:spPr>
        <p:txBody>
          <a:bodyPr wrap="square" rtlCol="0">
            <a:spAutoFit/>
          </a:bodyPr>
          <a:lstStyle/>
          <a:p>
            <a:pPr algn="ctr"/>
            <a:r>
              <a:rPr lang="en-US" sz="1200"/>
              <a:t>Round 17.68 to one significant figure</a:t>
            </a:r>
          </a:p>
          <a:p>
            <a:pPr algn="ctr"/>
            <a:endParaRPr lang="en-US" sz="1200"/>
          </a:p>
          <a:p>
            <a:pPr algn="ctr"/>
            <a:r>
              <a:rPr lang="en-US" sz="1200"/>
              <a:t>1  |  7  . 6   8</a:t>
            </a:r>
            <a:endParaRPr lang="en-US" sz="1200" u="sng"/>
          </a:p>
          <a:p>
            <a:pPr algn="ctr"/>
            <a:endParaRPr lang="en-US" sz="1200"/>
          </a:p>
          <a:p>
            <a:pPr algn="ctr"/>
            <a:endParaRPr lang="en-US" sz="1200"/>
          </a:p>
          <a:p>
            <a:pPr algn="ctr"/>
            <a:endParaRPr lang="en-US" sz="1200" u="sng"/>
          </a:p>
        </p:txBody>
      </p:sp>
      <p:sp>
        <p:nvSpPr>
          <p:cNvPr id="28" name="TextBox 27"/>
          <p:cNvSpPr txBox="1"/>
          <p:nvPr/>
        </p:nvSpPr>
        <p:spPr>
          <a:xfrm>
            <a:off x="3526988" y="2012616"/>
            <a:ext cx="1419715" cy="830997"/>
          </a:xfrm>
          <a:prstGeom prst="rect">
            <a:avLst/>
          </a:prstGeom>
          <a:noFill/>
        </p:spPr>
        <p:txBody>
          <a:bodyPr wrap="square" rtlCol="0">
            <a:spAutoFit/>
          </a:bodyPr>
          <a:lstStyle/>
          <a:p>
            <a:pPr algn="ctr"/>
            <a:r>
              <a:rPr lang="en-US" sz="1200"/>
              <a:t>Round 3.95 to one significant figure</a:t>
            </a:r>
          </a:p>
          <a:p>
            <a:pPr algn="ctr"/>
            <a:endParaRPr lang="en-US" sz="1200"/>
          </a:p>
          <a:p>
            <a:pPr algn="ctr"/>
            <a:endParaRPr lang="en-US" sz="1200"/>
          </a:p>
        </p:txBody>
      </p:sp>
      <p:sp>
        <p:nvSpPr>
          <p:cNvPr id="29" name="TextBox 28"/>
          <p:cNvSpPr txBox="1"/>
          <p:nvPr/>
        </p:nvSpPr>
        <p:spPr>
          <a:xfrm>
            <a:off x="3506010" y="3171850"/>
            <a:ext cx="1419715" cy="1015663"/>
          </a:xfrm>
          <a:prstGeom prst="rect">
            <a:avLst/>
          </a:prstGeom>
          <a:noFill/>
        </p:spPr>
        <p:txBody>
          <a:bodyPr wrap="square" rtlCol="0">
            <a:spAutoFit/>
          </a:bodyPr>
          <a:lstStyle/>
          <a:p>
            <a:pPr algn="ctr"/>
            <a:r>
              <a:rPr lang="en-US" sz="1200"/>
              <a:t>Round 15.98 to one significant figure</a:t>
            </a:r>
          </a:p>
          <a:p>
            <a:pPr algn="ctr"/>
            <a:endParaRPr lang="en-US" sz="1200"/>
          </a:p>
          <a:p>
            <a:pPr algn="ctr"/>
            <a:endParaRPr lang="en-US" sz="1200"/>
          </a:p>
          <a:p>
            <a:pPr algn="ctr"/>
            <a:endParaRPr lang="en-US" sz="1200" u="sng"/>
          </a:p>
        </p:txBody>
      </p:sp>
      <p:sp>
        <p:nvSpPr>
          <p:cNvPr id="30" name="TextBox 29"/>
          <p:cNvSpPr txBox="1"/>
          <p:nvPr/>
        </p:nvSpPr>
        <p:spPr>
          <a:xfrm>
            <a:off x="5202623" y="2004912"/>
            <a:ext cx="1419715" cy="1015663"/>
          </a:xfrm>
          <a:prstGeom prst="rect">
            <a:avLst/>
          </a:prstGeom>
          <a:noFill/>
        </p:spPr>
        <p:txBody>
          <a:bodyPr wrap="square" rtlCol="0">
            <a:spAutoFit/>
          </a:bodyPr>
          <a:lstStyle/>
          <a:p>
            <a:pPr algn="ctr"/>
            <a:r>
              <a:rPr lang="en-US" sz="1200"/>
              <a:t>Round 7.75 to one significant figure</a:t>
            </a:r>
          </a:p>
          <a:p>
            <a:pPr algn="ctr"/>
            <a:endParaRPr lang="en-US" sz="1200"/>
          </a:p>
          <a:p>
            <a:pPr algn="ctr"/>
            <a:endParaRPr lang="en-US" sz="1200"/>
          </a:p>
          <a:p>
            <a:pPr algn="ctr"/>
            <a:endParaRPr lang="en-US" sz="1200" u="sng"/>
          </a:p>
        </p:txBody>
      </p:sp>
      <p:sp>
        <p:nvSpPr>
          <p:cNvPr id="31" name="TextBox 30"/>
          <p:cNvSpPr txBox="1"/>
          <p:nvPr/>
        </p:nvSpPr>
        <p:spPr>
          <a:xfrm>
            <a:off x="5133624" y="3171849"/>
            <a:ext cx="1505438" cy="1015663"/>
          </a:xfrm>
          <a:prstGeom prst="rect">
            <a:avLst/>
          </a:prstGeom>
          <a:noFill/>
        </p:spPr>
        <p:txBody>
          <a:bodyPr wrap="square" rtlCol="0">
            <a:spAutoFit/>
          </a:bodyPr>
          <a:lstStyle/>
          <a:p>
            <a:pPr algn="ctr"/>
            <a:r>
              <a:rPr lang="en-US" sz="1200"/>
              <a:t>Round 17.59 to one significant figure</a:t>
            </a:r>
          </a:p>
          <a:p>
            <a:pPr algn="ctr"/>
            <a:endParaRPr lang="en-US" sz="1200"/>
          </a:p>
          <a:p>
            <a:pPr algn="ctr"/>
            <a:endParaRPr lang="en-US" sz="1200"/>
          </a:p>
          <a:p>
            <a:pPr algn="ctr"/>
            <a:endParaRPr lang="en-US" sz="1200" u="sng"/>
          </a:p>
        </p:txBody>
      </p:sp>
      <p:sp>
        <p:nvSpPr>
          <p:cNvPr id="34" name="TextBox 33"/>
          <p:cNvSpPr txBox="1"/>
          <p:nvPr/>
        </p:nvSpPr>
        <p:spPr>
          <a:xfrm>
            <a:off x="1285817" y="4696146"/>
            <a:ext cx="3028650" cy="276999"/>
          </a:xfrm>
          <a:prstGeom prst="rect">
            <a:avLst/>
          </a:prstGeom>
          <a:noFill/>
        </p:spPr>
        <p:txBody>
          <a:bodyPr wrap="none" rtlCol="0">
            <a:spAutoFit/>
          </a:bodyPr>
          <a:lstStyle/>
          <a:p>
            <a:r>
              <a:rPr lang="en-US" sz="1200" dirty="0"/>
              <a:t>3. Round each number to 1 significant figure. </a:t>
            </a:r>
            <a:endParaRPr lang="en-GB" sz="1200" dirty="0"/>
          </a:p>
        </p:txBody>
      </p:sp>
      <p:sp>
        <p:nvSpPr>
          <p:cNvPr id="35" name="TextBox 34"/>
          <p:cNvSpPr txBox="1"/>
          <p:nvPr/>
        </p:nvSpPr>
        <p:spPr>
          <a:xfrm>
            <a:off x="387984" y="5175818"/>
            <a:ext cx="535724" cy="276999"/>
          </a:xfrm>
          <a:prstGeom prst="rect">
            <a:avLst/>
          </a:prstGeom>
          <a:noFill/>
        </p:spPr>
        <p:txBody>
          <a:bodyPr wrap="none" rtlCol="0">
            <a:spAutoFit/>
          </a:bodyPr>
          <a:lstStyle/>
          <a:p>
            <a:r>
              <a:rPr lang="en-US" sz="1200"/>
              <a:t>a) 2.4</a:t>
            </a:r>
            <a:endParaRPr lang="en-GB" sz="1200"/>
          </a:p>
        </p:txBody>
      </p:sp>
      <p:sp>
        <p:nvSpPr>
          <p:cNvPr id="36" name="TextBox 35"/>
          <p:cNvSpPr txBox="1"/>
          <p:nvPr/>
        </p:nvSpPr>
        <p:spPr>
          <a:xfrm>
            <a:off x="1440241" y="5167115"/>
            <a:ext cx="542136" cy="276999"/>
          </a:xfrm>
          <a:prstGeom prst="rect">
            <a:avLst/>
          </a:prstGeom>
          <a:noFill/>
        </p:spPr>
        <p:txBody>
          <a:bodyPr wrap="none" rtlCol="0">
            <a:spAutoFit/>
          </a:bodyPr>
          <a:lstStyle/>
          <a:p>
            <a:r>
              <a:rPr lang="en-US" sz="1200"/>
              <a:t>b) 2.5</a:t>
            </a:r>
            <a:endParaRPr lang="en-GB" sz="1200"/>
          </a:p>
        </p:txBody>
      </p:sp>
      <p:sp>
        <p:nvSpPr>
          <p:cNvPr id="37" name="TextBox 36"/>
          <p:cNvSpPr txBox="1"/>
          <p:nvPr/>
        </p:nvSpPr>
        <p:spPr>
          <a:xfrm>
            <a:off x="2516900" y="5167116"/>
            <a:ext cx="527709" cy="276999"/>
          </a:xfrm>
          <a:prstGeom prst="rect">
            <a:avLst/>
          </a:prstGeom>
          <a:noFill/>
        </p:spPr>
        <p:txBody>
          <a:bodyPr wrap="none" rtlCol="0">
            <a:spAutoFit/>
          </a:bodyPr>
          <a:lstStyle/>
          <a:p>
            <a:r>
              <a:rPr lang="en-US" sz="1200"/>
              <a:t>c) 2.9</a:t>
            </a:r>
            <a:endParaRPr lang="en-GB" sz="1200"/>
          </a:p>
        </p:txBody>
      </p:sp>
      <p:sp>
        <p:nvSpPr>
          <p:cNvPr id="38" name="TextBox 37"/>
          <p:cNvSpPr txBox="1"/>
          <p:nvPr/>
        </p:nvSpPr>
        <p:spPr>
          <a:xfrm>
            <a:off x="3523946" y="5190208"/>
            <a:ext cx="542136" cy="276999"/>
          </a:xfrm>
          <a:prstGeom prst="rect">
            <a:avLst/>
          </a:prstGeom>
          <a:noFill/>
        </p:spPr>
        <p:txBody>
          <a:bodyPr wrap="none" rtlCol="0">
            <a:spAutoFit/>
          </a:bodyPr>
          <a:lstStyle/>
          <a:p>
            <a:r>
              <a:rPr lang="en-US" sz="1200"/>
              <a:t>d) 3.9</a:t>
            </a:r>
            <a:endParaRPr lang="en-GB" sz="1200"/>
          </a:p>
        </p:txBody>
      </p:sp>
      <p:sp>
        <p:nvSpPr>
          <p:cNvPr id="39" name="TextBox 38"/>
          <p:cNvSpPr txBox="1"/>
          <p:nvPr/>
        </p:nvSpPr>
        <p:spPr>
          <a:xfrm>
            <a:off x="4627709" y="5186728"/>
            <a:ext cx="538930" cy="276999"/>
          </a:xfrm>
          <a:prstGeom prst="rect">
            <a:avLst/>
          </a:prstGeom>
          <a:noFill/>
        </p:spPr>
        <p:txBody>
          <a:bodyPr wrap="none" rtlCol="0">
            <a:spAutoFit/>
          </a:bodyPr>
          <a:lstStyle/>
          <a:p>
            <a:r>
              <a:rPr lang="en-US" sz="1200"/>
              <a:t>e) 4.9</a:t>
            </a:r>
            <a:endParaRPr lang="en-GB" sz="1200"/>
          </a:p>
        </p:txBody>
      </p:sp>
      <p:sp>
        <p:nvSpPr>
          <p:cNvPr id="40" name="Rectangle 39">
            <a:extLst>
              <a:ext uri="{FF2B5EF4-FFF2-40B4-BE49-F238E27FC236}">
                <a16:creationId xmlns:a16="http://schemas.microsoft.com/office/drawing/2014/main" id="{CEEF23AD-EA17-135A-DB95-1D1FECB286F3}"/>
              </a:ext>
            </a:extLst>
          </p:cNvPr>
          <p:cNvSpPr/>
          <p:nvPr/>
        </p:nvSpPr>
        <p:spPr>
          <a:xfrm>
            <a:off x="419742" y="574850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1" name="Rectangle 40">
            <a:extLst>
              <a:ext uri="{FF2B5EF4-FFF2-40B4-BE49-F238E27FC236}">
                <a16:creationId xmlns:a16="http://schemas.microsoft.com/office/drawing/2014/main" id="{CEEF23AD-EA17-135A-DB95-1D1FECB286F3}"/>
              </a:ext>
            </a:extLst>
          </p:cNvPr>
          <p:cNvSpPr/>
          <p:nvPr/>
        </p:nvSpPr>
        <p:spPr>
          <a:xfrm>
            <a:off x="1463697" y="574850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2" name="Rectangle 41">
            <a:extLst>
              <a:ext uri="{FF2B5EF4-FFF2-40B4-BE49-F238E27FC236}">
                <a16:creationId xmlns:a16="http://schemas.microsoft.com/office/drawing/2014/main" id="{CEEF23AD-EA17-135A-DB95-1D1FECB286F3}"/>
              </a:ext>
            </a:extLst>
          </p:cNvPr>
          <p:cNvSpPr/>
          <p:nvPr/>
        </p:nvSpPr>
        <p:spPr>
          <a:xfrm>
            <a:off x="2519581" y="574850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3" name="Rectangle 42">
            <a:extLst>
              <a:ext uri="{FF2B5EF4-FFF2-40B4-BE49-F238E27FC236}">
                <a16:creationId xmlns:a16="http://schemas.microsoft.com/office/drawing/2014/main" id="{CEEF23AD-EA17-135A-DB95-1D1FECB286F3}"/>
              </a:ext>
            </a:extLst>
          </p:cNvPr>
          <p:cNvSpPr/>
          <p:nvPr/>
        </p:nvSpPr>
        <p:spPr>
          <a:xfrm>
            <a:off x="3593779" y="574850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4" name="Rectangle 43">
            <a:extLst>
              <a:ext uri="{FF2B5EF4-FFF2-40B4-BE49-F238E27FC236}">
                <a16:creationId xmlns:a16="http://schemas.microsoft.com/office/drawing/2014/main" id="{CEEF23AD-EA17-135A-DB95-1D1FECB286F3}"/>
              </a:ext>
            </a:extLst>
          </p:cNvPr>
          <p:cNvSpPr/>
          <p:nvPr/>
        </p:nvSpPr>
        <p:spPr>
          <a:xfrm>
            <a:off x="4645443" y="574850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5" name="TextBox 44"/>
          <p:cNvSpPr txBox="1"/>
          <p:nvPr/>
        </p:nvSpPr>
        <p:spPr>
          <a:xfrm>
            <a:off x="5722722" y="5212375"/>
            <a:ext cx="589264" cy="276999"/>
          </a:xfrm>
          <a:prstGeom prst="rect">
            <a:avLst/>
          </a:prstGeom>
          <a:noFill/>
        </p:spPr>
        <p:txBody>
          <a:bodyPr wrap="none" rtlCol="0">
            <a:spAutoFit/>
          </a:bodyPr>
          <a:lstStyle/>
          <a:p>
            <a:r>
              <a:rPr lang="en-US" sz="1200"/>
              <a:t>f) 4.91</a:t>
            </a:r>
            <a:endParaRPr lang="en-GB" sz="1200"/>
          </a:p>
        </p:txBody>
      </p:sp>
      <p:sp>
        <p:nvSpPr>
          <p:cNvPr id="46" name="Rectangle 45">
            <a:extLst>
              <a:ext uri="{FF2B5EF4-FFF2-40B4-BE49-F238E27FC236}">
                <a16:creationId xmlns:a16="http://schemas.microsoft.com/office/drawing/2014/main" id="{CEEF23AD-EA17-135A-DB95-1D1FECB286F3}"/>
              </a:ext>
            </a:extLst>
          </p:cNvPr>
          <p:cNvSpPr/>
          <p:nvPr/>
        </p:nvSpPr>
        <p:spPr>
          <a:xfrm>
            <a:off x="5694545" y="574850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7" name="TextBox 46"/>
          <p:cNvSpPr txBox="1"/>
          <p:nvPr/>
        </p:nvSpPr>
        <p:spPr>
          <a:xfrm>
            <a:off x="419742" y="6210141"/>
            <a:ext cx="612668" cy="276999"/>
          </a:xfrm>
          <a:prstGeom prst="rect">
            <a:avLst/>
          </a:prstGeom>
          <a:noFill/>
        </p:spPr>
        <p:txBody>
          <a:bodyPr wrap="none" rtlCol="0">
            <a:spAutoFit/>
          </a:bodyPr>
          <a:lstStyle/>
          <a:p>
            <a:r>
              <a:rPr lang="en-US" sz="1200"/>
              <a:t>g) 3.91</a:t>
            </a:r>
            <a:endParaRPr lang="en-GB" sz="1200"/>
          </a:p>
        </p:txBody>
      </p:sp>
      <p:sp>
        <p:nvSpPr>
          <p:cNvPr id="48" name="TextBox 47"/>
          <p:cNvSpPr txBox="1"/>
          <p:nvPr/>
        </p:nvSpPr>
        <p:spPr>
          <a:xfrm>
            <a:off x="1471999" y="6201438"/>
            <a:ext cx="620683" cy="276999"/>
          </a:xfrm>
          <a:prstGeom prst="rect">
            <a:avLst/>
          </a:prstGeom>
          <a:noFill/>
        </p:spPr>
        <p:txBody>
          <a:bodyPr wrap="none" rtlCol="0">
            <a:spAutoFit/>
          </a:bodyPr>
          <a:lstStyle/>
          <a:p>
            <a:r>
              <a:rPr lang="en-US" sz="1200"/>
              <a:t>h) 3.95</a:t>
            </a:r>
            <a:endParaRPr lang="en-GB" sz="1200"/>
          </a:p>
        </p:txBody>
      </p:sp>
      <p:sp>
        <p:nvSpPr>
          <p:cNvPr id="49" name="TextBox 48"/>
          <p:cNvSpPr txBox="1"/>
          <p:nvPr/>
        </p:nvSpPr>
        <p:spPr>
          <a:xfrm>
            <a:off x="2548658" y="6201439"/>
            <a:ext cx="575799" cy="276999"/>
          </a:xfrm>
          <a:prstGeom prst="rect">
            <a:avLst/>
          </a:prstGeom>
          <a:noFill/>
        </p:spPr>
        <p:txBody>
          <a:bodyPr wrap="none" rtlCol="0">
            <a:spAutoFit/>
          </a:bodyPr>
          <a:lstStyle/>
          <a:p>
            <a:r>
              <a:rPr lang="en-US" sz="1200"/>
              <a:t>i) 4.15</a:t>
            </a:r>
            <a:endParaRPr lang="en-GB" sz="1200"/>
          </a:p>
        </p:txBody>
      </p:sp>
      <p:sp>
        <p:nvSpPr>
          <p:cNvPr id="50" name="TextBox 49"/>
          <p:cNvSpPr txBox="1"/>
          <p:nvPr/>
        </p:nvSpPr>
        <p:spPr>
          <a:xfrm>
            <a:off x="3555704" y="6224531"/>
            <a:ext cx="577402" cy="276999"/>
          </a:xfrm>
          <a:prstGeom prst="rect">
            <a:avLst/>
          </a:prstGeom>
          <a:noFill/>
        </p:spPr>
        <p:txBody>
          <a:bodyPr wrap="none" rtlCol="0">
            <a:spAutoFit/>
          </a:bodyPr>
          <a:lstStyle/>
          <a:p>
            <a:r>
              <a:rPr lang="en-US" sz="1200"/>
              <a:t>j) 4.55</a:t>
            </a:r>
            <a:endParaRPr lang="en-GB" sz="1200"/>
          </a:p>
        </p:txBody>
      </p:sp>
      <p:sp>
        <p:nvSpPr>
          <p:cNvPr id="51" name="TextBox 50"/>
          <p:cNvSpPr txBox="1"/>
          <p:nvPr/>
        </p:nvSpPr>
        <p:spPr>
          <a:xfrm>
            <a:off x="4659467" y="6221051"/>
            <a:ext cx="611065" cy="276999"/>
          </a:xfrm>
          <a:prstGeom prst="rect">
            <a:avLst/>
          </a:prstGeom>
          <a:noFill/>
        </p:spPr>
        <p:txBody>
          <a:bodyPr wrap="none" rtlCol="0">
            <a:spAutoFit/>
          </a:bodyPr>
          <a:lstStyle/>
          <a:p>
            <a:r>
              <a:rPr lang="en-US" sz="1200"/>
              <a:t>k) 5.75</a:t>
            </a:r>
            <a:endParaRPr lang="en-GB" sz="1200"/>
          </a:p>
        </p:txBody>
      </p:sp>
      <p:sp>
        <p:nvSpPr>
          <p:cNvPr id="52" name="Rectangle 51">
            <a:extLst>
              <a:ext uri="{FF2B5EF4-FFF2-40B4-BE49-F238E27FC236}">
                <a16:creationId xmlns:a16="http://schemas.microsoft.com/office/drawing/2014/main" id="{CEEF23AD-EA17-135A-DB95-1D1FECB286F3}"/>
              </a:ext>
            </a:extLst>
          </p:cNvPr>
          <p:cNvSpPr/>
          <p:nvPr/>
        </p:nvSpPr>
        <p:spPr>
          <a:xfrm>
            <a:off x="419742" y="674591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3" name="Rectangle 52">
            <a:extLst>
              <a:ext uri="{FF2B5EF4-FFF2-40B4-BE49-F238E27FC236}">
                <a16:creationId xmlns:a16="http://schemas.microsoft.com/office/drawing/2014/main" id="{CEEF23AD-EA17-135A-DB95-1D1FECB286F3}"/>
              </a:ext>
            </a:extLst>
          </p:cNvPr>
          <p:cNvSpPr/>
          <p:nvPr/>
        </p:nvSpPr>
        <p:spPr>
          <a:xfrm>
            <a:off x="1463697" y="674591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4" name="Rectangle 53">
            <a:extLst>
              <a:ext uri="{FF2B5EF4-FFF2-40B4-BE49-F238E27FC236}">
                <a16:creationId xmlns:a16="http://schemas.microsoft.com/office/drawing/2014/main" id="{CEEF23AD-EA17-135A-DB95-1D1FECB286F3}"/>
              </a:ext>
            </a:extLst>
          </p:cNvPr>
          <p:cNvSpPr/>
          <p:nvPr/>
        </p:nvSpPr>
        <p:spPr>
          <a:xfrm>
            <a:off x="2519581" y="674591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5" name="Rectangle 54">
            <a:extLst>
              <a:ext uri="{FF2B5EF4-FFF2-40B4-BE49-F238E27FC236}">
                <a16:creationId xmlns:a16="http://schemas.microsoft.com/office/drawing/2014/main" id="{CEEF23AD-EA17-135A-DB95-1D1FECB286F3}"/>
              </a:ext>
            </a:extLst>
          </p:cNvPr>
          <p:cNvSpPr/>
          <p:nvPr/>
        </p:nvSpPr>
        <p:spPr>
          <a:xfrm>
            <a:off x="3593779" y="674591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6" name="Rectangle 55">
            <a:extLst>
              <a:ext uri="{FF2B5EF4-FFF2-40B4-BE49-F238E27FC236}">
                <a16:creationId xmlns:a16="http://schemas.microsoft.com/office/drawing/2014/main" id="{CEEF23AD-EA17-135A-DB95-1D1FECB286F3}"/>
              </a:ext>
            </a:extLst>
          </p:cNvPr>
          <p:cNvSpPr/>
          <p:nvPr/>
        </p:nvSpPr>
        <p:spPr>
          <a:xfrm>
            <a:off x="4645443" y="674591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7" name="TextBox 56"/>
          <p:cNvSpPr txBox="1"/>
          <p:nvPr/>
        </p:nvSpPr>
        <p:spPr>
          <a:xfrm>
            <a:off x="5754480" y="6246698"/>
            <a:ext cx="575799" cy="276999"/>
          </a:xfrm>
          <a:prstGeom prst="rect">
            <a:avLst/>
          </a:prstGeom>
          <a:noFill/>
        </p:spPr>
        <p:txBody>
          <a:bodyPr wrap="none" rtlCol="0">
            <a:spAutoFit/>
          </a:bodyPr>
          <a:lstStyle/>
          <a:p>
            <a:r>
              <a:rPr lang="en-US" sz="1200"/>
              <a:t>l) 6.76</a:t>
            </a:r>
            <a:endParaRPr lang="en-GB" sz="1200"/>
          </a:p>
        </p:txBody>
      </p:sp>
      <p:sp>
        <p:nvSpPr>
          <p:cNvPr id="58" name="Rectangle 57">
            <a:extLst>
              <a:ext uri="{FF2B5EF4-FFF2-40B4-BE49-F238E27FC236}">
                <a16:creationId xmlns:a16="http://schemas.microsoft.com/office/drawing/2014/main" id="{CEEF23AD-EA17-135A-DB95-1D1FECB286F3}"/>
              </a:ext>
            </a:extLst>
          </p:cNvPr>
          <p:cNvSpPr/>
          <p:nvPr/>
        </p:nvSpPr>
        <p:spPr>
          <a:xfrm>
            <a:off x="5694545" y="674591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9" name="TextBox 58"/>
          <p:cNvSpPr txBox="1"/>
          <p:nvPr/>
        </p:nvSpPr>
        <p:spPr>
          <a:xfrm>
            <a:off x="401236" y="7156729"/>
            <a:ext cx="663964" cy="276999"/>
          </a:xfrm>
          <a:prstGeom prst="rect">
            <a:avLst/>
          </a:prstGeom>
          <a:noFill/>
        </p:spPr>
        <p:txBody>
          <a:bodyPr wrap="none" rtlCol="0">
            <a:spAutoFit/>
          </a:bodyPr>
          <a:lstStyle/>
          <a:p>
            <a:r>
              <a:rPr lang="en-US" sz="1200"/>
              <a:t>m) 12.7</a:t>
            </a:r>
            <a:endParaRPr lang="en-GB" sz="1200"/>
          </a:p>
        </p:txBody>
      </p:sp>
      <p:sp>
        <p:nvSpPr>
          <p:cNvPr id="60" name="TextBox 59"/>
          <p:cNvSpPr txBox="1"/>
          <p:nvPr/>
        </p:nvSpPr>
        <p:spPr>
          <a:xfrm>
            <a:off x="1445597" y="7143961"/>
            <a:ext cx="620683" cy="276999"/>
          </a:xfrm>
          <a:prstGeom prst="rect">
            <a:avLst/>
          </a:prstGeom>
          <a:noFill/>
        </p:spPr>
        <p:txBody>
          <a:bodyPr wrap="none" rtlCol="0">
            <a:spAutoFit/>
          </a:bodyPr>
          <a:lstStyle/>
          <a:p>
            <a:r>
              <a:rPr lang="en-US" sz="1200"/>
              <a:t>n) 15.1</a:t>
            </a:r>
            <a:endParaRPr lang="en-GB" sz="1200"/>
          </a:p>
        </p:txBody>
      </p:sp>
      <p:sp>
        <p:nvSpPr>
          <p:cNvPr id="61" name="TextBox 60"/>
          <p:cNvSpPr txBox="1"/>
          <p:nvPr/>
        </p:nvSpPr>
        <p:spPr>
          <a:xfrm>
            <a:off x="2502321" y="7167638"/>
            <a:ext cx="622286" cy="276999"/>
          </a:xfrm>
          <a:prstGeom prst="rect">
            <a:avLst/>
          </a:prstGeom>
          <a:noFill/>
        </p:spPr>
        <p:txBody>
          <a:bodyPr wrap="none" rtlCol="0">
            <a:spAutoFit/>
          </a:bodyPr>
          <a:lstStyle/>
          <a:p>
            <a:r>
              <a:rPr lang="en-US" sz="1200"/>
              <a:t>o) 15.5</a:t>
            </a:r>
            <a:endParaRPr lang="en-GB" sz="1200"/>
          </a:p>
        </p:txBody>
      </p:sp>
      <p:sp>
        <p:nvSpPr>
          <p:cNvPr id="62" name="TextBox 61"/>
          <p:cNvSpPr txBox="1"/>
          <p:nvPr/>
        </p:nvSpPr>
        <p:spPr>
          <a:xfrm>
            <a:off x="3537198" y="7171119"/>
            <a:ext cx="620683" cy="276999"/>
          </a:xfrm>
          <a:prstGeom prst="rect">
            <a:avLst/>
          </a:prstGeom>
          <a:noFill/>
        </p:spPr>
        <p:txBody>
          <a:bodyPr wrap="none" rtlCol="0">
            <a:spAutoFit/>
          </a:bodyPr>
          <a:lstStyle/>
          <a:p>
            <a:r>
              <a:rPr lang="en-US" sz="1200"/>
              <a:t>p) 15.9</a:t>
            </a:r>
            <a:endParaRPr lang="en-GB" sz="1200"/>
          </a:p>
        </p:txBody>
      </p:sp>
      <p:sp>
        <p:nvSpPr>
          <p:cNvPr id="63" name="TextBox 62"/>
          <p:cNvSpPr txBox="1"/>
          <p:nvPr/>
        </p:nvSpPr>
        <p:spPr>
          <a:xfrm>
            <a:off x="4624503" y="7156729"/>
            <a:ext cx="620683" cy="276999"/>
          </a:xfrm>
          <a:prstGeom prst="rect">
            <a:avLst/>
          </a:prstGeom>
          <a:noFill/>
        </p:spPr>
        <p:txBody>
          <a:bodyPr wrap="none" rtlCol="0">
            <a:spAutoFit/>
          </a:bodyPr>
          <a:lstStyle/>
          <a:p>
            <a:r>
              <a:rPr lang="en-US" sz="1200"/>
              <a:t>q) 17.5</a:t>
            </a:r>
            <a:endParaRPr lang="en-GB" sz="1200"/>
          </a:p>
        </p:txBody>
      </p:sp>
      <p:sp>
        <p:nvSpPr>
          <p:cNvPr id="64" name="Rectangle 63">
            <a:extLst>
              <a:ext uri="{FF2B5EF4-FFF2-40B4-BE49-F238E27FC236}">
                <a16:creationId xmlns:a16="http://schemas.microsoft.com/office/drawing/2014/main" id="{CEEF23AD-EA17-135A-DB95-1D1FECB286F3}"/>
              </a:ext>
            </a:extLst>
          </p:cNvPr>
          <p:cNvSpPr/>
          <p:nvPr/>
        </p:nvSpPr>
        <p:spPr>
          <a:xfrm>
            <a:off x="432994" y="772367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5" name="Rectangle 64">
            <a:extLst>
              <a:ext uri="{FF2B5EF4-FFF2-40B4-BE49-F238E27FC236}">
                <a16:creationId xmlns:a16="http://schemas.microsoft.com/office/drawing/2014/main" id="{CEEF23AD-EA17-135A-DB95-1D1FECB286F3}"/>
              </a:ext>
            </a:extLst>
          </p:cNvPr>
          <p:cNvSpPr/>
          <p:nvPr/>
        </p:nvSpPr>
        <p:spPr>
          <a:xfrm>
            <a:off x="1476949" y="772367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6" name="Rectangle 65">
            <a:extLst>
              <a:ext uri="{FF2B5EF4-FFF2-40B4-BE49-F238E27FC236}">
                <a16:creationId xmlns:a16="http://schemas.microsoft.com/office/drawing/2014/main" id="{CEEF23AD-EA17-135A-DB95-1D1FECB286F3}"/>
              </a:ext>
            </a:extLst>
          </p:cNvPr>
          <p:cNvSpPr/>
          <p:nvPr/>
        </p:nvSpPr>
        <p:spPr>
          <a:xfrm>
            <a:off x="2532833" y="772367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CEEF23AD-EA17-135A-DB95-1D1FECB286F3}"/>
              </a:ext>
            </a:extLst>
          </p:cNvPr>
          <p:cNvSpPr/>
          <p:nvPr/>
        </p:nvSpPr>
        <p:spPr>
          <a:xfrm>
            <a:off x="3607031" y="772367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Rectangle 67">
            <a:extLst>
              <a:ext uri="{FF2B5EF4-FFF2-40B4-BE49-F238E27FC236}">
                <a16:creationId xmlns:a16="http://schemas.microsoft.com/office/drawing/2014/main" id="{CEEF23AD-EA17-135A-DB95-1D1FECB286F3}"/>
              </a:ext>
            </a:extLst>
          </p:cNvPr>
          <p:cNvSpPr/>
          <p:nvPr/>
        </p:nvSpPr>
        <p:spPr>
          <a:xfrm>
            <a:off x="4658695" y="772367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9" name="TextBox 68"/>
          <p:cNvSpPr txBox="1"/>
          <p:nvPr/>
        </p:nvSpPr>
        <p:spPr>
          <a:xfrm>
            <a:off x="5671298" y="7151740"/>
            <a:ext cx="593432" cy="276999"/>
          </a:xfrm>
          <a:prstGeom prst="rect">
            <a:avLst/>
          </a:prstGeom>
          <a:noFill/>
        </p:spPr>
        <p:txBody>
          <a:bodyPr wrap="none" rtlCol="0">
            <a:spAutoFit/>
          </a:bodyPr>
          <a:lstStyle/>
          <a:p>
            <a:r>
              <a:rPr lang="en-US" sz="1200"/>
              <a:t>r) 19.9</a:t>
            </a:r>
            <a:endParaRPr lang="en-GB" sz="1200"/>
          </a:p>
        </p:txBody>
      </p:sp>
      <p:sp>
        <p:nvSpPr>
          <p:cNvPr id="70" name="Rectangle 69">
            <a:extLst>
              <a:ext uri="{FF2B5EF4-FFF2-40B4-BE49-F238E27FC236}">
                <a16:creationId xmlns:a16="http://schemas.microsoft.com/office/drawing/2014/main" id="{CEEF23AD-EA17-135A-DB95-1D1FECB286F3}"/>
              </a:ext>
            </a:extLst>
          </p:cNvPr>
          <p:cNvSpPr/>
          <p:nvPr/>
        </p:nvSpPr>
        <p:spPr>
          <a:xfrm>
            <a:off x="5707797" y="772367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1" name="TextBox 70"/>
          <p:cNvSpPr txBox="1"/>
          <p:nvPr/>
        </p:nvSpPr>
        <p:spPr>
          <a:xfrm>
            <a:off x="382123" y="8214145"/>
            <a:ext cx="679994" cy="276999"/>
          </a:xfrm>
          <a:prstGeom prst="rect">
            <a:avLst/>
          </a:prstGeom>
          <a:noFill/>
        </p:spPr>
        <p:txBody>
          <a:bodyPr wrap="none" rtlCol="0">
            <a:spAutoFit/>
          </a:bodyPr>
          <a:lstStyle/>
          <a:p>
            <a:r>
              <a:rPr lang="en-US" sz="1200"/>
              <a:t>s) 24.95</a:t>
            </a:r>
            <a:endParaRPr lang="en-GB" sz="1200"/>
          </a:p>
        </p:txBody>
      </p:sp>
      <p:sp>
        <p:nvSpPr>
          <p:cNvPr id="72" name="TextBox 71"/>
          <p:cNvSpPr txBox="1"/>
          <p:nvPr/>
        </p:nvSpPr>
        <p:spPr>
          <a:xfrm>
            <a:off x="1401617" y="8209156"/>
            <a:ext cx="670376" cy="276999"/>
          </a:xfrm>
          <a:prstGeom prst="rect">
            <a:avLst/>
          </a:prstGeom>
          <a:noFill/>
        </p:spPr>
        <p:txBody>
          <a:bodyPr wrap="none" rtlCol="0">
            <a:spAutoFit/>
          </a:bodyPr>
          <a:lstStyle/>
          <a:p>
            <a:r>
              <a:rPr lang="en-US" sz="1200"/>
              <a:t>t) 29.45</a:t>
            </a:r>
            <a:endParaRPr lang="en-GB" sz="1200"/>
          </a:p>
        </p:txBody>
      </p:sp>
      <p:sp>
        <p:nvSpPr>
          <p:cNvPr id="73" name="TextBox 72"/>
          <p:cNvSpPr txBox="1"/>
          <p:nvPr/>
        </p:nvSpPr>
        <p:spPr>
          <a:xfrm>
            <a:off x="2483208" y="8225054"/>
            <a:ext cx="699230" cy="276999"/>
          </a:xfrm>
          <a:prstGeom prst="rect">
            <a:avLst/>
          </a:prstGeom>
          <a:noFill/>
        </p:spPr>
        <p:txBody>
          <a:bodyPr wrap="none" rtlCol="0">
            <a:spAutoFit/>
          </a:bodyPr>
          <a:lstStyle/>
          <a:p>
            <a:r>
              <a:rPr lang="en-US" sz="1200"/>
              <a:t>u) 30.59</a:t>
            </a:r>
            <a:endParaRPr lang="en-GB" sz="1200"/>
          </a:p>
        </p:txBody>
      </p:sp>
      <p:sp>
        <p:nvSpPr>
          <p:cNvPr id="74" name="TextBox 73"/>
          <p:cNvSpPr txBox="1"/>
          <p:nvPr/>
        </p:nvSpPr>
        <p:spPr>
          <a:xfrm>
            <a:off x="3518085" y="8228535"/>
            <a:ext cx="688009" cy="276999"/>
          </a:xfrm>
          <a:prstGeom prst="rect">
            <a:avLst/>
          </a:prstGeom>
          <a:noFill/>
        </p:spPr>
        <p:txBody>
          <a:bodyPr wrap="none" rtlCol="0">
            <a:spAutoFit/>
          </a:bodyPr>
          <a:lstStyle/>
          <a:p>
            <a:r>
              <a:rPr lang="en-US" sz="1200"/>
              <a:t>v) 35.95</a:t>
            </a:r>
            <a:endParaRPr lang="en-GB" sz="1200"/>
          </a:p>
        </p:txBody>
      </p:sp>
      <p:sp>
        <p:nvSpPr>
          <p:cNvPr id="75" name="TextBox 74"/>
          <p:cNvSpPr txBox="1"/>
          <p:nvPr/>
        </p:nvSpPr>
        <p:spPr>
          <a:xfrm>
            <a:off x="4605390" y="8214145"/>
            <a:ext cx="729687" cy="276999"/>
          </a:xfrm>
          <a:prstGeom prst="rect">
            <a:avLst/>
          </a:prstGeom>
          <a:noFill/>
        </p:spPr>
        <p:txBody>
          <a:bodyPr wrap="none" rtlCol="0">
            <a:spAutoFit/>
          </a:bodyPr>
          <a:lstStyle/>
          <a:p>
            <a:r>
              <a:rPr lang="en-US" sz="1200"/>
              <a:t>w) 80.99</a:t>
            </a:r>
            <a:endParaRPr lang="en-GB" sz="1200"/>
          </a:p>
        </p:txBody>
      </p:sp>
      <p:sp>
        <p:nvSpPr>
          <p:cNvPr id="76" name="Rectangle 75">
            <a:extLst>
              <a:ext uri="{FF2B5EF4-FFF2-40B4-BE49-F238E27FC236}">
                <a16:creationId xmlns:a16="http://schemas.microsoft.com/office/drawing/2014/main" id="{CEEF23AD-EA17-135A-DB95-1D1FECB286F3}"/>
              </a:ext>
            </a:extLst>
          </p:cNvPr>
          <p:cNvSpPr/>
          <p:nvPr/>
        </p:nvSpPr>
        <p:spPr>
          <a:xfrm>
            <a:off x="413881" y="878109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7" name="Rectangle 76">
            <a:extLst>
              <a:ext uri="{FF2B5EF4-FFF2-40B4-BE49-F238E27FC236}">
                <a16:creationId xmlns:a16="http://schemas.microsoft.com/office/drawing/2014/main" id="{CEEF23AD-EA17-135A-DB95-1D1FECB286F3}"/>
              </a:ext>
            </a:extLst>
          </p:cNvPr>
          <p:cNvSpPr/>
          <p:nvPr/>
        </p:nvSpPr>
        <p:spPr>
          <a:xfrm>
            <a:off x="1457836" y="878109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8" name="Rectangle 77">
            <a:extLst>
              <a:ext uri="{FF2B5EF4-FFF2-40B4-BE49-F238E27FC236}">
                <a16:creationId xmlns:a16="http://schemas.microsoft.com/office/drawing/2014/main" id="{CEEF23AD-EA17-135A-DB95-1D1FECB286F3}"/>
              </a:ext>
            </a:extLst>
          </p:cNvPr>
          <p:cNvSpPr/>
          <p:nvPr/>
        </p:nvSpPr>
        <p:spPr>
          <a:xfrm>
            <a:off x="2513720" y="878109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9" name="Rectangle 78">
            <a:extLst>
              <a:ext uri="{FF2B5EF4-FFF2-40B4-BE49-F238E27FC236}">
                <a16:creationId xmlns:a16="http://schemas.microsoft.com/office/drawing/2014/main" id="{CEEF23AD-EA17-135A-DB95-1D1FECB286F3}"/>
              </a:ext>
            </a:extLst>
          </p:cNvPr>
          <p:cNvSpPr/>
          <p:nvPr/>
        </p:nvSpPr>
        <p:spPr>
          <a:xfrm>
            <a:off x="3587918" y="878109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0" name="Rectangle 79">
            <a:extLst>
              <a:ext uri="{FF2B5EF4-FFF2-40B4-BE49-F238E27FC236}">
                <a16:creationId xmlns:a16="http://schemas.microsoft.com/office/drawing/2014/main" id="{CEEF23AD-EA17-135A-DB95-1D1FECB286F3}"/>
              </a:ext>
            </a:extLst>
          </p:cNvPr>
          <p:cNvSpPr/>
          <p:nvPr/>
        </p:nvSpPr>
        <p:spPr>
          <a:xfrm>
            <a:off x="4639582" y="878109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1" name="TextBox 80"/>
          <p:cNvSpPr txBox="1"/>
          <p:nvPr/>
        </p:nvSpPr>
        <p:spPr>
          <a:xfrm>
            <a:off x="5652185" y="8209156"/>
            <a:ext cx="686406" cy="276999"/>
          </a:xfrm>
          <a:prstGeom prst="rect">
            <a:avLst/>
          </a:prstGeom>
          <a:noFill/>
        </p:spPr>
        <p:txBody>
          <a:bodyPr wrap="none" rtlCol="0">
            <a:spAutoFit/>
          </a:bodyPr>
          <a:lstStyle/>
          <a:p>
            <a:r>
              <a:rPr lang="en-US" sz="1200"/>
              <a:t>x) 64.99</a:t>
            </a:r>
            <a:endParaRPr lang="en-GB" sz="1200"/>
          </a:p>
        </p:txBody>
      </p:sp>
      <p:sp>
        <p:nvSpPr>
          <p:cNvPr id="82" name="Rectangle 81">
            <a:extLst>
              <a:ext uri="{FF2B5EF4-FFF2-40B4-BE49-F238E27FC236}">
                <a16:creationId xmlns:a16="http://schemas.microsoft.com/office/drawing/2014/main" id="{CEEF23AD-EA17-135A-DB95-1D1FECB286F3}"/>
              </a:ext>
            </a:extLst>
          </p:cNvPr>
          <p:cNvSpPr/>
          <p:nvPr/>
        </p:nvSpPr>
        <p:spPr>
          <a:xfrm>
            <a:off x="5688684" y="878109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4"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25</a:t>
            </a:fld>
            <a:endParaRPr lang="en-GB"/>
          </a:p>
        </p:txBody>
      </p:sp>
      <p:sp>
        <p:nvSpPr>
          <p:cNvPr id="14" name="Rectangle 13">
            <a:extLst>
              <a:ext uri="{FF2B5EF4-FFF2-40B4-BE49-F238E27FC236}">
                <a16:creationId xmlns:a16="http://schemas.microsoft.com/office/drawing/2014/main" id="{DC2DDAD4-E6F5-5E2D-EEAB-57445D1E968C}"/>
              </a:ext>
            </a:extLst>
          </p:cNvPr>
          <p:cNvSpPr/>
          <p:nvPr/>
        </p:nvSpPr>
        <p:spPr>
          <a:xfrm>
            <a:off x="106316" y="471293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505183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B4A988A4-03CD-D549-9F12-81AFECBDEF37}"/>
              </a:ext>
            </a:extLst>
          </p:cNvPr>
          <p:cNvCxnSpPr>
            <a:cxnSpLocks/>
          </p:cNvCxnSpPr>
          <p:nvPr/>
        </p:nvCxnSpPr>
        <p:spPr>
          <a:xfrm>
            <a:off x="977077" y="1854166"/>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0" name="Table 19"/>
          <p:cNvGraphicFramePr>
            <a:graphicFrameLocks noGrp="1"/>
          </p:cNvGraphicFramePr>
          <p:nvPr>
            <p:extLst>
              <p:ext uri="{D42A27DB-BD31-4B8C-83A1-F6EECF244321}">
                <p14:modId xmlns:p14="http://schemas.microsoft.com/office/powerpoint/2010/main" val="3489905190"/>
              </p:ext>
            </p:extLst>
          </p:nvPr>
        </p:nvGraphicFramePr>
        <p:xfrm>
          <a:off x="178818" y="409793"/>
          <a:ext cx="6543680" cy="2938582"/>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32878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Round to 1 significant figure</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67002">
                <a:tc>
                  <a:txBody>
                    <a:bodyPr/>
                    <a:lstStyle/>
                    <a:p>
                      <a:pPr marL="0" indent="0">
                        <a:buNone/>
                      </a:pPr>
                      <a:r>
                        <a:rPr lang="en-US" sz="1100"/>
                        <a:t>1)</a:t>
                      </a:r>
                      <a:r>
                        <a:rPr lang="en-US" sz="1100" baseline="0"/>
                        <a:t> </a:t>
                      </a:r>
                      <a:r>
                        <a:rPr lang="en-US" sz="1100"/>
                        <a:t>Draw a line between</a:t>
                      </a:r>
                      <a:r>
                        <a:rPr lang="en-US" sz="1100" baseline="0"/>
                        <a:t> the </a:t>
                      </a:r>
                      <a:r>
                        <a:rPr lang="en-US" sz="1100" b="1" baseline="0"/>
                        <a:t>first and second </a:t>
                      </a:r>
                      <a:r>
                        <a:rPr lang="en-US" sz="1100" baseline="0"/>
                        <a:t>significant figure.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0799">
                <a:tc>
                  <a:txBody>
                    <a:bodyPr/>
                    <a:lstStyle/>
                    <a:p>
                      <a:pPr marL="0" indent="0">
                        <a:buNone/>
                      </a:pPr>
                      <a:r>
                        <a:rPr lang="en-US" sz="1100"/>
                        <a:t>2) If the </a:t>
                      </a:r>
                      <a:r>
                        <a:rPr lang="en-US" sz="1100" baseline="0"/>
                        <a:t>2</a:t>
                      </a:r>
                      <a:r>
                        <a:rPr lang="en-US" sz="1100" baseline="30000"/>
                        <a:t>nd</a:t>
                      </a:r>
                      <a:r>
                        <a:rPr lang="en-US" sz="1100" baseline="0"/>
                        <a:t> significant figure is </a:t>
                      </a:r>
                      <a:r>
                        <a:rPr lang="en-US" sz="1100" b="1" baseline="0"/>
                        <a:t>5 or above</a:t>
                      </a:r>
                      <a:r>
                        <a:rPr lang="en-US" sz="1100" baseline="0"/>
                        <a:t>, the 1</a:t>
                      </a:r>
                      <a:r>
                        <a:rPr lang="en-US" sz="1100" baseline="30000"/>
                        <a:t>st</a:t>
                      </a:r>
                      <a:r>
                        <a:rPr lang="en-US" sz="1100" baseline="0"/>
                        <a:t> significant figure rounds </a:t>
                      </a:r>
                      <a:r>
                        <a:rPr lang="en-US" sz="1100" b="1" baseline="0"/>
                        <a:t>up.  </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754261">
                <a:tc>
                  <a:txBody>
                    <a:bodyPr/>
                    <a:lstStyle/>
                    <a:p>
                      <a:pPr marL="0" indent="0">
                        <a:buNone/>
                      </a:pPr>
                      <a:r>
                        <a:rPr lang="en-US" sz="1100" dirty="0"/>
                        <a:t>3) If the </a:t>
                      </a:r>
                      <a:r>
                        <a:rPr lang="en-US" sz="1100" baseline="0" dirty="0"/>
                        <a:t>2</a:t>
                      </a:r>
                      <a:r>
                        <a:rPr lang="en-US" sz="1100" baseline="30000" dirty="0"/>
                        <a:t>nd</a:t>
                      </a:r>
                      <a:r>
                        <a:rPr lang="en-US" sz="1100" baseline="0" dirty="0"/>
                        <a:t> significant figure is </a:t>
                      </a:r>
                      <a:r>
                        <a:rPr lang="en-US" sz="1100" b="1" baseline="0" dirty="0"/>
                        <a:t>4 or below</a:t>
                      </a:r>
                      <a:r>
                        <a:rPr lang="en-US" sz="1100" baseline="0" dirty="0"/>
                        <a:t>, the 1</a:t>
                      </a:r>
                      <a:r>
                        <a:rPr lang="en-US" sz="1100" baseline="30000" dirty="0"/>
                        <a:t>st</a:t>
                      </a:r>
                      <a:r>
                        <a:rPr lang="en-US" sz="1100" baseline="0" dirty="0"/>
                        <a:t> significant figure stays the same.</a:t>
                      </a:r>
                      <a:endParaRPr lang="en-US" sz="11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p:sp>
        <p:nvSpPr>
          <p:cNvPr id="21" name="TextBox 20">
            <a:extLst>
              <a:ext uri="{FF2B5EF4-FFF2-40B4-BE49-F238E27FC236}">
                <a16:creationId xmlns:a16="http://schemas.microsoft.com/office/drawing/2014/main" id="{BCDC1A2B-2D26-C945-B722-18950FA49879}"/>
              </a:ext>
            </a:extLst>
          </p:cNvPr>
          <p:cNvSpPr txBox="1"/>
          <p:nvPr/>
        </p:nvSpPr>
        <p:spPr>
          <a:xfrm>
            <a:off x="1960437" y="152509"/>
            <a:ext cx="1410704" cy="276999"/>
          </a:xfrm>
          <a:prstGeom prst="rect">
            <a:avLst/>
          </a:prstGeom>
          <a:noFill/>
          <a:ln>
            <a:noFill/>
          </a:ln>
        </p:spPr>
        <p:txBody>
          <a:bodyPr wrap="square" rtlCol="0">
            <a:spAutoFit/>
          </a:bodyPr>
          <a:lstStyle/>
          <a:p>
            <a:r>
              <a:rPr lang="en-GB" sz="1200" b="1" i="1">
                <a:solidFill>
                  <a:srgbClr val="FF0000"/>
                </a:solidFill>
              </a:rPr>
              <a:t>Example 10 - I do…</a:t>
            </a:r>
          </a:p>
        </p:txBody>
      </p:sp>
      <p:sp>
        <p:nvSpPr>
          <p:cNvPr id="22" name="TextBox 21">
            <a:extLst>
              <a:ext uri="{FF2B5EF4-FFF2-40B4-BE49-F238E27FC236}">
                <a16:creationId xmlns:a16="http://schemas.microsoft.com/office/drawing/2014/main" id="{4AF4150A-9218-D640-8777-2ECCBC4D10FB}"/>
              </a:ext>
            </a:extLst>
          </p:cNvPr>
          <p:cNvSpPr txBox="1"/>
          <p:nvPr/>
        </p:nvSpPr>
        <p:spPr>
          <a:xfrm>
            <a:off x="5094334" y="130401"/>
            <a:ext cx="1643405" cy="276999"/>
          </a:xfrm>
          <a:prstGeom prst="rect">
            <a:avLst/>
          </a:prstGeom>
          <a:noFill/>
          <a:ln>
            <a:noFill/>
          </a:ln>
        </p:spPr>
        <p:txBody>
          <a:bodyPr wrap="square" rtlCol="0">
            <a:spAutoFit/>
          </a:bodyPr>
          <a:lstStyle/>
          <a:p>
            <a:r>
              <a:rPr lang="en-GB" sz="1200" b="1" i="1">
                <a:solidFill>
                  <a:srgbClr val="00B050"/>
                </a:solidFill>
              </a:rPr>
              <a:t>Example 12 – You do…</a:t>
            </a:r>
          </a:p>
        </p:txBody>
      </p:sp>
      <p:sp>
        <p:nvSpPr>
          <p:cNvPr id="23" name="TextBox 22">
            <a:extLst>
              <a:ext uri="{FF2B5EF4-FFF2-40B4-BE49-F238E27FC236}">
                <a16:creationId xmlns:a16="http://schemas.microsoft.com/office/drawing/2014/main" id="{BCDC1A2B-2D26-C945-B722-18950FA49879}"/>
              </a:ext>
            </a:extLst>
          </p:cNvPr>
          <p:cNvSpPr txBox="1"/>
          <p:nvPr/>
        </p:nvSpPr>
        <p:spPr>
          <a:xfrm>
            <a:off x="3485155" y="142502"/>
            <a:ext cx="1667605" cy="276999"/>
          </a:xfrm>
          <a:prstGeom prst="rect">
            <a:avLst/>
          </a:prstGeom>
          <a:noFill/>
          <a:ln>
            <a:noFill/>
          </a:ln>
        </p:spPr>
        <p:txBody>
          <a:bodyPr wrap="square" rtlCol="0">
            <a:spAutoFit/>
          </a:bodyPr>
          <a:lstStyle/>
          <a:p>
            <a:r>
              <a:rPr lang="en-GB" sz="1200" b="1" i="1">
                <a:solidFill>
                  <a:schemeClr val="accent2"/>
                </a:solidFill>
              </a:rPr>
              <a:t>Example 11 - We do…</a:t>
            </a:r>
          </a:p>
        </p:txBody>
      </p:sp>
      <p:sp>
        <p:nvSpPr>
          <p:cNvPr id="24" name="TextBox 23"/>
          <p:cNvSpPr txBox="1"/>
          <p:nvPr/>
        </p:nvSpPr>
        <p:spPr>
          <a:xfrm>
            <a:off x="1934903" y="696800"/>
            <a:ext cx="1419715" cy="1384995"/>
          </a:xfrm>
          <a:prstGeom prst="rect">
            <a:avLst/>
          </a:prstGeom>
          <a:noFill/>
        </p:spPr>
        <p:txBody>
          <a:bodyPr wrap="square" rtlCol="0">
            <a:spAutoFit/>
          </a:bodyPr>
          <a:lstStyle/>
          <a:p>
            <a:pPr algn="ctr"/>
            <a:r>
              <a:rPr lang="en-US" sz="1200"/>
              <a:t>Round 0.25 to one significant figure</a:t>
            </a:r>
          </a:p>
          <a:p>
            <a:pPr algn="ctr"/>
            <a:endParaRPr lang="en-US" sz="1200"/>
          </a:p>
          <a:p>
            <a:pPr algn="ctr"/>
            <a:r>
              <a:rPr lang="en-US" sz="1200"/>
              <a:t>0  . 2  |  </a:t>
            </a:r>
            <a:r>
              <a:rPr lang="en-US" sz="1200" u="sng"/>
              <a:t>5</a:t>
            </a:r>
          </a:p>
          <a:p>
            <a:pPr algn="ctr"/>
            <a:endParaRPr lang="en-US" sz="1200"/>
          </a:p>
          <a:p>
            <a:pPr algn="ctr"/>
            <a:endParaRPr lang="en-US" sz="1200"/>
          </a:p>
          <a:p>
            <a:pPr algn="ctr"/>
            <a:endParaRPr lang="en-US" sz="1200" u="sng"/>
          </a:p>
        </p:txBody>
      </p:sp>
      <p:sp>
        <p:nvSpPr>
          <p:cNvPr id="25" name="Rectangle 24">
            <a:extLst>
              <a:ext uri="{FF2B5EF4-FFF2-40B4-BE49-F238E27FC236}">
                <a16:creationId xmlns:a16="http://schemas.microsoft.com/office/drawing/2014/main" id="{CEEF23AD-EA17-135A-DB95-1D1FECB286F3}"/>
              </a:ext>
            </a:extLst>
          </p:cNvPr>
          <p:cNvSpPr/>
          <p:nvPr/>
        </p:nvSpPr>
        <p:spPr>
          <a:xfrm>
            <a:off x="1920136" y="152604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6" name="Rectangle 25">
            <a:extLst>
              <a:ext uri="{FF2B5EF4-FFF2-40B4-BE49-F238E27FC236}">
                <a16:creationId xmlns:a16="http://schemas.microsoft.com/office/drawing/2014/main" id="{CEEF23AD-EA17-135A-DB95-1D1FECB286F3}"/>
              </a:ext>
            </a:extLst>
          </p:cNvPr>
          <p:cNvSpPr/>
          <p:nvPr/>
        </p:nvSpPr>
        <p:spPr>
          <a:xfrm>
            <a:off x="1920136" y="288011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7" name="Rectangle 26">
            <a:extLst>
              <a:ext uri="{FF2B5EF4-FFF2-40B4-BE49-F238E27FC236}">
                <a16:creationId xmlns:a16="http://schemas.microsoft.com/office/drawing/2014/main" id="{CEEF23AD-EA17-135A-DB95-1D1FECB286F3}"/>
              </a:ext>
            </a:extLst>
          </p:cNvPr>
          <p:cNvSpPr/>
          <p:nvPr/>
        </p:nvSpPr>
        <p:spPr>
          <a:xfrm>
            <a:off x="3544611" y="152137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8" name="Rectangle 27">
            <a:extLst>
              <a:ext uri="{FF2B5EF4-FFF2-40B4-BE49-F238E27FC236}">
                <a16:creationId xmlns:a16="http://schemas.microsoft.com/office/drawing/2014/main" id="{CEEF23AD-EA17-135A-DB95-1D1FECB286F3}"/>
              </a:ext>
            </a:extLst>
          </p:cNvPr>
          <p:cNvSpPr/>
          <p:nvPr/>
        </p:nvSpPr>
        <p:spPr>
          <a:xfrm>
            <a:off x="3544611" y="287544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Rectangle 28">
            <a:extLst>
              <a:ext uri="{FF2B5EF4-FFF2-40B4-BE49-F238E27FC236}">
                <a16:creationId xmlns:a16="http://schemas.microsoft.com/office/drawing/2014/main" id="{CEEF23AD-EA17-135A-DB95-1D1FECB286F3}"/>
              </a:ext>
            </a:extLst>
          </p:cNvPr>
          <p:cNvSpPr/>
          <p:nvPr/>
        </p:nvSpPr>
        <p:spPr>
          <a:xfrm>
            <a:off x="5187527" y="152137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0" name="Rectangle 29">
            <a:extLst>
              <a:ext uri="{FF2B5EF4-FFF2-40B4-BE49-F238E27FC236}">
                <a16:creationId xmlns:a16="http://schemas.microsoft.com/office/drawing/2014/main" id="{CEEF23AD-EA17-135A-DB95-1D1FECB286F3}"/>
              </a:ext>
            </a:extLst>
          </p:cNvPr>
          <p:cNvSpPr/>
          <p:nvPr/>
        </p:nvSpPr>
        <p:spPr>
          <a:xfrm>
            <a:off x="5187527" y="287544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1" name="TextBox 30"/>
          <p:cNvSpPr txBox="1"/>
          <p:nvPr/>
        </p:nvSpPr>
        <p:spPr>
          <a:xfrm>
            <a:off x="1857831" y="1895838"/>
            <a:ext cx="1579701" cy="1384995"/>
          </a:xfrm>
          <a:prstGeom prst="rect">
            <a:avLst/>
          </a:prstGeom>
          <a:noFill/>
        </p:spPr>
        <p:txBody>
          <a:bodyPr wrap="square" rtlCol="0">
            <a:spAutoFit/>
          </a:bodyPr>
          <a:lstStyle/>
          <a:p>
            <a:pPr algn="ctr"/>
            <a:r>
              <a:rPr lang="en-US" sz="1200"/>
              <a:t>Round 0.0378 to one significant figure</a:t>
            </a:r>
          </a:p>
          <a:p>
            <a:pPr algn="ctr"/>
            <a:endParaRPr lang="en-US" sz="1200"/>
          </a:p>
          <a:p>
            <a:pPr algn="ctr"/>
            <a:r>
              <a:rPr lang="en-US" sz="1200"/>
              <a:t>0  .  0   3 |  </a:t>
            </a:r>
            <a:r>
              <a:rPr lang="en-US" sz="1200" u="sng"/>
              <a:t>7</a:t>
            </a:r>
            <a:r>
              <a:rPr lang="en-US" sz="1200"/>
              <a:t>   8</a:t>
            </a:r>
            <a:endParaRPr lang="en-US" sz="1200" u="sng"/>
          </a:p>
          <a:p>
            <a:pPr algn="ctr"/>
            <a:endParaRPr lang="en-US" sz="1200"/>
          </a:p>
          <a:p>
            <a:pPr algn="ctr"/>
            <a:endParaRPr lang="en-US" sz="1200"/>
          </a:p>
          <a:p>
            <a:pPr algn="ctr"/>
            <a:endParaRPr lang="en-US" sz="1200" u="sng"/>
          </a:p>
        </p:txBody>
      </p:sp>
      <p:sp>
        <p:nvSpPr>
          <p:cNvPr id="32" name="TextBox 31"/>
          <p:cNvSpPr txBox="1"/>
          <p:nvPr/>
        </p:nvSpPr>
        <p:spPr>
          <a:xfrm>
            <a:off x="3546124" y="736604"/>
            <a:ext cx="1419715" cy="1015663"/>
          </a:xfrm>
          <a:prstGeom prst="rect">
            <a:avLst/>
          </a:prstGeom>
          <a:noFill/>
        </p:spPr>
        <p:txBody>
          <a:bodyPr wrap="square" rtlCol="0">
            <a:spAutoFit/>
          </a:bodyPr>
          <a:lstStyle/>
          <a:p>
            <a:pPr algn="ctr"/>
            <a:r>
              <a:rPr lang="en-US" sz="1200"/>
              <a:t>Round 0.31 to one significant figure</a:t>
            </a:r>
          </a:p>
          <a:p>
            <a:pPr algn="ctr"/>
            <a:endParaRPr lang="en-US" sz="1200"/>
          </a:p>
          <a:p>
            <a:pPr algn="ctr"/>
            <a:endParaRPr lang="en-US" sz="1200"/>
          </a:p>
          <a:p>
            <a:pPr algn="ctr"/>
            <a:endParaRPr lang="en-US" sz="1200" u="sng"/>
          </a:p>
        </p:txBody>
      </p:sp>
      <p:sp>
        <p:nvSpPr>
          <p:cNvPr id="33" name="TextBox 32"/>
          <p:cNvSpPr txBox="1"/>
          <p:nvPr/>
        </p:nvSpPr>
        <p:spPr>
          <a:xfrm>
            <a:off x="3429000" y="1895838"/>
            <a:ext cx="1515861" cy="1015663"/>
          </a:xfrm>
          <a:prstGeom prst="rect">
            <a:avLst/>
          </a:prstGeom>
          <a:noFill/>
        </p:spPr>
        <p:txBody>
          <a:bodyPr wrap="square" rtlCol="0">
            <a:spAutoFit/>
          </a:bodyPr>
          <a:lstStyle/>
          <a:p>
            <a:pPr algn="ctr"/>
            <a:r>
              <a:rPr lang="en-US" sz="1200"/>
              <a:t>Round 0.0392 to one significant figure</a:t>
            </a:r>
          </a:p>
          <a:p>
            <a:pPr algn="ctr"/>
            <a:endParaRPr lang="en-US" sz="1200"/>
          </a:p>
          <a:p>
            <a:pPr algn="ctr"/>
            <a:endParaRPr lang="en-US" sz="1200"/>
          </a:p>
          <a:p>
            <a:pPr algn="ctr"/>
            <a:endParaRPr lang="en-US" sz="1200" u="sng"/>
          </a:p>
        </p:txBody>
      </p:sp>
      <p:sp>
        <p:nvSpPr>
          <p:cNvPr id="34" name="TextBox 33"/>
          <p:cNvSpPr txBox="1"/>
          <p:nvPr/>
        </p:nvSpPr>
        <p:spPr>
          <a:xfrm>
            <a:off x="5221759" y="728900"/>
            <a:ext cx="1419715" cy="1015663"/>
          </a:xfrm>
          <a:prstGeom prst="rect">
            <a:avLst/>
          </a:prstGeom>
          <a:noFill/>
        </p:spPr>
        <p:txBody>
          <a:bodyPr wrap="square" rtlCol="0">
            <a:spAutoFit/>
          </a:bodyPr>
          <a:lstStyle/>
          <a:p>
            <a:pPr algn="ctr"/>
            <a:r>
              <a:rPr lang="en-US" sz="1200"/>
              <a:t>Round 0.75 to one significant figure</a:t>
            </a:r>
          </a:p>
          <a:p>
            <a:pPr algn="ctr"/>
            <a:endParaRPr lang="en-US" sz="1200"/>
          </a:p>
          <a:p>
            <a:pPr algn="ctr"/>
            <a:endParaRPr lang="en-US" sz="1200"/>
          </a:p>
          <a:p>
            <a:pPr algn="ctr"/>
            <a:endParaRPr lang="en-US" sz="1200" u="sng"/>
          </a:p>
        </p:txBody>
      </p:sp>
      <p:sp>
        <p:nvSpPr>
          <p:cNvPr id="35" name="TextBox 34"/>
          <p:cNvSpPr txBox="1"/>
          <p:nvPr/>
        </p:nvSpPr>
        <p:spPr>
          <a:xfrm>
            <a:off x="5152760" y="1895837"/>
            <a:ext cx="1505438" cy="1015663"/>
          </a:xfrm>
          <a:prstGeom prst="rect">
            <a:avLst/>
          </a:prstGeom>
          <a:noFill/>
        </p:spPr>
        <p:txBody>
          <a:bodyPr wrap="square" rtlCol="0">
            <a:spAutoFit/>
          </a:bodyPr>
          <a:lstStyle/>
          <a:p>
            <a:pPr algn="ctr"/>
            <a:r>
              <a:rPr lang="en-US" sz="1200"/>
              <a:t>Round 0.0431 to one significant figure</a:t>
            </a:r>
          </a:p>
          <a:p>
            <a:pPr algn="ctr"/>
            <a:endParaRPr lang="en-US" sz="1200"/>
          </a:p>
          <a:p>
            <a:pPr algn="ctr"/>
            <a:endParaRPr lang="en-US" sz="1200"/>
          </a:p>
          <a:p>
            <a:pPr algn="ctr"/>
            <a:endParaRPr lang="en-US" sz="1200" u="sng"/>
          </a:p>
        </p:txBody>
      </p:sp>
      <p:sp>
        <p:nvSpPr>
          <p:cNvPr id="39" name="TextBox 38"/>
          <p:cNvSpPr txBox="1"/>
          <p:nvPr/>
        </p:nvSpPr>
        <p:spPr>
          <a:xfrm>
            <a:off x="2085416" y="3440047"/>
            <a:ext cx="3028650" cy="276999"/>
          </a:xfrm>
          <a:prstGeom prst="rect">
            <a:avLst/>
          </a:prstGeom>
          <a:noFill/>
        </p:spPr>
        <p:txBody>
          <a:bodyPr wrap="none" rtlCol="0">
            <a:spAutoFit/>
          </a:bodyPr>
          <a:lstStyle/>
          <a:p>
            <a:r>
              <a:rPr lang="en-US" sz="1200"/>
              <a:t>4. Round each number to 1 significant figure. </a:t>
            </a:r>
            <a:endParaRPr lang="en-GB" sz="1200"/>
          </a:p>
        </p:txBody>
      </p:sp>
      <p:sp>
        <p:nvSpPr>
          <p:cNvPr id="40" name="TextBox 39"/>
          <p:cNvSpPr txBox="1"/>
          <p:nvPr/>
        </p:nvSpPr>
        <p:spPr>
          <a:xfrm>
            <a:off x="407120" y="3920438"/>
            <a:ext cx="614271" cy="276999"/>
          </a:xfrm>
          <a:prstGeom prst="rect">
            <a:avLst/>
          </a:prstGeom>
          <a:noFill/>
        </p:spPr>
        <p:txBody>
          <a:bodyPr wrap="none" rtlCol="0">
            <a:spAutoFit/>
          </a:bodyPr>
          <a:lstStyle/>
          <a:p>
            <a:r>
              <a:rPr lang="en-US" sz="1200"/>
              <a:t>a) 0.41</a:t>
            </a:r>
            <a:endParaRPr lang="en-GB" sz="1200"/>
          </a:p>
        </p:txBody>
      </p:sp>
      <p:sp>
        <p:nvSpPr>
          <p:cNvPr id="41" name="TextBox 40"/>
          <p:cNvSpPr txBox="1"/>
          <p:nvPr/>
        </p:nvSpPr>
        <p:spPr>
          <a:xfrm>
            <a:off x="1459377" y="3911735"/>
            <a:ext cx="620683" cy="276999"/>
          </a:xfrm>
          <a:prstGeom prst="rect">
            <a:avLst/>
          </a:prstGeom>
          <a:noFill/>
        </p:spPr>
        <p:txBody>
          <a:bodyPr wrap="none" rtlCol="0">
            <a:spAutoFit/>
          </a:bodyPr>
          <a:lstStyle/>
          <a:p>
            <a:r>
              <a:rPr lang="en-US" sz="1200"/>
              <a:t>b) 0.45</a:t>
            </a:r>
            <a:endParaRPr lang="en-GB" sz="1200"/>
          </a:p>
        </p:txBody>
      </p:sp>
      <p:sp>
        <p:nvSpPr>
          <p:cNvPr id="42" name="TextBox 41"/>
          <p:cNvSpPr txBox="1"/>
          <p:nvPr/>
        </p:nvSpPr>
        <p:spPr>
          <a:xfrm>
            <a:off x="2536036" y="3911736"/>
            <a:ext cx="606256" cy="276999"/>
          </a:xfrm>
          <a:prstGeom prst="rect">
            <a:avLst/>
          </a:prstGeom>
          <a:noFill/>
        </p:spPr>
        <p:txBody>
          <a:bodyPr wrap="none" rtlCol="0">
            <a:spAutoFit/>
          </a:bodyPr>
          <a:lstStyle/>
          <a:p>
            <a:r>
              <a:rPr lang="en-US" sz="1200"/>
              <a:t>c) 0.49</a:t>
            </a:r>
            <a:endParaRPr lang="en-GB" sz="1200"/>
          </a:p>
        </p:txBody>
      </p:sp>
      <p:sp>
        <p:nvSpPr>
          <p:cNvPr id="43" name="TextBox 42"/>
          <p:cNvSpPr txBox="1"/>
          <p:nvPr/>
        </p:nvSpPr>
        <p:spPr>
          <a:xfrm>
            <a:off x="3543082" y="3934828"/>
            <a:ext cx="620683" cy="276999"/>
          </a:xfrm>
          <a:prstGeom prst="rect">
            <a:avLst/>
          </a:prstGeom>
          <a:noFill/>
        </p:spPr>
        <p:txBody>
          <a:bodyPr wrap="none" rtlCol="0">
            <a:spAutoFit/>
          </a:bodyPr>
          <a:lstStyle/>
          <a:p>
            <a:r>
              <a:rPr lang="en-US" sz="1200"/>
              <a:t>d) 0.55</a:t>
            </a:r>
            <a:endParaRPr lang="en-GB" sz="1200"/>
          </a:p>
        </p:txBody>
      </p:sp>
      <p:sp>
        <p:nvSpPr>
          <p:cNvPr id="44" name="TextBox 43"/>
          <p:cNvSpPr txBox="1"/>
          <p:nvPr/>
        </p:nvSpPr>
        <p:spPr>
          <a:xfrm>
            <a:off x="4646845" y="3931348"/>
            <a:ext cx="617477" cy="276999"/>
          </a:xfrm>
          <a:prstGeom prst="rect">
            <a:avLst/>
          </a:prstGeom>
          <a:noFill/>
        </p:spPr>
        <p:txBody>
          <a:bodyPr wrap="none" rtlCol="0">
            <a:spAutoFit/>
          </a:bodyPr>
          <a:lstStyle/>
          <a:p>
            <a:r>
              <a:rPr lang="en-US" sz="1200"/>
              <a:t>e) 0.59</a:t>
            </a:r>
            <a:endParaRPr lang="en-GB" sz="1200"/>
          </a:p>
        </p:txBody>
      </p:sp>
      <p:sp>
        <p:nvSpPr>
          <p:cNvPr id="45" name="Rectangle 44">
            <a:extLst>
              <a:ext uri="{FF2B5EF4-FFF2-40B4-BE49-F238E27FC236}">
                <a16:creationId xmlns:a16="http://schemas.microsoft.com/office/drawing/2014/main" id="{CEEF23AD-EA17-135A-DB95-1D1FECB286F3}"/>
              </a:ext>
            </a:extLst>
          </p:cNvPr>
          <p:cNvSpPr/>
          <p:nvPr/>
        </p:nvSpPr>
        <p:spPr>
          <a:xfrm>
            <a:off x="438878" y="4493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6" name="Rectangle 45">
            <a:extLst>
              <a:ext uri="{FF2B5EF4-FFF2-40B4-BE49-F238E27FC236}">
                <a16:creationId xmlns:a16="http://schemas.microsoft.com/office/drawing/2014/main" id="{CEEF23AD-EA17-135A-DB95-1D1FECB286F3}"/>
              </a:ext>
            </a:extLst>
          </p:cNvPr>
          <p:cNvSpPr/>
          <p:nvPr/>
        </p:nvSpPr>
        <p:spPr>
          <a:xfrm>
            <a:off x="1482833" y="4493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7" name="Rectangle 46">
            <a:extLst>
              <a:ext uri="{FF2B5EF4-FFF2-40B4-BE49-F238E27FC236}">
                <a16:creationId xmlns:a16="http://schemas.microsoft.com/office/drawing/2014/main" id="{CEEF23AD-EA17-135A-DB95-1D1FECB286F3}"/>
              </a:ext>
            </a:extLst>
          </p:cNvPr>
          <p:cNvSpPr/>
          <p:nvPr/>
        </p:nvSpPr>
        <p:spPr>
          <a:xfrm>
            <a:off x="2538717" y="4493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8" name="Rectangle 47">
            <a:extLst>
              <a:ext uri="{FF2B5EF4-FFF2-40B4-BE49-F238E27FC236}">
                <a16:creationId xmlns:a16="http://schemas.microsoft.com/office/drawing/2014/main" id="{CEEF23AD-EA17-135A-DB95-1D1FECB286F3}"/>
              </a:ext>
            </a:extLst>
          </p:cNvPr>
          <p:cNvSpPr/>
          <p:nvPr/>
        </p:nvSpPr>
        <p:spPr>
          <a:xfrm>
            <a:off x="3612915" y="4493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9" name="Rectangle 48">
            <a:extLst>
              <a:ext uri="{FF2B5EF4-FFF2-40B4-BE49-F238E27FC236}">
                <a16:creationId xmlns:a16="http://schemas.microsoft.com/office/drawing/2014/main" id="{CEEF23AD-EA17-135A-DB95-1D1FECB286F3}"/>
              </a:ext>
            </a:extLst>
          </p:cNvPr>
          <p:cNvSpPr/>
          <p:nvPr/>
        </p:nvSpPr>
        <p:spPr>
          <a:xfrm>
            <a:off x="4664579" y="4493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0" name="TextBox 49"/>
          <p:cNvSpPr txBox="1"/>
          <p:nvPr/>
        </p:nvSpPr>
        <p:spPr>
          <a:xfrm>
            <a:off x="5741858" y="3956995"/>
            <a:ext cx="589264" cy="276999"/>
          </a:xfrm>
          <a:prstGeom prst="rect">
            <a:avLst/>
          </a:prstGeom>
          <a:noFill/>
        </p:spPr>
        <p:txBody>
          <a:bodyPr wrap="none" rtlCol="0">
            <a:spAutoFit/>
          </a:bodyPr>
          <a:lstStyle/>
          <a:p>
            <a:r>
              <a:rPr lang="en-US" sz="1200"/>
              <a:t>f) 0.91</a:t>
            </a:r>
            <a:endParaRPr lang="en-GB" sz="1200"/>
          </a:p>
        </p:txBody>
      </p:sp>
      <p:sp>
        <p:nvSpPr>
          <p:cNvPr id="51" name="Rectangle 50">
            <a:extLst>
              <a:ext uri="{FF2B5EF4-FFF2-40B4-BE49-F238E27FC236}">
                <a16:creationId xmlns:a16="http://schemas.microsoft.com/office/drawing/2014/main" id="{CEEF23AD-EA17-135A-DB95-1D1FECB286F3}"/>
              </a:ext>
            </a:extLst>
          </p:cNvPr>
          <p:cNvSpPr/>
          <p:nvPr/>
        </p:nvSpPr>
        <p:spPr>
          <a:xfrm>
            <a:off x="5713681" y="4493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2" name="TextBox 51"/>
          <p:cNvSpPr txBox="1"/>
          <p:nvPr/>
        </p:nvSpPr>
        <p:spPr>
          <a:xfrm>
            <a:off x="438878" y="4954761"/>
            <a:ext cx="612668" cy="276999"/>
          </a:xfrm>
          <a:prstGeom prst="rect">
            <a:avLst/>
          </a:prstGeom>
          <a:noFill/>
        </p:spPr>
        <p:txBody>
          <a:bodyPr wrap="none" rtlCol="0">
            <a:spAutoFit/>
          </a:bodyPr>
          <a:lstStyle/>
          <a:p>
            <a:r>
              <a:rPr lang="en-US" sz="1200"/>
              <a:t>g) 0.95</a:t>
            </a:r>
            <a:endParaRPr lang="en-GB" sz="1200"/>
          </a:p>
        </p:txBody>
      </p:sp>
      <p:sp>
        <p:nvSpPr>
          <p:cNvPr id="53" name="TextBox 52"/>
          <p:cNvSpPr txBox="1"/>
          <p:nvPr/>
        </p:nvSpPr>
        <p:spPr>
          <a:xfrm>
            <a:off x="1491135" y="4946058"/>
            <a:ext cx="699230" cy="276999"/>
          </a:xfrm>
          <a:prstGeom prst="rect">
            <a:avLst/>
          </a:prstGeom>
          <a:noFill/>
        </p:spPr>
        <p:txBody>
          <a:bodyPr wrap="none" rtlCol="0">
            <a:spAutoFit/>
          </a:bodyPr>
          <a:lstStyle/>
          <a:p>
            <a:r>
              <a:rPr lang="en-US" sz="1200"/>
              <a:t>h) 0.905</a:t>
            </a:r>
            <a:endParaRPr lang="en-GB" sz="1200"/>
          </a:p>
        </p:txBody>
      </p:sp>
      <p:sp>
        <p:nvSpPr>
          <p:cNvPr id="54" name="TextBox 53"/>
          <p:cNvSpPr txBox="1"/>
          <p:nvPr/>
        </p:nvSpPr>
        <p:spPr>
          <a:xfrm>
            <a:off x="2567794" y="4946059"/>
            <a:ext cx="654346" cy="276999"/>
          </a:xfrm>
          <a:prstGeom prst="rect">
            <a:avLst/>
          </a:prstGeom>
          <a:noFill/>
        </p:spPr>
        <p:txBody>
          <a:bodyPr wrap="none" rtlCol="0">
            <a:spAutoFit/>
          </a:bodyPr>
          <a:lstStyle/>
          <a:p>
            <a:r>
              <a:rPr lang="en-US" sz="1200"/>
              <a:t>i) 0.951</a:t>
            </a:r>
            <a:endParaRPr lang="en-GB" sz="1200"/>
          </a:p>
        </p:txBody>
      </p:sp>
      <p:sp>
        <p:nvSpPr>
          <p:cNvPr id="55" name="TextBox 54"/>
          <p:cNvSpPr txBox="1"/>
          <p:nvPr/>
        </p:nvSpPr>
        <p:spPr>
          <a:xfrm>
            <a:off x="3574840" y="4969151"/>
            <a:ext cx="655949" cy="276999"/>
          </a:xfrm>
          <a:prstGeom prst="rect">
            <a:avLst/>
          </a:prstGeom>
          <a:noFill/>
        </p:spPr>
        <p:txBody>
          <a:bodyPr wrap="none" rtlCol="0">
            <a:spAutoFit/>
          </a:bodyPr>
          <a:lstStyle/>
          <a:p>
            <a:r>
              <a:rPr lang="en-US" sz="1200"/>
              <a:t>j) 0.091</a:t>
            </a:r>
            <a:endParaRPr lang="en-GB" sz="1200"/>
          </a:p>
        </p:txBody>
      </p:sp>
      <p:sp>
        <p:nvSpPr>
          <p:cNvPr id="56" name="TextBox 55"/>
          <p:cNvSpPr txBox="1"/>
          <p:nvPr/>
        </p:nvSpPr>
        <p:spPr>
          <a:xfrm>
            <a:off x="4678603" y="4965671"/>
            <a:ext cx="689612" cy="276999"/>
          </a:xfrm>
          <a:prstGeom prst="rect">
            <a:avLst/>
          </a:prstGeom>
          <a:noFill/>
        </p:spPr>
        <p:txBody>
          <a:bodyPr wrap="none" rtlCol="0">
            <a:spAutoFit/>
          </a:bodyPr>
          <a:lstStyle/>
          <a:p>
            <a:r>
              <a:rPr lang="en-US" sz="1200"/>
              <a:t>k) 0.095</a:t>
            </a:r>
            <a:endParaRPr lang="en-GB" sz="1200"/>
          </a:p>
        </p:txBody>
      </p:sp>
      <p:sp>
        <p:nvSpPr>
          <p:cNvPr id="57" name="Rectangle 56">
            <a:extLst>
              <a:ext uri="{FF2B5EF4-FFF2-40B4-BE49-F238E27FC236}">
                <a16:creationId xmlns:a16="http://schemas.microsoft.com/office/drawing/2014/main" id="{CEEF23AD-EA17-135A-DB95-1D1FECB286F3}"/>
              </a:ext>
            </a:extLst>
          </p:cNvPr>
          <p:cNvSpPr/>
          <p:nvPr/>
        </p:nvSpPr>
        <p:spPr>
          <a:xfrm>
            <a:off x="438878" y="5490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8" name="Rectangle 57">
            <a:extLst>
              <a:ext uri="{FF2B5EF4-FFF2-40B4-BE49-F238E27FC236}">
                <a16:creationId xmlns:a16="http://schemas.microsoft.com/office/drawing/2014/main" id="{CEEF23AD-EA17-135A-DB95-1D1FECB286F3}"/>
              </a:ext>
            </a:extLst>
          </p:cNvPr>
          <p:cNvSpPr/>
          <p:nvPr/>
        </p:nvSpPr>
        <p:spPr>
          <a:xfrm>
            <a:off x="1482833" y="5490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9" name="Rectangle 58">
            <a:extLst>
              <a:ext uri="{FF2B5EF4-FFF2-40B4-BE49-F238E27FC236}">
                <a16:creationId xmlns:a16="http://schemas.microsoft.com/office/drawing/2014/main" id="{CEEF23AD-EA17-135A-DB95-1D1FECB286F3}"/>
              </a:ext>
            </a:extLst>
          </p:cNvPr>
          <p:cNvSpPr/>
          <p:nvPr/>
        </p:nvSpPr>
        <p:spPr>
          <a:xfrm>
            <a:off x="2538717" y="5490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0" name="Rectangle 59">
            <a:extLst>
              <a:ext uri="{FF2B5EF4-FFF2-40B4-BE49-F238E27FC236}">
                <a16:creationId xmlns:a16="http://schemas.microsoft.com/office/drawing/2014/main" id="{CEEF23AD-EA17-135A-DB95-1D1FECB286F3}"/>
              </a:ext>
            </a:extLst>
          </p:cNvPr>
          <p:cNvSpPr/>
          <p:nvPr/>
        </p:nvSpPr>
        <p:spPr>
          <a:xfrm>
            <a:off x="3612915" y="5490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1" name="Rectangle 60">
            <a:extLst>
              <a:ext uri="{FF2B5EF4-FFF2-40B4-BE49-F238E27FC236}">
                <a16:creationId xmlns:a16="http://schemas.microsoft.com/office/drawing/2014/main" id="{CEEF23AD-EA17-135A-DB95-1D1FECB286F3}"/>
              </a:ext>
            </a:extLst>
          </p:cNvPr>
          <p:cNvSpPr/>
          <p:nvPr/>
        </p:nvSpPr>
        <p:spPr>
          <a:xfrm>
            <a:off x="4664579" y="5490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2" name="TextBox 61"/>
          <p:cNvSpPr txBox="1"/>
          <p:nvPr/>
        </p:nvSpPr>
        <p:spPr>
          <a:xfrm>
            <a:off x="5773616" y="4991318"/>
            <a:ext cx="654346" cy="276999"/>
          </a:xfrm>
          <a:prstGeom prst="rect">
            <a:avLst/>
          </a:prstGeom>
          <a:noFill/>
        </p:spPr>
        <p:txBody>
          <a:bodyPr wrap="none" rtlCol="0">
            <a:spAutoFit/>
          </a:bodyPr>
          <a:lstStyle/>
          <a:p>
            <a:r>
              <a:rPr lang="en-US" sz="1200"/>
              <a:t>l) 0.059</a:t>
            </a:r>
            <a:endParaRPr lang="en-GB" sz="1200"/>
          </a:p>
        </p:txBody>
      </p:sp>
      <p:sp>
        <p:nvSpPr>
          <p:cNvPr id="63" name="Rectangle 62">
            <a:extLst>
              <a:ext uri="{FF2B5EF4-FFF2-40B4-BE49-F238E27FC236}">
                <a16:creationId xmlns:a16="http://schemas.microsoft.com/office/drawing/2014/main" id="{CEEF23AD-EA17-135A-DB95-1D1FECB286F3}"/>
              </a:ext>
            </a:extLst>
          </p:cNvPr>
          <p:cNvSpPr/>
          <p:nvPr/>
        </p:nvSpPr>
        <p:spPr>
          <a:xfrm>
            <a:off x="5713681" y="5490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4" name="TextBox 63"/>
          <p:cNvSpPr txBox="1"/>
          <p:nvPr/>
        </p:nvSpPr>
        <p:spPr>
          <a:xfrm>
            <a:off x="420372" y="5901349"/>
            <a:ext cx="821059" cy="276999"/>
          </a:xfrm>
          <a:prstGeom prst="rect">
            <a:avLst/>
          </a:prstGeom>
          <a:noFill/>
        </p:spPr>
        <p:txBody>
          <a:bodyPr wrap="none" rtlCol="0">
            <a:spAutoFit/>
          </a:bodyPr>
          <a:lstStyle/>
          <a:p>
            <a:r>
              <a:rPr lang="en-US" sz="1200"/>
              <a:t>m) 0.0591</a:t>
            </a:r>
            <a:endParaRPr lang="en-GB" sz="1200"/>
          </a:p>
        </p:txBody>
      </p:sp>
      <p:sp>
        <p:nvSpPr>
          <p:cNvPr id="65" name="TextBox 64"/>
          <p:cNvSpPr txBox="1"/>
          <p:nvPr/>
        </p:nvSpPr>
        <p:spPr>
          <a:xfrm>
            <a:off x="1464733" y="5888581"/>
            <a:ext cx="777777" cy="276999"/>
          </a:xfrm>
          <a:prstGeom prst="rect">
            <a:avLst/>
          </a:prstGeom>
          <a:noFill/>
        </p:spPr>
        <p:txBody>
          <a:bodyPr wrap="none" rtlCol="0">
            <a:spAutoFit/>
          </a:bodyPr>
          <a:lstStyle/>
          <a:p>
            <a:r>
              <a:rPr lang="en-US" sz="1200"/>
              <a:t>n) 0.0045</a:t>
            </a:r>
            <a:endParaRPr lang="en-GB" sz="1200"/>
          </a:p>
        </p:txBody>
      </p:sp>
      <p:sp>
        <p:nvSpPr>
          <p:cNvPr id="66" name="TextBox 65"/>
          <p:cNvSpPr txBox="1"/>
          <p:nvPr/>
        </p:nvSpPr>
        <p:spPr>
          <a:xfrm>
            <a:off x="2521457" y="5912258"/>
            <a:ext cx="779381" cy="276999"/>
          </a:xfrm>
          <a:prstGeom prst="rect">
            <a:avLst/>
          </a:prstGeom>
          <a:noFill/>
        </p:spPr>
        <p:txBody>
          <a:bodyPr wrap="none" rtlCol="0">
            <a:spAutoFit/>
          </a:bodyPr>
          <a:lstStyle/>
          <a:p>
            <a:r>
              <a:rPr lang="en-US" sz="1200"/>
              <a:t>o) 0.0054</a:t>
            </a:r>
            <a:endParaRPr lang="en-GB" sz="1200"/>
          </a:p>
        </p:txBody>
      </p:sp>
      <p:sp>
        <p:nvSpPr>
          <p:cNvPr id="67" name="TextBox 66"/>
          <p:cNvSpPr txBox="1"/>
          <p:nvPr/>
        </p:nvSpPr>
        <p:spPr>
          <a:xfrm>
            <a:off x="3556334" y="5915739"/>
            <a:ext cx="856325" cy="276999"/>
          </a:xfrm>
          <a:prstGeom prst="rect">
            <a:avLst/>
          </a:prstGeom>
          <a:noFill/>
        </p:spPr>
        <p:txBody>
          <a:bodyPr wrap="none" rtlCol="0">
            <a:spAutoFit/>
          </a:bodyPr>
          <a:lstStyle/>
          <a:p>
            <a:r>
              <a:rPr lang="en-US" sz="1200"/>
              <a:t>p) 0.00501</a:t>
            </a:r>
            <a:endParaRPr lang="en-GB" sz="1200"/>
          </a:p>
        </p:txBody>
      </p:sp>
      <p:sp>
        <p:nvSpPr>
          <p:cNvPr id="68" name="TextBox 67"/>
          <p:cNvSpPr txBox="1"/>
          <p:nvPr/>
        </p:nvSpPr>
        <p:spPr>
          <a:xfrm>
            <a:off x="4643639" y="5901349"/>
            <a:ext cx="777777" cy="276999"/>
          </a:xfrm>
          <a:prstGeom prst="rect">
            <a:avLst/>
          </a:prstGeom>
          <a:noFill/>
        </p:spPr>
        <p:txBody>
          <a:bodyPr wrap="none" rtlCol="0">
            <a:spAutoFit/>
          </a:bodyPr>
          <a:lstStyle/>
          <a:p>
            <a:r>
              <a:rPr lang="en-US" sz="1200"/>
              <a:t>q) 0.0505</a:t>
            </a:r>
            <a:endParaRPr lang="en-GB" sz="1200"/>
          </a:p>
        </p:txBody>
      </p:sp>
      <p:sp>
        <p:nvSpPr>
          <p:cNvPr id="69" name="Rectangle 68">
            <a:extLst>
              <a:ext uri="{FF2B5EF4-FFF2-40B4-BE49-F238E27FC236}">
                <a16:creationId xmlns:a16="http://schemas.microsoft.com/office/drawing/2014/main" id="{CEEF23AD-EA17-135A-DB95-1D1FECB286F3}"/>
              </a:ext>
            </a:extLst>
          </p:cNvPr>
          <p:cNvSpPr/>
          <p:nvPr/>
        </p:nvSpPr>
        <p:spPr>
          <a:xfrm>
            <a:off x="452130" y="646829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CEEF23AD-EA17-135A-DB95-1D1FECB286F3}"/>
              </a:ext>
            </a:extLst>
          </p:cNvPr>
          <p:cNvSpPr/>
          <p:nvPr/>
        </p:nvSpPr>
        <p:spPr>
          <a:xfrm>
            <a:off x="1496085" y="646829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1" name="Rectangle 70">
            <a:extLst>
              <a:ext uri="{FF2B5EF4-FFF2-40B4-BE49-F238E27FC236}">
                <a16:creationId xmlns:a16="http://schemas.microsoft.com/office/drawing/2014/main" id="{CEEF23AD-EA17-135A-DB95-1D1FECB286F3}"/>
              </a:ext>
            </a:extLst>
          </p:cNvPr>
          <p:cNvSpPr/>
          <p:nvPr/>
        </p:nvSpPr>
        <p:spPr>
          <a:xfrm>
            <a:off x="2551969" y="646829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2" name="Rectangle 71">
            <a:extLst>
              <a:ext uri="{FF2B5EF4-FFF2-40B4-BE49-F238E27FC236}">
                <a16:creationId xmlns:a16="http://schemas.microsoft.com/office/drawing/2014/main" id="{CEEF23AD-EA17-135A-DB95-1D1FECB286F3}"/>
              </a:ext>
            </a:extLst>
          </p:cNvPr>
          <p:cNvSpPr/>
          <p:nvPr/>
        </p:nvSpPr>
        <p:spPr>
          <a:xfrm>
            <a:off x="3626167" y="646829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3" name="Rectangle 72">
            <a:extLst>
              <a:ext uri="{FF2B5EF4-FFF2-40B4-BE49-F238E27FC236}">
                <a16:creationId xmlns:a16="http://schemas.microsoft.com/office/drawing/2014/main" id="{CEEF23AD-EA17-135A-DB95-1D1FECB286F3}"/>
              </a:ext>
            </a:extLst>
          </p:cNvPr>
          <p:cNvSpPr/>
          <p:nvPr/>
        </p:nvSpPr>
        <p:spPr>
          <a:xfrm>
            <a:off x="4677831" y="646829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4" name="TextBox 73"/>
          <p:cNvSpPr txBox="1"/>
          <p:nvPr/>
        </p:nvSpPr>
        <p:spPr>
          <a:xfrm>
            <a:off x="5690434" y="5896360"/>
            <a:ext cx="907621" cy="276999"/>
          </a:xfrm>
          <a:prstGeom prst="rect">
            <a:avLst/>
          </a:prstGeom>
          <a:noFill/>
        </p:spPr>
        <p:txBody>
          <a:bodyPr wrap="none" rtlCol="0">
            <a:spAutoFit/>
          </a:bodyPr>
          <a:lstStyle/>
          <a:p>
            <a:r>
              <a:rPr lang="en-US" sz="1200"/>
              <a:t>r) 0.005905</a:t>
            </a:r>
            <a:endParaRPr lang="en-GB" sz="1200"/>
          </a:p>
        </p:txBody>
      </p:sp>
      <p:sp>
        <p:nvSpPr>
          <p:cNvPr id="75" name="Rectangle 74">
            <a:extLst>
              <a:ext uri="{FF2B5EF4-FFF2-40B4-BE49-F238E27FC236}">
                <a16:creationId xmlns:a16="http://schemas.microsoft.com/office/drawing/2014/main" id="{CEEF23AD-EA17-135A-DB95-1D1FECB286F3}"/>
              </a:ext>
            </a:extLst>
          </p:cNvPr>
          <p:cNvSpPr/>
          <p:nvPr/>
        </p:nvSpPr>
        <p:spPr>
          <a:xfrm>
            <a:off x="5726933" y="646829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88" name="Straight Connector 87">
            <a:extLst>
              <a:ext uri="{FF2B5EF4-FFF2-40B4-BE49-F238E27FC236}">
                <a16:creationId xmlns:a16="http://schemas.microsoft.com/office/drawing/2014/main" id="{B4A988A4-03CD-D549-9F12-81AFECBDEF37}"/>
              </a:ext>
            </a:extLst>
          </p:cNvPr>
          <p:cNvCxnSpPr>
            <a:cxnSpLocks/>
          </p:cNvCxnSpPr>
          <p:nvPr/>
        </p:nvCxnSpPr>
        <p:spPr>
          <a:xfrm>
            <a:off x="912777" y="8828832"/>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89" name="Table 88"/>
          <p:cNvGraphicFramePr>
            <a:graphicFrameLocks noGrp="1"/>
          </p:cNvGraphicFramePr>
          <p:nvPr>
            <p:extLst>
              <p:ext uri="{D42A27DB-BD31-4B8C-83A1-F6EECF244321}">
                <p14:modId xmlns:p14="http://schemas.microsoft.com/office/powerpoint/2010/main" val="1673789452"/>
              </p:ext>
            </p:extLst>
          </p:nvPr>
        </p:nvGraphicFramePr>
        <p:xfrm>
          <a:off x="114518" y="7384459"/>
          <a:ext cx="6543680" cy="239268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18707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Round</a:t>
                      </a:r>
                      <a:r>
                        <a:rPr lang="en-US" sz="1200" b="0" baseline="0" dirty="0">
                          <a:solidFill>
                            <a:schemeClr val="tx1"/>
                          </a:solidFill>
                        </a:rPr>
                        <a:t> </a:t>
                      </a:r>
                      <a:r>
                        <a:rPr lang="en-US" sz="1200" b="0" dirty="0">
                          <a:solidFill>
                            <a:schemeClr val="tx1"/>
                          </a:solidFill>
                        </a:rPr>
                        <a:t>to 2 significant figures</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550207">
                <a:tc>
                  <a:txBody>
                    <a:bodyPr/>
                    <a:lstStyle/>
                    <a:p>
                      <a:pPr marL="0" indent="0">
                        <a:buNone/>
                      </a:pPr>
                      <a:r>
                        <a:rPr lang="en-US" sz="1100"/>
                        <a:t>1)</a:t>
                      </a:r>
                      <a:r>
                        <a:rPr lang="en-US" sz="1100" baseline="0"/>
                        <a:t> </a:t>
                      </a:r>
                      <a:r>
                        <a:rPr lang="en-US" sz="1100"/>
                        <a:t>Draw a line between</a:t>
                      </a:r>
                      <a:r>
                        <a:rPr lang="en-US" sz="1100" baseline="0"/>
                        <a:t> the </a:t>
                      </a:r>
                      <a:r>
                        <a:rPr lang="en-US" sz="1100" b="1" baseline="0"/>
                        <a:t>second and third </a:t>
                      </a:r>
                      <a:r>
                        <a:rPr lang="en-US" sz="1100" baseline="0"/>
                        <a:t>significant figure.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501159">
                <a:tc>
                  <a:txBody>
                    <a:bodyPr/>
                    <a:lstStyle/>
                    <a:p>
                      <a:pPr marL="0" indent="0">
                        <a:buNone/>
                      </a:pPr>
                      <a:r>
                        <a:rPr lang="en-US" sz="1100"/>
                        <a:t>2) If the </a:t>
                      </a:r>
                      <a:r>
                        <a:rPr lang="en-US" sz="1100" baseline="0"/>
                        <a:t>3</a:t>
                      </a:r>
                      <a:r>
                        <a:rPr lang="en-US" sz="1100" baseline="30000"/>
                        <a:t>rd</a:t>
                      </a:r>
                      <a:r>
                        <a:rPr lang="en-US" sz="1100" baseline="0"/>
                        <a:t> significant figure is </a:t>
                      </a:r>
                      <a:r>
                        <a:rPr lang="en-US" sz="1100" b="1" baseline="0"/>
                        <a:t>5 or above</a:t>
                      </a:r>
                      <a:r>
                        <a:rPr lang="en-US" sz="1100" baseline="0"/>
                        <a:t>, the 2</a:t>
                      </a:r>
                      <a:r>
                        <a:rPr lang="en-US" sz="1100" baseline="30000"/>
                        <a:t>nd</a:t>
                      </a:r>
                      <a:r>
                        <a:rPr lang="en-US" sz="1100" baseline="0"/>
                        <a:t> significant figure rounds </a:t>
                      </a:r>
                      <a:r>
                        <a:rPr lang="en-US" sz="1100" b="1" baseline="0"/>
                        <a:t>up.  </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433565">
                <a:tc>
                  <a:txBody>
                    <a:bodyPr/>
                    <a:lstStyle/>
                    <a:p>
                      <a:pPr marL="0" indent="0">
                        <a:buNone/>
                      </a:pPr>
                      <a:r>
                        <a:rPr lang="en-US" sz="1100" dirty="0"/>
                        <a:t>3) If the </a:t>
                      </a:r>
                      <a:r>
                        <a:rPr lang="en-US" sz="1100" baseline="0" dirty="0"/>
                        <a:t>3</a:t>
                      </a:r>
                      <a:r>
                        <a:rPr lang="en-US" sz="1100" baseline="30000" dirty="0"/>
                        <a:t>rd</a:t>
                      </a:r>
                      <a:r>
                        <a:rPr lang="en-US" sz="1100" baseline="0" dirty="0"/>
                        <a:t> significant figure is </a:t>
                      </a:r>
                      <a:r>
                        <a:rPr lang="en-US" sz="1100" b="1" baseline="0" dirty="0"/>
                        <a:t>4 or below</a:t>
                      </a:r>
                      <a:r>
                        <a:rPr lang="en-US" sz="1100" baseline="0" dirty="0"/>
                        <a:t>, the 2</a:t>
                      </a:r>
                      <a:r>
                        <a:rPr lang="en-US" sz="1100" baseline="30000" dirty="0"/>
                        <a:t>nd</a:t>
                      </a:r>
                      <a:r>
                        <a:rPr lang="en-US" sz="1100" baseline="0" dirty="0"/>
                        <a:t> significant figure stays the same.</a:t>
                      </a:r>
                      <a:endParaRPr lang="en-US" sz="11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p:sp>
        <p:nvSpPr>
          <p:cNvPr id="92" name="TextBox 91"/>
          <p:cNvSpPr txBox="1"/>
          <p:nvPr/>
        </p:nvSpPr>
        <p:spPr>
          <a:xfrm>
            <a:off x="1870603" y="7671466"/>
            <a:ext cx="1419715" cy="1569660"/>
          </a:xfrm>
          <a:prstGeom prst="rect">
            <a:avLst/>
          </a:prstGeom>
          <a:noFill/>
        </p:spPr>
        <p:txBody>
          <a:bodyPr wrap="square" rtlCol="0">
            <a:spAutoFit/>
          </a:bodyPr>
          <a:lstStyle/>
          <a:p>
            <a:pPr algn="ctr"/>
            <a:r>
              <a:rPr lang="en-US" sz="1200"/>
              <a:t>Round 467 to two significant figures</a:t>
            </a:r>
          </a:p>
          <a:p>
            <a:pPr algn="ctr"/>
            <a:endParaRPr lang="en-US" sz="1200"/>
          </a:p>
          <a:p>
            <a:pPr algn="ctr"/>
            <a:endParaRPr lang="en-US" sz="1200"/>
          </a:p>
          <a:p>
            <a:pPr algn="ctr"/>
            <a:r>
              <a:rPr lang="en-US" sz="1200"/>
              <a:t>4    6  |  </a:t>
            </a:r>
            <a:r>
              <a:rPr lang="en-US" sz="1200" u="sng"/>
              <a:t>7</a:t>
            </a:r>
          </a:p>
          <a:p>
            <a:pPr algn="ctr"/>
            <a:endParaRPr lang="en-US" sz="1200"/>
          </a:p>
          <a:p>
            <a:pPr algn="ctr"/>
            <a:endParaRPr lang="en-US" sz="1200"/>
          </a:p>
          <a:p>
            <a:pPr algn="ctr"/>
            <a:endParaRPr lang="en-US" sz="1200" u="sng"/>
          </a:p>
        </p:txBody>
      </p:sp>
      <p:sp>
        <p:nvSpPr>
          <p:cNvPr id="93" name="Rectangle 92">
            <a:extLst>
              <a:ext uri="{FF2B5EF4-FFF2-40B4-BE49-F238E27FC236}">
                <a16:creationId xmlns:a16="http://schemas.microsoft.com/office/drawing/2014/main" id="{CEEF23AD-EA17-135A-DB95-1D1FECB286F3}"/>
              </a:ext>
            </a:extLst>
          </p:cNvPr>
          <p:cNvSpPr/>
          <p:nvPr/>
        </p:nvSpPr>
        <p:spPr>
          <a:xfrm>
            <a:off x="1767098" y="9368302"/>
            <a:ext cx="1449248" cy="30749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5" name="Rectangle 94">
            <a:extLst>
              <a:ext uri="{FF2B5EF4-FFF2-40B4-BE49-F238E27FC236}">
                <a16:creationId xmlns:a16="http://schemas.microsoft.com/office/drawing/2014/main" id="{CEEF23AD-EA17-135A-DB95-1D1FECB286F3}"/>
              </a:ext>
            </a:extLst>
          </p:cNvPr>
          <p:cNvSpPr/>
          <p:nvPr/>
        </p:nvSpPr>
        <p:spPr>
          <a:xfrm>
            <a:off x="3469914" y="9368302"/>
            <a:ext cx="1449248" cy="31438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0" name="TextBox 99"/>
          <p:cNvSpPr txBox="1"/>
          <p:nvPr/>
        </p:nvSpPr>
        <p:spPr>
          <a:xfrm>
            <a:off x="3481824" y="7711270"/>
            <a:ext cx="1419715" cy="1015663"/>
          </a:xfrm>
          <a:prstGeom prst="rect">
            <a:avLst/>
          </a:prstGeom>
          <a:noFill/>
        </p:spPr>
        <p:txBody>
          <a:bodyPr wrap="square" rtlCol="0">
            <a:spAutoFit/>
          </a:bodyPr>
          <a:lstStyle/>
          <a:p>
            <a:pPr algn="ctr"/>
            <a:r>
              <a:rPr lang="en-US" sz="1200"/>
              <a:t>Round 4670 to two significant figures</a:t>
            </a:r>
          </a:p>
          <a:p>
            <a:pPr algn="ctr"/>
            <a:endParaRPr lang="en-US" sz="1200"/>
          </a:p>
          <a:p>
            <a:pPr algn="ctr"/>
            <a:endParaRPr lang="en-US" sz="1200"/>
          </a:p>
          <a:p>
            <a:pPr algn="ctr"/>
            <a:endParaRPr lang="en-US" sz="1200" u="sng"/>
          </a:p>
        </p:txBody>
      </p:sp>
      <p:sp>
        <p:nvSpPr>
          <p:cNvPr id="102" name="TextBox 101"/>
          <p:cNvSpPr txBox="1"/>
          <p:nvPr/>
        </p:nvSpPr>
        <p:spPr>
          <a:xfrm>
            <a:off x="5123752" y="7697859"/>
            <a:ext cx="1419715" cy="1015663"/>
          </a:xfrm>
          <a:prstGeom prst="rect">
            <a:avLst/>
          </a:prstGeom>
          <a:noFill/>
        </p:spPr>
        <p:txBody>
          <a:bodyPr wrap="square" rtlCol="0">
            <a:spAutoFit/>
          </a:bodyPr>
          <a:lstStyle/>
          <a:p>
            <a:pPr algn="ctr"/>
            <a:r>
              <a:rPr lang="en-US" sz="1200"/>
              <a:t>Round 7592 to two significant figures</a:t>
            </a:r>
          </a:p>
          <a:p>
            <a:pPr algn="ctr"/>
            <a:endParaRPr lang="en-US" sz="1200"/>
          </a:p>
          <a:p>
            <a:pPr algn="ctr"/>
            <a:endParaRPr lang="en-US" sz="1200"/>
          </a:p>
          <a:p>
            <a:pPr algn="ctr"/>
            <a:endParaRPr lang="en-US" sz="1200" u="sng"/>
          </a:p>
        </p:txBody>
      </p:sp>
      <p:sp>
        <p:nvSpPr>
          <p:cNvPr id="104" name="TextBox 103">
            <a:extLst>
              <a:ext uri="{FF2B5EF4-FFF2-40B4-BE49-F238E27FC236}">
                <a16:creationId xmlns:a16="http://schemas.microsoft.com/office/drawing/2014/main" id="{BCDC1A2B-2D26-C945-B722-18950FA49879}"/>
              </a:ext>
            </a:extLst>
          </p:cNvPr>
          <p:cNvSpPr txBox="1"/>
          <p:nvPr/>
        </p:nvSpPr>
        <p:spPr>
          <a:xfrm>
            <a:off x="1945196" y="7089471"/>
            <a:ext cx="1410704" cy="276999"/>
          </a:xfrm>
          <a:prstGeom prst="rect">
            <a:avLst/>
          </a:prstGeom>
          <a:noFill/>
          <a:ln>
            <a:noFill/>
          </a:ln>
        </p:spPr>
        <p:txBody>
          <a:bodyPr wrap="square" rtlCol="0">
            <a:spAutoFit/>
          </a:bodyPr>
          <a:lstStyle/>
          <a:p>
            <a:r>
              <a:rPr lang="en-GB" sz="1200" b="1" i="1">
                <a:solidFill>
                  <a:srgbClr val="FF0000"/>
                </a:solidFill>
              </a:rPr>
              <a:t>Example 13 - I do…</a:t>
            </a:r>
          </a:p>
        </p:txBody>
      </p:sp>
      <p:sp>
        <p:nvSpPr>
          <p:cNvPr id="105" name="TextBox 104">
            <a:extLst>
              <a:ext uri="{FF2B5EF4-FFF2-40B4-BE49-F238E27FC236}">
                <a16:creationId xmlns:a16="http://schemas.microsoft.com/office/drawing/2014/main" id="{4AF4150A-9218-D640-8777-2ECCBC4D10FB}"/>
              </a:ext>
            </a:extLst>
          </p:cNvPr>
          <p:cNvSpPr txBox="1"/>
          <p:nvPr/>
        </p:nvSpPr>
        <p:spPr>
          <a:xfrm>
            <a:off x="5079093" y="7067363"/>
            <a:ext cx="1643405" cy="276999"/>
          </a:xfrm>
          <a:prstGeom prst="rect">
            <a:avLst/>
          </a:prstGeom>
          <a:noFill/>
          <a:ln>
            <a:noFill/>
          </a:ln>
        </p:spPr>
        <p:txBody>
          <a:bodyPr wrap="square" rtlCol="0">
            <a:spAutoFit/>
          </a:bodyPr>
          <a:lstStyle/>
          <a:p>
            <a:r>
              <a:rPr lang="en-GB" sz="1200" b="1" i="1">
                <a:solidFill>
                  <a:srgbClr val="00B050"/>
                </a:solidFill>
              </a:rPr>
              <a:t>Example 15 – You do…</a:t>
            </a:r>
          </a:p>
        </p:txBody>
      </p:sp>
      <p:sp>
        <p:nvSpPr>
          <p:cNvPr id="106" name="TextBox 105">
            <a:extLst>
              <a:ext uri="{FF2B5EF4-FFF2-40B4-BE49-F238E27FC236}">
                <a16:creationId xmlns:a16="http://schemas.microsoft.com/office/drawing/2014/main" id="{BCDC1A2B-2D26-C945-B722-18950FA49879}"/>
              </a:ext>
            </a:extLst>
          </p:cNvPr>
          <p:cNvSpPr txBox="1"/>
          <p:nvPr/>
        </p:nvSpPr>
        <p:spPr>
          <a:xfrm>
            <a:off x="3469914" y="7079464"/>
            <a:ext cx="1667605" cy="276999"/>
          </a:xfrm>
          <a:prstGeom prst="rect">
            <a:avLst/>
          </a:prstGeom>
          <a:noFill/>
          <a:ln>
            <a:noFill/>
          </a:ln>
        </p:spPr>
        <p:txBody>
          <a:bodyPr wrap="square" rtlCol="0">
            <a:spAutoFit/>
          </a:bodyPr>
          <a:lstStyle/>
          <a:p>
            <a:r>
              <a:rPr lang="en-GB" sz="1200" b="1" i="1">
                <a:solidFill>
                  <a:schemeClr val="accent2"/>
                </a:solidFill>
              </a:rPr>
              <a:t>Example 14 - We do…</a:t>
            </a:r>
          </a:p>
        </p:txBody>
      </p:sp>
      <p:sp>
        <p:nvSpPr>
          <p:cNvPr id="107" name="Rectangle 106">
            <a:extLst>
              <a:ext uri="{FF2B5EF4-FFF2-40B4-BE49-F238E27FC236}">
                <a16:creationId xmlns:a16="http://schemas.microsoft.com/office/drawing/2014/main" id="{CEEF23AD-EA17-135A-DB95-1D1FECB286F3}"/>
              </a:ext>
            </a:extLst>
          </p:cNvPr>
          <p:cNvSpPr/>
          <p:nvPr/>
        </p:nvSpPr>
        <p:spPr>
          <a:xfrm>
            <a:off x="5064056" y="9368302"/>
            <a:ext cx="1449248" cy="325479"/>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8"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26</a:t>
            </a:fld>
            <a:endParaRPr lang="en-GB"/>
          </a:p>
        </p:txBody>
      </p:sp>
      <p:sp>
        <p:nvSpPr>
          <p:cNvPr id="2" name="Rectangle 1">
            <a:extLst>
              <a:ext uri="{FF2B5EF4-FFF2-40B4-BE49-F238E27FC236}">
                <a16:creationId xmlns:a16="http://schemas.microsoft.com/office/drawing/2014/main" id="{872E73B1-4537-4AB5-F353-194B87E1ECEE}"/>
              </a:ext>
            </a:extLst>
          </p:cNvPr>
          <p:cNvSpPr/>
          <p:nvPr/>
        </p:nvSpPr>
        <p:spPr>
          <a:xfrm>
            <a:off x="112607" y="343214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3" name="Rectangle 2">
            <a:extLst>
              <a:ext uri="{FF2B5EF4-FFF2-40B4-BE49-F238E27FC236}">
                <a16:creationId xmlns:a16="http://schemas.microsoft.com/office/drawing/2014/main" id="{23566326-E16C-5925-0A38-ED29CD9CFDD3}"/>
              </a:ext>
            </a:extLst>
          </p:cNvPr>
          <p:cNvSpPr/>
          <p:nvPr/>
        </p:nvSpPr>
        <p:spPr>
          <a:xfrm>
            <a:off x="108597" y="6915579"/>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Rounding to two significant figures.</a:t>
            </a:r>
            <a:endParaRPr lang="en-GB" sz="1200">
              <a:solidFill>
                <a:schemeClr val="bg1"/>
              </a:solidFill>
            </a:endParaRPr>
          </a:p>
        </p:txBody>
      </p:sp>
    </p:spTree>
    <p:extLst>
      <p:ext uri="{BB962C8B-B14F-4D97-AF65-F5344CB8AC3E}">
        <p14:creationId xmlns:p14="http://schemas.microsoft.com/office/powerpoint/2010/main" val="14412305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34616" y="138047"/>
            <a:ext cx="3089564" cy="276999"/>
          </a:xfrm>
          <a:prstGeom prst="rect">
            <a:avLst/>
          </a:prstGeom>
          <a:noFill/>
        </p:spPr>
        <p:txBody>
          <a:bodyPr wrap="none" rtlCol="0">
            <a:spAutoFit/>
          </a:bodyPr>
          <a:lstStyle/>
          <a:p>
            <a:r>
              <a:rPr lang="en-US" sz="1200"/>
              <a:t>5. Round each number to 2 significant figures. </a:t>
            </a:r>
            <a:endParaRPr lang="en-GB" sz="1200"/>
          </a:p>
        </p:txBody>
      </p:sp>
      <p:sp>
        <p:nvSpPr>
          <p:cNvPr id="5" name="TextBox 4"/>
          <p:cNvSpPr txBox="1"/>
          <p:nvPr/>
        </p:nvSpPr>
        <p:spPr>
          <a:xfrm>
            <a:off x="356320" y="618438"/>
            <a:ext cx="575799" cy="276999"/>
          </a:xfrm>
          <a:prstGeom prst="rect">
            <a:avLst/>
          </a:prstGeom>
          <a:noFill/>
        </p:spPr>
        <p:txBody>
          <a:bodyPr wrap="none" rtlCol="0">
            <a:spAutoFit/>
          </a:bodyPr>
          <a:lstStyle/>
          <a:p>
            <a:r>
              <a:rPr lang="en-US" sz="1200"/>
              <a:t>a) 314</a:t>
            </a:r>
            <a:endParaRPr lang="en-GB" sz="1200"/>
          </a:p>
        </p:txBody>
      </p:sp>
      <p:sp>
        <p:nvSpPr>
          <p:cNvPr id="6" name="TextBox 5"/>
          <p:cNvSpPr txBox="1"/>
          <p:nvPr/>
        </p:nvSpPr>
        <p:spPr>
          <a:xfrm>
            <a:off x="1408577" y="609735"/>
            <a:ext cx="582211" cy="276999"/>
          </a:xfrm>
          <a:prstGeom prst="rect">
            <a:avLst/>
          </a:prstGeom>
          <a:noFill/>
        </p:spPr>
        <p:txBody>
          <a:bodyPr wrap="none" rtlCol="0">
            <a:spAutoFit/>
          </a:bodyPr>
          <a:lstStyle/>
          <a:p>
            <a:r>
              <a:rPr lang="en-US" sz="1200"/>
              <a:t>b) 351</a:t>
            </a:r>
            <a:endParaRPr lang="en-GB" sz="1200"/>
          </a:p>
        </p:txBody>
      </p:sp>
      <p:sp>
        <p:nvSpPr>
          <p:cNvPr id="7" name="TextBox 6"/>
          <p:cNvSpPr txBox="1"/>
          <p:nvPr/>
        </p:nvSpPr>
        <p:spPr>
          <a:xfrm>
            <a:off x="2485236" y="609736"/>
            <a:ext cx="567784" cy="276999"/>
          </a:xfrm>
          <a:prstGeom prst="rect">
            <a:avLst/>
          </a:prstGeom>
          <a:noFill/>
        </p:spPr>
        <p:txBody>
          <a:bodyPr wrap="none" rtlCol="0">
            <a:spAutoFit/>
          </a:bodyPr>
          <a:lstStyle/>
          <a:p>
            <a:r>
              <a:rPr lang="en-US" sz="1200"/>
              <a:t>c) 392</a:t>
            </a:r>
            <a:endParaRPr lang="en-GB" sz="1200"/>
          </a:p>
        </p:txBody>
      </p:sp>
      <p:sp>
        <p:nvSpPr>
          <p:cNvPr id="8" name="TextBox 7"/>
          <p:cNvSpPr txBox="1"/>
          <p:nvPr/>
        </p:nvSpPr>
        <p:spPr>
          <a:xfrm>
            <a:off x="3492282" y="632828"/>
            <a:ext cx="582211" cy="276999"/>
          </a:xfrm>
          <a:prstGeom prst="rect">
            <a:avLst/>
          </a:prstGeom>
          <a:noFill/>
        </p:spPr>
        <p:txBody>
          <a:bodyPr wrap="none" rtlCol="0">
            <a:spAutoFit/>
          </a:bodyPr>
          <a:lstStyle/>
          <a:p>
            <a:r>
              <a:rPr lang="en-US" sz="1200"/>
              <a:t>d) 395</a:t>
            </a:r>
            <a:endParaRPr lang="en-GB" sz="1200"/>
          </a:p>
        </p:txBody>
      </p:sp>
      <p:sp>
        <p:nvSpPr>
          <p:cNvPr id="9" name="TextBox 8"/>
          <p:cNvSpPr txBox="1"/>
          <p:nvPr/>
        </p:nvSpPr>
        <p:spPr>
          <a:xfrm>
            <a:off x="4596045" y="629348"/>
            <a:ext cx="579005" cy="276999"/>
          </a:xfrm>
          <a:prstGeom prst="rect">
            <a:avLst/>
          </a:prstGeom>
          <a:noFill/>
        </p:spPr>
        <p:txBody>
          <a:bodyPr wrap="none" rtlCol="0">
            <a:spAutoFit/>
          </a:bodyPr>
          <a:lstStyle/>
          <a:p>
            <a:r>
              <a:rPr lang="en-US" sz="1200"/>
              <a:t>e) 405</a:t>
            </a:r>
            <a:endParaRPr lang="en-GB" sz="1200"/>
          </a:p>
        </p:txBody>
      </p:sp>
      <p:sp>
        <p:nvSpPr>
          <p:cNvPr id="10" name="Rectangle 9">
            <a:extLst>
              <a:ext uri="{FF2B5EF4-FFF2-40B4-BE49-F238E27FC236}">
                <a16:creationId xmlns:a16="http://schemas.microsoft.com/office/drawing/2014/main" id="{CEEF23AD-EA17-135A-DB95-1D1FECB286F3}"/>
              </a:ext>
            </a:extLst>
          </p:cNvPr>
          <p:cNvSpPr/>
          <p:nvPr/>
        </p:nvSpPr>
        <p:spPr>
          <a:xfrm>
            <a:off x="388078" y="1191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1" name="Rectangle 10">
            <a:extLst>
              <a:ext uri="{FF2B5EF4-FFF2-40B4-BE49-F238E27FC236}">
                <a16:creationId xmlns:a16="http://schemas.microsoft.com/office/drawing/2014/main" id="{CEEF23AD-EA17-135A-DB95-1D1FECB286F3}"/>
              </a:ext>
            </a:extLst>
          </p:cNvPr>
          <p:cNvSpPr/>
          <p:nvPr/>
        </p:nvSpPr>
        <p:spPr>
          <a:xfrm>
            <a:off x="1432033" y="1191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2" name="Rectangle 11">
            <a:extLst>
              <a:ext uri="{FF2B5EF4-FFF2-40B4-BE49-F238E27FC236}">
                <a16:creationId xmlns:a16="http://schemas.microsoft.com/office/drawing/2014/main" id="{CEEF23AD-EA17-135A-DB95-1D1FECB286F3}"/>
              </a:ext>
            </a:extLst>
          </p:cNvPr>
          <p:cNvSpPr/>
          <p:nvPr/>
        </p:nvSpPr>
        <p:spPr>
          <a:xfrm>
            <a:off x="2487917" y="1191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 name="Rectangle 12">
            <a:extLst>
              <a:ext uri="{FF2B5EF4-FFF2-40B4-BE49-F238E27FC236}">
                <a16:creationId xmlns:a16="http://schemas.microsoft.com/office/drawing/2014/main" id="{CEEF23AD-EA17-135A-DB95-1D1FECB286F3}"/>
              </a:ext>
            </a:extLst>
          </p:cNvPr>
          <p:cNvSpPr/>
          <p:nvPr/>
        </p:nvSpPr>
        <p:spPr>
          <a:xfrm>
            <a:off x="3562115" y="1191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 name="Rectangle 13">
            <a:extLst>
              <a:ext uri="{FF2B5EF4-FFF2-40B4-BE49-F238E27FC236}">
                <a16:creationId xmlns:a16="http://schemas.microsoft.com/office/drawing/2014/main" id="{CEEF23AD-EA17-135A-DB95-1D1FECB286F3}"/>
              </a:ext>
            </a:extLst>
          </p:cNvPr>
          <p:cNvSpPr/>
          <p:nvPr/>
        </p:nvSpPr>
        <p:spPr>
          <a:xfrm>
            <a:off x="4613779" y="1191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 name="TextBox 14"/>
          <p:cNvSpPr txBox="1"/>
          <p:nvPr/>
        </p:nvSpPr>
        <p:spPr>
          <a:xfrm>
            <a:off x="5691058" y="654995"/>
            <a:ext cx="550792" cy="276999"/>
          </a:xfrm>
          <a:prstGeom prst="rect">
            <a:avLst/>
          </a:prstGeom>
          <a:noFill/>
        </p:spPr>
        <p:txBody>
          <a:bodyPr wrap="none" rtlCol="0">
            <a:spAutoFit/>
          </a:bodyPr>
          <a:lstStyle/>
          <a:p>
            <a:r>
              <a:rPr lang="en-US" sz="1200"/>
              <a:t>f) 455</a:t>
            </a:r>
            <a:endParaRPr lang="en-GB" sz="1200"/>
          </a:p>
        </p:txBody>
      </p:sp>
      <p:sp>
        <p:nvSpPr>
          <p:cNvPr id="16" name="Rectangle 15">
            <a:extLst>
              <a:ext uri="{FF2B5EF4-FFF2-40B4-BE49-F238E27FC236}">
                <a16:creationId xmlns:a16="http://schemas.microsoft.com/office/drawing/2014/main" id="{CEEF23AD-EA17-135A-DB95-1D1FECB286F3}"/>
              </a:ext>
            </a:extLst>
          </p:cNvPr>
          <p:cNvSpPr/>
          <p:nvPr/>
        </p:nvSpPr>
        <p:spPr>
          <a:xfrm>
            <a:off x="5662881" y="1191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7" name="TextBox 16"/>
          <p:cNvSpPr txBox="1"/>
          <p:nvPr/>
        </p:nvSpPr>
        <p:spPr>
          <a:xfrm>
            <a:off x="388078" y="1652761"/>
            <a:ext cx="652743" cy="276999"/>
          </a:xfrm>
          <a:prstGeom prst="rect">
            <a:avLst/>
          </a:prstGeom>
          <a:noFill/>
        </p:spPr>
        <p:txBody>
          <a:bodyPr wrap="none" rtlCol="0">
            <a:spAutoFit/>
          </a:bodyPr>
          <a:lstStyle/>
          <a:p>
            <a:r>
              <a:rPr lang="en-US" sz="1200"/>
              <a:t>g) 1200</a:t>
            </a:r>
            <a:endParaRPr lang="en-GB" sz="1200"/>
          </a:p>
        </p:txBody>
      </p:sp>
      <p:sp>
        <p:nvSpPr>
          <p:cNvPr id="18" name="TextBox 17"/>
          <p:cNvSpPr txBox="1"/>
          <p:nvPr/>
        </p:nvSpPr>
        <p:spPr>
          <a:xfrm>
            <a:off x="1440335" y="1644058"/>
            <a:ext cx="660758" cy="276999"/>
          </a:xfrm>
          <a:prstGeom prst="rect">
            <a:avLst/>
          </a:prstGeom>
          <a:noFill/>
        </p:spPr>
        <p:txBody>
          <a:bodyPr wrap="none" rtlCol="0">
            <a:spAutoFit/>
          </a:bodyPr>
          <a:lstStyle/>
          <a:p>
            <a:r>
              <a:rPr lang="en-US" sz="1200"/>
              <a:t>h) 1250</a:t>
            </a:r>
            <a:endParaRPr lang="en-GB" sz="1200"/>
          </a:p>
        </p:txBody>
      </p:sp>
      <p:sp>
        <p:nvSpPr>
          <p:cNvPr id="19" name="TextBox 18"/>
          <p:cNvSpPr txBox="1"/>
          <p:nvPr/>
        </p:nvSpPr>
        <p:spPr>
          <a:xfrm>
            <a:off x="2516994" y="1644059"/>
            <a:ext cx="615874" cy="276999"/>
          </a:xfrm>
          <a:prstGeom prst="rect">
            <a:avLst/>
          </a:prstGeom>
          <a:noFill/>
        </p:spPr>
        <p:txBody>
          <a:bodyPr wrap="none" rtlCol="0">
            <a:spAutoFit/>
          </a:bodyPr>
          <a:lstStyle/>
          <a:p>
            <a:r>
              <a:rPr lang="en-US" sz="1200"/>
              <a:t>i) 1255</a:t>
            </a:r>
            <a:endParaRPr lang="en-GB" sz="1200"/>
          </a:p>
        </p:txBody>
      </p:sp>
      <p:sp>
        <p:nvSpPr>
          <p:cNvPr id="20" name="TextBox 19"/>
          <p:cNvSpPr txBox="1"/>
          <p:nvPr/>
        </p:nvSpPr>
        <p:spPr>
          <a:xfrm>
            <a:off x="3524040" y="1667151"/>
            <a:ext cx="617477" cy="276999"/>
          </a:xfrm>
          <a:prstGeom prst="rect">
            <a:avLst/>
          </a:prstGeom>
          <a:noFill/>
        </p:spPr>
        <p:txBody>
          <a:bodyPr wrap="none" rtlCol="0">
            <a:spAutoFit/>
          </a:bodyPr>
          <a:lstStyle/>
          <a:p>
            <a:r>
              <a:rPr lang="en-US" sz="1200"/>
              <a:t>j) 2359</a:t>
            </a:r>
            <a:endParaRPr lang="en-GB" sz="1200"/>
          </a:p>
        </p:txBody>
      </p:sp>
      <p:sp>
        <p:nvSpPr>
          <p:cNvPr id="21" name="TextBox 20"/>
          <p:cNvSpPr txBox="1"/>
          <p:nvPr/>
        </p:nvSpPr>
        <p:spPr>
          <a:xfrm>
            <a:off x="4627803" y="1663671"/>
            <a:ext cx="651140" cy="276999"/>
          </a:xfrm>
          <a:prstGeom prst="rect">
            <a:avLst/>
          </a:prstGeom>
          <a:noFill/>
        </p:spPr>
        <p:txBody>
          <a:bodyPr wrap="none" rtlCol="0">
            <a:spAutoFit/>
          </a:bodyPr>
          <a:lstStyle/>
          <a:p>
            <a:r>
              <a:rPr lang="en-US" sz="1200"/>
              <a:t>k) 4395</a:t>
            </a:r>
            <a:endParaRPr lang="en-GB" sz="1200"/>
          </a:p>
        </p:txBody>
      </p:sp>
      <p:sp>
        <p:nvSpPr>
          <p:cNvPr id="22" name="Rectangle 21">
            <a:extLst>
              <a:ext uri="{FF2B5EF4-FFF2-40B4-BE49-F238E27FC236}">
                <a16:creationId xmlns:a16="http://schemas.microsoft.com/office/drawing/2014/main" id="{CEEF23AD-EA17-135A-DB95-1D1FECB286F3}"/>
              </a:ext>
            </a:extLst>
          </p:cNvPr>
          <p:cNvSpPr/>
          <p:nvPr/>
        </p:nvSpPr>
        <p:spPr>
          <a:xfrm>
            <a:off x="388078" y="2188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3" name="Rectangle 22">
            <a:extLst>
              <a:ext uri="{FF2B5EF4-FFF2-40B4-BE49-F238E27FC236}">
                <a16:creationId xmlns:a16="http://schemas.microsoft.com/office/drawing/2014/main" id="{CEEF23AD-EA17-135A-DB95-1D1FECB286F3}"/>
              </a:ext>
            </a:extLst>
          </p:cNvPr>
          <p:cNvSpPr/>
          <p:nvPr/>
        </p:nvSpPr>
        <p:spPr>
          <a:xfrm>
            <a:off x="1432033" y="2188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4" name="Rectangle 23">
            <a:extLst>
              <a:ext uri="{FF2B5EF4-FFF2-40B4-BE49-F238E27FC236}">
                <a16:creationId xmlns:a16="http://schemas.microsoft.com/office/drawing/2014/main" id="{CEEF23AD-EA17-135A-DB95-1D1FECB286F3}"/>
              </a:ext>
            </a:extLst>
          </p:cNvPr>
          <p:cNvSpPr/>
          <p:nvPr/>
        </p:nvSpPr>
        <p:spPr>
          <a:xfrm>
            <a:off x="2487917" y="2188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 name="Rectangle 24">
            <a:extLst>
              <a:ext uri="{FF2B5EF4-FFF2-40B4-BE49-F238E27FC236}">
                <a16:creationId xmlns:a16="http://schemas.microsoft.com/office/drawing/2014/main" id="{CEEF23AD-EA17-135A-DB95-1D1FECB286F3}"/>
              </a:ext>
            </a:extLst>
          </p:cNvPr>
          <p:cNvSpPr/>
          <p:nvPr/>
        </p:nvSpPr>
        <p:spPr>
          <a:xfrm>
            <a:off x="3562115" y="2188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6" name="Rectangle 25">
            <a:extLst>
              <a:ext uri="{FF2B5EF4-FFF2-40B4-BE49-F238E27FC236}">
                <a16:creationId xmlns:a16="http://schemas.microsoft.com/office/drawing/2014/main" id="{CEEF23AD-EA17-135A-DB95-1D1FECB286F3}"/>
              </a:ext>
            </a:extLst>
          </p:cNvPr>
          <p:cNvSpPr/>
          <p:nvPr/>
        </p:nvSpPr>
        <p:spPr>
          <a:xfrm>
            <a:off x="4613779" y="2188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7" name="TextBox 26"/>
          <p:cNvSpPr txBox="1"/>
          <p:nvPr/>
        </p:nvSpPr>
        <p:spPr>
          <a:xfrm>
            <a:off x="5722816" y="1689318"/>
            <a:ext cx="615874" cy="276999"/>
          </a:xfrm>
          <a:prstGeom prst="rect">
            <a:avLst/>
          </a:prstGeom>
          <a:noFill/>
        </p:spPr>
        <p:txBody>
          <a:bodyPr wrap="none" rtlCol="0">
            <a:spAutoFit/>
          </a:bodyPr>
          <a:lstStyle/>
          <a:p>
            <a:r>
              <a:rPr lang="en-US" sz="1200"/>
              <a:t>l) 5095</a:t>
            </a:r>
            <a:endParaRPr lang="en-GB" sz="1200"/>
          </a:p>
        </p:txBody>
      </p:sp>
      <p:sp>
        <p:nvSpPr>
          <p:cNvPr id="28" name="Rectangle 27">
            <a:extLst>
              <a:ext uri="{FF2B5EF4-FFF2-40B4-BE49-F238E27FC236}">
                <a16:creationId xmlns:a16="http://schemas.microsoft.com/office/drawing/2014/main" id="{CEEF23AD-EA17-135A-DB95-1D1FECB286F3}"/>
              </a:ext>
            </a:extLst>
          </p:cNvPr>
          <p:cNvSpPr/>
          <p:nvPr/>
        </p:nvSpPr>
        <p:spPr>
          <a:xfrm>
            <a:off x="5662881" y="2188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TextBox 28"/>
          <p:cNvSpPr txBox="1"/>
          <p:nvPr/>
        </p:nvSpPr>
        <p:spPr>
          <a:xfrm>
            <a:off x="369572" y="2654213"/>
            <a:ext cx="704039" cy="276999"/>
          </a:xfrm>
          <a:prstGeom prst="rect">
            <a:avLst/>
          </a:prstGeom>
          <a:noFill/>
        </p:spPr>
        <p:txBody>
          <a:bodyPr wrap="none" rtlCol="0">
            <a:spAutoFit/>
          </a:bodyPr>
          <a:lstStyle/>
          <a:p>
            <a:r>
              <a:rPr lang="en-US" sz="1200"/>
              <a:t>m) 7059</a:t>
            </a:r>
            <a:endParaRPr lang="en-GB" sz="1200"/>
          </a:p>
        </p:txBody>
      </p:sp>
      <p:sp>
        <p:nvSpPr>
          <p:cNvPr id="30" name="TextBox 29"/>
          <p:cNvSpPr txBox="1"/>
          <p:nvPr/>
        </p:nvSpPr>
        <p:spPr>
          <a:xfrm>
            <a:off x="1415541" y="2661559"/>
            <a:ext cx="660758" cy="276999"/>
          </a:xfrm>
          <a:prstGeom prst="rect">
            <a:avLst/>
          </a:prstGeom>
          <a:noFill/>
        </p:spPr>
        <p:txBody>
          <a:bodyPr wrap="none" rtlCol="0">
            <a:spAutoFit/>
          </a:bodyPr>
          <a:lstStyle/>
          <a:p>
            <a:r>
              <a:rPr lang="en-US" sz="1200"/>
              <a:t>n) 8679</a:t>
            </a:r>
            <a:endParaRPr lang="en-GB" sz="1200"/>
          </a:p>
        </p:txBody>
      </p:sp>
      <p:sp>
        <p:nvSpPr>
          <p:cNvPr id="31" name="TextBox 30"/>
          <p:cNvSpPr txBox="1"/>
          <p:nvPr/>
        </p:nvSpPr>
        <p:spPr>
          <a:xfrm>
            <a:off x="2457135" y="2674842"/>
            <a:ext cx="740908" cy="276999"/>
          </a:xfrm>
          <a:prstGeom prst="rect">
            <a:avLst/>
          </a:prstGeom>
          <a:noFill/>
        </p:spPr>
        <p:txBody>
          <a:bodyPr wrap="none" rtlCol="0">
            <a:spAutoFit/>
          </a:bodyPr>
          <a:lstStyle/>
          <a:p>
            <a:r>
              <a:rPr lang="en-US" sz="1200"/>
              <a:t>o) 12500</a:t>
            </a:r>
            <a:endParaRPr lang="en-GB" sz="1200"/>
          </a:p>
        </p:txBody>
      </p:sp>
      <p:sp>
        <p:nvSpPr>
          <p:cNvPr id="32" name="TextBox 31"/>
          <p:cNvSpPr txBox="1"/>
          <p:nvPr/>
        </p:nvSpPr>
        <p:spPr>
          <a:xfrm>
            <a:off x="3505534" y="2668603"/>
            <a:ext cx="739305" cy="276999"/>
          </a:xfrm>
          <a:prstGeom prst="rect">
            <a:avLst/>
          </a:prstGeom>
          <a:noFill/>
        </p:spPr>
        <p:txBody>
          <a:bodyPr wrap="none" rtlCol="0">
            <a:spAutoFit/>
          </a:bodyPr>
          <a:lstStyle/>
          <a:p>
            <a:r>
              <a:rPr lang="en-US" sz="1200"/>
              <a:t>p) 13550</a:t>
            </a:r>
            <a:endParaRPr lang="en-GB" sz="1200"/>
          </a:p>
        </p:txBody>
      </p:sp>
      <p:sp>
        <p:nvSpPr>
          <p:cNvPr id="33" name="TextBox 32"/>
          <p:cNvSpPr txBox="1"/>
          <p:nvPr/>
        </p:nvSpPr>
        <p:spPr>
          <a:xfrm>
            <a:off x="4592839" y="2654213"/>
            <a:ext cx="739305" cy="276999"/>
          </a:xfrm>
          <a:prstGeom prst="rect">
            <a:avLst/>
          </a:prstGeom>
          <a:noFill/>
        </p:spPr>
        <p:txBody>
          <a:bodyPr wrap="none" rtlCol="0">
            <a:spAutoFit/>
          </a:bodyPr>
          <a:lstStyle/>
          <a:p>
            <a:r>
              <a:rPr lang="en-US" sz="1200"/>
              <a:t>q) 14609</a:t>
            </a:r>
            <a:endParaRPr lang="en-GB" sz="1200"/>
          </a:p>
        </p:txBody>
      </p:sp>
      <p:sp>
        <p:nvSpPr>
          <p:cNvPr id="34" name="Rectangle 33">
            <a:extLst>
              <a:ext uri="{FF2B5EF4-FFF2-40B4-BE49-F238E27FC236}">
                <a16:creationId xmlns:a16="http://schemas.microsoft.com/office/drawing/2014/main" id="{CEEF23AD-EA17-135A-DB95-1D1FECB286F3}"/>
              </a:ext>
            </a:extLst>
          </p:cNvPr>
          <p:cNvSpPr/>
          <p:nvPr/>
        </p:nvSpPr>
        <p:spPr>
          <a:xfrm>
            <a:off x="401330" y="322116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5" name="Rectangle 34">
            <a:extLst>
              <a:ext uri="{FF2B5EF4-FFF2-40B4-BE49-F238E27FC236}">
                <a16:creationId xmlns:a16="http://schemas.microsoft.com/office/drawing/2014/main" id="{CEEF23AD-EA17-135A-DB95-1D1FECB286F3}"/>
              </a:ext>
            </a:extLst>
          </p:cNvPr>
          <p:cNvSpPr/>
          <p:nvPr/>
        </p:nvSpPr>
        <p:spPr>
          <a:xfrm>
            <a:off x="1445285" y="322116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6" name="Rectangle 35">
            <a:extLst>
              <a:ext uri="{FF2B5EF4-FFF2-40B4-BE49-F238E27FC236}">
                <a16:creationId xmlns:a16="http://schemas.microsoft.com/office/drawing/2014/main" id="{CEEF23AD-EA17-135A-DB95-1D1FECB286F3}"/>
              </a:ext>
            </a:extLst>
          </p:cNvPr>
          <p:cNvSpPr/>
          <p:nvPr/>
        </p:nvSpPr>
        <p:spPr>
          <a:xfrm>
            <a:off x="2501169" y="322116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7" name="Rectangle 36">
            <a:extLst>
              <a:ext uri="{FF2B5EF4-FFF2-40B4-BE49-F238E27FC236}">
                <a16:creationId xmlns:a16="http://schemas.microsoft.com/office/drawing/2014/main" id="{CEEF23AD-EA17-135A-DB95-1D1FECB286F3}"/>
              </a:ext>
            </a:extLst>
          </p:cNvPr>
          <p:cNvSpPr/>
          <p:nvPr/>
        </p:nvSpPr>
        <p:spPr>
          <a:xfrm>
            <a:off x="3575367" y="322116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8" name="Rectangle 37">
            <a:extLst>
              <a:ext uri="{FF2B5EF4-FFF2-40B4-BE49-F238E27FC236}">
                <a16:creationId xmlns:a16="http://schemas.microsoft.com/office/drawing/2014/main" id="{CEEF23AD-EA17-135A-DB95-1D1FECB286F3}"/>
              </a:ext>
            </a:extLst>
          </p:cNvPr>
          <p:cNvSpPr/>
          <p:nvPr/>
        </p:nvSpPr>
        <p:spPr>
          <a:xfrm>
            <a:off x="4627031" y="322116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9" name="TextBox 38"/>
          <p:cNvSpPr txBox="1"/>
          <p:nvPr/>
        </p:nvSpPr>
        <p:spPr>
          <a:xfrm>
            <a:off x="5639634" y="2649224"/>
            <a:ext cx="790601" cy="276999"/>
          </a:xfrm>
          <a:prstGeom prst="rect">
            <a:avLst/>
          </a:prstGeom>
          <a:noFill/>
        </p:spPr>
        <p:txBody>
          <a:bodyPr wrap="none" rtlCol="0">
            <a:spAutoFit/>
          </a:bodyPr>
          <a:lstStyle/>
          <a:p>
            <a:r>
              <a:rPr lang="en-US" sz="1200"/>
              <a:t>r) 156500</a:t>
            </a:r>
            <a:endParaRPr lang="en-GB" sz="1200"/>
          </a:p>
        </p:txBody>
      </p:sp>
      <p:sp>
        <p:nvSpPr>
          <p:cNvPr id="40" name="Rectangle 39">
            <a:extLst>
              <a:ext uri="{FF2B5EF4-FFF2-40B4-BE49-F238E27FC236}">
                <a16:creationId xmlns:a16="http://schemas.microsoft.com/office/drawing/2014/main" id="{CEEF23AD-EA17-135A-DB95-1D1FECB286F3}"/>
              </a:ext>
            </a:extLst>
          </p:cNvPr>
          <p:cNvSpPr/>
          <p:nvPr/>
        </p:nvSpPr>
        <p:spPr>
          <a:xfrm>
            <a:off x="5676133" y="322116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41" name="Straight Connector 40">
            <a:extLst>
              <a:ext uri="{FF2B5EF4-FFF2-40B4-BE49-F238E27FC236}">
                <a16:creationId xmlns:a16="http://schemas.microsoft.com/office/drawing/2014/main" id="{B4A988A4-03CD-D549-9F12-81AFECBDEF37}"/>
              </a:ext>
            </a:extLst>
          </p:cNvPr>
          <p:cNvCxnSpPr>
            <a:cxnSpLocks/>
          </p:cNvCxnSpPr>
          <p:nvPr/>
        </p:nvCxnSpPr>
        <p:spPr>
          <a:xfrm>
            <a:off x="948497" y="5477518"/>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42" name="Table 41"/>
          <p:cNvGraphicFramePr>
            <a:graphicFrameLocks noGrp="1"/>
          </p:cNvGraphicFramePr>
          <p:nvPr/>
        </p:nvGraphicFramePr>
        <p:xfrm>
          <a:off x="150238" y="4033145"/>
          <a:ext cx="6543680" cy="2938582"/>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32878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a:solidFill>
                            <a:schemeClr val="tx1"/>
                          </a:solidFill>
                        </a:rPr>
                        <a:t>Round to 2</a:t>
                      </a:r>
                      <a:r>
                        <a:rPr lang="en-US" sz="1100" b="1" baseline="0">
                          <a:solidFill>
                            <a:schemeClr val="tx1"/>
                          </a:solidFill>
                        </a:rPr>
                        <a:t> </a:t>
                      </a:r>
                      <a:r>
                        <a:rPr lang="en-US" sz="1100" b="1">
                          <a:solidFill>
                            <a:schemeClr val="tx1"/>
                          </a:solidFill>
                        </a:rPr>
                        <a:t>significant figures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67002">
                <a:tc>
                  <a:txBody>
                    <a:bodyPr/>
                    <a:lstStyle/>
                    <a:p>
                      <a:pPr marL="0" indent="0">
                        <a:buNone/>
                      </a:pPr>
                      <a:r>
                        <a:rPr lang="en-US" sz="1100"/>
                        <a:t>1)</a:t>
                      </a:r>
                      <a:r>
                        <a:rPr lang="en-US" sz="1100" baseline="0"/>
                        <a:t> </a:t>
                      </a:r>
                      <a:r>
                        <a:rPr lang="en-US" sz="1100"/>
                        <a:t>Draw a line between</a:t>
                      </a:r>
                      <a:r>
                        <a:rPr lang="en-US" sz="1100" baseline="0"/>
                        <a:t> the </a:t>
                      </a:r>
                      <a:r>
                        <a:rPr lang="en-US" sz="1100" b="1" baseline="0"/>
                        <a:t>second and third </a:t>
                      </a:r>
                      <a:r>
                        <a:rPr lang="en-US" sz="1100" baseline="0"/>
                        <a:t>significant figure.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0799">
                <a:tc>
                  <a:txBody>
                    <a:bodyPr/>
                    <a:lstStyle/>
                    <a:p>
                      <a:pPr marL="0" indent="0">
                        <a:buNone/>
                      </a:pPr>
                      <a:r>
                        <a:rPr lang="en-US" sz="1100"/>
                        <a:t>2) If the </a:t>
                      </a:r>
                      <a:r>
                        <a:rPr lang="en-US" sz="1100" baseline="0"/>
                        <a:t>3</a:t>
                      </a:r>
                      <a:r>
                        <a:rPr lang="en-US" sz="1100" baseline="30000"/>
                        <a:t>rd</a:t>
                      </a:r>
                      <a:r>
                        <a:rPr lang="en-US" sz="1100" baseline="0"/>
                        <a:t> significant figure is </a:t>
                      </a:r>
                      <a:r>
                        <a:rPr lang="en-US" sz="1100" b="1" baseline="0"/>
                        <a:t>5 or above</a:t>
                      </a:r>
                      <a:r>
                        <a:rPr lang="en-US" sz="1100" baseline="0"/>
                        <a:t>, the 2</a:t>
                      </a:r>
                      <a:r>
                        <a:rPr lang="en-US" sz="1100" baseline="30000"/>
                        <a:t>nd</a:t>
                      </a:r>
                      <a:r>
                        <a:rPr lang="en-US" sz="1100" baseline="0"/>
                        <a:t> significant figure rounds </a:t>
                      </a:r>
                      <a:r>
                        <a:rPr lang="en-US" sz="1100" b="1" baseline="0"/>
                        <a:t>up.  </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754261">
                <a:tc>
                  <a:txBody>
                    <a:bodyPr/>
                    <a:lstStyle/>
                    <a:p>
                      <a:pPr marL="0" indent="0">
                        <a:buNone/>
                      </a:pPr>
                      <a:r>
                        <a:rPr lang="en-US" sz="1100"/>
                        <a:t>3) If the </a:t>
                      </a:r>
                      <a:r>
                        <a:rPr lang="en-US" sz="1100" baseline="0"/>
                        <a:t>3</a:t>
                      </a:r>
                      <a:r>
                        <a:rPr lang="en-US" sz="1100" baseline="30000"/>
                        <a:t>rd</a:t>
                      </a:r>
                      <a:r>
                        <a:rPr lang="en-US" sz="1100" baseline="0"/>
                        <a:t> significant figure is </a:t>
                      </a:r>
                      <a:r>
                        <a:rPr lang="en-US" sz="1100" b="1" baseline="0"/>
                        <a:t>4 or below</a:t>
                      </a:r>
                      <a:r>
                        <a:rPr lang="en-US" sz="1100" baseline="0"/>
                        <a:t>, the 2</a:t>
                      </a:r>
                      <a:r>
                        <a:rPr lang="en-US" sz="1100" baseline="30000"/>
                        <a:t>nd</a:t>
                      </a:r>
                      <a:r>
                        <a:rPr lang="en-US" sz="1100" baseline="0"/>
                        <a:t> significant figure stays the same.</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p:sp>
        <p:nvSpPr>
          <p:cNvPr id="43" name="TextBox 42">
            <a:extLst>
              <a:ext uri="{FF2B5EF4-FFF2-40B4-BE49-F238E27FC236}">
                <a16:creationId xmlns:a16="http://schemas.microsoft.com/office/drawing/2014/main" id="{BCDC1A2B-2D26-C945-B722-18950FA49879}"/>
              </a:ext>
            </a:extLst>
          </p:cNvPr>
          <p:cNvSpPr txBox="1"/>
          <p:nvPr/>
        </p:nvSpPr>
        <p:spPr>
          <a:xfrm>
            <a:off x="1931857" y="3775861"/>
            <a:ext cx="1410704" cy="276999"/>
          </a:xfrm>
          <a:prstGeom prst="rect">
            <a:avLst/>
          </a:prstGeom>
          <a:noFill/>
          <a:ln>
            <a:noFill/>
          </a:ln>
        </p:spPr>
        <p:txBody>
          <a:bodyPr wrap="square" rtlCol="0">
            <a:spAutoFit/>
          </a:bodyPr>
          <a:lstStyle/>
          <a:p>
            <a:r>
              <a:rPr lang="en-GB" sz="1200" b="1" i="1">
                <a:solidFill>
                  <a:srgbClr val="FF0000"/>
                </a:solidFill>
              </a:rPr>
              <a:t>Example 16 - I do…</a:t>
            </a:r>
          </a:p>
        </p:txBody>
      </p:sp>
      <p:sp>
        <p:nvSpPr>
          <p:cNvPr id="44" name="TextBox 43">
            <a:extLst>
              <a:ext uri="{FF2B5EF4-FFF2-40B4-BE49-F238E27FC236}">
                <a16:creationId xmlns:a16="http://schemas.microsoft.com/office/drawing/2014/main" id="{4AF4150A-9218-D640-8777-2ECCBC4D10FB}"/>
              </a:ext>
            </a:extLst>
          </p:cNvPr>
          <p:cNvSpPr txBox="1"/>
          <p:nvPr/>
        </p:nvSpPr>
        <p:spPr>
          <a:xfrm>
            <a:off x="5065754" y="3753753"/>
            <a:ext cx="1643405" cy="276999"/>
          </a:xfrm>
          <a:prstGeom prst="rect">
            <a:avLst/>
          </a:prstGeom>
          <a:noFill/>
          <a:ln>
            <a:noFill/>
          </a:ln>
        </p:spPr>
        <p:txBody>
          <a:bodyPr wrap="square" rtlCol="0">
            <a:spAutoFit/>
          </a:bodyPr>
          <a:lstStyle/>
          <a:p>
            <a:r>
              <a:rPr lang="en-GB" sz="1200" b="1" i="1">
                <a:solidFill>
                  <a:srgbClr val="00B050"/>
                </a:solidFill>
              </a:rPr>
              <a:t>Example 18 – You do…</a:t>
            </a:r>
          </a:p>
        </p:txBody>
      </p:sp>
      <p:sp>
        <p:nvSpPr>
          <p:cNvPr id="45" name="TextBox 44">
            <a:extLst>
              <a:ext uri="{FF2B5EF4-FFF2-40B4-BE49-F238E27FC236}">
                <a16:creationId xmlns:a16="http://schemas.microsoft.com/office/drawing/2014/main" id="{BCDC1A2B-2D26-C945-B722-18950FA49879}"/>
              </a:ext>
            </a:extLst>
          </p:cNvPr>
          <p:cNvSpPr txBox="1"/>
          <p:nvPr/>
        </p:nvSpPr>
        <p:spPr>
          <a:xfrm>
            <a:off x="3456575" y="3765854"/>
            <a:ext cx="1667605" cy="276999"/>
          </a:xfrm>
          <a:prstGeom prst="rect">
            <a:avLst/>
          </a:prstGeom>
          <a:noFill/>
          <a:ln>
            <a:noFill/>
          </a:ln>
        </p:spPr>
        <p:txBody>
          <a:bodyPr wrap="square" rtlCol="0">
            <a:spAutoFit/>
          </a:bodyPr>
          <a:lstStyle/>
          <a:p>
            <a:r>
              <a:rPr lang="en-GB" sz="1200" b="1" i="1">
                <a:solidFill>
                  <a:schemeClr val="accent2"/>
                </a:solidFill>
              </a:rPr>
              <a:t>Example 17 - We do…</a:t>
            </a:r>
          </a:p>
        </p:txBody>
      </p:sp>
      <p:sp>
        <p:nvSpPr>
          <p:cNvPr id="46" name="TextBox 45"/>
          <p:cNvSpPr txBox="1"/>
          <p:nvPr/>
        </p:nvSpPr>
        <p:spPr>
          <a:xfrm>
            <a:off x="1906323" y="4320152"/>
            <a:ext cx="1419715" cy="1384995"/>
          </a:xfrm>
          <a:prstGeom prst="rect">
            <a:avLst/>
          </a:prstGeom>
          <a:noFill/>
        </p:spPr>
        <p:txBody>
          <a:bodyPr wrap="square" rtlCol="0">
            <a:spAutoFit/>
          </a:bodyPr>
          <a:lstStyle/>
          <a:p>
            <a:pPr algn="ctr"/>
            <a:r>
              <a:rPr lang="en-US" sz="1200"/>
              <a:t>Round 1.25 to two significant figures</a:t>
            </a:r>
          </a:p>
          <a:p>
            <a:pPr algn="ctr"/>
            <a:endParaRPr lang="en-US" sz="1200"/>
          </a:p>
          <a:p>
            <a:pPr algn="ctr"/>
            <a:r>
              <a:rPr lang="en-US" sz="1200"/>
              <a:t>1  . 2  |  </a:t>
            </a:r>
            <a:r>
              <a:rPr lang="en-US" sz="1200" u="sng"/>
              <a:t>5</a:t>
            </a:r>
          </a:p>
          <a:p>
            <a:pPr algn="ctr"/>
            <a:endParaRPr lang="en-US" sz="1200"/>
          </a:p>
          <a:p>
            <a:pPr algn="ctr"/>
            <a:endParaRPr lang="en-US" sz="1200"/>
          </a:p>
          <a:p>
            <a:pPr algn="ctr"/>
            <a:endParaRPr lang="en-US" sz="1200" u="sng"/>
          </a:p>
        </p:txBody>
      </p:sp>
      <p:sp>
        <p:nvSpPr>
          <p:cNvPr id="47" name="Rectangle 46">
            <a:extLst>
              <a:ext uri="{FF2B5EF4-FFF2-40B4-BE49-F238E27FC236}">
                <a16:creationId xmlns:a16="http://schemas.microsoft.com/office/drawing/2014/main" id="{CEEF23AD-EA17-135A-DB95-1D1FECB286F3}"/>
              </a:ext>
            </a:extLst>
          </p:cNvPr>
          <p:cNvSpPr/>
          <p:nvPr/>
        </p:nvSpPr>
        <p:spPr>
          <a:xfrm>
            <a:off x="1891556" y="514940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8" name="Rectangle 47">
            <a:extLst>
              <a:ext uri="{FF2B5EF4-FFF2-40B4-BE49-F238E27FC236}">
                <a16:creationId xmlns:a16="http://schemas.microsoft.com/office/drawing/2014/main" id="{CEEF23AD-EA17-135A-DB95-1D1FECB286F3}"/>
              </a:ext>
            </a:extLst>
          </p:cNvPr>
          <p:cNvSpPr/>
          <p:nvPr/>
        </p:nvSpPr>
        <p:spPr>
          <a:xfrm>
            <a:off x="1891556" y="650347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9" name="Rectangle 48">
            <a:extLst>
              <a:ext uri="{FF2B5EF4-FFF2-40B4-BE49-F238E27FC236}">
                <a16:creationId xmlns:a16="http://schemas.microsoft.com/office/drawing/2014/main" id="{CEEF23AD-EA17-135A-DB95-1D1FECB286F3}"/>
              </a:ext>
            </a:extLst>
          </p:cNvPr>
          <p:cNvSpPr/>
          <p:nvPr/>
        </p:nvSpPr>
        <p:spPr>
          <a:xfrm>
            <a:off x="3516031" y="514472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0" name="Rectangle 49">
            <a:extLst>
              <a:ext uri="{FF2B5EF4-FFF2-40B4-BE49-F238E27FC236}">
                <a16:creationId xmlns:a16="http://schemas.microsoft.com/office/drawing/2014/main" id="{CEEF23AD-EA17-135A-DB95-1D1FECB286F3}"/>
              </a:ext>
            </a:extLst>
          </p:cNvPr>
          <p:cNvSpPr/>
          <p:nvPr/>
        </p:nvSpPr>
        <p:spPr>
          <a:xfrm>
            <a:off x="3516031" y="649879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1" name="Rectangle 50">
            <a:extLst>
              <a:ext uri="{FF2B5EF4-FFF2-40B4-BE49-F238E27FC236}">
                <a16:creationId xmlns:a16="http://schemas.microsoft.com/office/drawing/2014/main" id="{CEEF23AD-EA17-135A-DB95-1D1FECB286F3}"/>
              </a:ext>
            </a:extLst>
          </p:cNvPr>
          <p:cNvSpPr/>
          <p:nvPr/>
        </p:nvSpPr>
        <p:spPr>
          <a:xfrm>
            <a:off x="5158947" y="514472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2" name="Rectangle 51">
            <a:extLst>
              <a:ext uri="{FF2B5EF4-FFF2-40B4-BE49-F238E27FC236}">
                <a16:creationId xmlns:a16="http://schemas.microsoft.com/office/drawing/2014/main" id="{CEEF23AD-EA17-135A-DB95-1D1FECB286F3}"/>
              </a:ext>
            </a:extLst>
          </p:cNvPr>
          <p:cNvSpPr/>
          <p:nvPr/>
        </p:nvSpPr>
        <p:spPr>
          <a:xfrm>
            <a:off x="5158947" y="649879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3" name="TextBox 52"/>
          <p:cNvSpPr txBox="1"/>
          <p:nvPr/>
        </p:nvSpPr>
        <p:spPr>
          <a:xfrm>
            <a:off x="1829251" y="5519190"/>
            <a:ext cx="1579701" cy="1384995"/>
          </a:xfrm>
          <a:prstGeom prst="rect">
            <a:avLst/>
          </a:prstGeom>
          <a:noFill/>
        </p:spPr>
        <p:txBody>
          <a:bodyPr wrap="square" rtlCol="0">
            <a:spAutoFit/>
          </a:bodyPr>
          <a:lstStyle/>
          <a:p>
            <a:pPr algn="ctr"/>
            <a:r>
              <a:rPr lang="en-US" sz="1200"/>
              <a:t>Round 17.68 to two significant figures</a:t>
            </a:r>
          </a:p>
          <a:p>
            <a:pPr algn="ctr"/>
            <a:endParaRPr lang="en-US" sz="1200"/>
          </a:p>
          <a:p>
            <a:pPr algn="ctr"/>
            <a:r>
              <a:rPr lang="en-US" sz="1200"/>
              <a:t>1   7  |  6   8</a:t>
            </a:r>
            <a:endParaRPr lang="en-US" sz="1200" u="sng"/>
          </a:p>
          <a:p>
            <a:pPr algn="ctr"/>
            <a:endParaRPr lang="en-US" sz="1200"/>
          </a:p>
          <a:p>
            <a:pPr algn="ctr"/>
            <a:endParaRPr lang="en-US" sz="1200"/>
          </a:p>
          <a:p>
            <a:pPr algn="ctr"/>
            <a:endParaRPr lang="en-US" sz="1200" u="sng"/>
          </a:p>
        </p:txBody>
      </p:sp>
      <p:sp>
        <p:nvSpPr>
          <p:cNvPr id="54" name="TextBox 53"/>
          <p:cNvSpPr txBox="1"/>
          <p:nvPr/>
        </p:nvSpPr>
        <p:spPr>
          <a:xfrm>
            <a:off x="3517544" y="4359956"/>
            <a:ext cx="1419715" cy="830997"/>
          </a:xfrm>
          <a:prstGeom prst="rect">
            <a:avLst/>
          </a:prstGeom>
          <a:noFill/>
        </p:spPr>
        <p:txBody>
          <a:bodyPr wrap="square" rtlCol="0">
            <a:spAutoFit/>
          </a:bodyPr>
          <a:lstStyle/>
          <a:p>
            <a:pPr algn="ctr"/>
            <a:r>
              <a:rPr lang="en-US" sz="1200"/>
              <a:t>Round 3.98 to two significant figures</a:t>
            </a:r>
          </a:p>
          <a:p>
            <a:pPr algn="ctr"/>
            <a:endParaRPr lang="en-US" sz="1200"/>
          </a:p>
          <a:p>
            <a:pPr algn="ctr"/>
            <a:endParaRPr lang="en-US" sz="1200"/>
          </a:p>
        </p:txBody>
      </p:sp>
      <p:sp>
        <p:nvSpPr>
          <p:cNvPr id="55" name="TextBox 54"/>
          <p:cNvSpPr txBox="1"/>
          <p:nvPr/>
        </p:nvSpPr>
        <p:spPr>
          <a:xfrm>
            <a:off x="3496566" y="5519190"/>
            <a:ext cx="1419715" cy="1015663"/>
          </a:xfrm>
          <a:prstGeom prst="rect">
            <a:avLst/>
          </a:prstGeom>
          <a:noFill/>
        </p:spPr>
        <p:txBody>
          <a:bodyPr wrap="square" rtlCol="0">
            <a:spAutoFit/>
          </a:bodyPr>
          <a:lstStyle/>
          <a:p>
            <a:pPr algn="ctr"/>
            <a:r>
              <a:rPr lang="en-US" sz="1200"/>
              <a:t>Round 13.98 to two significant figures</a:t>
            </a:r>
          </a:p>
          <a:p>
            <a:pPr algn="ctr"/>
            <a:endParaRPr lang="en-US" sz="1200"/>
          </a:p>
          <a:p>
            <a:pPr algn="ctr"/>
            <a:endParaRPr lang="en-US" sz="1200"/>
          </a:p>
          <a:p>
            <a:pPr algn="ctr"/>
            <a:endParaRPr lang="en-US" sz="1200" u="sng"/>
          </a:p>
        </p:txBody>
      </p:sp>
      <p:sp>
        <p:nvSpPr>
          <p:cNvPr id="56" name="TextBox 55"/>
          <p:cNvSpPr txBox="1"/>
          <p:nvPr/>
        </p:nvSpPr>
        <p:spPr>
          <a:xfrm>
            <a:off x="5193179" y="4352252"/>
            <a:ext cx="1419715" cy="1015663"/>
          </a:xfrm>
          <a:prstGeom prst="rect">
            <a:avLst/>
          </a:prstGeom>
          <a:noFill/>
        </p:spPr>
        <p:txBody>
          <a:bodyPr wrap="square" rtlCol="0">
            <a:spAutoFit/>
          </a:bodyPr>
          <a:lstStyle/>
          <a:p>
            <a:pPr algn="ctr"/>
            <a:r>
              <a:rPr lang="en-US" sz="1200"/>
              <a:t>Round 7.75 to two significant figures</a:t>
            </a:r>
          </a:p>
          <a:p>
            <a:pPr algn="ctr"/>
            <a:endParaRPr lang="en-US" sz="1200"/>
          </a:p>
          <a:p>
            <a:pPr algn="ctr"/>
            <a:endParaRPr lang="en-US" sz="1200"/>
          </a:p>
          <a:p>
            <a:pPr algn="ctr"/>
            <a:endParaRPr lang="en-US" sz="1200" u="sng"/>
          </a:p>
        </p:txBody>
      </p:sp>
      <p:sp>
        <p:nvSpPr>
          <p:cNvPr id="57" name="TextBox 56"/>
          <p:cNvSpPr txBox="1"/>
          <p:nvPr/>
        </p:nvSpPr>
        <p:spPr>
          <a:xfrm>
            <a:off x="5124180" y="5519189"/>
            <a:ext cx="1505438" cy="1015663"/>
          </a:xfrm>
          <a:prstGeom prst="rect">
            <a:avLst/>
          </a:prstGeom>
          <a:noFill/>
        </p:spPr>
        <p:txBody>
          <a:bodyPr wrap="square" rtlCol="0">
            <a:spAutoFit/>
          </a:bodyPr>
          <a:lstStyle/>
          <a:p>
            <a:pPr algn="ctr"/>
            <a:r>
              <a:rPr lang="en-US" sz="1200"/>
              <a:t>Round 27.95 to two significant figures</a:t>
            </a:r>
          </a:p>
          <a:p>
            <a:pPr algn="ctr"/>
            <a:endParaRPr lang="en-US" sz="1200"/>
          </a:p>
          <a:p>
            <a:pPr algn="ctr"/>
            <a:endParaRPr lang="en-US" sz="1200"/>
          </a:p>
          <a:p>
            <a:pPr algn="ctr"/>
            <a:endParaRPr lang="en-US" sz="1200" u="sng"/>
          </a:p>
        </p:txBody>
      </p:sp>
      <p:sp>
        <p:nvSpPr>
          <p:cNvPr id="60" name="TextBox 59"/>
          <p:cNvSpPr txBox="1"/>
          <p:nvPr/>
        </p:nvSpPr>
        <p:spPr>
          <a:xfrm>
            <a:off x="2224522" y="7042983"/>
            <a:ext cx="3081549" cy="276999"/>
          </a:xfrm>
          <a:prstGeom prst="rect">
            <a:avLst/>
          </a:prstGeom>
          <a:noFill/>
        </p:spPr>
        <p:txBody>
          <a:bodyPr wrap="none" rtlCol="0">
            <a:spAutoFit/>
          </a:bodyPr>
          <a:lstStyle/>
          <a:p>
            <a:r>
              <a:rPr lang="en-US" sz="1200"/>
              <a:t>6. Round each number to 2 significant figures. </a:t>
            </a:r>
            <a:endParaRPr lang="en-GB" sz="1200"/>
          </a:p>
        </p:txBody>
      </p:sp>
      <p:sp>
        <p:nvSpPr>
          <p:cNvPr id="61" name="TextBox 60"/>
          <p:cNvSpPr txBox="1"/>
          <p:nvPr/>
        </p:nvSpPr>
        <p:spPr>
          <a:xfrm>
            <a:off x="369572" y="7484235"/>
            <a:ext cx="614271" cy="276999"/>
          </a:xfrm>
          <a:prstGeom prst="rect">
            <a:avLst/>
          </a:prstGeom>
          <a:noFill/>
        </p:spPr>
        <p:txBody>
          <a:bodyPr wrap="none" rtlCol="0">
            <a:spAutoFit/>
          </a:bodyPr>
          <a:lstStyle/>
          <a:p>
            <a:r>
              <a:rPr lang="en-US" sz="1200"/>
              <a:t>a) 1.31</a:t>
            </a:r>
            <a:endParaRPr lang="en-GB" sz="1200"/>
          </a:p>
        </p:txBody>
      </p:sp>
      <p:sp>
        <p:nvSpPr>
          <p:cNvPr id="62" name="TextBox 61"/>
          <p:cNvSpPr txBox="1"/>
          <p:nvPr/>
        </p:nvSpPr>
        <p:spPr>
          <a:xfrm>
            <a:off x="1421829" y="7475532"/>
            <a:ext cx="620683" cy="276999"/>
          </a:xfrm>
          <a:prstGeom prst="rect">
            <a:avLst/>
          </a:prstGeom>
          <a:noFill/>
        </p:spPr>
        <p:txBody>
          <a:bodyPr wrap="none" rtlCol="0">
            <a:spAutoFit/>
          </a:bodyPr>
          <a:lstStyle/>
          <a:p>
            <a:r>
              <a:rPr lang="en-US" sz="1200"/>
              <a:t>b) 1.35</a:t>
            </a:r>
            <a:endParaRPr lang="en-GB" sz="1200"/>
          </a:p>
        </p:txBody>
      </p:sp>
      <p:sp>
        <p:nvSpPr>
          <p:cNvPr id="63" name="TextBox 62"/>
          <p:cNvSpPr txBox="1"/>
          <p:nvPr/>
        </p:nvSpPr>
        <p:spPr>
          <a:xfrm>
            <a:off x="2498488" y="7475533"/>
            <a:ext cx="606256" cy="276999"/>
          </a:xfrm>
          <a:prstGeom prst="rect">
            <a:avLst/>
          </a:prstGeom>
          <a:noFill/>
        </p:spPr>
        <p:txBody>
          <a:bodyPr wrap="none" rtlCol="0">
            <a:spAutoFit/>
          </a:bodyPr>
          <a:lstStyle/>
          <a:p>
            <a:r>
              <a:rPr lang="en-US" sz="1200"/>
              <a:t>c) 2.39</a:t>
            </a:r>
            <a:endParaRPr lang="en-GB" sz="1200"/>
          </a:p>
        </p:txBody>
      </p:sp>
      <p:sp>
        <p:nvSpPr>
          <p:cNvPr id="64" name="TextBox 63"/>
          <p:cNvSpPr txBox="1"/>
          <p:nvPr/>
        </p:nvSpPr>
        <p:spPr>
          <a:xfrm>
            <a:off x="3505534" y="7498625"/>
            <a:ext cx="620683" cy="276999"/>
          </a:xfrm>
          <a:prstGeom prst="rect">
            <a:avLst/>
          </a:prstGeom>
          <a:noFill/>
        </p:spPr>
        <p:txBody>
          <a:bodyPr wrap="none" rtlCol="0">
            <a:spAutoFit/>
          </a:bodyPr>
          <a:lstStyle/>
          <a:p>
            <a:r>
              <a:rPr lang="en-US" sz="1200"/>
              <a:t>d) 7.93</a:t>
            </a:r>
            <a:endParaRPr lang="en-GB" sz="1200"/>
          </a:p>
        </p:txBody>
      </p:sp>
      <p:sp>
        <p:nvSpPr>
          <p:cNvPr id="65" name="TextBox 64"/>
          <p:cNvSpPr txBox="1"/>
          <p:nvPr/>
        </p:nvSpPr>
        <p:spPr>
          <a:xfrm>
            <a:off x="4609297" y="7495145"/>
            <a:ext cx="617477" cy="276999"/>
          </a:xfrm>
          <a:prstGeom prst="rect">
            <a:avLst/>
          </a:prstGeom>
          <a:noFill/>
        </p:spPr>
        <p:txBody>
          <a:bodyPr wrap="none" rtlCol="0">
            <a:spAutoFit/>
          </a:bodyPr>
          <a:lstStyle/>
          <a:p>
            <a:r>
              <a:rPr lang="en-US" sz="1200"/>
              <a:t>e) 9.19</a:t>
            </a:r>
            <a:endParaRPr lang="en-GB" sz="1200"/>
          </a:p>
        </p:txBody>
      </p:sp>
      <p:sp>
        <p:nvSpPr>
          <p:cNvPr id="66" name="Rectangle 65">
            <a:extLst>
              <a:ext uri="{FF2B5EF4-FFF2-40B4-BE49-F238E27FC236}">
                <a16:creationId xmlns:a16="http://schemas.microsoft.com/office/drawing/2014/main" id="{CEEF23AD-EA17-135A-DB95-1D1FECB286F3}"/>
              </a:ext>
            </a:extLst>
          </p:cNvPr>
          <p:cNvSpPr/>
          <p:nvPr/>
        </p:nvSpPr>
        <p:spPr>
          <a:xfrm>
            <a:off x="401330" y="805692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CEEF23AD-EA17-135A-DB95-1D1FECB286F3}"/>
              </a:ext>
            </a:extLst>
          </p:cNvPr>
          <p:cNvSpPr/>
          <p:nvPr/>
        </p:nvSpPr>
        <p:spPr>
          <a:xfrm>
            <a:off x="1445285" y="805692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Rectangle 67">
            <a:extLst>
              <a:ext uri="{FF2B5EF4-FFF2-40B4-BE49-F238E27FC236}">
                <a16:creationId xmlns:a16="http://schemas.microsoft.com/office/drawing/2014/main" id="{CEEF23AD-EA17-135A-DB95-1D1FECB286F3}"/>
              </a:ext>
            </a:extLst>
          </p:cNvPr>
          <p:cNvSpPr/>
          <p:nvPr/>
        </p:nvSpPr>
        <p:spPr>
          <a:xfrm>
            <a:off x="2501169" y="805692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9" name="Rectangle 68">
            <a:extLst>
              <a:ext uri="{FF2B5EF4-FFF2-40B4-BE49-F238E27FC236}">
                <a16:creationId xmlns:a16="http://schemas.microsoft.com/office/drawing/2014/main" id="{CEEF23AD-EA17-135A-DB95-1D1FECB286F3}"/>
              </a:ext>
            </a:extLst>
          </p:cNvPr>
          <p:cNvSpPr/>
          <p:nvPr/>
        </p:nvSpPr>
        <p:spPr>
          <a:xfrm>
            <a:off x="3575367" y="805692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CEEF23AD-EA17-135A-DB95-1D1FECB286F3}"/>
              </a:ext>
            </a:extLst>
          </p:cNvPr>
          <p:cNvSpPr/>
          <p:nvPr/>
        </p:nvSpPr>
        <p:spPr>
          <a:xfrm>
            <a:off x="4627031" y="805692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1" name="TextBox 70"/>
          <p:cNvSpPr txBox="1"/>
          <p:nvPr/>
        </p:nvSpPr>
        <p:spPr>
          <a:xfrm>
            <a:off x="5704310" y="7520792"/>
            <a:ext cx="589264" cy="276999"/>
          </a:xfrm>
          <a:prstGeom prst="rect">
            <a:avLst/>
          </a:prstGeom>
          <a:noFill/>
        </p:spPr>
        <p:txBody>
          <a:bodyPr wrap="none" rtlCol="0">
            <a:spAutoFit/>
          </a:bodyPr>
          <a:lstStyle/>
          <a:p>
            <a:r>
              <a:rPr lang="en-US" sz="1200"/>
              <a:t>f) 9.99</a:t>
            </a:r>
            <a:endParaRPr lang="en-GB" sz="1200"/>
          </a:p>
        </p:txBody>
      </p:sp>
      <p:sp>
        <p:nvSpPr>
          <p:cNvPr id="72" name="Rectangle 71">
            <a:extLst>
              <a:ext uri="{FF2B5EF4-FFF2-40B4-BE49-F238E27FC236}">
                <a16:creationId xmlns:a16="http://schemas.microsoft.com/office/drawing/2014/main" id="{CEEF23AD-EA17-135A-DB95-1D1FECB286F3}"/>
              </a:ext>
            </a:extLst>
          </p:cNvPr>
          <p:cNvSpPr/>
          <p:nvPr/>
        </p:nvSpPr>
        <p:spPr>
          <a:xfrm>
            <a:off x="5676133" y="805692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3" name="TextBox 72"/>
          <p:cNvSpPr txBox="1"/>
          <p:nvPr/>
        </p:nvSpPr>
        <p:spPr>
          <a:xfrm>
            <a:off x="401330" y="8518558"/>
            <a:ext cx="612668" cy="276999"/>
          </a:xfrm>
          <a:prstGeom prst="rect">
            <a:avLst/>
          </a:prstGeom>
          <a:noFill/>
        </p:spPr>
        <p:txBody>
          <a:bodyPr wrap="none" rtlCol="0">
            <a:spAutoFit/>
          </a:bodyPr>
          <a:lstStyle/>
          <a:p>
            <a:r>
              <a:rPr lang="en-US" sz="1200"/>
              <a:t>g) 10.5</a:t>
            </a:r>
            <a:endParaRPr lang="en-GB" sz="1200"/>
          </a:p>
        </p:txBody>
      </p:sp>
      <p:sp>
        <p:nvSpPr>
          <p:cNvPr id="74" name="TextBox 73"/>
          <p:cNvSpPr txBox="1"/>
          <p:nvPr/>
        </p:nvSpPr>
        <p:spPr>
          <a:xfrm>
            <a:off x="1453587" y="8509855"/>
            <a:ext cx="620683" cy="276999"/>
          </a:xfrm>
          <a:prstGeom prst="rect">
            <a:avLst/>
          </a:prstGeom>
          <a:noFill/>
        </p:spPr>
        <p:txBody>
          <a:bodyPr wrap="none" rtlCol="0">
            <a:spAutoFit/>
          </a:bodyPr>
          <a:lstStyle/>
          <a:p>
            <a:r>
              <a:rPr lang="en-US" sz="1200"/>
              <a:t>h) 10.9</a:t>
            </a:r>
            <a:endParaRPr lang="en-GB" sz="1200"/>
          </a:p>
        </p:txBody>
      </p:sp>
      <p:sp>
        <p:nvSpPr>
          <p:cNvPr id="75" name="TextBox 74"/>
          <p:cNvSpPr txBox="1"/>
          <p:nvPr/>
        </p:nvSpPr>
        <p:spPr>
          <a:xfrm>
            <a:off x="2530246" y="8509856"/>
            <a:ext cx="575799" cy="276999"/>
          </a:xfrm>
          <a:prstGeom prst="rect">
            <a:avLst/>
          </a:prstGeom>
          <a:noFill/>
        </p:spPr>
        <p:txBody>
          <a:bodyPr wrap="none" rtlCol="0">
            <a:spAutoFit/>
          </a:bodyPr>
          <a:lstStyle/>
          <a:p>
            <a:r>
              <a:rPr lang="en-US" sz="1200"/>
              <a:t>i) 12.5</a:t>
            </a:r>
            <a:endParaRPr lang="en-GB" sz="1200"/>
          </a:p>
        </p:txBody>
      </p:sp>
      <p:sp>
        <p:nvSpPr>
          <p:cNvPr id="76" name="TextBox 75"/>
          <p:cNvSpPr txBox="1"/>
          <p:nvPr/>
        </p:nvSpPr>
        <p:spPr>
          <a:xfrm>
            <a:off x="3537292" y="8532948"/>
            <a:ext cx="655949" cy="276999"/>
          </a:xfrm>
          <a:prstGeom prst="rect">
            <a:avLst/>
          </a:prstGeom>
          <a:noFill/>
        </p:spPr>
        <p:txBody>
          <a:bodyPr wrap="none" rtlCol="0">
            <a:spAutoFit/>
          </a:bodyPr>
          <a:lstStyle/>
          <a:p>
            <a:r>
              <a:rPr lang="en-US" sz="1200"/>
              <a:t>j) 12.55</a:t>
            </a:r>
            <a:endParaRPr lang="en-GB" sz="1200"/>
          </a:p>
        </p:txBody>
      </p:sp>
      <p:sp>
        <p:nvSpPr>
          <p:cNvPr id="77" name="TextBox 76"/>
          <p:cNvSpPr txBox="1"/>
          <p:nvPr/>
        </p:nvSpPr>
        <p:spPr>
          <a:xfrm>
            <a:off x="4641055" y="8529468"/>
            <a:ext cx="689612" cy="276999"/>
          </a:xfrm>
          <a:prstGeom prst="rect">
            <a:avLst/>
          </a:prstGeom>
          <a:noFill/>
        </p:spPr>
        <p:txBody>
          <a:bodyPr wrap="none" rtlCol="0">
            <a:spAutoFit/>
          </a:bodyPr>
          <a:lstStyle/>
          <a:p>
            <a:r>
              <a:rPr lang="en-US" sz="1200"/>
              <a:t>k) 12.99</a:t>
            </a:r>
            <a:endParaRPr lang="en-GB" sz="1200"/>
          </a:p>
        </p:txBody>
      </p:sp>
      <p:sp>
        <p:nvSpPr>
          <p:cNvPr id="78" name="Rectangle 77">
            <a:extLst>
              <a:ext uri="{FF2B5EF4-FFF2-40B4-BE49-F238E27FC236}">
                <a16:creationId xmlns:a16="http://schemas.microsoft.com/office/drawing/2014/main" id="{CEEF23AD-EA17-135A-DB95-1D1FECB286F3}"/>
              </a:ext>
            </a:extLst>
          </p:cNvPr>
          <p:cNvSpPr/>
          <p:nvPr/>
        </p:nvSpPr>
        <p:spPr>
          <a:xfrm>
            <a:off x="401330" y="90543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9" name="Rectangle 78">
            <a:extLst>
              <a:ext uri="{FF2B5EF4-FFF2-40B4-BE49-F238E27FC236}">
                <a16:creationId xmlns:a16="http://schemas.microsoft.com/office/drawing/2014/main" id="{CEEF23AD-EA17-135A-DB95-1D1FECB286F3}"/>
              </a:ext>
            </a:extLst>
          </p:cNvPr>
          <p:cNvSpPr/>
          <p:nvPr/>
        </p:nvSpPr>
        <p:spPr>
          <a:xfrm>
            <a:off x="1445285" y="90543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0" name="Rectangle 79">
            <a:extLst>
              <a:ext uri="{FF2B5EF4-FFF2-40B4-BE49-F238E27FC236}">
                <a16:creationId xmlns:a16="http://schemas.microsoft.com/office/drawing/2014/main" id="{CEEF23AD-EA17-135A-DB95-1D1FECB286F3}"/>
              </a:ext>
            </a:extLst>
          </p:cNvPr>
          <p:cNvSpPr/>
          <p:nvPr/>
        </p:nvSpPr>
        <p:spPr>
          <a:xfrm>
            <a:off x="2501169" y="90543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1" name="Rectangle 80">
            <a:extLst>
              <a:ext uri="{FF2B5EF4-FFF2-40B4-BE49-F238E27FC236}">
                <a16:creationId xmlns:a16="http://schemas.microsoft.com/office/drawing/2014/main" id="{CEEF23AD-EA17-135A-DB95-1D1FECB286F3}"/>
              </a:ext>
            </a:extLst>
          </p:cNvPr>
          <p:cNvSpPr/>
          <p:nvPr/>
        </p:nvSpPr>
        <p:spPr>
          <a:xfrm>
            <a:off x="3575367" y="90543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2" name="Rectangle 81">
            <a:extLst>
              <a:ext uri="{FF2B5EF4-FFF2-40B4-BE49-F238E27FC236}">
                <a16:creationId xmlns:a16="http://schemas.microsoft.com/office/drawing/2014/main" id="{CEEF23AD-EA17-135A-DB95-1D1FECB286F3}"/>
              </a:ext>
            </a:extLst>
          </p:cNvPr>
          <p:cNvSpPr/>
          <p:nvPr/>
        </p:nvSpPr>
        <p:spPr>
          <a:xfrm>
            <a:off x="4627031" y="90543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3" name="TextBox 82"/>
          <p:cNvSpPr txBox="1"/>
          <p:nvPr/>
        </p:nvSpPr>
        <p:spPr>
          <a:xfrm>
            <a:off x="5736068" y="8555115"/>
            <a:ext cx="654346" cy="276999"/>
          </a:xfrm>
          <a:prstGeom prst="rect">
            <a:avLst/>
          </a:prstGeom>
          <a:noFill/>
        </p:spPr>
        <p:txBody>
          <a:bodyPr wrap="none" rtlCol="0">
            <a:spAutoFit/>
          </a:bodyPr>
          <a:lstStyle/>
          <a:p>
            <a:r>
              <a:rPr lang="en-US" sz="1200"/>
              <a:t>l) 15.37</a:t>
            </a:r>
            <a:endParaRPr lang="en-GB" sz="1200"/>
          </a:p>
        </p:txBody>
      </p:sp>
      <p:sp>
        <p:nvSpPr>
          <p:cNvPr id="84" name="Rectangle 83">
            <a:extLst>
              <a:ext uri="{FF2B5EF4-FFF2-40B4-BE49-F238E27FC236}">
                <a16:creationId xmlns:a16="http://schemas.microsoft.com/office/drawing/2014/main" id="{CEEF23AD-EA17-135A-DB95-1D1FECB286F3}"/>
              </a:ext>
            </a:extLst>
          </p:cNvPr>
          <p:cNvSpPr/>
          <p:nvPr/>
        </p:nvSpPr>
        <p:spPr>
          <a:xfrm>
            <a:off x="5676133" y="90543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5"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27</a:t>
            </a:fld>
            <a:endParaRPr lang="en-GB"/>
          </a:p>
        </p:txBody>
      </p:sp>
      <p:sp>
        <p:nvSpPr>
          <p:cNvPr id="86" name="Rectangle 85">
            <a:extLst>
              <a:ext uri="{FF2B5EF4-FFF2-40B4-BE49-F238E27FC236}">
                <a16:creationId xmlns:a16="http://schemas.microsoft.com/office/drawing/2014/main" id="{CFAA3896-C99F-5B72-4848-C0E11794D2C8}"/>
              </a:ext>
            </a:extLst>
          </p:cNvPr>
          <p:cNvSpPr/>
          <p:nvPr/>
        </p:nvSpPr>
        <p:spPr>
          <a:xfrm>
            <a:off x="107730" y="80202"/>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87" name="Rectangle 86">
            <a:extLst>
              <a:ext uri="{FF2B5EF4-FFF2-40B4-BE49-F238E27FC236}">
                <a16:creationId xmlns:a16="http://schemas.microsoft.com/office/drawing/2014/main" id="{DBC3E8F4-D26C-91B2-11C5-665A1F8E65C5}"/>
              </a:ext>
            </a:extLst>
          </p:cNvPr>
          <p:cNvSpPr/>
          <p:nvPr/>
        </p:nvSpPr>
        <p:spPr>
          <a:xfrm>
            <a:off x="138687" y="707603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425293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1611" y="126603"/>
            <a:ext cx="742511" cy="276999"/>
          </a:xfrm>
          <a:prstGeom prst="rect">
            <a:avLst/>
          </a:prstGeom>
          <a:noFill/>
        </p:spPr>
        <p:txBody>
          <a:bodyPr wrap="none" rtlCol="0">
            <a:spAutoFit/>
          </a:bodyPr>
          <a:lstStyle/>
          <a:p>
            <a:r>
              <a:rPr lang="en-US" sz="1200"/>
              <a:t>m) 16.37</a:t>
            </a:r>
            <a:endParaRPr lang="en-GB" sz="1200"/>
          </a:p>
        </p:txBody>
      </p:sp>
      <p:sp>
        <p:nvSpPr>
          <p:cNvPr id="3" name="TextBox 2"/>
          <p:cNvSpPr txBox="1"/>
          <p:nvPr/>
        </p:nvSpPr>
        <p:spPr>
          <a:xfrm>
            <a:off x="1467580" y="133949"/>
            <a:ext cx="699230" cy="276999"/>
          </a:xfrm>
          <a:prstGeom prst="rect">
            <a:avLst/>
          </a:prstGeom>
          <a:noFill/>
        </p:spPr>
        <p:txBody>
          <a:bodyPr wrap="none" rtlCol="0">
            <a:spAutoFit/>
          </a:bodyPr>
          <a:lstStyle/>
          <a:p>
            <a:r>
              <a:rPr lang="en-US" sz="1200"/>
              <a:t>n) 19.79</a:t>
            </a:r>
            <a:endParaRPr lang="en-GB" sz="1200"/>
          </a:p>
        </p:txBody>
      </p:sp>
      <p:sp>
        <p:nvSpPr>
          <p:cNvPr id="4" name="TextBox 3"/>
          <p:cNvSpPr txBox="1"/>
          <p:nvPr/>
        </p:nvSpPr>
        <p:spPr>
          <a:xfrm>
            <a:off x="2509174" y="147232"/>
            <a:ext cx="700833" cy="276999"/>
          </a:xfrm>
          <a:prstGeom prst="rect">
            <a:avLst/>
          </a:prstGeom>
          <a:noFill/>
        </p:spPr>
        <p:txBody>
          <a:bodyPr wrap="none" rtlCol="0">
            <a:spAutoFit/>
          </a:bodyPr>
          <a:lstStyle/>
          <a:p>
            <a:r>
              <a:rPr lang="en-US" sz="1200"/>
              <a:t>o) 19.59</a:t>
            </a:r>
            <a:endParaRPr lang="en-GB" sz="1200"/>
          </a:p>
        </p:txBody>
      </p:sp>
      <p:sp>
        <p:nvSpPr>
          <p:cNvPr id="5" name="TextBox 4"/>
          <p:cNvSpPr txBox="1"/>
          <p:nvPr/>
        </p:nvSpPr>
        <p:spPr>
          <a:xfrm>
            <a:off x="3557573" y="140993"/>
            <a:ext cx="699230" cy="276999"/>
          </a:xfrm>
          <a:prstGeom prst="rect">
            <a:avLst/>
          </a:prstGeom>
          <a:noFill/>
        </p:spPr>
        <p:txBody>
          <a:bodyPr wrap="none" rtlCol="0">
            <a:spAutoFit/>
          </a:bodyPr>
          <a:lstStyle/>
          <a:p>
            <a:r>
              <a:rPr lang="en-US" sz="1200"/>
              <a:t>p) 24.95</a:t>
            </a:r>
            <a:endParaRPr lang="en-GB" sz="1200"/>
          </a:p>
        </p:txBody>
      </p:sp>
      <p:sp>
        <p:nvSpPr>
          <p:cNvPr id="6" name="TextBox 5"/>
          <p:cNvSpPr txBox="1"/>
          <p:nvPr/>
        </p:nvSpPr>
        <p:spPr>
          <a:xfrm>
            <a:off x="4644878" y="126603"/>
            <a:ext cx="777777" cy="276999"/>
          </a:xfrm>
          <a:prstGeom prst="rect">
            <a:avLst/>
          </a:prstGeom>
          <a:noFill/>
        </p:spPr>
        <p:txBody>
          <a:bodyPr wrap="none" rtlCol="0">
            <a:spAutoFit/>
          </a:bodyPr>
          <a:lstStyle/>
          <a:p>
            <a:r>
              <a:rPr lang="en-US" sz="1200"/>
              <a:t>q) 24.955</a:t>
            </a:r>
            <a:endParaRPr lang="en-GB" sz="1200"/>
          </a:p>
        </p:txBody>
      </p:sp>
      <p:sp>
        <p:nvSpPr>
          <p:cNvPr id="7" name="Rectangle 6">
            <a:extLst>
              <a:ext uri="{FF2B5EF4-FFF2-40B4-BE49-F238E27FC236}">
                <a16:creationId xmlns:a16="http://schemas.microsoft.com/office/drawing/2014/main" id="{CEEF23AD-EA17-135A-DB95-1D1FECB286F3}"/>
              </a:ext>
            </a:extLst>
          </p:cNvPr>
          <p:cNvSpPr/>
          <p:nvPr/>
        </p:nvSpPr>
        <p:spPr>
          <a:xfrm>
            <a:off x="453369" y="69355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 name="Rectangle 7">
            <a:extLst>
              <a:ext uri="{FF2B5EF4-FFF2-40B4-BE49-F238E27FC236}">
                <a16:creationId xmlns:a16="http://schemas.microsoft.com/office/drawing/2014/main" id="{CEEF23AD-EA17-135A-DB95-1D1FECB286F3}"/>
              </a:ext>
            </a:extLst>
          </p:cNvPr>
          <p:cNvSpPr/>
          <p:nvPr/>
        </p:nvSpPr>
        <p:spPr>
          <a:xfrm>
            <a:off x="1497324" y="69355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 name="Rectangle 8">
            <a:extLst>
              <a:ext uri="{FF2B5EF4-FFF2-40B4-BE49-F238E27FC236}">
                <a16:creationId xmlns:a16="http://schemas.microsoft.com/office/drawing/2014/main" id="{CEEF23AD-EA17-135A-DB95-1D1FECB286F3}"/>
              </a:ext>
            </a:extLst>
          </p:cNvPr>
          <p:cNvSpPr/>
          <p:nvPr/>
        </p:nvSpPr>
        <p:spPr>
          <a:xfrm>
            <a:off x="2553208" y="69355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Rectangle 9">
            <a:extLst>
              <a:ext uri="{FF2B5EF4-FFF2-40B4-BE49-F238E27FC236}">
                <a16:creationId xmlns:a16="http://schemas.microsoft.com/office/drawing/2014/main" id="{CEEF23AD-EA17-135A-DB95-1D1FECB286F3}"/>
              </a:ext>
            </a:extLst>
          </p:cNvPr>
          <p:cNvSpPr/>
          <p:nvPr/>
        </p:nvSpPr>
        <p:spPr>
          <a:xfrm>
            <a:off x="3627406" y="69355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1" name="Rectangle 10">
            <a:extLst>
              <a:ext uri="{FF2B5EF4-FFF2-40B4-BE49-F238E27FC236}">
                <a16:creationId xmlns:a16="http://schemas.microsoft.com/office/drawing/2014/main" id="{CEEF23AD-EA17-135A-DB95-1D1FECB286F3}"/>
              </a:ext>
            </a:extLst>
          </p:cNvPr>
          <p:cNvSpPr/>
          <p:nvPr/>
        </p:nvSpPr>
        <p:spPr>
          <a:xfrm>
            <a:off x="4679070" y="69355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2" name="TextBox 11"/>
          <p:cNvSpPr txBox="1"/>
          <p:nvPr/>
        </p:nvSpPr>
        <p:spPr>
          <a:xfrm>
            <a:off x="5691673" y="121614"/>
            <a:ext cx="750526" cy="276999"/>
          </a:xfrm>
          <a:prstGeom prst="rect">
            <a:avLst/>
          </a:prstGeom>
          <a:noFill/>
        </p:spPr>
        <p:txBody>
          <a:bodyPr wrap="none" rtlCol="0">
            <a:spAutoFit/>
          </a:bodyPr>
          <a:lstStyle/>
          <a:p>
            <a:r>
              <a:rPr lang="en-US" sz="1200"/>
              <a:t>r) 25.095</a:t>
            </a:r>
            <a:endParaRPr lang="en-GB" sz="1200"/>
          </a:p>
        </p:txBody>
      </p:sp>
      <p:sp>
        <p:nvSpPr>
          <p:cNvPr id="13" name="Rectangle 12">
            <a:extLst>
              <a:ext uri="{FF2B5EF4-FFF2-40B4-BE49-F238E27FC236}">
                <a16:creationId xmlns:a16="http://schemas.microsoft.com/office/drawing/2014/main" id="{CEEF23AD-EA17-135A-DB95-1D1FECB286F3}"/>
              </a:ext>
            </a:extLst>
          </p:cNvPr>
          <p:cNvSpPr/>
          <p:nvPr/>
        </p:nvSpPr>
        <p:spPr>
          <a:xfrm>
            <a:off x="5728172" y="69355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 name="TextBox 13"/>
          <p:cNvSpPr txBox="1"/>
          <p:nvPr/>
        </p:nvSpPr>
        <p:spPr>
          <a:xfrm>
            <a:off x="421611" y="1200837"/>
            <a:ext cx="715260" cy="276999"/>
          </a:xfrm>
          <a:prstGeom prst="rect">
            <a:avLst/>
          </a:prstGeom>
          <a:noFill/>
        </p:spPr>
        <p:txBody>
          <a:bodyPr wrap="none" rtlCol="0">
            <a:spAutoFit/>
          </a:bodyPr>
          <a:lstStyle/>
          <a:p>
            <a:r>
              <a:rPr lang="en-US" sz="1200"/>
              <a:t>s) 126.4 </a:t>
            </a:r>
            <a:endParaRPr lang="en-GB" sz="1200"/>
          </a:p>
        </p:txBody>
      </p:sp>
      <p:sp>
        <p:nvSpPr>
          <p:cNvPr id="15" name="TextBox 14"/>
          <p:cNvSpPr txBox="1"/>
          <p:nvPr/>
        </p:nvSpPr>
        <p:spPr>
          <a:xfrm>
            <a:off x="1467580" y="1208183"/>
            <a:ext cx="670376" cy="276999"/>
          </a:xfrm>
          <a:prstGeom prst="rect">
            <a:avLst/>
          </a:prstGeom>
          <a:noFill/>
        </p:spPr>
        <p:txBody>
          <a:bodyPr wrap="none" rtlCol="0">
            <a:spAutoFit/>
          </a:bodyPr>
          <a:lstStyle/>
          <a:p>
            <a:r>
              <a:rPr lang="en-US" sz="1200"/>
              <a:t>t) 196.4</a:t>
            </a:r>
            <a:endParaRPr lang="en-GB" sz="1200"/>
          </a:p>
        </p:txBody>
      </p:sp>
      <p:sp>
        <p:nvSpPr>
          <p:cNvPr id="16" name="TextBox 15"/>
          <p:cNvSpPr txBox="1"/>
          <p:nvPr/>
        </p:nvSpPr>
        <p:spPr>
          <a:xfrm>
            <a:off x="2509174" y="1221466"/>
            <a:ext cx="699230" cy="276999"/>
          </a:xfrm>
          <a:prstGeom prst="rect">
            <a:avLst/>
          </a:prstGeom>
          <a:noFill/>
        </p:spPr>
        <p:txBody>
          <a:bodyPr wrap="none" rtlCol="0">
            <a:spAutoFit/>
          </a:bodyPr>
          <a:lstStyle/>
          <a:p>
            <a:r>
              <a:rPr lang="en-US" sz="1200"/>
              <a:t>u) 125.5</a:t>
            </a:r>
            <a:endParaRPr lang="en-GB" sz="1200"/>
          </a:p>
        </p:txBody>
      </p:sp>
      <p:sp>
        <p:nvSpPr>
          <p:cNvPr id="17" name="TextBox 16"/>
          <p:cNvSpPr txBox="1"/>
          <p:nvPr/>
        </p:nvSpPr>
        <p:spPr>
          <a:xfrm>
            <a:off x="3557573" y="1215227"/>
            <a:ext cx="688009" cy="276999"/>
          </a:xfrm>
          <a:prstGeom prst="rect">
            <a:avLst/>
          </a:prstGeom>
          <a:noFill/>
        </p:spPr>
        <p:txBody>
          <a:bodyPr wrap="none" rtlCol="0">
            <a:spAutoFit/>
          </a:bodyPr>
          <a:lstStyle/>
          <a:p>
            <a:r>
              <a:rPr lang="en-US" sz="1200"/>
              <a:t>v) 135.5</a:t>
            </a:r>
            <a:endParaRPr lang="en-GB" sz="1200"/>
          </a:p>
        </p:txBody>
      </p:sp>
      <p:sp>
        <p:nvSpPr>
          <p:cNvPr id="18" name="TextBox 17"/>
          <p:cNvSpPr txBox="1"/>
          <p:nvPr/>
        </p:nvSpPr>
        <p:spPr>
          <a:xfrm>
            <a:off x="4644878" y="1200837"/>
            <a:ext cx="808235" cy="276999"/>
          </a:xfrm>
          <a:prstGeom prst="rect">
            <a:avLst/>
          </a:prstGeom>
          <a:noFill/>
        </p:spPr>
        <p:txBody>
          <a:bodyPr wrap="none" rtlCol="0">
            <a:spAutoFit/>
          </a:bodyPr>
          <a:lstStyle/>
          <a:p>
            <a:r>
              <a:rPr lang="en-US" sz="1200"/>
              <a:t>w) 135.55</a:t>
            </a:r>
            <a:endParaRPr lang="en-GB" sz="1200"/>
          </a:p>
        </p:txBody>
      </p:sp>
      <p:sp>
        <p:nvSpPr>
          <p:cNvPr id="19" name="Rectangle 18">
            <a:extLst>
              <a:ext uri="{FF2B5EF4-FFF2-40B4-BE49-F238E27FC236}">
                <a16:creationId xmlns:a16="http://schemas.microsoft.com/office/drawing/2014/main" id="{CEEF23AD-EA17-135A-DB95-1D1FECB286F3}"/>
              </a:ext>
            </a:extLst>
          </p:cNvPr>
          <p:cNvSpPr/>
          <p:nvPr/>
        </p:nvSpPr>
        <p:spPr>
          <a:xfrm>
            <a:off x="453369" y="176778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0" name="Rectangle 19">
            <a:extLst>
              <a:ext uri="{FF2B5EF4-FFF2-40B4-BE49-F238E27FC236}">
                <a16:creationId xmlns:a16="http://schemas.microsoft.com/office/drawing/2014/main" id="{CEEF23AD-EA17-135A-DB95-1D1FECB286F3}"/>
              </a:ext>
            </a:extLst>
          </p:cNvPr>
          <p:cNvSpPr/>
          <p:nvPr/>
        </p:nvSpPr>
        <p:spPr>
          <a:xfrm>
            <a:off x="1497324" y="176778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 name="Rectangle 20">
            <a:extLst>
              <a:ext uri="{FF2B5EF4-FFF2-40B4-BE49-F238E27FC236}">
                <a16:creationId xmlns:a16="http://schemas.microsoft.com/office/drawing/2014/main" id="{CEEF23AD-EA17-135A-DB95-1D1FECB286F3}"/>
              </a:ext>
            </a:extLst>
          </p:cNvPr>
          <p:cNvSpPr/>
          <p:nvPr/>
        </p:nvSpPr>
        <p:spPr>
          <a:xfrm>
            <a:off x="2553208" y="176778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2" name="Rectangle 21">
            <a:extLst>
              <a:ext uri="{FF2B5EF4-FFF2-40B4-BE49-F238E27FC236}">
                <a16:creationId xmlns:a16="http://schemas.microsoft.com/office/drawing/2014/main" id="{CEEF23AD-EA17-135A-DB95-1D1FECB286F3}"/>
              </a:ext>
            </a:extLst>
          </p:cNvPr>
          <p:cNvSpPr/>
          <p:nvPr/>
        </p:nvSpPr>
        <p:spPr>
          <a:xfrm>
            <a:off x="3627406" y="176778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3" name="Rectangle 22">
            <a:extLst>
              <a:ext uri="{FF2B5EF4-FFF2-40B4-BE49-F238E27FC236}">
                <a16:creationId xmlns:a16="http://schemas.microsoft.com/office/drawing/2014/main" id="{CEEF23AD-EA17-135A-DB95-1D1FECB286F3}"/>
              </a:ext>
            </a:extLst>
          </p:cNvPr>
          <p:cNvSpPr/>
          <p:nvPr/>
        </p:nvSpPr>
        <p:spPr>
          <a:xfrm>
            <a:off x="4679070" y="176778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4" name="TextBox 23"/>
          <p:cNvSpPr txBox="1"/>
          <p:nvPr/>
        </p:nvSpPr>
        <p:spPr>
          <a:xfrm>
            <a:off x="5691673" y="1195848"/>
            <a:ext cx="764953" cy="276999"/>
          </a:xfrm>
          <a:prstGeom prst="rect">
            <a:avLst/>
          </a:prstGeom>
          <a:noFill/>
        </p:spPr>
        <p:txBody>
          <a:bodyPr wrap="none" rtlCol="0">
            <a:spAutoFit/>
          </a:bodyPr>
          <a:lstStyle/>
          <a:p>
            <a:r>
              <a:rPr lang="en-US" sz="1200"/>
              <a:t>x) 195.89</a:t>
            </a:r>
            <a:endParaRPr lang="en-GB" sz="1200"/>
          </a:p>
        </p:txBody>
      </p:sp>
      <p:sp>
        <p:nvSpPr>
          <p:cNvPr id="25" name="Rectangle 24">
            <a:extLst>
              <a:ext uri="{FF2B5EF4-FFF2-40B4-BE49-F238E27FC236}">
                <a16:creationId xmlns:a16="http://schemas.microsoft.com/office/drawing/2014/main" id="{CEEF23AD-EA17-135A-DB95-1D1FECB286F3}"/>
              </a:ext>
            </a:extLst>
          </p:cNvPr>
          <p:cNvSpPr/>
          <p:nvPr/>
        </p:nvSpPr>
        <p:spPr>
          <a:xfrm>
            <a:off x="5728172" y="176778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26" name="Straight Connector 25">
            <a:extLst>
              <a:ext uri="{FF2B5EF4-FFF2-40B4-BE49-F238E27FC236}">
                <a16:creationId xmlns:a16="http://schemas.microsoft.com/office/drawing/2014/main" id="{B4A988A4-03CD-D549-9F12-81AFECBDEF37}"/>
              </a:ext>
            </a:extLst>
          </p:cNvPr>
          <p:cNvCxnSpPr>
            <a:cxnSpLocks/>
          </p:cNvCxnSpPr>
          <p:nvPr/>
        </p:nvCxnSpPr>
        <p:spPr>
          <a:xfrm>
            <a:off x="1008102" y="4161297"/>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7" name="Table 26"/>
          <p:cNvGraphicFramePr>
            <a:graphicFrameLocks noGrp="1"/>
          </p:cNvGraphicFramePr>
          <p:nvPr/>
        </p:nvGraphicFramePr>
        <p:xfrm>
          <a:off x="209843" y="2716924"/>
          <a:ext cx="6543680" cy="2938582"/>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32878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a:solidFill>
                            <a:schemeClr val="tx1"/>
                          </a:solidFill>
                        </a:rPr>
                        <a:t>Round to 2</a:t>
                      </a:r>
                      <a:r>
                        <a:rPr lang="en-US" sz="1100" b="1" baseline="0">
                          <a:solidFill>
                            <a:schemeClr val="tx1"/>
                          </a:solidFill>
                        </a:rPr>
                        <a:t> </a:t>
                      </a:r>
                      <a:r>
                        <a:rPr lang="en-US" sz="1100" b="1">
                          <a:solidFill>
                            <a:schemeClr val="tx1"/>
                          </a:solidFill>
                        </a:rPr>
                        <a:t>significant figures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67002">
                <a:tc>
                  <a:txBody>
                    <a:bodyPr/>
                    <a:lstStyle/>
                    <a:p>
                      <a:pPr marL="0" indent="0">
                        <a:buNone/>
                      </a:pPr>
                      <a:r>
                        <a:rPr lang="en-US" sz="1100"/>
                        <a:t>1)</a:t>
                      </a:r>
                      <a:r>
                        <a:rPr lang="en-US" sz="1100" baseline="0"/>
                        <a:t> </a:t>
                      </a:r>
                      <a:r>
                        <a:rPr lang="en-US" sz="1100"/>
                        <a:t>Draw a line between</a:t>
                      </a:r>
                      <a:r>
                        <a:rPr lang="en-US" sz="1100" baseline="0"/>
                        <a:t> the </a:t>
                      </a:r>
                      <a:r>
                        <a:rPr lang="en-US" sz="1100" b="1" baseline="0"/>
                        <a:t>second and third </a:t>
                      </a:r>
                      <a:r>
                        <a:rPr lang="en-US" sz="1100" baseline="0"/>
                        <a:t>significant figure.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0799">
                <a:tc>
                  <a:txBody>
                    <a:bodyPr/>
                    <a:lstStyle/>
                    <a:p>
                      <a:pPr marL="0" indent="0">
                        <a:buNone/>
                      </a:pPr>
                      <a:r>
                        <a:rPr lang="en-US" sz="1100"/>
                        <a:t>2) If the </a:t>
                      </a:r>
                      <a:r>
                        <a:rPr lang="en-US" sz="1100" baseline="0"/>
                        <a:t>3</a:t>
                      </a:r>
                      <a:r>
                        <a:rPr lang="en-US" sz="1100" baseline="30000"/>
                        <a:t>rd</a:t>
                      </a:r>
                      <a:r>
                        <a:rPr lang="en-US" sz="1100" baseline="0"/>
                        <a:t> significant figure is </a:t>
                      </a:r>
                      <a:r>
                        <a:rPr lang="en-US" sz="1100" b="1" baseline="0"/>
                        <a:t>5 or above</a:t>
                      </a:r>
                      <a:r>
                        <a:rPr lang="en-US" sz="1100" baseline="0"/>
                        <a:t>, the 2</a:t>
                      </a:r>
                      <a:r>
                        <a:rPr lang="en-US" sz="1100" baseline="30000"/>
                        <a:t>nd</a:t>
                      </a:r>
                      <a:r>
                        <a:rPr lang="en-US" sz="1100" baseline="0"/>
                        <a:t> significant figure rounds </a:t>
                      </a:r>
                      <a:r>
                        <a:rPr lang="en-US" sz="1100" b="1" baseline="0"/>
                        <a:t>up.  </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754261">
                <a:tc>
                  <a:txBody>
                    <a:bodyPr/>
                    <a:lstStyle/>
                    <a:p>
                      <a:pPr marL="0" indent="0">
                        <a:buNone/>
                      </a:pPr>
                      <a:r>
                        <a:rPr lang="en-US" sz="1100"/>
                        <a:t>3) If the </a:t>
                      </a:r>
                      <a:r>
                        <a:rPr lang="en-US" sz="1100" baseline="0"/>
                        <a:t>3</a:t>
                      </a:r>
                      <a:r>
                        <a:rPr lang="en-US" sz="1100" baseline="30000"/>
                        <a:t>rd</a:t>
                      </a:r>
                      <a:r>
                        <a:rPr lang="en-US" sz="1100" baseline="0"/>
                        <a:t> significant figure is </a:t>
                      </a:r>
                      <a:r>
                        <a:rPr lang="en-US" sz="1100" b="1" baseline="0"/>
                        <a:t>4 or below</a:t>
                      </a:r>
                      <a:r>
                        <a:rPr lang="en-US" sz="1100" baseline="0"/>
                        <a:t>, the 2</a:t>
                      </a:r>
                      <a:r>
                        <a:rPr lang="en-US" sz="1100" baseline="30000"/>
                        <a:t>nd</a:t>
                      </a:r>
                      <a:r>
                        <a:rPr lang="en-US" sz="1100" baseline="0"/>
                        <a:t> significant figure stays the same.</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p:sp>
        <p:nvSpPr>
          <p:cNvPr id="28" name="TextBox 27">
            <a:extLst>
              <a:ext uri="{FF2B5EF4-FFF2-40B4-BE49-F238E27FC236}">
                <a16:creationId xmlns:a16="http://schemas.microsoft.com/office/drawing/2014/main" id="{BCDC1A2B-2D26-C945-B722-18950FA49879}"/>
              </a:ext>
            </a:extLst>
          </p:cNvPr>
          <p:cNvSpPr txBox="1"/>
          <p:nvPr/>
        </p:nvSpPr>
        <p:spPr>
          <a:xfrm>
            <a:off x="1991462" y="2459640"/>
            <a:ext cx="1410704" cy="276999"/>
          </a:xfrm>
          <a:prstGeom prst="rect">
            <a:avLst/>
          </a:prstGeom>
          <a:noFill/>
          <a:ln>
            <a:noFill/>
          </a:ln>
        </p:spPr>
        <p:txBody>
          <a:bodyPr wrap="square" rtlCol="0">
            <a:spAutoFit/>
          </a:bodyPr>
          <a:lstStyle/>
          <a:p>
            <a:r>
              <a:rPr lang="en-GB" sz="1200" b="1" i="1">
                <a:solidFill>
                  <a:srgbClr val="FF0000"/>
                </a:solidFill>
              </a:rPr>
              <a:t>Example 19 - I do…</a:t>
            </a:r>
          </a:p>
        </p:txBody>
      </p:sp>
      <p:sp>
        <p:nvSpPr>
          <p:cNvPr id="29" name="TextBox 28">
            <a:extLst>
              <a:ext uri="{FF2B5EF4-FFF2-40B4-BE49-F238E27FC236}">
                <a16:creationId xmlns:a16="http://schemas.microsoft.com/office/drawing/2014/main" id="{4AF4150A-9218-D640-8777-2ECCBC4D10FB}"/>
              </a:ext>
            </a:extLst>
          </p:cNvPr>
          <p:cNvSpPr txBox="1"/>
          <p:nvPr/>
        </p:nvSpPr>
        <p:spPr>
          <a:xfrm>
            <a:off x="5125359" y="2437532"/>
            <a:ext cx="1643405" cy="276999"/>
          </a:xfrm>
          <a:prstGeom prst="rect">
            <a:avLst/>
          </a:prstGeom>
          <a:noFill/>
          <a:ln>
            <a:noFill/>
          </a:ln>
        </p:spPr>
        <p:txBody>
          <a:bodyPr wrap="square" rtlCol="0">
            <a:spAutoFit/>
          </a:bodyPr>
          <a:lstStyle/>
          <a:p>
            <a:r>
              <a:rPr lang="en-GB" sz="1200" b="1" i="1">
                <a:solidFill>
                  <a:srgbClr val="00B050"/>
                </a:solidFill>
              </a:rPr>
              <a:t>Example 21 – You do…</a:t>
            </a:r>
          </a:p>
        </p:txBody>
      </p:sp>
      <p:sp>
        <p:nvSpPr>
          <p:cNvPr id="30" name="TextBox 29">
            <a:extLst>
              <a:ext uri="{FF2B5EF4-FFF2-40B4-BE49-F238E27FC236}">
                <a16:creationId xmlns:a16="http://schemas.microsoft.com/office/drawing/2014/main" id="{BCDC1A2B-2D26-C945-B722-18950FA49879}"/>
              </a:ext>
            </a:extLst>
          </p:cNvPr>
          <p:cNvSpPr txBox="1"/>
          <p:nvPr/>
        </p:nvSpPr>
        <p:spPr>
          <a:xfrm>
            <a:off x="3516180" y="2449633"/>
            <a:ext cx="1667605" cy="276999"/>
          </a:xfrm>
          <a:prstGeom prst="rect">
            <a:avLst/>
          </a:prstGeom>
          <a:noFill/>
          <a:ln>
            <a:noFill/>
          </a:ln>
        </p:spPr>
        <p:txBody>
          <a:bodyPr wrap="square" rtlCol="0">
            <a:spAutoFit/>
          </a:bodyPr>
          <a:lstStyle/>
          <a:p>
            <a:r>
              <a:rPr lang="en-GB" sz="1200" b="1" i="1">
                <a:solidFill>
                  <a:schemeClr val="accent2"/>
                </a:solidFill>
              </a:rPr>
              <a:t>Example 20 - We do…</a:t>
            </a:r>
          </a:p>
        </p:txBody>
      </p:sp>
      <p:sp>
        <p:nvSpPr>
          <p:cNvPr id="31" name="TextBox 30"/>
          <p:cNvSpPr txBox="1"/>
          <p:nvPr/>
        </p:nvSpPr>
        <p:spPr>
          <a:xfrm>
            <a:off x="1965928" y="3003931"/>
            <a:ext cx="1419715" cy="1384995"/>
          </a:xfrm>
          <a:prstGeom prst="rect">
            <a:avLst/>
          </a:prstGeom>
          <a:noFill/>
        </p:spPr>
        <p:txBody>
          <a:bodyPr wrap="square" rtlCol="0">
            <a:spAutoFit/>
          </a:bodyPr>
          <a:lstStyle/>
          <a:p>
            <a:pPr algn="ctr"/>
            <a:r>
              <a:rPr lang="en-US" sz="1200"/>
              <a:t>Round 0.253 to two significant figures</a:t>
            </a:r>
          </a:p>
          <a:p>
            <a:pPr algn="ctr"/>
            <a:endParaRPr lang="en-US" sz="1200"/>
          </a:p>
          <a:p>
            <a:pPr algn="ctr"/>
            <a:r>
              <a:rPr lang="en-US" sz="1200"/>
              <a:t>0  . 2   5  |  </a:t>
            </a:r>
            <a:r>
              <a:rPr lang="en-US" sz="1200" u="sng"/>
              <a:t>3</a:t>
            </a:r>
          </a:p>
          <a:p>
            <a:pPr algn="ctr"/>
            <a:endParaRPr lang="en-US" sz="1200"/>
          </a:p>
          <a:p>
            <a:pPr algn="ctr"/>
            <a:endParaRPr lang="en-US" sz="1200"/>
          </a:p>
          <a:p>
            <a:pPr algn="ctr"/>
            <a:endParaRPr lang="en-US" sz="1200" u="sng"/>
          </a:p>
        </p:txBody>
      </p:sp>
      <p:sp>
        <p:nvSpPr>
          <p:cNvPr id="32" name="Rectangle 31">
            <a:extLst>
              <a:ext uri="{FF2B5EF4-FFF2-40B4-BE49-F238E27FC236}">
                <a16:creationId xmlns:a16="http://schemas.microsoft.com/office/drawing/2014/main" id="{CEEF23AD-EA17-135A-DB95-1D1FECB286F3}"/>
              </a:ext>
            </a:extLst>
          </p:cNvPr>
          <p:cNvSpPr/>
          <p:nvPr/>
        </p:nvSpPr>
        <p:spPr>
          <a:xfrm>
            <a:off x="1951161" y="3833180"/>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3" name="Rectangle 32">
            <a:extLst>
              <a:ext uri="{FF2B5EF4-FFF2-40B4-BE49-F238E27FC236}">
                <a16:creationId xmlns:a16="http://schemas.microsoft.com/office/drawing/2014/main" id="{CEEF23AD-EA17-135A-DB95-1D1FECB286F3}"/>
              </a:ext>
            </a:extLst>
          </p:cNvPr>
          <p:cNvSpPr/>
          <p:nvPr/>
        </p:nvSpPr>
        <p:spPr>
          <a:xfrm>
            <a:off x="1951161" y="5187250"/>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4" name="Rectangle 33">
            <a:extLst>
              <a:ext uri="{FF2B5EF4-FFF2-40B4-BE49-F238E27FC236}">
                <a16:creationId xmlns:a16="http://schemas.microsoft.com/office/drawing/2014/main" id="{CEEF23AD-EA17-135A-DB95-1D1FECB286F3}"/>
              </a:ext>
            </a:extLst>
          </p:cNvPr>
          <p:cNvSpPr/>
          <p:nvPr/>
        </p:nvSpPr>
        <p:spPr>
          <a:xfrm>
            <a:off x="3575636" y="382850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5" name="Rectangle 34">
            <a:extLst>
              <a:ext uri="{FF2B5EF4-FFF2-40B4-BE49-F238E27FC236}">
                <a16:creationId xmlns:a16="http://schemas.microsoft.com/office/drawing/2014/main" id="{CEEF23AD-EA17-135A-DB95-1D1FECB286F3}"/>
              </a:ext>
            </a:extLst>
          </p:cNvPr>
          <p:cNvSpPr/>
          <p:nvPr/>
        </p:nvSpPr>
        <p:spPr>
          <a:xfrm>
            <a:off x="3575636" y="518257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6" name="Rectangle 35">
            <a:extLst>
              <a:ext uri="{FF2B5EF4-FFF2-40B4-BE49-F238E27FC236}">
                <a16:creationId xmlns:a16="http://schemas.microsoft.com/office/drawing/2014/main" id="{CEEF23AD-EA17-135A-DB95-1D1FECB286F3}"/>
              </a:ext>
            </a:extLst>
          </p:cNvPr>
          <p:cNvSpPr/>
          <p:nvPr/>
        </p:nvSpPr>
        <p:spPr>
          <a:xfrm>
            <a:off x="5218552" y="382850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7" name="Rectangle 36">
            <a:extLst>
              <a:ext uri="{FF2B5EF4-FFF2-40B4-BE49-F238E27FC236}">
                <a16:creationId xmlns:a16="http://schemas.microsoft.com/office/drawing/2014/main" id="{CEEF23AD-EA17-135A-DB95-1D1FECB286F3}"/>
              </a:ext>
            </a:extLst>
          </p:cNvPr>
          <p:cNvSpPr/>
          <p:nvPr/>
        </p:nvSpPr>
        <p:spPr>
          <a:xfrm>
            <a:off x="5218552" y="518257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8" name="TextBox 37"/>
          <p:cNvSpPr txBox="1"/>
          <p:nvPr/>
        </p:nvSpPr>
        <p:spPr>
          <a:xfrm>
            <a:off x="1888856" y="4202969"/>
            <a:ext cx="1579701" cy="1384995"/>
          </a:xfrm>
          <a:prstGeom prst="rect">
            <a:avLst/>
          </a:prstGeom>
          <a:noFill/>
        </p:spPr>
        <p:txBody>
          <a:bodyPr wrap="square" rtlCol="0">
            <a:spAutoFit/>
          </a:bodyPr>
          <a:lstStyle/>
          <a:p>
            <a:pPr algn="ctr"/>
            <a:r>
              <a:rPr lang="en-US" sz="1200"/>
              <a:t>Round 0.0685 to two significant figures</a:t>
            </a:r>
          </a:p>
          <a:p>
            <a:pPr algn="ctr"/>
            <a:endParaRPr lang="en-US" sz="1200"/>
          </a:p>
          <a:p>
            <a:pPr algn="ctr"/>
            <a:r>
              <a:rPr lang="en-US" sz="1200"/>
              <a:t>0  .  0    6   8   5</a:t>
            </a:r>
            <a:endParaRPr lang="en-US" sz="1200" u="sng"/>
          </a:p>
          <a:p>
            <a:pPr algn="ctr"/>
            <a:endParaRPr lang="en-US" sz="1200"/>
          </a:p>
          <a:p>
            <a:pPr algn="ctr"/>
            <a:endParaRPr lang="en-US" sz="1200"/>
          </a:p>
          <a:p>
            <a:pPr algn="ctr"/>
            <a:endParaRPr lang="en-US" sz="1200" u="sng"/>
          </a:p>
        </p:txBody>
      </p:sp>
      <p:sp>
        <p:nvSpPr>
          <p:cNvPr id="39" name="TextBox 38"/>
          <p:cNvSpPr txBox="1"/>
          <p:nvPr/>
        </p:nvSpPr>
        <p:spPr>
          <a:xfrm>
            <a:off x="3577149" y="3043735"/>
            <a:ext cx="1419715" cy="830997"/>
          </a:xfrm>
          <a:prstGeom prst="rect">
            <a:avLst/>
          </a:prstGeom>
          <a:noFill/>
        </p:spPr>
        <p:txBody>
          <a:bodyPr wrap="square" rtlCol="0">
            <a:spAutoFit/>
          </a:bodyPr>
          <a:lstStyle/>
          <a:p>
            <a:pPr algn="ctr"/>
            <a:r>
              <a:rPr lang="en-US" sz="1200"/>
              <a:t>Round 0.937 to two significant figures</a:t>
            </a:r>
          </a:p>
          <a:p>
            <a:pPr algn="ctr"/>
            <a:endParaRPr lang="en-US" sz="1200"/>
          </a:p>
          <a:p>
            <a:pPr algn="ctr"/>
            <a:endParaRPr lang="en-US" sz="1200"/>
          </a:p>
        </p:txBody>
      </p:sp>
      <p:sp>
        <p:nvSpPr>
          <p:cNvPr id="40" name="TextBox 39"/>
          <p:cNvSpPr txBox="1"/>
          <p:nvPr/>
        </p:nvSpPr>
        <p:spPr>
          <a:xfrm>
            <a:off x="3516180" y="4199852"/>
            <a:ext cx="1559466" cy="1015663"/>
          </a:xfrm>
          <a:prstGeom prst="rect">
            <a:avLst/>
          </a:prstGeom>
          <a:noFill/>
        </p:spPr>
        <p:txBody>
          <a:bodyPr wrap="square" rtlCol="0">
            <a:spAutoFit/>
          </a:bodyPr>
          <a:lstStyle/>
          <a:p>
            <a:pPr algn="ctr"/>
            <a:r>
              <a:rPr lang="en-US" sz="1200"/>
              <a:t>Round 0.0817 to two significant figures</a:t>
            </a:r>
          </a:p>
          <a:p>
            <a:pPr algn="ctr"/>
            <a:endParaRPr lang="en-US" sz="1200"/>
          </a:p>
          <a:p>
            <a:pPr algn="ctr"/>
            <a:endParaRPr lang="en-US" sz="1200"/>
          </a:p>
          <a:p>
            <a:pPr algn="ctr"/>
            <a:endParaRPr lang="en-US" sz="1200" u="sng"/>
          </a:p>
        </p:txBody>
      </p:sp>
      <p:sp>
        <p:nvSpPr>
          <p:cNvPr id="41" name="TextBox 40"/>
          <p:cNvSpPr txBox="1"/>
          <p:nvPr/>
        </p:nvSpPr>
        <p:spPr>
          <a:xfrm>
            <a:off x="5252784" y="3036031"/>
            <a:ext cx="1419715" cy="1015663"/>
          </a:xfrm>
          <a:prstGeom prst="rect">
            <a:avLst/>
          </a:prstGeom>
          <a:noFill/>
        </p:spPr>
        <p:txBody>
          <a:bodyPr wrap="square" rtlCol="0">
            <a:spAutoFit/>
          </a:bodyPr>
          <a:lstStyle/>
          <a:p>
            <a:pPr algn="ctr"/>
            <a:r>
              <a:rPr lang="en-US" sz="1200"/>
              <a:t>Round 0.751 to two significant figures</a:t>
            </a:r>
          </a:p>
          <a:p>
            <a:pPr algn="ctr"/>
            <a:endParaRPr lang="en-US" sz="1200"/>
          </a:p>
          <a:p>
            <a:pPr algn="ctr"/>
            <a:endParaRPr lang="en-US" sz="1200"/>
          </a:p>
          <a:p>
            <a:pPr algn="ctr"/>
            <a:endParaRPr lang="en-US" sz="1200" u="sng"/>
          </a:p>
        </p:txBody>
      </p:sp>
      <p:sp>
        <p:nvSpPr>
          <p:cNvPr id="42" name="TextBox 41"/>
          <p:cNvSpPr txBox="1"/>
          <p:nvPr/>
        </p:nvSpPr>
        <p:spPr>
          <a:xfrm>
            <a:off x="5183785" y="4202968"/>
            <a:ext cx="1505438" cy="1015663"/>
          </a:xfrm>
          <a:prstGeom prst="rect">
            <a:avLst/>
          </a:prstGeom>
          <a:noFill/>
        </p:spPr>
        <p:txBody>
          <a:bodyPr wrap="square" rtlCol="0">
            <a:spAutoFit/>
          </a:bodyPr>
          <a:lstStyle/>
          <a:p>
            <a:pPr algn="ctr"/>
            <a:r>
              <a:rPr lang="en-US" sz="1200"/>
              <a:t>Round 0.0952 to two significant figures</a:t>
            </a:r>
          </a:p>
          <a:p>
            <a:pPr algn="ctr"/>
            <a:endParaRPr lang="en-US" sz="1200"/>
          </a:p>
          <a:p>
            <a:pPr algn="ctr"/>
            <a:endParaRPr lang="en-US" sz="1200"/>
          </a:p>
          <a:p>
            <a:pPr algn="ctr"/>
            <a:endParaRPr lang="en-US" sz="1200" u="sng"/>
          </a:p>
        </p:txBody>
      </p:sp>
      <p:sp>
        <p:nvSpPr>
          <p:cNvPr id="45" name="TextBox 44"/>
          <p:cNvSpPr txBox="1"/>
          <p:nvPr/>
        </p:nvSpPr>
        <p:spPr>
          <a:xfrm>
            <a:off x="2284127" y="5726762"/>
            <a:ext cx="3089564" cy="276999"/>
          </a:xfrm>
          <a:prstGeom prst="rect">
            <a:avLst/>
          </a:prstGeom>
          <a:noFill/>
        </p:spPr>
        <p:txBody>
          <a:bodyPr wrap="none" rtlCol="0">
            <a:spAutoFit/>
          </a:bodyPr>
          <a:lstStyle/>
          <a:p>
            <a:r>
              <a:rPr lang="en-US" sz="1200"/>
              <a:t>7. Round each number to 2 significant figures. </a:t>
            </a:r>
            <a:endParaRPr lang="en-GB" sz="1200"/>
          </a:p>
        </p:txBody>
      </p:sp>
      <p:sp>
        <p:nvSpPr>
          <p:cNvPr id="46" name="TextBox 45"/>
          <p:cNvSpPr txBox="1"/>
          <p:nvPr/>
        </p:nvSpPr>
        <p:spPr>
          <a:xfrm>
            <a:off x="387419" y="6083720"/>
            <a:ext cx="692818" cy="276999"/>
          </a:xfrm>
          <a:prstGeom prst="rect">
            <a:avLst/>
          </a:prstGeom>
          <a:noFill/>
        </p:spPr>
        <p:txBody>
          <a:bodyPr wrap="none" rtlCol="0">
            <a:spAutoFit/>
          </a:bodyPr>
          <a:lstStyle/>
          <a:p>
            <a:r>
              <a:rPr lang="en-US" sz="1200"/>
              <a:t>a) 0.315</a:t>
            </a:r>
            <a:endParaRPr lang="en-GB" sz="1200"/>
          </a:p>
        </p:txBody>
      </p:sp>
      <p:sp>
        <p:nvSpPr>
          <p:cNvPr id="47" name="TextBox 46"/>
          <p:cNvSpPr txBox="1"/>
          <p:nvPr/>
        </p:nvSpPr>
        <p:spPr>
          <a:xfrm>
            <a:off x="1439676" y="6075017"/>
            <a:ext cx="699230" cy="276999"/>
          </a:xfrm>
          <a:prstGeom prst="rect">
            <a:avLst/>
          </a:prstGeom>
          <a:noFill/>
        </p:spPr>
        <p:txBody>
          <a:bodyPr wrap="none" rtlCol="0">
            <a:spAutoFit/>
          </a:bodyPr>
          <a:lstStyle/>
          <a:p>
            <a:r>
              <a:rPr lang="en-US" sz="1200"/>
              <a:t>b) 0.351</a:t>
            </a:r>
            <a:endParaRPr lang="en-GB" sz="1200"/>
          </a:p>
        </p:txBody>
      </p:sp>
      <p:sp>
        <p:nvSpPr>
          <p:cNvPr id="48" name="TextBox 47"/>
          <p:cNvSpPr txBox="1"/>
          <p:nvPr/>
        </p:nvSpPr>
        <p:spPr>
          <a:xfrm>
            <a:off x="2516335" y="6075018"/>
            <a:ext cx="684803" cy="276999"/>
          </a:xfrm>
          <a:prstGeom prst="rect">
            <a:avLst/>
          </a:prstGeom>
          <a:noFill/>
        </p:spPr>
        <p:txBody>
          <a:bodyPr wrap="none" rtlCol="0">
            <a:spAutoFit/>
          </a:bodyPr>
          <a:lstStyle/>
          <a:p>
            <a:r>
              <a:rPr lang="en-US" sz="1200"/>
              <a:t>c) 0.359</a:t>
            </a:r>
            <a:endParaRPr lang="en-GB" sz="1200"/>
          </a:p>
        </p:txBody>
      </p:sp>
      <p:sp>
        <p:nvSpPr>
          <p:cNvPr id="49" name="TextBox 48"/>
          <p:cNvSpPr txBox="1"/>
          <p:nvPr/>
        </p:nvSpPr>
        <p:spPr>
          <a:xfrm>
            <a:off x="3523381" y="6098110"/>
            <a:ext cx="699230" cy="276999"/>
          </a:xfrm>
          <a:prstGeom prst="rect">
            <a:avLst/>
          </a:prstGeom>
          <a:noFill/>
        </p:spPr>
        <p:txBody>
          <a:bodyPr wrap="none" rtlCol="0">
            <a:spAutoFit/>
          </a:bodyPr>
          <a:lstStyle/>
          <a:p>
            <a:r>
              <a:rPr lang="en-US" sz="1200"/>
              <a:t>d) 0.399</a:t>
            </a:r>
            <a:endParaRPr lang="en-GB" sz="1200"/>
          </a:p>
        </p:txBody>
      </p:sp>
      <p:sp>
        <p:nvSpPr>
          <p:cNvPr id="50" name="TextBox 49"/>
          <p:cNvSpPr txBox="1"/>
          <p:nvPr/>
        </p:nvSpPr>
        <p:spPr>
          <a:xfrm>
            <a:off x="4627144" y="6094630"/>
            <a:ext cx="696024" cy="276999"/>
          </a:xfrm>
          <a:prstGeom prst="rect">
            <a:avLst/>
          </a:prstGeom>
          <a:noFill/>
        </p:spPr>
        <p:txBody>
          <a:bodyPr wrap="none" rtlCol="0">
            <a:spAutoFit/>
          </a:bodyPr>
          <a:lstStyle/>
          <a:p>
            <a:r>
              <a:rPr lang="en-US" sz="1200"/>
              <a:t>e) 0.193</a:t>
            </a:r>
            <a:endParaRPr lang="en-GB" sz="1200"/>
          </a:p>
        </p:txBody>
      </p:sp>
      <p:sp>
        <p:nvSpPr>
          <p:cNvPr id="51" name="Rectangle 50">
            <a:extLst>
              <a:ext uri="{FF2B5EF4-FFF2-40B4-BE49-F238E27FC236}">
                <a16:creationId xmlns:a16="http://schemas.microsoft.com/office/drawing/2014/main" id="{CEEF23AD-EA17-135A-DB95-1D1FECB286F3}"/>
              </a:ext>
            </a:extLst>
          </p:cNvPr>
          <p:cNvSpPr/>
          <p:nvPr/>
        </p:nvSpPr>
        <p:spPr>
          <a:xfrm>
            <a:off x="419177" y="66564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2" name="Rectangle 51">
            <a:extLst>
              <a:ext uri="{FF2B5EF4-FFF2-40B4-BE49-F238E27FC236}">
                <a16:creationId xmlns:a16="http://schemas.microsoft.com/office/drawing/2014/main" id="{CEEF23AD-EA17-135A-DB95-1D1FECB286F3}"/>
              </a:ext>
            </a:extLst>
          </p:cNvPr>
          <p:cNvSpPr/>
          <p:nvPr/>
        </p:nvSpPr>
        <p:spPr>
          <a:xfrm>
            <a:off x="1463132" y="66564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3" name="Rectangle 52">
            <a:extLst>
              <a:ext uri="{FF2B5EF4-FFF2-40B4-BE49-F238E27FC236}">
                <a16:creationId xmlns:a16="http://schemas.microsoft.com/office/drawing/2014/main" id="{CEEF23AD-EA17-135A-DB95-1D1FECB286F3}"/>
              </a:ext>
            </a:extLst>
          </p:cNvPr>
          <p:cNvSpPr/>
          <p:nvPr/>
        </p:nvSpPr>
        <p:spPr>
          <a:xfrm>
            <a:off x="2519016" y="66564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4" name="Rectangle 53">
            <a:extLst>
              <a:ext uri="{FF2B5EF4-FFF2-40B4-BE49-F238E27FC236}">
                <a16:creationId xmlns:a16="http://schemas.microsoft.com/office/drawing/2014/main" id="{CEEF23AD-EA17-135A-DB95-1D1FECB286F3}"/>
              </a:ext>
            </a:extLst>
          </p:cNvPr>
          <p:cNvSpPr/>
          <p:nvPr/>
        </p:nvSpPr>
        <p:spPr>
          <a:xfrm>
            <a:off x="3593214" y="66564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5" name="Rectangle 54">
            <a:extLst>
              <a:ext uri="{FF2B5EF4-FFF2-40B4-BE49-F238E27FC236}">
                <a16:creationId xmlns:a16="http://schemas.microsoft.com/office/drawing/2014/main" id="{CEEF23AD-EA17-135A-DB95-1D1FECB286F3}"/>
              </a:ext>
            </a:extLst>
          </p:cNvPr>
          <p:cNvSpPr/>
          <p:nvPr/>
        </p:nvSpPr>
        <p:spPr>
          <a:xfrm>
            <a:off x="4644878" y="66564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6" name="TextBox 55"/>
          <p:cNvSpPr txBox="1"/>
          <p:nvPr/>
        </p:nvSpPr>
        <p:spPr>
          <a:xfrm>
            <a:off x="5722157" y="6120277"/>
            <a:ext cx="746358" cy="276999"/>
          </a:xfrm>
          <a:prstGeom prst="rect">
            <a:avLst/>
          </a:prstGeom>
          <a:noFill/>
        </p:spPr>
        <p:txBody>
          <a:bodyPr wrap="none" rtlCol="0">
            <a:spAutoFit/>
          </a:bodyPr>
          <a:lstStyle/>
          <a:p>
            <a:r>
              <a:rPr lang="en-US" sz="1200"/>
              <a:t>f) 0.1931</a:t>
            </a:r>
            <a:endParaRPr lang="en-GB" sz="1200"/>
          </a:p>
        </p:txBody>
      </p:sp>
      <p:sp>
        <p:nvSpPr>
          <p:cNvPr id="57" name="Rectangle 56">
            <a:extLst>
              <a:ext uri="{FF2B5EF4-FFF2-40B4-BE49-F238E27FC236}">
                <a16:creationId xmlns:a16="http://schemas.microsoft.com/office/drawing/2014/main" id="{CEEF23AD-EA17-135A-DB95-1D1FECB286F3}"/>
              </a:ext>
            </a:extLst>
          </p:cNvPr>
          <p:cNvSpPr/>
          <p:nvPr/>
        </p:nvSpPr>
        <p:spPr>
          <a:xfrm>
            <a:off x="5693980" y="66564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8" name="TextBox 57"/>
          <p:cNvSpPr txBox="1"/>
          <p:nvPr/>
        </p:nvSpPr>
        <p:spPr>
          <a:xfrm>
            <a:off x="419177" y="7118043"/>
            <a:ext cx="769763" cy="276999"/>
          </a:xfrm>
          <a:prstGeom prst="rect">
            <a:avLst/>
          </a:prstGeom>
          <a:noFill/>
        </p:spPr>
        <p:txBody>
          <a:bodyPr wrap="none" rtlCol="0">
            <a:spAutoFit/>
          </a:bodyPr>
          <a:lstStyle/>
          <a:p>
            <a:r>
              <a:rPr lang="en-US" sz="1200"/>
              <a:t>g) 0.1913</a:t>
            </a:r>
            <a:endParaRPr lang="en-GB" sz="1200"/>
          </a:p>
        </p:txBody>
      </p:sp>
      <p:sp>
        <p:nvSpPr>
          <p:cNvPr id="59" name="TextBox 58"/>
          <p:cNvSpPr txBox="1"/>
          <p:nvPr/>
        </p:nvSpPr>
        <p:spPr>
          <a:xfrm>
            <a:off x="1471434" y="7109340"/>
            <a:ext cx="777777" cy="276999"/>
          </a:xfrm>
          <a:prstGeom prst="rect">
            <a:avLst/>
          </a:prstGeom>
          <a:noFill/>
        </p:spPr>
        <p:txBody>
          <a:bodyPr wrap="none" rtlCol="0">
            <a:spAutoFit/>
          </a:bodyPr>
          <a:lstStyle/>
          <a:p>
            <a:r>
              <a:rPr lang="en-US" sz="1200"/>
              <a:t>h) 0.1935</a:t>
            </a:r>
            <a:endParaRPr lang="en-GB" sz="1200"/>
          </a:p>
        </p:txBody>
      </p:sp>
      <p:sp>
        <p:nvSpPr>
          <p:cNvPr id="60" name="TextBox 59"/>
          <p:cNvSpPr txBox="1"/>
          <p:nvPr/>
        </p:nvSpPr>
        <p:spPr>
          <a:xfrm>
            <a:off x="2548093" y="7109341"/>
            <a:ext cx="732893" cy="276999"/>
          </a:xfrm>
          <a:prstGeom prst="rect">
            <a:avLst/>
          </a:prstGeom>
          <a:noFill/>
        </p:spPr>
        <p:txBody>
          <a:bodyPr wrap="none" rtlCol="0">
            <a:spAutoFit/>
          </a:bodyPr>
          <a:lstStyle/>
          <a:p>
            <a:r>
              <a:rPr lang="en-US" sz="1200"/>
              <a:t>i) 0.1953</a:t>
            </a:r>
            <a:endParaRPr lang="en-GB" sz="1200"/>
          </a:p>
        </p:txBody>
      </p:sp>
      <p:sp>
        <p:nvSpPr>
          <p:cNvPr id="61" name="TextBox 60"/>
          <p:cNvSpPr txBox="1"/>
          <p:nvPr/>
        </p:nvSpPr>
        <p:spPr>
          <a:xfrm>
            <a:off x="3555139" y="7132433"/>
            <a:ext cx="734496" cy="276999"/>
          </a:xfrm>
          <a:prstGeom prst="rect">
            <a:avLst/>
          </a:prstGeom>
          <a:noFill/>
        </p:spPr>
        <p:txBody>
          <a:bodyPr wrap="none" rtlCol="0">
            <a:spAutoFit/>
          </a:bodyPr>
          <a:lstStyle/>
          <a:p>
            <a:r>
              <a:rPr lang="en-US" sz="1200"/>
              <a:t>j) 0.1955</a:t>
            </a:r>
            <a:endParaRPr lang="en-GB" sz="1200"/>
          </a:p>
        </p:txBody>
      </p:sp>
      <p:sp>
        <p:nvSpPr>
          <p:cNvPr id="62" name="TextBox 61"/>
          <p:cNvSpPr txBox="1"/>
          <p:nvPr/>
        </p:nvSpPr>
        <p:spPr>
          <a:xfrm>
            <a:off x="4658902" y="7128953"/>
            <a:ext cx="768159" cy="276999"/>
          </a:xfrm>
          <a:prstGeom prst="rect">
            <a:avLst/>
          </a:prstGeom>
          <a:noFill/>
        </p:spPr>
        <p:txBody>
          <a:bodyPr wrap="none" rtlCol="0">
            <a:spAutoFit/>
          </a:bodyPr>
          <a:lstStyle/>
          <a:p>
            <a:r>
              <a:rPr lang="en-US" sz="1200"/>
              <a:t>k) 0.1995</a:t>
            </a:r>
            <a:endParaRPr lang="en-GB" sz="1200"/>
          </a:p>
        </p:txBody>
      </p:sp>
      <p:sp>
        <p:nvSpPr>
          <p:cNvPr id="63" name="Rectangle 62">
            <a:extLst>
              <a:ext uri="{FF2B5EF4-FFF2-40B4-BE49-F238E27FC236}">
                <a16:creationId xmlns:a16="http://schemas.microsoft.com/office/drawing/2014/main" id="{CEEF23AD-EA17-135A-DB95-1D1FECB286F3}"/>
              </a:ext>
            </a:extLst>
          </p:cNvPr>
          <p:cNvSpPr/>
          <p:nvPr/>
        </p:nvSpPr>
        <p:spPr>
          <a:xfrm>
            <a:off x="419177" y="76538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4" name="Rectangle 63">
            <a:extLst>
              <a:ext uri="{FF2B5EF4-FFF2-40B4-BE49-F238E27FC236}">
                <a16:creationId xmlns:a16="http://schemas.microsoft.com/office/drawing/2014/main" id="{CEEF23AD-EA17-135A-DB95-1D1FECB286F3}"/>
              </a:ext>
            </a:extLst>
          </p:cNvPr>
          <p:cNvSpPr/>
          <p:nvPr/>
        </p:nvSpPr>
        <p:spPr>
          <a:xfrm>
            <a:off x="1463132" y="76538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5" name="Rectangle 64">
            <a:extLst>
              <a:ext uri="{FF2B5EF4-FFF2-40B4-BE49-F238E27FC236}">
                <a16:creationId xmlns:a16="http://schemas.microsoft.com/office/drawing/2014/main" id="{CEEF23AD-EA17-135A-DB95-1D1FECB286F3}"/>
              </a:ext>
            </a:extLst>
          </p:cNvPr>
          <p:cNvSpPr/>
          <p:nvPr/>
        </p:nvSpPr>
        <p:spPr>
          <a:xfrm>
            <a:off x="2519016" y="76538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6" name="Rectangle 65">
            <a:extLst>
              <a:ext uri="{FF2B5EF4-FFF2-40B4-BE49-F238E27FC236}">
                <a16:creationId xmlns:a16="http://schemas.microsoft.com/office/drawing/2014/main" id="{CEEF23AD-EA17-135A-DB95-1D1FECB286F3}"/>
              </a:ext>
            </a:extLst>
          </p:cNvPr>
          <p:cNvSpPr/>
          <p:nvPr/>
        </p:nvSpPr>
        <p:spPr>
          <a:xfrm>
            <a:off x="3593214" y="76538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CEEF23AD-EA17-135A-DB95-1D1FECB286F3}"/>
              </a:ext>
            </a:extLst>
          </p:cNvPr>
          <p:cNvSpPr/>
          <p:nvPr/>
        </p:nvSpPr>
        <p:spPr>
          <a:xfrm>
            <a:off x="4644878" y="76538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TextBox 67"/>
          <p:cNvSpPr txBox="1"/>
          <p:nvPr/>
        </p:nvSpPr>
        <p:spPr>
          <a:xfrm>
            <a:off x="5753915" y="7154600"/>
            <a:ext cx="732893" cy="276999"/>
          </a:xfrm>
          <a:prstGeom prst="rect">
            <a:avLst/>
          </a:prstGeom>
          <a:noFill/>
        </p:spPr>
        <p:txBody>
          <a:bodyPr wrap="none" rtlCol="0">
            <a:spAutoFit/>
          </a:bodyPr>
          <a:lstStyle/>
          <a:p>
            <a:r>
              <a:rPr lang="en-US" sz="1200"/>
              <a:t>l) 0.1999</a:t>
            </a:r>
            <a:endParaRPr lang="en-GB" sz="1200"/>
          </a:p>
        </p:txBody>
      </p:sp>
      <p:sp>
        <p:nvSpPr>
          <p:cNvPr id="69" name="Rectangle 68">
            <a:extLst>
              <a:ext uri="{FF2B5EF4-FFF2-40B4-BE49-F238E27FC236}">
                <a16:creationId xmlns:a16="http://schemas.microsoft.com/office/drawing/2014/main" id="{CEEF23AD-EA17-135A-DB95-1D1FECB286F3}"/>
              </a:ext>
            </a:extLst>
          </p:cNvPr>
          <p:cNvSpPr/>
          <p:nvPr/>
        </p:nvSpPr>
        <p:spPr>
          <a:xfrm>
            <a:off x="5693980" y="76538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TextBox 69"/>
          <p:cNvSpPr txBox="1"/>
          <p:nvPr/>
        </p:nvSpPr>
        <p:spPr>
          <a:xfrm>
            <a:off x="369685" y="8217112"/>
            <a:ext cx="821059" cy="276999"/>
          </a:xfrm>
          <a:prstGeom prst="rect">
            <a:avLst/>
          </a:prstGeom>
          <a:noFill/>
        </p:spPr>
        <p:txBody>
          <a:bodyPr wrap="none" rtlCol="0">
            <a:spAutoFit/>
          </a:bodyPr>
          <a:lstStyle/>
          <a:p>
            <a:r>
              <a:rPr lang="en-US" sz="1200"/>
              <a:t>m) 0.0156</a:t>
            </a:r>
            <a:endParaRPr lang="en-GB" sz="1200"/>
          </a:p>
        </p:txBody>
      </p:sp>
      <p:sp>
        <p:nvSpPr>
          <p:cNvPr id="71" name="TextBox 70"/>
          <p:cNvSpPr txBox="1"/>
          <p:nvPr/>
        </p:nvSpPr>
        <p:spPr>
          <a:xfrm>
            <a:off x="1415654" y="8224458"/>
            <a:ext cx="777777" cy="276999"/>
          </a:xfrm>
          <a:prstGeom prst="rect">
            <a:avLst/>
          </a:prstGeom>
          <a:noFill/>
        </p:spPr>
        <p:txBody>
          <a:bodyPr wrap="none" rtlCol="0">
            <a:spAutoFit/>
          </a:bodyPr>
          <a:lstStyle/>
          <a:p>
            <a:r>
              <a:rPr lang="en-US" sz="1200"/>
              <a:t>n) 0.0165</a:t>
            </a:r>
            <a:endParaRPr lang="en-GB" sz="1200"/>
          </a:p>
        </p:txBody>
      </p:sp>
      <p:sp>
        <p:nvSpPr>
          <p:cNvPr id="72" name="TextBox 71"/>
          <p:cNvSpPr txBox="1"/>
          <p:nvPr/>
        </p:nvSpPr>
        <p:spPr>
          <a:xfrm>
            <a:off x="2457248" y="8237741"/>
            <a:ext cx="779381" cy="276999"/>
          </a:xfrm>
          <a:prstGeom prst="rect">
            <a:avLst/>
          </a:prstGeom>
          <a:noFill/>
        </p:spPr>
        <p:txBody>
          <a:bodyPr wrap="none" rtlCol="0">
            <a:spAutoFit/>
          </a:bodyPr>
          <a:lstStyle/>
          <a:p>
            <a:r>
              <a:rPr lang="en-US" sz="1200"/>
              <a:t>o) 0.0564</a:t>
            </a:r>
            <a:endParaRPr lang="en-GB" sz="1200"/>
          </a:p>
        </p:txBody>
      </p:sp>
      <p:sp>
        <p:nvSpPr>
          <p:cNvPr id="73" name="TextBox 72"/>
          <p:cNvSpPr txBox="1"/>
          <p:nvPr/>
        </p:nvSpPr>
        <p:spPr>
          <a:xfrm>
            <a:off x="3505647" y="8231502"/>
            <a:ext cx="777777" cy="276999"/>
          </a:xfrm>
          <a:prstGeom prst="rect">
            <a:avLst/>
          </a:prstGeom>
          <a:noFill/>
        </p:spPr>
        <p:txBody>
          <a:bodyPr wrap="none" rtlCol="0">
            <a:spAutoFit/>
          </a:bodyPr>
          <a:lstStyle/>
          <a:p>
            <a:r>
              <a:rPr lang="en-US" sz="1200"/>
              <a:t>p) 0.0565</a:t>
            </a:r>
            <a:endParaRPr lang="en-GB" sz="1200"/>
          </a:p>
        </p:txBody>
      </p:sp>
      <p:sp>
        <p:nvSpPr>
          <p:cNvPr id="74" name="TextBox 73"/>
          <p:cNvSpPr txBox="1"/>
          <p:nvPr/>
        </p:nvSpPr>
        <p:spPr>
          <a:xfrm>
            <a:off x="4592952" y="8217112"/>
            <a:ext cx="777777" cy="276999"/>
          </a:xfrm>
          <a:prstGeom prst="rect">
            <a:avLst/>
          </a:prstGeom>
          <a:noFill/>
        </p:spPr>
        <p:txBody>
          <a:bodyPr wrap="none" rtlCol="0">
            <a:spAutoFit/>
          </a:bodyPr>
          <a:lstStyle/>
          <a:p>
            <a:r>
              <a:rPr lang="en-US" sz="1200"/>
              <a:t>q) 0.0599</a:t>
            </a:r>
            <a:endParaRPr lang="en-GB" sz="1200"/>
          </a:p>
        </p:txBody>
      </p:sp>
      <p:sp>
        <p:nvSpPr>
          <p:cNvPr id="75" name="Rectangle 74">
            <a:extLst>
              <a:ext uri="{FF2B5EF4-FFF2-40B4-BE49-F238E27FC236}">
                <a16:creationId xmlns:a16="http://schemas.microsoft.com/office/drawing/2014/main" id="{CEEF23AD-EA17-135A-DB95-1D1FECB286F3}"/>
              </a:ext>
            </a:extLst>
          </p:cNvPr>
          <p:cNvSpPr/>
          <p:nvPr/>
        </p:nvSpPr>
        <p:spPr>
          <a:xfrm>
            <a:off x="401443" y="878406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6" name="Rectangle 75">
            <a:extLst>
              <a:ext uri="{FF2B5EF4-FFF2-40B4-BE49-F238E27FC236}">
                <a16:creationId xmlns:a16="http://schemas.microsoft.com/office/drawing/2014/main" id="{CEEF23AD-EA17-135A-DB95-1D1FECB286F3}"/>
              </a:ext>
            </a:extLst>
          </p:cNvPr>
          <p:cNvSpPr/>
          <p:nvPr/>
        </p:nvSpPr>
        <p:spPr>
          <a:xfrm>
            <a:off x="1445398" y="878406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7" name="Rectangle 76">
            <a:extLst>
              <a:ext uri="{FF2B5EF4-FFF2-40B4-BE49-F238E27FC236}">
                <a16:creationId xmlns:a16="http://schemas.microsoft.com/office/drawing/2014/main" id="{CEEF23AD-EA17-135A-DB95-1D1FECB286F3}"/>
              </a:ext>
            </a:extLst>
          </p:cNvPr>
          <p:cNvSpPr/>
          <p:nvPr/>
        </p:nvSpPr>
        <p:spPr>
          <a:xfrm>
            <a:off x="2501282" y="878406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8" name="Rectangle 77">
            <a:extLst>
              <a:ext uri="{FF2B5EF4-FFF2-40B4-BE49-F238E27FC236}">
                <a16:creationId xmlns:a16="http://schemas.microsoft.com/office/drawing/2014/main" id="{CEEF23AD-EA17-135A-DB95-1D1FECB286F3}"/>
              </a:ext>
            </a:extLst>
          </p:cNvPr>
          <p:cNvSpPr/>
          <p:nvPr/>
        </p:nvSpPr>
        <p:spPr>
          <a:xfrm>
            <a:off x="3575480" y="878406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9" name="Rectangle 78">
            <a:extLst>
              <a:ext uri="{FF2B5EF4-FFF2-40B4-BE49-F238E27FC236}">
                <a16:creationId xmlns:a16="http://schemas.microsoft.com/office/drawing/2014/main" id="{CEEF23AD-EA17-135A-DB95-1D1FECB286F3}"/>
              </a:ext>
            </a:extLst>
          </p:cNvPr>
          <p:cNvSpPr/>
          <p:nvPr/>
        </p:nvSpPr>
        <p:spPr>
          <a:xfrm>
            <a:off x="4627144" y="878406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0" name="TextBox 79"/>
          <p:cNvSpPr txBox="1"/>
          <p:nvPr/>
        </p:nvSpPr>
        <p:spPr>
          <a:xfrm>
            <a:off x="5639747" y="8212123"/>
            <a:ext cx="907621" cy="276999"/>
          </a:xfrm>
          <a:prstGeom prst="rect">
            <a:avLst/>
          </a:prstGeom>
          <a:noFill/>
        </p:spPr>
        <p:txBody>
          <a:bodyPr wrap="none" rtlCol="0">
            <a:spAutoFit/>
          </a:bodyPr>
          <a:lstStyle/>
          <a:p>
            <a:r>
              <a:rPr lang="en-US" sz="1200"/>
              <a:t>r) 0.009559</a:t>
            </a:r>
            <a:endParaRPr lang="en-GB" sz="1200"/>
          </a:p>
        </p:txBody>
      </p:sp>
      <p:sp>
        <p:nvSpPr>
          <p:cNvPr id="81" name="Rectangle 80">
            <a:extLst>
              <a:ext uri="{FF2B5EF4-FFF2-40B4-BE49-F238E27FC236}">
                <a16:creationId xmlns:a16="http://schemas.microsoft.com/office/drawing/2014/main" id="{CEEF23AD-EA17-135A-DB95-1D1FECB286F3}"/>
              </a:ext>
            </a:extLst>
          </p:cNvPr>
          <p:cNvSpPr/>
          <p:nvPr/>
        </p:nvSpPr>
        <p:spPr>
          <a:xfrm>
            <a:off x="5676246" y="878406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2"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28</a:t>
            </a:fld>
            <a:endParaRPr lang="en-GB"/>
          </a:p>
        </p:txBody>
      </p:sp>
      <p:sp>
        <p:nvSpPr>
          <p:cNvPr id="83" name="Rectangle 82">
            <a:extLst>
              <a:ext uri="{FF2B5EF4-FFF2-40B4-BE49-F238E27FC236}">
                <a16:creationId xmlns:a16="http://schemas.microsoft.com/office/drawing/2014/main" id="{9AA0D900-1D32-6442-D3F6-93670CE3C0D1}"/>
              </a:ext>
            </a:extLst>
          </p:cNvPr>
          <p:cNvSpPr/>
          <p:nvPr/>
        </p:nvSpPr>
        <p:spPr>
          <a:xfrm>
            <a:off x="93878" y="5677716"/>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21719724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B4A988A4-03CD-D549-9F12-81AFECBDEF37}"/>
              </a:ext>
            </a:extLst>
          </p:cNvPr>
          <p:cNvCxnSpPr>
            <a:cxnSpLocks/>
          </p:cNvCxnSpPr>
          <p:nvPr/>
        </p:nvCxnSpPr>
        <p:spPr>
          <a:xfrm>
            <a:off x="945480" y="2030231"/>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 name="Table 2"/>
          <p:cNvGraphicFramePr>
            <a:graphicFrameLocks noGrp="1"/>
          </p:cNvGraphicFramePr>
          <p:nvPr/>
        </p:nvGraphicFramePr>
        <p:xfrm>
          <a:off x="147221" y="585857"/>
          <a:ext cx="6543680" cy="5076085"/>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254009">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a:solidFill>
                            <a:schemeClr val="tx1"/>
                          </a:solidFill>
                        </a:rPr>
                        <a:t>Round to 3</a:t>
                      </a:r>
                      <a:r>
                        <a:rPr lang="en-US" sz="1100" b="1" baseline="0">
                          <a:solidFill>
                            <a:schemeClr val="tx1"/>
                          </a:solidFill>
                        </a:rPr>
                        <a:t> </a:t>
                      </a:r>
                      <a:r>
                        <a:rPr lang="en-US" sz="1100" b="1">
                          <a:solidFill>
                            <a:schemeClr val="tx1"/>
                          </a:solidFill>
                        </a:rPr>
                        <a:t>significant figures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784831">
                <a:tc>
                  <a:txBody>
                    <a:bodyPr/>
                    <a:lstStyle/>
                    <a:p>
                      <a:pPr marL="0" indent="0">
                        <a:buNone/>
                      </a:pPr>
                      <a:r>
                        <a:rPr lang="en-US" sz="1100"/>
                        <a:t>1)</a:t>
                      </a:r>
                      <a:r>
                        <a:rPr lang="en-US" sz="1100" baseline="0"/>
                        <a:t> </a:t>
                      </a:r>
                      <a:r>
                        <a:rPr lang="en-US" sz="1100"/>
                        <a:t>Draw a line between</a:t>
                      </a:r>
                      <a:r>
                        <a:rPr lang="en-US" sz="1100" baseline="0"/>
                        <a:t> the </a:t>
                      </a:r>
                      <a:r>
                        <a:rPr lang="en-US" sz="1100" b="1" baseline="0"/>
                        <a:t>third and forth </a:t>
                      </a:r>
                      <a:r>
                        <a:rPr lang="en-US" sz="1100" baseline="0"/>
                        <a:t>significant figure.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625722">
                <a:tc>
                  <a:txBody>
                    <a:bodyPr/>
                    <a:lstStyle/>
                    <a:p>
                      <a:pPr marL="0" indent="0">
                        <a:buNone/>
                      </a:pPr>
                      <a:r>
                        <a:rPr lang="en-US" sz="1100"/>
                        <a:t>2) If the </a:t>
                      </a:r>
                      <a:r>
                        <a:rPr lang="en-US" sz="1100" baseline="0"/>
                        <a:t>4</a:t>
                      </a:r>
                      <a:r>
                        <a:rPr lang="en-US" sz="1100" baseline="30000"/>
                        <a:t>th</a:t>
                      </a:r>
                      <a:r>
                        <a:rPr lang="en-US" sz="1100" baseline="0"/>
                        <a:t> significant figure is </a:t>
                      </a:r>
                      <a:r>
                        <a:rPr lang="en-US" sz="1100" b="1" baseline="0"/>
                        <a:t>5 or above</a:t>
                      </a:r>
                      <a:r>
                        <a:rPr lang="en-US" sz="1100" baseline="0"/>
                        <a:t>, the 3</a:t>
                      </a:r>
                      <a:r>
                        <a:rPr lang="en-US" sz="1100" baseline="30000"/>
                        <a:t>rd</a:t>
                      </a:r>
                      <a:r>
                        <a:rPr lang="en-US" sz="1100" baseline="0"/>
                        <a:t> significant figure rounds </a:t>
                      </a:r>
                      <a:r>
                        <a:rPr lang="en-US" sz="1100" b="1" baseline="0"/>
                        <a:t>up.  </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406452">
                <a:tc>
                  <a:txBody>
                    <a:bodyPr/>
                    <a:lstStyle/>
                    <a:p>
                      <a:pPr marL="0" indent="0">
                        <a:buNone/>
                      </a:pPr>
                      <a:r>
                        <a:rPr lang="en-US" sz="1100"/>
                        <a:t>3) If the </a:t>
                      </a:r>
                      <a:r>
                        <a:rPr lang="en-US" sz="1100" baseline="0"/>
                        <a:t>4</a:t>
                      </a:r>
                      <a:r>
                        <a:rPr lang="en-US" sz="1100" baseline="30000"/>
                        <a:t>th</a:t>
                      </a:r>
                      <a:r>
                        <a:rPr lang="en-US" sz="1100" baseline="0"/>
                        <a:t> significant figure is </a:t>
                      </a:r>
                      <a:r>
                        <a:rPr lang="en-US" sz="1100" b="1" baseline="0"/>
                        <a:t>4 or below</a:t>
                      </a:r>
                      <a:r>
                        <a:rPr lang="en-US" sz="1100" baseline="0"/>
                        <a:t>, the 3</a:t>
                      </a:r>
                      <a:r>
                        <a:rPr lang="en-US" sz="1100" baseline="30000"/>
                        <a:t>rd</a:t>
                      </a:r>
                      <a:r>
                        <a:rPr lang="en-US" sz="1100" baseline="0"/>
                        <a:t> significant figure stays the same.</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p:sp>
        <p:nvSpPr>
          <p:cNvPr id="4" name="TextBox 3">
            <a:extLst>
              <a:ext uri="{FF2B5EF4-FFF2-40B4-BE49-F238E27FC236}">
                <a16:creationId xmlns:a16="http://schemas.microsoft.com/office/drawing/2014/main" id="{BCDC1A2B-2D26-C945-B722-18950FA49879}"/>
              </a:ext>
            </a:extLst>
          </p:cNvPr>
          <p:cNvSpPr txBox="1"/>
          <p:nvPr/>
        </p:nvSpPr>
        <p:spPr>
          <a:xfrm>
            <a:off x="1928840" y="328574"/>
            <a:ext cx="1410704" cy="276999"/>
          </a:xfrm>
          <a:prstGeom prst="rect">
            <a:avLst/>
          </a:prstGeom>
          <a:noFill/>
          <a:ln>
            <a:noFill/>
          </a:ln>
        </p:spPr>
        <p:txBody>
          <a:bodyPr wrap="square" rtlCol="0">
            <a:spAutoFit/>
          </a:bodyPr>
          <a:lstStyle/>
          <a:p>
            <a:r>
              <a:rPr lang="en-GB" sz="1200" b="1" i="1">
                <a:solidFill>
                  <a:srgbClr val="FF0000"/>
                </a:solidFill>
              </a:rPr>
              <a:t>Example 22 - I do…</a:t>
            </a:r>
          </a:p>
        </p:txBody>
      </p:sp>
      <p:sp>
        <p:nvSpPr>
          <p:cNvPr id="5" name="TextBox 4">
            <a:extLst>
              <a:ext uri="{FF2B5EF4-FFF2-40B4-BE49-F238E27FC236}">
                <a16:creationId xmlns:a16="http://schemas.microsoft.com/office/drawing/2014/main" id="{4AF4150A-9218-D640-8777-2ECCBC4D10FB}"/>
              </a:ext>
            </a:extLst>
          </p:cNvPr>
          <p:cNvSpPr txBox="1"/>
          <p:nvPr/>
        </p:nvSpPr>
        <p:spPr>
          <a:xfrm>
            <a:off x="5062737" y="306466"/>
            <a:ext cx="1643405" cy="276999"/>
          </a:xfrm>
          <a:prstGeom prst="rect">
            <a:avLst/>
          </a:prstGeom>
          <a:noFill/>
          <a:ln>
            <a:noFill/>
          </a:ln>
        </p:spPr>
        <p:txBody>
          <a:bodyPr wrap="square" rtlCol="0">
            <a:spAutoFit/>
          </a:bodyPr>
          <a:lstStyle/>
          <a:p>
            <a:r>
              <a:rPr lang="en-GB" sz="1200" b="1" i="1">
                <a:solidFill>
                  <a:srgbClr val="00B050"/>
                </a:solidFill>
              </a:rPr>
              <a:t>Example 24 – You do…</a:t>
            </a:r>
          </a:p>
        </p:txBody>
      </p:sp>
      <p:sp>
        <p:nvSpPr>
          <p:cNvPr id="6" name="TextBox 5">
            <a:extLst>
              <a:ext uri="{FF2B5EF4-FFF2-40B4-BE49-F238E27FC236}">
                <a16:creationId xmlns:a16="http://schemas.microsoft.com/office/drawing/2014/main" id="{BCDC1A2B-2D26-C945-B722-18950FA49879}"/>
              </a:ext>
            </a:extLst>
          </p:cNvPr>
          <p:cNvSpPr txBox="1"/>
          <p:nvPr/>
        </p:nvSpPr>
        <p:spPr>
          <a:xfrm>
            <a:off x="3453558" y="318567"/>
            <a:ext cx="1667605" cy="276999"/>
          </a:xfrm>
          <a:prstGeom prst="rect">
            <a:avLst/>
          </a:prstGeom>
          <a:noFill/>
          <a:ln>
            <a:noFill/>
          </a:ln>
        </p:spPr>
        <p:txBody>
          <a:bodyPr wrap="square" rtlCol="0">
            <a:spAutoFit/>
          </a:bodyPr>
          <a:lstStyle/>
          <a:p>
            <a:r>
              <a:rPr lang="en-GB" sz="1200" b="1" i="1">
                <a:solidFill>
                  <a:schemeClr val="accent2"/>
                </a:solidFill>
              </a:rPr>
              <a:t>Example 23 - We do…</a:t>
            </a:r>
          </a:p>
        </p:txBody>
      </p:sp>
      <p:sp>
        <p:nvSpPr>
          <p:cNvPr id="7" name="TextBox 6"/>
          <p:cNvSpPr txBox="1"/>
          <p:nvPr/>
        </p:nvSpPr>
        <p:spPr>
          <a:xfrm>
            <a:off x="1885549" y="856164"/>
            <a:ext cx="1419715" cy="1046440"/>
          </a:xfrm>
          <a:prstGeom prst="rect">
            <a:avLst/>
          </a:prstGeom>
          <a:noFill/>
        </p:spPr>
        <p:txBody>
          <a:bodyPr wrap="square" rtlCol="0">
            <a:spAutoFit/>
          </a:bodyPr>
          <a:lstStyle/>
          <a:p>
            <a:pPr algn="ctr"/>
            <a:r>
              <a:rPr lang="en-US" sz="1200"/>
              <a:t>Round 16740 to three significant figures</a:t>
            </a:r>
          </a:p>
          <a:p>
            <a:pPr algn="ctr"/>
            <a:endParaRPr lang="en-US" sz="1200"/>
          </a:p>
          <a:p>
            <a:pPr algn="ctr"/>
            <a:r>
              <a:rPr lang="en-US" sz="1400"/>
              <a:t>1  6  7  4  0</a:t>
            </a:r>
          </a:p>
        </p:txBody>
      </p:sp>
      <p:sp>
        <p:nvSpPr>
          <p:cNvPr id="12" name="Rectangle 11">
            <a:extLst>
              <a:ext uri="{FF2B5EF4-FFF2-40B4-BE49-F238E27FC236}">
                <a16:creationId xmlns:a16="http://schemas.microsoft.com/office/drawing/2014/main" id="{CEEF23AD-EA17-135A-DB95-1D1FECB286F3}"/>
              </a:ext>
            </a:extLst>
          </p:cNvPr>
          <p:cNvSpPr/>
          <p:nvPr/>
        </p:nvSpPr>
        <p:spPr>
          <a:xfrm>
            <a:off x="1890296" y="216600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9" name="TextBox 18"/>
          <p:cNvSpPr txBox="1"/>
          <p:nvPr/>
        </p:nvSpPr>
        <p:spPr>
          <a:xfrm>
            <a:off x="1885550" y="2477568"/>
            <a:ext cx="1419715" cy="1015663"/>
          </a:xfrm>
          <a:prstGeom prst="rect">
            <a:avLst/>
          </a:prstGeom>
          <a:noFill/>
        </p:spPr>
        <p:txBody>
          <a:bodyPr wrap="square" rtlCol="0">
            <a:spAutoFit/>
          </a:bodyPr>
          <a:lstStyle/>
          <a:p>
            <a:pPr algn="ctr"/>
            <a:r>
              <a:rPr lang="en-US" sz="1200"/>
              <a:t>Round 1.674 to three significant figures</a:t>
            </a:r>
          </a:p>
          <a:p>
            <a:pPr algn="ctr"/>
            <a:endParaRPr lang="en-US" sz="1200"/>
          </a:p>
          <a:p>
            <a:pPr algn="ctr"/>
            <a:r>
              <a:rPr lang="en-US" sz="1200"/>
              <a:t>1  .  6   7   4</a:t>
            </a:r>
          </a:p>
        </p:txBody>
      </p:sp>
      <p:sp>
        <p:nvSpPr>
          <p:cNvPr id="20" name="TextBox 19"/>
          <p:cNvSpPr txBox="1"/>
          <p:nvPr/>
        </p:nvSpPr>
        <p:spPr>
          <a:xfrm>
            <a:off x="1888129" y="3994674"/>
            <a:ext cx="1419715" cy="1015663"/>
          </a:xfrm>
          <a:prstGeom prst="rect">
            <a:avLst/>
          </a:prstGeom>
          <a:noFill/>
        </p:spPr>
        <p:txBody>
          <a:bodyPr wrap="square" rtlCol="0">
            <a:spAutoFit/>
          </a:bodyPr>
          <a:lstStyle/>
          <a:p>
            <a:pPr algn="ctr"/>
            <a:r>
              <a:rPr lang="en-US" sz="1200"/>
              <a:t>Round 0.1674 to three significant figures</a:t>
            </a:r>
          </a:p>
          <a:p>
            <a:pPr algn="ctr"/>
            <a:endParaRPr lang="en-US" sz="1200"/>
          </a:p>
          <a:p>
            <a:pPr algn="ctr"/>
            <a:r>
              <a:rPr lang="en-US" sz="1200"/>
              <a:t>0  .  1  6  7  4</a:t>
            </a:r>
          </a:p>
        </p:txBody>
      </p:sp>
      <p:sp>
        <p:nvSpPr>
          <p:cNvPr id="21" name="Rectangle 20">
            <a:extLst>
              <a:ext uri="{FF2B5EF4-FFF2-40B4-BE49-F238E27FC236}">
                <a16:creationId xmlns:a16="http://schemas.microsoft.com/office/drawing/2014/main" id="{CEEF23AD-EA17-135A-DB95-1D1FECB286F3}"/>
              </a:ext>
            </a:extLst>
          </p:cNvPr>
          <p:cNvSpPr/>
          <p:nvPr/>
        </p:nvSpPr>
        <p:spPr>
          <a:xfrm>
            <a:off x="1885549" y="363972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2" name="Rectangle 21">
            <a:extLst>
              <a:ext uri="{FF2B5EF4-FFF2-40B4-BE49-F238E27FC236}">
                <a16:creationId xmlns:a16="http://schemas.microsoft.com/office/drawing/2014/main" id="{CEEF23AD-EA17-135A-DB95-1D1FECB286F3}"/>
              </a:ext>
            </a:extLst>
          </p:cNvPr>
          <p:cNvSpPr/>
          <p:nvPr/>
        </p:nvSpPr>
        <p:spPr>
          <a:xfrm>
            <a:off x="1870782" y="514861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3" name="TextBox 22"/>
          <p:cNvSpPr txBox="1"/>
          <p:nvPr/>
        </p:nvSpPr>
        <p:spPr>
          <a:xfrm>
            <a:off x="3536703" y="852849"/>
            <a:ext cx="1419715" cy="830997"/>
          </a:xfrm>
          <a:prstGeom prst="rect">
            <a:avLst/>
          </a:prstGeom>
          <a:noFill/>
        </p:spPr>
        <p:txBody>
          <a:bodyPr wrap="square" rtlCol="0">
            <a:spAutoFit/>
          </a:bodyPr>
          <a:lstStyle/>
          <a:p>
            <a:pPr algn="ctr"/>
            <a:r>
              <a:rPr lang="en-US" sz="1200"/>
              <a:t>Round 24520 to three significant figures</a:t>
            </a:r>
          </a:p>
          <a:p>
            <a:pPr algn="ctr"/>
            <a:endParaRPr lang="en-US" sz="1200"/>
          </a:p>
        </p:txBody>
      </p:sp>
      <p:sp>
        <p:nvSpPr>
          <p:cNvPr id="24" name="Rectangle 23">
            <a:extLst>
              <a:ext uri="{FF2B5EF4-FFF2-40B4-BE49-F238E27FC236}">
                <a16:creationId xmlns:a16="http://schemas.microsoft.com/office/drawing/2014/main" id="{CEEF23AD-EA17-135A-DB95-1D1FECB286F3}"/>
              </a:ext>
            </a:extLst>
          </p:cNvPr>
          <p:cNvSpPr/>
          <p:nvPr/>
        </p:nvSpPr>
        <p:spPr>
          <a:xfrm>
            <a:off x="3541450" y="216268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 name="TextBox 24"/>
          <p:cNvSpPr txBox="1"/>
          <p:nvPr/>
        </p:nvSpPr>
        <p:spPr>
          <a:xfrm>
            <a:off x="3536704" y="2474253"/>
            <a:ext cx="1419715" cy="830997"/>
          </a:xfrm>
          <a:prstGeom prst="rect">
            <a:avLst/>
          </a:prstGeom>
          <a:noFill/>
        </p:spPr>
        <p:txBody>
          <a:bodyPr wrap="square" rtlCol="0">
            <a:spAutoFit/>
          </a:bodyPr>
          <a:lstStyle/>
          <a:p>
            <a:pPr algn="ctr"/>
            <a:r>
              <a:rPr lang="en-US" sz="1200"/>
              <a:t>Round 3.065 to three significant figures</a:t>
            </a:r>
          </a:p>
          <a:p>
            <a:pPr algn="ctr"/>
            <a:endParaRPr lang="en-US" sz="1200"/>
          </a:p>
        </p:txBody>
      </p:sp>
      <p:sp>
        <p:nvSpPr>
          <p:cNvPr id="26" name="TextBox 25"/>
          <p:cNvSpPr txBox="1"/>
          <p:nvPr/>
        </p:nvSpPr>
        <p:spPr>
          <a:xfrm>
            <a:off x="3539283" y="3991359"/>
            <a:ext cx="1419715" cy="830997"/>
          </a:xfrm>
          <a:prstGeom prst="rect">
            <a:avLst/>
          </a:prstGeom>
          <a:noFill/>
        </p:spPr>
        <p:txBody>
          <a:bodyPr wrap="square" rtlCol="0">
            <a:spAutoFit/>
          </a:bodyPr>
          <a:lstStyle/>
          <a:p>
            <a:pPr algn="ctr"/>
            <a:r>
              <a:rPr lang="en-US" sz="1200"/>
              <a:t>Round 0.8295 to three significant figures</a:t>
            </a:r>
          </a:p>
          <a:p>
            <a:pPr algn="ctr"/>
            <a:endParaRPr lang="en-US" sz="1200"/>
          </a:p>
        </p:txBody>
      </p:sp>
      <p:sp>
        <p:nvSpPr>
          <p:cNvPr id="27" name="Rectangle 26">
            <a:extLst>
              <a:ext uri="{FF2B5EF4-FFF2-40B4-BE49-F238E27FC236}">
                <a16:creationId xmlns:a16="http://schemas.microsoft.com/office/drawing/2014/main" id="{CEEF23AD-EA17-135A-DB95-1D1FECB286F3}"/>
              </a:ext>
            </a:extLst>
          </p:cNvPr>
          <p:cNvSpPr/>
          <p:nvPr/>
        </p:nvSpPr>
        <p:spPr>
          <a:xfrm>
            <a:off x="3536703" y="363641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8" name="Rectangle 27">
            <a:extLst>
              <a:ext uri="{FF2B5EF4-FFF2-40B4-BE49-F238E27FC236}">
                <a16:creationId xmlns:a16="http://schemas.microsoft.com/office/drawing/2014/main" id="{CEEF23AD-EA17-135A-DB95-1D1FECB286F3}"/>
              </a:ext>
            </a:extLst>
          </p:cNvPr>
          <p:cNvSpPr/>
          <p:nvPr/>
        </p:nvSpPr>
        <p:spPr>
          <a:xfrm>
            <a:off x="3521936" y="514530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TextBox 28"/>
          <p:cNvSpPr txBox="1"/>
          <p:nvPr/>
        </p:nvSpPr>
        <p:spPr>
          <a:xfrm>
            <a:off x="5168345" y="852849"/>
            <a:ext cx="1419715" cy="830997"/>
          </a:xfrm>
          <a:prstGeom prst="rect">
            <a:avLst/>
          </a:prstGeom>
          <a:noFill/>
        </p:spPr>
        <p:txBody>
          <a:bodyPr wrap="square" rtlCol="0">
            <a:spAutoFit/>
          </a:bodyPr>
          <a:lstStyle/>
          <a:p>
            <a:pPr algn="ctr"/>
            <a:r>
              <a:rPr lang="en-US" sz="1200"/>
              <a:t>Round 26380 to three significant figures</a:t>
            </a:r>
          </a:p>
          <a:p>
            <a:pPr algn="ctr"/>
            <a:endParaRPr lang="en-US" sz="1200"/>
          </a:p>
        </p:txBody>
      </p:sp>
      <p:sp>
        <p:nvSpPr>
          <p:cNvPr id="30" name="Rectangle 29">
            <a:extLst>
              <a:ext uri="{FF2B5EF4-FFF2-40B4-BE49-F238E27FC236}">
                <a16:creationId xmlns:a16="http://schemas.microsoft.com/office/drawing/2014/main" id="{CEEF23AD-EA17-135A-DB95-1D1FECB286F3}"/>
              </a:ext>
            </a:extLst>
          </p:cNvPr>
          <p:cNvSpPr/>
          <p:nvPr/>
        </p:nvSpPr>
        <p:spPr>
          <a:xfrm>
            <a:off x="5173092" y="216268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1" name="TextBox 30"/>
          <p:cNvSpPr txBox="1"/>
          <p:nvPr/>
        </p:nvSpPr>
        <p:spPr>
          <a:xfrm>
            <a:off x="5168346" y="2474253"/>
            <a:ext cx="1419715" cy="830997"/>
          </a:xfrm>
          <a:prstGeom prst="rect">
            <a:avLst/>
          </a:prstGeom>
          <a:noFill/>
        </p:spPr>
        <p:txBody>
          <a:bodyPr wrap="square" rtlCol="0">
            <a:spAutoFit/>
          </a:bodyPr>
          <a:lstStyle/>
          <a:p>
            <a:pPr algn="ctr"/>
            <a:r>
              <a:rPr lang="en-US" sz="1200"/>
              <a:t>Round 7.507 to three significant figures</a:t>
            </a:r>
          </a:p>
          <a:p>
            <a:pPr algn="ctr"/>
            <a:endParaRPr lang="en-US" sz="1200"/>
          </a:p>
        </p:txBody>
      </p:sp>
      <p:sp>
        <p:nvSpPr>
          <p:cNvPr id="32" name="TextBox 31"/>
          <p:cNvSpPr txBox="1"/>
          <p:nvPr/>
        </p:nvSpPr>
        <p:spPr>
          <a:xfrm>
            <a:off x="5170925" y="3991359"/>
            <a:ext cx="1419715" cy="830997"/>
          </a:xfrm>
          <a:prstGeom prst="rect">
            <a:avLst/>
          </a:prstGeom>
          <a:noFill/>
        </p:spPr>
        <p:txBody>
          <a:bodyPr wrap="square" rtlCol="0">
            <a:spAutoFit/>
          </a:bodyPr>
          <a:lstStyle/>
          <a:p>
            <a:pPr algn="ctr"/>
            <a:r>
              <a:rPr lang="en-US" sz="1200"/>
              <a:t>Round 0.7975 to three significant figures</a:t>
            </a:r>
          </a:p>
          <a:p>
            <a:pPr algn="ctr"/>
            <a:endParaRPr lang="en-US" sz="1200"/>
          </a:p>
        </p:txBody>
      </p:sp>
      <p:sp>
        <p:nvSpPr>
          <p:cNvPr id="33" name="Rectangle 32">
            <a:extLst>
              <a:ext uri="{FF2B5EF4-FFF2-40B4-BE49-F238E27FC236}">
                <a16:creationId xmlns:a16="http://schemas.microsoft.com/office/drawing/2014/main" id="{CEEF23AD-EA17-135A-DB95-1D1FECB286F3}"/>
              </a:ext>
            </a:extLst>
          </p:cNvPr>
          <p:cNvSpPr/>
          <p:nvPr/>
        </p:nvSpPr>
        <p:spPr>
          <a:xfrm>
            <a:off x="5168345" y="363641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4" name="Rectangle 33">
            <a:extLst>
              <a:ext uri="{FF2B5EF4-FFF2-40B4-BE49-F238E27FC236}">
                <a16:creationId xmlns:a16="http://schemas.microsoft.com/office/drawing/2014/main" id="{CEEF23AD-EA17-135A-DB95-1D1FECB286F3}"/>
              </a:ext>
            </a:extLst>
          </p:cNvPr>
          <p:cNvSpPr/>
          <p:nvPr/>
        </p:nvSpPr>
        <p:spPr>
          <a:xfrm>
            <a:off x="5153578" y="514530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7" name="TextBox 36"/>
          <p:cNvSpPr txBox="1"/>
          <p:nvPr/>
        </p:nvSpPr>
        <p:spPr>
          <a:xfrm>
            <a:off x="2247793" y="5718509"/>
            <a:ext cx="3089564" cy="276999"/>
          </a:xfrm>
          <a:prstGeom prst="rect">
            <a:avLst/>
          </a:prstGeom>
          <a:noFill/>
        </p:spPr>
        <p:txBody>
          <a:bodyPr wrap="none" rtlCol="0">
            <a:spAutoFit/>
          </a:bodyPr>
          <a:lstStyle/>
          <a:p>
            <a:r>
              <a:rPr lang="en-US" sz="1200"/>
              <a:t>8. Round each number to 3 significant figures. </a:t>
            </a:r>
            <a:endParaRPr lang="en-GB" sz="1200"/>
          </a:p>
        </p:txBody>
      </p:sp>
      <p:sp>
        <p:nvSpPr>
          <p:cNvPr id="38" name="TextBox 37"/>
          <p:cNvSpPr txBox="1"/>
          <p:nvPr/>
        </p:nvSpPr>
        <p:spPr>
          <a:xfrm>
            <a:off x="423028" y="6072185"/>
            <a:ext cx="732893" cy="276999"/>
          </a:xfrm>
          <a:prstGeom prst="rect">
            <a:avLst/>
          </a:prstGeom>
          <a:noFill/>
        </p:spPr>
        <p:txBody>
          <a:bodyPr wrap="none" rtlCol="0">
            <a:spAutoFit/>
          </a:bodyPr>
          <a:lstStyle/>
          <a:p>
            <a:r>
              <a:rPr lang="en-US" sz="1200"/>
              <a:t>a) 15560</a:t>
            </a:r>
            <a:endParaRPr lang="en-GB" sz="1200"/>
          </a:p>
        </p:txBody>
      </p:sp>
      <p:sp>
        <p:nvSpPr>
          <p:cNvPr id="39" name="TextBox 38"/>
          <p:cNvSpPr txBox="1"/>
          <p:nvPr/>
        </p:nvSpPr>
        <p:spPr>
          <a:xfrm>
            <a:off x="1475285" y="6063482"/>
            <a:ext cx="739305" cy="276999"/>
          </a:xfrm>
          <a:prstGeom prst="rect">
            <a:avLst/>
          </a:prstGeom>
          <a:noFill/>
        </p:spPr>
        <p:txBody>
          <a:bodyPr wrap="none" rtlCol="0">
            <a:spAutoFit/>
          </a:bodyPr>
          <a:lstStyle/>
          <a:p>
            <a:r>
              <a:rPr lang="en-US" sz="1200"/>
              <a:t>b) 15780</a:t>
            </a:r>
            <a:endParaRPr lang="en-GB" sz="1200"/>
          </a:p>
        </p:txBody>
      </p:sp>
      <p:sp>
        <p:nvSpPr>
          <p:cNvPr id="40" name="TextBox 39"/>
          <p:cNvSpPr txBox="1"/>
          <p:nvPr/>
        </p:nvSpPr>
        <p:spPr>
          <a:xfrm>
            <a:off x="2551944" y="6063483"/>
            <a:ext cx="724878" cy="276999"/>
          </a:xfrm>
          <a:prstGeom prst="rect">
            <a:avLst/>
          </a:prstGeom>
          <a:noFill/>
        </p:spPr>
        <p:txBody>
          <a:bodyPr wrap="none" rtlCol="0">
            <a:spAutoFit/>
          </a:bodyPr>
          <a:lstStyle/>
          <a:p>
            <a:r>
              <a:rPr lang="en-US" sz="1200"/>
              <a:t>c) 16790</a:t>
            </a:r>
            <a:endParaRPr lang="en-GB" sz="1200"/>
          </a:p>
        </p:txBody>
      </p:sp>
      <p:sp>
        <p:nvSpPr>
          <p:cNvPr id="41" name="TextBox 40"/>
          <p:cNvSpPr txBox="1"/>
          <p:nvPr/>
        </p:nvSpPr>
        <p:spPr>
          <a:xfrm>
            <a:off x="3558990" y="6086575"/>
            <a:ext cx="739305" cy="276999"/>
          </a:xfrm>
          <a:prstGeom prst="rect">
            <a:avLst/>
          </a:prstGeom>
          <a:noFill/>
        </p:spPr>
        <p:txBody>
          <a:bodyPr wrap="none" rtlCol="0">
            <a:spAutoFit/>
          </a:bodyPr>
          <a:lstStyle/>
          <a:p>
            <a:r>
              <a:rPr lang="en-US" sz="1200"/>
              <a:t>d) 16850</a:t>
            </a:r>
            <a:endParaRPr lang="en-GB" sz="1200"/>
          </a:p>
        </p:txBody>
      </p:sp>
      <p:sp>
        <p:nvSpPr>
          <p:cNvPr id="42" name="TextBox 41"/>
          <p:cNvSpPr txBox="1"/>
          <p:nvPr/>
        </p:nvSpPr>
        <p:spPr>
          <a:xfrm>
            <a:off x="4662753" y="6083095"/>
            <a:ext cx="736099" cy="276999"/>
          </a:xfrm>
          <a:prstGeom prst="rect">
            <a:avLst/>
          </a:prstGeom>
          <a:noFill/>
        </p:spPr>
        <p:txBody>
          <a:bodyPr wrap="none" rtlCol="0">
            <a:spAutoFit/>
          </a:bodyPr>
          <a:lstStyle/>
          <a:p>
            <a:r>
              <a:rPr lang="en-US" sz="1200"/>
              <a:t>e) 16855</a:t>
            </a:r>
            <a:endParaRPr lang="en-GB" sz="1200"/>
          </a:p>
        </p:txBody>
      </p:sp>
      <p:sp>
        <p:nvSpPr>
          <p:cNvPr id="43" name="Rectangle 42">
            <a:extLst>
              <a:ext uri="{FF2B5EF4-FFF2-40B4-BE49-F238E27FC236}">
                <a16:creationId xmlns:a16="http://schemas.microsoft.com/office/drawing/2014/main" id="{CEEF23AD-EA17-135A-DB95-1D1FECB286F3}"/>
              </a:ext>
            </a:extLst>
          </p:cNvPr>
          <p:cNvSpPr/>
          <p:nvPr/>
        </p:nvSpPr>
        <p:spPr>
          <a:xfrm>
            <a:off x="454786" y="664487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4" name="Rectangle 43">
            <a:extLst>
              <a:ext uri="{FF2B5EF4-FFF2-40B4-BE49-F238E27FC236}">
                <a16:creationId xmlns:a16="http://schemas.microsoft.com/office/drawing/2014/main" id="{CEEF23AD-EA17-135A-DB95-1D1FECB286F3}"/>
              </a:ext>
            </a:extLst>
          </p:cNvPr>
          <p:cNvSpPr/>
          <p:nvPr/>
        </p:nvSpPr>
        <p:spPr>
          <a:xfrm>
            <a:off x="1498741" y="664487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5" name="Rectangle 44">
            <a:extLst>
              <a:ext uri="{FF2B5EF4-FFF2-40B4-BE49-F238E27FC236}">
                <a16:creationId xmlns:a16="http://schemas.microsoft.com/office/drawing/2014/main" id="{CEEF23AD-EA17-135A-DB95-1D1FECB286F3}"/>
              </a:ext>
            </a:extLst>
          </p:cNvPr>
          <p:cNvSpPr/>
          <p:nvPr/>
        </p:nvSpPr>
        <p:spPr>
          <a:xfrm>
            <a:off x="2554625" y="664487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6" name="Rectangle 45">
            <a:extLst>
              <a:ext uri="{FF2B5EF4-FFF2-40B4-BE49-F238E27FC236}">
                <a16:creationId xmlns:a16="http://schemas.microsoft.com/office/drawing/2014/main" id="{CEEF23AD-EA17-135A-DB95-1D1FECB286F3}"/>
              </a:ext>
            </a:extLst>
          </p:cNvPr>
          <p:cNvSpPr/>
          <p:nvPr/>
        </p:nvSpPr>
        <p:spPr>
          <a:xfrm>
            <a:off x="3628823" y="664487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7" name="Rectangle 46">
            <a:extLst>
              <a:ext uri="{FF2B5EF4-FFF2-40B4-BE49-F238E27FC236}">
                <a16:creationId xmlns:a16="http://schemas.microsoft.com/office/drawing/2014/main" id="{CEEF23AD-EA17-135A-DB95-1D1FECB286F3}"/>
              </a:ext>
            </a:extLst>
          </p:cNvPr>
          <p:cNvSpPr/>
          <p:nvPr/>
        </p:nvSpPr>
        <p:spPr>
          <a:xfrm>
            <a:off x="4680487" y="664487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8" name="TextBox 47"/>
          <p:cNvSpPr txBox="1"/>
          <p:nvPr/>
        </p:nvSpPr>
        <p:spPr>
          <a:xfrm>
            <a:off x="5757766" y="6108742"/>
            <a:ext cx="707886" cy="276999"/>
          </a:xfrm>
          <a:prstGeom prst="rect">
            <a:avLst/>
          </a:prstGeom>
          <a:noFill/>
        </p:spPr>
        <p:txBody>
          <a:bodyPr wrap="none" rtlCol="0">
            <a:spAutoFit/>
          </a:bodyPr>
          <a:lstStyle/>
          <a:p>
            <a:r>
              <a:rPr lang="en-US" sz="1200"/>
              <a:t>f) 16899</a:t>
            </a:r>
            <a:endParaRPr lang="en-GB" sz="1200"/>
          </a:p>
        </p:txBody>
      </p:sp>
      <p:sp>
        <p:nvSpPr>
          <p:cNvPr id="49" name="Rectangle 48">
            <a:extLst>
              <a:ext uri="{FF2B5EF4-FFF2-40B4-BE49-F238E27FC236}">
                <a16:creationId xmlns:a16="http://schemas.microsoft.com/office/drawing/2014/main" id="{CEEF23AD-EA17-135A-DB95-1D1FECB286F3}"/>
              </a:ext>
            </a:extLst>
          </p:cNvPr>
          <p:cNvSpPr/>
          <p:nvPr/>
        </p:nvSpPr>
        <p:spPr>
          <a:xfrm>
            <a:off x="5729589" y="664487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0" name="TextBox 49"/>
          <p:cNvSpPr txBox="1"/>
          <p:nvPr/>
        </p:nvSpPr>
        <p:spPr>
          <a:xfrm>
            <a:off x="454786" y="7106508"/>
            <a:ext cx="731290" cy="276999"/>
          </a:xfrm>
          <a:prstGeom prst="rect">
            <a:avLst/>
          </a:prstGeom>
          <a:noFill/>
        </p:spPr>
        <p:txBody>
          <a:bodyPr wrap="none" rtlCol="0">
            <a:spAutoFit/>
          </a:bodyPr>
          <a:lstStyle/>
          <a:p>
            <a:r>
              <a:rPr lang="en-US" sz="1200"/>
              <a:t>g) 24689</a:t>
            </a:r>
            <a:endParaRPr lang="en-GB" sz="1200"/>
          </a:p>
        </p:txBody>
      </p:sp>
      <p:sp>
        <p:nvSpPr>
          <p:cNvPr id="51" name="TextBox 50"/>
          <p:cNvSpPr txBox="1"/>
          <p:nvPr/>
        </p:nvSpPr>
        <p:spPr>
          <a:xfrm>
            <a:off x="1507043" y="7097805"/>
            <a:ext cx="739305" cy="276999"/>
          </a:xfrm>
          <a:prstGeom prst="rect">
            <a:avLst/>
          </a:prstGeom>
          <a:noFill/>
        </p:spPr>
        <p:txBody>
          <a:bodyPr wrap="none" rtlCol="0">
            <a:spAutoFit/>
          </a:bodyPr>
          <a:lstStyle/>
          <a:p>
            <a:r>
              <a:rPr lang="en-US" sz="1200"/>
              <a:t>h) 25789</a:t>
            </a:r>
            <a:endParaRPr lang="en-GB" sz="1200"/>
          </a:p>
        </p:txBody>
      </p:sp>
      <p:sp>
        <p:nvSpPr>
          <p:cNvPr id="52" name="TextBox 51"/>
          <p:cNvSpPr txBox="1"/>
          <p:nvPr/>
        </p:nvSpPr>
        <p:spPr>
          <a:xfrm>
            <a:off x="2583702" y="7097806"/>
            <a:ext cx="694421" cy="276999"/>
          </a:xfrm>
          <a:prstGeom prst="rect">
            <a:avLst/>
          </a:prstGeom>
          <a:noFill/>
        </p:spPr>
        <p:txBody>
          <a:bodyPr wrap="none" rtlCol="0">
            <a:spAutoFit/>
          </a:bodyPr>
          <a:lstStyle/>
          <a:p>
            <a:r>
              <a:rPr lang="en-US" sz="1200"/>
              <a:t>i) 18649</a:t>
            </a:r>
            <a:endParaRPr lang="en-GB" sz="1200"/>
          </a:p>
        </p:txBody>
      </p:sp>
      <p:sp>
        <p:nvSpPr>
          <p:cNvPr id="53" name="TextBox 52"/>
          <p:cNvSpPr txBox="1"/>
          <p:nvPr/>
        </p:nvSpPr>
        <p:spPr>
          <a:xfrm>
            <a:off x="3590748" y="7120898"/>
            <a:ext cx="655949" cy="276999"/>
          </a:xfrm>
          <a:prstGeom prst="rect">
            <a:avLst/>
          </a:prstGeom>
          <a:noFill/>
        </p:spPr>
        <p:txBody>
          <a:bodyPr wrap="none" rtlCol="0">
            <a:spAutoFit/>
          </a:bodyPr>
          <a:lstStyle/>
          <a:p>
            <a:r>
              <a:rPr lang="en-US" sz="1200"/>
              <a:t>j) 2.359</a:t>
            </a:r>
            <a:endParaRPr lang="en-GB" sz="1200"/>
          </a:p>
        </p:txBody>
      </p:sp>
      <p:sp>
        <p:nvSpPr>
          <p:cNvPr id="54" name="TextBox 53"/>
          <p:cNvSpPr txBox="1"/>
          <p:nvPr/>
        </p:nvSpPr>
        <p:spPr>
          <a:xfrm>
            <a:off x="4694511" y="7117418"/>
            <a:ext cx="689612" cy="276999"/>
          </a:xfrm>
          <a:prstGeom prst="rect">
            <a:avLst/>
          </a:prstGeom>
          <a:noFill/>
        </p:spPr>
        <p:txBody>
          <a:bodyPr wrap="none" rtlCol="0">
            <a:spAutoFit/>
          </a:bodyPr>
          <a:lstStyle/>
          <a:p>
            <a:r>
              <a:rPr lang="en-US" sz="1200"/>
              <a:t>k) 4.395</a:t>
            </a:r>
            <a:endParaRPr lang="en-GB" sz="1200"/>
          </a:p>
        </p:txBody>
      </p:sp>
      <p:sp>
        <p:nvSpPr>
          <p:cNvPr id="55" name="Rectangle 54">
            <a:extLst>
              <a:ext uri="{FF2B5EF4-FFF2-40B4-BE49-F238E27FC236}">
                <a16:creationId xmlns:a16="http://schemas.microsoft.com/office/drawing/2014/main" id="{CEEF23AD-EA17-135A-DB95-1D1FECB286F3}"/>
              </a:ext>
            </a:extLst>
          </p:cNvPr>
          <p:cNvSpPr/>
          <p:nvPr/>
        </p:nvSpPr>
        <p:spPr>
          <a:xfrm>
            <a:off x="454786" y="764227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6" name="Rectangle 55">
            <a:extLst>
              <a:ext uri="{FF2B5EF4-FFF2-40B4-BE49-F238E27FC236}">
                <a16:creationId xmlns:a16="http://schemas.microsoft.com/office/drawing/2014/main" id="{CEEF23AD-EA17-135A-DB95-1D1FECB286F3}"/>
              </a:ext>
            </a:extLst>
          </p:cNvPr>
          <p:cNvSpPr/>
          <p:nvPr/>
        </p:nvSpPr>
        <p:spPr>
          <a:xfrm>
            <a:off x="1498741" y="764227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7" name="Rectangle 56">
            <a:extLst>
              <a:ext uri="{FF2B5EF4-FFF2-40B4-BE49-F238E27FC236}">
                <a16:creationId xmlns:a16="http://schemas.microsoft.com/office/drawing/2014/main" id="{CEEF23AD-EA17-135A-DB95-1D1FECB286F3}"/>
              </a:ext>
            </a:extLst>
          </p:cNvPr>
          <p:cNvSpPr/>
          <p:nvPr/>
        </p:nvSpPr>
        <p:spPr>
          <a:xfrm>
            <a:off x="2554625" y="764227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8" name="Rectangle 57">
            <a:extLst>
              <a:ext uri="{FF2B5EF4-FFF2-40B4-BE49-F238E27FC236}">
                <a16:creationId xmlns:a16="http://schemas.microsoft.com/office/drawing/2014/main" id="{CEEF23AD-EA17-135A-DB95-1D1FECB286F3}"/>
              </a:ext>
            </a:extLst>
          </p:cNvPr>
          <p:cNvSpPr/>
          <p:nvPr/>
        </p:nvSpPr>
        <p:spPr>
          <a:xfrm>
            <a:off x="3628823" y="764227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9" name="Rectangle 58">
            <a:extLst>
              <a:ext uri="{FF2B5EF4-FFF2-40B4-BE49-F238E27FC236}">
                <a16:creationId xmlns:a16="http://schemas.microsoft.com/office/drawing/2014/main" id="{CEEF23AD-EA17-135A-DB95-1D1FECB286F3}"/>
              </a:ext>
            </a:extLst>
          </p:cNvPr>
          <p:cNvSpPr/>
          <p:nvPr/>
        </p:nvSpPr>
        <p:spPr>
          <a:xfrm>
            <a:off x="4680487" y="764227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0" name="TextBox 59"/>
          <p:cNvSpPr txBox="1"/>
          <p:nvPr/>
        </p:nvSpPr>
        <p:spPr>
          <a:xfrm>
            <a:off x="5789524" y="7143065"/>
            <a:ext cx="654346" cy="276999"/>
          </a:xfrm>
          <a:prstGeom prst="rect">
            <a:avLst/>
          </a:prstGeom>
          <a:noFill/>
        </p:spPr>
        <p:txBody>
          <a:bodyPr wrap="none" rtlCol="0">
            <a:spAutoFit/>
          </a:bodyPr>
          <a:lstStyle/>
          <a:p>
            <a:r>
              <a:rPr lang="en-US" sz="1200"/>
              <a:t>l) 5.095</a:t>
            </a:r>
            <a:endParaRPr lang="en-GB" sz="1200"/>
          </a:p>
        </p:txBody>
      </p:sp>
      <p:sp>
        <p:nvSpPr>
          <p:cNvPr id="61" name="Rectangle 60">
            <a:extLst>
              <a:ext uri="{FF2B5EF4-FFF2-40B4-BE49-F238E27FC236}">
                <a16:creationId xmlns:a16="http://schemas.microsoft.com/office/drawing/2014/main" id="{CEEF23AD-EA17-135A-DB95-1D1FECB286F3}"/>
              </a:ext>
            </a:extLst>
          </p:cNvPr>
          <p:cNvSpPr/>
          <p:nvPr/>
        </p:nvSpPr>
        <p:spPr>
          <a:xfrm>
            <a:off x="5729589" y="764227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2" name="TextBox 61"/>
          <p:cNvSpPr txBox="1"/>
          <p:nvPr/>
        </p:nvSpPr>
        <p:spPr>
          <a:xfrm>
            <a:off x="436280" y="8107960"/>
            <a:ext cx="742511" cy="276999"/>
          </a:xfrm>
          <a:prstGeom prst="rect">
            <a:avLst/>
          </a:prstGeom>
          <a:noFill/>
        </p:spPr>
        <p:txBody>
          <a:bodyPr wrap="none" rtlCol="0">
            <a:spAutoFit/>
          </a:bodyPr>
          <a:lstStyle/>
          <a:p>
            <a:r>
              <a:rPr lang="en-US" sz="1200"/>
              <a:t>m) 7.059</a:t>
            </a:r>
            <a:endParaRPr lang="en-GB" sz="1200"/>
          </a:p>
        </p:txBody>
      </p:sp>
      <p:sp>
        <p:nvSpPr>
          <p:cNvPr id="63" name="TextBox 62"/>
          <p:cNvSpPr txBox="1"/>
          <p:nvPr/>
        </p:nvSpPr>
        <p:spPr>
          <a:xfrm>
            <a:off x="1482249" y="8115306"/>
            <a:ext cx="699230" cy="276999"/>
          </a:xfrm>
          <a:prstGeom prst="rect">
            <a:avLst/>
          </a:prstGeom>
          <a:noFill/>
        </p:spPr>
        <p:txBody>
          <a:bodyPr wrap="none" rtlCol="0">
            <a:spAutoFit/>
          </a:bodyPr>
          <a:lstStyle/>
          <a:p>
            <a:r>
              <a:rPr lang="en-US" sz="1200"/>
              <a:t>n) 8.679</a:t>
            </a:r>
            <a:endParaRPr lang="en-GB" sz="1200"/>
          </a:p>
        </p:txBody>
      </p:sp>
      <p:sp>
        <p:nvSpPr>
          <p:cNvPr id="64" name="TextBox 63"/>
          <p:cNvSpPr txBox="1"/>
          <p:nvPr/>
        </p:nvSpPr>
        <p:spPr>
          <a:xfrm>
            <a:off x="2523843" y="8128589"/>
            <a:ext cx="700833" cy="276999"/>
          </a:xfrm>
          <a:prstGeom prst="rect">
            <a:avLst/>
          </a:prstGeom>
          <a:noFill/>
        </p:spPr>
        <p:txBody>
          <a:bodyPr wrap="none" rtlCol="0">
            <a:spAutoFit/>
          </a:bodyPr>
          <a:lstStyle/>
          <a:p>
            <a:r>
              <a:rPr lang="en-US" sz="1200"/>
              <a:t>o) 12.59</a:t>
            </a:r>
            <a:endParaRPr lang="en-GB" sz="1200"/>
          </a:p>
        </p:txBody>
      </p:sp>
      <p:sp>
        <p:nvSpPr>
          <p:cNvPr id="65" name="TextBox 64"/>
          <p:cNvSpPr txBox="1"/>
          <p:nvPr/>
        </p:nvSpPr>
        <p:spPr>
          <a:xfrm>
            <a:off x="3572242" y="8122350"/>
            <a:ext cx="777777" cy="276999"/>
          </a:xfrm>
          <a:prstGeom prst="rect">
            <a:avLst/>
          </a:prstGeom>
          <a:noFill/>
        </p:spPr>
        <p:txBody>
          <a:bodyPr wrap="none" rtlCol="0">
            <a:spAutoFit/>
          </a:bodyPr>
          <a:lstStyle/>
          <a:p>
            <a:r>
              <a:rPr lang="en-US" sz="1200"/>
              <a:t>p) 13.554</a:t>
            </a:r>
            <a:endParaRPr lang="en-GB" sz="1200"/>
          </a:p>
        </p:txBody>
      </p:sp>
      <p:sp>
        <p:nvSpPr>
          <p:cNvPr id="66" name="TextBox 65"/>
          <p:cNvSpPr txBox="1"/>
          <p:nvPr/>
        </p:nvSpPr>
        <p:spPr>
          <a:xfrm>
            <a:off x="4659547" y="8107960"/>
            <a:ext cx="777777" cy="276999"/>
          </a:xfrm>
          <a:prstGeom prst="rect">
            <a:avLst/>
          </a:prstGeom>
          <a:noFill/>
        </p:spPr>
        <p:txBody>
          <a:bodyPr wrap="none" rtlCol="0">
            <a:spAutoFit/>
          </a:bodyPr>
          <a:lstStyle/>
          <a:p>
            <a:r>
              <a:rPr lang="en-US" sz="1200"/>
              <a:t>q) 14.609</a:t>
            </a:r>
            <a:endParaRPr lang="en-GB" sz="1200"/>
          </a:p>
        </p:txBody>
      </p:sp>
      <p:sp>
        <p:nvSpPr>
          <p:cNvPr id="67" name="Rectangle 66">
            <a:extLst>
              <a:ext uri="{FF2B5EF4-FFF2-40B4-BE49-F238E27FC236}">
                <a16:creationId xmlns:a16="http://schemas.microsoft.com/office/drawing/2014/main" id="{CEEF23AD-EA17-135A-DB95-1D1FECB286F3}"/>
              </a:ext>
            </a:extLst>
          </p:cNvPr>
          <p:cNvSpPr/>
          <p:nvPr/>
        </p:nvSpPr>
        <p:spPr>
          <a:xfrm>
            <a:off x="468038" y="86749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Rectangle 67">
            <a:extLst>
              <a:ext uri="{FF2B5EF4-FFF2-40B4-BE49-F238E27FC236}">
                <a16:creationId xmlns:a16="http://schemas.microsoft.com/office/drawing/2014/main" id="{CEEF23AD-EA17-135A-DB95-1D1FECB286F3}"/>
              </a:ext>
            </a:extLst>
          </p:cNvPr>
          <p:cNvSpPr/>
          <p:nvPr/>
        </p:nvSpPr>
        <p:spPr>
          <a:xfrm>
            <a:off x="1511993" y="86749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9" name="Rectangle 68">
            <a:extLst>
              <a:ext uri="{FF2B5EF4-FFF2-40B4-BE49-F238E27FC236}">
                <a16:creationId xmlns:a16="http://schemas.microsoft.com/office/drawing/2014/main" id="{CEEF23AD-EA17-135A-DB95-1D1FECB286F3}"/>
              </a:ext>
            </a:extLst>
          </p:cNvPr>
          <p:cNvSpPr/>
          <p:nvPr/>
        </p:nvSpPr>
        <p:spPr>
          <a:xfrm>
            <a:off x="2567877" y="86749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CEEF23AD-EA17-135A-DB95-1D1FECB286F3}"/>
              </a:ext>
            </a:extLst>
          </p:cNvPr>
          <p:cNvSpPr/>
          <p:nvPr/>
        </p:nvSpPr>
        <p:spPr>
          <a:xfrm>
            <a:off x="3642075" y="86749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1" name="Rectangle 70">
            <a:extLst>
              <a:ext uri="{FF2B5EF4-FFF2-40B4-BE49-F238E27FC236}">
                <a16:creationId xmlns:a16="http://schemas.microsoft.com/office/drawing/2014/main" id="{CEEF23AD-EA17-135A-DB95-1D1FECB286F3}"/>
              </a:ext>
            </a:extLst>
          </p:cNvPr>
          <p:cNvSpPr/>
          <p:nvPr/>
        </p:nvSpPr>
        <p:spPr>
          <a:xfrm>
            <a:off x="4693739" y="86749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2" name="TextBox 71"/>
          <p:cNvSpPr txBox="1"/>
          <p:nvPr/>
        </p:nvSpPr>
        <p:spPr>
          <a:xfrm>
            <a:off x="5706342" y="8102971"/>
            <a:ext cx="750526" cy="276999"/>
          </a:xfrm>
          <a:prstGeom prst="rect">
            <a:avLst/>
          </a:prstGeom>
          <a:noFill/>
        </p:spPr>
        <p:txBody>
          <a:bodyPr wrap="none" rtlCol="0">
            <a:spAutoFit/>
          </a:bodyPr>
          <a:lstStyle/>
          <a:p>
            <a:r>
              <a:rPr lang="en-US" sz="1200"/>
              <a:t>r) 156.53</a:t>
            </a:r>
            <a:endParaRPr lang="en-GB" sz="1200"/>
          </a:p>
        </p:txBody>
      </p:sp>
      <p:sp>
        <p:nvSpPr>
          <p:cNvPr id="73" name="Rectangle 72">
            <a:extLst>
              <a:ext uri="{FF2B5EF4-FFF2-40B4-BE49-F238E27FC236}">
                <a16:creationId xmlns:a16="http://schemas.microsoft.com/office/drawing/2014/main" id="{CEEF23AD-EA17-135A-DB95-1D1FECB286F3}"/>
              </a:ext>
            </a:extLst>
          </p:cNvPr>
          <p:cNvSpPr/>
          <p:nvPr/>
        </p:nvSpPr>
        <p:spPr>
          <a:xfrm>
            <a:off x="5742841" y="86749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4"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29</a:t>
            </a:fld>
            <a:endParaRPr lang="en-GB"/>
          </a:p>
        </p:txBody>
      </p:sp>
      <p:sp>
        <p:nvSpPr>
          <p:cNvPr id="8" name="Rectangle 7">
            <a:extLst>
              <a:ext uri="{FF2B5EF4-FFF2-40B4-BE49-F238E27FC236}">
                <a16:creationId xmlns:a16="http://schemas.microsoft.com/office/drawing/2014/main" id="{7837BE1E-63E6-29CF-6A65-43F11682A4A2}"/>
              </a:ext>
            </a:extLst>
          </p:cNvPr>
          <p:cNvSpPr/>
          <p:nvPr/>
        </p:nvSpPr>
        <p:spPr>
          <a:xfrm>
            <a:off x="147221" y="5702869"/>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9" name="Rectangle 8">
            <a:extLst>
              <a:ext uri="{FF2B5EF4-FFF2-40B4-BE49-F238E27FC236}">
                <a16:creationId xmlns:a16="http://schemas.microsoft.com/office/drawing/2014/main" id="{F046FD0F-02AC-61DC-9F11-C9A834CAA843}"/>
              </a:ext>
            </a:extLst>
          </p:cNvPr>
          <p:cNvSpPr/>
          <p:nvPr/>
        </p:nvSpPr>
        <p:spPr>
          <a:xfrm>
            <a:off x="124502" y="66503"/>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Rounding to three significant figures.</a:t>
            </a:r>
            <a:endParaRPr lang="en-GB" sz="1200">
              <a:solidFill>
                <a:schemeClr val="bg1"/>
              </a:solidFill>
            </a:endParaRPr>
          </a:p>
        </p:txBody>
      </p:sp>
    </p:spTree>
    <p:extLst>
      <p:ext uri="{BB962C8B-B14F-4D97-AF65-F5344CB8AC3E}">
        <p14:creationId xmlns:p14="http://schemas.microsoft.com/office/powerpoint/2010/main" val="7490465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107" y="153916"/>
            <a:ext cx="793807" cy="276999"/>
          </a:xfrm>
          <a:prstGeom prst="rect">
            <a:avLst/>
          </a:prstGeom>
          <a:noFill/>
        </p:spPr>
        <p:txBody>
          <a:bodyPr wrap="none" rtlCol="0">
            <a:spAutoFit/>
          </a:bodyPr>
          <a:lstStyle/>
          <a:p>
            <a:r>
              <a:rPr lang="en-US" sz="1200"/>
              <a:t>s) 126.49 </a:t>
            </a:r>
            <a:endParaRPr lang="en-GB" sz="1200"/>
          </a:p>
        </p:txBody>
      </p:sp>
      <p:sp>
        <p:nvSpPr>
          <p:cNvPr id="3" name="TextBox 2"/>
          <p:cNvSpPr txBox="1"/>
          <p:nvPr/>
        </p:nvSpPr>
        <p:spPr>
          <a:xfrm>
            <a:off x="1441076" y="161262"/>
            <a:ext cx="748923" cy="276999"/>
          </a:xfrm>
          <a:prstGeom prst="rect">
            <a:avLst/>
          </a:prstGeom>
          <a:noFill/>
        </p:spPr>
        <p:txBody>
          <a:bodyPr wrap="none" rtlCol="0">
            <a:spAutoFit/>
          </a:bodyPr>
          <a:lstStyle/>
          <a:p>
            <a:r>
              <a:rPr lang="en-US" sz="1200"/>
              <a:t>t) 196.45</a:t>
            </a:r>
            <a:endParaRPr lang="en-GB" sz="1200"/>
          </a:p>
        </p:txBody>
      </p:sp>
      <p:sp>
        <p:nvSpPr>
          <p:cNvPr id="4" name="TextBox 3"/>
          <p:cNvSpPr txBox="1"/>
          <p:nvPr/>
        </p:nvSpPr>
        <p:spPr>
          <a:xfrm>
            <a:off x="2482670" y="174545"/>
            <a:ext cx="856325" cy="276999"/>
          </a:xfrm>
          <a:prstGeom prst="rect">
            <a:avLst/>
          </a:prstGeom>
          <a:noFill/>
        </p:spPr>
        <p:txBody>
          <a:bodyPr wrap="none" rtlCol="0">
            <a:spAutoFit/>
          </a:bodyPr>
          <a:lstStyle/>
          <a:p>
            <a:r>
              <a:rPr lang="en-US" sz="1200"/>
              <a:t>u) 125.505</a:t>
            </a:r>
            <a:endParaRPr lang="en-GB" sz="1200"/>
          </a:p>
        </p:txBody>
      </p:sp>
      <p:sp>
        <p:nvSpPr>
          <p:cNvPr id="5" name="TextBox 4"/>
          <p:cNvSpPr txBox="1"/>
          <p:nvPr/>
        </p:nvSpPr>
        <p:spPr>
          <a:xfrm>
            <a:off x="3531069" y="168306"/>
            <a:ext cx="845103" cy="276999"/>
          </a:xfrm>
          <a:prstGeom prst="rect">
            <a:avLst/>
          </a:prstGeom>
          <a:noFill/>
        </p:spPr>
        <p:txBody>
          <a:bodyPr wrap="none" rtlCol="0">
            <a:spAutoFit/>
          </a:bodyPr>
          <a:lstStyle/>
          <a:p>
            <a:r>
              <a:rPr lang="en-US" sz="1200"/>
              <a:t>v) 139.509</a:t>
            </a:r>
            <a:endParaRPr lang="en-GB" sz="1200"/>
          </a:p>
        </p:txBody>
      </p:sp>
      <p:sp>
        <p:nvSpPr>
          <p:cNvPr id="6" name="TextBox 5"/>
          <p:cNvSpPr txBox="1"/>
          <p:nvPr/>
        </p:nvSpPr>
        <p:spPr>
          <a:xfrm>
            <a:off x="4618374" y="153916"/>
            <a:ext cx="886781" cy="276999"/>
          </a:xfrm>
          <a:prstGeom prst="rect">
            <a:avLst/>
          </a:prstGeom>
          <a:noFill/>
        </p:spPr>
        <p:txBody>
          <a:bodyPr wrap="none" rtlCol="0">
            <a:spAutoFit/>
          </a:bodyPr>
          <a:lstStyle/>
          <a:p>
            <a:r>
              <a:rPr lang="en-US" sz="1200"/>
              <a:t>w) 199.502</a:t>
            </a:r>
            <a:endParaRPr lang="en-GB" sz="1200"/>
          </a:p>
        </p:txBody>
      </p:sp>
      <p:sp>
        <p:nvSpPr>
          <p:cNvPr id="7" name="Rectangle 6">
            <a:extLst>
              <a:ext uri="{FF2B5EF4-FFF2-40B4-BE49-F238E27FC236}">
                <a16:creationId xmlns:a16="http://schemas.microsoft.com/office/drawing/2014/main" id="{CEEF23AD-EA17-135A-DB95-1D1FECB286F3}"/>
              </a:ext>
            </a:extLst>
          </p:cNvPr>
          <p:cNvSpPr/>
          <p:nvPr/>
        </p:nvSpPr>
        <p:spPr>
          <a:xfrm>
            <a:off x="426865" y="7208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 name="Rectangle 7">
            <a:extLst>
              <a:ext uri="{FF2B5EF4-FFF2-40B4-BE49-F238E27FC236}">
                <a16:creationId xmlns:a16="http://schemas.microsoft.com/office/drawing/2014/main" id="{CEEF23AD-EA17-135A-DB95-1D1FECB286F3}"/>
              </a:ext>
            </a:extLst>
          </p:cNvPr>
          <p:cNvSpPr/>
          <p:nvPr/>
        </p:nvSpPr>
        <p:spPr>
          <a:xfrm>
            <a:off x="1470820" y="7208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 name="Rectangle 8">
            <a:extLst>
              <a:ext uri="{FF2B5EF4-FFF2-40B4-BE49-F238E27FC236}">
                <a16:creationId xmlns:a16="http://schemas.microsoft.com/office/drawing/2014/main" id="{CEEF23AD-EA17-135A-DB95-1D1FECB286F3}"/>
              </a:ext>
            </a:extLst>
          </p:cNvPr>
          <p:cNvSpPr/>
          <p:nvPr/>
        </p:nvSpPr>
        <p:spPr>
          <a:xfrm>
            <a:off x="2526704" y="7208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Rectangle 9">
            <a:extLst>
              <a:ext uri="{FF2B5EF4-FFF2-40B4-BE49-F238E27FC236}">
                <a16:creationId xmlns:a16="http://schemas.microsoft.com/office/drawing/2014/main" id="{CEEF23AD-EA17-135A-DB95-1D1FECB286F3}"/>
              </a:ext>
            </a:extLst>
          </p:cNvPr>
          <p:cNvSpPr/>
          <p:nvPr/>
        </p:nvSpPr>
        <p:spPr>
          <a:xfrm>
            <a:off x="3600902" y="7208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1" name="Rectangle 10">
            <a:extLst>
              <a:ext uri="{FF2B5EF4-FFF2-40B4-BE49-F238E27FC236}">
                <a16:creationId xmlns:a16="http://schemas.microsoft.com/office/drawing/2014/main" id="{CEEF23AD-EA17-135A-DB95-1D1FECB286F3}"/>
              </a:ext>
            </a:extLst>
          </p:cNvPr>
          <p:cNvSpPr/>
          <p:nvPr/>
        </p:nvSpPr>
        <p:spPr>
          <a:xfrm>
            <a:off x="4652566" y="7208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2" name="TextBox 11"/>
          <p:cNvSpPr txBox="1"/>
          <p:nvPr/>
        </p:nvSpPr>
        <p:spPr>
          <a:xfrm>
            <a:off x="5665169" y="148927"/>
            <a:ext cx="764953" cy="276999"/>
          </a:xfrm>
          <a:prstGeom prst="rect">
            <a:avLst/>
          </a:prstGeom>
          <a:noFill/>
        </p:spPr>
        <p:txBody>
          <a:bodyPr wrap="none" rtlCol="0">
            <a:spAutoFit/>
          </a:bodyPr>
          <a:lstStyle/>
          <a:p>
            <a:r>
              <a:rPr lang="en-US" sz="1200"/>
              <a:t>x) 199.99</a:t>
            </a:r>
            <a:endParaRPr lang="en-GB" sz="1200"/>
          </a:p>
        </p:txBody>
      </p:sp>
      <p:sp>
        <p:nvSpPr>
          <p:cNvPr id="13" name="Rectangle 12">
            <a:extLst>
              <a:ext uri="{FF2B5EF4-FFF2-40B4-BE49-F238E27FC236}">
                <a16:creationId xmlns:a16="http://schemas.microsoft.com/office/drawing/2014/main" id="{CEEF23AD-EA17-135A-DB95-1D1FECB286F3}"/>
              </a:ext>
            </a:extLst>
          </p:cNvPr>
          <p:cNvSpPr/>
          <p:nvPr/>
        </p:nvSpPr>
        <p:spPr>
          <a:xfrm>
            <a:off x="5701668" y="7208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 name="TextBox 13"/>
          <p:cNvSpPr txBox="1"/>
          <p:nvPr/>
        </p:nvSpPr>
        <p:spPr>
          <a:xfrm>
            <a:off x="360915" y="1227563"/>
            <a:ext cx="688009" cy="276999"/>
          </a:xfrm>
          <a:prstGeom prst="rect">
            <a:avLst/>
          </a:prstGeom>
          <a:noFill/>
        </p:spPr>
        <p:txBody>
          <a:bodyPr wrap="none" rtlCol="0">
            <a:spAutoFit/>
          </a:bodyPr>
          <a:lstStyle/>
          <a:p>
            <a:r>
              <a:rPr lang="en-US" sz="1200"/>
              <a:t>y) 0.573</a:t>
            </a:r>
            <a:endParaRPr lang="en-GB" sz="1200"/>
          </a:p>
        </p:txBody>
      </p:sp>
      <p:sp>
        <p:nvSpPr>
          <p:cNvPr id="15" name="TextBox 14"/>
          <p:cNvSpPr txBox="1"/>
          <p:nvPr/>
        </p:nvSpPr>
        <p:spPr>
          <a:xfrm>
            <a:off x="1405276" y="1214795"/>
            <a:ext cx="758541" cy="276999"/>
          </a:xfrm>
          <a:prstGeom prst="rect">
            <a:avLst/>
          </a:prstGeom>
          <a:noFill/>
        </p:spPr>
        <p:txBody>
          <a:bodyPr wrap="none" rtlCol="0">
            <a:spAutoFit/>
          </a:bodyPr>
          <a:lstStyle/>
          <a:p>
            <a:r>
              <a:rPr lang="en-US" sz="1200"/>
              <a:t>z) 0.4675</a:t>
            </a:r>
            <a:endParaRPr lang="en-GB" sz="1200"/>
          </a:p>
        </p:txBody>
      </p:sp>
      <p:sp>
        <p:nvSpPr>
          <p:cNvPr id="16" name="TextBox 15"/>
          <p:cNvSpPr txBox="1"/>
          <p:nvPr/>
        </p:nvSpPr>
        <p:spPr>
          <a:xfrm>
            <a:off x="2405390" y="1236846"/>
            <a:ext cx="849913" cy="276999"/>
          </a:xfrm>
          <a:prstGeom prst="rect">
            <a:avLst/>
          </a:prstGeom>
          <a:noFill/>
        </p:spPr>
        <p:txBody>
          <a:bodyPr wrap="none" rtlCol="0">
            <a:spAutoFit/>
          </a:bodyPr>
          <a:lstStyle/>
          <a:p>
            <a:r>
              <a:rPr lang="en-US" sz="1200"/>
              <a:t>a1) 0.0574</a:t>
            </a:r>
            <a:endParaRPr lang="en-GB" sz="1200"/>
          </a:p>
        </p:txBody>
      </p:sp>
      <p:sp>
        <p:nvSpPr>
          <p:cNvPr id="17" name="TextBox 16"/>
          <p:cNvSpPr txBox="1"/>
          <p:nvPr/>
        </p:nvSpPr>
        <p:spPr>
          <a:xfrm>
            <a:off x="3466560" y="1245863"/>
            <a:ext cx="934871" cy="276999"/>
          </a:xfrm>
          <a:prstGeom prst="rect">
            <a:avLst/>
          </a:prstGeom>
          <a:noFill/>
        </p:spPr>
        <p:txBody>
          <a:bodyPr wrap="none" rtlCol="0">
            <a:spAutoFit/>
          </a:bodyPr>
          <a:lstStyle/>
          <a:p>
            <a:r>
              <a:rPr lang="en-US" sz="1200"/>
              <a:t>b1) 0.05866</a:t>
            </a:r>
            <a:endParaRPr lang="en-GB" sz="1200"/>
          </a:p>
        </p:txBody>
      </p:sp>
      <p:sp>
        <p:nvSpPr>
          <p:cNvPr id="18" name="TextBox 17"/>
          <p:cNvSpPr txBox="1"/>
          <p:nvPr/>
        </p:nvSpPr>
        <p:spPr>
          <a:xfrm>
            <a:off x="4488577" y="1232773"/>
            <a:ext cx="920445" cy="276999"/>
          </a:xfrm>
          <a:prstGeom prst="rect">
            <a:avLst/>
          </a:prstGeom>
          <a:noFill/>
        </p:spPr>
        <p:txBody>
          <a:bodyPr wrap="none" rtlCol="0">
            <a:spAutoFit/>
          </a:bodyPr>
          <a:lstStyle/>
          <a:p>
            <a:r>
              <a:rPr lang="en-US" sz="1200"/>
              <a:t>c1) 0.09095</a:t>
            </a:r>
            <a:endParaRPr lang="en-GB" sz="1200"/>
          </a:p>
        </p:txBody>
      </p:sp>
      <p:sp>
        <p:nvSpPr>
          <p:cNvPr id="19" name="Rectangle 18">
            <a:extLst>
              <a:ext uri="{FF2B5EF4-FFF2-40B4-BE49-F238E27FC236}">
                <a16:creationId xmlns:a16="http://schemas.microsoft.com/office/drawing/2014/main" id="{CEEF23AD-EA17-135A-DB95-1D1FECB286F3}"/>
              </a:ext>
            </a:extLst>
          </p:cNvPr>
          <p:cNvSpPr/>
          <p:nvPr/>
        </p:nvSpPr>
        <p:spPr>
          <a:xfrm>
            <a:off x="392673" y="17945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0" name="Rectangle 19">
            <a:extLst>
              <a:ext uri="{FF2B5EF4-FFF2-40B4-BE49-F238E27FC236}">
                <a16:creationId xmlns:a16="http://schemas.microsoft.com/office/drawing/2014/main" id="{CEEF23AD-EA17-135A-DB95-1D1FECB286F3}"/>
              </a:ext>
            </a:extLst>
          </p:cNvPr>
          <p:cNvSpPr/>
          <p:nvPr/>
        </p:nvSpPr>
        <p:spPr>
          <a:xfrm>
            <a:off x="1436628" y="17945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 name="Rectangle 20">
            <a:extLst>
              <a:ext uri="{FF2B5EF4-FFF2-40B4-BE49-F238E27FC236}">
                <a16:creationId xmlns:a16="http://schemas.microsoft.com/office/drawing/2014/main" id="{CEEF23AD-EA17-135A-DB95-1D1FECB286F3}"/>
              </a:ext>
            </a:extLst>
          </p:cNvPr>
          <p:cNvSpPr/>
          <p:nvPr/>
        </p:nvSpPr>
        <p:spPr>
          <a:xfrm>
            <a:off x="2492512" y="17945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2" name="Rectangle 21">
            <a:extLst>
              <a:ext uri="{FF2B5EF4-FFF2-40B4-BE49-F238E27FC236}">
                <a16:creationId xmlns:a16="http://schemas.microsoft.com/office/drawing/2014/main" id="{CEEF23AD-EA17-135A-DB95-1D1FECB286F3}"/>
              </a:ext>
            </a:extLst>
          </p:cNvPr>
          <p:cNvSpPr/>
          <p:nvPr/>
        </p:nvSpPr>
        <p:spPr>
          <a:xfrm>
            <a:off x="3566710" y="17945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3" name="Rectangle 22">
            <a:extLst>
              <a:ext uri="{FF2B5EF4-FFF2-40B4-BE49-F238E27FC236}">
                <a16:creationId xmlns:a16="http://schemas.microsoft.com/office/drawing/2014/main" id="{CEEF23AD-EA17-135A-DB95-1D1FECB286F3}"/>
              </a:ext>
            </a:extLst>
          </p:cNvPr>
          <p:cNvSpPr/>
          <p:nvPr/>
        </p:nvSpPr>
        <p:spPr>
          <a:xfrm>
            <a:off x="4618374" y="17945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4" name="TextBox 23"/>
          <p:cNvSpPr txBox="1"/>
          <p:nvPr/>
        </p:nvSpPr>
        <p:spPr>
          <a:xfrm>
            <a:off x="5580063" y="1227563"/>
            <a:ext cx="934871" cy="276999"/>
          </a:xfrm>
          <a:prstGeom prst="rect">
            <a:avLst/>
          </a:prstGeom>
          <a:noFill/>
        </p:spPr>
        <p:txBody>
          <a:bodyPr wrap="none" rtlCol="0">
            <a:spAutoFit/>
          </a:bodyPr>
          <a:lstStyle/>
          <a:p>
            <a:r>
              <a:rPr lang="en-US" sz="1200"/>
              <a:t>d1) 0.01999</a:t>
            </a:r>
            <a:endParaRPr lang="en-GB" sz="1200"/>
          </a:p>
        </p:txBody>
      </p:sp>
      <p:sp>
        <p:nvSpPr>
          <p:cNvPr id="25" name="Rectangle 24">
            <a:extLst>
              <a:ext uri="{FF2B5EF4-FFF2-40B4-BE49-F238E27FC236}">
                <a16:creationId xmlns:a16="http://schemas.microsoft.com/office/drawing/2014/main" id="{CEEF23AD-EA17-135A-DB95-1D1FECB286F3}"/>
              </a:ext>
            </a:extLst>
          </p:cNvPr>
          <p:cNvSpPr/>
          <p:nvPr/>
        </p:nvSpPr>
        <p:spPr>
          <a:xfrm>
            <a:off x="5667476" y="17945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1" name="TextBox 40"/>
          <p:cNvSpPr txBox="1"/>
          <p:nvPr/>
        </p:nvSpPr>
        <p:spPr>
          <a:xfrm>
            <a:off x="631547" y="2390892"/>
            <a:ext cx="5870325" cy="276999"/>
          </a:xfrm>
          <a:prstGeom prst="rect">
            <a:avLst/>
          </a:prstGeom>
          <a:noFill/>
        </p:spPr>
        <p:txBody>
          <a:bodyPr wrap="none" rtlCol="0">
            <a:spAutoFit/>
          </a:bodyPr>
          <a:lstStyle/>
          <a:p>
            <a:r>
              <a:rPr lang="en-US" sz="1200"/>
              <a:t>9. Complete the following table by rounding each number to 1, 2 and 3 significant figures</a:t>
            </a:r>
            <a:endParaRPr lang="en-GB" sz="1200"/>
          </a:p>
        </p:txBody>
      </p:sp>
      <p:graphicFrame>
        <p:nvGraphicFramePr>
          <p:cNvPr id="42" name="Table 41"/>
          <p:cNvGraphicFramePr>
            <a:graphicFrameLocks noGrp="1"/>
          </p:cNvGraphicFramePr>
          <p:nvPr/>
        </p:nvGraphicFramePr>
        <p:xfrm>
          <a:off x="124240" y="2761394"/>
          <a:ext cx="6684640" cy="3998390"/>
        </p:xfrm>
        <a:graphic>
          <a:graphicData uri="http://schemas.openxmlformats.org/drawingml/2006/table">
            <a:tbl>
              <a:tblPr firstRow="1" bandRow="1">
                <a:tableStyleId>{073A0DAA-6AF3-43AB-8588-CEC1D06C72B9}</a:tableStyleId>
              </a:tblPr>
              <a:tblGrid>
                <a:gridCol w="2049117">
                  <a:extLst>
                    <a:ext uri="{9D8B030D-6E8A-4147-A177-3AD203B41FA5}">
                      <a16:colId xmlns:a16="http://schemas.microsoft.com/office/drawing/2014/main" val="20000"/>
                    </a:ext>
                  </a:extLst>
                </a:gridCol>
                <a:gridCol w="1563275">
                  <a:extLst>
                    <a:ext uri="{9D8B030D-6E8A-4147-A177-3AD203B41FA5}">
                      <a16:colId xmlns:a16="http://schemas.microsoft.com/office/drawing/2014/main" val="20003"/>
                    </a:ext>
                  </a:extLst>
                </a:gridCol>
                <a:gridCol w="1536124">
                  <a:extLst>
                    <a:ext uri="{9D8B030D-6E8A-4147-A177-3AD203B41FA5}">
                      <a16:colId xmlns:a16="http://schemas.microsoft.com/office/drawing/2014/main" val="20004"/>
                    </a:ext>
                  </a:extLst>
                </a:gridCol>
                <a:gridCol w="1536124">
                  <a:extLst>
                    <a:ext uri="{9D8B030D-6E8A-4147-A177-3AD203B41FA5}">
                      <a16:colId xmlns:a16="http://schemas.microsoft.com/office/drawing/2014/main" val="20005"/>
                    </a:ext>
                  </a:extLst>
                </a:gridCol>
              </a:tblGrid>
              <a:tr h="399839">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a:solidFill>
                            <a:schemeClr val="tx1"/>
                          </a:solidFill>
                        </a:rPr>
                        <a:t>1sf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a:solidFill>
                            <a:schemeClr val="tx1"/>
                          </a:solidFill>
                        </a:rPr>
                        <a:t>2sf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a:solidFill>
                            <a:schemeClr val="tx1"/>
                          </a:solidFill>
                        </a:rPr>
                        <a:t>3sf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99839">
                <a:tc>
                  <a:txBody>
                    <a:bodyPr/>
                    <a:lstStyle/>
                    <a:p>
                      <a:r>
                        <a:rPr lang="en-GB" sz="1200">
                          <a:solidFill>
                            <a:schemeClr val="tx1"/>
                          </a:solidFill>
                        </a:rPr>
                        <a:t>123.456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99839">
                <a:tc>
                  <a:txBody>
                    <a:bodyPr/>
                    <a:lstStyle/>
                    <a:p>
                      <a:r>
                        <a:rPr lang="en-GB" sz="1200">
                          <a:solidFill>
                            <a:schemeClr val="tx1"/>
                          </a:solidFill>
                        </a:rPr>
                        <a:t>144.402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99839">
                <a:tc>
                  <a:txBody>
                    <a:bodyPr/>
                    <a:lstStyle/>
                    <a:p>
                      <a:r>
                        <a:rPr lang="en-GB" sz="1200">
                          <a:solidFill>
                            <a:schemeClr val="tx1"/>
                          </a:solidFill>
                        </a:rPr>
                        <a:t>8888.888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9839">
                <a:tc>
                  <a:txBody>
                    <a:bodyPr/>
                    <a:lstStyle/>
                    <a:p>
                      <a:r>
                        <a:rPr lang="en-GB" sz="1200">
                          <a:solidFill>
                            <a:schemeClr val="tx1"/>
                          </a:solidFill>
                        </a:rPr>
                        <a:t>437.3946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99839">
                <a:tc>
                  <a:txBody>
                    <a:bodyPr/>
                    <a:lstStyle/>
                    <a:p>
                      <a:r>
                        <a:rPr lang="en-GB" sz="1200">
                          <a:solidFill>
                            <a:schemeClr val="tx1"/>
                          </a:solidFill>
                        </a:rPr>
                        <a:t>987.654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99839">
                <a:tc>
                  <a:txBody>
                    <a:bodyPr/>
                    <a:lstStyle/>
                    <a:p>
                      <a:r>
                        <a:rPr lang="en-GB" sz="1200">
                          <a:solidFill>
                            <a:schemeClr val="tx1"/>
                          </a:solidFill>
                        </a:rPr>
                        <a:t>3</a:t>
                      </a:r>
                      <a:r>
                        <a:rPr lang="en-GB" sz="1200" baseline="0">
                          <a:solidFill>
                            <a:schemeClr val="tx1"/>
                          </a:solidFill>
                        </a:rPr>
                        <a:t> 809 830.492</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99839">
                <a:tc>
                  <a:txBody>
                    <a:bodyPr/>
                    <a:lstStyle/>
                    <a:p>
                      <a:r>
                        <a:rPr lang="en-GB" sz="1200">
                          <a:solidFill>
                            <a:schemeClr val="tx1"/>
                          </a:solidFill>
                        </a:rPr>
                        <a:t>1.98043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99839">
                <a:tc>
                  <a:txBody>
                    <a:bodyPr/>
                    <a:lstStyle/>
                    <a:p>
                      <a:r>
                        <a:rPr lang="en-GB" sz="1200">
                          <a:solidFill>
                            <a:schemeClr val="tx1"/>
                          </a:solidFill>
                        </a:rPr>
                        <a:t>4.80808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99839">
                <a:tc>
                  <a:txBody>
                    <a:bodyPr/>
                    <a:lstStyle/>
                    <a:p>
                      <a:r>
                        <a:rPr lang="en-GB" sz="1200">
                          <a:solidFill>
                            <a:schemeClr val="tx1"/>
                          </a:solidFill>
                        </a:rPr>
                        <a:t>99.009900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
        <p:nvSpPr>
          <p:cNvPr id="43" name="Rectangle 42"/>
          <p:cNvSpPr/>
          <p:nvPr/>
        </p:nvSpPr>
        <p:spPr>
          <a:xfrm>
            <a:off x="124240" y="7232739"/>
            <a:ext cx="6554856" cy="1938992"/>
          </a:xfrm>
          <a:prstGeom prst="rect">
            <a:avLst/>
          </a:prstGeom>
        </p:spPr>
        <p:txBody>
          <a:bodyPr wrap="square">
            <a:spAutoFit/>
          </a:bodyPr>
          <a:lstStyle/>
          <a:p>
            <a:r>
              <a:rPr lang="en-US" sz="1200"/>
              <a:t>10. In an election 43.86% of people voted for a candidate. Round this figure to one significant figure</a:t>
            </a:r>
          </a:p>
          <a:p>
            <a:r>
              <a:rPr lang="en-US" sz="1200"/>
              <a:t> </a:t>
            </a:r>
          </a:p>
          <a:p>
            <a:endParaRPr lang="en-US" sz="1200"/>
          </a:p>
          <a:p>
            <a:endParaRPr lang="en-US" sz="1200"/>
          </a:p>
          <a:p>
            <a:endParaRPr lang="en-US" sz="1200"/>
          </a:p>
          <a:p>
            <a:r>
              <a:rPr lang="en-US" sz="1200"/>
              <a:t>11. 32641 people watch a rugby match between Italy and Argentina. Round this number to 2 significant figures. </a:t>
            </a:r>
          </a:p>
          <a:p>
            <a:endParaRPr lang="en-US" sz="1200"/>
          </a:p>
          <a:p>
            <a:endParaRPr lang="en-US" sz="1200"/>
          </a:p>
          <a:p>
            <a:endParaRPr lang="en-US" sz="1200"/>
          </a:p>
        </p:txBody>
      </p:sp>
      <p:sp>
        <p:nvSpPr>
          <p:cNvPr id="44" name="Rectangle 43">
            <a:extLst>
              <a:ext uri="{FF2B5EF4-FFF2-40B4-BE49-F238E27FC236}">
                <a16:creationId xmlns:a16="http://schemas.microsoft.com/office/drawing/2014/main" id="{CEEF23AD-EA17-135A-DB95-1D1FECB286F3}"/>
              </a:ext>
            </a:extLst>
          </p:cNvPr>
          <p:cNvSpPr/>
          <p:nvPr/>
        </p:nvSpPr>
        <p:spPr>
          <a:xfrm>
            <a:off x="1449883" y="7518631"/>
            <a:ext cx="5114592" cy="58572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5" name="Rectangle 44">
            <a:extLst>
              <a:ext uri="{FF2B5EF4-FFF2-40B4-BE49-F238E27FC236}">
                <a16:creationId xmlns:a16="http://schemas.microsoft.com/office/drawing/2014/main" id="{CEEF23AD-EA17-135A-DB95-1D1FECB286F3}"/>
              </a:ext>
            </a:extLst>
          </p:cNvPr>
          <p:cNvSpPr/>
          <p:nvPr/>
        </p:nvSpPr>
        <p:spPr>
          <a:xfrm>
            <a:off x="1458800" y="8577310"/>
            <a:ext cx="5114592" cy="59442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9"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30</a:t>
            </a:fld>
            <a:endParaRPr lang="en-GB"/>
          </a:p>
        </p:txBody>
      </p:sp>
    </p:spTree>
    <p:extLst>
      <p:ext uri="{BB962C8B-B14F-4D97-AF65-F5344CB8AC3E}">
        <p14:creationId xmlns:p14="http://schemas.microsoft.com/office/powerpoint/2010/main" val="36708304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5402765" y="9588917"/>
            <a:ext cx="1543050" cy="527403"/>
          </a:xfrm>
        </p:spPr>
        <p:txBody>
          <a:bodyPr/>
          <a:lstStyle/>
          <a:p>
            <a:fld id="{19F1D9CC-7119-45EC-A96C-D8C0660F3AAB}" type="slidenum">
              <a:rPr lang="en-GB" smtClean="0">
                <a:solidFill>
                  <a:schemeClr val="tx1"/>
                </a:solidFill>
              </a:rPr>
              <a:t>31</a:t>
            </a:fld>
            <a:endParaRPr lang="en-GB">
              <a:solidFill>
                <a:schemeClr val="tx1"/>
              </a:solidFill>
            </a:endParaRPr>
          </a:p>
        </p:txBody>
      </p:sp>
      <p:sp>
        <p:nvSpPr>
          <p:cNvPr id="52" name="Slide Number Placeholder 2"/>
          <p:cNvSpPr txBox="1">
            <a:spLocks/>
          </p:cNvSpPr>
          <p:nvPr/>
        </p:nvSpPr>
        <p:spPr>
          <a:xfrm>
            <a:off x="5395716" y="95901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9F1D9CC-7119-45EC-A96C-D8C0660F3AAB}" type="slidenum">
              <a:rPr lang="en-GB" smtClean="0"/>
              <a:pPr/>
              <a:t>31</a:t>
            </a:fld>
            <a:endParaRPr lang="en-GB"/>
          </a:p>
        </p:txBody>
      </p:sp>
      <p:sp>
        <p:nvSpPr>
          <p:cNvPr id="4" name="Rectangle 3">
            <a:extLst>
              <a:ext uri="{FF2B5EF4-FFF2-40B4-BE49-F238E27FC236}">
                <a16:creationId xmlns:a16="http://schemas.microsoft.com/office/drawing/2014/main" id="{457C3927-CBEC-AC26-8EF1-4EDE8B997F47}"/>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Subtopic 3 – Estimation</a:t>
            </a:r>
          </a:p>
        </p:txBody>
      </p:sp>
      <p:sp>
        <p:nvSpPr>
          <p:cNvPr id="10" name="Rectangle 9">
            <a:extLst>
              <a:ext uri="{FF2B5EF4-FFF2-40B4-BE49-F238E27FC236}">
                <a16:creationId xmlns:a16="http://schemas.microsoft.com/office/drawing/2014/main" id="{3F3C26E9-3D48-46EF-4CAA-9E5EA30A4167}"/>
              </a:ext>
            </a:extLst>
          </p:cNvPr>
          <p:cNvSpPr/>
          <p:nvPr/>
        </p:nvSpPr>
        <p:spPr>
          <a:xfrm>
            <a:off x="78403" y="396700"/>
            <a:ext cx="6728829" cy="14174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F61EBF87-57E8-DACD-B915-C60C660125EE}"/>
              </a:ext>
            </a:extLst>
          </p:cNvPr>
          <p:cNvSpPr txBox="1"/>
          <p:nvPr/>
        </p:nvSpPr>
        <p:spPr>
          <a:xfrm>
            <a:off x="35146" y="783689"/>
            <a:ext cx="114939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4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12" name="TextBox 11">
            <a:extLst>
              <a:ext uri="{FF2B5EF4-FFF2-40B4-BE49-F238E27FC236}">
                <a16:creationId xmlns:a16="http://schemas.microsoft.com/office/drawing/2014/main" id="{57C07EAA-19A4-AC3E-01EB-B04BF7B9AE68}"/>
              </a:ext>
            </a:extLst>
          </p:cNvPr>
          <p:cNvSpPr txBox="1"/>
          <p:nvPr/>
        </p:nvSpPr>
        <p:spPr>
          <a:xfrm>
            <a:off x="904948" y="478185"/>
            <a:ext cx="5048103"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To use estimation to solve problems.</a:t>
            </a:r>
          </a:p>
        </p:txBody>
      </p:sp>
      <p:sp>
        <p:nvSpPr>
          <p:cNvPr id="13" name="TextBox 12">
            <a:extLst>
              <a:ext uri="{FF2B5EF4-FFF2-40B4-BE49-F238E27FC236}">
                <a16:creationId xmlns:a16="http://schemas.microsoft.com/office/drawing/2014/main" id="{F14FFD63-ED8E-89A9-950A-34A91E146D12}"/>
              </a:ext>
            </a:extLst>
          </p:cNvPr>
          <p:cNvSpPr txBox="1"/>
          <p:nvPr/>
        </p:nvSpPr>
        <p:spPr>
          <a:xfrm>
            <a:off x="5492377" y="886343"/>
            <a:ext cx="1233799" cy="861774"/>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prstClr val="black"/>
                </a:solidFill>
                <a:effectLst/>
                <a:uLnTx/>
                <a:uFillTx/>
                <a:latin typeface="Calibri" panose="020F0502020204030204"/>
                <a:ea typeface="+mn-ea"/>
                <a:cs typeface="+mn-cs"/>
              </a:rPr>
              <a:t>Keywords: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significant figure</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Approximate</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lang="en-US" sz="1000">
                <a:solidFill>
                  <a:prstClr val="black"/>
                </a:solidFill>
                <a:latin typeface="Calibri" panose="020F0502020204030204"/>
              </a:rPr>
              <a:t>estimate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Box 1">
            <a:extLst>
              <a:ext uri="{FF2B5EF4-FFF2-40B4-BE49-F238E27FC236}">
                <a16:creationId xmlns:a16="http://schemas.microsoft.com/office/drawing/2014/main" id="{B0533220-804B-A045-75A3-5251B4B4704B}"/>
              </a:ext>
            </a:extLst>
          </p:cNvPr>
          <p:cNvSpPr txBox="1"/>
          <p:nvPr/>
        </p:nvSpPr>
        <p:spPr>
          <a:xfrm>
            <a:off x="904948" y="920907"/>
            <a:ext cx="4667990"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buFont typeface="+mj-lt"/>
              <a:buAutoNum type="arabicPeriod"/>
            </a:pPr>
            <a:r>
              <a:rPr lang="en-GB" sz="1200"/>
              <a:t>To be able to use rounding to estimate calculations.</a:t>
            </a:r>
          </a:p>
          <a:p>
            <a:pPr marL="342900" indent="-342900">
              <a:buFont typeface="+mj-lt"/>
              <a:buAutoNum type="arabicPeriod"/>
            </a:pPr>
            <a:r>
              <a:rPr lang="en-GB" sz="1200"/>
              <a:t>To estimate with powers and roots.</a:t>
            </a:r>
          </a:p>
        </p:txBody>
      </p:sp>
      <p:cxnSp>
        <p:nvCxnSpPr>
          <p:cNvPr id="23" name="Straight Connector 22">
            <a:extLst>
              <a:ext uri="{FF2B5EF4-FFF2-40B4-BE49-F238E27FC236}">
                <a16:creationId xmlns:a16="http://schemas.microsoft.com/office/drawing/2014/main" id="{948E6108-F66A-6AB3-72B3-B9FFA916F382}"/>
              </a:ext>
            </a:extLst>
          </p:cNvPr>
          <p:cNvCxnSpPr/>
          <p:nvPr/>
        </p:nvCxnSpPr>
        <p:spPr>
          <a:xfrm flipV="1">
            <a:off x="917514" y="411813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3CE20077-8FB5-5408-0885-500017EC56EF}"/>
              </a:ext>
            </a:extLst>
          </p:cNvPr>
          <p:cNvSpPr/>
          <p:nvPr/>
        </p:nvSpPr>
        <p:spPr>
          <a:xfrm>
            <a:off x="62503" y="2079336"/>
            <a:ext cx="6699219" cy="26133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8" name="Straight Connector 67">
            <a:extLst>
              <a:ext uri="{FF2B5EF4-FFF2-40B4-BE49-F238E27FC236}">
                <a16:creationId xmlns:a16="http://schemas.microsoft.com/office/drawing/2014/main" id="{E5FBF7BC-6FE4-8C0F-01BC-3B65B85F59C6}"/>
              </a:ext>
            </a:extLst>
          </p:cNvPr>
          <p:cNvCxnSpPr/>
          <p:nvPr/>
        </p:nvCxnSpPr>
        <p:spPr>
          <a:xfrm>
            <a:off x="69204" y="3432916"/>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CCF41E25-28C2-2BB7-5BC3-52B7F84EB78F}"/>
              </a:ext>
            </a:extLst>
          </p:cNvPr>
          <p:cNvCxnSpPr>
            <a:cxnSpLocks/>
            <a:stCxn id="25" idx="2"/>
            <a:endCxn id="25" idx="0"/>
          </p:cNvCxnSpPr>
          <p:nvPr/>
        </p:nvCxnSpPr>
        <p:spPr>
          <a:xfrm flipV="1">
            <a:off x="3412113" y="2079336"/>
            <a:ext cx="0" cy="2613360"/>
          </a:xfrm>
          <a:prstGeom prst="line">
            <a:avLst/>
          </a:prstGeom>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EDB3C1DB-CCF7-A3F3-982C-8D68D20F7E03}"/>
              </a:ext>
            </a:extLst>
          </p:cNvPr>
          <p:cNvSpPr txBox="1"/>
          <p:nvPr/>
        </p:nvSpPr>
        <p:spPr>
          <a:xfrm>
            <a:off x="96278" y="2067102"/>
            <a:ext cx="824713" cy="461665"/>
          </a:xfrm>
          <a:prstGeom prst="rect">
            <a:avLst/>
          </a:prstGeom>
          <a:noFill/>
        </p:spPr>
        <p:txBody>
          <a:bodyPr wrap="none" rtlCol="0">
            <a:spAutoFit/>
          </a:bodyPr>
          <a:lstStyle/>
          <a:p>
            <a:r>
              <a:rPr lang="en-US" sz="1200" b="1"/>
              <a:t>Definition</a:t>
            </a:r>
          </a:p>
          <a:p>
            <a:endParaRPr lang="en-US" sz="1200"/>
          </a:p>
        </p:txBody>
      </p:sp>
      <p:sp>
        <p:nvSpPr>
          <p:cNvPr id="71" name="TextBox 70">
            <a:extLst>
              <a:ext uri="{FF2B5EF4-FFF2-40B4-BE49-F238E27FC236}">
                <a16:creationId xmlns:a16="http://schemas.microsoft.com/office/drawing/2014/main" id="{FF9457BE-65B5-5673-226D-0B217A0BF0BD}"/>
              </a:ext>
            </a:extLst>
          </p:cNvPr>
          <p:cNvSpPr txBox="1"/>
          <p:nvPr/>
        </p:nvSpPr>
        <p:spPr>
          <a:xfrm>
            <a:off x="5619068" y="2079546"/>
            <a:ext cx="1112228" cy="276999"/>
          </a:xfrm>
          <a:prstGeom prst="rect">
            <a:avLst/>
          </a:prstGeom>
          <a:noFill/>
        </p:spPr>
        <p:txBody>
          <a:bodyPr wrap="none" rtlCol="0">
            <a:spAutoFit/>
          </a:bodyPr>
          <a:lstStyle/>
          <a:p>
            <a:r>
              <a:rPr lang="en-US" sz="1200" b="1"/>
              <a:t>Characteristics</a:t>
            </a:r>
            <a:endParaRPr lang="en-GB" sz="1200" b="1"/>
          </a:p>
        </p:txBody>
      </p:sp>
      <p:sp>
        <p:nvSpPr>
          <p:cNvPr id="72" name="TextBox 71">
            <a:extLst>
              <a:ext uri="{FF2B5EF4-FFF2-40B4-BE49-F238E27FC236}">
                <a16:creationId xmlns:a16="http://schemas.microsoft.com/office/drawing/2014/main" id="{8BADBC09-E79B-FCA0-7440-C7E760973270}"/>
              </a:ext>
            </a:extLst>
          </p:cNvPr>
          <p:cNvSpPr txBox="1"/>
          <p:nvPr/>
        </p:nvSpPr>
        <p:spPr>
          <a:xfrm>
            <a:off x="79815" y="3396757"/>
            <a:ext cx="788164" cy="276999"/>
          </a:xfrm>
          <a:prstGeom prst="rect">
            <a:avLst/>
          </a:prstGeom>
          <a:noFill/>
        </p:spPr>
        <p:txBody>
          <a:bodyPr wrap="none" rtlCol="0">
            <a:spAutoFit/>
          </a:bodyPr>
          <a:lstStyle/>
          <a:p>
            <a:r>
              <a:rPr lang="en-US" sz="1200" b="1"/>
              <a:t>Examples</a:t>
            </a:r>
            <a:endParaRPr lang="en-GB" sz="1200" b="1"/>
          </a:p>
        </p:txBody>
      </p:sp>
      <p:sp>
        <p:nvSpPr>
          <p:cNvPr id="73" name="TextBox 72">
            <a:extLst>
              <a:ext uri="{FF2B5EF4-FFF2-40B4-BE49-F238E27FC236}">
                <a16:creationId xmlns:a16="http://schemas.microsoft.com/office/drawing/2014/main" id="{0DC09AF5-77AC-79ED-4013-2BE410B097F6}"/>
              </a:ext>
            </a:extLst>
          </p:cNvPr>
          <p:cNvSpPr txBox="1"/>
          <p:nvPr/>
        </p:nvSpPr>
        <p:spPr>
          <a:xfrm>
            <a:off x="5533152" y="3421169"/>
            <a:ext cx="1172885" cy="276999"/>
          </a:xfrm>
          <a:prstGeom prst="rect">
            <a:avLst/>
          </a:prstGeom>
          <a:noFill/>
        </p:spPr>
        <p:txBody>
          <a:bodyPr wrap="none" rtlCol="0">
            <a:spAutoFit/>
          </a:bodyPr>
          <a:lstStyle/>
          <a:p>
            <a:r>
              <a:rPr lang="en-US" sz="1200" b="1"/>
              <a:t>Non - Examples</a:t>
            </a:r>
            <a:endParaRPr lang="en-GB" sz="1200" b="1"/>
          </a:p>
        </p:txBody>
      </p:sp>
      <p:sp>
        <p:nvSpPr>
          <p:cNvPr id="74" name="TextBox 73">
            <a:extLst>
              <a:ext uri="{FF2B5EF4-FFF2-40B4-BE49-F238E27FC236}">
                <a16:creationId xmlns:a16="http://schemas.microsoft.com/office/drawing/2014/main" id="{344F8C67-FBB0-06A6-A3E2-3F0993CA4C4A}"/>
              </a:ext>
            </a:extLst>
          </p:cNvPr>
          <p:cNvSpPr txBox="1"/>
          <p:nvPr/>
        </p:nvSpPr>
        <p:spPr>
          <a:xfrm>
            <a:off x="118190" y="2266789"/>
            <a:ext cx="3230335" cy="646331"/>
          </a:xfrm>
          <a:prstGeom prst="rect">
            <a:avLst/>
          </a:prstGeom>
          <a:noFill/>
        </p:spPr>
        <p:txBody>
          <a:bodyPr wrap="square" rtlCol="0">
            <a:spAutoFit/>
          </a:bodyPr>
          <a:lstStyle/>
          <a:p>
            <a:r>
              <a:rPr lang="en-US" sz="1200"/>
              <a:t>Calculating an approximate answer to a calculation by rounding the numbers used in the calculation prior to carrying the calculation.</a:t>
            </a:r>
          </a:p>
        </p:txBody>
      </p:sp>
      <p:sp>
        <p:nvSpPr>
          <p:cNvPr id="75" name="TextBox 74">
            <a:extLst>
              <a:ext uri="{FF2B5EF4-FFF2-40B4-BE49-F238E27FC236}">
                <a16:creationId xmlns:a16="http://schemas.microsoft.com/office/drawing/2014/main" id="{2C06B35E-5872-7074-9418-D210247E5C72}"/>
              </a:ext>
            </a:extLst>
          </p:cNvPr>
          <p:cNvSpPr txBox="1"/>
          <p:nvPr/>
        </p:nvSpPr>
        <p:spPr>
          <a:xfrm>
            <a:off x="3509475" y="2268636"/>
            <a:ext cx="3230335" cy="1015663"/>
          </a:xfrm>
          <a:prstGeom prst="rect">
            <a:avLst/>
          </a:prstGeom>
          <a:noFill/>
        </p:spPr>
        <p:txBody>
          <a:bodyPr wrap="square" rtlCol="0">
            <a:spAutoFit/>
          </a:bodyPr>
          <a:lstStyle/>
          <a:p>
            <a:pPr marL="171450" indent="-171450">
              <a:buFont typeface="Arial" panose="020B0604020202020204" pitchFamily="34" charset="0"/>
              <a:buChar char="•"/>
            </a:pPr>
            <a:r>
              <a:rPr lang="en-US" sz="1200" dirty="0"/>
              <a:t>Typically, number used in the calculation will be rounded to 1 significant figure</a:t>
            </a:r>
          </a:p>
          <a:p>
            <a:pPr marL="171450" indent="-171450">
              <a:buFont typeface="Arial" panose="020B0604020202020204" pitchFamily="34" charset="0"/>
              <a:buChar char="•"/>
            </a:pPr>
            <a:r>
              <a:rPr lang="en-US" sz="1200" dirty="0"/>
              <a:t>The result of the calculation will be close to the real answer</a:t>
            </a:r>
          </a:p>
          <a:p>
            <a:pPr marL="171450" indent="-171450">
              <a:buFont typeface="Arial" panose="020B0604020202020204" pitchFamily="34" charset="0"/>
              <a:buChar char="•"/>
            </a:pPr>
            <a:endParaRPr lang="en-US" sz="1200" dirty="0"/>
          </a:p>
        </p:txBody>
      </p:sp>
      <p:sp>
        <p:nvSpPr>
          <p:cNvPr id="76" name="TextBox 75">
            <a:extLst>
              <a:ext uri="{FF2B5EF4-FFF2-40B4-BE49-F238E27FC236}">
                <a16:creationId xmlns:a16="http://schemas.microsoft.com/office/drawing/2014/main" id="{2556150D-FEC2-7DB9-D31C-D88BE4E36152}"/>
              </a:ext>
            </a:extLst>
          </p:cNvPr>
          <p:cNvSpPr txBox="1"/>
          <p:nvPr/>
        </p:nvSpPr>
        <p:spPr>
          <a:xfrm>
            <a:off x="2037810" y="3239198"/>
            <a:ext cx="2538772" cy="369332"/>
          </a:xfrm>
          <a:prstGeom prst="rect">
            <a:avLst/>
          </a:prstGeom>
          <a:solidFill>
            <a:schemeClr val="bg1"/>
          </a:solidFill>
          <a:ln>
            <a:solidFill>
              <a:schemeClr val="tx1"/>
            </a:solidFill>
          </a:ln>
        </p:spPr>
        <p:txBody>
          <a:bodyPr wrap="none" rtlCol="0">
            <a:spAutoFit/>
          </a:bodyPr>
          <a:lstStyle/>
          <a:p>
            <a:r>
              <a:rPr lang="en-US"/>
              <a:t>Estimating (a calculation)</a:t>
            </a:r>
            <a:endParaRPr lang="en-GB"/>
          </a:p>
        </p:txBody>
      </p:sp>
      <p:sp>
        <p:nvSpPr>
          <p:cNvPr id="81" name="TextBox 80">
            <a:extLst>
              <a:ext uri="{FF2B5EF4-FFF2-40B4-BE49-F238E27FC236}">
                <a16:creationId xmlns:a16="http://schemas.microsoft.com/office/drawing/2014/main" id="{776E9B21-10B5-629D-38B3-C8F917228C0E}"/>
              </a:ext>
            </a:extLst>
          </p:cNvPr>
          <p:cNvSpPr txBox="1"/>
          <p:nvPr/>
        </p:nvSpPr>
        <p:spPr>
          <a:xfrm>
            <a:off x="302258" y="3605913"/>
            <a:ext cx="2484780" cy="280270"/>
          </a:xfrm>
          <a:prstGeom prst="rect">
            <a:avLst/>
          </a:prstGeom>
          <a:noFill/>
        </p:spPr>
        <p:txBody>
          <a:bodyPr wrap="square">
            <a:spAutoFit/>
          </a:bodyPr>
          <a:lstStyle/>
          <a:p>
            <a:pPr algn="ctr">
              <a:lnSpc>
                <a:spcPct val="107000"/>
              </a:lnSpc>
              <a:spcAft>
                <a:spcPts val="1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27 × 432 </a:t>
            </a:r>
            <a:r>
              <a:rPr lang="en-US" sz="1200">
                <a:effectLst/>
                <a:latin typeface="Calibri" panose="020F0502020204030204" pitchFamily="34" charset="0"/>
                <a:ea typeface="Calibri" panose="020F0502020204030204" pitchFamily="34" charset="0"/>
                <a:cs typeface="Calibri" panose="020F0502020204030204" pitchFamily="34" charset="0"/>
              </a:rPr>
              <a:t>≈</a:t>
            </a:r>
            <a:r>
              <a:rPr lang="en-US" sz="1200">
                <a:effectLst/>
                <a:latin typeface="Times New Roman" panose="02020603050405020304" pitchFamily="18" charset="0"/>
                <a:ea typeface="Calibri" panose="020F0502020204030204" pitchFamily="34" charset="0"/>
                <a:cs typeface="Times New Roman" panose="02020603050405020304" pitchFamily="18" charset="0"/>
              </a:rPr>
              <a:t> 30 × 400</a:t>
            </a:r>
            <a:endParaRPr lang="en-GB" sz="70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237BA5C3-2BE2-E5D4-477E-11AE78555FF9}"/>
                  </a:ext>
                </a:extLst>
              </p:cNvPr>
              <p:cNvSpPr txBox="1"/>
              <p:nvPr/>
            </p:nvSpPr>
            <p:spPr>
              <a:xfrm>
                <a:off x="203434" y="4034498"/>
                <a:ext cx="2946686" cy="694357"/>
              </a:xfrm>
              <a:prstGeom prst="rect">
                <a:avLst/>
              </a:prstGeom>
              <a:noFill/>
            </p:spPr>
            <p:txBody>
              <a:bodyPr wrap="square">
                <a:spAutoFit/>
              </a:bodyPr>
              <a:lstStyle/>
              <a:p>
                <a:pPr>
                  <a:lnSpc>
                    <a:spcPct val="107000"/>
                  </a:lnSpc>
                  <a:spcAft>
                    <a:spcPts val="1800"/>
                  </a:spcAft>
                </a:pPr>
                <a14:m>
                  <m:oMathPara xmlns:m="http://schemas.openxmlformats.org/officeDocument/2006/math">
                    <m:oMathParaPr>
                      <m:jc m:val="centerGroup"/>
                    </m:oMathParaPr>
                    <m:oMath xmlns:m="http://schemas.openxmlformats.org/officeDocument/2006/math">
                      <m:f>
                        <m:fPr>
                          <m:ctrlPr>
                            <a:rPr lang="en-GB" sz="1200" i="1"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200" i="1">
                              <a:effectLst/>
                              <a:latin typeface="Cambria Math" panose="02040503050406030204" pitchFamily="18" charset="0"/>
                              <a:ea typeface="Calibri" panose="020F0502020204030204" pitchFamily="34" charset="0"/>
                              <a:cs typeface="Times New Roman" panose="02020603050405020304" pitchFamily="18" charset="0"/>
                            </a:rPr>
                            <m:t>73.8×23.93</m:t>
                          </m:r>
                        </m:num>
                        <m:den>
                          <m:r>
                            <a:rPr lang="en-US" sz="1200" i="1">
                              <a:effectLst/>
                              <a:latin typeface="Cambria Math" panose="02040503050406030204" pitchFamily="18" charset="0"/>
                              <a:ea typeface="Calibri" panose="020F0502020204030204" pitchFamily="34" charset="0"/>
                              <a:cs typeface="Times New Roman" panose="02020603050405020304" pitchFamily="18" charset="0"/>
                            </a:rPr>
                            <m:t>0.345</m:t>
                          </m:r>
                        </m:den>
                      </m:f>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1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70×20</m:t>
                          </m:r>
                        </m:num>
                        <m:den>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0.3</m:t>
                          </m:r>
                        </m:den>
                      </m:f>
                    </m:oMath>
                  </m:oMathPara>
                </a14:m>
                <a:endParaRPr lang="en-GB" sz="10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3" name="TextBox 82">
                <a:extLst>
                  <a:ext uri="{FF2B5EF4-FFF2-40B4-BE49-F238E27FC236}">
                    <a16:creationId xmlns:a16="http://schemas.microsoft.com/office/drawing/2014/main" id="{237BA5C3-2BE2-E5D4-477E-11AE78555FF9}"/>
                  </a:ext>
                </a:extLst>
              </p:cNvPr>
              <p:cNvSpPr txBox="1">
                <a:spLocks noRot="1" noChangeAspect="1" noMove="1" noResize="1" noEditPoints="1" noAdjustHandles="1" noChangeArrowheads="1" noChangeShapeType="1" noTextEdit="1"/>
              </p:cNvSpPr>
              <p:nvPr/>
            </p:nvSpPr>
            <p:spPr>
              <a:xfrm>
                <a:off x="203434" y="4034498"/>
                <a:ext cx="2946686" cy="694357"/>
              </a:xfrm>
              <a:prstGeom prst="rect">
                <a:avLst/>
              </a:prstGeom>
              <a:blipFill>
                <a:blip r:embed="rId3"/>
                <a:stretch>
                  <a:fillRect/>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7EB07DBF-2158-96C9-EA3C-14E8E5FBB22D}"/>
              </a:ext>
            </a:extLst>
          </p:cNvPr>
          <p:cNvSpPr txBox="1"/>
          <p:nvPr/>
        </p:nvSpPr>
        <p:spPr>
          <a:xfrm>
            <a:off x="4238363" y="3625280"/>
            <a:ext cx="1409700" cy="276999"/>
          </a:xfrm>
          <a:prstGeom prst="rect">
            <a:avLst/>
          </a:prstGeom>
          <a:noFill/>
        </p:spPr>
        <p:txBody>
          <a:bodyPr wrap="square">
            <a:spAutoFit/>
          </a:bodyPr>
          <a:lstStyle/>
          <a:p>
            <a:r>
              <a:rPr lang="en-US" sz="1200">
                <a:effectLst/>
                <a:latin typeface="Times New Roman" panose="02020603050405020304" pitchFamily="18" charset="0"/>
                <a:ea typeface="Calibri" panose="020F0502020204030204" pitchFamily="34" charset="0"/>
              </a:rPr>
              <a:t>27 × 432 = </a:t>
            </a:r>
            <a:endParaRPr lang="en-GB" sz="1200"/>
          </a:p>
        </p:txBody>
      </p:sp>
      <p:graphicFrame>
        <p:nvGraphicFramePr>
          <p:cNvPr id="86" name="Table 85">
            <a:extLst>
              <a:ext uri="{FF2B5EF4-FFF2-40B4-BE49-F238E27FC236}">
                <a16:creationId xmlns:a16="http://schemas.microsoft.com/office/drawing/2014/main" id="{CFA0AA44-B0D6-1F89-537B-3DF4077E8CC6}"/>
              </a:ext>
            </a:extLst>
          </p:cNvPr>
          <p:cNvGraphicFramePr>
            <a:graphicFrameLocks noGrp="1"/>
          </p:cNvGraphicFramePr>
          <p:nvPr/>
        </p:nvGraphicFramePr>
        <p:xfrm>
          <a:off x="4343505" y="3931155"/>
          <a:ext cx="2023220" cy="632656"/>
        </p:xfrm>
        <a:graphic>
          <a:graphicData uri="http://schemas.openxmlformats.org/drawingml/2006/table">
            <a:tbl>
              <a:tblPr firstRow="1" firstCol="1" bandRow="1">
                <a:tableStyleId>{5C22544A-7EE6-4342-B048-85BDC9FD1C3A}</a:tableStyleId>
              </a:tblPr>
              <a:tblGrid>
                <a:gridCol w="505805">
                  <a:extLst>
                    <a:ext uri="{9D8B030D-6E8A-4147-A177-3AD203B41FA5}">
                      <a16:colId xmlns:a16="http://schemas.microsoft.com/office/drawing/2014/main" val="1585311582"/>
                    </a:ext>
                  </a:extLst>
                </a:gridCol>
                <a:gridCol w="505805">
                  <a:extLst>
                    <a:ext uri="{9D8B030D-6E8A-4147-A177-3AD203B41FA5}">
                      <a16:colId xmlns:a16="http://schemas.microsoft.com/office/drawing/2014/main" val="3121458677"/>
                    </a:ext>
                  </a:extLst>
                </a:gridCol>
                <a:gridCol w="505805">
                  <a:extLst>
                    <a:ext uri="{9D8B030D-6E8A-4147-A177-3AD203B41FA5}">
                      <a16:colId xmlns:a16="http://schemas.microsoft.com/office/drawing/2014/main" val="77838223"/>
                    </a:ext>
                  </a:extLst>
                </a:gridCol>
                <a:gridCol w="505805">
                  <a:extLst>
                    <a:ext uri="{9D8B030D-6E8A-4147-A177-3AD203B41FA5}">
                      <a16:colId xmlns:a16="http://schemas.microsoft.com/office/drawing/2014/main" val="1634582299"/>
                    </a:ext>
                  </a:extLst>
                </a:gridCol>
              </a:tblGrid>
              <a:tr h="213742">
                <a:tc>
                  <a:txBody>
                    <a:bodyPr/>
                    <a:lstStyle/>
                    <a:p>
                      <a:pPr algn="ctr">
                        <a:lnSpc>
                          <a:spcPct val="107000"/>
                        </a:lnSpc>
                        <a:spcAft>
                          <a:spcPts val="800"/>
                        </a:spcAft>
                      </a:pPr>
                      <a:r>
                        <a:rPr lang="en-US" sz="1200">
                          <a:solidFill>
                            <a:schemeClr val="tx1"/>
                          </a:solidFill>
                          <a:effectLst/>
                        </a:rPr>
                        <a:t> </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400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30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2</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2113631"/>
                  </a:ext>
                </a:extLst>
              </a:tr>
              <a:tr h="205172">
                <a:tc>
                  <a:txBody>
                    <a:bodyPr/>
                    <a:lstStyle/>
                    <a:p>
                      <a:pPr algn="ctr">
                        <a:lnSpc>
                          <a:spcPct val="107000"/>
                        </a:lnSpc>
                        <a:spcAft>
                          <a:spcPts val="800"/>
                        </a:spcAft>
                      </a:pPr>
                      <a:r>
                        <a:rPr lang="en-US" sz="1200">
                          <a:solidFill>
                            <a:schemeClr val="tx1"/>
                          </a:solidFill>
                          <a:effectLst/>
                        </a:rPr>
                        <a:t>20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8000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600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40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2663325"/>
                  </a:ext>
                </a:extLst>
              </a:tr>
              <a:tr h="213742">
                <a:tc>
                  <a:txBody>
                    <a:bodyPr/>
                    <a:lstStyle/>
                    <a:p>
                      <a:pPr algn="ctr">
                        <a:lnSpc>
                          <a:spcPct val="107000"/>
                        </a:lnSpc>
                        <a:spcAft>
                          <a:spcPts val="800"/>
                        </a:spcAft>
                      </a:pPr>
                      <a:r>
                        <a:rPr lang="en-US" sz="1200">
                          <a:solidFill>
                            <a:schemeClr val="tx1"/>
                          </a:solidFill>
                          <a:effectLst/>
                        </a:rPr>
                        <a:t>7</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2800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210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14</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2897687"/>
                  </a:ext>
                </a:extLst>
              </a:tr>
            </a:tbl>
          </a:graphicData>
        </a:graphic>
      </p:graphicFrame>
      <p:cxnSp>
        <p:nvCxnSpPr>
          <p:cNvPr id="27" name="Straight Connector 26">
            <a:extLst>
              <a:ext uri="{FF2B5EF4-FFF2-40B4-BE49-F238E27FC236}">
                <a16:creationId xmlns:a16="http://schemas.microsoft.com/office/drawing/2014/main" id="{A933B632-9498-1DF2-B5D7-E3842178E377}"/>
              </a:ext>
            </a:extLst>
          </p:cNvPr>
          <p:cNvCxnSpPr>
            <a:cxnSpLocks/>
          </p:cNvCxnSpPr>
          <p:nvPr/>
        </p:nvCxnSpPr>
        <p:spPr>
          <a:xfrm>
            <a:off x="960616" y="6521411"/>
            <a:ext cx="0" cy="0"/>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28" name="Table 27">
                <a:extLst>
                  <a:ext uri="{FF2B5EF4-FFF2-40B4-BE49-F238E27FC236}">
                    <a16:creationId xmlns:a16="http://schemas.microsoft.com/office/drawing/2014/main" id="{02E0B385-6FD3-6909-560E-F91F3CE19E32}"/>
                  </a:ext>
                </a:extLst>
              </p:cNvPr>
              <p:cNvGraphicFramePr>
                <a:graphicFrameLocks noGrp="1"/>
              </p:cNvGraphicFramePr>
              <p:nvPr>
                <p:extLst>
                  <p:ext uri="{D42A27DB-BD31-4B8C-83A1-F6EECF244321}">
                    <p14:modId xmlns:p14="http://schemas.microsoft.com/office/powerpoint/2010/main" val="3864170878"/>
                  </p:ext>
                </p:extLst>
              </p:nvPr>
            </p:nvGraphicFramePr>
            <p:xfrm>
              <a:off x="162357" y="5077039"/>
              <a:ext cx="6543680" cy="4564922"/>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34188">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44152">
                    <a:tc>
                      <a:txBody>
                        <a:bodyPr/>
                        <a:lstStyle/>
                        <a:p>
                          <a:pPr marL="0" indent="0">
                            <a:buNone/>
                          </a:pPr>
                          <a:r>
                            <a:rPr lang="en-US" sz="1100" dirty="0"/>
                            <a:t>1) Round the</a:t>
                          </a:r>
                          <a:r>
                            <a:rPr lang="en-US" sz="1100" baseline="0" dirty="0"/>
                            <a:t> numbers, usually to 1 sig fig</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2.9 +</a:t>
                          </a:r>
                          <a:r>
                            <a:rPr lang="en-US" sz="1200" baseline="0">
                              <a:solidFill>
                                <a:schemeClr val="tx1"/>
                              </a:solidFill>
                            </a:rPr>
                            <a:t> </a:t>
                          </a:r>
                          <a:r>
                            <a:rPr lang="en-US" sz="1200">
                              <a:solidFill>
                                <a:schemeClr val="tx1"/>
                              </a:solidFill>
                            </a:rPr>
                            <a:t>9.9</a:t>
                          </a:r>
                          <a:r>
                            <a:rPr lang="en-US" sz="1200" baseline="0">
                              <a:solidFill>
                                <a:schemeClr val="tx1"/>
                              </a:solidFill>
                            </a:rPr>
                            <a:t> by rounding to the nearest integer. </a:t>
                          </a: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9.9 -</a:t>
                          </a:r>
                          <a:r>
                            <a:rPr lang="en-US" sz="1200" baseline="0">
                              <a:solidFill>
                                <a:schemeClr val="tx1"/>
                              </a:solidFill>
                            </a:rPr>
                            <a:t> </a:t>
                          </a:r>
                          <a:r>
                            <a:rPr lang="en-US" sz="1200">
                              <a:solidFill>
                                <a:schemeClr val="tx1"/>
                              </a:solidFill>
                            </a:rPr>
                            <a:t>2.9</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4.5 +</a:t>
                          </a:r>
                          <a:r>
                            <a:rPr lang="en-US" sz="1200" baseline="0">
                              <a:solidFill>
                                <a:schemeClr val="tx1"/>
                              </a:solidFill>
                            </a:rPr>
                            <a:t> 1</a:t>
                          </a:r>
                          <a:r>
                            <a:rPr lang="en-US" sz="1200">
                              <a:solidFill>
                                <a:schemeClr val="tx1"/>
                              </a:solidFill>
                            </a:rPr>
                            <a:t>9.6</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19.6 -</a:t>
                          </a:r>
                          <a:r>
                            <a:rPr lang="en-US" sz="1200" baseline="0">
                              <a:solidFill>
                                <a:schemeClr val="tx1"/>
                              </a:solidFill>
                            </a:rPr>
                            <a:t> 4</a:t>
                          </a:r>
                          <a:r>
                            <a:rPr lang="en-US" sz="1200">
                              <a:solidFill>
                                <a:schemeClr val="tx1"/>
                              </a:solidFill>
                            </a:rPr>
                            <a:t>.95</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12.5 +</a:t>
                          </a:r>
                          <a:r>
                            <a:rPr lang="en-US" sz="1200" baseline="0">
                              <a:solidFill>
                                <a:schemeClr val="tx1"/>
                              </a:solidFill>
                            </a:rPr>
                            <a:t> 1</a:t>
                          </a:r>
                          <a:r>
                            <a:rPr lang="en-US" sz="1200">
                              <a:solidFill>
                                <a:schemeClr val="tx1"/>
                              </a:solidFill>
                            </a:rPr>
                            <a:t>9.7</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19.7 -</a:t>
                          </a:r>
                          <a:r>
                            <a:rPr lang="en-US" sz="1200" baseline="0">
                              <a:solidFill>
                                <a:schemeClr val="tx1"/>
                              </a:solidFill>
                            </a:rPr>
                            <a:t> 12</a:t>
                          </a:r>
                          <a:r>
                            <a:rPr lang="en-US" sz="1200">
                              <a:solidFill>
                                <a:schemeClr val="tx1"/>
                              </a:solidFill>
                            </a:rPr>
                            <a:t>.5</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81135">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2180555">
                    <a:tc>
                      <a:txBody>
                        <a:bodyPr/>
                        <a:lstStyle/>
                        <a:p>
                          <a:pPr marL="0" indent="0">
                            <a:buNone/>
                          </a:pPr>
                          <a:r>
                            <a:rPr lang="en-US" sz="1100" dirty="0"/>
                            <a:t>3)</a:t>
                          </a:r>
                          <a:r>
                            <a:rPr lang="en-US" sz="1100" baseline="0" dirty="0"/>
                            <a:t> Use the approximate symbol </a:t>
                          </a:r>
                          <a14:m>
                            <m:oMath xmlns:m="http://schemas.openxmlformats.org/officeDocument/2006/math">
                              <m:r>
                                <a:rPr lang="en-US" sz="1100" i="1" baseline="0" smtClean="0">
                                  <a:latin typeface="Cambria Math" panose="02040503050406030204" pitchFamily="18" charset="0"/>
                                  <a:ea typeface="Cambria Math" panose="02040503050406030204" pitchFamily="18" charset="0"/>
                                </a:rPr>
                                <m:t>≈</m:t>
                              </m:r>
                            </m:oMath>
                          </a14:m>
                          <a:r>
                            <a:rPr lang="en-US" sz="1100" dirty="0"/>
                            <a:t> to show your solution</a:t>
                          </a:r>
                          <a:r>
                            <a:rPr lang="en-US" sz="1100" baseline="0" dirty="0"/>
                            <a:t> is an estimate. </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Choice>
        <mc:Fallback xmlns="">
          <p:graphicFrame>
            <p:nvGraphicFramePr>
              <p:cNvPr id="28" name="Table 27">
                <a:extLst>
                  <a:ext uri="{FF2B5EF4-FFF2-40B4-BE49-F238E27FC236}">
                    <a16:creationId xmlns:a16="http://schemas.microsoft.com/office/drawing/2014/main" id="{02E0B385-6FD3-6909-560E-F91F3CE19E32}"/>
                  </a:ext>
                </a:extLst>
              </p:cNvPr>
              <p:cNvGraphicFramePr>
                <a:graphicFrameLocks noGrp="1"/>
              </p:cNvGraphicFramePr>
              <p:nvPr>
                <p:extLst>
                  <p:ext uri="{D42A27DB-BD31-4B8C-83A1-F6EECF244321}">
                    <p14:modId xmlns:p14="http://schemas.microsoft.com/office/powerpoint/2010/main" val="3864170878"/>
                  </p:ext>
                </p:extLst>
              </p:nvPr>
            </p:nvGraphicFramePr>
            <p:xfrm>
              <a:off x="162357" y="5077039"/>
              <a:ext cx="6543680" cy="4564922"/>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59080">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44152">
                    <a:tc>
                      <a:txBody>
                        <a:bodyPr/>
                        <a:lstStyle/>
                        <a:p>
                          <a:pPr marL="0" indent="0">
                            <a:buNone/>
                          </a:pPr>
                          <a:r>
                            <a:rPr lang="en-US" sz="1100" dirty="0"/>
                            <a:t>1) Round the</a:t>
                          </a:r>
                          <a:r>
                            <a:rPr lang="en-US" sz="1100" baseline="0" dirty="0"/>
                            <a:t> numbers, usually to 1 sig fig</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2.9 +</a:t>
                          </a:r>
                          <a:r>
                            <a:rPr lang="en-US" sz="1200" baseline="0">
                              <a:solidFill>
                                <a:schemeClr val="tx1"/>
                              </a:solidFill>
                            </a:rPr>
                            <a:t> </a:t>
                          </a:r>
                          <a:r>
                            <a:rPr lang="en-US" sz="1200">
                              <a:solidFill>
                                <a:schemeClr val="tx1"/>
                              </a:solidFill>
                            </a:rPr>
                            <a:t>9.9</a:t>
                          </a:r>
                          <a:r>
                            <a:rPr lang="en-US" sz="1200" baseline="0">
                              <a:solidFill>
                                <a:schemeClr val="tx1"/>
                              </a:solidFill>
                            </a:rPr>
                            <a:t> by rounding to the nearest integer. </a:t>
                          </a: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9.9 -</a:t>
                          </a:r>
                          <a:r>
                            <a:rPr lang="en-US" sz="1200" baseline="0">
                              <a:solidFill>
                                <a:schemeClr val="tx1"/>
                              </a:solidFill>
                            </a:rPr>
                            <a:t> </a:t>
                          </a:r>
                          <a:r>
                            <a:rPr lang="en-US" sz="1200">
                              <a:solidFill>
                                <a:schemeClr val="tx1"/>
                              </a:solidFill>
                            </a:rPr>
                            <a:t>2.9</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4.5 +</a:t>
                          </a:r>
                          <a:r>
                            <a:rPr lang="en-US" sz="1200" baseline="0">
                              <a:solidFill>
                                <a:schemeClr val="tx1"/>
                              </a:solidFill>
                            </a:rPr>
                            <a:t> 1</a:t>
                          </a:r>
                          <a:r>
                            <a:rPr lang="en-US" sz="1200">
                              <a:solidFill>
                                <a:schemeClr val="tx1"/>
                              </a:solidFill>
                            </a:rPr>
                            <a:t>9.6</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19.6 -</a:t>
                          </a:r>
                          <a:r>
                            <a:rPr lang="en-US" sz="1200" baseline="0">
                              <a:solidFill>
                                <a:schemeClr val="tx1"/>
                              </a:solidFill>
                            </a:rPr>
                            <a:t> 4</a:t>
                          </a:r>
                          <a:r>
                            <a:rPr lang="en-US" sz="1200">
                              <a:solidFill>
                                <a:schemeClr val="tx1"/>
                              </a:solidFill>
                            </a:rPr>
                            <a:t>.95</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12.5 +</a:t>
                          </a:r>
                          <a:r>
                            <a:rPr lang="en-US" sz="1200" baseline="0">
                              <a:solidFill>
                                <a:schemeClr val="tx1"/>
                              </a:solidFill>
                            </a:rPr>
                            <a:t> 1</a:t>
                          </a:r>
                          <a:r>
                            <a:rPr lang="en-US" sz="1200">
                              <a:solidFill>
                                <a:schemeClr val="tx1"/>
                              </a:solidFill>
                            </a:rPr>
                            <a:t>9.7</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19.7 -</a:t>
                          </a:r>
                          <a:r>
                            <a:rPr lang="en-US" sz="1200" baseline="0">
                              <a:solidFill>
                                <a:schemeClr val="tx1"/>
                              </a:solidFill>
                            </a:rPr>
                            <a:t> 12</a:t>
                          </a:r>
                          <a:r>
                            <a:rPr lang="en-US" sz="1200">
                              <a:solidFill>
                                <a:schemeClr val="tx1"/>
                              </a:solidFill>
                            </a:rPr>
                            <a:t>.5</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81135">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218055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33" t="-109777" r="-581646" b="-559"/>
                          </a:stretch>
                        </a:blip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Fallback>
      </mc:AlternateContent>
      <p:sp>
        <p:nvSpPr>
          <p:cNvPr id="29" name="TextBox 28">
            <a:extLst>
              <a:ext uri="{FF2B5EF4-FFF2-40B4-BE49-F238E27FC236}">
                <a16:creationId xmlns:a16="http://schemas.microsoft.com/office/drawing/2014/main" id="{C89CDC04-93C0-A8D8-6B54-AC6AA14D68D4}"/>
              </a:ext>
            </a:extLst>
          </p:cNvPr>
          <p:cNvSpPr txBox="1"/>
          <p:nvPr/>
        </p:nvSpPr>
        <p:spPr>
          <a:xfrm>
            <a:off x="1363531" y="4779068"/>
            <a:ext cx="1410704" cy="276999"/>
          </a:xfrm>
          <a:prstGeom prst="rect">
            <a:avLst/>
          </a:prstGeom>
          <a:noFill/>
          <a:ln>
            <a:noFill/>
          </a:ln>
        </p:spPr>
        <p:txBody>
          <a:bodyPr wrap="square" rtlCol="0">
            <a:spAutoFit/>
          </a:bodyPr>
          <a:lstStyle/>
          <a:p>
            <a:r>
              <a:rPr lang="en-GB" sz="1200" b="1" i="1">
                <a:solidFill>
                  <a:srgbClr val="FF0000"/>
                </a:solidFill>
              </a:rPr>
              <a:t>Example 1 - I do…</a:t>
            </a:r>
          </a:p>
        </p:txBody>
      </p:sp>
      <p:sp>
        <p:nvSpPr>
          <p:cNvPr id="30" name="TextBox 29">
            <a:extLst>
              <a:ext uri="{FF2B5EF4-FFF2-40B4-BE49-F238E27FC236}">
                <a16:creationId xmlns:a16="http://schemas.microsoft.com/office/drawing/2014/main" id="{2B651F68-6FB8-42E3-B4A1-1FC378AC7E85}"/>
              </a:ext>
            </a:extLst>
          </p:cNvPr>
          <p:cNvSpPr txBox="1"/>
          <p:nvPr/>
        </p:nvSpPr>
        <p:spPr>
          <a:xfrm>
            <a:off x="5011246" y="4776814"/>
            <a:ext cx="1643405" cy="276999"/>
          </a:xfrm>
          <a:prstGeom prst="rect">
            <a:avLst/>
          </a:prstGeom>
          <a:noFill/>
          <a:ln>
            <a:noFill/>
          </a:ln>
        </p:spPr>
        <p:txBody>
          <a:bodyPr wrap="square" rtlCol="0">
            <a:spAutoFit/>
          </a:bodyPr>
          <a:lstStyle/>
          <a:p>
            <a:r>
              <a:rPr lang="en-GB" sz="1200" b="1" i="1">
                <a:solidFill>
                  <a:srgbClr val="00B050"/>
                </a:solidFill>
              </a:rPr>
              <a:t>Example 3 – You do…</a:t>
            </a:r>
          </a:p>
        </p:txBody>
      </p:sp>
      <p:sp>
        <p:nvSpPr>
          <p:cNvPr id="31" name="TextBox 30">
            <a:extLst>
              <a:ext uri="{FF2B5EF4-FFF2-40B4-BE49-F238E27FC236}">
                <a16:creationId xmlns:a16="http://schemas.microsoft.com/office/drawing/2014/main" id="{C828940F-B126-F8E9-5619-47B0992577C8}"/>
              </a:ext>
            </a:extLst>
          </p:cNvPr>
          <p:cNvSpPr txBox="1"/>
          <p:nvPr/>
        </p:nvSpPr>
        <p:spPr>
          <a:xfrm>
            <a:off x="3091559" y="4791601"/>
            <a:ext cx="1667605" cy="276999"/>
          </a:xfrm>
          <a:prstGeom prst="rect">
            <a:avLst/>
          </a:prstGeom>
          <a:noFill/>
          <a:ln>
            <a:noFill/>
          </a:ln>
        </p:spPr>
        <p:txBody>
          <a:bodyPr wrap="square" rtlCol="0">
            <a:spAutoFit/>
          </a:bodyPr>
          <a:lstStyle/>
          <a:p>
            <a:r>
              <a:rPr lang="en-GB" sz="1200" b="1" i="1">
                <a:solidFill>
                  <a:schemeClr val="accent2"/>
                </a:solidFill>
              </a:rPr>
              <a:t>Example 2 - We do…</a:t>
            </a:r>
          </a:p>
        </p:txBody>
      </p:sp>
      <p:sp>
        <p:nvSpPr>
          <p:cNvPr id="32" name="Rectangle 31">
            <a:extLst>
              <a:ext uri="{FF2B5EF4-FFF2-40B4-BE49-F238E27FC236}">
                <a16:creationId xmlns:a16="http://schemas.microsoft.com/office/drawing/2014/main" id="{79EAA26D-3E2E-BE6E-D4F6-CC8B2CA70680}"/>
              </a:ext>
            </a:extLst>
          </p:cNvPr>
          <p:cNvSpPr/>
          <p:nvPr/>
        </p:nvSpPr>
        <p:spPr>
          <a:xfrm>
            <a:off x="1242547" y="7007839"/>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3" name="Rectangle 32">
            <a:extLst>
              <a:ext uri="{FF2B5EF4-FFF2-40B4-BE49-F238E27FC236}">
                <a16:creationId xmlns:a16="http://schemas.microsoft.com/office/drawing/2014/main" id="{C81B82D7-FCC4-1318-B85C-5BDC66C96868}"/>
              </a:ext>
            </a:extLst>
          </p:cNvPr>
          <p:cNvSpPr/>
          <p:nvPr/>
        </p:nvSpPr>
        <p:spPr>
          <a:xfrm>
            <a:off x="1303033" y="9255303"/>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4" name="Rectangle 33">
            <a:extLst>
              <a:ext uri="{FF2B5EF4-FFF2-40B4-BE49-F238E27FC236}">
                <a16:creationId xmlns:a16="http://schemas.microsoft.com/office/drawing/2014/main" id="{4F52FC7D-4041-2596-BA9F-61E9716DCA02}"/>
              </a:ext>
            </a:extLst>
          </p:cNvPr>
          <p:cNvSpPr/>
          <p:nvPr/>
        </p:nvSpPr>
        <p:spPr>
          <a:xfrm>
            <a:off x="3088563" y="7007839"/>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5" name="Rectangle 34">
            <a:extLst>
              <a:ext uri="{FF2B5EF4-FFF2-40B4-BE49-F238E27FC236}">
                <a16:creationId xmlns:a16="http://schemas.microsoft.com/office/drawing/2014/main" id="{3E08F419-B75E-BB85-FC56-0A1DB69A2A89}"/>
              </a:ext>
            </a:extLst>
          </p:cNvPr>
          <p:cNvSpPr/>
          <p:nvPr/>
        </p:nvSpPr>
        <p:spPr>
          <a:xfrm>
            <a:off x="3090623" y="9255302"/>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6" name="Rectangle 35">
            <a:extLst>
              <a:ext uri="{FF2B5EF4-FFF2-40B4-BE49-F238E27FC236}">
                <a16:creationId xmlns:a16="http://schemas.microsoft.com/office/drawing/2014/main" id="{E0ECB718-502A-A8DF-91F5-0BB25C3AA975}"/>
              </a:ext>
            </a:extLst>
          </p:cNvPr>
          <p:cNvSpPr/>
          <p:nvPr/>
        </p:nvSpPr>
        <p:spPr>
          <a:xfrm>
            <a:off x="5025994" y="6997221"/>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7" name="Rectangle 36">
            <a:extLst>
              <a:ext uri="{FF2B5EF4-FFF2-40B4-BE49-F238E27FC236}">
                <a16:creationId xmlns:a16="http://schemas.microsoft.com/office/drawing/2014/main" id="{B58550F3-2885-4B83-37AE-5D0A729EA2B1}"/>
              </a:ext>
            </a:extLst>
          </p:cNvPr>
          <p:cNvSpPr/>
          <p:nvPr/>
        </p:nvSpPr>
        <p:spPr>
          <a:xfrm>
            <a:off x="5025994" y="9254457"/>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Tree>
    <p:extLst>
      <p:ext uri="{BB962C8B-B14F-4D97-AF65-F5344CB8AC3E}">
        <p14:creationId xmlns:p14="http://schemas.microsoft.com/office/powerpoint/2010/main" val="41529205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5402765" y="9588917"/>
            <a:ext cx="1543050" cy="527403"/>
          </a:xfrm>
        </p:spPr>
        <p:txBody>
          <a:bodyPr/>
          <a:lstStyle/>
          <a:p>
            <a:fld id="{19F1D9CC-7119-45EC-A96C-D8C0660F3AAB}" type="slidenum">
              <a:rPr lang="en-GB" smtClean="0">
                <a:solidFill>
                  <a:schemeClr val="tx1"/>
                </a:solidFill>
              </a:rPr>
              <a:t>32</a:t>
            </a:fld>
            <a:endParaRPr lang="en-GB">
              <a:solidFill>
                <a:schemeClr val="tx1"/>
              </a:solidFill>
            </a:endParaRPr>
          </a:p>
        </p:txBody>
      </p:sp>
      <p:sp>
        <p:nvSpPr>
          <p:cNvPr id="52" name="Slide Number Placeholder 2"/>
          <p:cNvSpPr txBox="1">
            <a:spLocks/>
          </p:cNvSpPr>
          <p:nvPr/>
        </p:nvSpPr>
        <p:spPr>
          <a:xfrm>
            <a:off x="5395716" y="95901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9F1D9CC-7119-45EC-A96C-D8C0660F3AAB}" type="slidenum">
              <a:rPr lang="en-GB" smtClean="0"/>
              <a:pPr/>
              <a:t>32</a:t>
            </a:fld>
            <a:endParaRPr lang="en-GB"/>
          </a:p>
        </p:txBody>
      </p:sp>
      <p:sp>
        <p:nvSpPr>
          <p:cNvPr id="24" name="TextBox 23">
            <a:extLst>
              <a:ext uri="{FF2B5EF4-FFF2-40B4-BE49-F238E27FC236}">
                <a16:creationId xmlns:a16="http://schemas.microsoft.com/office/drawing/2014/main" id="{5A4BC06E-AECC-6CF5-B10F-B467A9BA5F83}"/>
              </a:ext>
            </a:extLst>
          </p:cNvPr>
          <p:cNvSpPr txBox="1"/>
          <p:nvPr/>
        </p:nvSpPr>
        <p:spPr>
          <a:xfrm>
            <a:off x="1792323" y="210393"/>
            <a:ext cx="3300455" cy="461665"/>
          </a:xfrm>
          <a:prstGeom prst="rect">
            <a:avLst/>
          </a:prstGeom>
          <a:noFill/>
        </p:spPr>
        <p:txBody>
          <a:bodyPr wrap="none" rtlCol="0">
            <a:spAutoFit/>
          </a:bodyPr>
          <a:lstStyle/>
          <a:p>
            <a:pPr algn="ctr"/>
            <a:r>
              <a:rPr lang="en-US" sz="1200"/>
              <a:t>1. Estimate the answer to each by rounding each</a:t>
            </a:r>
          </a:p>
          <a:p>
            <a:pPr algn="ctr"/>
            <a:r>
              <a:rPr lang="en-US" sz="1200"/>
              <a:t>number to the nearest integer </a:t>
            </a:r>
            <a:endParaRPr lang="en-GB" sz="1200"/>
          </a:p>
        </p:txBody>
      </p:sp>
      <p:sp>
        <p:nvSpPr>
          <p:cNvPr id="26" name="TextBox 25">
            <a:extLst>
              <a:ext uri="{FF2B5EF4-FFF2-40B4-BE49-F238E27FC236}">
                <a16:creationId xmlns:a16="http://schemas.microsoft.com/office/drawing/2014/main" id="{BE106587-5A56-19D5-F4E0-BCBB2481246A}"/>
              </a:ext>
            </a:extLst>
          </p:cNvPr>
          <p:cNvSpPr txBox="1"/>
          <p:nvPr/>
        </p:nvSpPr>
        <p:spPr>
          <a:xfrm>
            <a:off x="309867" y="716250"/>
            <a:ext cx="1071127" cy="276999"/>
          </a:xfrm>
          <a:prstGeom prst="rect">
            <a:avLst/>
          </a:prstGeom>
          <a:noFill/>
        </p:spPr>
        <p:txBody>
          <a:bodyPr wrap="none" rtlCol="0">
            <a:spAutoFit/>
          </a:bodyPr>
          <a:lstStyle/>
          <a:p>
            <a:r>
              <a:rPr lang="en-US" sz="1200"/>
              <a:t>a) 0.99 + 17.9 </a:t>
            </a:r>
            <a:endParaRPr lang="en-GB" sz="1200"/>
          </a:p>
        </p:txBody>
      </p:sp>
      <p:sp>
        <p:nvSpPr>
          <p:cNvPr id="32" name="TextBox 31">
            <a:extLst>
              <a:ext uri="{FF2B5EF4-FFF2-40B4-BE49-F238E27FC236}">
                <a16:creationId xmlns:a16="http://schemas.microsoft.com/office/drawing/2014/main" id="{F0B4DC6C-02D4-7B2F-9D74-A1D50A3299AB}"/>
              </a:ext>
            </a:extLst>
          </p:cNvPr>
          <p:cNvSpPr txBox="1"/>
          <p:nvPr/>
        </p:nvSpPr>
        <p:spPr>
          <a:xfrm>
            <a:off x="1615894" y="716248"/>
            <a:ext cx="1077539" cy="276999"/>
          </a:xfrm>
          <a:prstGeom prst="rect">
            <a:avLst/>
          </a:prstGeom>
          <a:noFill/>
        </p:spPr>
        <p:txBody>
          <a:bodyPr wrap="none" rtlCol="0">
            <a:spAutoFit/>
          </a:bodyPr>
          <a:lstStyle/>
          <a:p>
            <a:r>
              <a:rPr lang="en-US" sz="1200"/>
              <a:t>b) 0.99 + 19.9 </a:t>
            </a:r>
            <a:endParaRPr lang="en-GB" sz="1200"/>
          </a:p>
        </p:txBody>
      </p:sp>
      <p:sp>
        <p:nvSpPr>
          <p:cNvPr id="33" name="TextBox 32">
            <a:extLst>
              <a:ext uri="{FF2B5EF4-FFF2-40B4-BE49-F238E27FC236}">
                <a16:creationId xmlns:a16="http://schemas.microsoft.com/office/drawing/2014/main" id="{F073D2B7-A5F8-904A-BE1F-8BEF9885A1FF}"/>
              </a:ext>
            </a:extLst>
          </p:cNvPr>
          <p:cNvSpPr txBox="1"/>
          <p:nvPr/>
        </p:nvSpPr>
        <p:spPr>
          <a:xfrm>
            <a:off x="2919010" y="716248"/>
            <a:ext cx="1063112" cy="276999"/>
          </a:xfrm>
          <a:prstGeom prst="rect">
            <a:avLst/>
          </a:prstGeom>
          <a:noFill/>
        </p:spPr>
        <p:txBody>
          <a:bodyPr wrap="none" rtlCol="0">
            <a:spAutoFit/>
          </a:bodyPr>
          <a:lstStyle/>
          <a:p>
            <a:r>
              <a:rPr lang="en-US" sz="1200"/>
              <a:t>c) 0.99 + 25.9 </a:t>
            </a:r>
            <a:endParaRPr lang="en-GB" sz="1200"/>
          </a:p>
        </p:txBody>
      </p:sp>
      <p:sp>
        <p:nvSpPr>
          <p:cNvPr id="34" name="TextBox 33">
            <a:extLst>
              <a:ext uri="{FF2B5EF4-FFF2-40B4-BE49-F238E27FC236}">
                <a16:creationId xmlns:a16="http://schemas.microsoft.com/office/drawing/2014/main" id="{4EA55923-BF23-E331-3FF1-AF9045FBADFA}"/>
              </a:ext>
            </a:extLst>
          </p:cNvPr>
          <p:cNvSpPr txBox="1"/>
          <p:nvPr/>
        </p:nvSpPr>
        <p:spPr>
          <a:xfrm>
            <a:off x="4237765" y="716247"/>
            <a:ext cx="1077539" cy="276999"/>
          </a:xfrm>
          <a:prstGeom prst="rect">
            <a:avLst/>
          </a:prstGeom>
          <a:noFill/>
        </p:spPr>
        <p:txBody>
          <a:bodyPr wrap="none" rtlCol="0">
            <a:spAutoFit/>
          </a:bodyPr>
          <a:lstStyle/>
          <a:p>
            <a:r>
              <a:rPr lang="en-US" sz="1200"/>
              <a:t>d) 1.95 + 17.9 </a:t>
            </a:r>
            <a:endParaRPr lang="en-GB" sz="1200"/>
          </a:p>
        </p:txBody>
      </p:sp>
      <p:sp>
        <p:nvSpPr>
          <p:cNvPr id="35" name="TextBox 34">
            <a:extLst>
              <a:ext uri="{FF2B5EF4-FFF2-40B4-BE49-F238E27FC236}">
                <a16:creationId xmlns:a16="http://schemas.microsoft.com/office/drawing/2014/main" id="{09D17EB4-08C8-87C5-3454-864953ABB530}"/>
              </a:ext>
            </a:extLst>
          </p:cNvPr>
          <p:cNvSpPr txBox="1"/>
          <p:nvPr/>
        </p:nvSpPr>
        <p:spPr>
          <a:xfrm>
            <a:off x="5534637" y="716247"/>
            <a:ext cx="1152880" cy="276999"/>
          </a:xfrm>
          <a:prstGeom prst="rect">
            <a:avLst/>
          </a:prstGeom>
          <a:noFill/>
        </p:spPr>
        <p:txBody>
          <a:bodyPr wrap="none" rtlCol="0">
            <a:spAutoFit/>
          </a:bodyPr>
          <a:lstStyle/>
          <a:p>
            <a:r>
              <a:rPr lang="en-US" sz="1200"/>
              <a:t>e) 2.95 + 17.95 </a:t>
            </a:r>
            <a:endParaRPr lang="en-GB" sz="1200"/>
          </a:p>
        </p:txBody>
      </p:sp>
      <p:sp>
        <p:nvSpPr>
          <p:cNvPr id="36" name="Rectangle 35">
            <a:extLst>
              <a:ext uri="{FF2B5EF4-FFF2-40B4-BE49-F238E27FC236}">
                <a16:creationId xmlns:a16="http://schemas.microsoft.com/office/drawing/2014/main" id="{2B33F4CE-4BA1-F32E-5B58-5F840A182317}"/>
              </a:ext>
            </a:extLst>
          </p:cNvPr>
          <p:cNvSpPr/>
          <p:nvPr/>
        </p:nvSpPr>
        <p:spPr>
          <a:xfrm>
            <a:off x="319294" y="107782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06AE0E9B-32D9-5BC3-287E-4D710D76B270}"/>
              </a:ext>
            </a:extLst>
          </p:cNvPr>
          <p:cNvSpPr/>
          <p:nvPr/>
        </p:nvSpPr>
        <p:spPr>
          <a:xfrm>
            <a:off x="1625321" y="107782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a:extLst>
              <a:ext uri="{FF2B5EF4-FFF2-40B4-BE49-F238E27FC236}">
                <a16:creationId xmlns:a16="http://schemas.microsoft.com/office/drawing/2014/main" id="{5FA24550-6227-7613-5309-2B69C99774FA}"/>
              </a:ext>
            </a:extLst>
          </p:cNvPr>
          <p:cNvSpPr/>
          <p:nvPr/>
        </p:nvSpPr>
        <p:spPr>
          <a:xfrm>
            <a:off x="2928437" y="107782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E06E1ABC-C153-C00D-CE8E-66C645C509EC}"/>
              </a:ext>
            </a:extLst>
          </p:cNvPr>
          <p:cNvSpPr/>
          <p:nvPr/>
        </p:nvSpPr>
        <p:spPr>
          <a:xfrm>
            <a:off x="4241955" y="107782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1EB9B1E6-47C1-7695-D64A-E7C6C2785605}"/>
              </a:ext>
            </a:extLst>
          </p:cNvPr>
          <p:cNvSpPr/>
          <p:nvPr/>
        </p:nvSpPr>
        <p:spPr>
          <a:xfrm>
            <a:off x="5545071" y="107782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741DC8E5-49B1-9EC0-A8B6-B820AFC9BF51}"/>
              </a:ext>
            </a:extLst>
          </p:cNvPr>
          <p:cNvSpPr/>
          <p:nvPr/>
        </p:nvSpPr>
        <p:spPr>
          <a:xfrm>
            <a:off x="401941" y="235987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2" name="Rectangle 41">
            <a:extLst>
              <a:ext uri="{FF2B5EF4-FFF2-40B4-BE49-F238E27FC236}">
                <a16:creationId xmlns:a16="http://schemas.microsoft.com/office/drawing/2014/main" id="{D1A62154-0A6B-A445-9CCD-521918DEC64D}"/>
              </a:ext>
            </a:extLst>
          </p:cNvPr>
          <p:cNvSpPr/>
          <p:nvPr/>
        </p:nvSpPr>
        <p:spPr>
          <a:xfrm>
            <a:off x="1714380" y="235987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3" name="Rectangle 42">
            <a:extLst>
              <a:ext uri="{FF2B5EF4-FFF2-40B4-BE49-F238E27FC236}">
                <a16:creationId xmlns:a16="http://schemas.microsoft.com/office/drawing/2014/main" id="{DD55FBB5-5E69-5875-CC25-13CEB9DAA8EE}"/>
              </a:ext>
            </a:extLst>
          </p:cNvPr>
          <p:cNvSpPr/>
          <p:nvPr/>
        </p:nvSpPr>
        <p:spPr>
          <a:xfrm>
            <a:off x="3019315" y="235987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0" name="Rectangle 49">
            <a:extLst>
              <a:ext uri="{FF2B5EF4-FFF2-40B4-BE49-F238E27FC236}">
                <a16:creationId xmlns:a16="http://schemas.microsoft.com/office/drawing/2014/main" id="{6203B0CF-9686-5A49-1E6A-42B5E1CA2CCA}"/>
              </a:ext>
            </a:extLst>
          </p:cNvPr>
          <p:cNvSpPr/>
          <p:nvPr/>
        </p:nvSpPr>
        <p:spPr>
          <a:xfrm>
            <a:off x="4336251" y="235987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1" name="Rectangle 50">
            <a:extLst>
              <a:ext uri="{FF2B5EF4-FFF2-40B4-BE49-F238E27FC236}">
                <a16:creationId xmlns:a16="http://schemas.microsoft.com/office/drawing/2014/main" id="{828CDB14-663B-8383-21AF-31F3B22F8AED}"/>
              </a:ext>
            </a:extLst>
          </p:cNvPr>
          <p:cNvSpPr/>
          <p:nvPr/>
        </p:nvSpPr>
        <p:spPr>
          <a:xfrm>
            <a:off x="5621550" y="235987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3" name="TextBox 52">
            <a:extLst>
              <a:ext uri="{FF2B5EF4-FFF2-40B4-BE49-F238E27FC236}">
                <a16:creationId xmlns:a16="http://schemas.microsoft.com/office/drawing/2014/main" id="{39A484A4-A8FB-CD53-9764-971DB7B68A21}"/>
              </a:ext>
            </a:extLst>
          </p:cNvPr>
          <p:cNvSpPr txBox="1"/>
          <p:nvPr/>
        </p:nvSpPr>
        <p:spPr>
          <a:xfrm>
            <a:off x="309867" y="2821520"/>
            <a:ext cx="937116" cy="276999"/>
          </a:xfrm>
          <a:prstGeom prst="rect">
            <a:avLst/>
          </a:prstGeom>
          <a:noFill/>
        </p:spPr>
        <p:txBody>
          <a:bodyPr wrap="none" rtlCol="0">
            <a:spAutoFit/>
          </a:bodyPr>
          <a:lstStyle/>
          <a:p>
            <a:r>
              <a:rPr lang="en-US" sz="1200"/>
              <a:t>f) 17.9 - 0.9 </a:t>
            </a:r>
            <a:endParaRPr lang="en-GB" sz="1200"/>
          </a:p>
        </p:txBody>
      </p:sp>
      <p:sp>
        <p:nvSpPr>
          <p:cNvPr id="54" name="TextBox 53">
            <a:extLst>
              <a:ext uri="{FF2B5EF4-FFF2-40B4-BE49-F238E27FC236}">
                <a16:creationId xmlns:a16="http://schemas.microsoft.com/office/drawing/2014/main" id="{FFA84E07-38AA-7EB2-7A00-7E11B43993B0}"/>
              </a:ext>
            </a:extLst>
          </p:cNvPr>
          <p:cNvSpPr txBox="1"/>
          <p:nvPr/>
        </p:nvSpPr>
        <p:spPr>
          <a:xfrm>
            <a:off x="1615894" y="2821518"/>
            <a:ext cx="1039067" cy="276999"/>
          </a:xfrm>
          <a:prstGeom prst="rect">
            <a:avLst/>
          </a:prstGeom>
          <a:noFill/>
        </p:spPr>
        <p:txBody>
          <a:bodyPr wrap="none" rtlCol="0">
            <a:spAutoFit/>
          </a:bodyPr>
          <a:lstStyle/>
          <a:p>
            <a:r>
              <a:rPr lang="en-US" sz="1200"/>
              <a:t>g) 17.95 - 0.9 </a:t>
            </a:r>
            <a:endParaRPr lang="en-GB" sz="1200"/>
          </a:p>
        </p:txBody>
      </p:sp>
      <p:sp>
        <p:nvSpPr>
          <p:cNvPr id="55" name="TextBox 54">
            <a:extLst>
              <a:ext uri="{FF2B5EF4-FFF2-40B4-BE49-F238E27FC236}">
                <a16:creationId xmlns:a16="http://schemas.microsoft.com/office/drawing/2014/main" id="{AAF39713-B5A0-22C1-13BE-8031A8AFB471}"/>
              </a:ext>
            </a:extLst>
          </p:cNvPr>
          <p:cNvSpPr txBox="1"/>
          <p:nvPr/>
        </p:nvSpPr>
        <p:spPr>
          <a:xfrm>
            <a:off x="2919010" y="2821518"/>
            <a:ext cx="1047082" cy="276999"/>
          </a:xfrm>
          <a:prstGeom prst="rect">
            <a:avLst/>
          </a:prstGeom>
          <a:noFill/>
        </p:spPr>
        <p:txBody>
          <a:bodyPr wrap="none" rtlCol="0">
            <a:spAutoFit/>
          </a:bodyPr>
          <a:lstStyle/>
          <a:p>
            <a:r>
              <a:rPr lang="en-US" sz="1200"/>
              <a:t>h) 16.95 - 2.9 </a:t>
            </a:r>
            <a:endParaRPr lang="en-GB" sz="1200"/>
          </a:p>
        </p:txBody>
      </p:sp>
      <p:sp>
        <p:nvSpPr>
          <p:cNvPr id="56" name="TextBox 55">
            <a:extLst>
              <a:ext uri="{FF2B5EF4-FFF2-40B4-BE49-F238E27FC236}">
                <a16:creationId xmlns:a16="http://schemas.microsoft.com/office/drawing/2014/main" id="{D2874DE0-C521-9316-6EF4-87D70F43D775}"/>
              </a:ext>
            </a:extLst>
          </p:cNvPr>
          <p:cNvSpPr txBox="1"/>
          <p:nvPr/>
        </p:nvSpPr>
        <p:spPr>
          <a:xfrm>
            <a:off x="4237765" y="2821517"/>
            <a:ext cx="1032655" cy="276999"/>
          </a:xfrm>
          <a:prstGeom prst="rect">
            <a:avLst/>
          </a:prstGeom>
          <a:noFill/>
        </p:spPr>
        <p:txBody>
          <a:bodyPr wrap="none" rtlCol="0">
            <a:spAutoFit/>
          </a:bodyPr>
          <a:lstStyle/>
          <a:p>
            <a:r>
              <a:rPr lang="en-US" sz="1200"/>
              <a:t>i) 16.95 – 5.8 </a:t>
            </a:r>
            <a:endParaRPr lang="en-GB" sz="1200"/>
          </a:p>
        </p:txBody>
      </p:sp>
      <p:sp>
        <p:nvSpPr>
          <p:cNvPr id="57" name="TextBox 56">
            <a:extLst>
              <a:ext uri="{FF2B5EF4-FFF2-40B4-BE49-F238E27FC236}">
                <a16:creationId xmlns:a16="http://schemas.microsoft.com/office/drawing/2014/main" id="{9D54894D-DF21-487B-5F0A-2A51EBBC8F78}"/>
              </a:ext>
            </a:extLst>
          </p:cNvPr>
          <p:cNvSpPr txBox="1"/>
          <p:nvPr/>
        </p:nvSpPr>
        <p:spPr>
          <a:xfrm>
            <a:off x="5534637" y="2821517"/>
            <a:ext cx="1112805" cy="276999"/>
          </a:xfrm>
          <a:prstGeom prst="rect">
            <a:avLst/>
          </a:prstGeom>
          <a:noFill/>
        </p:spPr>
        <p:txBody>
          <a:bodyPr wrap="none" rtlCol="0">
            <a:spAutoFit/>
          </a:bodyPr>
          <a:lstStyle/>
          <a:p>
            <a:r>
              <a:rPr lang="en-US" sz="1200"/>
              <a:t>j) 16.95 – 5.85 </a:t>
            </a:r>
            <a:endParaRPr lang="en-GB" sz="1200"/>
          </a:p>
        </p:txBody>
      </p:sp>
      <p:sp>
        <p:nvSpPr>
          <p:cNvPr id="58" name="Rectangle 57">
            <a:extLst>
              <a:ext uri="{FF2B5EF4-FFF2-40B4-BE49-F238E27FC236}">
                <a16:creationId xmlns:a16="http://schemas.microsoft.com/office/drawing/2014/main" id="{39B15A0D-70C4-F78A-9D9C-C7FEA0D2C5D4}"/>
              </a:ext>
            </a:extLst>
          </p:cNvPr>
          <p:cNvSpPr/>
          <p:nvPr/>
        </p:nvSpPr>
        <p:spPr>
          <a:xfrm>
            <a:off x="319294" y="318309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448B1E81-D294-EBBB-34D9-8865E63AE6DA}"/>
              </a:ext>
            </a:extLst>
          </p:cNvPr>
          <p:cNvSpPr/>
          <p:nvPr/>
        </p:nvSpPr>
        <p:spPr>
          <a:xfrm>
            <a:off x="1625321" y="318309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A554988B-BD97-60A0-5153-E5E374BE3CCD}"/>
              </a:ext>
            </a:extLst>
          </p:cNvPr>
          <p:cNvSpPr/>
          <p:nvPr/>
        </p:nvSpPr>
        <p:spPr>
          <a:xfrm>
            <a:off x="2928437" y="318309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a:extLst>
              <a:ext uri="{FF2B5EF4-FFF2-40B4-BE49-F238E27FC236}">
                <a16:creationId xmlns:a16="http://schemas.microsoft.com/office/drawing/2014/main" id="{B9B7AE7D-3E9F-176E-AF6E-A6108FBE1978}"/>
              </a:ext>
            </a:extLst>
          </p:cNvPr>
          <p:cNvSpPr/>
          <p:nvPr/>
        </p:nvSpPr>
        <p:spPr>
          <a:xfrm>
            <a:off x="4241955" y="318309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D2938717-223B-5C1F-430D-6351419062F0}"/>
              </a:ext>
            </a:extLst>
          </p:cNvPr>
          <p:cNvSpPr/>
          <p:nvPr/>
        </p:nvSpPr>
        <p:spPr>
          <a:xfrm>
            <a:off x="5545071" y="318309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3E687955-29F1-B651-F9FD-EC0C7BF16553}"/>
              </a:ext>
            </a:extLst>
          </p:cNvPr>
          <p:cNvSpPr/>
          <p:nvPr/>
        </p:nvSpPr>
        <p:spPr>
          <a:xfrm>
            <a:off x="401941" y="446514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4" name="Rectangle 63">
            <a:extLst>
              <a:ext uri="{FF2B5EF4-FFF2-40B4-BE49-F238E27FC236}">
                <a16:creationId xmlns:a16="http://schemas.microsoft.com/office/drawing/2014/main" id="{7EE3181E-CF1F-4CC7-8DBC-5A025A3A14F1}"/>
              </a:ext>
            </a:extLst>
          </p:cNvPr>
          <p:cNvSpPr/>
          <p:nvPr/>
        </p:nvSpPr>
        <p:spPr>
          <a:xfrm>
            <a:off x="1714380" y="446514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5" name="Rectangle 64">
            <a:extLst>
              <a:ext uri="{FF2B5EF4-FFF2-40B4-BE49-F238E27FC236}">
                <a16:creationId xmlns:a16="http://schemas.microsoft.com/office/drawing/2014/main" id="{48F90C0C-C6F8-5064-C453-250639C1A6F3}"/>
              </a:ext>
            </a:extLst>
          </p:cNvPr>
          <p:cNvSpPr/>
          <p:nvPr/>
        </p:nvSpPr>
        <p:spPr>
          <a:xfrm>
            <a:off x="3019315" y="446514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6" name="Rectangle 65">
            <a:extLst>
              <a:ext uri="{FF2B5EF4-FFF2-40B4-BE49-F238E27FC236}">
                <a16:creationId xmlns:a16="http://schemas.microsoft.com/office/drawing/2014/main" id="{4C3866BF-16FD-356A-485D-83A720B08A38}"/>
              </a:ext>
            </a:extLst>
          </p:cNvPr>
          <p:cNvSpPr/>
          <p:nvPr/>
        </p:nvSpPr>
        <p:spPr>
          <a:xfrm>
            <a:off x="4336251" y="446514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01EC40B0-7934-D402-105F-076D1A096BFA}"/>
              </a:ext>
            </a:extLst>
          </p:cNvPr>
          <p:cNvSpPr/>
          <p:nvPr/>
        </p:nvSpPr>
        <p:spPr>
          <a:xfrm>
            <a:off x="5621550" y="446514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 name="Rectangle 2">
            <a:extLst>
              <a:ext uri="{FF2B5EF4-FFF2-40B4-BE49-F238E27FC236}">
                <a16:creationId xmlns:a16="http://schemas.microsoft.com/office/drawing/2014/main" id="{21EF4435-698D-90B8-06AA-3C0CAF003156}"/>
              </a:ext>
            </a:extLst>
          </p:cNvPr>
          <p:cNvSpPr/>
          <p:nvPr/>
        </p:nvSpPr>
        <p:spPr>
          <a:xfrm>
            <a:off x="178412" y="11537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cxnSp>
        <p:nvCxnSpPr>
          <p:cNvPr id="68" name="Straight Connector 67">
            <a:extLst>
              <a:ext uri="{FF2B5EF4-FFF2-40B4-BE49-F238E27FC236}">
                <a16:creationId xmlns:a16="http://schemas.microsoft.com/office/drawing/2014/main" id="{D05CC0D8-A18E-B8A4-6E8F-BAD4D634F78F}"/>
              </a:ext>
            </a:extLst>
          </p:cNvPr>
          <p:cNvCxnSpPr>
            <a:cxnSpLocks/>
          </p:cNvCxnSpPr>
          <p:nvPr/>
        </p:nvCxnSpPr>
        <p:spPr>
          <a:xfrm>
            <a:off x="955419" y="6861141"/>
            <a:ext cx="0" cy="0"/>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69" name="Table 68">
                <a:extLst>
                  <a:ext uri="{FF2B5EF4-FFF2-40B4-BE49-F238E27FC236}">
                    <a16:creationId xmlns:a16="http://schemas.microsoft.com/office/drawing/2014/main" id="{5CF6CEDB-E97F-D83C-01A0-D8C90E08C37D}"/>
                  </a:ext>
                </a:extLst>
              </p:cNvPr>
              <p:cNvGraphicFramePr>
                <a:graphicFrameLocks noGrp="1"/>
              </p:cNvGraphicFramePr>
              <p:nvPr>
                <p:extLst>
                  <p:ext uri="{D42A27DB-BD31-4B8C-83A1-F6EECF244321}">
                    <p14:modId xmlns:p14="http://schemas.microsoft.com/office/powerpoint/2010/main" val="3961884843"/>
                  </p:ext>
                </p:extLst>
              </p:nvPr>
            </p:nvGraphicFramePr>
            <p:xfrm>
              <a:off x="157160" y="5416770"/>
              <a:ext cx="6543680" cy="3750187"/>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52222">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07902">
                    <a:tc>
                      <a:txBody>
                        <a:bodyPr/>
                        <a:lstStyle/>
                        <a:p>
                          <a:pPr marL="0" indent="0">
                            <a:buNone/>
                          </a:pPr>
                          <a:r>
                            <a:rPr lang="en-US" sz="1100" dirty="0"/>
                            <a:t>1) Round the</a:t>
                          </a:r>
                          <a:r>
                            <a:rPr lang="en-US" sz="1100" baseline="0" dirty="0"/>
                            <a:t> numbers, showing your rounding</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2.9 x</a:t>
                          </a:r>
                          <a:r>
                            <a:rPr lang="en-US" sz="1200" baseline="0">
                              <a:solidFill>
                                <a:schemeClr val="tx1"/>
                              </a:solidFill>
                            </a:rPr>
                            <a:t> </a:t>
                          </a:r>
                          <a:r>
                            <a:rPr lang="en-US" sz="1200">
                              <a:solidFill>
                                <a:schemeClr val="tx1"/>
                              </a:solidFill>
                            </a:rPr>
                            <a:t>9.9</a:t>
                          </a:r>
                          <a:r>
                            <a:rPr lang="en-US" sz="1200" baseline="0">
                              <a:solidFill>
                                <a:schemeClr val="tx1"/>
                              </a:solidFill>
                            </a:rPr>
                            <a:t> by rounding each number one significant figure.</a:t>
                          </a: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4.9 x</a:t>
                          </a:r>
                          <a:r>
                            <a:rPr lang="en-US" sz="1200" baseline="0">
                              <a:solidFill>
                                <a:schemeClr val="tx1"/>
                              </a:solidFill>
                            </a:rPr>
                            <a:t> 1</a:t>
                          </a:r>
                          <a:r>
                            <a:rPr lang="en-US" sz="1200">
                              <a:solidFill>
                                <a:schemeClr val="tx1"/>
                              </a:solidFill>
                            </a:rPr>
                            <a:t>9.9</a:t>
                          </a:r>
                          <a:r>
                            <a:rPr lang="en-US" sz="1200" baseline="0">
                              <a:solidFill>
                                <a:schemeClr val="tx1"/>
                              </a:solidFill>
                            </a:rPr>
                            <a:t> by rounding each number one significant figure.</a:t>
                          </a: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9.5 x</a:t>
                          </a:r>
                          <a:r>
                            <a:rPr lang="en-US" sz="1200" baseline="0">
                              <a:solidFill>
                                <a:schemeClr val="tx1"/>
                              </a:solidFill>
                            </a:rPr>
                            <a:t> 1</a:t>
                          </a:r>
                          <a:r>
                            <a:rPr lang="en-US" sz="1200">
                              <a:solidFill>
                                <a:schemeClr val="tx1"/>
                              </a:solidFill>
                            </a:rPr>
                            <a:t>9.9</a:t>
                          </a:r>
                          <a:r>
                            <a:rPr lang="en-US" sz="1200" baseline="0">
                              <a:solidFill>
                                <a:schemeClr val="tx1"/>
                              </a:solidFill>
                            </a:rPr>
                            <a:t> by rounding each number one significant figure.</a:t>
                          </a: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5586">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843521">
                    <a:tc>
                      <a:txBody>
                        <a:bodyPr/>
                        <a:lstStyle/>
                        <a:p>
                          <a:pPr marL="0" indent="0">
                            <a:buNone/>
                          </a:pPr>
                          <a:r>
                            <a:rPr lang="en-US" sz="1100" dirty="0"/>
                            <a:t>3)</a:t>
                          </a:r>
                          <a:r>
                            <a:rPr lang="en-US" sz="1100" baseline="0" dirty="0"/>
                            <a:t> Use the approximate symbol </a:t>
                          </a:r>
                          <a14:m>
                            <m:oMath xmlns:m="http://schemas.openxmlformats.org/officeDocument/2006/math">
                              <m:r>
                                <a:rPr lang="en-US" sz="1100" i="1" baseline="0" smtClean="0">
                                  <a:latin typeface="Cambria Math" panose="02040503050406030204" pitchFamily="18" charset="0"/>
                                  <a:ea typeface="Cambria Math" panose="02040503050406030204" pitchFamily="18" charset="0"/>
                                </a:rPr>
                                <m:t>≈</m:t>
                              </m:r>
                            </m:oMath>
                          </a14:m>
                          <a:r>
                            <a:rPr lang="en-US" sz="1100" dirty="0"/>
                            <a:t> to show your solution</a:t>
                          </a:r>
                          <a:r>
                            <a:rPr lang="en-US" sz="1100" baseline="0" dirty="0"/>
                            <a:t> is an estimate. </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Choice>
        <mc:Fallback xmlns="">
          <p:graphicFrame>
            <p:nvGraphicFramePr>
              <p:cNvPr id="69" name="Table 68">
                <a:extLst>
                  <a:ext uri="{FF2B5EF4-FFF2-40B4-BE49-F238E27FC236}">
                    <a16:creationId xmlns:a16="http://schemas.microsoft.com/office/drawing/2014/main" id="{5CF6CEDB-E97F-D83C-01A0-D8C90E08C37D}"/>
                  </a:ext>
                </a:extLst>
              </p:cNvPr>
              <p:cNvGraphicFramePr>
                <a:graphicFrameLocks noGrp="1"/>
              </p:cNvGraphicFramePr>
              <p:nvPr>
                <p:extLst>
                  <p:ext uri="{D42A27DB-BD31-4B8C-83A1-F6EECF244321}">
                    <p14:modId xmlns:p14="http://schemas.microsoft.com/office/powerpoint/2010/main" val="3961884843"/>
                  </p:ext>
                </p:extLst>
              </p:nvPr>
            </p:nvGraphicFramePr>
            <p:xfrm>
              <a:off x="157160" y="5416770"/>
              <a:ext cx="6543680" cy="3750187"/>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59080">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62000">
                    <a:tc>
                      <a:txBody>
                        <a:bodyPr/>
                        <a:lstStyle/>
                        <a:p>
                          <a:pPr marL="0" indent="0">
                            <a:buNone/>
                          </a:pPr>
                          <a:r>
                            <a:rPr lang="en-US" sz="1100" dirty="0"/>
                            <a:t>1) Round the</a:t>
                          </a:r>
                          <a:r>
                            <a:rPr lang="en-US" sz="1100" baseline="0" dirty="0"/>
                            <a:t> numbers, showing your rounding</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2.9 x</a:t>
                          </a:r>
                          <a:r>
                            <a:rPr lang="en-US" sz="1200" baseline="0">
                              <a:solidFill>
                                <a:schemeClr val="tx1"/>
                              </a:solidFill>
                            </a:rPr>
                            <a:t> </a:t>
                          </a:r>
                          <a:r>
                            <a:rPr lang="en-US" sz="1200">
                              <a:solidFill>
                                <a:schemeClr val="tx1"/>
                              </a:solidFill>
                            </a:rPr>
                            <a:t>9.9</a:t>
                          </a:r>
                          <a:r>
                            <a:rPr lang="en-US" sz="1200" baseline="0">
                              <a:solidFill>
                                <a:schemeClr val="tx1"/>
                              </a:solidFill>
                            </a:rPr>
                            <a:t> by rounding each number one significant figure.</a:t>
                          </a: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4.9 x</a:t>
                          </a:r>
                          <a:r>
                            <a:rPr lang="en-US" sz="1200" baseline="0">
                              <a:solidFill>
                                <a:schemeClr val="tx1"/>
                              </a:solidFill>
                            </a:rPr>
                            <a:t> 1</a:t>
                          </a:r>
                          <a:r>
                            <a:rPr lang="en-US" sz="1200">
                              <a:solidFill>
                                <a:schemeClr val="tx1"/>
                              </a:solidFill>
                            </a:rPr>
                            <a:t>9.9</a:t>
                          </a:r>
                          <a:r>
                            <a:rPr lang="en-US" sz="1200" baseline="0">
                              <a:solidFill>
                                <a:schemeClr val="tx1"/>
                              </a:solidFill>
                            </a:rPr>
                            <a:t> by rounding each number one significant figure.</a:t>
                          </a: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9.5 x</a:t>
                          </a:r>
                          <a:r>
                            <a:rPr lang="en-US" sz="1200" baseline="0">
                              <a:solidFill>
                                <a:schemeClr val="tx1"/>
                              </a:solidFill>
                            </a:rPr>
                            <a:t> 1</a:t>
                          </a:r>
                          <a:r>
                            <a:rPr lang="en-US" sz="1200">
                              <a:solidFill>
                                <a:schemeClr val="tx1"/>
                              </a:solidFill>
                            </a:rPr>
                            <a:t>9.9</a:t>
                          </a:r>
                          <a:r>
                            <a:rPr lang="en-US" sz="1200" baseline="0">
                              <a:solidFill>
                                <a:schemeClr val="tx1"/>
                              </a:solidFill>
                            </a:rPr>
                            <a:t> by rounding each number one significant figure.</a:t>
                          </a: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5586">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84352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33" t="-103630" r="-581646" b="-660"/>
                          </a:stretch>
                        </a:blip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Fallback>
      </mc:AlternateContent>
      <p:sp>
        <p:nvSpPr>
          <p:cNvPr id="70" name="TextBox 69">
            <a:extLst>
              <a:ext uri="{FF2B5EF4-FFF2-40B4-BE49-F238E27FC236}">
                <a16:creationId xmlns:a16="http://schemas.microsoft.com/office/drawing/2014/main" id="{730A1B06-617B-DE98-73AD-330DEE1008FF}"/>
              </a:ext>
            </a:extLst>
          </p:cNvPr>
          <p:cNvSpPr txBox="1"/>
          <p:nvPr/>
        </p:nvSpPr>
        <p:spPr>
          <a:xfrm>
            <a:off x="1358334" y="5118798"/>
            <a:ext cx="1410704" cy="276999"/>
          </a:xfrm>
          <a:prstGeom prst="rect">
            <a:avLst/>
          </a:prstGeom>
          <a:noFill/>
          <a:ln>
            <a:noFill/>
          </a:ln>
        </p:spPr>
        <p:txBody>
          <a:bodyPr wrap="square" rtlCol="0">
            <a:spAutoFit/>
          </a:bodyPr>
          <a:lstStyle/>
          <a:p>
            <a:r>
              <a:rPr lang="en-GB" sz="1200" b="1" i="1">
                <a:solidFill>
                  <a:srgbClr val="FF0000"/>
                </a:solidFill>
              </a:rPr>
              <a:t>Example 4 - I do…</a:t>
            </a:r>
          </a:p>
        </p:txBody>
      </p:sp>
      <p:sp>
        <p:nvSpPr>
          <p:cNvPr id="71" name="TextBox 70">
            <a:extLst>
              <a:ext uri="{FF2B5EF4-FFF2-40B4-BE49-F238E27FC236}">
                <a16:creationId xmlns:a16="http://schemas.microsoft.com/office/drawing/2014/main" id="{E5ECB011-663A-B002-E67B-A58DAF706207}"/>
              </a:ext>
            </a:extLst>
          </p:cNvPr>
          <p:cNvSpPr txBox="1"/>
          <p:nvPr/>
        </p:nvSpPr>
        <p:spPr>
          <a:xfrm>
            <a:off x="5006049" y="5116544"/>
            <a:ext cx="1643405" cy="276999"/>
          </a:xfrm>
          <a:prstGeom prst="rect">
            <a:avLst/>
          </a:prstGeom>
          <a:noFill/>
          <a:ln>
            <a:noFill/>
          </a:ln>
        </p:spPr>
        <p:txBody>
          <a:bodyPr wrap="square" rtlCol="0">
            <a:spAutoFit/>
          </a:bodyPr>
          <a:lstStyle/>
          <a:p>
            <a:r>
              <a:rPr lang="en-GB" sz="1200" b="1" i="1">
                <a:solidFill>
                  <a:srgbClr val="00B050"/>
                </a:solidFill>
              </a:rPr>
              <a:t>Example 6 – You do…</a:t>
            </a:r>
          </a:p>
        </p:txBody>
      </p:sp>
      <p:sp>
        <p:nvSpPr>
          <p:cNvPr id="72" name="TextBox 71">
            <a:extLst>
              <a:ext uri="{FF2B5EF4-FFF2-40B4-BE49-F238E27FC236}">
                <a16:creationId xmlns:a16="http://schemas.microsoft.com/office/drawing/2014/main" id="{8D017022-8D99-205A-DF29-BAC55EA08CCD}"/>
              </a:ext>
            </a:extLst>
          </p:cNvPr>
          <p:cNvSpPr txBox="1"/>
          <p:nvPr/>
        </p:nvSpPr>
        <p:spPr>
          <a:xfrm>
            <a:off x="3086362" y="5131331"/>
            <a:ext cx="1667605" cy="276999"/>
          </a:xfrm>
          <a:prstGeom prst="rect">
            <a:avLst/>
          </a:prstGeom>
          <a:noFill/>
          <a:ln>
            <a:noFill/>
          </a:ln>
        </p:spPr>
        <p:txBody>
          <a:bodyPr wrap="square" rtlCol="0">
            <a:spAutoFit/>
          </a:bodyPr>
          <a:lstStyle/>
          <a:p>
            <a:r>
              <a:rPr lang="en-GB" sz="1200" b="1" i="1">
                <a:solidFill>
                  <a:schemeClr val="accent2"/>
                </a:solidFill>
              </a:rPr>
              <a:t>Example 5 - We do…</a:t>
            </a:r>
          </a:p>
        </p:txBody>
      </p:sp>
      <p:sp>
        <p:nvSpPr>
          <p:cNvPr id="73" name="Rectangle 72">
            <a:extLst>
              <a:ext uri="{FF2B5EF4-FFF2-40B4-BE49-F238E27FC236}">
                <a16:creationId xmlns:a16="http://schemas.microsoft.com/office/drawing/2014/main" id="{46086EFF-A6CB-31BE-4244-CE0FCD6D9ACB}"/>
              </a:ext>
            </a:extLst>
          </p:cNvPr>
          <p:cNvSpPr/>
          <p:nvPr/>
        </p:nvSpPr>
        <p:spPr>
          <a:xfrm>
            <a:off x="1243149" y="8672362"/>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4" name="Rectangle 73">
            <a:extLst>
              <a:ext uri="{FF2B5EF4-FFF2-40B4-BE49-F238E27FC236}">
                <a16:creationId xmlns:a16="http://schemas.microsoft.com/office/drawing/2014/main" id="{16953A61-4646-501E-7976-0947E092ECB7}"/>
              </a:ext>
            </a:extLst>
          </p:cNvPr>
          <p:cNvSpPr/>
          <p:nvPr/>
        </p:nvSpPr>
        <p:spPr>
          <a:xfrm>
            <a:off x="3139456" y="8681773"/>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5" name="Rectangle 74">
            <a:extLst>
              <a:ext uri="{FF2B5EF4-FFF2-40B4-BE49-F238E27FC236}">
                <a16:creationId xmlns:a16="http://schemas.microsoft.com/office/drawing/2014/main" id="{B75237EE-5FDB-C9F7-74E0-9D58E6731DFB}"/>
              </a:ext>
            </a:extLst>
          </p:cNvPr>
          <p:cNvSpPr/>
          <p:nvPr/>
        </p:nvSpPr>
        <p:spPr>
          <a:xfrm>
            <a:off x="5008965" y="8674159"/>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Tree>
    <p:extLst>
      <p:ext uri="{BB962C8B-B14F-4D97-AF65-F5344CB8AC3E}">
        <p14:creationId xmlns:p14="http://schemas.microsoft.com/office/powerpoint/2010/main" val="644135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33</a:t>
            </a:fld>
            <a:endParaRPr lang="en-GB"/>
          </a:p>
        </p:txBody>
      </p:sp>
      <p:sp>
        <p:nvSpPr>
          <p:cNvPr id="22" name="TextBox 21">
            <a:extLst>
              <a:ext uri="{FF2B5EF4-FFF2-40B4-BE49-F238E27FC236}">
                <a16:creationId xmlns:a16="http://schemas.microsoft.com/office/drawing/2014/main" id="{99F13054-61A8-4B7A-E344-43AE2B598F70}"/>
              </a:ext>
            </a:extLst>
          </p:cNvPr>
          <p:cNvSpPr txBox="1"/>
          <p:nvPr/>
        </p:nvSpPr>
        <p:spPr>
          <a:xfrm>
            <a:off x="1645710" y="113917"/>
            <a:ext cx="3300455" cy="461665"/>
          </a:xfrm>
          <a:prstGeom prst="rect">
            <a:avLst/>
          </a:prstGeom>
          <a:noFill/>
        </p:spPr>
        <p:txBody>
          <a:bodyPr wrap="none" rtlCol="0">
            <a:spAutoFit/>
          </a:bodyPr>
          <a:lstStyle/>
          <a:p>
            <a:pPr algn="ctr"/>
            <a:r>
              <a:rPr lang="en-US" sz="1200"/>
              <a:t>2. Estimate the answer to each by rounding each</a:t>
            </a:r>
          </a:p>
          <a:p>
            <a:pPr algn="ctr"/>
            <a:r>
              <a:rPr lang="en-US" sz="1200"/>
              <a:t>number to one significant figure.</a:t>
            </a:r>
            <a:endParaRPr lang="en-GB" sz="1200"/>
          </a:p>
        </p:txBody>
      </p:sp>
      <p:sp>
        <p:nvSpPr>
          <p:cNvPr id="23" name="TextBox 22">
            <a:extLst>
              <a:ext uri="{FF2B5EF4-FFF2-40B4-BE49-F238E27FC236}">
                <a16:creationId xmlns:a16="http://schemas.microsoft.com/office/drawing/2014/main" id="{E106D036-C50A-03D6-D957-9C8D2945A2B5}"/>
              </a:ext>
            </a:extLst>
          </p:cNvPr>
          <p:cNvSpPr txBox="1"/>
          <p:nvPr/>
        </p:nvSpPr>
        <p:spPr>
          <a:xfrm>
            <a:off x="181897" y="500566"/>
            <a:ext cx="1026243" cy="276999"/>
          </a:xfrm>
          <a:prstGeom prst="rect">
            <a:avLst/>
          </a:prstGeom>
          <a:noFill/>
        </p:spPr>
        <p:txBody>
          <a:bodyPr wrap="none" rtlCol="0">
            <a:spAutoFit/>
          </a:bodyPr>
          <a:lstStyle/>
          <a:p>
            <a:r>
              <a:rPr lang="en-US" sz="1200"/>
              <a:t>a) 0.99 x 1.99</a:t>
            </a:r>
            <a:endParaRPr lang="en-GB" sz="1200"/>
          </a:p>
        </p:txBody>
      </p:sp>
      <p:sp>
        <p:nvSpPr>
          <p:cNvPr id="24" name="TextBox 23">
            <a:extLst>
              <a:ext uri="{FF2B5EF4-FFF2-40B4-BE49-F238E27FC236}">
                <a16:creationId xmlns:a16="http://schemas.microsoft.com/office/drawing/2014/main" id="{7012BEE2-FF16-D79B-702D-C7872D94E081}"/>
              </a:ext>
            </a:extLst>
          </p:cNvPr>
          <p:cNvSpPr txBox="1"/>
          <p:nvPr/>
        </p:nvSpPr>
        <p:spPr>
          <a:xfrm>
            <a:off x="1780182" y="519832"/>
            <a:ext cx="989373" cy="276999"/>
          </a:xfrm>
          <a:prstGeom prst="rect">
            <a:avLst/>
          </a:prstGeom>
          <a:noFill/>
        </p:spPr>
        <p:txBody>
          <a:bodyPr wrap="none" rtlCol="0">
            <a:spAutoFit/>
          </a:bodyPr>
          <a:lstStyle/>
          <a:p>
            <a:r>
              <a:rPr lang="en-US" sz="1200"/>
              <a:t>b) 1.95 x 9.9 </a:t>
            </a:r>
            <a:endParaRPr lang="en-GB" sz="1200"/>
          </a:p>
        </p:txBody>
      </p:sp>
      <p:sp>
        <p:nvSpPr>
          <p:cNvPr id="25" name="TextBox 24">
            <a:extLst>
              <a:ext uri="{FF2B5EF4-FFF2-40B4-BE49-F238E27FC236}">
                <a16:creationId xmlns:a16="http://schemas.microsoft.com/office/drawing/2014/main" id="{1F93B097-3ACF-70DC-A9F2-DCF910D620E4}"/>
              </a:ext>
            </a:extLst>
          </p:cNvPr>
          <p:cNvSpPr txBox="1"/>
          <p:nvPr/>
        </p:nvSpPr>
        <p:spPr>
          <a:xfrm>
            <a:off x="3384879" y="544345"/>
            <a:ext cx="974947" cy="276999"/>
          </a:xfrm>
          <a:prstGeom prst="rect">
            <a:avLst/>
          </a:prstGeom>
          <a:noFill/>
        </p:spPr>
        <p:txBody>
          <a:bodyPr wrap="none" rtlCol="0">
            <a:spAutoFit/>
          </a:bodyPr>
          <a:lstStyle/>
          <a:p>
            <a:r>
              <a:rPr lang="en-US" sz="1200"/>
              <a:t>c) 2.99 x 9.5 </a:t>
            </a:r>
            <a:endParaRPr lang="en-GB" sz="1200"/>
          </a:p>
        </p:txBody>
      </p:sp>
      <p:sp>
        <p:nvSpPr>
          <p:cNvPr id="26" name="TextBox 25">
            <a:extLst>
              <a:ext uri="{FF2B5EF4-FFF2-40B4-BE49-F238E27FC236}">
                <a16:creationId xmlns:a16="http://schemas.microsoft.com/office/drawing/2014/main" id="{3118B5FC-B2A9-2E37-1655-C4214A0C2DC2}"/>
              </a:ext>
            </a:extLst>
          </p:cNvPr>
          <p:cNvSpPr txBox="1"/>
          <p:nvPr/>
        </p:nvSpPr>
        <p:spPr>
          <a:xfrm>
            <a:off x="5050070" y="566943"/>
            <a:ext cx="1067921" cy="276999"/>
          </a:xfrm>
          <a:prstGeom prst="rect">
            <a:avLst/>
          </a:prstGeom>
          <a:noFill/>
        </p:spPr>
        <p:txBody>
          <a:bodyPr wrap="none" rtlCol="0">
            <a:spAutoFit/>
          </a:bodyPr>
          <a:lstStyle/>
          <a:p>
            <a:r>
              <a:rPr lang="en-US" sz="1200"/>
              <a:t>d) 4.95 x 9.98 </a:t>
            </a:r>
            <a:endParaRPr lang="en-GB" sz="1200"/>
          </a:p>
        </p:txBody>
      </p:sp>
      <p:sp>
        <p:nvSpPr>
          <p:cNvPr id="27" name="Rectangle 26">
            <a:extLst>
              <a:ext uri="{FF2B5EF4-FFF2-40B4-BE49-F238E27FC236}">
                <a16:creationId xmlns:a16="http://schemas.microsoft.com/office/drawing/2014/main" id="{293E0695-43BC-62BE-C462-12B78F3E1929}"/>
              </a:ext>
            </a:extLst>
          </p:cNvPr>
          <p:cNvSpPr/>
          <p:nvPr/>
        </p:nvSpPr>
        <p:spPr>
          <a:xfrm>
            <a:off x="237361" y="840512"/>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A8A26CC7-8D8A-EB84-E182-007447F6C02C}"/>
              </a:ext>
            </a:extLst>
          </p:cNvPr>
          <p:cNvSpPr/>
          <p:nvPr/>
        </p:nvSpPr>
        <p:spPr>
          <a:xfrm>
            <a:off x="371790" y="265575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Rectangle 28">
            <a:extLst>
              <a:ext uri="{FF2B5EF4-FFF2-40B4-BE49-F238E27FC236}">
                <a16:creationId xmlns:a16="http://schemas.microsoft.com/office/drawing/2014/main" id="{70DFBCD5-DF07-54A0-F474-95DCBF6DB19E}"/>
              </a:ext>
            </a:extLst>
          </p:cNvPr>
          <p:cNvSpPr/>
          <p:nvPr/>
        </p:nvSpPr>
        <p:spPr>
          <a:xfrm>
            <a:off x="1861306" y="840511"/>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020820E2-B221-D654-4ABC-EA8D225EEC33}"/>
              </a:ext>
            </a:extLst>
          </p:cNvPr>
          <p:cNvSpPr/>
          <p:nvPr/>
        </p:nvSpPr>
        <p:spPr>
          <a:xfrm>
            <a:off x="3476625" y="840510"/>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7E8A21BD-A966-9E34-E676-A8A1CFC893FD}"/>
              </a:ext>
            </a:extLst>
          </p:cNvPr>
          <p:cNvSpPr/>
          <p:nvPr/>
        </p:nvSpPr>
        <p:spPr>
          <a:xfrm>
            <a:off x="5091944" y="840510"/>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BB9910F2-584B-89E3-F0CD-6DF65C661F4D}"/>
              </a:ext>
            </a:extLst>
          </p:cNvPr>
          <p:cNvSpPr/>
          <p:nvPr/>
        </p:nvSpPr>
        <p:spPr>
          <a:xfrm>
            <a:off x="2001197" y="265575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3" name="Rectangle 32">
            <a:extLst>
              <a:ext uri="{FF2B5EF4-FFF2-40B4-BE49-F238E27FC236}">
                <a16:creationId xmlns:a16="http://schemas.microsoft.com/office/drawing/2014/main" id="{A4668A64-1F0A-1C1E-201C-9424066C99B2}"/>
              </a:ext>
            </a:extLst>
          </p:cNvPr>
          <p:cNvSpPr/>
          <p:nvPr/>
        </p:nvSpPr>
        <p:spPr>
          <a:xfrm>
            <a:off x="3609140" y="2655750"/>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4" name="Rectangle 33">
            <a:extLst>
              <a:ext uri="{FF2B5EF4-FFF2-40B4-BE49-F238E27FC236}">
                <a16:creationId xmlns:a16="http://schemas.microsoft.com/office/drawing/2014/main" id="{CAEE3FB4-76FF-D9FB-52D0-3E79E46B4255}"/>
              </a:ext>
            </a:extLst>
          </p:cNvPr>
          <p:cNvSpPr/>
          <p:nvPr/>
        </p:nvSpPr>
        <p:spPr>
          <a:xfrm>
            <a:off x="5210916" y="2655750"/>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6" name="TextBox 55">
            <a:extLst>
              <a:ext uri="{FF2B5EF4-FFF2-40B4-BE49-F238E27FC236}">
                <a16:creationId xmlns:a16="http://schemas.microsoft.com/office/drawing/2014/main" id="{9B917027-07EC-E51A-59E7-84CC46A13E20}"/>
              </a:ext>
            </a:extLst>
          </p:cNvPr>
          <p:cNvSpPr txBox="1"/>
          <p:nvPr/>
        </p:nvSpPr>
        <p:spPr>
          <a:xfrm>
            <a:off x="181897" y="3095698"/>
            <a:ext cx="1029449" cy="276999"/>
          </a:xfrm>
          <a:prstGeom prst="rect">
            <a:avLst/>
          </a:prstGeom>
          <a:noFill/>
        </p:spPr>
        <p:txBody>
          <a:bodyPr wrap="none" rtlCol="0">
            <a:spAutoFit/>
          </a:bodyPr>
          <a:lstStyle/>
          <a:p>
            <a:r>
              <a:rPr lang="en-US" sz="1200"/>
              <a:t>e) 4.95 x 9.99</a:t>
            </a:r>
            <a:endParaRPr lang="en-GB" sz="1200"/>
          </a:p>
        </p:txBody>
      </p:sp>
      <p:sp>
        <p:nvSpPr>
          <p:cNvPr id="58" name="TextBox 57">
            <a:extLst>
              <a:ext uri="{FF2B5EF4-FFF2-40B4-BE49-F238E27FC236}">
                <a16:creationId xmlns:a16="http://schemas.microsoft.com/office/drawing/2014/main" id="{941BB3E2-6A87-C7F0-40BF-68AC76F8DE92}"/>
              </a:ext>
            </a:extLst>
          </p:cNvPr>
          <p:cNvSpPr txBox="1"/>
          <p:nvPr/>
        </p:nvSpPr>
        <p:spPr>
          <a:xfrm>
            <a:off x="1780182" y="3114964"/>
            <a:ext cx="957955" cy="276999"/>
          </a:xfrm>
          <a:prstGeom prst="rect">
            <a:avLst/>
          </a:prstGeom>
          <a:noFill/>
        </p:spPr>
        <p:txBody>
          <a:bodyPr wrap="none" rtlCol="0">
            <a:spAutoFit/>
          </a:bodyPr>
          <a:lstStyle/>
          <a:p>
            <a:r>
              <a:rPr lang="en-US" sz="1200"/>
              <a:t>f) 9.5 x 11.9 </a:t>
            </a:r>
            <a:endParaRPr lang="en-GB" sz="1200"/>
          </a:p>
        </p:txBody>
      </p:sp>
      <p:sp>
        <p:nvSpPr>
          <p:cNvPr id="60" name="TextBox 59">
            <a:extLst>
              <a:ext uri="{FF2B5EF4-FFF2-40B4-BE49-F238E27FC236}">
                <a16:creationId xmlns:a16="http://schemas.microsoft.com/office/drawing/2014/main" id="{81748DD2-35C8-22F5-DEB8-845F36F9936B}"/>
              </a:ext>
            </a:extLst>
          </p:cNvPr>
          <p:cNvSpPr txBox="1"/>
          <p:nvPr/>
        </p:nvSpPr>
        <p:spPr>
          <a:xfrm>
            <a:off x="3384879" y="3139477"/>
            <a:ext cx="981359" cy="276999"/>
          </a:xfrm>
          <a:prstGeom prst="rect">
            <a:avLst/>
          </a:prstGeom>
          <a:noFill/>
        </p:spPr>
        <p:txBody>
          <a:bodyPr wrap="none" rtlCol="0">
            <a:spAutoFit/>
          </a:bodyPr>
          <a:lstStyle/>
          <a:p>
            <a:r>
              <a:rPr lang="en-US" sz="1200"/>
              <a:t>g) 9.5 x 14.9 </a:t>
            </a:r>
            <a:endParaRPr lang="en-GB" sz="1200"/>
          </a:p>
        </p:txBody>
      </p:sp>
      <p:sp>
        <p:nvSpPr>
          <p:cNvPr id="61" name="TextBox 60">
            <a:extLst>
              <a:ext uri="{FF2B5EF4-FFF2-40B4-BE49-F238E27FC236}">
                <a16:creationId xmlns:a16="http://schemas.microsoft.com/office/drawing/2014/main" id="{3FA5CC61-E54B-378F-0D4A-A01B57C66365}"/>
              </a:ext>
            </a:extLst>
          </p:cNvPr>
          <p:cNvSpPr txBox="1"/>
          <p:nvPr/>
        </p:nvSpPr>
        <p:spPr>
          <a:xfrm>
            <a:off x="5050070" y="3162075"/>
            <a:ext cx="989373" cy="276999"/>
          </a:xfrm>
          <a:prstGeom prst="rect">
            <a:avLst/>
          </a:prstGeom>
          <a:noFill/>
        </p:spPr>
        <p:txBody>
          <a:bodyPr wrap="none" rtlCol="0">
            <a:spAutoFit/>
          </a:bodyPr>
          <a:lstStyle/>
          <a:p>
            <a:r>
              <a:rPr lang="en-US" sz="1200"/>
              <a:t>h) 15.1 x 9.5 </a:t>
            </a:r>
            <a:endParaRPr lang="en-GB" sz="1200"/>
          </a:p>
        </p:txBody>
      </p:sp>
      <p:sp>
        <p:nvSpPr>
          <p:cNvPr id="62" name="Rectangle 61">
            <a:extLst>
              <a:ext uri="{FF2B5EF4-FFF2-40B4-BE49-F238E27FC236}">
                <a16:creationId xmlns:a16="http://schemas.microsoft.com/office/drawing/2014/main" id="{A9A486ED-61C6-127C-3808-81EB7987E6F4}"/>
              </a:ext>
            </a:extLst>
          </p:cNvPr>
          <p:cNvSpPr/>
          <p:nvPr/>
        </p:nvSpPr>
        <p:spPr>
          <a:xfrm>
            <a:off x="237361" y="3435644"/>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BF2B23CB-07D5-CDB6-8B4E-ED8E2386CEB7}"/>
              </a:ext>
            </a:extLst>
          </p:cNvPr>
          <p:cNvSpPr/>
          <p:nvPr/>
        </p:nvSpPr>
        <p:spPr>
          <a:xfrm>
            <a:off x="371790" y="5250883"/>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5" name="Rectangle 64">
            <a:extLst>
              <a:ext uri="{FF2B5EF4-FFF2-40B4-BE49-F238E27FC236}">
                <a16:creationId xmlns:a16="http://schemas.microsoft.com/office/drawing/2014/main" id="{5A130851-0322-F871-FD7A-523C246B9009}"/>
              </a:ext>
            </a:extLst>
          </p:cNvPr>
          <p:cNvSpPr/>
          <p:nvPr/>
        </p:nvSpPr>
        <p:spPr>
          <a:xfrm>
            <a:off x="1861306" y="3435643"/>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tangle 65">
            <a:extLst>
              <a:ext uri="{FF2B5EF4-FFF2-40B4-BE49-F238E27FC236}">
                <a16:creationId xmlns:a16="http://schemas.microsoft.com/office/drawing/2014/main" id="{97FD20FD-1A9D-C2D9-4C17-B7C151097CBB}"/>
              </a:ext>
            </a:extLst>
          </p:cNvPr>
          <p:cNvSpPr/>
          <p:nvPr/>
        </p:nvSpPr>
        <p:spPr>
          <a:xfrm>
            <a:off x="3476625" y="3435642"/>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Rectangle 66">
            <a:extLst>
              <a:ext uri="{FF2B5EF4-FFF2-40B4-BE49-F238E27FC236}">
                <a16:creationId xmlns:a16="http://schemas.microsoft.com/office/drawing/2014/main" id="{6B3B39A0-9257-957B-0F2E-A6991FB2F1C8}"/>
              </a:ext>
            </a:extLst>
          </p:cNvPr>
          <p:cNvSpPr/>
          <p:nvPr/>
        </p:nvSpPr>
        <p:spPr>
          <a:xfrm>
            <a:off x="5091944" y="3435642"/>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Rectangle 67">
            <a:extLst>
              <a:ext uri="{FF2B5EF4-FFF2-40B4-BE49-F238E27FC236}">
                <a16:creationId xmlns:a16="http://schemas.microsoft.com/office/drawing/2014/main" id="{833ECA6F-4572-0E86-99F1-87E7CE9163B6}"/>
              </a:ext>
            </a:extLst>
          </p:cNvPr>
          <p:cNvSpPr/>
          <p:nvPr/>
        </p:nvSpPr>
        <p:spPr>
          <a:xfrm>
            <a:off x="2001197" y="5250883"/>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9" name="Rectangle 68">
            <a:extLst>
              <a:ext uri="{FF2B5EF4-FFF2-40B4-BE49-F238E27FC236}">
                <a16:creationId xmlns:a16="http://schemas.microsoft.com/office/drawing/2014/main" id="{F6B90A01-7EEC-5A30-EAFB-4BF287854851}"/>
              </a:ext>
            </a:extLst>
          </p:cNvPr>
          <p:cNvSpPr/>
          <p:nvPr/>
        </p:nvSpPr>
        <p:spPr>
          <a:xfrm>
            <a:off x="3609140" y="5250882"/>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F74F0251-A8C1-5BC4-0537-9F9C11484364}"/>
              </a:ext>
            </a:extLst>
          </p:cNvPr>
          <p:cNvSpPr/>
          <p:nvPr/>
        </p:nvSpPr>
        <p:spPr>
          <a:xfrm>
            <a:off x="5210916" y="5250882"/>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 name="Rectangle 1">
            <a:extLst>
              <a:ext uri="{FF2B5EF4-FFF2-40B4-BE49-F238E27FC236}">
                <a16:creationId xmlns:a16="http://schemas.microsoft.com/office/drawing/2014/main" id="{04813EEE-6212-8564-D517-76E60F8C25ED}"/>
              </a:ext>
            </a:extLst>
          </p:cNvPr>
          <p:cNvSpPr/>
          <p:nvPr/>
        </p:nvSpPr>
        <p:spPr>
          <a:xfrm>
            <a:off x="126041" y="102844"/>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cxnSp>
        <p:nvCxnSpPr>
          <p:cNvPr id="37" name="Straight Connector 36">
            <a:extLst>
              <a:ext uri="{FF2B5EF4-FFF2-40B4-BE49-F238E27FC236}">
                <a16:creationId xmlns:a16="http://schemas.microsoft.com/office/drawing/2014/main" id="{01D393B7-65C9-06D0-D487-7ECDADBCE153}"/>
              </a:ext>
            </a:extLst>
          </p:cNvPr>
          <p:cNvCxnSpPr>
            <a:cxnSpLocks/>
          </p:cNvCxnSpPr>
          <p:nvPr/>
        </p:nvCxnSpPr>
        <p:spPr>
          <a:xfrm>
            <a:off x="980156" y="7438341"/>
            <a:ext cx="0" cy="0"/>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8" name="Table 37">
                <a:extLst>
                  <a:ext uri="{FF2B5EF4-FFF2-40B4-BE49-F238E27FC236}">
                    <a16:creationId xmlns:a16="http://schemas.microsoft.com/office/drawing/2014/main" id="{803326AA-9895-B5D1-7305-BA497ACB0506}"/>
                  </a:ext>
                </a:extLst>
              </p:cNvPr>
              <p:cNvGraphicFramePr>
                <a:graphicFrameLocks noGrp="1"/>
              </p:cNvGraphicFramePr>
              <p:nvPr/>
            </p:nvGraphicFramePr>
            <p:xfrm>
              <a:off x="181897" y="5993969"/>
              <a:ext cx="6543680" cy="3518323"/>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08308">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14662">
                    <a:tc>
                      <a:txBody>
                        <a:bodyPr/>
                        <a:lstStyle/>
                        <a:p>
                          <a:pPr marL="0" indent="0">
                            <a:buNone/>
                          </a:pPr>
                          <a:r>
                            <a:rPr lang="en-US" sz="1100"/>
                            <a:t>1) Round the</a:t>
                          </a:r>
                          <a:r>
                            <a:rPr lang="en-US" sz="1100" baseline="0"/>
                            <a:t> numbers</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9.9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m:t>
                              </m:r>
                            </m:oMath>
                          </a14:m>
                          <a:r>
                            <a:rPr lang="en-US" sz="1200" baseline="0">
                              <a:solidFill>
                                <a:schemeClr val="tx1"/>
                              </a:solidFill>
                            </a:rPr>
                            <a:t> 2</a:t>
                          </a:r>
                          <a:r>
                            <a:rPr lang="en-US" sz="1200">
                              <a:solidFill>
                                <a:schemeClr val="tx1"/>
                              </a:solidFill>
                            </a:rPr>
                            <a:t>.1</a:t>
                          </a:r>
                          <a:r>
                            <a:rPr lang="en-US" sz="1200" baseline="0">
                              <a:solidFill>
                                <a:schemeClr val="tx1"/>
                              </a:solidFill>
                            </a:rPr>
                            <a:t> by rounding each number one significant figure.</a:t>
                          </a: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17.9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m:t>
                              </m:r>
                            </m:oMath>
                          </a14:m>
                          <a:r>
                            <a:rPr lang="en-US" sz="1200" baseline="0">
                              <a:solidFill>
                                <a:schemeClr val="tx1"/>
                              </a:solidFill>
                            </a:rPr>
                            <a:t> 2</a:t>
                          </a:r>
                          <a:r>
                            <a:rPr lang="en-US" sz="1200">
                              <a:solidFill>
                                <a:schemeClr val="tx1"/>
                              </a:solidFill>
                            </a:rPr>
                            <a:t>.1</a:t>
                          </a:r>
                          <a:r>
                            <a:rPr lang="en-US" sz="1200" baseline="0">
                              <a:solidFill>
                                <a:schemeClr val="tx1"/>
                              </a:solidFill>
                            </a:rPr>
                            <a:t> by rounding each number one significant figure.</a:t>
                          </a: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32.9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m:t>
                              </m:r>
                            </m:oMath>
                          </a14:m>
                          <a:r>
                            <a:rPr lang="en-US" sz="1200" baseline="0">
                              <a:solidFill>
                                <a:schemeClr val="tx1"/>
                              </a:solidFill>
                            </a:rPr>
                            <a:t> 2</a:t>
                          </a:r>
                          <a:r>
                            <a:rPr lang="en-US" sz="1200">
                              <a:solidFill>
                                <a:schemeClr val="tx1"/>
                              </a:solidFill>
                            </a:rPr>
                            <a:t>.1</a:t>
                          </a:r>
                          <a:r>
                            <a:rPr lang="en-US" sz="1200" baseline="0">
                              <a:solidFill>
                                <a:schemeClr val="tx1"/>
                              </a:solidFill>
                            </a:rPr>
                            <a:t> by rounding each number one significant figure.</a:t>
                          </a: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94042">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650539">
                    <a:tc>
                      <a:txBody>
                        <a:bodyPr/>
                        <a:lstStyle/>
                        <a:p>
                          <a:pPr marL="0" indent="0">
                            <a:buNone/>
                          </a:pPr>
                          <a:r>
                            <a:rPr lang="en-US" sz="1100"/>
                            <a:t>3)</a:t>
                          </a:r>
                          <a:r>
                            <a:rPr lang="en-US" sz="1100" baseline="0"/>
                            <a:t> Use the approximate symbol </a:t>
                          </a:r>
                          <a14:m>
                            <m:oMath xmlns:m="http://schemas.openxmlformats.org/officeDocument/2006/math">
                              <m:r>
                                <a:rPr lang="en-US" sz="1100" i="1" baseline="0" smtClean="0">
                                  <a:latin typeface="Cambria Math" panose="02040503050406030204" pitchFamily="18" charset="0"/>
                                  <a:ea typeface="Cambria Math" panose="02040503050406030204" pitchFamily="18" charset="0"/>
                                </a:rPr>
                                <m:t>≈</m:t>
                              </m:r>
                            </m:oMath>
                          </a14:m>
                          <a:r>
                            <a:rPr lang="en-US" sz="1100"/>
                            <a:t> to show your solution</a:t>
                          </a:r>
                          <a:r>
                            <a:rPr lang="en-US" sz="1100" baseline="0"/>
                            <a:t> is an estimate.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Choice>
        <mc:Fallback xmlns="">
          <p:graphicFrame>
            <p:nvGraphicFramePr>
              <p:cNvPr id="38" name="Table 37">
                <a:extLst>
                  <a:ext uri="{FF2B5EF4-FFF2-40B4-BE49-F238E27FC236}">
                    <a16:creationId xmlns:a16="http://schemas.microsoft.com/office/drawing/2014/main" id="{803326AA-9895-B5D1-7305-BA497ACB0506}"/>
                  </a:ext>
                </a:extLst>
              </p:cNvPr>
              <p:cNvGraphicFramePr>
                <a:graphicFrameLocks noGrp="1"/>
              </p:cNvGraphicFramePr>
              <p:nvPr>
                <p:extLst>
                  <p:ext uri="{D42A27DB-BD31-4B8C-83A1-F6EECF244321}">
                    <p14:modId xmlns:p14="http://schemas.microsoft.com/office/powerpoint/2010/main" val="3433575626"/>
                  </p:ext>
                </p:extLst>
              </p:nvPr>
            </p:nvGraphicFramePr>
            <p:xfrm>
              <a:off x="181897" y="5993969"/>
              <a:ext cx="6543680" cy="3518323"/>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59080">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14662">
                    <a:tc>
                      <a:txBody>
                        <a:bodyPr/>
                        <a:lstStyle/>
                        <a:p>
                          <a:pPr marL="0" indent="0">
                            <a:buNone/>
                          </a:pPr>
                          <a:r>
                            <a:rPr lang="en-US" sz="1100"/>
                            <a:t>1) Round the</a:t>
                          </a:r>
                          <a:r>
                            <a:rPr lang="en-US" sz="1100" baseline="0"/>
                            <a:t> numbers</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5401" t="-8224" r="-220209" b="-374"/>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7654" t="-8224" r="-95062" b="-374"/>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1634" t="-8224" r="-654" b="-374"/>
                          </a:stretch>
                        </a:blipFill>
                      </a:tcPr>
                    </a:tc>
                    <a:extLst>
                      <a:ext uri="{0D108BD9-81ED-4DB2-BD59-A6C34878D82A}">
                        <a16:rowId xmlns:a16="http://schemas.microsoft.com/office/drawing/2014/main" val="3293625240"/>
                      </a:ext>
                    </a:extLst>
                  </a:tr>
                  <a:tr h="894042">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65053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33" t="-113653" r="-581646" b="-738"/>
                          </a:stretch>
                        </a:blip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Fallback>
      </mc:AlternateContent>
      <p:sp>
        <p:nvSpPr>
          <p:cNvPr id="39" name="TextBox 38">
            <a:extLst>
              <a:ext uri="{FF2B5EF4-FFF2-40B4-BE49-F238E27FC236}">
                <a16:creationId xmlns:a16="http://schemas.microsoft.com/office/drawing/2014/main" id="{68034822-7291-91C3-9FBB-D356C21BD9D8}"/>
              </a:ext>
            </a:extLst>
          </p:cNvPr>
          <p:cNvSpPr txBox="1"/>
          <p:nvPr/>
        </p:nvSpPr>
        <p:spPr>
          <a:xfrm>
            <a:off x="1383071" y="5695998"/>
            <a:ext cx="1410704" cy="276999"/>
          </a:xfrm>
          <a:prstGeom prst="rect">
            <a:avLst/>
          </a:prstGeom>
          <a:noFill/>
          <a:ln>
            <a:noFill/>
          </a:ln>
        </p:spPr>
        <p:txBody>
          <a:bodyPr wrap="square" rtlCol="0">
            <a:spAutoFit/>
          </a:bodyPr>
          <a:lstStyle/>
          <a:p>
            <a:r>
              <a:rPr lang="en-GB" sz="1200" b="1" i="1">
                <a:solidFill>
                  <a:srgbClr val="FF0000"/>
                </a:solidFill>
              </a:rPr>
              <a:t>Example 7 - I do…</a:t>
            </a:r>
          </a:p>
        </p:txBody>
      </p:sp>
      <p:sp>
        <p:nvSpPr>
          <p:cNvPr id="40" name="TextBox 39">
            <a:extLst>
              <a:ext uri="{FF2B5EF4-FFF2-40B4-BE49-F238E27FC236}">
                <a16:creationId xmlns:a16="http://schemas.microsoft.com/office/drawing/2014/main" id="{AF50ADBD-17D9-54EF-32C8-7A8FBEBE07D2}"/>
              </a:ext>
            </a:extLst>
          </p:cNvPr>
          <p:cNvSpPr txBox="1"/>
          <p:nvPr/>
        </p:nvSpPr>
        <p:spPr>
          <a:xfrm>
            <a:off x="5030786" y="5693744"/>
            <a:ext cx="1643405" cy="276999"/>
          </a:xfrm>
          <a:prstGeom prst="rect">
            <a:avLst/>
          </a:prstGeom>
          <a:noFill/>
          <a:ln>
            <a:noFill/>
          </a:ln>
        </p:spPr>
        <p:txBody>
          <a:bodyPr wrap="square" rtlCol="0">
            <a:spAutoFit/>
          </a:bodyPr>
          <a:lstStyle/>
          <a:p>
            <a:r>
              <a:rPr lang="en-GB" sz="1200" b="1" i="1">
                <a:solidFill>
                  <a:srgbClr val="00B050"/>
                </a:solidFill>
              </a:rPr>
              <a:t>Example 9 – You do…</a:t>
            </a:r>
          </a:p>
        </p:txBody>
      </p:sp>
      <p:sp>
        <p:nvSpPr>
          <p:cNvPr id="41" name="TextBox 40">
            <a:extLst>
              <a:ext uri="{FF2B5EF4-FFF2-40B4-BE49-F238E27FC236}">
                <a16:creationId xmlns:a16="http://schemas.microsoft.com/office/drawing/2014/main" id="{2D3BDD20-DB3A-2DA2-F144-C3BFDF71E3B9}"/>
              </a:ext>
            </a:extLst>
          </p:cNvPr>
          <p:cNvSpPr txBox="1"/>
          <p:nvPr/>
        </p:nvSpPr>
        <p:spPr>
          <a:xfrm>
            <a:off x="3111099" y="5708531"/>
            <a:ext cx="1667605" cy="276999"/>
          </a:xfrm>
          <a:prstGeom prst="rect">
            <a:avLst/>
          </a:prstGeom>
          <a:noFill/>
          <a:ln>
            <a:noFill/>
          </a:ln>
        </p:spPr>
        <p:txBody>
          <a:bodyPr wrap="square" rtlCol="0">
            <a:spAutoFit/>
          </a:bodyPr>
          <a:lstStyle/>
          <a:p>
            <a:r>
              <a:rPr lang="en-GB" sz="1200" b="1" i="1">
                <a:solidFill>
                  <a:schemeClr val="accent2"/>
                </a:solidFill>
              </a:rPr>
              <a:t>Example 8 - We do…</a:t>
            </a:r>
          </a:p>
        </p:txBody>
      </p:sp>
      <p:sp>
        <p:nvSpPr>
          <p:cNvPr id="42" name="Rectangle 41">
            <a:extLst>
              <a:ext uri="{FF2B5EF4-FFF2-40B4-BE49-F238E27FC236}">
                <a16:creationId xmlns:a16="http://schemas.microsoft.com/office/drawing/2014/main" id="{DEB4DD9F-32AC-E0A8-7625-AE26EB8BE211}"/>
              </a:ext>
            </a:extLst>
          </p:cNvPr>
          <p:cNvSpPr/>
          <p:nvPr/>
        </p:nvSpPr>
        <p:spPr>
          <a:xfrm>
            <a:off x="1245107" y="9083763"/>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3" name="Rectangle 42">
            <a:extLst>
              <a:ext uri="{FF2B5EF4-FFF2-40B4-BE49-F238E27FC236}">
                <a16:creationId xmlns:a16="http://schemas.microsoft.com/office/drawing/2014/main" id="{6CF654DB-8926-3D9F-11CE-DBCB3BF05CF4}"/>
              </a:ext>
            </a:extLst>
          </p:cNvPr>
          <p:cNvSpPr/>
          <p:nvPr/>
        </p:nvSpPr>
        <p:spPr>
          <a:xfrm>
            <a:off x="3137262" y="9083762"/>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4" name="Rectangle 43">
            <a:extLst>
              <a:ext uri="{FF2B5EF4-FFF2-40B4-BE49-F238E27FC236}">
                <a16:creationId xmlns:a16="http://schemas.microsoft.com/office/drawing/2014/main" id="{F21E9075-8C34-2CFF-31BE-05D2E49CF95E}"/>
              </a:ext>
            </a:extLst>
          </p:cNvPr>
          <p:cNvSpPr/>
          <p:nvPr/>
        </p:nvSpPr>
        <p:spPr>
          <a:xfrm>
            <a:off x="5081730" y="9083762"/>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Tree>
    <p:extLst>
      <p:ext uri="{BB962C8B-B14F-4D97-AF65-F5344CB8AC3E}">
        <p14:creationId xmlns:p14="http://schemas.microsoft.com/office/powerpoint/2010/main" val="8862513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34</a:t>
            </a:fld>
            <a:endParaRPr lang="en-GB"/>
          </a:p>
        </p:txBody>
      </p:sp>
      <p:sp>
        <p:nvSpPr>
          <p:cNvPr id="12" name="TextBox 11">
            <a:extLst>
              <a:ext uri="{FF2B5EF4-FFF2-40B4-BE49-F238E27FC236}">
                <a16:creationId xmlns:a16="http://schemas.microsoft.com/office/drawing/2014/main" id="{96611ED2-92FF-83F3-7B93-F566654EF224}"/>
              </a:ext>
            </a:extLst>
          </p:cNvPr>
          <p:cNvSpPr txBox="1"/>
          <p:nvPr/>
        </p:nvSpPr>
        <p:spPr>
          <a:xfrm>
            <a:off x="1936659" y="160976"/>
            <a:ext cx="3221908" cy="461665"/>
          </a:xfrm>
          <a:prstGeom prst="rect">
            <a:avLst/>
          </a:prstGeom>
          <a:noFill/>
        </p:spPr>
        <p:txBody>
          <a:bodyPr wrap="none" rtlCol="0">
            <a:spAutoFit/>
          </a:bodyPr>
          <a:lstStyle/>
          <a:p>
            <a:pPr algn="ctr"/>
            <a:r>
              <a:rPr lang="en-US" sz="1200"/>
              <a:t>3. Estimate the answer to each by rounding each</a:t>
            </a:r>
          </a:p>
          <a:p>
            <a:pPr algn="ctr"/>
            <a:r>
              <a:rPr lang="en-US" sz="1200"/>
              <a:t>number to one significant figure.</a:t>
            </a:r>
            <a:endParaRPr lang="en-GB" sz="120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02599B8-7045-2C5F-49C8-BC34EDC6944E}"/>
                  </a:ext>
                </a:extLst>
              </p:cNvPr>
              <p:cNvSpPr txBox="1"/>
              <p:nvPr/>
            </p:nvSpPr>
            <p:spPr>
              <a:xfrm>
                <a:off x="213518" y="625974"/>
                <a:ext cx="995785" cy="276999"/>
              </a:xfrm>
              <a:prstGeom prst="rect">
                <a:avLst/>
              </a:prstGeom>
              <a:noFill/>
            </p:spPr>
            <p:txBody>
              <a:bodyPr wrap="none" rtlCol="0">
                <a:spAutoFit/>
              </a:bodyPr>
              <a:lstStyle/>
              <a:p>
                <a:r>
                  <a:rPr lang="en-US" sz="1200"/>
                  <a:t>a) 7.9 </a:t>
                </a:r>
                <a14:m>
                  <m:oMath xmlns:m="http://schemas.openxmlformats.org/officeDocument/2006/math">
                    <m:r>
                      <a:rPr lang="en-US" sz="1200" i="1" smtClean="0">
                        <a:latin typeface="Cambria Math" panose="02040503050406030204" pitchFamily="18" charset="0"/>
                        <a:ea typeface="Cambria Math" panose="02040503050406030204" pitchFamily="18" charset="0"/>
                      </a:rPr>
                      <m:t>÷</m:t>
                    </m:r>
                  </m:oMath>
                </a14:m>
                <a:r>
                  <a:rPr lang="en-US" sz="1200"/>
                  <a:t> 1.99</a:t>
                </a:r>
                <a:endParaRPr lang="en-GB" sz="1200"/>
              </a:p>
            </p:txBody>
          </p:sp>
        </mc:Choice>
        <mc:Fallback xmlns="">
          <p:sp>
            <p:nvSpPr>
              <p:cNvPr id="14" name="TextBox 13">
                <a:extLst>
                  <a:ext uri="{FF2B5EF4-FFF2-40B4-BE49-F238E27FC236}">
                    <a16:creationId xmlns:a16="http://schemas.microsoft.com/office/drawing/2014/main" id="{802599B8-7045-2C5F-49C8-BC34EDC6944E}"/>
                  </a:ext>
                </a:extLst>
              </p:cNvPr>
              <p:cNvSpPr txBox="1">
                <a:spLocks noRot="1" noChangeAspect="1" noMove="1" noResize="1" noEditPoints="1" noAdjustHandles="1" noChangeArrowheads="1" noChangeShapeType="1" noTextEdit="1"/>
              </p:cNvSpPr>
              <p:nvPr/>
            </p:nvSpPr>
            <p:spPr>
              <a:xfrm>
                <a:off x="213518" y="625974"/>
                <a:ext cx="995785" cy="276999"/>
              </a:xfrm>
              <a:prstGeom prst="rect">
                <a:avLst/>
              </a:prstGeom>
              <a:blipFill>
                <a:blip r:embed="rId2"/>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50D13E5-22DF-CB26-0AD2-F7DFA39EB2D7}"/>
                  </a:ext>
                </a:extLst>
              </p:cNvPr>
              <p:cNvSpPr txBox="1"/>
              <p:nvPr/>
            </p:nvSpPr>
            <p:spPr>
              <a:xfrm>
                <a:off x="1811803" y="645240"/>
                <a:ext cx="1002197" cy="461665"/>
              </a:xfrm>
              <a:prstGeom prst="rect">
                <a:avLst/>
              </a:prstGeom>
              <a:noFill/>
            </p:spPr>
            <p:txBody>
              <a:bodyPr wrap="none" rtlCol="0">
                <a:spAutoFit/>
              </a:bodyPr>
              <a:lstStyle/>
              <a:p>
                <a:r>
                  <a:rPr lang="en-US" sz="1200"/>
                  <a:t>b) 9.9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US" sz="1200"/>
                  <a:t> 1.99</a:t>
                </a:r>
                <a:endParaRPr lang="en-GB" sz="1200"/>
              </a:p>
              <a:p>
                <a:endParaRPr lang="en-GB" sz="1200"/>
              </a:p>
            </p:txBody>
          </p:sp>
        </mc:Choice>
        <mc:Fallback xmlns="">
          <p:sp>
            <p:nvSpPr>
              <p:cNvPr id="15" name="TextBox 14">
                <a:extLst>
                  <a:ext uri="{FF2B5EF4-FFF2-40B4-BE49-F238E27FC236}">
                    <a16:creationId xmlns:a16="http://schemas.microsoft.com/office/drawing/2014/main" id="{C50D13E5-22DF-CB26-0AD2-F7DFA39EB2D7}"/>
                  </a:ext>
                </a:extLst>
              </p:cNvPr>
              <p:cNvSpPr txBox="1">
                <a:spLocks noRot="1" noChangeAspect="1" noMove="1" noResize="1" noEditPoints="1" noAdjustHandles="1" noChangeArrowheads="1" noChangeShapeType="1" noTextEdit="1"/>
              </p:cNvSpPr>
              <p:nvPr/>
            </p:nvSpPr>
            <p:spPr>
              <a:xfrm>
                <a:off x="1811803" y="645240"/>
                <a:ext cx="1002197" cy="461665"/>
              </a:xfrm>
              <a:prstGeom prst="rect">
                <a:avLst/>
              </a:prstGeom>
              <a:blipFill>
                <a:blip r:embed="rId3"/>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E14B9F8-4454-F21F-E377-78A666AED3A5}"/>
                  </a:ext>
                </a:extLst>
              </p:cNvPr>
              <p:cNvSpPr txBox="1"/>
              <p:nvPr/>
            </p:nvSpPr>
            <p:spPr>
              <a:xfrm>
                <a:off x="3416500" y="669753"/>
                <a:ext cx="987771" cy="461665"/>
              </a:xfrm>
              <a:prstGeom prst="rect">
                <a:avLst/>
              </a:prstGeom>
              <a:noFill/>
            </p:spPr>
            <p:txBody>
              <a:bodyPr wrap="none" rtlCol="0">
                <a:spAutoFit/>
              </a:bodyPr>
              <a:lstStyle/>
              <a:p>
                <a:r>
                  <a:rPr lang="en-US" sz="1200"/>
                  <a:t>c) 9.9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US" sz="1200"/>
                  <a:t> 4.95</a:t>
                </a:r>
                <a:endParaRPr lang="en-GB" sz="1200"/>
              </a:p>
              <a:p>
                <a:endParaRPr lang="en-GB" sz="1200"/>
              </a:p>
            </p:txBody>
          </p:sp>
        </mc:Choice>
        <mc:Fallback xmlns="">
          <p:sp>
            <p:nvSpPr>
              <p:cNvPr id="16" name="TextBox 15">
                <a:extLst>
                  <a:ext uri="{FF2B5EF4-FFF2-40B4-BE49-F238E27FC236}">
                    <a16:creationId xmlns:a16="http://schemas.microsoft.com/office/drawing/2014/main" id="{AE14B9F8-4454-F21F-E377-78A666AED3A5}"/>
                  </a:ext>
                </a:extLst>
              </p:cNvPr>
              <p:cNvSpPr txBox="1">
                <a:spLocks noRot="1" noChangeAspect="1" noMove="1" noResize="1" noEditPoints="1" noAdjustHandles="1" noChangeArrowheads="1" noChangeShapeType="1" noTextEdit="1"/>
              </p:cNvSpPr>
              <p:nvPr/>
            </p:nvSpPr>
            <p:spPr>
              <a:xfrm>
                <a:off x="3416500" y="669753"/>
                <a:ext cx="987771" cy="461665"/>
              </a:xfrm>
              <a:prstGeom prst="rect">
                <a:avLst/>
              </a:prstGeom>
              <a:blipFill>
                <a:blip r:embed="rId4"/>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2F06194-F175-8752-5ED6-E03A1133BC75}"/>
                  </a:ext>
                </a:extLst>
              </p:cNvPr>
              <p:cNvSpPr txBox="1"/>
              <p:nvPr/>
            </p:nvSpPr>
            <p:spPr>
              <a:xfrm>
                <a:off x="5081691" y="692351"/>
                <a:ext cx="1080745" cy="461665"/>
              </a:xfrm>
              <a:prstGeom prst="rect">
                <a:avLst/>
              </a:prstGeom>
              <a:noFill/>
            </p:spPr>
            <p:txBody>
              <a:bodyPr wrap="none" rtlCol="0">
                <a:spAutoFit/>
              </a:bodyPr>
              <a:lstStyle/>
              <a:p>
                <a:r>
                  <a:rPr lang="en-US" sz="1200"/>
                  <a:t>d) 19.5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US" sz="1200"/>
                  <a:t> 1.99</a:t>
                </a:r>
                <a:endParaRPr lang="en-GB" sz="1200"/>
              </a:p>
              <a:p>
                <a:endParaRPr lang="en-GB" sz="1200"/>
              </a:p>
            </p:txBody>
          </p:sp>
        </mc:Choice>
        <mc:Fallback xmlns="">
          <p:sp>
            <p:nvSpPr>
              <p:cNvPr id="44" name="TextBox 43">
                <a:extLst>
                  <a:ext uri="{FF2B5EF4-FFF2-40B4-BE49-F238E27FC236}">
                    <a16:creationId xmlns:a16="http://schemas.microsoft.com/office/drawing/2014/main" id="{62F06194-F175-8752-5ED6-E03A1133BC75}"/>
                  </a:ext>
                </a:extLst>
              </p:cNvPr>
              <p:cNvSpPr txBox="1">
                <a:spLocks noRot="1" noChangeAspect="1" noMove="1" noResize="1" noEditPoints="1" noAdjustHandles="1" noChangeArrowheads="1" noChangeShapeType="1" noTextEdit="1"/>
              </p:cNvSpPr>
              <p:nvPr/>
            </p:nvSpPr>
            <p:spPr>
              <a:xfrm>
                <a:off x="5081691" y="692351"/>
                <a:ext cx="1080745" cy="461665"/>
              </a:xfrm>
              <a:prstGeom prst="rect">
                <a:avLst/>
              </a:prstGeom>
              <a:blipFill>
                <a:blip r:embed="rId5"/>
                <a:stretch>
                  <a:fillRect l="-565" t="-1333"/>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BCD925F6-396E-0A38-1D4E-D3D245464CED}"/>
              </a:ext>
            </a:extLst>
          </p:cNvPr>
          <p:cNvSpPr/>
          <p:nvPr/>
        </p:nvSpPr>
        <p:spPr>
          <a:xfrm>
            <a:off x="268982" y="965920"/>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a:extLst>
              <a:ext uri="{FF2B5EF4-FFF2-40B4-BE49-F238E27FC236}">
                <a16:creationId xmlns:a16="http://schemas.microsoft.com/office/drawing/2014/main" id="{983C8F24-DED6-93FB-7BF3-77B759D8C791}"/>
              </a:ext>
            </a:extLst>
          </p:cNvPr>
          <p:cNvSpPr/>
          <p:nvPr/>
        </p:nvSpPr>
        <p:spPr>
          <a:xfrm>
            <a:off x="403411" y="2781159"/>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7" name="Rectangle 46">
            <a:extLst>
              <a:ext uri="{FF2B5EF4-FFF2-40B4-BE49-F238E27FC236}">
                <a16:creationId xmlns:a16="http://schemas.microsoft.com/office/drawing/2014/main" id="{74CCC8CB-16A2-31D7-FB90-FC10DE7F8B52}"/>
              </a:ext>
            </a:extLst>
          </p:cNvPr>
          <p:cNvSpPr/>
          <p:nvPr/>
        </p:nvSpPr>
        <p:spPr>
          <a:xfrm>
            <a:off x="1892927" y="965919"/>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586F25EF-AFA3-6A74-1954-900ACC61EE26}"/>
              </a:ext>
            </a:extLst>
          </p:cNvPr>
          <p:cNvSpPr/>
          <p:nvPr/>
        </p:nvSpPr>
        <p:spPr>
          <a:xfrm>
            <a:off x="3508246" y="965918"/>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A69AAF3C-4D99-218B-3F75-4BECD4126818}"/>
              </a:ext>
            </a:extLst>
          </p:cNvPr>
          <p:cNvSpPr/>
          <p:nvPr/>
        </p:nvSpPr>
        <p:spPr>
          <a:xfrm>
            <a:off x="5123565" y="965918"/>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C1C15EAE-7389-6992-55AF-44BE0023D815}"/>
              </a:ext>
            </a:extLst>
          </p:cNvPr>
          <p:cNvSpPr/>
          <p:nvPr/>
        </p:nvSpPr>
        <p:spPr>
          <a:xfrm>
            <a:off x="2032818" y="2781159"/>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1" name="Rectangle 50">
            <a:extLst>
              <a:ext uri="{FF2B5EF4-FFF2-40B4-BE49-F238E27FC236}">
                <a16:creationId xmlns:a16="http://schemas.microsoft.com/office/drawing/2014/main" id="{1FE19035-7711-5251-1E7A-0C69CA7598DE}"/>
              </a:ext>
            </a:extLst>
          </p:cNvPr>
          <p:cNvSpPr/>
          <p:nvPr/>
        </p:nvSpPr>
        <p:spPr>
          <a:xfrm>
            <a:off x="3640761" y="2781158"/>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2" name="Rectangle 51">
            <a:extLst>
              <a:ext uri="{FF2B5EF4-FFF2-40B4-BE49-F238E27FC236}">
                <a16:creationId xmlns:a16="http://schemas.microsoft.com/office/drawing/2014/main" id="{99AA035D-0032-5B82-6710-1D48366E5842}"/>
              </a:ext>
            </a:extLst>
          </p:cNvPr>
          <p:cNvSpPr/>
          <p:nvPr/>
        </p:nvSpPr>
        <p:spPr>
          <a:xfrm>
            <a:off x="5242537" y="2781158"/>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3E57B318-8D75-1CF8-ABCF-E82E676A479C}"/>
                  </a:ext>
                </a:extLst>
              </p:cNvPr>
              <p:cNvSpPr txBox="1"/>
              <p:nvPr/>
            </p:nvSpPr>
            <p:spPr>
              <a:xfrm>
                <a:off x="213518" y="3221106"/>
                <a:ext cx="1077539" cy="461665"/>
              </a:xfrm>
              <a:prstGeom prst="rect">
                <a:avLst/>
              </a:prstGeom>
              <a:noFill/>
            </p:spPr>
            <p:txBody>
              <a:bodyPr wrap="none" rtlCol="0">
                <a:spAutoFit/>
              </a:bodyPr>
              <a:lstStyle/>
              <a:p>
                <a:r>
                  <a:rPr lang="en-US" sz="1200"/>
                  <a:t>e) 19.5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US" sz="1200"/>
                  <a:t> 4.05</a:t>
                </a:r>
                <a:endParaRPr lang="en-GB" sz="1200"/>
              </a:p>
              <a:p>
                <a:endParaRPr lang="en-GB" sz="1200"/>
              </a:p>
            </p:txBody>
          </p:sp>
        </mc:Choice>
        <mc:Fallback xmlns="">
          <p:sp>
            <p:nvSpPr>
              <p:cNvPr id="53" name="TextBox 52">
                <a:extLst>
                  <a:ext uri="{FF2B5EF4-FFF2-40B4-BE49-F238E27FC236}">
                    <a16:creationId xmlns:a16="http://schemas.microsoft.com/office/drawing/2014/main" id="{3E57B318-8D75-1CF8-ABCF-E82E676A479C}"/>
                  </a:ext>
                </a:extLst>
              </p:cNvPr>
              <p:cNvSpPr txBox="1">
                <a:spLocks noRot="1" noChangeAspect="1" noMove="1" noResize="1" noEditPoints="1" noAdjustHandles="1" noChangeArrowheads="1" noChangeShapeType="1" noTextEdit="1"/>
              </p:cNvSpPr>
              <p:nvPr/>
            </p:nvSpPr>
            <p:spPr>
              <a:xfrm>
                <a:off x="213518" y="3221106"/>
                <a:ext cx="1077539"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97613D04-BECD-CC98-B198-F893DD6720B3}"/>
                  </a:ext>
                </a:extLst>
              </p:cNvPr>
              <p:cNvSpPr txBox="1"/>
              <p:nvPr/>
            </p:nvSpPr>
            <p:spPr>
              <a:xfrm>
                <a:off x="1811803" y="3240372"/>
                <a:ext cx="1049326" cy="461665"/>
              </a:xfrm>
              <a:prstGeom prst="rect">
                <a:avLst/>
              </a:prstGeom>
              <a:noFill/>
            </p:spPr>
            <p:txBody>
              <a:bodyPr wrap="none" rtlCol="0">
                <a:spAutoFit/>
              </a:bodyPr>
              <a:lstStyle/>
              <a:p>
                <a:r>
                  <a:rPr lang="en-US" sz="1200"/>
                  <a:t>f) 19.5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US" sz="1200"/>
                  <a:t> 5.19</a:t>
                </a:r>
                <a:endParaRPr lang="en-GB" sz="1200"/>
              </a:p>
              <a:p>
                <a:endParaRPr lang="en-GB" sz="1200"/>
              </a:p>
            </p:txBody>
          </p:sp>
        </mc:Choice>
        <mc:Fallback xmlns="">
          <p:sp>
            <p:nvSpPr>
              <p:cNvPr id="54" name="TextBox 53">
                <a:extLst>
                  <a:ext uri="{FF2B5EF4-FFF2-40B4-BE49-F238E27FC236}">
                    <a16:creationId xmlns:a16="http://schemas.microsoft.com/office/drawing/2014/main" id="{97613D04-BECD-CC98-B198-F893DD6720B3}"/>
                  </a:ext>
                </a:extLst>
              </p:cNvPr>
              <p:cNvSpPr txBox="1">
                <a:spLocks noRot="1" noChangeAspect="1" noMove="1" noResize="1" noEditPoints="1" noAdjustHandles="1" noChangeArrowheads="1" noChangeShapeType="1" noTextEdit="1"/>
              </p:cNvSpPr>
              <p:nvPr/>
            </p:nvSpPr>
            <p:spPr>
              <a:xfrm>
                <a:off x="1811803" y="3240372"/>
                <a:ext cx="1049326" cy="461665"/>
              </a:xfrm>
              <a:prstGeom prst="rect">
                <a:avLst/>
              </a:prstGeom>
              <a:blipFill>
                <a:blip r:embed="rId7"/>
                <a:stretch>
                  <a:fillRect t="-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961B6B90-8083-A2E5-6FCB-8CB9D68B712B}"/>
                  </a:ext>
                </a:extLst>
              </p:cNvPr>
              <p:cNvSpPr txBox="1"/>
              <p:nvPr/>
            </p:nvSpPr>
            <p:spPr>
              <a:xfrm>
                <a:off x="3416500" y="3264885"/>
                <a:ext cx="1072730" cy="461665"/>
              </a:xfrm>
              <a:prstGeom prst="rect">
                <a:avLst/>
              </a:prstGeom>
              <a:noFill/>
            </p:spPr>
            <p:txBody>
              <a:bodyPr wrap="none" rtlCol="0">
                <a:spAutoFit/>
              </a:bodyPr>
              <a:lstStyle/>
              <a:p>
                <a:r>
                  <a:rPr lang="en-US" sz="1200"/>
                  <a:t>g) 24.9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US" sz="1200"/>
                  <a:t> 4.99</a:t>
                </a:r>
                <a:endParaRPr lang="en-GB" sz="1200"/>
              </a:p>
              <a:p>
                <a:endParaRPr lang="en-GB" sz="1200"/>
              </a:p>
            </p:txBody>
          </p:sp>
        </mc:Choice>
        <mc:Fallback xmlns="">
          <p:sp>
            <p:nvSpPr>
              <p:cNvPr id="55" name="TextBox 54">
                <a:extLst>
                  <a:ext uri="{FF2B5EF4-FFF2-40B4-BE49-F238E27FC236}">
                    <a16:creationId xmlns:a16="http://schemas.microsoft.com/office/drawing/2014/main" id="{961B6B90-8083-A2E5-6FCB-8CB9D68B712B}"/>
                  </a:ext>
                </a:extLst>
              </p:cNvPr>
              <p:cNvSpPr txBox="1">
                <a:spLocks noRot="1" noChangeAspect="1" noMove="1" noResize="1" noEditPoints="1" noAdjustHandles="1" noChangeArrowheads="1" noChangeShapeType="1" noTextEdit="1"/>
              </p:cNvSpPr>
              <p:nvPr/>
            </p:nvSpPr>
            <p:spPr>
              <a:xfrm>
                <a:off x="3416500" y="3264885"/>
                <a:ext cx="1072730" cy="461665"/>
              </a:xfrm>
              <a:prstGeom prst="rect">
                <a:avLst/>
              </a:prstGeom>
              <a:blipFill>
                <a:blip r:embed="rId8"/>
                <a:stretch>
                  <a:fillRect t="-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E6CB73B5-62BE-B38B-56A9-AC89CABA76F6}"/>
                  </a:ext>
                </a:extLst>
              </p:cNvPr>
              <p:cNvSpPr txBox="1"/>
              <p:nvPr/>
            </p:nvSpPr>
            <p:spPr>
              <a:xfrm>
                <a:off x="5081691" y="3287483"/>
                <a:ext cx="1002197" cy="461665"/>
              </a:xfrm>
              <a:prstGeom prst="rect">
                <a:avLst/>
              </a:prstGeom>
              <a:noFill/>
            </p:spPr>
            <p:txBody>
              <a:bodyPr wrap="none" rtlCol="0">
                <a:spAutoFit/>
              </a:bodyPr>
              <a:lstStyle/>
              <a:p>
                <a:r>
                  <a:rPr lang="en-US" sz="1200"/>
                  <a:t>h) 34.9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US" sz="1200"/>
                  <a:t> 6.4</a:t>
                </a:r>
                <a:endParaRPr lang="en-GB" sz="1200"/>
              </a:p>
              <a:p>
                <a:endParaRPr lang="en-GB" sz="1200"/>
              </a:p>
            </p:txBody>
          </p:sp>
        </mc:Choice>
        <mc:Fallback xmlns="">
          <p:sp>
            <p:nvSpPr>
              <p:cNvPr id="56" name="TextBox 55">
                <a:extLst>
                  <a:ext uri="{FF2B5EF4-FFF2-40B4-BE49-F238E27FC236}">
                    <a16:creationId xmlns:a16="http://schemas.microsoft.com/office/drawing/2014/main" id="{E6CB73B5-62BE-B38B-56A9-AC89CABA76F6}"/>
                  </a:ext>
                </a:extLst>
              </p:cNvPr>
              <p:cNvSpPr txBox="1">
                <a:spLocks noRot="1" noChangeAspect="1" noMove="1" noResize="1" noEditPoints="1" noAdjustHandles="1" noChangeArrowheads="1" noChangeShapeType="1" noTextEdit="1"/>
              </p:cNvSpPr>
              <p:nvPr/>
            </p:nvSpPr>
            <p:spPr>
              <a:xfrm>
                <a:off x="5081691" y="3287483"/>
                <a:ext cx="1002197" cy="461665"/>
              </a:xfrm>
              <a:prstGeom prst="rect">
                <a:avLst/>
              </a:prstGeom>
              <a:blipFill>
                <a:blip r:embed="rId9"/>
                <a:stretch>
                  <a:fillRect l="-610"/>
                </a:stretch>
              </a:blipFill>
            </p:spPr>
            <p:txBody>
              <a:bodyPr/>
              <a:lstStyle/>
              <a:p>
                <a:r>
                  <a:rPr lang="en-US">
                    <a:noFill/>
                  </a:rPr>
                  <a:t> </a:t>
                </a:r>
              </a:p>
            </p:txBody>
          </p:sp>
        </mc:Fallback>
      </mc:AlternateContent>
      <p:sp>
        <p:nvSpPr>
          <p:cNvPr id="57" name="Rectangle 56">
            <a:extLst>
              <a:ext uri="{FF2B5EF4-FFF2-40B4-BE49-F238E27FC236}">
                <a16:creationId xmlns:a16="http://schemas.microsoft.com/office/drawing/2014/main" id="{167EF5CB-1DEB-596B-92E1-BF3445C7F35E}"/>
              </a:ext>
            </a:extLst>
          </p:cNvPr>
          <p:cNvSpPr/>
          <p:nvPr/>
        </p:nvSpPr>
        <p:spPr>
          <a:xfrm>
            <a:off x="268982" y="3561052"/>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9EB9B2BC-FC18-5358-74C4-54B40262061E}"/>
              </a:ext>
            </a:extLst>
          </p:cNvPr>
          <p:cNvSpPr/>
          <p:nvPr/>
        </p:nvSpPr>
        <p:spPr>
          <a:xfrm>
            <a:off x="403411" y="537629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9" name="Rectangle 58">
            <a:extLst>
              <a:ext uri="{FF2B5EF4-FFF2-40B4-BE49-F238E27FC236}">
                <a16:creationId xmlns:a16="http://schemas.microsoft.com/office/drawing/2014/main" id="{885C5626-AC59-83E5-7938-DFE47D2FA794}"/>
              </a:ext>
            </a:extLst>
          </p:cNvPr>
          <p:cNvSpPr/>
          <p:nvPr/>
        </p:nvSpPr>
        <p:spPr>
          <a:xfrm>
            <a:off x="1892927" y="3561051"/>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B132CFB2-11E8-E670-5AC8-77CD5B24D7E0}"/>
              </a:ext>
            </a:extLst>
          </p:cNvPr>
          <p:cNvSpPr/>
          <p:nvPr/>
        </p:nvSpPr>
        <p:spPr>
          <a:xfrm>
            <a:off x="3508246" y="3561050"/>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a:extLst>
              <a:ext uri="{FF2B5EF4-FFF2-40B4-BE49-F238E27FC236}">
                <a16:creationId xmlns:a16="http://schemas.microsoft.com/office/drawing/2014/main" id="{21F289F5-CCAA-4CF6-0A39-3A8A22DCE0F0}"/>
              </a:ext>
            </a:extLst>
          </p:cNvPr>
          <p:cNvSpPr/>
          <p:nvPr/>
        </p:nvSpPr>
        <p:spPr>
          <a:xfrm>
            <a:off x="5123565" y="3561050"/>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46877107-5270-4C79-A413-05CC7E6B397A}"/>
              </a:ext>
            </a:extLst>
          </p:cNvPr>
          <p:cNvSpPr/>
          <p:nvPr/>
        </p:nvSpPr>
        <p:spPr>
          <a:xfrm>
            <a:off x="2032818" y="537629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3" name="Rectangle 62">
            <a:extLst>
              <a:ext uri="{FF2B5EF4-FFF2-40B4-BE49-F238E27FC236}">
                <a16:creationId xmlns:a16="http://schemas.microsoft.com/office/drawing/2014/main" id="{050AC9FA-9556-863B-F922-C1E6547D22C1}"/>
              </a:ext>
            </a:extLst>
          </p:cNvPr>
          <p:cNvSpPr/>
          <p:nvPr/>
        </p:nvSpPr>
        <p:spPr>
          <a:xfrm>
            <a:off x="3640761" y="5376290"/>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4" name="Rectangle 63">
            <a:extLst>
              <a:ext uri="{FF2B5EF4-FFF2-40B4-BE49-F238E27FC236}">
                <a16:creationId xmlns:a16="http://schemas.microsoft.com/office/drawing/2014/main" id="{F62AE927-BB4A-C0FE-032A-EDE163C69748}"/>
              </a:ext>
            </a:extLst>
          </p:cNvPr>
          <p:cNvSpPr/>
          <p:nvPr/>
        </p:nvSpPr>
        <p:spPr>
          <a:xfrm>
            <a:off x="5242537" y="5376290"/>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 name="Rectangle 1">
            <a:extLst>
              <a:ext uri="{FF2B5EF4-FFF2-40B4-BE49-F238E27FC236}">
                <a16:creationId xmlns:a16="http://schemas.microsoft.com/office/drawing/2014/main" id="{6BAB4A27-8913-9FF8-B794-4BEB15B4C574}"/>
              </a:ext>
            </a:extLst>
          </p:cNvPr>
          <p:cNvSpPr/>
          <p:nvPr/>
        </p:nvSpPr>
        <p:spPr>
          <a:xfrm>
            <a:off x="142433" y="160976"/>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39D8BA58-2DBA-662E-0CA0-43E762BF332E}"/>
                  </a:ext>
                </a:extLst>
              </p:cNvPr>
              <p:cNvSpPr txBox="1"/>
              <p:nvPr/>
            </p:nvSpPr>
            <p:spPr>
              <a:xfrm>
                <a:off x="213518" y="5929587"/>
                <a:ext cx="1072730" cy="461665"/>
              </a:xfrm>
              <a:prstGeom prst="rect">
                <a:avLst/>
              </a:prstGeom>
              <a:noFill/>
            </p:spPr>
            <p:txBody>
              <a:bodyPr wrap="none" rtlCol="0">
                <a:spAutoFit/>
              </a:bodyPr>
              <a:lstStyle/>
              <a:p>
                <a:r>
                  <a:rPr lang="en-US" sz="1200">
                    <a:solidFill>
                      <a:schemeClr val="tx1"/>
                    </a:solidFill>
                  </a:rPr>
                  <a:t>g) 104.5 </a:t>
                </a:r>
                <a14:m>
                  <m:oMath xmlns:m="http://schemas.openxmlformats.org/officeDocument/2006/math">
                    <m:r>
                      <a:rPr lang="en-US" sz="1200" i="1">
                        <a:solidFill>
                          <a:schemeClr val="tx1"/>
                        </a:solidFill>
                        <a:latin typeface="Cambria Math" panose="02040503050406030204" pitchFamily="18" charset="0"/>
                        <a:ea typeface="Cambria Math" panose="02040503050406030204" pitchFamily="18" charset="0"/>
                      </a:rPr>
                      <m:t>÷</m:t>
                    </m:r>
                  </m:oMath>
                </a14:m>
                <a:r>
                  <a:rPr lang="en-US" sz="1200">
                    <a:solidFill>
                      <a:schemeClr val="tx1"/>
                    </a:solidFill>
                  </a:rPr>
                  <a:t> 4.9</a:t>
                </a:r>
                <a:endParaRPr lang="en-GB" sz="1200">
                  <a:solidFill>
                    <a:schemeClr val="tx1"/>
                  </a:solidFill>
                </a:endParaRPr>
              </a:p>
              <a:p>
                <a:endParaRPr lang="en-GB" sz="1200">
                  <a:solidFill>
                    <a:schemeClr val="tx1"/>
                  </a:solidFill>
                </a:endParaRPr>
              </a:p>
            </p:txBody>
          </p:sp>
        </mc:Choice>
        <mc:Fallback xmlns="">
          <p:sp>
            <p:nvSpPr>
              <p:cNvPr id="77" name="TextBox 76">
                <a:extLst>
                  <a:ext uri="{FF2B5EF4-FFF2-40B4-BE49-F238E27FC236}">
                    <a16:creationId xmlns:a16="http://schemas.microsoft.com/office/drawing/2014/main" id="{39D8BA58-2DBA-662E-0CA0-43E762BF332E}"/>
                  </a:ext>
                </a:extLst>
              </p:cNvPr>
              <p:cNvSpPr txBox="1">
                <a:spLocks noRot="1" noChangeAspect="1" noMove="1" noResize="1" noEditPoints="1" noAdjustHandles="1" noChangeArrowheads="1" noChangeShapeType="1" noTextEdit="1"/>
              </p:cNvSpPr>
              <p:nvPr/>
            </p:nvSpPr>
            <p:spPr>
              <a:xfrm>
                <a:off x="213518" y="5929587"/>
                <a:ext cx="1072730" cy="461665"/>
              </a:xfrm>
              <a:prstGeom prst="rect">
                <a:avLst/>
              </a:prstGeom>
              <a:blipFill>
                <a:blip r:embed="rId10"/>
                <a:stretch>
                  <a:fillRect t="-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DE8BE1D7-6D42-E66A-9353-3D8F09FCA3F9}"/>
                  </a:ext>
                </a:extLst>
              </p:cNvPr>
              <p:cNvSpPr txBox="1"/>
              <p:nvPr/>
            </p:nvSpPr>
            <p:spPr>
              <a:xfrm>
                <a:off x="1811803" y="5948853"/>
                <a:ext cx="1157689" cy="461665"/>
              </a:xfrm>
              <a:prstGeom prst="rect">
                <a:avLst/>
              </a:prstGeom>
              <a:noFill/>
            </p:spPr>
            <p:txBody>
              <a:bodyPr wrap="none" rtlCol="0">
                <a:spAutoFit/>
              </a:bodyPr>
              <a:lstStyle/>
              <a:p>
                <a:r>
                  <a:rPr lang="en-US" sz="1200">
                    <a:solidFill>
                      <a:schemeClr val="tx1"/>
                    </a:solidFill>
                  </a:rPr>
                  <a:t>h) 212.6 </a:t>
                </a:r>
                <a14:m>
                  <m:oMath xmlns:m="http://schemas.openxmlformats.org/officeDocument/2006/math">
                    <m:r>
                      <a:rPr lang="en-US" sz="1200" i="1">
                        <a:solidFill>
                          <a:schemeClr val="tx1"/>
                        </a:solidFill>
                        <a:latin typeface="Cambria Math" panose="02040503050406030204" pitchFamily="18" charset="0"/>
                        <a:ea typeface="Cambria Math" panose="02040503050406030204" pitchFamily="18" charset="0"/>
                      </a:rPr>
                      <m:t>÷</m:t>
                    </m:r>
                    <m:r>
                      <a:rPr lang="en-GB" sz="1200" b="0" i="0" smtClean="0">
                        <a:solidFill>
                          <a:schemeClr val="tx1"/>
                        </a:solidFill>
                        <a:latin typeface="Cambria Math" panose="02040503050406030204" pitchFamily="18" charset="0"/>
                        <a:ea typeface="Cambria Math" panose="02040503050406030204" pitchFamily="18" charset="0"/>
                      </a:rPr>
                      <m:t> </m:t>
                    </m:r>
                  </m:oMath>
                </a14:m>
                <a:r>
                  <a:rPr lang="en-GB" sz="1200">
                    <a:solidFill>
                      <a:schemeClr val="tx1"/>
                    </a:solidFill>
                  </a:rPr>
                  <a:t>17.8</a:t>
                </a:r>
              </a:p>
              <a:p>
                <a:endParaRPr lang="en-GB" sz="1200">
                  <a:solidFill>
                    <a:schemeClr val="tx1"/>
                  </a:solidFill>
                </a:endParaRPr>
              </a:p>
            </p:txBody>
          </p:sp>
        </mc:Choice>
        <mc:Fallback xmlns="">
          <p:sp>
            <p:nvSpPr>
              <p:cNvPr id="78" name="TextBox 77">
                <a:extLst>
                  <a:ext uri="{FF2B5EF4-FFF2-40B4-BE49-F238E27FC236}">
                    <a16:creationId xmlns:a16="http://schemas.microsoft.com/office/drawing/2014/main" id="{DE8BE1D7-6D42-E66A-9353-3D8F09FCA3F9}"/>
                  </a:ext>
                </a:extLst>
              </p:cNvPr>
              <p:cNvSpPr txBox="1">
                <a:spLocks noRot="1" noChangeAspect="1" noMove="1" noResize="1" noEditPoints="1" noAdjustHandles="1" noChangeArrowheads="1" noChangeShapeType="1" noTextEdit="1"/>
              </p:cNvSpPr>
              <p:nvPr/>
            </p:nvSpPr>
            <p:spPr>
              <a:xfrm>
                <a:off x="1811803" y="5948853"/>
                <a:ext cx="1157689" cy="461665"/>
              </a:xfrm>
              <a:prstGeom prst="rect">
                <a:avLst/>
              </a:prstGeom>
              <a:blipFill>
                <a:blip r:embed="rId11"/>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B1170A0B-73EC-DA18-1CB7-B4A81E08D1D3}"/>
                  </a:ext>
                </a:extLst>
              </p:cNvPr>
              <p:cNvSpPr txBox="1"/>
              <p:nvPr/>
            </p:nvSpPr>
            <p:spPr>
              <a:xfrm>
                <a:off x="3416500" y="5973366"/>
                <a:ext cx="1114408" cy="461665"/>
              </a:xfrm>
              <a:prstGeom prst="rect">
                <a:avLst/>
              </a:prstGeom>
              <a:noFill/>
            </p:spPr>
            <p:txBody>
              <a:bodyPr wrap="none" rtlCol="0">
                <a:spAutoFit/>
              </a:bodyPr>
              <a:lstStyle/>
              <a:p>
                <a:r>
                  <a:rPr lang="en-US" sz="1200">
                    <a:solidFill>
                      <a:schemeClr val="tx1"/>
                    </a:solidFill>
                  </a:rPr>
                  <a:t>i) 147.2 </a:t>
                </a:r>
                <a14:m>
                  <m:oMath xmlns:m="http://schemas.openxmlformats.org/officeDocument/2006/math">
                    <m:r>
                      <a:rPr lang="en-US" sz="1200" i="1">
                        <a:solidFill>
                          <a:schemeClr val="tx1"/>
                        </a:solidFill>
                        <a:latin typeface="Cambria Math" panose="02040503050406030204" pitchFamily="18" charset="0"/>
                        <a:ea typeface="Cambria Math" panose="02040503050406030204" pitchFamily="18" charset="0"/>
                      </a:rPr>
                      <m:t>÷</m:t>
                    </m:r>
                  </m:oMath>
                </a14:m>
                <a:r>
                  <a:rPr lang="en-US" sz="1200">
                    <a:solidFill>
                      <a:schemeClr val="tx1"/>
                    </a:solidFill>
                  </a:rPr>
                  <a:t> 9.76</a:t>
                </a:r>
                <a:endParaRPr lang="en-GB" sz="1200">
                  <a:solidFill>
                    <a:schemeClr val="tx1"/>
                  </a:solidFill>
                </a:endParaRPr>
              </a:p>
              <a:p>
                <a:endParaRPr lang="en-GB" sz="1200">
                  <a:solidFill>
                    <a:schemeClr val="tx1"/>
                  </a:solidFill>
                </a:endParaRPr>
              </a:p>
            </p:txBody>
          </p:sp>
        </mc:Choice>
        <mc:Fallback xmlns="">
          <p:sp>
            <p:nvSpPr>
              <p:cNvPr id="79" name="TextBox 78">
                <a:extLst>
                  <a:ext uri="{FF2B5EF4-FFF2-40B4-BE49-F238E27FC236}">
                    <a16:creationId xmlns:a16="http://schemas.microsoft.com/office/drawing/2014/main" id="{B1170A0B-73EC-DA18-1CB7-B4A81E08D1D3}"/>
                  </a:ext>
                </a:extLst>
              </p:cNvPr>
              <p:cNvSpPr txBox="1">
                <a:spLocks noRot="1" noChangeAspect="1" noMove="1" noResize="1" noEditPoints="1" noAdjustHandles="1" noChangeArrowheads="1" noChangeShapeType="1" noTextEdit="1"/>
              </p:cNvSpPr>
              <p:nvPr/>
            </p:nvSpPr>
            <p:spPr>
              <a:xfrm>
                <a:off x="3416500" y="5973366"/>
                <a:ext cx="1114408" cy="461665"/>
              </a:xfrm>
              <a:prstGeom prst="rect">
                <a:avLst/>
              </a:prstGeom>
              <a:blipFill>
                <a:blip r:embed="rId12"/>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7608C6CE-CEFB-E97A-3B78-5EDAD30C36A0}"/>
                  </a:ext>
                </a:extLst>
              </p:cNvPr>
              <p:cNvSpPr txBox="1"/>
              <p:nvPr/>
            </p:nvSpPr>
            <p:spPr>
              <a:xfrm>
                <a:off x="5081691" y="5995964"/>
                <a:ext cx="1116011" cy="461665"/>
              </a:xfrm>
              <a:prstGeom prst="rect">
                <a:avLst/>
              </a:prstGeom>
              <a:noFill/>
            </p:spPr>
            <p:txBody>
              <a:bodyPr wrap="none" rtlCol="0">
                <a:spAutoFit/>
              </a:bodyPr>
              <a:lstStyle/>
              <a:p>
                <a:r>
                  <a:rPr lang="en-US" sz="1200">
                    <a:solidFill>
                      <a:schemeClr val="tx1"/>
                    </a:solidFill>
                  </a:rPr>
                  <a:t>j) 134.9 </a:t>
                </a:r>
                <a14:m>
                  <m:oMath xmlns:m="http://schemas.openxmlformats.org/officeDocument/2006/math">
                    <m:r>
                      <a:rPr lang="en-US" sz="1200" i="1">
                        <a:solidFill>
                          <a:schemeClr val="tx1"/>
                        </a:solidFill>
                        <a:latin typeface="Cambria Math" panose="02040503050406030204" pitchFamily="18" charset="0"/>
                        <a:ea typeface="Cambria Math" panose="02040503050406030204" pitchFamily="18" charset="0"/>
                      </a:rPr>
                      <m:t>÷</m:t>
                    </m:r>
                  </m:oMath>
                </a14:m>
                <a:r>
                  <a:rPr lang="en-US" sz="1200">
                    <a:solidFill>
                      <a:schemeClr val="tx1"/>
                    </a:solidFill>
                  </a:rPr>
                  <a:t> 45.9</a:t>
                </a:r>
                <a:endParaRPr lang="en-GB" sz="1200">
                  <a:solidFill>
                    <a:schemeClr val="tx1"/>
                  </a:solidFill>
                </a:endParaRPr>
              </a:p>
              <a:p>
                <a:endParaRPr lang="en-GB" sz="1200">
                  <a:solidFill>
                    <a:schemeClr val="tx1"/>
                  </a:solidFill>
                </a:endParaRPr>
              </a:p>
            </p:txBody>
          </p:sp>
        </mc:Choice>
        <mc:Fallback xmlns="">
          <p:sp>
            <p:nvSpPr>
              <p:cNvPr id="80" name="TextBox 79">
                <a:extLst>
                  <a:ext uri="{FF2B5EF4-FFF2-40B4-BE49-F238E27FC236}">
                    <a16:creationId xmlns:a16="http://schemas.microsoft.com/office/drawing/2014/main" id="{7608C6CE-CEFB-E97A-3B78-5EDAD30C36A0}"/>
                  </a:ext>
                </a:extLst>
              </p:cNvPr>
              <p:cNvSpPr txBox="1">
                <a:spLocks noRot="1" noChangeAspect="1" noMove="1" noResize="1" noEditPoints="1" noAdjustHandles="1" noChangeArrowheads="1" noChangeShapeType="1" noTextEdit="1"/>
              </p:cNvSpPr>
              <p:nvPr/>
            </p:nvSpPr>
            <p:spPr>
              <a:xfrm>
                <a:off x="5081691" y="5995964"/>
                <a:ext cx="1116011" cy="461665"/>
              </a:xfrm>
              <a:prstGeom prst="rect">
                <a:avLst/>
              </a:prstGeom>
              <a:blipFill>
                <a:blip r:embed="rId13"/>
                <a:stretch>
                  <a:fillRect l="-546" t="-1333"/>
                </a:stretch>
              </a:blipFill>
            </p:spPr>
            <p:txBody>
              <a:bodyPr/>
              <a:lstStyle/>
              <a:p>
                <a:r>
                  <a:rPr lang="en-US">
                    <a:noFill/>
                  </a:rPr>
                  <a:t> </a:t>
                </a:r>
              </a:p>
            </p:txBody>
          </p:sp>
        </mc:Fallback>
      </mc:AlternateContent>
      <p:sp>
        <p:nvSpPr>
          <p:cNvPr id="81" name="Rectangle 80">
            <a:extLst>
              <a:ext uri="{FF2B5EF4-FFF2-40B4-BE49-F238E27FC236}">
                <a16:creationId xmlns:a16="http://schemas.microsoft.com/office/drawing/2014/main" id="{9258E64F-DFDA-923E-7F9E-3C874D347087}"/>
              </a:ext>
            </a:extLst>
          </p:cNvPr>
          <p:cNvSpPr/>
          <p:nvPr/>
        </p:nvSpPr>
        <p:spPr>
          <a:xfrm>
            <a:off x="268982" y="6269533"/>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Rectangle 81">
            <a:extLst>
              <a:ext uri="{FF2B5EF4-FFF2-40B4-BE49-F238E27FC236}">
                <a16:creationId xmlns:a16="http://schemas.microsoft.com/office/drawing/2014/main" id="{1BF5D5BC-3F13-58C4-A900-D48AB1A8C93A}"/>
              </a:ext>
            </a:extLst>
          </p:cNvPr>
          <p:cNvSpPr/>
          <p:nvPr/>
        </p:nvSpPr>
        <p:spPr>
          <a:xfrm>
            <a:off x="403411" y="8084772"/>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3" name="Rectangle 82">
            <a:extLst>
              <a:ext uri="{FF2B5EF4-FFF2-40B4-BE49-F238E27FC236}">
                <a16:creationId xmlns:a16="http://schemas.microsoft.com/office/drawing/2014/main" id="{C7D35077-F472-86CD-90F1-F4474065AEC0}"/>
              </a:ext>
            </a:extLst>
          </p:cNvPr>
          <p:cNvSpPr/>
          <p:nvPr/>
        </p:nvSpPr>
        <p:spPr>
          <a:xfrm>
            <a:off x="1892927" y="6269532"/>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Rectangle 83">
            <a:extLst>
              <a:ext uri="{FF2B5EF4-FFF2-40B4-BE49-F238E27FC236}">
                <a16:creationId xmlns:a16="http://schemas.microsoft.com/office/drawing/2014/main" id="{AF7EDEC4-458F-3A96-4471-AEA7013BA9E3}"/>
              </a:ext>
            </a:extLst>
          </p:cNvPr>
          <p:cNvSpPr/>
          <p:nvPr/>
        </p:nvSpPr>
        <p:spPr>
          <a:xfrm>
            <a:off x="3508246" y="6269531"/>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Rectangle 84">
            <a:extLst>
              <a:ext uri="{FF2B5EF4-FFF2-40B4-BE49-F238E27FC236}">
                <a16:creationId xmlns:a16="http://schemas.microsoft.com/office/drawing/2014/main" id="{2B6F08A6-BD28-B9F2-8453-25412D283DE4}"/>
              </a:ext>
            </a:extLst>
          </p:cNvPr>
          <p:cNvSpPr/>
          <p:nvPr/>
        </p:nvSpPr>
        <p:spPr>
          <a:xfrm>
            <a:off x="5123565" y="6269531"/>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Rectangle 85">
            <a:extLst>
              <a:ext uri="{FF2B5EF4-FFF2-40B4-BE49-F238E27FC236}">
                <a16:creationId xmlns:a16="http://schemas.microsoft.com/office/drawing/2014/main" id="{34649833-EFDB-3683-E04D-DEFEFF4A9843}"/>
              </a:ext>
            </a:extLst>
          </p:cNvPr>
          <p:cNvSpPr/>
          <p:nvPr/>
        </p:nvSpPr>
        <p:spPr>
          <a:xfrm>
            <a:off x="2032818" y="8084772"/>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7" name="Rectangle 86">
            <a:extLst>
              <a:ext uri="{FF2B5EF4-FFF2-40B4-BE49-F238E27FC236}">
                <a16:creationId xmlns:a16="http://schemas.microsoft.com/office/drawing/2014/main" id="{2B1CFF50-B0D3-4FA3-D2BE-1D673E6FA2F7}"/>
              </a:ext>
            </a:extLst>
          </p:cNvPr>
          <p:cNvSpPr/>
          <p:nvPr/>
        </p:nvSpPr>
        <p:spPr>
          <a:xfrm>
            <a:off x="3640761" y="808477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8" name="Rectangle 87">
            <a:extLst>
              <a:ext uri="{FF2B5EF4-FFF2-40B4-BE49-F238E27FC236}">
                <a16:creationId xmlns:a16="http://schemas.microsoft.com/office/drawing/2014/main" id="{BE48FC32-02FB-8F59-2B18-76CBD263B160}"/>
              </a:ext>
            </a:extLst>
          </p:cNvPr>
          <p:cNvSpPr/>
          <p:nvPr/>
        </p:nvSpPr>
        <p:spPr>
          <a:xfrm>
            <a:off x="5242537" y="808477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Tree>
    <p:extLst>
      <p:ext uri="{BB962C8B-B14F-4D97-AF65-F5344CB8AC3E}">
        <p14:creationId xmlns:p14="http://schemas.microsoft.com/office/powerpoint/2010/main" val="14765775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B4A988A4-03CD-D549-9F12-81AFECBDEF37}"/>
              </a:ext>
            </a:extLst>
          </p:cNvPr>
          <p:cNvCxnSpPr>
            <a:cxnSpLocks/>
          </p:cNvCxnSpPr>
          <p:nvPr/>
        </p:nvCxnSpPr>
        <p:spPr>
          <a:xfrm>
            <a:off x="955419" y="1744597"/>
            <a:ext cx="0" cy="0"/>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0" name="Table 29"/>
              <p:cNvGraphicFramePr>
                <a:graphicFrameLocks noGrp="1"/>
              </p:cNvGraphicFramePr>
              <p:nvPr/>
            </p:nvGraphicFramePr>
            <p:xfrm>
              <a:off x="157160" y="300225"/>
              <a:ext cx="6543680" cy="3077706"/>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24055">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618047">
                    <a:tc>
                      <a:txBody>
                        <a:bodyPr/>
                        <a:lstStyle/>
                        <a:p>
                          <a:pPr marL="0" indent="0">
                            <a:buNone/>
                          </a:pPr>
                          <a:r>
                            <a:rPr lang="en-US" sz="1100"/>
                            <a:t>1) Round the</a:t>
                          </a:r>
                          <a:r>
                            <a:rPr lang="en-US" sz="1100" baseline="0"/>
                            <a:t> numbers</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r>
                            <a:rPr lang="en-US" sz="1600" baseline="0">
                              <a:solidFill>
                                <a:schemeClr val="tx1"/>
                              </a:solidFill>
                            </a:rPr>
                            <a:t> </a:t>
                          </a:r>
                          <a14:m>
                            <m:oMath xmlns:m="http://schemas.openxmlformats.org/officeDocument/2006/math">
                              <m:f>
                                <m:fPr>
                                  <m:ctrlPr>
                                    <a:rPr lang="en-US" sz="1600" b="0" i="1" baseline="0" smtClean="0">
                                      <a:solidFill>
                                        <a:schemeClr val="tx1"/>
                                      </a:solidFill>
                                      <a:latin typeface="Cambria Math" panose="02040503050406030204" pitchFamily="18" charset="0"/>
                                    </a:rPr>
                                  </m:ctrlPr>
                                </m:fPr>
                                <m:num>
                                  <m:r>
                                    <a:rPr lang="en-US" sz="1600" b="0" i="1" baseline="0" smtClean="0">
                                      <a:solidFill>
                                        <a:schemeClr val="tx1"/>
                                      </a:solidFill>
                                      <a:latin typeface="Cambria Math" panose="02040503050406030204" pitchFamily="18" charset="0"/>
                                    </a:rPr>
                                    <m:t>5.4 </m:t>
                                  </m:r>
                                  <m:r>
                                    <a:rPr lang="en-US" sz="1600" b="0" i="1" baseline="0" smtClean="0">
                                      <a:solidFill>
                                        <a:schemeClr val="tx1"/>
                                      </a:solidFill>
                                      <a:latin typeface="Cambria Math" panose="02040503050406030204" pitchFamily="18" charset="0"/>
                                      <a:ea typeface="Cambria Math" panose="02040503050406030204" pitchFamily="18" charset="0"/>
                                    </a:rPr>
                                    <m:t>× 7.9</m:t>
                                  </m:r>
                                </m:num>
                                <m:den>
                                  <m:r>
                                    <a:rPr lang="en-US" sz="1600" b="0" i="1" baseline="0" smtClean="0">
                                      <a:solidFill>
                                        <a:schemeClr val="tx1"/>
                                      </a:solidFill>
                                      <a:latin typeface="Cambria Math" panose="02040503050406030204" pitchFamily="18" charset="0"/>
                                    </a:rPr>
                                    <m:t>2.1 </m:t>
                                  </m:r>
                                  <m:r>
                                    <a:rPr lang="en-US" sz="1600" b="0" i="1" baseline="0" smtClean="0">
                                      <a:solidFill>
                                        <a:schemeClr val="tx1"/>
                                      </a:solidFill>
                                      <a:latin typeface="Cambria Math" panose="02040503050406030204" pitchFamily="18" charset="0"/>
                                      <a:ea typeface="Cambria Math" panose="02040503050406030204" pitchFamily="18" charset="0"/>
                                    </a:rPr>
                                    <m:t>× 1.9</m:t>
                                  </m:r>
                                </m:den>
                              </m:f>
                            </m:oMath>
                          </a14:m>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r>
                            <a:rPr lang="en-US" sz="1600" baseline="0">
                              <a:solidFill>
                                <a:schemeClr val="tx1"/>
                              </a:solidFill>
                            </a:rPr>
                            <a:t> </a:t>
                          </a:r>
                          <a14:m>
                            <m:oMath xmlns:m="http://schemas.openxmlformats.org/officeDocument/2006/math">
                              <m:f>
                                <m:fPr>
                                  <m:ctrlPr>
                                    <a:rPr lang="en-US" sz="1600" b="0" i="1" baseline="0" smtClean="0">
                                      <a:solidFill>
                                        <a:schemeClr val="tx1"/>
                                      </a:solidFill>
                                      <a:latin typeface="Cambria Math" panose="02040503050406030204" pitchFamily="18" charset="0"/>
                                    </a:rPr>
                                  </m:ctrlPr>
                                </m:fPr>
                                <m:num>
                                  <m:r>
                                    <a:rPr lang="en-US" sz="1600" b="0" i="1" baseline="0" smtClean="0">
                                      <a:solidFill>
                                        <a:schemeClr val="tx1"/>
                                      </a:solidFill>
                                      <a:latin typeface="Cambria Math" panose="02040503050406030204" pitchFamily="18" charset="0"/>
                                    </a:rPr>
                                    <m:t>5.41 </m:t>
                                  </m:r>
                                  <m:r>
                                    <a:rPr lang="en-US" sz="1600" b="0" i="1" baseline="0" smtClean="0">
                                      <a:solidFill>
                                        <a:schemeClr val="tx1"/>
                                      </a:solidFill>
                                      <a:latin typeface="Cambria Math" panose="02040503050406030204" pitchFamily="18" charset="0"/>
                                      <a:ea typeface="Cambria Math" panose="02040503050406030204" pitchFamily="18" charset="0"/>
                                    </a:rPr>
                                    <m:t>× 9.9</m:t>
                                  </m:r>
                                </m:num>
                                <m:den>
                                  <m:r>
                                    <a:rPr lang="en-US" sz="1600" b="0" i="1" baseline="0" smtClean="0">
                                      <a:solidFill>
                                        <a:schemeClr val="tx1"/>
                                      </a:solidFill>
                                      <a:latin typeface="Cambria Math" panose="02040503050406030204" pitchFamily="18" charset="0"/>
                                      <a:ea typeface="Cambria Math" panose="02040503050406030204" pitchFamily="18" charset="0"/>
                                    </a:rPr>
                                    <m:t>1</m:t>
                                  </m:r>
                                  <m:r>
                                    <a:rPr lang="en-US" sz="1600" b="0" i="1" baseline="0" smtClean="0">
                                      <a:solidFill>
                                        <a:schemeClr val="tx1"/>
                                      </a:solidFill>
                                      <a:latin typeface="Cambria Math" panose="02040503050406030204" pitchFamily="18" charset="0"/>
                                    </a:rPr>
                                    <m:t>.1 </m:t>
                                  </m:r>
                                  <m:r>
                                    <a:rPr lang="en-US" sz="1600" b="0" i="1" baseline="0" smtClean="0">
                                      <a:solidFill>
                                        <a:schemeClr val="tx1"/>
                                      </a:solidFill>
                                      <a:latin typeface="Cambria Math" panose="02040503050406030204" pitchFamily="18" charset="0"/>
                                      <a:ea typeface="Cambria Math" panose="02040503050406030204" pitchFamily="18" charset="0"/>
                                    </a:rPr>
                                    <m:t>× 4.9</m:t>
                                  </m:r>
                                </m:den>
                              </m:f>
                            </m:oMath>
                          </a14:m>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r>
                            <a:rPr lang="en-US" sz="1600" baseline="0">
                              <a:solidFill>
                                <a:schemeClr val="tx1"/>
                              </a:solidFill>
                            </a:rPr>
                            <a:t> </a:t>
                          </a:r>
                          <a14:m>
                            <m:oMath xmlns:m="http://schemas.openxmlformats.org/officeDocument/2006/math">
                              <m:f>
                                <m:fPr>
                                  <m:ctrlPr>
                                    <a:rPr lang="en-US" sz="1600" b="0" i="1" baseline="0" smtClean="0">
                                      <a:solidFill>
                                        <a:schemeClr val="tx1"/>
                                      </a:solidFill>
                                      <a:latin typeface="Cambria Math" panose="02040503050406030204" pitchFamily="18" charset="0"/>
                                    </a:rPr>
                                  </m:ctrlPr>
                                </m:fPr>
                                <m:num>
                                  <m:r>
                                    <a:rPr lang="en-US" sz="1600" b="0" i="1" baseline="0" smtClean="0">
                                      <a:solidFill>
                                        <a:schemeClr val="tx1"/>
                                      </a:solidFill>
                                      <a:latin typeface="Cambria Math" panose="02040503050406030204" pitchFamily="18" charset="0"/>
                                    </a:rPr>
                                    <m:t>4.51</m:t>
                                  </m:r>
                                  <m:r>
                                    <a:rPr lang="en-US" sz="1600" b="0" i="1" baseline="0" smtClean="0">
                                      <a:solidFill>
                                        <a:schemeClr val="tx1"/>
                                      </a:solidFill>
                                      <a:latin typeface="Cambria Math" panose="02040503050406030204" pitchFamily="18" charset="0"/>
                                      <a:ea typeface="Cambria Math" panose="02040503050406030204" pitchFamily="18" charset="0"/>
                                    </a:rPr>
                                    <m:t>×7.9</m:t>
                                  </m:r>
                                </m:num>
                                <m:den>
                                  <m:r>
                                    <a:rPr lang="en-US" sz="1600" b="0" i="1" baseline="0" smtClean="0">
                                      <a:solidFill>
                                        <a:schemeClr val="tx1"/>
                                      </a:solidFill>
                                      <a:latin typeface="Cambria Math" panose="02040503050406030204" pitchFamily="18" charset="0"/>
                                      <a:ea typeface="Cambria Math" panose="02040503050406030204" pitchFamily="18" charset="0"/>
                                    </a:rPr>
                                    <m:t>1</m:t>
                                  </m:r>
                                  <m:r>
                                    <a:rPr lang="en-US" sz="1600" b="0" i="1" baseline="0" smtClean="0">
                                      <a:solidFill>
                                        <a:schemeClr val="tx1"/>
                                      </a:solidFill>
                                      <a:latin typeface="Cambria Math" panose="02040503050406030204" pitchFamily="18" charset="0"/>
                                    </a:rPr>
                                    <m:t>.9</m:t>
                                  </m:r>
                                  <m:r>
                                    <a:rPr lang="en-US" sz="1600" b="0" i="1" baseline="0" smtClean="0">
                                      <a:solidFill>
                                        <a:schemeClr val="tx1"/>
                                      </a:solidFill>
                                      <a:latin typeface="Cambria Math" panose="02040503050406030204" pitchFamily="18" charset="0"/>
                                      <a:ea typeface="Cambria Math" panose="02040503050406030204" pitchFamily="18" charset="0"/>
                                    </a:rPr>
                                    <m:t>×1.9</m:t>
                                  </m:r>
                                </m:den>
                              </m:f>
                            </m:oMath>
                          </a14:m>
                          <a:endParaRPr lang="en-US" sz="16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73176">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427403">
                    <a:tc>
                      <a:txBody>
                        <a:bodyPr/>
                        <a:lstStyle/>
                        <a:p>
                          <a:pPr marL="0" indent="0">
                            <a:buNone/>
                          </a:pPr>
                          <a:r>
                            <a:rPr lang="en-US" sz="1100"/>
                            <a:t>3)</a:t>
                          </a:r>
                          <a:r>
                            <a:rPr lang="en-US" sz="1100" baseline="0"/>
                            <a:t> Use the approximate symbol </a:t>
                          </a:r>
                          <a14:m>
                            <m:oMath xmlns:m="http://schemas.openxmlformats.org/officeDocument/2006/math">
                              <m:r>
                                <a:rPr lang="en-US" sz="1100" i="1" baseline="0" smtClean="0">
                                  <a:latin typeface="Cambria Math" panose="02040503050406030204" pitchFamily="18" charset="0"/>
                                  <a:ea typeface="Cambria Math" panose="02040503050406030204" pitchFamily="18" charset="0"/>
                                </a:rPr>
                                <m:t>≈</m:t>
                              </m:r>
                            </m:oMath>
                          </a14:m>
                          <a:r>
                            <a:rPr lang="en-US" sz="1100"/>
                            <a:t> to show your solution</a:t>
                          </a:r>
                          <a:r>
                            <a:rPr lang="en-US" sz="1100" baseline="0"/>
                            <a:t> is an estimate.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Choice>
        <mc:Fallback xmlns="">
          <p:graphicFrame>
            <p:nvGraphicFramePr>
              <p:cNvPr id="30" name="Table 29"/>
              <p:cNvGraphicFramePr>
                <a:graphicFrameLocks noGrp="1"/>
              </p:cNvGraphicFramePr>
              <p:nvPr>
                <p:extLst>
                  <p:ext uri="{D42A27DB-BD31-4B8C-83A1-F6EECF244321}">
                    <p14:modId xmlns:p14="http://schemas.microsoft.com/office/powerpoint/2010/main" val="2360973718"/>
                  </p:ext>
                </p:extLst>
              </p:nvPr>
            </p:nvGraphicFramePr>
            <p:xfrm>
              <a:off x="157160" y="300225"/>
              <a:ext cx="6543680" cy="3077706"/>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59080">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618047">
                    <a:tc>
                      <a:txBody>
                        <a:bodyPr/>
                        <a:lstStyle/>
                        <a:p>
                          <a:pPr marL="0" indent="0">
                            <a:buNone/>
                          </a:pPr>
                          <a:r>
                            <a:rPr lang="en-US" sz="1100"/>
                            <a:t>1) Round the</a:t>
                          </a:r>
                          <a:r>
                            <a:rPr lang="en-US" sz="1100" baseline="0"/>
                            <a:t> numbers</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5401" t="-9503" r="-220209" b="-432"/>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7654" t="-9503" r="-95062" b="-432"/>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1634" t="-9503" r="-654" b="-432"/>
                          </a:stretch>
                        </a:blipFill>
                      </a:tcPr>
                    </a:tc>
                    <a:extLst>
                      <a:ext uri="{0D108BD9-81ED-4DB2-BD59-A6C34878D82A}">
                        <a16:rowId xmlns:a16="http://schemas.microsoft.com/office/drawing/2014/main" val="3293625240"/>
                      </a:ext>
                    </a:extLst>
                  </a:tr>
                  <a:tr h="773176">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42740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33" t="-115745" r="-581646" b="-851"/>
                          </a:stretch>
                        </a:blip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Fallback>
      </mc:AlternateContent>
      <p:sp>
        <p:nvSpPr>
          <p:cNvPr id="31" name="TextBox 30">
            <a:extLst>
              <a:ext uri="{FF2B5EF4-FFF2-40B4-BE49-F238E27FC236}">
                <a16:creationId xmlns:a16="http://schemas.microsoft.com/office/drawing/2014/main" id="{BCDC1A2B-2D26-C945-B722-18950FA49879}"/>
              </a:ext>
            </a:extLst>
          </p:cNvPr>
          <p:cNvSpPr txBox="1"/>
          <p:nvPr/>
        </p:nvSpPr>
        <p:spPr>
          <a:xfrm>
            <a:off x="1358334" y="2254"/>
            <a:ext cx="1410704" cy="276999"/>
          </a:xfrm>
          <a:prstGeom prst="rect">
            <a:avLst/>
          </a:prstGeom>
          <a:noFill/>
          <a:ln>
            <a:noFill/>
          </a:ln>
        </p:spPr>
        <p:txBody>
          <a:bodyPr wrap="square" rtlCol="0">
            <a:spAutoFit/>
          </a:bodyPr>
          <a:lstStyle/>
          <a:p>
            <a:r>
              <a:rPr lang="en-GB" sz="1200" b="1" i="1">
                <a:solidFill>
                  <a:srgbClr val="FF0000"/>
                </a:solidFill>
              </a:rPr>
              <a:t>Example 10 - I do…</a:t>
            </a:r>
          </a:p>
        </p:txBody>
      </p:sp>
      <p:sp>
        <p:nvSpPr>
          <p:cNvPr id="32" name="TextBox 31">
            <a:extLst>
              <a:ext uri="{FF2B5EF4-FFF2-40B4-BE49-F238E27FC236}">
                <a16:creationId xmlns:a16="http://schemas.microsoft.com/office/drawing/2014/main" id="{4AF4150A-9218-D640-8777-2ECCBC4D10FB}"/>
              </a:ext>
            </a:extLst>
          </p:cNvPr>
          <p:cNvSpPr txBox="1"/>
          <p:nvPr/>
        </p:nvSpPr>
        <p:spPr>
          <a:xfrm>
            <a:off x="5006049" y="0"/>
            <a:ext cx="1643405" cy="276999"/>
          </a:xfrm>
          <a:prstGeom prst="rect">
            <a:avLst/>
          </a:prstGeom>
          <a:noFill/>
          <a:ln>
            <a:noFill/>
          </a:ln>
        </p:spPr>
        <p:txBody>
          <a:bodyPr wrap="square" rtlCol="0">
            <a:spAutoFit/>
          </a:bodyPr>
          <a:lstStyle/>
          <a:p>
            <a:r>
              <a:rPr lang="en-GB" sz="1200" b="1" i="1">
                <a:solidFill>
                  <a:srgbClr val="00B050"/>
                </a:solidFill>
              </a:rPr>
              <a:t>Example 12 – You do…</a:t>
            </a:r>
          </a:p>
        </p:txBody>
      </p:sp>
      <p:sp>
        <p:nvSpPr>
          <p:cNvPr id="33" name="TextBox 32">
            <a:extLst>
              <a:ext uri="{FF2B5EF4-FFF2-40B4-BE49-F238E27FC236}">
                <a16:creationId xmlns:a16="http://schemas.microsoft.com/office/drawing/2014/main" id="{BCDC1A2B-2D26-C945-B722-18950FA49879}"/>
              </a:ext>
            </a:extLst>
          </p:cNvPr>
          <p:cNvSpPr txBox="1"/>
          <p:nvPr/>
        </p:nvSpPr>
        <p:spPr>
          <a:xfrm>
            <a:off x="3086362" y="14787"/>
            <a:ext cx="1667605" cy="276999"/>
          </a:xfrm>
          <a:prstGeom prst="rect">
            <a:avLst/>
          </a:prstGeom>
          <a:noFill/>
          <a:ln>
            <a:noFill/>
          </a:ln>
        </p:spPr>
        <p:txBody>
          <a:bodyPr wrap="square" rtlCol="0">
            <a:spAutoFit/>
          </a:bodyPr>
          <a:lstStyle/>
          <a:p>
            <a:r>
              <a:rPr lang="en-GB" sz="1200" b="1" i="1">
                <a:solidFill>
                  <a:schemeClr val="accent2"/>
                </a:solidFill>
              </a:rPr>
              <a:t>Example 11 - We do…</a:t>
            </a:r>
          </a:p>
        </p:txBody>
      </p:sp>
      <p:sp>
        <p:nvSpPr>
          <p:cNvPr id="34" name="Rectangle 33">
            <a:extLst>
              <a:ext uri="{FF2B5EF4-FFF2-40B4-BE49-F238E27FC236}">
                <a16:creationId xmlns:a16="http://schemas.microsoft.com/office/drawing/2014/main" id="{CEEF23AD-EA17-135A-DB95-1D1FECB286F3}"/>
              </a:ext>
            </a:extLst>
          </p:cNvPr>
          <p:cNvSpPr/>
          <p:nvPr/>
        </p:nvSpPr>
        <p:spPr>
          <a:xfrm>
            <a:off x="1237338" y="2993363"/>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5" name="Rectangle 34">
            <a:extLst>
              <a:ext uri="{FF2B5EF4-FFF2-40B4-BE49-F238E27FC236}">
                <a16:creationId xmlns:a16="http://schemas.microsoft.com/office/drawing/2014/main" id="{CEEF23AD-EA17-135A-DB95-1D1FECB286F3}"/>
              </a:ext>
            </a:extLst>
          </p:cNvPr>
          <p:cNvSpPr/>
          <p:nvPr/>
        </p:nvSpPr>
        <p:spPr>
          <a:xfrm>
            <a:off x="3086362" y="2993362"/>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6" name="Rectangle 35">
            <a:extLst>
              <a:ext uri="{FF2B5EF4-FFF2-40B4-BE49-F238E27FC236}">
                <a16:creationId xmlns:a16="http://schemas.microsoft.com/office/drawing/2014/main" id="{CEEF23AD-EA17-135A-DB95-1D1FECB286F3}"/>
              </a:ext>
            </a:extLst>
          </p:cNvPr>
          <p:cNvSpPr/>
          <p:nvPr/>
        </p:nvSpPr>
        <p:spPr>
          <a:xfrm>
            <a:off x="4989521" y="2964814"/>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9"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35</a:t>
            </a:fld>
            <a:endParaRPr lang="en-GB"/>
          </a:p>
        </p:txBody>
      </p:sp>
      <p:sp>
        <p:nvSpPr>
          <p:cNvPr id="40" name="TextBox 39">
            <a:extLst>
              <a:ext uri="{FF2B5EF4-FFF2-40B4-BE49-F238E27FC236}">
                <a16:creationId xmlns:a16="http://schemas.microsoft.com/office/drawing/2014/main" id="{1408E701-401B-2EB6-0D6E-45659FD75D10}"/>
              </a:ext>
            </a:extLst>
          </p:cNvPr>
          <p:cNvSpPr txBox="1"/>
          <p:nvPr/>
        </p:nvSpPr>
        <p:spPr>
          <a:xfrm>
            <a:off x="1850735" y="3400675"/>
            <a:ext cx="3229922" cy="461665"/>
          </a:xfrm>
          <a:prstGeom prst="rect">
            <a:avLst/>
          </a:prstGeom>
          <a:noFill/>
        </p:spPr>
        <p:txBody>
          <a:bodyPr wrap="none" rtlCol="0">
            <a:spAutoFit/>
          </a:bodyPr>
          <a:lstStyle/>
          <a:p>
            <a:pPr algn="ctr"/>
            <a:r>
              <a:rPr lang="en-US" sz="1200"/>
              <a:t>4. Estimate the answer to each by rounding each</a:t>
            </a:r>
          </a:p>
          <a:p>
            <a:pPr algn="ctr"/>
            <a:r>
              <a:rPr lang="en-US" sz="1200"/>
              <a:t>number to one significant figure.</a:t>
            </a:r>
            <a:endParaRPr lang="en-GB" sz="120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E6C4643-88DF-AA67-77E0-F1604CC21903}"/>
                  </a:ext>
                </a:extLst>
              </p:cNvPr>
              <p:cNvSpPr txBox="1"/>
              <p:nvPr/>
            </p:nvSpPr>
            <p:spPr>
              <a:xfrm>
                <a:off x="131602" y="3865673"/>
                <a:ext cx="729687" cy="356188"/>
              </a:xfrm>
              <a:prstGeom prst="rect">
                <a:avLst/>
              </a:prstGeom>
              <a:noFill/>
            </p:spPr>
            <p:txBody>
              <a:bodyPr wrap="none" rtlCol="0">
                <a:spAutoFit/>
              </a:bodyPr>
              <a:lstStyle/>
              <a:p>
                <a:r>
                  <a:rPr lang="en-US" sz="1200"/>
                  <a:t>a)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m:t>
                        </m:r>
                        <m:r>
                          <a:rPr lang="en-US" sz="1200" i="1">
                            <a:latin typeface="Cambria Math" panose="02040503050406030204" pitchFamily="18" charset="0"/>
                          </a:rPr>
                          <m:t>.</m:t>
                        </m:r>
                        <m:r>
                          <a:rPr lang="en-US" sz="1200" b="0" i="1" smtClean="0">
                            <a:latin typeface="Cambria Math" panose="02040503050406030204" pitchFamily="18" charset="0"/>
                          </a:rPr>
                          <m:t>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15</m:t>
                        </m:r>
                      </m:num>
                      <m:den>
                        <m:r>
                          <a:rPr lang="en-US" sz="1200" b="0" i="1" smtClean="0">
                            <a:latin typeface="Cambria Math" panose="02040503050406030204" pitchFamily="18" charset="0"/>
                            <a:ea typeface="Cambria Math" panose="02040503050406030204" pitchFamily="18" charset="0"/>
                          </a:rPr>
                          <m:t>10.5</m:t>
                        </m:r>
                      </m:den>
                    </m:f>
                  </m:oMath>
                </a14:m>
                <a:endParaRPr lang="en-GB" sz="1200"/>
              </a:p>
            </p:txBody>
          </p:sp>
        </mc:Choice>
        <mc:Fallback xmlns="">
          <p:sp>
            <p:nvSpPr>
              <p:cNvPr id="41" name="TextBox 40">
                <a:extLst>
                  <a:ext uri="{FF2B5EF4-FFF2-40B4-BE49-F238E27FC236}">
                    <a16:creationId xmlns:a16="http://schemas.microsoft.com/office/drawing/2014/main" id="{5E6C4643-88DF-AA67-77E0-F1604CC21903}"/>
                  </a:ext>
                </a:extLst>
              </p:cNvPr>
              <p:cNvSpPr txBox="1">
                <a:spLocks noRot="1" noChangeAspect="1" noMove="1" noResize="1" noEditPoints="1" noAdjustHandles="1" noChangeArrowheads="1" noChangeShapeType="1" noTextEdit="1"/>
              </p:cNvSpPr>
              <p:nvPr/>
            </p:nvSpPr>
            <p:spPr>
              <a:xfrm>
                <a:off x="131602" y="3865673"/>
                <a:ext cx="729687" cy="356188"/>
              </a:xfrm>
              <a:prstGeom prst="rect">
                <a:avLst/>
              </a:prstGeom>
              <a:blipFill>
                <a:blip r:embed="rId3"/>
                <a:stretch>
                  <a:fillRect l="-840"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99AED352-0F9C-5B78-F741-99340280B76E}"/>
                  </a:ext>
                </a:extLst>
              </p:cNvPr>
              <p:cNvSpPr txBox="1"/>
              <p:nvPr/>
            </p:nvSpPr>
            <p:spPr>
              <a:xfrm>
                <a:off x="1729887" y="3884939"/>
                <a:ext cx="736099" cy="356188"/>
              </a:xfrm>
              <a:prstGeom prst="rect">
                <a:avLst/>
              </a:prstGeom>
              <a:noFill/>
            </p:spPr>
            <p:txBody>
              <a:bodyPr wrap="none" rtlCol="0">
                <a:spAutoFit/>
              </a:bodyPr>
              <a:lstStyle/>
              <a:p>
                <a:r>
                  <a:rPr lang="en-US" sz="1200"/>
                  <a:t>b)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m:t>
                        </m:r>
                        <m:r>
                          <a:rPr lang="en-US" sz="1200" i="1">
                            <a:latin typeface="Cambria Math" panose="02040503050406030204" pitchFamily="18" charset="0"/>
                          </a:rPr>
                          <m:t>.</m:t>
                        </m:r>
                        <m:r>
                          <a:rPr lang="en-US" sz="1200" b="0" i="1" smtClean="0">
                            <a:latin typeface="Cambria Math" panose="02040503050406030204" pitchFamily="18" charset="0"/>
                          </a:rPr>
                          <m:t>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15</m:t>
                        </m:r>
                      </m:num>
                      <m:den>
                        <m:r>
                          <a:rPr lang="en-US" sz="1200" b="0" i="1" smtClean="0">
                            <a:latin typeface="Cambria Math" panose="02040503050406030204" pitchFamily="18" charset="0"/>
                            <a:ea typeface="Cambria Math" panose="02040503050406030204" pitchFamily="18" charset="0"/>
                          </a:rPr>
                          <m:t>15</m:t>
                        </m:r>
                        <m:r>
                          <a:rPr lang="en-US" sz="1200" i="1">
                            <a:latin typeface="Cambria Math" panose="02040503050406030204" pitchFamily="18" charset="0"/>
                          </a:rPr>
                          <m:t>.</m:t>
                        </m:r>
                        <m:r>
                          <a:rPr lang="en-US" sz="1200" b="0" i="1" smtClean="0">
                            <a:latin typeface="Cambria Math" panose="02040503050406030204" pitchFamily="18" charset="0"/>
                          </a:rPr>
                          <m:t>5</m:t>
                        </m:r>
                      </m:den>
                    </m:f>
                  </m:oMath>
                </a14:m>
                <a:endParaRPr lang="en-GB" sz="1200"/>
              </a:p>
            </p:txBody>
          </p:sp>
        </mc:Choice>
        <mc:Fallback xmlns="">
          <p:sp>
            <p:nvSpPr>
              <p:cNvPr id="42" name="TextBox 41">
                <a:extLst>
                  <a:ext uri="{FF2B5EF4-FFF2-40B4-BE49-F238E27FC236}">
                    <a16:creationId xmlns:a16="http://schemas.microsoft.com/office/drawing/2014/main" id="{99AED352-0F9C-5B78-F741-99340280B76E}"/>
                  </a:ext>
                </a:extLst>
              </p:cNvPr>
              <p:cNvSpPr txBox="1">
                <a:spLocks noRot="1" noChangeAspect="1" noMove="1" noResize="1" noEditPoints="1" noAdjustHandles="1" noChangeArrowheads="1" noChangeShapeType="1" noTextEdit="1"/>
              </p:cNvSpPr>
              <p:nvPr/>
            </p:nvSpPr>
            <p:spPr>
              <a:xfrm>
                <a:off x="1729887" y="3884939"/>
                <a:ext cx="736099" cy="356188"/>
              </a:xfrm>
              <a:prstGeom prst="rect">
                <a:avLst/>
              </a:prstGeom>
              <a:blipFill>
                <a:blip r:embed="rId4"/>
                <a:stretch>
                  <a:fillRect l="-826"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10C3F79-7D20-C2F1-0CF8-36166DAAB098}"/>
                  </a:ext>
                </a:extLst>
              </p:cNvPr>
              <p:cNvSpPr txBox="1"/>
              <p:nvPr/>
            </p:nvSpPr>
            <p:spPr>
              <a:xfrm>
                <a:off x="3334584" y="3909452"/>
                <a:ext cx="764953" cy="357085"/>
              </a:xfrm>
              <a:prstGeom prst="rect">
                <a:avLst/>
              </a:prstGeom>
              <a:noFill/>
            </p:spPr>
            <p:txBody>
              <a:bodyPr wrap="none" rtlCol="0">
                <a:spAutoFit/>
              </a:bodyPr>
              <a:lstStyle/>
              <a:p>
                <a:r>
                  <a:rPr lang="en-US" sz="1200"/>
                  <a:t>c)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m:t>
                        </m:r>
                        <m:r>
                          <a:rPr lang="en-US" sz="1200" i="1">
                            <a:latin typeface="Cambria Math" panose="02040503050406030204" pitchFamily="18" charset="0"/>
                          </a:rPr>
                          <m:t>.</m:t>
                        </m:r>
                        <m:r>
                          <a:rPr lang="en-US" sz="1200" b="0" i="1" smtClean="0">
                            <a:latin typeface="Cambria Math" panose="02040503050406030204" pitchFamily="18" charset="0"/>
                          </a:rPr>
                          <m:t>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3</m:t>
                        </m:r>
                      </m:num>
                      <m:den>
                        <m:r>
                          <a:rPr lang="en-US" sz="1200" i="1">
                            <a:latin typeface="Cambria Math" panose="02040503050406030204" pitchFamily="18" charset="0"/>
                          </a:rPr>
                          <m:t>2.</m:t>
                        </m:r>
                        <m:r>
                          <a:rPr lang="en-US" sz="1200" b="0" i="1" smtClean="0">
                            <a:latin typeface="Cambria Math" panose="02040503050406030204" pitchFamily="18" charset="0"/>
                          </a:rPr>
                          <m:t>3</m:t>
                        </m:r>
                      </m:den>
                    </m:f>
                  </m:oMath>
                </a14:m>
                <a:endParaRPr lang="en-GB" sz="1200"/>
              </a:p>
            </p:txBody>
          </p:sp>
        </mc:Choice>
        <mc:Fallback xmlns="">
          <p:sp>
            <p:nvSpPr>
              <p:cNvPr id="43" name="TextBox 42">
                <a:extLst>
                  <a:ext uri="{FF2B5EF4-FFF2-40B4-BE49-F238E27FC236}">
                    <a16:creationId xmlns:a16="http://schemas.microsoft.com/office/drawing/2014/main" id="{810C3F79-7D20-C2F1-0CF8-36166DAAB098}"/>
                  </a:ext>
                </a:extLst>
              </p:cNvPr>
              <p:cNvSpPr txBox="1">
                <a:spLocks noRot="1" noChangeAspect="1" noMove="1" noResize="1" noEditPoints="1" noAdjustHandles="1" noChangeArrowheads="1" noChangeShapeType="1" noTextEdit="1"/>
              </p:cNvSpPr>
              <p:nvPr/>
            </p:nvSpPr>
            <p:spPr>
              <a:xfrm>
                <a:off x="3334584" y="3909452"/>
                <a:ext cx="764953" cy="357085"/>
              </a:xfrm>
              <a:prstGeom prst="rect">
                <a:avLst/>
              </a:prstGeom>
              <a:blipFill>
                <a:blip r:embed="rId5"/>
                <a:stretch>
                  <a:fillRect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05C005F-027C-1789-56DE-44A59DBE4502}"/>
                  </a:ext>
                </a:extLst>
              </p:cNvPr>
              <p:cNvSpPr txBox="1"/>
              <p:nvPr/>
            </p:nvSpPr>
            <p:spPr>
              <a:xfrm>
                <a:off x="4999775" y="3932050"/>
                <a:ext cx="737702" cy="353558"/>
              </a:xfrm>
              <a:prstGeom prst="rect">
                <a:avLst/>
              </a:prstGeom>
              <a:noFill/>
            </p:spPr>
            <p:txBody>
              <a:bodyPr wrap="none" rtlCol="0">
                <a:spAutoFit/>
              </a:bodyPr>
              <a:lstStyle/>
              <a:p>
                <a:r>
                  <a:rPr lang="en-US" sz="1200"/>
                  <a:t>d)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23</m:t>
                        </m:r>
                      </m:num>
                      <m:den>
                        <m:r>
                          <a:rPr lang="en-US" sz="1200" b="0" i="1" smtClean="0">
                            <a:latin typeface="Cambria Math" panose="02040503050406030204" pitchFamily="18" charset="0"/>
                            <a:ea typeface="Cambria Math" panose="02040503050406030204" pitchFamily="18" charset="0"/>
                          </a:rPr>
                          <m:t>23</m:t>
                        </m:r>
                      </m:den>
                    </m:f>
                  </m:oMath>
                </a14:m>
                <a:endParaRPr lang="en-GB" sz="1200"/>
              </a:p>
            </p:txBody>
          </p:sp>
        </mc:Choice>
        <mc:Fallback xmlns="">
          <p:sp>
            <p:nvSpPr>
              <p:cNvPr id="44" name="TextBox 43">
                <a:extLst>
                  <a:ext uri="{FF2B5EF4-FFF2-40B4-BE49-F238E27FC236}">
                    <a16:creationId xmlns:a16="http://schemas.microsoft.com/office/drawing/2014/main" id="{E05C005F-027C-1789-56DE-44A59DBE4502}"/>
                  </a:ext>
                </a:extLst>
              </p:cNvPr>
              <p:cNvSpPr txBox="1">
                <a:spLocks noRot="1" noChangeAspect="1" noMove="1" noResize="1" noEditPoints="1" noAdjustHandles="1" noChangeArrowheads="1" noChangeShapeType="1" noTextEdit="1"/>
              </p:cNvSpPr>
              <p:nvPr/>
            </p:nvSpPr>
            <p:spPr>
              <a:xfrm>
                <a:off x="4999775" y="3932050"/>
                <a:ext cx="737702" cy="353558"/>
              </a:xfrm>
              <a:prstGeom prst="rect">
                <a:avLst/>
              </a:prstGeom>
              <a:blipFill>
                <a:blip r:embed="rId6"/>
                <a:stretch>
                  <a:fillRect b="-3448"/>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A42F9B35-21B6-CC31-8577-C23EF3CD8BDA}"/>
              </a:ext>
            </a:extLst>
          </p:cNvPr>
          <p:cNvSpPr/>
          <p:nvPr/>
        </p:nvSpPr>
        <p:spPr>
          <a:xfrm>
            <a:off x="151466" y="4368829"/>
            <a:ext cx="1532685" cy="22448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a:extLst>
              <a:ext uri="{FF2B5EF4-FFF2-40B4-BE49-F238E27FC236}">
                <a16:creationId xmlns:a16="http://schemas.microsoft.com/office/drawing/2014/main" id="{5F182950-BC27-CDEB-AE11-87A67199AD37}"/>
              </a:ext>
            </a:extLst>
          </p:cNvPr>
          <p:cNvSpPr/>
          <p:nvPr/>
        </p:nvSpPr>
        <p:spPr>
          <a:xfrm>
            <a:off x="274752" y="6267949"/>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7" name="Rectangle 46">
            <a:extLst>
              <a:ext uri="{FF2B5EF4-FFF2-40B4-BE49-F238E27FC236}">
                <a16:creationId xmlns:a16="http://schemas.microsoft.com/office/drawing/2014/main" id="{B32F8646-0BC3-AD33-0495-9C1EAE264A19}"/>
              </a:ext>
            </a:extLst>
          </p:cNvPr>
          <p:cNvSpPr/>
          <p:nvPr/>
        </p:nvSpPr>
        <p:spPr>
          <a:xfrm>
            <a:off x="1775411" y="4368827"/>
            <a:ext cx="1532685" cy="22448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B1ECCBF3-A731-8962-0CF7-2805CBBA8979}"/>
              </a:ext>
            </a:extLst>
          </p:cNvPr>
          <p:cNvSpPr/>
          <p:nvPr/>
        </p:nvSpPr>
        <p:spPr>
          <a:xfrm>
            <a:off x="3390730" y="4368826"/>
            <a:ext cx="1532685" cy="22448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44A04AFB-8695-8923-1F4F-ED88F88B0109}"/>
              </a:ext>
            </a:extLst>
          </p:cNvPr>
          <p:cNvSpPr/>
          <p:nvPr/>
        </p:nvSpPr>
        <p:spPr>
          <a:xfrm>
            <a:off x="5006049" y="4368826"/>
            <a:ext cx="1532685" cy="22448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80DB2A7E-0850-4808-656C-8D65F823F93C}"/>
              </a:ext>
            </a:extLst>
          </p:cNvPr>
          <p:cNvSpPr/>
          <p:nvPr/>
        </p:nvSpPr>
        <p:spPr>
          <a:xfrm>
            <a:off x="1890070" y="6246902"/>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1" name="Rectangle 50">
            <a:extLst>
              <a:ext uri="{FF2B5EF4-FFF2-40B4-BE49-F238E27FC236}">
                <a16:creationId xmlns:a16="http://schemas.microsoft.com/office/drawing/2014/main" id="{96913E7D-64FF-682B-A4AB-633968106CC3}"/>
              </a:ext>
            </a:extLst>
          </p:cNvPr>
          <p:cNvSpPr/>
          <p:nvPr/>
        </p:nvSpPr>
        <p:spPr>
          <a:xfrm>
            <a:off x="3509702" y="6256289"/>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2" name="Rectangle 51">
            <a:extLst>
              <a:ext uri="{FF2B5EF4-FFF2-40B4-BE49-F238E27FC236}">
                <a16:creationId xmlns:a16="http://schemas.microsoft.com/office/drawing/2014/main" id="{E226F5C0-38A2-B21B-5D90-8417CE9BF109}"/>
              </a:ext>
            </a:extLst>
          </p:cNvPr>
          <p:cNvSpPr/>
          <p:nvPr/>
        </p:nvSpPr>
        <p:spPr>
          <a:xfrm>
            <a:off x="5125021" y="6227094"/>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00301AB2-A5CF-BC51-C754-55A31D6B3365}"/>
                  </a:ext>
                </a:extLst>
              </p:cNvPr>
              <p:cNvSpPr txBox="1"/>
              <p:nvPr/>
            </p:nvSpPr>
            <p:spPr>
              <a:xfrm>
                <a:off x="306720" y="6819084"/>
                <a:ext cx="752129" cy="539122"/>
              </a:xfrm>
              <a:prstGeom prst="rect">
                <a:avLst/>
              </a:prstGeom>
              <a:noFill/>
            </p:spPr>
            <p:txBody>
              <a:bodyPr wrap="none" rtlCol="0">
                <a:spAutoFit/>
              </a:bodyPr>
              <a:lstStyle/>
              <a:p>
                <a:r>
                  <a:rPr lang="en-US" sz="1200"/>
                  <a:t>e)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23</m:t>
                        </m:r>
                      </m:num>
                      <m:den>
                        <m:r>
                          <a:rPr lang="en-US" sz="1200" i="1">
                            <a:latin typeface="Cambria Math" panose="02040503050406030204" pitchFamily="18" charset="0"/>
                          </a:rPr>
                          <m:t>2.</m:t>
                        </m:r>
                        <m:r>
                          <a:rPr lang="en-US" sz="1200" b="0" i="1" smtClean="0">
                            <a:latin typeface="Cambria Math" panose="02040503050406030204" pitchFamily="18" charset="0"/>
                          </a:rPr>
                          <m:t>3</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8</m:t>
                        </m:r>
                      </m:den>
                    </m:f>
                  </m:oMath>
                </a14:m>
                <a:endParaRPr lang="en-GB" sz="1200"/>
              </a:p>
              <a:p>
                <a:endParaRPr lang="en-GB" sz="1200"/>
              </a:p>
            </p:txBody>
          </p:sp>
        </mc:Choice>
        <mc:Fallback xmlns="">
          <p:sp>
            <p:nvSpPr>
              <p:cNvPr id="53" name="TextBox 52">
                <a:extLst>
                  <a:ext uri="{FF2B5EF4-FFF2-40B4-BE49-F238E27FC236}">
                    <a16:creationId xmlns:a16="http://schemas.microsoft.com/office/drawing/2014/main" id="{00301AB2-A5CF-BC51-C754-55A31D6B3365}"/>
                  </a:ext>
                </a:extLst>
              </p:cNvPr>
              <p:cNvSpPr txBox="1">
                <a:spLocks noRot="1" noChangeAspect="1" noMove="1" noResize="1" noEditPoints="1" noAdjustHandles="1" noChangeArrowheads="1" noChangeShapeType="1" noTextEdit="1"/>
              </p:cNvSpPr>
              <p:nvPr/>
            </p:nvSpPr>
            <p:spPr>
              <a:xfrm>
                <a:off x="306720" y="6819084"/>
                <a:ext cx="752129" cy="53912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88AFE37D-733C-450F-4F18-F0C5478A89FF}"/>
                  </a:ext>
                </a:extLst>
              </p:cNvPr>
              <p:cNvSpPr txBox="1"/>
              <p:nvPr/>
            </p:nvSpPr>
            <p:spPr>
              <a:xfrm>
                <a:off x="1905005" y="6838350"/>
                <a:ext cx="858568" cy="354777"/>
              </a:xfrm>
              <a:prstGeom prst="rect">
                <a:avLst/>
              </a:prstGeom>
              <a:noFill/>
            </p:spPr>
            <p:txBody>
              <a:bodyPr wrap="none" rtlCol="0">
                <a:spAutoFit/>
              </a:bodyPr>
              <a:lstStyle/>
              <a:p>
                <a:r>
                  <a:rPr lang="en-US" sz="1200"/>
                  <a:t>f)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23</m:t>
                        </m:r>
                      </m:num>
                      <m:den>
                        <m:r>
                          <a:rPr lang="en-US" sz="1200" i="1">
                            <a:latin typeface="Cambria Math" panose="02040503050406030204" pitchFamily="18" charset="0"/>
                          </a:rPr>
                          <m:t>2.</m:t>
                        </m:r>
                        <m:r>
                          <a:rPr lang="en-US" sz="1200" b="0" i="1" smtClean="0">
                            <a:latin typeface="Cambria Math" panose="02040503050406030204" pitchFamily="18" charset="0"/>
                          </a:rPr>
                          <m:t>35</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87</m:t>
                        </m:r>
                      </m:den>
                    </m:f>
                  </m:oMath>
                </a14:m>
                <a:endParaRPr lang="en-GB" sz="1200"/>
              </a:p>
            </p:txBody>
          </p:sp>
        </mc:Choice>
        <mc:Fallback xmlns="">
          <p:sp>
            <p:nvSpPr>
              <p:cNvPr id="54" name="TextBox 53">
                <a:extLst>
                  <a:ext uri="{FF2B5EF4-FFF2-40B4-BE49-F238E27FC236}">
                    <a16:creationId xmlns:a16="http://schemas.microsoft.com/office/drawing/2014/main" id="{88AFE37D-733C-450F-4F18-F0C5478A89FF}"/>
                  </a:ext>
                </a:extLst>
              </p:cNvPr>
              <p:cNvSpPr txBox="1">
                <a:spLocks noRot="1" noChangeAspect="1" noMove="1" noResize="1" noEditPoints="1" noAdjustHandles="1" noChangeArrowheads="1" noChangeShapeType="1" noTextEdit="1"/>
              </p:cNvSpPr>
              <p:nvPr/>
            </p:nvSpPr>
            <p:spPr>
              <a:xfrm>
                <a:off x="1905005" y="6838350"/>
                <a:ext cx="858568" cy="354777"/>
              </a:xfrm>
              <a:prstGeom prst="rect">
                <a:avLst/>
              </a:prstGeom>
              <a:blipFill>
                <a:blip r:embed="rId8"/>
                <a:stretch>
                  <a:fillRect l="-714"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8638D75-4DE9-893E-83E8-096A4AE3254C}"/>
                  </a:ext>
                </a:extLst>
              </p:cNvPr>
              <p:cNvSpPr txBox="1"/>
              <p:nvPr/>
            </p:nvSpPr>
            <p:spPr>
              <a:xfrm>
                <a:off x="3509702" y="6862863"/>
                <a:ext cx="881973" cy="354777"/>
              </a:xfrm>
              <a:prstGeom prst="rect">
                <a:avLst/>
              </a:prstGeom>
              <a:noFill/>
            </p:spPr>
            <p:txBody>
              <a:bodyPr wrap="none" rtlCol="0">
                <a:spAutoFit/>
              </a:bodyPr>
              <a:lstStyle/>
              <a:p>
                <a:r>
                  <a:rPr lang="en-US" sz="1200"/>
                  <a:t>g)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23</m:t>
                        </m:r>
                      </m:num>
                      <m:den>
                        <m:r>
                          <a:rPr lang="en-US" sz="1200" i="1">
                            <a:latin typeface="Cambria Math" panose="02040503050406030204" pitchFamily="18" charset="0"/>
                          </a:rPr>
                          <m:t>2</m:t>
                        </m:r>
                        <m:r>
                          <a:rPr lang="en-US" sz="1200" b="0" i="1" smtClean="0">
                            <a:latin typeface="Cambria Math" panose="02040503050406030204" pitchFamily="18" charset="0"/>
                          </a:rPr>
                          <m:t>3.5</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87</m:t>
                        </m:r>
                      </m:den>
                    </m:f>
                  </m:oMath>
                </a14:m>
                <a:endParaRPr lang="en-GB" sz="1200"/>
              </a:p>
            </p:txBody>
          </p:sp>
        </mc:Choice>
        <mc:Fallback xmlns="">
          <p:sp>
            <p:nvSpPr>
              <p:cNvPr id="55" name="TextBox 54">
                <a:extLst>
                  <a:ext uri="{FF2B5EF4-FFF2-40B4-BE49-F238E27FC236}">
                    <a16:creationId xmlns:a16="http://schemas.microsoft.com/office/drawing/2014/main" id="{B8638D75-4DE9-893E-83E8-096A4AE3254C}"/>
                  </a:ext>
                </a:extLst>
              </p:cNvPr>
              <p:cNvSpPr txBox="1">
                <a:spLocks noRot="1" noChangeAspect="1" noMove="1" noResize="1" noEditPoints="1" noAdjustHandles="1" noChangeArrowheads="1" noChangeShapeType="1" noTextEdit="1"/>
              </p:cNvSpPr>
              <p:nvPr/>
            </p:nvSpPr>
            <p:spPr>
              <a:xfrm>
                <a:off x="3509702" y="6862863"/>
                <a:ext cx="881973" cy="354777"/>
              </a:xfrm>
              <a:prstGeom prst="rect">
                <a:avLst/>
              </a:prstGeom>
              <a:blipFill>
                <a:blip r:embed="rId9"/>
                <a:stretch>
                  <a:fillRect l="-694"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5A65D09-D736-15A6-1391-778A3840BC9A}"/>
                  </a:ext>
                </a:extLst>
              </p:cNvPr>
              <p:cNvSpPr txBox="1"/>
              <p:nvPr/>
            </p:nvSpPr>
            <p:spPr>
              <a:xfrm>
                <a:off x="5174893" y="6885461"/>
                <a:ext cx="889987" cy="354777"/>
              </a:xfrm>
              <a:prstGeom prst="rect">
                <a:avLst/>
              </a:prstGeom>
              <a:noFill/>
            </p:spPr>
            <p:txBody>
              <a:bodyPr wrap="none" rtlCol="0">
                <a:spAutoFit/>
              </a:bodyPr>
              <a:lstStyle/>
              <a:p>
                <a:r>
                  <a:rPr lang="en-US" sz="1200"/>
                  <a:t>h)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2</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3</m:t>
                        </m:r>
                      </m:num>
                      <m:den>
                        <m:r>
                          <a:rPr lang="en-US" sz="1200" i="1">
                            <a:latin typeface="Cambria Math" panose="02040503050406030204" pitchFamily="18" charset="0"/>
                          </a:rPr>
                          <m:t>2.</m:t>
                        </m:r>
                        <m:r>
                          <a:rPr lang="en-US" sz="1200" b="0" i="1" smtClean="0">
                            <a:latin typeface="Cambria Math" panose="02040503050406030204" pitchFamily="18" charset="0"/>
                          </a:rPr>
                          <m:t>35</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87</m:t>
                        </m:r>
                      </m:den>
                    </m:f>
                  </m:oMath>
                </a14:m>
                <a:endParaRPr lang="en-GB" sz="1200"/>
              </a:p>
            </p:txBody>
          </p:sp>
        </mc:Choice>
        <mc:Fallback xmlns="">
          <p:sp>
            <p:nvSpPr>
              <p:cNvPr id="56" name="TextBox 55">
                <a:extLst>
                  <a:ext uri="{FF2B5EF4-FFF2-40B4-BE49-F238E27FC236}">
                    <a16:creationId xmlns:a16="http://schemas.microsoft.com/office/drawing/2014/main" id="{F5A65D09-D736-15A6-1391-778A3840BC9A}"/>
                  </a:ext>
                </a:extLst>
              </p:cNvPr>
              <p:cNvSpPr txBox="1">
                <a:spLocks noRot="1" noChangeAspect="1" noMove="1" noResize="1" noEditPoints="1" noAdjustHandles="1" noChangeArrowheads="1" noChangeShapeType="1" noTextEdit="1"/>
              </p:cNvSpPr>
              <p:nvPr/>
            </p:nvSpPr>
            <p:spPr>
              <a:xfrm>
                <a:off x="5174893" y="6885461"/>
                <a:ext cx="889987" cy="354777"/>
              </a:xfrm>
              <a:prstGeom prst="rect">
                <a:avLst/>
              </a:prstGeom>
              <a:blipFill>
                <a:blip r:embed="rId10"/>
                <a:stretch>
                  <a:fillRect l="-685" b="-3448"/>
                </a:stretch>
              </a:blipFill>
            </p:spPr>
            <p:txBody>
              <a:bodyPr/>
              <a:lstStyle/>
              <a:p>
                <a:r>
                  <a:rPr lang="en-US">
                    <a:noFill/>
                  </a:rPr>
                  <a:t> </a:t>
                </a:r>
              </a:p>
            </p:txBody>
          </p:sp>
        </mc:Fallback>
      </mc:AlternateContent>
      <p:sp>
        <p:nvSpPr>
          <p:cNvPr id="65" name="Rectangle 64">
            <a:extLst>
              <a:ext uri="{FF2B5EF4-FFF2-40B4-BE49-F238E27FC236}">
                <a16:creationId xmlns:a16="http://schemas.microsoft.com/office/drawing/2014/main" id="{7E9FCE55-2085-35D8-309B-0C564C7817CC}"/>
              </a:ext>
            </a:extLst>
          </p:cNvPr>
          <p:cNvSpPr/>
          <p:nvPr/>
        </p:nvSpPr>
        <p:spPr>
          <a:xfrm>
            <a:off x="151466" y="7315261"/>
            <a:ext cx="1532685" cy="22448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tangle 65">
            <a:extLst>
              <a:ext uri="{FF2B5EF4-FFF2-40B4-BE49-F238E27FC236}">
                <a16:creationId xmlns:a16="http://schemas.microsoft.com/office/drawing/2014/main" id="{E9CED385-BEE5-41FE-3F4E-AFFD3BA6E535}"/>
              </a:ext>
            </a:extLst>
          </p:cNvPr>
          <p:cNvSpPr/>
          <p:nvPr/>
        </p:nvSpPr>
        <p:spPr>
          <a:xfrm>
            <a:off x="274752" y="921438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360A20EC-71F3-52A7-828F-1794760A6433}"/>
              </a:ext>
            </a:extLst>
          </p:cNvPr>
          <p:cNvSpPr/>
          <p:nvPr/>
        </p:nvSpPr>
        <p:spPr>
          <a:xfrm>
            <a:off x="1775411" y="7315259"/>
            <a:ext cx="1532685" cy="22448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Rectangle 67">
            <a:extLst>
              <a:ext uri="{FF2B5EF4-FFF2-40B4-BE49-F238E27FC236}">
                <a16:creationId xmlns:a16="http://schemas.microsoft.com/office/drawing/2014/main" id="{87A9924A-13CF-9482-BF11-DC5E6C80F5A2}"/>
              </a:ext>
            </a:extLst>
          </p:cNvPr>
          <p:cNvSpPr/>
          <p:nvPr/>
        </p:nvSpPr>
        <p:spPr>
          <a:xfrm>
            <a:off x="3390730" y="7315258"/>
            <a:ext cx="1532685" cy="22448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Rectangle 68">
            <a:extLst>
              <a:ext uri="{FF2B5EF4-FFF2-40B4-BE49-F238E27FC236}">
                <a16:creationId xmlns:a16="http://schemas.microsoft.com/office/drawing/2014/main" id="{9E4476AA-F6D1-91C7-C8BF-77ACFE2990C2}"/>
              </a:ext>
            </a:extLst>
          </p:cNvPr>
          <p:cNvSpPr/>
          <p:nvPr/>
        </p:nvSpPr>
        <p:spPr>
          <a:xfrm>
            <a:off x="5006049" y="7315258"/>
            <a:ext cx="1532685" cy="22448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Rectangle 69">
            <a:extLst>
              <a:ext uri="{FF2B5EF4-FFF2-40B4-BE49-F238E27FC236}">
                <a16:creationId xmlns:a16="http://schemas.microsoft.com/office/drawing/2014/main" id="{24243C4F-3AEE-62C3-378C-409498567A96}"/>
              </a:ext>
            </a:extLst>
          </p:cNvPr>
          <p:cNvSpPr/>
          <p:nvPr/>
        </p:nvSpPr>
        <p:spPr>
          <a:xfrm>
            <a:off x="1890070" y="9193334"/>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1" name="Rectangle 70">
            <a:extLst>
              <a:ext uri="{FF2B5EF4-FFF2-40B4-BE49-F238E27FC236}">
                <a16:creationId xmlns:a16="http://schemas.microsoft.com/office/drawing/2014/main" id="{E081944A-2930-10CB-EF41-00F2BD6E1588}"/>
              </a:ext>
            </a:extLst>
          </p:cNvPr>
          <p:cNvSpPr/>
          <p:nvPr/>
        </p:nvSpPr>
        <p:spPr>
          <a:xfrm>
            <a:off x="3509702" y="920272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2" name="Rectangle 71">
            <a:extLst>
              <a:ext uri="{FF2B5EF4-FFF2-40B4-BE49-F238E27FC236}">
                <a16:creationId xmlns:a16="http://schemas.microsoft.com/office/drawing/2014/main" id="{31F83BB3-6B3E-E0F5-9261-5F84B3C4BA7E}"/>
              </a:ext>
            </a:extLst>
          </p:cNvPr>
          <p:cNvSpPr/>
          <p:nvPr/>
        </p:nvSpPr>
        <p:spPr>
          <a:xfrm>
            <a:off x="5125021" y="9173526"/>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 name="Rectangle 1">
            <a:extLst>
              <a:ext uri="{FF2B5EF4-FFF2-40B4-BE49-F238E27FC236}">
                <a16:creationId xmlns:a16="http://schemas.microsoft.com/office/drawing/2014/main" id="{1670FD0C-F9E7-3B65-E066-767CE9043474}"/>
              </a:ext>
            </a:extLst>
          </p:cNvPr>
          <p:cNvSpPr/>
          <p:nvPr/>
        </p:nvSpPr>
        <p:spPr>
          <a:xfrm>
            <a:off x="151466" y="3447358"/>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154089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B4A988A4-03CD-D549-9F12-81AFECBDEF37}"/>
              </a:ext>
            </a:extLst>
          </p:cNvPr>
          <p:cNvCxnSpPr>
            <a:cxnSpLocks/>
          </p:cNvCxnSpPr>
          <p:nvPr/>
        </p:nvCxnSpPr>
        <p:spPr>
          <a:xfrm>
            <a:off x="1031172" y="1715606"/>
            <a:ext cx="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CDC1A2B-2D26-C945-B722-18950FA49879}"/>
              </a:ext>
            </a:extLst>
          </p:cNvPr>
          <p:cNvSpPr txBox="1"/>
          <p:nvPr/>
        </p:nvSpPr>
        <p:spPr>
          <a:xfrm>
            <a:off x="1938240" y="11978"/>
            <a:ext cx="1410704" cy="276999"/>
          </a:xfrm>
          <a:prstGeom prst="rect">
            <a:avLst/>
          </a:prstGeom>
          <a:noFill/>
          <a:ln>
            <a:noFill/>
          </a:ln>
        </p:spPr>
        <p:txBody>
          <a:bodyPr wrap="square" rtlCol="0">
            <a:spAutoFit/>
          </a:bodyPr>
          <a:lstStyle/>
          <a:p>
            <a:r>
              <a:rPr lang="en-GB" sz="1200" b="1" i="1">
                <a:solidFill>
                  <a:srgbClr val="FF0000"/>
                </a:solidFill>
              </a:rPr>
              <a:t>Example 13 - I do…</a:t>
            </a:r>
          </a:p>
        </p:txBody>
      </p:sp>
      <p:sp>
        <p:nvSpPr>
          <p:cNvPr id="5" name="TextBox 4">
            <a:extLst>
              <a:ext uri="{FF2B5EF4-FFF2-40B4-BE49-F238E27FC236}">
                <a16:creationId xmlns:a16="http://schemas.microsoft.com/office/drawing/2014/main" id="{4AF4150A-9218-D640-8777-2ECCBC4D10FB}"/>
              </a:ext>
            </a:extLst>
          </p:cNvPr>
          <p:cNvSpPr txBox="1"/>
          <p:nvPr/>
        </p:nvSpPr>
        <p:spPr>
          <a:xfrm>
            <a:off x="5140369" y="0"/>
            <a:ext cx="1643405" cy="276999"/>
          </a:xfrm>
          <a:prstGeom prst="rect">
            <a:avLst/>
          </a:prstGeom>
          <a:noFill/>
          <a:ln>
            <a:noFill/>
          </a:ln>
        </p:spPr>
        <p:txBody>
          <a:bodyPr wrap="square" rtlCol="0">
            <a:spAutoFit/>
          </a:bodyPr>
          <a:lstStyle/>
          <a:p>
            <a:r>
              <a:rPr lang="en-GB" sz="1200" b="1" i="1">
                <a:solidFill>
                  <a:srgbClr val="00B050"/>
                </a:solidFill>
              </a:rPr>
              <a:t>Example 15 – You do…</a:t>
            </a:r>
          </a:p>
        </p:txBody>
      </p:sp>
      <p:sp>
        <p:nvSpPr>
          <p:cNvPr id="6" name="TextBox 5">
            <a:extLst>
              <a:ext uri="{FF2B5EF4-FFF2-40B4-BE49-F238E27FC236}">
                <a16:creationId xmlns:a16="http://schemas.microsoft.com/office/drawing/2014/main" id="{BCDC1A2B-2D26-C945-B722-18950FA49879}"/>
              </a:ext>
            </a:extLst>
          </p:cNvPr>
          <p:cNvSpPr txBox="1"/>
          <p:nvPr/>
        </p:nvSpPr>
        <p:spPr>
          <a:xfrm>
            <a:off x="3472764" y="13627"/>
            <a:ext cx="1667605" cy="276999"/>
          </a:xfrm>
          <a:prstGeom prst="rect">
            <a:avLst/>
          </a:prstGeom>
          <a:noFill/>
          <a:ln>
            <a:noFill/>
          </a:ln>
        </p:spPr>
        <p:txBody>
          <a:bodyPr wrap="square" rtlCol="0">
            <a:spAutoFit/>
          </a:bodyPr>
          <a:lstStyle/>
          <a:p>
            <a:r>
              <a:rPr lang="en-GB" sz="1200" b="1" i="1">
                <a:solidFill>
                  <a:schemeClr val="accent2"/>
                </a:solidFill>
              </a:rPr>
              <a:t>Example 14 - We do…</a:t>
            </a:r>
          </a:p>
        </p:txBody>
      </p:sp>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nvGraphicFramePr>
            <p:xfrm>
              <a:off x="181527" y="346351"/>
              <a:ext cx="6543680" cy="2680495"/>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12605">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r>
                            <a:rPr lang="en-US" sz="1200">
                              <a:solidFill>
                                <a:schemeClr val="tx1"/>
                              </a:solidFill>
                            </a:rPr>
                            <a:t>Estimation</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37333186"/>
                      </a:ext>
                    </a:extLst>
                  </a:tr>
                  <a:tr h="50869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1) List the square numbers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r>
                            <a:rPr lang="en-US" sz="1600" baseline="0">
                              <a:solidFill>
                                <a:schemeClr val="tx1"/>
                              </a:solidFill>
                            </a:rPr>
                            <a:t> </a:t>
                          </a:r>
                          <a14:m>
                            <m:oMath xmlns:m="http://schemas.openxmlformats.org/officeDocument/2006/math">
                              <m:rad>
                                <m:radPr>
                                  <m:degHide m:val="on"/>
                                  <m:ctrlPr>
                                    <a:rPr lang="en-US" sz="1600" b="0" i="1" baseline="0" smtClean="0">
                                      <a:solidFill>
                                        <a:schemeClr val="tx1"/>
                                      </a:solidFill>
                                      <a:latin typeface="Cambria Math" panose="02040503050406030204" pitchFamily="18" charset="0"/>
                                      <a:ea typeface="Cambria Math" panose="02040503050406030204" pitchFamily="18" charset="0"/>
                                    </a:rPr>
                                  </m:ctrlPr>
                                </m:radPr>
                                <m:deg/>
                                <m:e>
                                  <m:r>
                                    <a:rPr lang="en-US" sz="1600" b="0" i="1" baseline="0" smtClean="0">
                                      <a:solidFill>
                                        <a:schemeClr val="tx1"/>
                                      </a:solidFill>
                                      <a:latin typeface="Cambria Math" panose="02040503050406030204" pitchFamily="18" charset="0"/>
                                      <a:ea typeface="Cambria Math" panose="02040503050406030204" pitchFamily="18" charset="0"/>
                                    </a:rPr>
                                    <m:t>4.1</m:t>
                                  </m:r>
                                </m:e>
                              </m:rad>
                            </m:oMath>
                          </a14:m>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14:m>
                            <m:oMath xmlns:m="http://schemas.openxmlformats.org/officeDocument/2006/math">
                              <m:rad>
                                <m:radPr>
                                  <m:degHide m:val="on"/>
                                  <m:ctrlPr>
                                    <a:rPr lang="en-US" sz="1600" i="1" baseline="0" smtClean="0">
                                      <a:solidFill>
                                        <a:schemeClr val="tx1"/>
                                      </a:solidFill>
                                      <a:latin typeface="Cambria Math" panose="02040503050406030204" pitchFamily="18" charset="0"/>
                                      <a:ea typeface="Cambria Math" panose="02040503050406030204" pitchFamily="18" charset="0"/>
                                    </a:rPr>
                                  </m:ctrlPr>
                                </m:radPr>
                                <m:deg/>
                                <m:e>
                                  <m:r>
                                    <a:rPr lang="en-US" sz="1600" b="0" i="1" baseline="0" smtClean="0">
                                      <a:solidFill>
                                        <a:schemeClr val="tx1"/>
                                      </a:solidFill>
                                      <a:latin typeface="Cambria Math" panose="02040503050406030204" pitchFamily="18" charset="0"/>
                                      <a:ea typeface="Cambria Math" panose="02040503050406030204" pitchFamily="18" charset="0"/>
                                    </a:rPr>
                                    <m:t>8.9</m:t>
                                  </m:r>
                                </m:e>
                              </m:rad>
                            </m:oMath>
                          </a14:m>
                          <a:r>
                            <a:rPr lang="en-US" sz="1600" baseline="0">
                              <a:solidFill>
                                <a:schemeClr val="tx1"/>
                              </a:solidFill>
                              <a:latin typeface="Cambria Math" panose="02040503050406030204" pitchFamily="18" charset="0"/>
                              <a:ea typeface="Cambria Math" panose="02040503050406030204" pitchFamily="18" charset="0"/>
                            </a:rPr>
                            <a:t> </a:t>
                          </a:r>
                          <a:endParaRPr lang="en-US" sz="1200">
                            <a:solidFill>
                              <a:schemeClr val="tx1"/>
                            </a:solidFill>
                          </a:endParaRPr>
                        </a:p>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r>
                            <a:rPr lang="en-US" sz="1600" baseline="0">
                              <a:solidFill>
                                <a:schemeClr val="tx1"/>
                              </a:solidFill>
                            </a:rPr>
                            <a:t> </a:t>
                          </a:r>
                          <a14:m>
                            <m:oMath xmlns:m="http://schemas.openxmlformats.org/officeDocument/2006/math">
                              <m:rad>
                                <m:radPr>
                                  <m:degHide m:val="on"/>
                                  <m:ctrlPr>
                                    <a:rPr lang="en-US" sz="1600" b="0" i="1" baseline="0" smtClean="0">
                                      <a:solidFill>
                                        <a:schemeClr val="tx1"/>
                                      </a:solidFill>
                                      <a:latin typeface="Cambria Math" panose="02040503050406030204" pitchFamily="18" charset="0"/>
                                      <a:ea typeface="Cambria Math" panose="02040503050406030204" pitchFamily="18" charset="0"/>
                                    </a:rPr>
                                  </m:ctrlPr>
                                </m:radPr>
                                <m:deg/>
                                <m:e>
                                  <m:r>
                                    <a:rPr lang="en-US" sz="1600" b="0" i="1" baseline="0" smtClean="0">
                                      <a:solidFill>
                                        <a:schemeClr val="tx1"/>
                                      </a:solidFill>
                                      <a:latin typeface="Cambria Math" panose="02040503050406030204" pitchFamily="18" charset="0"/>
                                      <a:ea typeface="Cambria Math" panose="02040503050406030204" pitchFamily="18" charset="0"/>
                                    </a:rPr>
                                    <m:t>15.9</m:t>
                                  </m:r>
                                </m:e>
                              </m:rad>
                            </m:oMath>
                          </a14:m>
                          <a:endParaRPr lang="en-US" sz="1600">
                            <a:solidFill>
                              <a:schemeClr val="tx1"/>
                            </a:solidFill>
                          </a:endParaRPr>
                        </a:p>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4806297"/>
                      </a:ext>
                    </a:extLst>
                  </a:tr>
                  <a:tr h="50869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2) Round to the closest square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111911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3)</a:t>
                          </a:r>
                          <a:r>
                            <a:rPr lang="en-US" sz="1200" baseline="0">
                              <a:solidFill>
                                <a:schemeClr val="tx1"/>
                              </a:solidFill>
                            </a:rPr>
                            <a:t> Perform the calculation</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1223070440"/>
                  </p:ext>
                </p:extLst>
              </p:nvPr>
            </p:nvGraphicFramePr>
            <p:xfrm>
              <a:off x="181527" y="346351"/>
              <a:ext cx="6543680" cy="2680495"/>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12605">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r>
                            <a:rPr lang="en-US" sz="1200">
                              <a:solidFill>
                                <a:schemeClr val="tx1"/>
                              </a:solidFill>
                            </a:rPr>
                            <a:t>Estimation</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37333186"/>
                      </a:ext>
                    </a:extLst>
                  </a:tr>
                  <a:tr h="50869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1) List the square numbers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6645" t="-18499" r="-177961" b="-536"/>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98889" t="-18499" r="-100370" b="-536"/>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000" t="-18499" r="-743" b="-536"/>
                          </a:stretch>
                        </a:blipFill>
                      </a:tcPr>
                    </a:tc>
                    <a:extLst>
                      <a:ext uri="{0D108BD9-81ED-4DB2-BD59-A6C34878D82A}">
                        <a16:rowId xmlns:a16="http://schemas.microsoft.com/office/drawing/2014/main" val="2524806297"/>
                      </a:ext>
                    </a:extLst>
                  </a:tr>
                  <a:tr h="6400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2) Round to the closest square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111911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3)</a:t>
                          </a:r>
                          <a:r>
                            <a:rPr lang="en-US" sz="1200" baseline="0">
                              <a:solidFill>
                                <a:schemeClr val="tx1"/>
                              </a:solidFill>
                            </a:rPr>
                            <a:t> Perform the calculation</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Fallback>
      </mc:AlternateContent>
      <p:sp>
        <p:nvSpPr>
          <p:cNvPr id="12" name="Rectangle 11">
            <a:extLst>
              <a:ext uri="{FF2B5EF4-FFF2-40B4-BE49-F238E27FC236}">
                <a16:creationId xmlns:a16="http://schemas.microsoft.com/office/drawing/2014/main" id="{CEEF23AD-EA17-135A-DB95-1D1FECB286F3}"/>
              </a:ext>
            </a:extLst>
          </p:cNvPr>
          <p:cNvSpPr/>
          <p:nvPr/>
        </p:nvSpPr>
        <p:spPr>
          <a:xfrm>
            <a:off x="1938240" y="2464076"/>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 name="Rectangle 12">
            <a:extLst>
              <a:ext uri="{FF2B5EF4-FFF2-40B4-BE49-F238E27FC236}">
                <a16:creationId xmlns:a16="http://schemas.microsoft.com/office/drawing/2014/main" id="{CEEF23AD-EA17-135A-DB95-1D1FECB286F3}"/>
              </a:ext>
            </a:extLst>
          </p:cNvPr>
          <p:cNvSpPr/>
          <p:nvPr/>
        </p:nvSpPr>
        <p:spPr>
          <a:xfrm>
            <a:off x="3639799" y="2464075"/>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 name="Rectangle 13">
            <a:extLst>
              <a:ext uri="{FF2B5EF4-FFF2-40B4-BE49-F238E27FC236}">
                <a16:creationId xmlns:a16="http://schemas.microsoft.com/office/drawing/2014/main" id="{CEEF23AD-EA17-135A-DB95-1D1FECB286F3}"/>
              </a:ext>
            </a:extLst>
          </p:cNvPr>
          <p:cNvSpPr/>
          <p:nvPr/>
        </p:nvSpPr>
        <p:spPr>
          <a:xfrm>
            <a:off x="5295304" y="2464075"/>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7" name="TextBox 16"/>
          <p:cNvSpPr txBox="1"/>
          <p:nvPr/>
        </p:nvSpPr>
        <p:spPr>
          <a:xfrm>
            <a:off x="2000927" y="2999890"/>
            <a:ext cx="3229922" cy="461665"/>
          </a:xfrm>
          <a:prstGeom prst="rect">
            <a:avLst/>
          </a:prstGeom>
          <a:noFill/>
        </p:spPr>
        <p:txBody>
          <a:bodyPr wrap="none" rtlCol="0">
            <a:spAutoFit/>
          </a:bodyPr>
          <a:lstStyle/>
          <a:p>
            <a:pPr algn="ctr"/>
            <a:r>
              <a:rPr lang="en-US" sz="1200"/>
              <a:t>5. Estimate the answer to each by rounding each</a:t>
            </a:r>
          </a:p>
          <a:p>
            <a:pPr algn="ctr"/>
            <a:r>
              <a:rPr lang="en-US" sz="1200"/>
              <a:t>number to the nearest integer</a:t>
            </a:r>
            <a:endParaRPr lang="en-GB" sz="1200"/>
          </a:p>
        </p:txBody>
      </p:sp>
      <mc:AlternateContent xmlns:mc="http://schemas.openxmlformats.org/markup-compatibility/2006" xmlns:a14="http://schemas.microsoft.com/office/drawing/2010/main">
        <mc:Choice Requires="a14">
          <p:sp>
            <p:nvSpPr>
              <p:cNvPr id="18" name="TextBox 17"/>
              <p:cNvSpPr txBox="1"/>
              <p:nvPr/>
            </p:nvSpPr>
            <p:spPr>
              <a:xfrm>
                <a:off x="289407" y="3461558"/>
                <a:ext cx="643189" cy="294376"/>
              </a:xfrm>
              <a:prstGeom prst="rect">
                <a:avLst/>
              </a:prstGeom>
              <a:noFill/>
            </p:spPr>
            <p:txBody>
              <a:bodyPr wrap="none" rtlCol="0">
                <a:spAutoFit/>
              </a:bodyPr>
              <a:lstStyle/>
              <a:p>
                <a:r>
                  <a:rPr lang="en-US" sz="1200"/>
                  <a:t>a) </a:t>
                </a:r>
                <a14:m>
                  <m:oMath xmlns:m="http://schemas.openxmlformats.org/officeDocument/2006/math">
                    <m:rad>
                      <m:radPr>
                        <m:degHide m:val="on"/>
                        <m:ctrlPr>
                          <a:rPr lang="en-US" sz="1200" b="0" i="1" dirty="0" smtClean="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0.9</m:t>
                        </m:r>
                      </m:e>
                    </m:rad>
                  </m:oMath>
                </a14:m>
                <a:endParaRPr lang="en-GB" sz="1200"/>
              </a:p>
            </p:txBody>
          </p:sp>
        </mc:Choice>
        <mc:Fallback xmlns="">
          <p:sp>
            <p:nvSpPr>
              <p:cNvPr id="18" name="TextBox 17"/>
              <p:cNvSpPr txBox="1">
                <a:spLocks noRot="1" noChangeAspect="1" noMove="1" noResize="1" noEditPoints="1" noAdjustHandles="1" noChangeArrowheads="1" noChangeShapeType="1" noTextEdit="1"/>
              </p:cNvSpPr>
              <p:nvPr/>
            </p:nvSpPr>
            <p:spPr>
              <a:xfrm>
                <a:off x="289407" y="3461558"/>
                <a:ext cx="643189" cy="294376"/>
              </a:xfrm>
              <a:prstGeom prst="rect">
                <a:avLst/>
              </a:prstGeom>
              <a:blipFill>
                <a:blip r:embed="rId3"/>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595434" y="3461556"/>
                <a:ext cx="649601" cy="295017"/>
              </a:xfrm>
              <a:prstGeom prst="rect">
                <a:avLst/>
              </a:prstGeom>
              <a:noFill/>
            </p:spPr>
            <p:txBody>
              <a:bodyPr wrap="none" rtlCol="0">
                <a:spAutoFit/>
              </a:bodyPr>
              <a:lstStyle/>
              <a:p>
                <a:r>
                  <a:rPr lang="en-US" sz="1200"/>
                  <a:t>b)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1</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1</m:t>
                        </m:r>
                      </m:e>
                    </m:rad>
                  </m:oMath>
                </a14:m>
                <a:endParaRPr lang="en-GB" sz="1200"/>
              </a:p>
            </p:txBody>
          </p:sp>
        </mc:Choice>
        <mc:Fallback xmlns="">
          <p:sp>
            <p:nvSpPr>
              <p:cNvPr id="19" name="TextBox 18"/>
              <p:cNvSpPr txBox="1">
                <a:spLocks noRot="1" noChangeAspect="1" noMove="1" noResize="1" noEditPoints="1" noAdjustHandles="1" noChangeArrowheads="1" noChangeShapeType="1" noTextEdit="1"/>
              </p:cNvSpPr>
              <p:nvPr/>
            </p:nvSpPr>
            <p:spPr>
              <a:xfrm>
                <a:off x="1595434" y="3461556"/>
                <a:ext cx="649601" cy="295017"/>
              </a:xfrm>
              <a:prstGeom prst="rect">
                <a:avLst/>
              </a:prstGeom>
              <a:blipFill>
                <a:blip r:embed="rId4"/>
                <a:stretch>
                  <a:fillRect l="-943"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2898550" y="3461556"/>
                <a:ext cx="635174" cy="294376"/>
              </a:xfrm>
              <a:prstGeom prst="rect">
                <a:avLst/>
              </a:prstGeom>
              <a:noFill/>
            </p:spPr>
            <p:txBody>
              <a:bodyPr wrap="none" rtlCol="0">
                <a:spAutoFit/>
              </a:bodyPr>
              <a:lstStyle/>
              <a:p>
                <a:r>
                  <a:rPr lang="en-US" sz="1200"/>
                  <a:t>c)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3</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8</m:t>
                        </m:r>
                      </m:e>
                    </m:rad>
                  </m:oMath>
                </a14:m>
                <a:endParaRPr lang="en-GB" sz="1200"/>
              </a:p>
            </p:txBody>
          </p:sp>
        </mc:Choice>
        <mc:Fallback xmlns="">
          <p:sp>
            <p:nvSpPr>
              <p:cNvPr id="20" name="TextBox 19"/>
              <p:cNvSpPr txBox="1">
                <a:spLocks noRot="1" noChangeAspect="1" noMove="1" noResize="1" noEditPoints="1" noAdjustHandles="1" noChangeArrowheads="1" noChangeShapeType="1" noTextEdit="1"/>
              </p:cNvSpPr>
              <p:nvPr/>
            </p:nvSpPr>
            <p:spPr>
              <a:xfrm>
                <a:off x="2898550" y="3461556"/>
                <a:ext cx="635174" cy="294376"/>
              </a:xfrm>
              <a:prstGeom prst="rect">
                <a:avLst/>
              </a:prstGeom>
              <a:blipFill>
                <a:blip r:embed="rId5"/>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4217305" y="3461555"/>
                <a:ext cx="649601" cy="294696"/>
              </a:xfrm>
              <a:prstGeom prst="rect">
                <a:avLst/>
              </a:prstGeom>
              <a:noFill/>
            </p:spPr>
            <p:txBody>
              <a:bodyPr wrap="none" rtlCol="0">
                <a:spAutoFit/>
              </a:bodyPr>
              <a:lstStyle/>
              <a:p>
                <a:r>
                  <a:rPr lang="en-US" sz="1200"/>
                  <a:t>d)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4</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4</m:t>
                        </m:r>
                      </m:e>
                    </m:rad>
                  </m:oMath>
                </a14:m>
                <a:endParaRPr lang="en-GB" sz="1200"/>
              </a:p>
            </p:txBody>
          </p:sp>
        </mc:Choice>
        <mc:Fallback xmlns="">
          <p:sp>
            <p:nvSpPr>
              <p:cNvPr id="21" name="TextBox 20"/>
              <p:cNvSpPr txBox="1">
                <a:spLocks noRot="1" noChangeAspect="1" noMove="1" noResize="1" noEditPoints="1" noAdjustHandles="1" noChangeArrowheads="1" noChangeShapeType="1" noTextEdit="1"/>
              </p:cNvSpPr>
              <p:nvPr/>
            </p:nvSpPr>
            <p:spPr>
              <a:xfrm>
                <a:off x="4217305" y="3461555"/>
                <a:ext cx="649601" cy="294696"/>
              </a:xfrm>
              <a:prstGeom prst="rect">
                <a:avLst/>
              </a:prstGeom>
              <a:blipFill>
                <a:blip r:embed="rId6"/>
                <a:stretch>
                  <a:fillRect l="-943"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5514177" y="3461555"/>
                <a:ext cx="646395" cy="294376"/>
              </a:xfrm>
              <a:prstGeom prst="rect">
                <a:avLst/>
              </a:prstGeom>
              <a:noFill/>
            </p:spPr>
            <p:txBody>
              <a:bodyPr wrap="none" rtlCol="0">
                <a:spAutoFit/>
              </a:bodyPr>
              <a:lstStyle/>
              <a:p>
                <a:r>
                  <a:rPr lang="en-US" sz="1200"/>
                  <a:t>e)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9</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2</m:t>
                        </m:r>
                      </m:e>
                    </m:rad>
                  </m:oMath>
                </a14:m>
                <a:endParaRPr lang="en-GB" sz="1200"/>
              </a:p>
            </p:txBody>
          </p:sp>
        </mc:Choice>
        <mc:Fallback xmlns="">
          <p:sp>
            <p:nvSpPr>
              <p:cNvPr id="22" name="TextBox 21"/>
              <p:cNvSpPr txBox="1">
                <a:spLocks noRot="1" noChangeAspect="1" noMove="1" noResize="1" noEditPoints="1" noAdjustHandles="1" noChangeArrowheads="1" noChangeShapeType="1" noTextEdit="1"/>
              </p:cNvSpPr>
              <p:nvPr/>
            </p:nvSpPr>
            <p:spPr>
              <a:xfrm>
                <a:off x="5514177" y="3461555"/>
                <a:ext cx="646395" cy="294376"/>
              </a:xfrm>
              <a:prstGeom prst="rect">
                <a:avLst/>
              </a:prstGeom>
              <a:blipFill>
                <a:blip r:embed="rId7"/>
                <a:stretch>
                  <a:fillRect l="-943" b="-16667"/>
                </a:stretch>
              </a:blipFill>
            </p:spPr>
            <p:txBody>
              <a:bodyPr/>
              <a:lstStyle/>
              <a:p>
                <a:r>
                  <a:rPr lang="en-US">
                    <a:noFill/>
                  </a:rPr>
                  <a:t> </a:t>
                </a:r>
              </a:p>
            </p:txBody>
          </p:sp>
        </mc:Fallback>
      </mc:AlternateContent>
      <p:sp>
        <p:nvSpPr>
          <p:cNvPr id="23" name="Rectangle 22"/>
          <p:cNvSpPr/>
          <p:nvPr/>
        </p:nvSpPr>
        <p:spPr>
          <a:xfrm>
            <a:off x="298834" y="382313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p:cNvSpPr/>
          <p:nvPr/>
        </p:nvSpPr>
        <p:spPr>
          <a:xfrm>
            <a:off x="1604861" y="382313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p:cNvSpPr/>
          <p:nvPr/>
        </p:nvSpPr>
        <p:spPr>
          <a:xfrm>
            <a:off x="2907977" y="382313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4221495" y="382313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p:cNvSpPr/>
          <p:nvPr/>
        </p:nvSpPr>
        <p:spPr>
          <a:xfrm>
            <a:off x="5524611" y="382313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CEEF23AD-EA17-135A-DB95-1D1FECB286F3}"/>
              </a:ext>
            </a:extLst>
          </p:cNvPr>
          <p:cNvSpPr/>
          <p:nvPr/>
        </p:nvSpPr>
        <p:spPr>
          <a:xfrm>
            <a:off x="381481" y="510517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Rectangle 28">
            <a:extLst>
              <a:ext uri="{FF2B5EF4-FFF2-40B4-BE49-F238E27FC236}">
                <a16:creationId xmlns:a16="http://schemas.microsoft.com/office/drawing/2014/main" id="{CEEF23AD-EA17-135A-DB95-1D1FECB286F3}"/>
              </a:ext>
            </a:extLst>
          </p:cNvPr>
          <p:cNvSpPr/>
          <p:nvPr/>
        </p:nvSpPr>
        <p:spPr>
          <a:xfrm>
            <a:off x="1693920" y="510517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0" name="Rectangle 29">
            <a:extLst>
              <a:ext uri="{FF2B5EF4-FFF2-40B4-BE49-F238E27FC236}">
                <a16:creationId xmlns:a16="http://schemas.microsoft.com/office/drawing/2014/main" id="{CEEF23AD-EA17-135A-DB95-1D1FECB286F3}"/>
              </a:ext>
            </a:extLst>
          </p:cNvPr>
          <p:cNvSpPr/>
          <p:nvPr/>
        </p:nvSpPr>
        <p:spPr>
          <a:xfrm>
            <a:off x="2998855" y="510517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1" name="Rectangle 30">
            <a:extLst>
              <a:ext uri="{FF2B5EF4-FFF2-40B4-BE49-F238E27FC236}">
                <a16:creationId xmlns:a16="http://schemas.microsoft.com/office/drawing/2014/main" id="{CEEF23AD-EA17-135A-DB95-1D1FECB286F3}"/>
              </a:ext>
            </a:extLst>
          </p:cNvPr>
          <p:cNvSpPr/>
          <p:nvPr/>
        </p:nvSpPr>
        <p:spPr>
          <a:xfrm>
            <a:off x="4315791" y="510517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2" name="Rectangle 31">
            <a:extLst>
              <a:ext uri="{FF2B5EF4-FFF2-40B4-BE49-F238E27FC236}">
                <a16:creationId xmlns:a16="http://schemas.microsoft.com/office/drawing/2014/main" id="{CEEF23AD-EA17-135A-DB95-1D1FECB286F3}"/>
              </a:ext>
            </a:extLst>
          </p:cNvPr>
          <p:cNvSpPr/>
          <p:nvPr/>
        </p:nvSpPr>
        <p:spPr>
          <a:xfrm>
            <a:off x="5601090" y="510517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mc:AlternateContent xmlns:mc="http://schemas.openxmlformats.org/markup-compatibility/2006" xmlns:a14="http://schemas.microsoft.com/office/drawing/2010/main">
        <mc:Choice Requires="a14">
          <p:sp>
            <p:nvSpPr>
              <p:cNvPr id="33" name="TextBox 32"/>
              <p:cNvSpPr txBox="1"/>
              <p:nvPr/>
            </p:nvSpPr>
            <p:spPr>
              <a:xfrm>
                <a:off x="289407" y="5566828"/>
                <a:ext cx="703141" cy="294376"/>
              </a:xfrm>
              <a:prstGeom prst="rect">
                <a:avLst/>
              </a:prstGeom>
              <a:noFill/>
            </p:spPr>
            <p:txBody>
              <a:bodyPr wrap="none" rtlCol="0">
                <a:spAutoFit/>
              </a:bodyPr>
              <a:lstStyle/>
              <a:p>
                <a:r>
                  <a:rPr lang="en-US" sz="1200"/>
                  <a:t>f)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24</m:t>
                        </m:r>
                        <m:r>
                          <a:rPr lang="en-US" sz="1200" i="1" dirty="0">
                            <a:latin typeface="Cambria Math" panose="02040503050406030204" pitchFamily="18" charset="0"/>
                            <a:ea typeface="Cambria Math" panose="02040503050406030204" pitchFamily="18" charset="0"/>
                          </a:rPr>
                          <m:t>.9</m:t>
                        </m:r>
                      </m:e>
                    </m:rad>
                  </m:oMath>
                </a14:m>
                <a:endParaRPr lang="en-GB" sz="1200"/>
              </a:p>
            </p:txBody>
          </p:sp>
        </mc:Choice>
        <mc:Fallback xmlns="">
          <p:sp>
            <p:nvSpPr>
              <p:cNvPr id="33" name="TextBox 32"/>
              <p:cNvSpPr txBox="1">
                <a:spLocks noRot="1" noChangeAspect="1" noMove="1" noResize="1" noEditPoints="1" noAdjustHandles="1" noChangeArrowheads="1" noChangeShapeType="1" noTextEdit="1"/>
              </p:cNvSpPr>
              <p:nvPr/>
            </p:nvSpPr>
            <p:spPr>
              <a:xfrm>
                <a:off x="289407" y="5566828"/>
                <a:ext cx="703141" cy="294376"/>
              </a:xfrm>
              <a:prstGeom prst="rect">
                <a:avLst/>
              </a:prstGeom>
              <a:blipFill>
                <a:blip r:embed="rId8"/>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1595434" y="5566826"/>
                <a:ext cx="726546" cy="294376"/>
              </a:xfrm>
              <a:prstGeom prst="rect">
                <a:avLst/>
              </a:prstGeom>
              <a:noFill/>
            </p:spPr>
            <p:txBody>
              <a:bodyPr wrap="none" rtlCol="0">
                <a:spAutoFit/>
              </a:bodyPr>
              <a:lstStyle/>
              <a:p>
                <a:r>
                  <a:rPr lang="en-US" sz="1200"/>
                  <a:t>g)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36</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3</m:t>
                        </m:r>
                      </m:e>
                    </m:rad>
                  </m:oMath>
                </a14:m>
                <a:endParaRPr lang="en-GB" sz="1200"/>
              </a:p>
            </p:txBody>
          </p:sp>
        </mc:Choice>
        <mc:Fallback xmlns="">
          <p:sp>
            <p:nvSpPr>
              <p:cNvPr id="34" name="TextBox 33"/>
              <p:cNvSpPr txBox="1">
                <a:spLocks noRot="1" noChangeAspect="1" noMove="1" noResize="1" noEditPoints="1" noAdjustHandles="1" noChangeArrowheads="1" noChangeShapeType="1" noTextEdit="1"/>
              </p:cNvSpPr>
              <p:nvPr/>
            </p:nvSpPr>
            <p:spPr>
              <a:xfrm>
                <a:off x="1595434" y="5566826"/>
                <a:ext cx="726546" cy="294376"/>
              </a:xfrm>
              <a:prstGeom prst="rect">
                <a:avLst/>
              </a:prstGeom>
              <a:blipFill>
                <a:blip r:embed="rId9"/>
                <a:stretch>
                  <a:fillRect l="-840"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2898550" y="5566826"/>
                <a:ext cx="734560" cy="294376"/>
              </a:xfrm>
              <a:prstGeom prst="rect">
                <a:avLst/>
              </a:prstGeom>
              <a:noFill/>
            </p:spPr>
            <p:txBody>
              <a:bodyPr wrap="none" rtlCol="0">
                <a:spAutoFit/>
              </a:bodyPr>
              <a:lstStyle/>
              <a:p>
                <a:r>
                  <a:rPr lang="en-US" sz="1200"/>
                  <a:t>h)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48.</m:t>
                        </m:r>
                        <m:r>
                          <a:rPr lang="en-US" sz="1200" i="1" dirty="0">
                            <a:latin typeface="Cambria Math" panose="02040503050406030204" pitchFamily="18" charset="0"/>
                            <a:ea typeface="Cambria Math" panose="02040503050406030204" pitchFamily="18" charset="0"/>
                          </a:rPr>
                          <m:t>9</m:t>
                        </m:r>
                      </m:e>
                    </m:rad>
                  </m:oMath>
                </a14:m>
                <a:endParaRPr lang="en-GB" sz="1200"/>
              </a:p>
            </p:txBody>
          </p:sp>
        </mc:Choice>
        <mc:Fallback xmlns="">
          <p:sp>
            <p:nvSpPr>
              <p:cNvPr id="35" name="TextBox 34"/>
              <p:cNvSpPr txBox="1">
                <a:spLocks noRot="1" noChangeAspect="1" noMove="1" noResize="1" noEditPoints="1" noAdjustHandles="1" noChangeArrowheads="1" noChangeShapeType="1" noTextEdit="1"/>
              </p:cNvSpPr>
              <p:nvPr/>
            </p:nvSpPr>
            <p:spPr>
              <a:xfrm>
                <a:off x="2898550" y="5566826"/>
                <a:ext cx="734560" cy="294376"/>
              </a:xfrm>
              <a:prstGeom prst="rect">
                <a:avLst/>
              </a:prstGeom>
              <a:blipFill>
                <a:blip r:embed="rId10"/>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4217305" y="5566825"/>
                <a:ext cx="774636" cy="294376"/>
              </a:xfrm>
              <a:prstGeom prst="rect">
                <a:avLst/>
              </a:prstGeom>
              <a:noFill/>
            </p:spPr>
            <p:txBody>
              <a:bodyPr wrap="none" rtlCol="0">
                <a:spAutoFit/>
              </a:bodyPr>
              <a:lstStyle/>
              <a:p>
                <a:r>
                  <a:rPr lang="en-US" sz="1200"/>
                  <a:t>i)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80.94</m:t>
                        </m:r>
                      </m:e>
                    </m:rad>
                  </m:oMath>
                </a14:m>
                <a:endParaRPr lang="en-GB" sz="1200"/>
              </a:p>
            </p:txBody>
          </p:sp>
        </mc:Choice>
        <mc:Fallback xmlns="">
          <p:sp>
            <p:nvSpPr>
              <p:cNvPr id="36" name="TextBox 35"/>
              <p:cNvSpPr txBox="1">
                <a:spLocks noRot="1" noChangeAspect="1" noMove="1" noResize="1" noEditPoints="1" noAdjustHandles="1" noChangeArrowheads="1" noChangeShapeType="1" noTextEdit="1"/>
              </p:cNvSpPr>
              <p:nvPr/>
            </p:nvSpPr>
            <p:spPr>
              <a:xfrm>
                <a:off x="4217305" y="5566825"/>
                <a:ext cx="774636" cy="294376"/>
              </a:xfrm>
              <a:prstGeom prst="rect">
                <a:avLst/>
              </a:prstGeom>
              <a:blipFill>
                <a:blip r:embed="rId11"/>
                <a:stretch>
                  <a:fillRect l="-787"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5514177" y="5566825"/>
                <a:ext cx="861198" cy="296300"/>
              </a:xfrm>
              <a:prstGeom prst="rect">
                <a:avLst/>
              </a:prstGeom>
              <a:noFill/>
            </p:spPr>
            <p:txBody>
              <a:bodyPr wrap="none" rtlCol="0">
                <a:spAutoFit/>
              </a:bodyPr>
              <a:lstStyle/>
              <a:p>
                <a:r>
                  <a:rPr lang="en-US" sz="1200"/>
                  <a:t>j)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63</m:t>
                        </m:r>
                        <m:r>
                          <a:rPr lang="en-US" sz="1200" i="1" dirty="0">
                            <a:latin typeface="Cambria Math" panose="02040503050406030204" pitchFamily="18" charset="0"/>
                            <a:ea typeface="Cambria Math" panose="02040503050406030204" pitchFamily="18" charset="0"/>
                          </a:rPr>
                          <m:t>.9</m:t>
                        </m:r>
                        <m:r>
                          <a:rPr lang="en-US" sz="1200" b="0" i="1" dirty="0" smtClean="0">
                            <a:latin typeface="Cambria Math" panose="02040503050406030204" pitchFamily="18" charset="0"/>
                            <a:ea typeface="Cambria Math" panose="02040503050406030204" pitchFamily="18" charset="0"/>
                          </a:rPr>
                          <m:t>52</m:t>
                        </m:r>
                      </m:e>
                    </m:rad>
                  </m:oMath>
                </a14:m>
                <a:endParaRPr lang="en-GB" sz="1200"/>
              </a:p>
            </p:txBody>
          </p:sp>
        </mc:Choice>
        <mc:Fallback xmlns="">
          <p:sp>
            <p:nvSpPr>
              <p:cNvPr id="37" name="TextBox 36"/>
              <p:cNvSpPr txBox="1">
                <a:spLocks noRot="1" noChangeAspect="1" noMove="1" noResize="1" noEditPoints="1" noAdjustHandles="1" noChangeArrowheads="1" noChangeShapeType="1" noTextEdit="1"/>
              </p:cNvSpPr>
              <p:nvPr/>
            </p:nvSpPr>
            <p:spPr>
              <a:xfrm>
                <a:off x="5514177" y="5566825"/>
                <a:ext cx="861198" cy="296300"/>
              </a:xfrm>
              <a:prstGeom prst="rect">
                <a:avLst/>
              </a:prstGeom>
              <a:blipFill>
                <a:blip r:embed="rId12"/>
                <a:stretch>
                  <a:fillRect l="-709" b="-16327"/>
                </a:stretch>
              </a:blipFill>
            </p:spPr>
            <p:txBody>
              <a:bodyPr/>
              <a:lstStyle/>
              <a:p>
                <a:r>
                  <a:rPr lang="en-US">
                    <a:noFill/>
                  </a:rPr>
                  <a:t> </a:t>
                </a:r>
              </a:p>
            </p:txBody>
          </p:sp>
        </mc:Fallback>
      </mc:AlternateContent>
      <p:sp>
        <p:nvSpPr>
          <p:cNvPr id="38" name="Rectangle 37"/>
          <p:cNvSpPr/>
          <p:nvPr/>
        </p:nvSpPr>
        <p:spPr>
          <a:xfrm>
            <a:off x="298834" y="592840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p:cNvSpPr/>
          <p:nvPr/>
        </p:nvSpPr>
        <p:spPr>
          <a:xfrm>
            <a:off x="1604861" y="592840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p:cNvSpPr/>
          <p:nvPr/>
        </p:nvSpPr>
        <p:spPr>
          <a:xfrm>
            <a:off x="2907977" y="592840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p:cNvSpPr/>
          <p:nvPr/>
        </p:nvSpPr>
        <p:spPr>
          <a:xfrm>
            <a:off x="4221495" y="592840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p:cNvSpPr/>
          <p:nvPr/>
        </p:nvSpPr>
        <p:spPr>
          <a:xfrm>
            <a:off x="5524611" y="592840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CEEF23AD-EA17-135A-DB95-1D1FECB286F3}"/>
              </a:ext>
            </a:extLst>
          </p:cNvPr>
          <p:cNvSpPr/>
          <p:nvPr/>
        </p:nvSpPr>
        <p:spPr>
          <a:xfrm>
            <a:off x="381481" y="721044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4" name="Rectangle 43">
            <a:extLst>
              <a:ext uri="{FF2B5EF4-FFF2-40B4-BE49-F238E27FC236}">
                <a16:creationId xmlns:a16="http://schemas.microsoft.com/office/drawing/2014/main" id="{CEEF23AD-EA17-135A-DB95-1D1FECB286F3}"/>
              </a:ext>
            </a:extLst>
          </p:cNvPr>
          <p:cNvSpPr/>
          <p:nvPr/>
        </p:nvSpPr>
        <p:spPr>
          <a:xfrm>
            <a:off x="1693920" y="721044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5" name="Rectangle 44">
            <a:extLst>
              <a:ext uri="{FF2B5EF4-FFF2-40B4-BE49-F238E27FC236}">
                <a16:creationId xmlns:a16="http://schemas.microsoft.com/office/drawing/2014/main" id="{CEEF23AD-EA17-135A-DB95-1D1FECB286F3}"/>
              </a:ext>
            </a:extLst>
          </p:cNvPr>
          <p:cNvSpPr/>
          <p:nvPr/>
        </p:nvSpPr>
        <p:spPr>
          <a:xfrm>
            <a:off x="2998855" y="721044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6" name="Rectangle 45">
            <a:extLst>
              <a:ext uri="{FF2B5EF4-FFF2-40B4-BE49-F238E27FC236}">
                <a16:creationId xmlns:a16="http://schemas.microsoft.com/office/drawing/2014/main" id="{CEEF23AD-EA17-135A-DB95-1D1FECB286F3}"/>
              </a:ext>
            </a:extLst>
          </p:cNvPr>
          <p:cNvSpPr/>
          <p:nvPr/>
        </p:nvSpPr>
        <p:spPr>
          <a:xfrm>
            <a:off x="4315791" y="721044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7" name="Rectangle 46">
            <a:extLst>
              <a:ext uri="{FF2B5EF4-FFF2-40B4-BE49-F238E27FC236}">
                <a16:creationId xmlns:a16="http://schemas.microsoft.com/office/drawing/2014/main" id="{CEEF23AD-EA17-135A-DB95-1D1FECB286F3}"/>
              </a:ext>
            </a:extLst>
          </p:cNvPr>
          <p:cNvSpPr/>
          <p:nvPr/>
        </p:nvSpPr>
        <p:spPr>
          <a:xfrm>
            <a:off x="5601090" y="721044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mc:AlternateContent xmlns:mc="http://schemas.openxmlformats.org/markup-compatibility/2006" xmlns:a14="http://schemas.microsoft.com/office/drawing/2010/main">
        <mc:Choice Requires="a14">
          <p:sp>
            <p:nvSpPr>
              <p:cNvPr id="56" name="TextBox 55"/>
              <p:cNvSpPr txBox="1"/>
              <p:nvPr/>
            </p:nvSpPr>
            <p:spPr>
              <a:xfrm>
                <a:off x="289407" y="7678433"/>
                <a:ext cx="788101" cy="296300"/>
              </a:xfrm>
              <a:prstGeom prst="rect">
                <a:avLst/>
              </a:prstGeom>
              <a:noFill/>
            </p:spPr>
            <p:txBody>
              <a:bodyPr wrap="none" rtlCol="0">
                <a:spAutoFit/>
              </a:bodyPr>
              <a:lstStyle/>
              <a:p>
                <a:r>
                  <a:rPr lang="en-US" sz="1200"/>
                  <a:t>f)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25.18</m:t>
                        </m:r>
                      </m:e>
                    </m:rad>
                  </m:oMath>
                </a14:m>
                <a:endParaRPr lang="en-GB" sz="1200"/>
              </a:p>
            </p:txBody>
          </p:sp>
        </mc:Choice>
        <mc:Fallback xmlns="">
          <p:sp>
            <p:nvSpPr>
              <p:cNvPr id="56" name="TextBox 55"/>
              <p:cNvSpPr txBox="1">
                <a:spLocks noRot="1" noChangeAspect="1" noMove="1" noResize="1" noEditPoints="1" noAdjustHandles="1" noChangeArrowheads="1" noChangeShapeType="1" noTextEdit="1"/>
              </p:cNvSpPr>
              <p:nvPr/>
            </p:nvSpPr>
            <p:spPr>
              <a:xfrm>
                <a:off x="289407" y="7678433"/>
                <a:ext cx="788101" cy="296300"/>
              </a:xfrm>
              <a:prstGeom prst="rect">
                <a:avLst/>
              </a:prstGeom>
              <a:blipFill>
                <a:blip r:embed="rId13"/>
                <a:stretch>
                  <a:fillRect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1595434" y="7678431"/>
                <a:ext cx="811504" cy="294376"/>
              </a:xfrm>
              <a:prstGeom prst="rect">
                <a:avLst/>
              </a:prstGeom>
              <a:noFill/>
            </p:spPr>
            <p:txBody>
              <a:bodyPr wrap="none" rtlCol="0">
                <a:spAutoFit/>
              </a:bodyPr>
              <a:lstStyle/>
              <a:p>
                <a:r>
                  <a:rPr lang="en-US" sz="1200"/>
                  <a:t>g)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99</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99</m:t>
                        </m:r>
                      </m:e>
                    </m:rad>
                  </m:oMath>
                </a14:m>
                <a:endParaRPr lang="en-GB" sz="1200"/>
              </a:p>
            </p:txBody>
          </p:sp>
        </mc:Choice>
        <mc:Fallback xmlns="">
          <p:sp>
            <p:nvSpPr>
              <p:cNvPr id="57" name="TextBox 56"/>
              <p:cNvSpPr txBox="1">
                <a:spLocks noRot="1" noChangeAspect="1" noMove="1" noResize="1" noEditPoints="1" noAdjustHandles="1" noChangeArrowheads="1" noChangeShapeType="1" noTextEdit="1"/>
              </p:cNvSpPr>
              <p:nvPr/>
            </p:nvSpPr>
            <p:spPr>
              <a:xfrm>
                <a:off x="1595434" y="7678431"/>
                <a:ext cx="811504" cy="294376"/>
              </a:xfrm>
              <a:prstGeom prst="rect">
                <a:avLst/>
              </a:prstGeom>
              <a:blipFill>
                <a:blip r:embed="rId14"/>
                <a:stretch>
                  <a:fillRect l="-752"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2898550" y="7678431"/>
                <a:ext cx="904478" cy="294376"/>
              </a:xfrm>
              <a:prstGeom prst="rect">
                <a:avLst/>
              </a:prstGeom>
              <a:noFill/>
            </p:spPr>
            <p:txBody>
              <a:bodyPr wrap="none" rtlCol="0">
                <a:spAutoFit/>
              </a:bodyPr>
              <a:lstStyle/>
              <a:p>
                <a:r>
                  <a:rPr lang="en-US" sz="1200"/>
                  <a:t>h)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101.37</m:t>
                        </m:r>
                      </m:e>
                    </m:rad>
                  </m:oMath>
                </a14:m>
                <a:endParaRPr lang="en-GB" sz="1200"/>
              </a:p>
            </p:txBody>
          </p:sp>
        </mc:Choice>
        <mc:Fallback xmlns="">
          <p:sp>
            <p:nvSpPr>
              <p:cNvPr id="58" name="TextBox 57"/>
              <p:cNvSpPr txBox="1">
                <a:spLocks noRot="1" noChangeAspect="1" noMove="1" noResize="1" noEditPoints="1" noAdjustHandles="1" noChangeArrowheads="1" noChangeShapeType="1" noTextEdit="1"/>
              </p:cNvSpPr>
              <p:nvPr/>
            </p:nvSpPr>
            <p:spPr>
              <a:xfrm>
                <a:off x="2898550" y="7678431"/>
                <a:ext cx="904478" cy="294376"/>
              </a:xfrm>
              <a:prstGeom prst="rect">
                <a:avLst/>
              </a:prstGeom>
              <a:blipFill>
                <a:blip r:embed="rId15"/>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p:cNvSpPr txBox="1"/>
              <p:nvPr/>
            </p:nvSpPr>
            <p:spPr>
              <a:xfrm>
                <a:off x="4217305" y="7678430"/>
                <a:ext cx="859594" cy="294376"/>
              </a:xfrm>
              <a:prstGeom prst="rect">
                <a:avLst/>
              </a:prstGeom>
              <a:noFill/>
            </p:spPr>
            <p:txBody>
              <a:bodyPr wrap="none" rtlCol="0">
                <a:spAutoFit/>
              </a:bodyPr>
              <a:lstStyle/>
              <a:p>
                <a:r>
                  <a:rPr lang="en-US" sz="1200"/>
                  <a:t>i)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143.94</m:t>
                        </m:r>
                      </m:e>
                    </m:rad>
                  </m:oMath>
                </a14:m>
                <a:endParaRPr lang="en-GB" sz="1200"/>
              </a:p>
            </p:txBody>
          </p:sp>
        </mc:Choice>
        <mc:Fallback xmlns="">
          <p:sp>
            <p:nvSpPr>
              <p:cNvPr id="59" name="TextBox 58"/>
              <p:cNvSpPr txBox="1">
                <a:spLocks noRot="1" noChangeAspect="1" noMove="1" noResize="1" noEditPoints="1" noAdjustHandles="1" noChangeArrowheads="1" noChangeShapeType="1" noTextEdit="1"/>
              </p:cNvSpPr>
              <p:nvPr/>
            </p:nvSpPr>
            <p:spPr>
              <a:xfrm>
                <a:off x="4217305" y="7678430"/>
                <a:ext cx="859594" cy="294376"/>
              </a:xfrm>
              <a:prstGeom prst="rect">
                <a:avLst/>
              </a:prstGeom>
              <a:blipFill>
                <a:blip r:embed="rId16"/>
                <a:stretch>
                  <a:fillRect l="-709"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p:cNvSpPr txBox="1"/>
              <p:nvPr/>
            </p:nvSpPr>
            <p:spPr>
              <a:xfrm>
                <a:off x="5514177" y="7678430"/>
                <a:ext cx="1031116" cy="294376"/>
              </a:xfrm>
              <a:prstGeom prst="rect">
                <a:avLst/>
              </a:prstGeom>
              <a:noFill/>
            </p:spPr>
            <p:txBody>
              <a:bodyPr wrap="none" rtlCol="0">
                <a:spAutoFit/>
              </a:bodyPr>
              <a:lstStyle/>
              <a:p>
                <a:r>
                  <a:rPr lang="en-US" sz="1200"/>
                  <a:t>j)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144</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0062</m:t>
                        </m:r>
                      </m:e>
                    </m:rad>
                  </m:oMath>
                </a14:m>
                <a:endParaRPr lang="en-GB" sz="1200"/>
              </a:p>
            </p:txBody>
          </p:sp>
        </mc:Choice>
        <mc:Fallback xmlns="">
          <p:sp>
            <p:nvSpPr>
              <p:cNvPr id="60" name="TextBox 59"/>
              <p:cNvSpPr txBox="1">
                <a:spLocks noRot="1" noChangeAspect="1" noMove="1" noResize="1" noEditPoints="1" noAdjustHandles="1" noChangeArrowheads="1" noChangeShapeType="1" noTextEdit="1"/>
              </p:cNvSpPr>
              <p:nvPr/>
            </p:nvSpPr>
            <p:spPr>
              <a:xfrm>
                <a:off x="5514177" y="7678430"/>
                <a:ext cx="1031116" cy="294376"/>
              </a:xfrm>
              <a:prstGeom prst="rect">
                <a:avLst/>
              </a:prstGeom>
              <a:blipFill>
                <a:blip r:embed="rId17"/>
                <a:stretch>
                  <a:fillRect l="-592" b="-16667"/>
                </a:stretch>
              </a:blipFill>
            </p:spPr>
            <p:txBody>
              <a:bodyPr/>
              <a:lstStyle/>
              <a:p>
                <a:r>
                  <a:rPr lang="en-US">
                    <a:noFill/>
                  </a:rPr>
                  <a:t> </a:t>
                </a:r>
              </a:p>
            </p:txBody>
          </p:sp>
        </mc:Fallback>
      </mc:AlternateContent>
      <p:sp>
        <p:nvSpPr>
          <p:cNvPr id="61" name="Rectangle 60"/>
          <p:cNvSpPr/>
          <p:nvPr/>
        </p:nvSpPr>
        <p:spPr>
          <a:xfrm>
            <a:off x="298834" y="8040007"/>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p:cNvSpPr/>
          <p:nvPr/>
        </p:nvSpPr>
        <p:spPr>
          <a:xfrm>
            <a:off x="1604861" y="8040007"/>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p:cNvSpPr/>
          <p:nvPr/>
        </p:nvSpPr>
        <p:spPr>
          <a:xfrm>
            <a:off x="2907977" y="8040007"/>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ectangle 63"/>
          <p:cNvSpPr/>
          <p:nvPr/>
        </p:nvSpPr>
        <p:spPr>
          <a:xfrm>
            <a:off x="4221495" y="8040007"/>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Rectangle 64"/>
          <p:cNvSpPr/>
          <p:nvPr/>
        </p:nvSpPr>
        <p:spPr>
          <a:xfrm>
            <a:off x="5524611" y="8040007"/>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tangle 65">
            <a:extLst>
              <a:ext uri="{FF2B5EF4-FFF2-40B4-BE49-F238E27FC236}">
                <a16:creationId xmlns:a16="http://schemas.microsoft.com/office/drawing/2014/main" id="{CEEF23AD-EA17-135A-DB95-1D1FECB286F3}"/>
              </a:ext>
            </a:extLst>
          </p:cNvPr>
          <p:cNvSpPr/>
          <p:nvPr/>
        </p:nvSpPr>
        <p:spPr>
          <a:xfrm>
            <a:off x="381481" y="9322053"/>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CEEF23AD-EA17-135A-DB95-1D1FECB286F3}"/>
              </a:ext>
            </a:extLst>
          </p:cNvPr>
          <p:cNvSpPr/>
          <p:nvPr/>
        </p:nvSpPr>
        <p:spPr>
          <a:xfrm>
            <a:off x="1693920" y="9322053"/>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Rectangle 67">
            <a:extLst>
              <a:ext uri="{FF2B5EF4-FFF2-40B4-BE49-F238E27FC236}">
                <a16:creationId xmlns:a16="http://schemas.microsoft.com/office/drawing/2014/main" id="{CEEF23AD-EA17-135A-DB95-1D1FECB286F3}"/>
              </a:ext>
            </a:extLst>
          </p:cNvPr>
          <p:cNvSpPr/>
          <p:nvPr/>
        </p:nvSpPr>
        <p:spPr>
          <a:xfrm>
            <a:off x="2998855" y="9322053"/>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9" name="Rectangle 68">
            <a:extLst>
              <a:ext uri="{FF2B5EF4-FFF2-40B4-BE49-F238E27FC236}">
                <a16:creationId xmlns:a16="http://schemas.microsoft.com/office/drawing/2014/main" id="{CEEF23AD-EA17-135A-DB95-1D1FECB286F3}"/>
              </a:ext>
            </a:extLst>
          </p:cNvPr>
          <p:cNvSpPr/>
          <p:nvPr/>
        </p:nvSpPr>
        <p:spPr>
          <a:xfrm>
            <a:off x="4315791" y="9322053"/>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CEEF23AD-EA17-135A-DB95-1D1FECB286F3}"/>
              </a:ext>
            </a:extLst>
          </p:cNvPr>
          <p:cNvSpPr/>
          <p:nvPr/>
        </p:nvSpPr>
        <p:spPr>
          <a:xfrm>
            <a:off x="5601090" y="9322053"/>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1"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36</a:t>
            </a:fld>
            <a:endParaRPr lang="en-GB"/>
          </a:p>
        </p:txBody>
      </p:sp>
      <p:sp>
        <p:nvSpPr>
          <p:cNvPr id="3" name="Rectangle 2">
            <a:extLst>
              <a:ext uri="{FF2B5EF4-FFF2-40B4-BE49-F238E27FC236}">
                <a16:creationId xmlns:a16="http://schemas.microsoft.com/office/drawing/2014/main" id="{34C0E0C6-4663-5BA1-CCCC-290F289E0D84}"/>
              </a:ext>
            </a:extLst>
          </p:cNvPr>
          <p:cNvSpPr/>
          <p:nvPr/>
        </p:nvSpPr>
        <p:spPr>
          <a:xfrm>
            <a:off x="181527" y="3045814"/>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35472022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B4A988A4-03CD-D549-9F12-81AFECBDEF37}"/>
              </a:ext>
            </a:extLst>
          </p:cNvPr>
          <p:cNvCxnSpPr>
            <a:cxnSpLocks/>
          </p:cNvCxnSpPr>
          <p:nvPr/>
        </p:nvCxnSpPr>
        <p:spPr>
          <a:xfrm>
            <a:off x="1031172" y="2112199"/>
            <a:ext cx="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CDC1A2B-2D26-C945-B722-18950FA49879}"/>
              </a:ext>
            </a:extLst>
          </p:cNvPr>
          <p:cNvSpPr txBox="1"/>
          <p:nvPr/>
        </p:nvSpPr>
        <p:spPr>
          <a:xfrm>
            <a:off x="1938240" y="408571"/>
            <a:ext cx="1410704" cy="276999"/>
          </a:xfrm>
          <a:prstGeom prst="rect">
            <a:avLst/>
          </a:prstGeom>
          <a:noFill/>
          <a:ln>
            <a:noFill/>
          </a:ln>
        </p:spPr>
        <p:txBody>
          <a:bodyPr wrap="square" rtlCol="0">
            <a:spAutoFit/>
          </a:bodyPr>
          <a:lstStyle/>
          <a:p>
            <a:r>
              <a:rPr lang="en-GB" sz="1200" b="1" i="1" dirty="0">
                <a:solidFill>
                  <a:srgbClr val="FF0000"/>
                </a:solidFill>
              </a:rPr>
              <a:t>Example 19 - I do…</a:t>
            </a:r>
          </a:p>
        </p:txBody>
      </p:sp>
      <p:sp>
        <p:nvSpPr>
          <p:cNvPr id="4" name="TextBox 3">
            <a:extLst>
              <a:ext uri="{FF2B5EF4-FFF2-40B4-BE49-F238E27FC236}">
                <a16:creationId xmlns:a16="http://schemas.microsoft.com/office/drawing/2014/main" id="{4AF4150A-9218-D640-8777-2ECCBC4D10FB}"/>
              </a:ext>
            </a:extLst>
          </p:cNvPr>
          <p:cNvSpPr txBox="1"/>
          <p:nvPr/>
        </p:nvSpPr>
        <p:spPr>
          <a:xfrm>
            <a:off x="5140369" y="396593"/>
            <a:ext cx="1643405" cy="276999"/>
          </a:xfrm>
          <a:prstGeom prst="rect">
            <a:avLst/>
          </a:prstGeom>
          <a:noFill/>
          <a:ln>
            <a:noFill/>
          </a:ln>
        </p:spPr>
        <p:txBody>
          <a:bodyPr wrap="square" rtlCol="0">
            <a:spAutoFit/>
          </a:bodyPr>
          <a:lstStyle/>
          <a:p>
            <a:r>
              <a:rPr lang="en-GB" sz="1200" b="1" i="1">
                <a:solidFill>
                  <a:srgbClr val="00B050"/>
                </a:solidFill>
              </a:rPr>
              <a:t>Example 21 – You do…</a:t>
            </a:r>
          </a:p>
        </p:txBody>
      </p:sp>
      <p:sp>
        <p:nvSpPr>
          <p:cNvPr id="5" name="TextBox 4">
            <a:extLst>
              <a:ext uri="{FF2B5EF4-FFF2-40B4-BE49-F238E27FC236}">
                <a16:creationId xmlns:a16="http://schemas.microsoft.com/office/drawing/2014/main" id="{BCDC1A2B-2D26-C945-B722-18950FA49879}"/>
              </a:ext>
            </a:extLst>
          </p:cNvPr>
          <p:cNvSpPr txBox="1"/>
          <p:nvPr/>
        </p:nvSpPr>
        <p:spPr>
          <a:xfrm>
            <a:off x="3472764" y="410220"/>
            <a:ext cx="1667605" cy="276999"/>
          </a:xfrm>
          <a:prstGeom prst="rect">
            <a:avLst/>
          </a:prstGeom>
          <a:noFill/>
          <a:ln>
            <a:noFill/>
          </a:ln>
        </p:spPr>
        <p:txBody>
          <a:bodyPr wrap="square" rtlCol="0">
            <a:spAutoFit/>
          </a:bodyPr>
          <a:lstStyle/>
          <a:p>
            <a:r>
              <a:rPr lang="en-GB" sz="1200" b="1" i="1">
                <a:solidFill>
                  <a:schemeClr val="accent2"/>
                </a:solidFill>
              </a:rPr>
              <a:t>Example 20 - We do…</a:t>
            </a: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2850650805"/>
                  </p:ext>
                </p:extLst>
              </p:nvPr>
            </p:nvGraphicFramePr>
            <p:xfrm>
              <a:off x="181527" y="742942"/>
              <a:ext cx="6543680" cy="3049335"/>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278681">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r>
                            <a:rPr lang="en-US" sz="1200">
                              <a:solidFill>
                                <a:schemeClr val="tx1"/>
                              </a:solidFill>
                            </a:rPr>
                            <a:t>Estimation</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37333186"/>
                      </a:ext>
                    </a:extLst>
                  </a:tr>
                  <a:tr h="6596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1) Round the</a:t>
                          </a:r>
                          <a:r>
                            <a:rPr lang="en-US" sz="1200" baseline="0">
                              <a:solidFill>
                                <a:schemeClr val="tx1"/>
                              </a:solidFill>
                            </a:rPr>
                            <a:t> numbers</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indent="0" algn="ctr">
                            <a:buNone/>
                          </a:pPr>
                          <a:r>
                            <a:rPr lang="en-US" sz="1200" dirty="0">
                              <a:solidFill>
                                <a:schemeClr val="tx1"/>
                              </a:solidFill>
                            </a:rPr>
                            <a:t>Estimate</a:t>
                          </a:r>
                        </a:p>
                        <a:p>
                          <a:pPr marL="0" indent="0" algn="ctr">
                            <a:buNone/>
                          </a:pPr>
                          <a:endParaRPr lang="en-US" sz="1200" baseline="0" dirty="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f>
                                  <m:fPr>
                                    <m:ctrlPr>
                                      <a:rPr lang="en-US" sz="1200" b="0" i="1" smtClean="0">
                                        <a:solidFill>
                                          <a:schemeClr val="tx1"/>
                                        </a:solidFill>
                                        <a:latin typeface="Cambria Math" panose="02040503050406030204" pitchFamily="18" charset="0"/>
                                      </a:rPr>
                                    </m:ctrlPr>
                                  </m:fPr>
                                  <m:num>
                                    <m:rad>
                                      <m:radPr>
                                        <m:degHide m:val="on"/>
                                        <m:ctrlPr>
                                          <a:rPr lang="en-US" sz="1200" b="0" i="1" smtClean="0">
                                            <a:solidFill>
                                              <a:schemeClr val="tx1"/>
                                            </a:solidFill>
                                            <a:latin typeface="Cambria Math" panose="02040503050406030204" pitchFamily="18" charset="0"/>
                                            <a:ea typeface="Cambria Math" panose="02040503050406030204" pitchFamily="18" charset="0"/>
                                          </a:rPr>
                                        </m:ctrlPr>
                                      </m:radPr>
                                      <m:deg/>
                                      <m:e>
                                        <m:r>
                                          <a:rPr lang="en-US" sz="1200" b="0" i="1" smtClean="0">
                                            <a:solidFill>
                                              <a:schemeClr val="tx1"/>
                                            </a:solidFill>
                                            <a:latin typeface="Cambria Math" panose="02040503050406030204" pitchFamily="18" charset="0"/>
                                            <a:ea typeface="Cambria Math" panose="02040503050406030204" pitchFamily="18" charset="0"/>
                                          </a:rPr>
                                          <m:t>3.9</m:t>
                                        </m:r>
                                      </m:e>
                                    </m:rad>
                                    <m:r>
                                      <a:rPr lang="en-US" sz="1200" b="0" i="1" smtClean="0">
                                        <a:solidFill>
                                          <a:schemeClr val="tx1"/>
                                        </a:solidFill>
                                        <a:latin typeface="Cambria Math" panose="02040503050406030204" pitchFamily="18" charset="0"/>
                                        <a:ea typeface="Cambria Math" panose="02040503050406030204" pitchFamily="18" charset="0"/>
                                      </a:rPr>
                                      <m:t>+9.9</m:t>
                                    </m:r>
                                  </m:num>
                                  <m:den>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1.9</m:t>
                                        </m:r>
                                      </m:e>
                                      <m:sup>
                                        <m:r>
                                          <a:rPr lang="en-US" sz="1200" b="0" i="1" smtClean="0">
                                            <a:solidFill>
                                              <a:schemeClr val="tx1"/>
                                            </a:solidFill>
                                            <a:latin typeface="Cambria Math" panose="02040503050406030204" pitchFamily="18" charset="0"/>
                                          </a:rPr>
                                          <m:t>2</m:t>
                                        </m:r>
                                      </m:sup>
                                    </m:sSup>
                                  </m:den>
                                </m:f>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f>
                                  <m:fPr>
                                    <m:ctrlPr>
                                      <a:rPr lang="en-US" sz="1200" b="0" i="1" smtClean="0">
                                        <a:solidFill>
                                          <a:schemeClr val="tx1"/>
                                        </a:solidFill>
                                        <a:latin typeface="Cambria Math" panose="02040503050406030204" pitchFamily="18" charset="0"/>
                                      </a:rPr>
                                    </m:ctrlPr>
                                  </m:fPr>
                                  <m:num>
                                    <m:rad>
                                      <m:radPr>
                                        <m:degHide m:val="on"/>
                                        <m:ctrlPr>
                                          <a:rPr lang="en-US" sz="1200" b="0" i="1" smtClean="0">
                                            <a:solidFill>
                                              <a:schemeClr val="tx1"/>
                                            </a:solidFill>
                                            <a:latin typeface="Cambria Math" panose="02040503050406030204" pitchFamily="18" charset="0"/>
                                            <a:ea typeface="Cambria Math" panose="02040503050406030204" pitchFamily="18" charset="0"/>
                                          </a:rPr>
                                        </m:ctrlPr>
                                      </m:radPr>
                                      <m:deg/>
                                      <m:e>
                                        <m:r>
                                          <a:rPr lang="en-US" sz="1200" b="0" i="1" smtClean="0">
                                            <a:solidFill>
                                              <a:schemeClr val="tx1"/>
                                            </a:solidFill>
                                            <a:latin typeface="Cambria Math" panose="02040503050406030204" pitchFamily="18" charset="0"/>
                                            <a:ea typeface="Cambria Math" panose="02040503050406030204" pitchFamily="18" charset="0"/>
                                          </a:rPr>
                                          <m:t>3.8</m:t>
                                        </m:r>
                                      </m:e>
                                    </m:rad>
                                    <m:r>
                                      <a:rPr lang="en-US" sz="1200" b="0" i="1" smtClean="0">
                                        <a:solidFill>
                                          <a:schemeClr val="tx1"/>
                                        </a:solidFill>
                                        <a:latin typeface="Cambria Math" panose="02040503050406030204" pitchFamily="18" charset="0"/>
                                        <a:ea typeface="Cambria Math" panose="02040503050406030204" pitchFamily="18" charset="0"/>
                                      </a:rPr>
                                      <m:t>+1.9</m:t>
                                    </m:r>
                                  </m:num>
                                  <m:den>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1.9</m:t>
                                        </m:r>
                                      </m:e>
                                      <m:sup>
                                        <m:r>
                                          <a:rPr lang="en-US" sz="1200" b="0" i="1" smtClean="0">
                                            <a:solidFill>
                                              <a:schemeClr val="tx1"/>
                                            </a:solidFill>
                                            <a:latin typeface="Cambria Math" panose="02040503050406030204" pitchFamily="18" charset="0"/>
                                          </a:rPr>
                                          <m:t>2</m:t>
                                        </m:r>
                                      </m:sup>
                                    </m:sSup>
                                  </m:den>
                                </m:f>
                              </m:oMath>
                            </m:oMathPara>
                          </a14:m>
                          <a:endParaRPr lang="en-US" sz="1200">
                            <a:solidFill>
                              <a:schemeClr val="tx1"/>
                            </a:solidFill>
                          </a:endParaRPr>
                        </a:p>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f>
                                  <m:fPr>
                                    <m:ctrlPr>
                                      <a:rPr lang="en-US" sz="1200" b="0" i="1" smtClean="0">
                                        <a:solidFill>
                                          <a:schemeClr val="tx1"/>
                                        </a:solidFill>
                                        <a:latin typeface="Cambria Math" panose="02040503050406030204" pitchFamily="18" charset="0"/>
                                      </a:rPr>
                                    </m:ctrlPr>
                                  </m:fPr>
                                  <m:num>
                                    <m:rad>
                                      <m:radPr>
                                        <m:degHide m:val="on"/>
                                        <m:ctrlPr>
                                          <a:rPr lang="en-US" sz="1200" b="0" i="1" smtClean="0">
                                            <a:solidFill>
                                              <a:schemeClr val="tx1"/>
                                            </a:solidFill>
                                            <a:latin typeface="Cambria Math" panose="02040503050406030204" pitchFamily="18" charset="0"/>
                                            <a:ea typeface="Cambria Math" panose="02040503050406030204" pitchFamily="18" charset="0"/>
                                          </a:rPr>
                                        </m:ctrlPr>
                                      </m:radPr>
                                      <m:deg/>
                                      <m:e>
                                        <m:r>
                                          <a:rPr lang="en-US" sz="1200" b="0" i="1" smtClean="0">
                                            <a:solidFill>
                                              <a:schemeClr val="tx1"/>
                                            </a:solidFill>
                                            <a:latin typeface="Cambria Math" panose="02040503050406030204" pitchFamily="18" charset="0"/>
                                            <a:ea typeface="Cambria Math" panose="02040503050406030204" pitchFamily="18" charset="0"/>
                                          </a:rPr>
                                          <m:t>4.1</m:t>
                                        </m:r>
                                      </m:e>
                                    </m:rad>
                                    <m:r>
                                      <a:rPr lang="en-US" sz="1200" b="0" i="1" smtClean="0">
                                        <a:solidFill>
                                          <a:schemeClr val="tx1"/>
                                        </a:solidFill>
                                        <a:latin typeface="Cambria Math" panose="02040503050406030204" pitchFamily="18" charset="0"/>
                                        <a:ea typeface="Cambria Math" panose="02040503050406030204" pitchFamily="18" charset="0"/>
                                      </a:rPr>
                                      <m:t>+9.9</m:t>
                                    </m:r>
                                  </m:num>
                                  <m:den>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1.8</m:t>
                                        </m:r>
                                      </m:e>
                                      <m:sup>
                                        <m:r>
                                          <a:rPr lang="en-US" sz="1200" b="0" i="1" smtClean="0">
                                            <a:solidFill>
                                              <a:schemeClr val="tx1"/>
                                            </a:solidFill>
                                            <a:latin typeface="Cambria Math" panose="02040503050406030204" pitchFamily="18" charset="0"/>
                                          </a:rPr>
                                          <m:t>2</m:t>
                                        </m:r>
                                      </m:sup>
                                    </m:sSup>
                                  </m:den>
                                </m:f>
                              </m:oMath>
                            </m:oMathPara>
                          </a14:m>
                          <a:endParaRPr lang="en-US" sz="1600">
                            <a:solidFill>
                              <a:schemeClr val="tx1"/>
                            </a:solidFill>
                          </a:endParaRPr>
                        </a:p>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4806297"/>
                      </a:ext>
                    </a:extLst>
                  </a:tr>
                  <a:tr h="6596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2) Perform the</a:t>
                          </a:r>
                          <a:r>
                            <a:rPr lang="en-US" sz="1200" baseline="0">
                              <a:solidFill>
                                <a:schemeClr val="tx1"/>
                              </a:solidFill>
                            </a:rPr>
                            <a:t> calculation</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145129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3)</a:t>
                          </a:r>
                          <a:r>
                            <a:rPr lang="en-US" sz="1200" baseline="0" dirty="0">
                              <a:solidFill>
                                <a:schemeClr val="tx1"/>
                              </a:solidFill>
                            </a:rPr>
                            <a:t> Use the approximate symbol </a:t>
                          </a:r>
                          <a14:m>
                            <m:oMath xmlns:m="http://schemas.openxmlformats.org/officeDocument/2006/math">
                              <m:r>
                                <a:rPr lang="en-US" sz="1200" i="1" baseline="0" smtClean="0">
                                  <a:solidFill>
                                    <a:schemeClr val="tx1"/>
                                  </a:solidFill>
                                  <a:latin typeface="Cambria Math" panose="02040503050406030204" pitchFamily="18" charset="0"/>
                                  <a:ea typeface="Cambria Math" panose="02040503050406030204" pitchFamily="18" charset="0"/>
                                </a:rPr>
                                <m:t>≈</m:t>
                              </m:r>
                            </m:oMath>
                          </a14:m>
                          <a:r>
                            <a:rPr lang="en-US" sz="1200" dirty="0">
                              <a:solidFill>
                                <a:schemeClr val="tx1"/>
                              </a:solidFill>
                            </a:rPr>
                            <a:t> to show your solution</a:t>
                          </a:r>
                          <a:r>
                            <a:rPr lang="en-US" sz="1200" baseline="0" dirty="0">
                              <a:solidFill>
                                <a:schemeClr val="tx1"/>
                              </a:solidFill>
                            </a:rPr>
                            <a:t> is an estimate. </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2850650805"/>
                  </p:ext>
                </p:extLst>
              </p:nvPr>
            </p:nvGraphicFramePr>
            <p:xfrm>
              <a:off x="181527" y="742942"/>
              <a:ext cx="6543680" cy="3049335"/>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278681">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r>
                            <a:rPr lang="en-US" sz="1200">
                              <a:solidFill>
                                <a:schemeClr val="tx1"/>
                              </a:solidFill>
                            </a:rPr>
                            <a:t>Estimation</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37333186"/>
                      </a:ext>
                    </a:extLst>
                  </a:tr>
                  <a:tr h="6596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1) Round the</a:t>
                          </a:r>
                          <a:r>
                            <a:rPr lang="en-US" sz="1200" baseline="0">
                              <a:solidFill>
                                <a:schemeClr val="tx1"/>
                              </a:solidFill>
                            </a:rPr>
                            <a:t> numbers</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6645" t="-10307" r="-177961" b="-439"/>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98889" t="-10307" r="-100370" b="-439"/>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000" t="-10307" r="-743" b="-439"/>
                          </a:stretch>
                        </a:blipFill>
                      </a:tcPr>
                    </a:tc>
                    <a:extLst>
                      <a:ext uri="{0D108BD9-81ED-4DB2-BD59-A6C34878D82A}">
                        <a16:rowId xmlns:a16="http://schemas.microsoft.com/office/drawing/2014/main" val="2524806297"/>
                      </a:ext>
                    </a:extLst>
                  </a:tr>
                  <a:tr h="6596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2) Perform the</a:t>
                          </a:r>
                          <a:r>
                            <a:rPr lang="en-US" sz="1200" baseline="0">
                              <a:solidFill>
                                <a:schemeClr val="tx1"/>
                              </a:solidFill>
                            </a:rPr>
                            <a:t> calculation</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145129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31" t="-110460" r="-364224" b="-837"/>
                          </a:stretch>
                        </a:blip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Fallback>
      </mc:AlternateContent>
      <p:sp>
        <p:nvSpPr>
          <p:cNvPr id="7" name="Rectangle 6">
            <a:extLst>
              <a:ext uri="{FF2B5EF4-FFF2-40B4-BE49-F238E27FC236}">
                <a16:creationId xmlns:a16="http://schemas.microsoft.com/office/drawing/2014/main" id="{CEEF23AD-EA17-135A-DB95-1D1FECB286F3}"/>
              </a:ext>
            </a:extLst>
          </p:cNvPr>
          <p:cNvSpPr/>
          <p:nvPr/>
        </p:nvSpPr>
        <p:spPr>
          <a:xfrm>
            <a:off x="1859957" y="3342405"/>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 name="Rectangle 7">
            <a:extLst>
              <a:ext uri="{FF2B5EF4-FFF2-40B4-BE49-F238E27FC236}">
                <a16:creationId xmlns:a16="http://schemas.microsoft.com/office/drawing/2014/main" id="{CEEF23AD-EA17-135A-DB95-1D1FECB286F3}"/>
              </a:ext>
            </a:extLst>
          </p:cNvPr>
          <p:cNvSpPr/>
          <p:nvPr/>
        </p:nvSpPr>
        <p:spPr>
          <a:xfrm>
            <a:off x="3634352" y="3342405"/>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 name="Rectangle 8">
            <a:extLst>
              <a:ext uri="{FF2B5EF4-FFF2-40B4-BE49-F238E27FC236}">
                <a16:creationId xmlns:a16="http://schemas.microsoft.com/office/drawing/2014/main" id="{CEEF23AD-EA17-135A-DB95-1D1FECB286F3}"/>
              </a:ext>
            </a:extLst>
          </p:cNvPr>
          <p:cNvSpPr/>
          <p:nvPr/>
        </p:nvSpPr>
        <p:spPr>
          <a:xfrm>
            <a:off x="5289857" y="3342405"/>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 name="TextBox 12"/>
          <p:cNvSpPr txBox="1"/>
          <p:nvPr/>
        </p:nvSpPr>
        <p:spPr>
          <a:xfrm>
            <a:off x="2786207" y="3899379"/>
            <a:ext cx="1659365" cy="276999"/>
          </a:xfrm>
          <a:prstGeom prst="rect">
            <a:avLst/>
          </a:prstGeom>
          <a:noFill/>
        </p:spPr>
        <p:txBody>
          <a:bodyPr wrap="none" rtlCol="0">
            <a:spAutoFit/>
          </a:bodyPr>
          <a:lstStyle/>
          <a:p>
            <a:pPr algn="ctr"/>
            <a:r>
              <a:rPr lang="en-US" sz="1200"/>
              <a:t>6. Estimate by rounding</a:t>
            </a:r>
            <a:endParaRPr lang="en-GB" sz="1200"/>
          </a:p>
        </p:txBody>
      </p:sp>
      <mc:AlternateContent xmlns:mc="http://schemas.openxmlformats.org/markup-compatibility/2006" xmlns:a14="http://schemas.microsoft.com/office/drawing/2010/main">
        <mc:Choice Requires="a14">
          <p:sp>
            <p:nvSpPr>
              <p:cNvPr id="26" name="TextBox 25"/>
              <p:cNvSpPr txBox="1"/>
              <p:nvPr/>
            </p:nvSpPr>
            <p:spPr>
              <a:xfrm>
                <a:off x="202309" y="4262509"/>
                <a:ext cx="841962" cy="387286"/>
              </a:xfrm>
              <a:prstGeom prst="rect">
                <a:avLst/>
              </a:prstGeom>
              <a:noFill/>
            </p:spPr>
            <p:txBody>
              <a:bodyPr wrap="none" rtlCol="0">
                <a:spAutoFit/>
              </a:bodyPr>
              <a:lstStyle/>
              <a:p>
                <a:r>
                  <a:rPr lang="en-US" sz="1200"/>
                  <a:t>a) </a:t>
                </a:r>
                <a14:m>
                  <m:oMath xmlns:m="http://schemas.openxmlformats.org/officeDocument/2006/math">
                    <m:f>
                      <m:fPr>
                        <m:ctrlPr>
                          <a:rPr lang="en-US" sz="1200" i="1">
                            <a:latin typeface="Cambria Math" panose="02040503050406030204" pitchFamily="18" charset="0"/>
                          </a:rPr>
                        </m:ctrlPr>
                      </m:fPr>
                      <m:num>
                        <m:rad>
                          <m:radPr>
                            <m:degHide m:val="on"/>
                            <m:ctrlPr>
                              <a:rPr lang="en-US" sz="1200" i="1">
                                <a:latin typeface="Cambria Math" panose="02040503050406030204" pitchFamily="18" charset="0"/>
                                <a:ea typeface="Cambria Math" panose="02040503050406030204" pitchFamily="18" charset="0"/>
                              </a:rPr>
                            </m:ctrlPr>
                          </m:radPr>
                          <m:deg/>
                          <m:e>
                            <m:r>
                              <a:rPr lang="en-US" sz="1200" b="0" i="1" smtClean="0">
                                <a:latin typeface="Cambria Math" panose="02040503050406030204" pitchFamily="18" charset="0"/>
                                <a:ea typeface="Cambria Math" panose="02040503050406030204" pitchFamily="18" charset="0"/>
                              </a:rPr>
                              <m:t>9</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m:t>
                            </m:r>
                          </m:e>
                        </m:rad>
                        <m:r>
                          <a:rPr lang="en-US" sz="1200" b="0" i="1" smtClean="0">
                            <a:latin typeface="Cambria Math" panose="02040503050406030204" pitchFamily="18" charset="0"/>
                            <a:ea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r>
                          <a:rPr lang="en-US" sz="1200" i="1">
                            <a:latin typeface="Cambria Math" panose="02040503050406030204" pitchFamily="18" charset="0"/>
                            <a:ea typeface="Cambria Math" panose="02040503050406030204" pitchFamily="18" charset="0"/>
                          </a:rPr>
                          <m:t>9.9</m:t>
                        </m:r>
                      </m:num>
                      <m:den>
                        <m:sSup>
                          <m:sSupPr>
                            <m:ctrlPr>
                              <a:rPr lang="en-US" sz="1200" i="1">
                                <a:latin typeface="Cambria Math" panose="02040503050406030204" pitchFamily="18" charset="0"/>
                              </a:rPr>
                            </m:ctrlPr>
                          </m:sSupPr>
                          <m:e>
                            <m:r>
                              <a:rPr lang="en-US" sz="1200" b="0" i="1" smtClean="0">
                                <a:latin typeface="Cambria Math" panose="02040503050406030204" pitchFamily="18" charset="0"/>
                              </a:rPr>
                              <m:t>0</m:t>
                            </m:r>
                            <m:r>
                              <a:rPr lang="en-US" sz="1200" i="1">
                                <a:latin typeface="Cambria Math" panose="02040503050406030204" pitchFamily="18" charset="0"/>
                              </a:rPr>
                              <m:t>.9</m:t>
                            </m:r>
                          </m:e>
                          <m:sup>
                            <m:r>
                              <a:rPr lang="en-US" sz="1200" i="1">
                                <a:latin typeface="Cambria Math" panose="02040503050406030204" pitchFamily="18" charset="0"/>
                              </a:rPr>
                              <m:t>2</m:t>
                            </m:r>
                          </m:sup>
                        </m:sSup>
                      </m:den>
                    </m:f>
                  </m:oMath>
                </a14:m>
                <a:endParaRPr lang="en-GB" sz="1200"/>
              </a:p>
            </p:txBody>
          </p:sp>
        </mc:Choice>
        <mc:Fallback xmlns="">
          <p:sp>
            <p:nvSpPr>
              <p:cNvPr id="26" name="TextBox 25"/>
              <p:cNvSpPr txBox="1">
                <a:spLocks noRot="1" noChangeAspect="1" noMove="1" noResize="1" noEditPoints="1" noAdjustHandles="1" noChangeArrowheads="1" noChangeShapeType="1" noTextEdit="1"/>
              </p:cNvSpPr>
              <p:nvPr/>
            </p:nvSpPr>
            <p:spPr>
              <a:xfrm>
                <a:off x="202309" y="4262509"/>
                <a:ext cx="841962" cy="387286"/>
              </a:xfrm>
              <a:prstGeom prst="rect">
                <a:avLst/>
              </a:prstGeom>
              <a:blipFill>
                <a:blip r:embed="rId3"/>
                <a:stretch>
                  <a:fillRect b="-1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1800594" y="4281775"/>
                <a:ext cx="846770" cy="387157"/>
              </a:xfrm>
              <a:prstGeom prst="rect">
                <a:avLst/>
              </a:prstGeom>
              <a:noFill/>
            </p:spPr>
            <p:txBody>
              <a:bodyPr wrap="none" rtlCol="0">
                <a:spAutoFit/>
              </a:bodyPr>
              <a:lstStyle/>
              <a:p>
                <a:r>
                  <a:rPr lang="en-US" sz="1200"/>
                  <a:t>b)</a:t>
                </a:r>
                <a14:m>
                  <m:oMath xmlns:m="http://schemas.openxmlformats.org/officeDocument/2006/math">
                    <m:r>
                      <a:rPr lang="en-US" sz="1200" b="0" i="0" smtClean="0">
                        <a:latin typeface="Cambria Math" panose="02040503050406030204" pitchFamily="18" charset="0"/>
                      </a:rPr>
                      <m:t> </m:t>
                    </m:r>
                    <m:f>
                      <m:fPr>
                        <m:ctrlPr>
                          <a:rPr lang="en-US" sz="1200" i="1">
                            <a:latin typeface="Cambria Math" panose="02040503050406030204" pitchFamily="18" charset="0"/>
                          </a:rPr>
                        </m:ctrlPr>
                      </m:fPr>
                      <m:num>
                        <m:rad>
                          <m:radPr>
                            <m:degHide m:val="on"/>
                            <m:ctrlPr>
                              <a:rPr lang="en-US" sz="1200" i="1">
                                <a:latin typeface="Cambria Math" panose="02040503050406030204" pitchFamily="18" charset="0"/>
                                <a:ea typeface="Cambria Math" panose="02040503050406030204" pitchFamily="18" charset="0"/>
                              </a:rPr>
                            </m:ctrlPr>
                          </m:radPr>
                          <m:deg/>
                          <m:e>
                            <m:r>
                              <a:rPr lang="en-US" sz="1200" b="0" i="1" smtClean="0">
                                <a:latin typeface="Cambria Math" panose="02040503050406030204" pitchFamily="18" charset="0"/>
                                <a:ea typeface="Cambria Math" panose="02040503050406030204" pitchFamily="18" charset="0"/>
                              </a:rPr>
                              <m:t>8</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9</m:t>
                            </m:r>
                          </m:e>
                        </m:rad>
                        <m:r>
                          <a:rPr lang="en-US" sz="1200" i="1">
                            <a:latin typeface="Cambria Math" panose="02040503050406030204" pitchFamily="18" charset="0"/>
                            <a:ea typeface="Cambria Math" panose="02040503050406030204" pitchFamily="18" charset="0"/>
                          </a:rPr>
                          <m:t> + 9.9</m:t>
                        </m:r>
                      </m:num>
                      <m:den>
                        <m:sSup>
                          <m:sSupPr>
                            <m:ctrlPr>
                              <a:rPr lang="en-US" sz="1200" i="1">
                                <a:latin typeface="Cambria Math" panose="02040503050406030204" pitchFamily="18" charset="0"/>
                              </a:rPr>
                            </m:ctrlPr>
                          </m:sSupPr>
                          <m:e>
                            <m:r>
                              <a:rPr lang="en-US" sz="1200" i="1">
                                <a:latin typeface="Cambria Math" panose="02040503050406030204" pitchFamily="18" charset="0"/>
                              </a:rPr>
                              <m:t>0.9</m:t>
                            </m:r>
                          </m:e>
                          <m:sup>
                            <m:r>
                              <a:rPr lang="en-US" sz="1200" i="1">
                                <a:latin typeface="Cambria Math" panose="02040503050406030204" pitchFamily="18" charset="0"/>
                              </a:rPr>
                              <m:t>2</m:t>
                            </m:r>
                          </m:sup>
                        </m:sSup>
                      </m:den>
                    </m:f>
                  </m:oMath>
                </a14:m>
                <a:endParaRPr lang="en-GB" sz="1200"/>
              </a:p>
            </p:txBody>
          </p:sp>
        </mc:Choice>
        <mc:Fallback xmlns="">
          <p:sp>
            <p:nvSpPr>
              <p:cNvPr id="27" name="TextBox 26"/>
              <p:cNvSpPr txBox="1">
                <a:spLocks noRot="1" noChangeAspect="1" noMove="1" noResize="1" noEditPoints="1" noAdjustHandles="1" noChangeArrowheads="1" noChangeShapeType="1" noTextEdit="1"/>
              </p:cNvSpPr>
              <p:nvPr/>
            </p:nvSpPr>
            <p:spPr>
              <a:xfrm>
                <a:off x="1800594" y="4281775"/>
                <a:ext cx="846770" cy="387157"/>
              </a:xfrm>
              <a:prstGeom prst="rect">
                <a:avLst/>
              </a:prstGeom>
              <a:blipFill>
                <a:blip r:embed="rId4"/>
                <a:stretch>
                  <a:fillRect b="-1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3405291" y="4306288"/>
                <a:ext cx="846770" cy="387157"/>
              </a:xfrm>
              <a:prstGeom prst="rect">
                <a:avLst/>
              </a:prstGeom>
              <a:noFill/>
            </p:spPr>
            <p:txBody>
              <a:bodyPr wrap="none" rtlCol="0">
                <a:spAutoFit/>
              </a:bodyPr>
              <a:lstStyle/>
              <a:p>
                <a:r>
                  <a:rPr lang="en-US" sz="1200"/>
                  <a:t>c)</a:t>
                </a:r>
                <a14:m>
                  <m:oMath xmlns:m="http://schemas.openxmlformats.org/officeDocument/2006/math">
                    <m:f>
                      <m:fPr>
                        <m:ctrlPr>
                          <a:rPr lang="en-US" sz="1200" i="1">
                            <a:latin typeface="Cambria Math" panose="02040503050406030204" pitchFamily="18" charset="0"/>
                          </a:rPr>
                        </m:ctrlPr>
                      </m:fPr>
                      <m:num>
                        <m:rad>
                          <m:radPr>
                            <m:degHide m:val="on"/>
                            <m:ctrlPr>
                              <a:rPr lang="en-US" sz="1200" i="1">
                                <a:latin typeface="Cambria Math" panose="02040503050406030204" pitchFamily="18" charset="0"/>
                                <a:ea typeface="Cambria Math" panose="02040503050406030204" pitchFamily="18" charset="0"/>
                              </a:rPr>
                            </m:ctrlPr>
                          </m:radPr>
                          <m:deg/>
                          <m:e>
                            <m:r>
                              <a:rPr lang="en-US" sz="1200" i="1">
                                <a:latin typeface="Cambria Math" panose="02040503050406030204" pitchFamily="18" charset="0"/>
                                <a:ea typeface="Cambria Math" panose="02040503050406030204" pitchFamily="18" charset="0"/>
                              </a:rPr>
                              <m:t>8.9</m:t>
                            </m:r>
                          </m:e>
                        </m:rad>
                        <m:r>
                          <a:rPr lang="en-US" sz="1200" i="1">
                            <a:latin typeface="Cambria Math" panose="02040503050406030204" pitchFamily="18" charset="0"/>
                            <a:ea typeface="Cambria Math" panose="02040503050406030204" pitchFamily="18" charset="0"/>
                          </a:rPr>
                          <m:t> +</m:t>
                        </m:r>
                        <m:r>
                          <a:rPr lang="en-US" sz="1200" b="0" i="1" smtClean="0">
                            <a:latin typeface="Cambria Math" panose="02040503050406030204" pitchFamily="18" charset="0"/>
                            <a:ea typeface="Cambria Math" panose="02040503050406030204" pitchFamily="18" charset="0"/>
                          </a:rPr>
                          <m:t>10</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m:t>
                        </m:r>
                      </m:num>
                      <m:den>
                        <m:sSup>
                          <m:sSupPr>
                            <m:ctrlPr>
                              <a:rPr lang="en-US" sz="1200" i="1">
                                <a:latin typeface="Cambria Math" panose="02040503050406030204" pitchFamily="18" charset="0"/>
                              </a:rPr>
                            </m:ctrlPr>
                          </m:sSupPr>
                          <m:e>
                            <m:r>
                              <a:rPr lang="en-US" sz="1200" b="0" i="1" smtClean="0">
                                <a:latin typeface="Cambria Math" panose="02040503050406030204" pitchFamily="18" charset="0"/>
                              </a:rPr>
                              <m:t>1</m:t>
                            </m:r>
                            <m:r>
                              <a:rPr lang="en-US" sz="1200" i="1">
                                <a:latin typeface="Cambria Math" panose="02040503050406030204" pitchFamily="18" charset="0"/>
                              </a:rPr>
                              <m:t>.</m:t>
                            </m:r>
                            <m:r>
                              <a:rPr lang="en-US" sz="1200" b="0" i="1" smtClean="0">
                                <a:latin typeface="Cambria Math" panose="02040503050406030204" pitchFamily="18" charset="0"/>
                              </a:rPr>
                              <m:t>1</m:t>
                            </m:r>
                          </m:e>
                          <m:sup>
                            <m:r>
                              <a:rPr lang="en-US" sz="1200" i="1">
                                <a:latin typeface="Cambria Math" panose="02040503050406030204" pitchFamily="18" charset="0"/>
                              </a:rPr>
                              <m:t>2</m:t>
                            </m:r>
                          </m:sup>
                        </m:sSup>
                      </m:den>
                    </m:f>
                  </m:oMath>
                </a14:m>
                <a:endParaRPr lang="en-GB" sz="1200"/>
              </a:p>
            </p:txBody>
          </p:sp>
        </mc:Choice>
        <mc:Fallback xmlns="">
          <p:sp>
            <p:nvSpPr>
              <p:cNvPr id="28" name="TextBox 27"/>
              <p:cNvSpPr txBox="1">
                <a:spLocks noRot="1" noChangeAspect="1" noMove="1" noResize="1" noEditPoints="1" noAdjustHandles="1" noChangeArrowheads="1" noChangeShapeType="1" noTextEdit="1"/>
              </p:cNvSpPr>
              <p:nvPr/>
            </p:nvSpPr>
            <p:spPr>
              <a:xfrm>
                <a:off x="3405291" y="4306288"/>
                <a:ext cx="846770" cy="387157"/>
              </a:xfrm>
              <a:prstGeom prst="rect">
                <a:avLst/>
              </a:prstGeom>
              <a:blipFill>
                <a:blip r:embed="rId5"/>
                <a:stretch>
                  <a:fillRect l="-719" b="-1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5070482" y="4328886"/>
                <a:ext cx="854786" cy="386965"/>
              </a:xfrm>
              <a:prstGeom prst="rect">
                <a:avLst/>
              </a:prstGeom>
              <a:noFill/>
            </p:spPr>
            <p:txBody>
              <a:bodyPr wrap="none" rtlCol="0">
                <a:spAutoFit/>
              </a:bodyPr>
              <a:lstStyle/>
              <a:p>
                <a:r>
                  <a:rPr lang="en-US" sz="1200"/>
                  <a:t>d)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ea typeface="Cambria Math" panose="02040503050406030204" pitchFamily="18" charset="0"/>
                          </a:rPr>
                          <m:t>9.5 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rad>
                          <m:radPr>
                            <m:degHide m:val="on"/>
                            <m:ctrlPr>
                              <a:rPr lang="en-US" sz="1200" i="1" smtClean="0">
                                <a:latin typeface="Cambria Math" panose="02040503050406030204" pitchFamily="18" charset="0"/>
                                <a:ea typeface="Cambria Math" panose="02040503050406030204" pitchFamily="18" charset="0"/>
                              </a:rPr>
                            </m:ctrlPr>
                          </m:radPr>
                          <m:deg/>
                          <m:e>
                            <m:r>
                              <a:rPr lang="en-US" sz="1200" b="0" i="1" smtClean="0">
                                <a:latin typeface="Cambria Math" panose="02040503050406030204" pitchFamily="18" charset="0"/>
                                <a:ea typeface="Cambria Math" panose="02040503050406030204" pitchFamily="18" charset="0"/>
                              </a:rPr>
                              <m:t>8.8</m:t>
                            </m:r>
                          </m:e>
                        </m:rad>
                      </m:num>
                      <m:den>
                        <m:sSup>
                          <m:sSupPr>
                            <m:ctrlPr>
                              <a:rPr lang="en-US" sz="1200" i="1">
                                <a:latin typeface="Cambria Math" panose="02040503050406030204" pitchFamily="18" charset="0"/>
                              </a:rPr>
                            </m:ctrlPr>
                          </m:sSupPr>
                          <m:e>
                            <m:r>
                              <a:rPr lang="en-US" sz="1200" i="1">
                                <a:latin typeface="Cambria Math" panose="02040503050406030204" pitchFamily="18" charset="0"/>
                              </a:rPr>
                              <m:t>1.</m:t>
                            </m:r>
                            <m:r>
                              <a:rPr lang="en-US" sz="1200" b="0" i="1" smtClean="0">
                                <a:latin typeface="Cambria Math" panose="02040503050406030204" pitchFamily="18" charset="0"/>
                              </a:rPr>
                              <m:t>1</m:t>
                            </m:r>
                          </m:e>
                          <m:sup>
                            <m:r>
                              <a:rPr lang="en-US" sz="1200" i="1">
                                <a:latin typeface="Cambria Math" panose="02040503050406030204" pitchFamily="18" charset="0"/>
                              </a:rPr>
                              <m:t>2</m:t>
                            </m:r>
                          </m:sup>
                        </m:sSup>
                      </m:den>
                    </m:f>
                  </m:oMath>
                </a14:m>
                <a:endParaRPr lang="en-GB" sz="1200"/>
              </a:p>
            </p:txBody>
          </p:sp>
        </mc:Choice>
        <mc:Fallback xmlns="">
          <p:sp>
            <p:nvSpPr>
              <p:cNvPr id="29" name="TextBox 28"/>
              <p:cNvSpPr txBox="1">
                <a:spLocks noRot="1" noChangeAspect="1" noMove="1" noResize="1" noEditPoints="1" noAdjustHandles="1" noChangeArrowheads="1" noChangeShapeType="1" noTextEdit="1"/>
              </p:cNvSpPr>
              <p:nvPr/>
            </p:nvSpPr>
            <p:spPr>
              <a:xfrm>
                <a:off x="5070482" y="4328886"/>
                <a:ext cx="854786" cy="386965"/>
              </a:xfrm>
              <a:prstGeom prst="rect">
                <a:avLst/>
              </a:prstGeom>
              <a:blipFill>
                <a:blip r:embed="rId6"/>
                <a:stretch>
                  <a:fillRect l="-714" b="-1563"/>
                </a:stretch>
              </a:blipFill>
            </p:spPr>
            <p:txBody>
              <a:bodyPr/>
              <a:lstStyle/>
              <a:p>
                <a:r>
                  <a:rPr lang="en-US">
                    <a:noFill/>
                  </a:rPr>
                  <a:t> </a:t>
                </a:r>
              </a:p>
            </p:txBody>
          </p:sp>
        </mc:Fallback>
      </mc:AlternateContent>
      <p:sp>
        <p:nvSpPr>
          <p:cNvPr id="30" name="Rectangle 29"/>
          <p:cNvSpPr/>
          <p:nvPr/>
        </p:nvSpPr>
        <p:spPr>
          <a:xfrm>
            <a:off x="222173" y="4735521"/>
            <a:ext cx="1532685" cy="2344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CEEF23AD-EA17-135A-DB95-1D1FECB286F3}"/>
              </a:ext>
            </a:extLst>
          </p:cNvPr>
          <p:cNvSpPr/>
          <p:nvPr/>
        </p:nvSpPr>
        <p:spPr>
          <a:xfrm>
            <a:off x="348874" y="6084896"/>
            <a:ext cx="1294740" cy="435848"/>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2" name="Rectangle 31"/>
          <p:cNvSpPr/>
          <p:nvPr/>
        </p:nvSpPr>
        <p:spPr>
          <a:xfrm>
            <a:off x="1846118" y="4735520"/>
            <a:ext cx="1532685" cy="2344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p:cNvSpPr/>
          <p:nvPr/>
        </p:nvSpPr>
        <p:spPr>
          <a:xfrm>
            <a:off x="3461437" y="4735519"/>
            <a:ext cx="1532685" cy="2344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p:cNvSpPr/>
          <p:nvPr/>
        </p:nvSpPr>
        <p:spPr>
          <a:xfrm>
            <a:off x="5076756" y="4735519"/>
            <a:ext cx="1532685" cy="2344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CEEF23AD-EA17-135A-DB95-1D1FECB286F3}"/>
              </a:ext>
            </a:extLst>
          </p:cNvPr>
          <p:cNvSpPr/>
          <p:nvPr/>
        </p:nvSpPr>
        <p:spPr>
          <a:xfrm>
            <a:off x="1978281" y="6084896"/>
            <a:ext cx="1294740" cy="435848"/>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6" name="Rectangle 35">
            <a:extLst>
              <a:ext uri="{FF2B5EF4-FFF2-40B4-BE49-F238E27FC236}">
                <a16:creationId xmlns:a16="http://schemas.microsoft.com/office/drawing/2014/main" id="{CEEF23AD-EA17-135A-DB95-1D1FECB286F3}"/>
              </a:ext>
            </a:extLst>
          </p:cNvPr>
          <p:cNvSpPr/>
          <p:nvPr/>
        </p:nvSpPr>
        <p:spPr>
          <a:xfrm>
            <a:off x="3586224" y="6084895"/>
            <a:ext cx="1294740" cy="435848"/>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7" name="Rectangle 36">
            <a:extLst>
              <a:ext uri="{FF2B5EF4-FFF2-40B4-BE49-F238E27FC236}">
                <a16:creationId xmlns:a16="http://schemas.microsoft.com/office/drawing/2014/main" id="{CEEF23AD-EA17-135A-DB95-1D1FECB286F3}"/>
              </a:ext>
            </a:extLst>
          </p:cNvPr>
          <p:cNvSpPr/>
          <p:nvPr/>
        </p:nvSpPr>
        <p:spPr>
          <a:xfrm>
            <a:off x="5188000" y="6084895"/>
            <a:ext cx="1294740" cy="435848"/>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mc:AlternateContent xmlns:mc="http://schemas.openxmlformats.org/markup-compatibility/2006" xmlns:a14="http://schemas.microsoft.com/office/drawing/2010/main">
        <mc:Choice Requires="a14">
          <p:sp>
            <p:nvSpPr>
              <p:cNvPr id="62" name="TextBox 61"/>
              <p:cNvSpPr txBox="1"/>
              <p:nvPr/>
            </p:nvSpPr>
            <p:spPr>
              <a:xfrm>
                <a:off x="193397" y="7439191"/>
                <a:ext cx="800732" cy="390748"/>
              </a:xfrm>
              <a:prstGeom prst="rect">
                <a:avLst/>
              </a:prstGeom>
              <a:noFill/>
            </p:spPr>
            <p:txBody>
              <a:bodyPr wrap="none" rtlCol="0">
                <a:spAutoFit/>
              </a:bodyPr>
              <a:lstStyle/>
              <a:p>
                <a:r>
                  <a:rPr lang="en-US" sz="1200"/>
                  <a:t>f) </a:t>
                </a:r>
                <a14:m>
                  <m:oMath xmlns:m="http://schemas.openxmlformats.org/officeDocument/2006/math">
                    <m:f>
                      <m:fPr>
                        <m:ctrlPr>
                          <a:rPr lang="en-US" sz="1200" i="1">
                            <a:latin typeface="Cambria Math" panose="02040503050406030204" pitchFamily="18" charset="0"/>
                          </a:rPr>
                        </m:ctrlPr>
                      </m:fPr>
                      <m:num>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1.9</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 </m:t>
                        </m:r>
                        <m:r>
                          <a:rPr lang="en-U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r>
                          <a:rPr lang="en-US" sz="1200" i="1">
                            <a:latin typeface="Cambria Math" panose="02040503050406030204" pitchFamily="18" charset="0"/>
                            <a:ea typeface="Cambria Math" panose="02040503050406030204" pitchFamily="18" charset="0"/>
                          </a:rPr>
                          <m:t>9.9</m:t>
                        </m:r>
                      </m:num>
                      <m:den>
                        <m:rad>
                          <m:radPr>
                            <m:degHide m:val="on"/>
                            <m:ctrlPr>
                              <a:rPr lang="en-US" sz="1200" b="0" i="1" smtClean="0">
                                <a:latin typeface="Cambria Math" panose="02040503050406030204" pitchFamily="18" charset="0"/>
                                <a:ea typeface="Cambria Math" panose="02040503050406030204" pitchFamily="18" charset="0"/>
                              </a:rPr>
                            </m:ctrlPr>
                          </m:radPr>
                          <m:deg/>
                          <m:e>
                            <m:r>
                              <a:rPr lang="en-US" sz="1200" b="0" i="1" smtClean="0">
                                <a:latin typeface="Cambria Math" panose="02040503050406030204" pitchFamily="18" charset="0"/>
                                <a:ea typeface="Cambria Math" panose="02040503050406030204" pitchFamily="18" charset="0"/>
                              </a:rPr>
                              <m:t>4.1</m:t>
                            </m:r>
                          </m:e>
                        </m:rad>
                      </m:den>
                    </m:f>
                  </m:oMath>
                </a14:m>
                <a:endParaRPr lang="en-GB" sz="1200"/>
              </a:p>
            </p:txBody>
          </p:sp>
        </mc:Choice>
        <mc:Fallback xmlns="">
          <p:sp>
            <p:nvSpPr>
              <p:cNvPr id="62" name="TextBox 61"/>
              <p:cNvSpPr txBox="1">
                <a:spLocks noRot="1" noChangeAspect="1" noMove="1" noResize="1" noEditPoints="1" noAdjustHandles="1" noChangeArrowheads="1" noChangeShapeType="1" noTextEdit="1"/>
              </p:cNvSpPr>
              <p:nvPr/>
            </p:nvSpPr>
            <p:spPr>
              <a:xfrm>
                <a:off x="193397" y="7439191"/>
                <a:ext cx="800732" cy="390748"/>
              </a:xfrm>
              <a:prstGeom prst="rect">
                <a:avLst/>
              </a:prstGeom>
              <a:blipFill>
                <a:blip r:embed="rId7"/>
                <a:stretch>
                  <a:fillRect l="-7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1791682" y="7458457"/>
                <a:ext cx="822533" cy="390748"/>
              </a:xfrm>
              <a:prstGeom prst="rect">
                <a:avLst/>
              </a:prstGeom>
              <a:noFill/>
            </p:spPr>
            <p:txBody>
              <a:bodyPr wrap="none" rtlCol="0">
                <a:spAutoFit/>
              </a:bodyPr>
              <a:lstStyle/>
              <a:p>
                <a:r>
                  <a:rPr lang="en-US" sz="1200"/>
                  <a:t>g)</a:t>
                </a:r>
                <a14:m>
                  <m:oMath xmlns:m="http://schemas.openxmlformats.org/officeDocument/2006/math">
                    <m:r>
                      <a:rPr lang="en-US" sz="1200" b="0" i="0" smtClean="0">
                        <a:latin typeface="Cambria Math" panose="02040503050406030204" pitchFamily="18" charset="0"/>
                      </a:rPr>
                      <m:t> </m:t>
                    </m:r>
                    <m:f>
                      <m:fPr>
                        <m:ctrlPr>
                          <a:rPr lang="en-US" sz="1200" i="1">
                            <a:latin typeface="Cambria Math" panose="02040503050406030204" pitchFamily="18" charset="0"/>
                          </a:rPr>
                        </m:ctrlPr>
                      </m:fPr>
                      <m:num>
                        <m:sSup>
                          <m:sSupPr>
                            <m:ctrlPr>
                              <a:rPr lang="en-US" sz="1200" b="0" i="1" smtClean="0">
                                <a:latin typeface="Cambria Math" panose="02040503050406030204" pitchFamily="18" charset="0"/>
                                <a:ea typeface="Cambria Math" panose="02040503050406030204" pitchFamily="18" charset="0"/>
                              </a:rPr>
                            </m:ctrlPr>
                          </m:sSupPr>
                          <m:e>
                            <m:r>
                              <a:rPr lang="en-US" sz="1200" i="1" smtClean="0">
                                <a:latin typeface="Cambria Math" panose="02040503050406030204" pitchFamily="18" charset="0"/>
                                <a:ea typeface="Cambria Math" panose="02040503050406030204" pitchFamily="18" charset="0"/>
                              </a:rPr>
                              <m:t>2</m:t>
                            </m:r>
                            <m:r>
                              <a:rPr lang="en-US" sz="1200" b="0" i="1" smtClean="0">
                                <a:latin typeface="Cambria Math" panose="02040503050406030204" pitchFamily="18" charset="0"/>
                                <a:ea typeface="Cambria Math" panose="02040503050406030204" pitchFamily="18" charset="0"/>
                              </a:rPr>
                              <m:t>.9</m:t>
                            </m:r>
                          </m:e>
                          <m:sup>
                            <m:r>
                              <a:rPr lang="en-US" sz="1200" b="0" i="1" smtClean="0">
                                <a:latin typeface="Cambria Math" panose="02040503050406030204" pitchFamily="18" charset="0"/>
                                <a:ea typeface="Cambria Math" panose="02040503050406030204" pitchFamily="18" charset="0"/>
                              </a:rPr>
                              <m:t>2</m:t>
                            </m:r>
                          </m:sup>
                        </m:sSup>
                        <m:r>
                          <a:rPr lang="en-US" sz="1200" i="1">
                            <a:latin typeface="Cambria Math" panose="02040503050406030204" pitchFamily="18" charset="0"/>
                            <a:ea typeface="Cambria Math" panose="02040503050406030204" pitchFamily="18" charset="0"/>
                          </a:rPr>
                          <m:t> × 9.9</m:t>
                        </m:r>
                      </m:num>
                      <m:den>
                        <m:rad>
                          <m:radPr>
                            <m:degHide m:val="on"/>
                            <m:ctrlPr>
                              <a:rPr lang="en-US" sz="1200" i="1">
                                <a:latin typeface="Cambria Math" panose="02040503050406030204" pitchFamily="18" charset="0"/>
                                <a:ea typeface="Cambria Math" panose="02040503050406030204" pitchFamily="18" charset="0"/>
                              </a:rPr>
                            </m:ctrlPr>
                          </m:radPr>
                          <m:deg/>
                          <m:e>
                            <m:r>
                              <a:rPr lang="en-US" sz="1200" i="1">
                                <a:latin typeface="Cambria Math" panose="02040503050406030204" pitchFamily="18" charset="0"/>
                                <a:ea typeface="Cambria Math" panose="02040503050406030204" pitchFamily="18" charset="0"/>
                              </a:rPr>
                              <m:t>4.1</m:t>
                            </m:r>
                          </m:e>
                        </m:rad>
                      </m:den>
                    </m:f>
                  </m:oMath>
                </a14:m>
                <a:endParaRPr lang="en-GB" sz="1200"/>
              </a:p>
            </p:txBody>
          </p:sp>
        </mc:Choice>
        <mc:Fallback xmlns="">
          <p:sp>
            <p:nvSpPr>
              <p:cNvPr id="63" name="TextBox 62"/>
              <p:cNvSpPr txBox="1">
                <a:spLocks noRot="1" noChangeAspect="1" noMove="1" noResize="1" noEditPoints="1" noAdjustHandles="1" noChangeArrowheads="1" noChangeShapeType="1" noTextEdit="1"/>
              </p:cNvSpPr>
              <p:nvPr/>
            </p:nvSpPr>
            <p:spPr>
              <a:xfrm>
                <a:off x="1791682" y="7458457"/>
                <a:ext cx="822533" cy="390748"/>
              </a:xfrm>
              <a:prstGeom prst="rect">
                <a:avLst/>
              </a:prstGeom>
              <a:blipFill>
                <a:blip r:embed="rId8"/>
                <a:stretch>
                  <a:fillRect l="-7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a:off x="3396379" y="7463920"/>
                <a:ext cx="772584" cy="380297"/>
              </a:xfrm>
              <a:prstGeom prst="rect">
                <a:avLst/>
              </a:prstGeom>
              <a:noFill/>
            </p:spPr>
            <p:txBody>
              <a:bodyPr wrap="none" rtlCol="0">
                <a:spAutoFit/>
              </a:bodyPr>
              <a:lstStyle/>
              <a:p>
                <a:r>
                  <a:rPr lang="en-US" sz="1200"/>
                  <a:t>h)</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ea typeface="Cambria Math" panose="02040503050406030204" pitchFamily="18" charset="0"/>
                          </a:rPr>
                          <m:t>4.1</m:t>
                        </m:r>
                        <m:r>
                          <a:rPr lang="en-US" sz="1200" i="1">
                            <a:latin typeface="Cambria Math" panose="02040503050406030204" pitchFamily="18" charset="0"/>
                            <a:ea typeface="Cambria Math" panose="02040503050406030204" pitchFamily="18" charset="0"/>
                          </a:rPr>
                          <m:t> </m:t>
                        </m:r>
                        <m:r>
                          <a:rPr lang="en-US" sz="120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4.1</m:t>
                            </m:r>
                          </m:e>
                          <m:sup>
                            <m:r>
                              <a:rPr lang="en-US" sz="1200" b="0" i="1" smtClean="0">
                                <a:latin typeface="Cambria Math" panose="02040503050406030204" pitchFamily="18" charset="0"/>
                                <a:ea typeface="Cambria Math" panose="02040503050406030204" pitchFamily="18" charset="0"/>
                              </a:rPr>
                              <m:t>2</m:t>
                            </m:r>
                          </m:sup>
                        </m:sSup>
                      </m:num>
                      <m:den>
                        <m:r>
                          <a:rPr lang="en-US" sz="1200" i="1" smtClean="0">
                            <a:latin typeface="Cambria Math" panose="02040503050406030204" pitchFamily="18" charset="0"/>
                          </a:rPr>
                          <m:t>7</m:t>
                        </m:r>
                        <m:r>
                          <a:rPr lang="en-US" sz="1200" b="0" i="1" smtClean="0">
                            <a:latin typeface="Cambria Math" panose="02040503050406030204" pitchFamily="18" charset="0"/>
                          </a:rPr>
                          <m:t>.9</m:t>
                        </m:r>
                      </m:den>
                    </m:f>
                  </m:oMath>
                </a14:m>
                <a:endParaRPr lang="en-GB" sz="1200"/>
              </a:p>
            </p:txBody>
          </p:sp>
        </mc:Choice>
        <mc:Fallback xmlns="">
          <p:sp>
            <p:nvSpPr>
              <p:cNvPr id="64" name="TextBox 63"/>
              <p:cNvSpPr txBox="1">
                <a:spLocks noRot="1" noChangeAspect="1" noMove="1" noResize="1" noEditPoints="1" noAdjustHandles="1" noChangeArrowheads="1" noChangeShapeType="1" noTextEdit="1"/>
              </p:cNvSpPr>
              <p:nvPr/>
            </p:nvSpPr>
            <p:spPr>
              <a:xfrm>
                <a:off x="3396379" y="7463920"/>
                <a:ext cx="772584" cy="380297"/>
              </a:xfrm>
              <a:prstGeom prst="rect">
                <a:avLst/>
              </a:prstGeom>
              <a:blipFill>
                <a:blip r:embed="rId9"/>
                <a:stretch>
                  <a:fillRect b="-1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p:cNvSpPr txBox="1"/>
              <p:nvPr/>
            </p:nvSpPr>
            <p:spPr>
              <a:xfrm>
                <a:off x="5061570" y="7448418"/>
                <a:ext cx="867482" cy="387414"/>
              </a:xfrm>
              <a:prstGeom prst="rect">
                <a:avLst/>
              </a:prstGeom>
              <a:noFill/>
            </p:spPr>
            <p:txBody>
              <a:bodyPr wrap="none" rtlCol="0">
                <a:spAutoFit/>
              </a:bodyPr>
              <a:lstStyle/>
              <a:p>
                <a:r>
                  <a:rPr lang="en-US" sz="1200" err="1"/>
                  <a:t>i</a:t>
                </a:r>
                <a:r>
                  <a:rPr lang="en-US" sz="1200"/>
                  <a:t>) </a:t>
                </a:r>
                <a14:m>
                  <m:oMath xmlns:m="http://schemas.openxmlformats.org/officeDocument/2006/math">
                    <m:f>
                      <m:fPr>
                        <m:ctrlPr>
                          <a:rPr lang="en-US" sz="1200" i="1">
                            <a:latin typeface="Cambria Math" panose="02040503050406030204" pitchFamily="18" charset="0"/>
                          </a:rPr>
                        </m:ctrlPr>
                      </m:fPr>
                      <m:num>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5.9</m:t>
                            </m:r>
                          </m:e>
                          <m:sup>
                            <m:r>
                              <a:rPr lang="en-US" sz="1200" b="0" i="1" smtClean="0">
                                <a:latin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 </m:t>
                        </m:r>
                        <m:r>
                          <a:rPr lang="en-U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rad>
                          <m:radPr>
                            <m:degHide m:val="on"/>
                            <m:ctrlPr>
                              <a:rPr lang="en-US" sz="1200" i="1" smtClean="0">
                                <a:latin typeface="Cambria Math" panose="02040503050406030204" pitchFamily="18" charset="0"/>
                                <a:ea typeface="Cambria Math" panose="02040503050406030204" pitchFamily="18" charset="0"/>
                              </a:rPr>
                            </m:ctrlPr>
                          </m:radPr>
                          <m:deg/>
                          <m:e>
                            <m:r>
                              <a:rPr lang="en-US" sz="1200" b="0" i="1" smtClean="0">
                                <a:latin typeface="Cambria Math" panose="02040503050406030204" pitchFamily="18" charset="0"/>
                                <a:ea typeface="Cambria Math" panose="02040503050406030204" pitchFamily="18" charset="0"/>
                              </a:rPr>
                              <m:t>4.1</m:t>
                            </m:r>
                          </m:e>
                        </m:rad>
                      </m:num>
                      <m:den>
                        <m:r>
                          <a:rPr lang="en-US" sz="1200" i="1" smtClean="0">
                            <a:latin typeface="Cambria Math" panose="02040503050406030204" pitchFamily="18" charset="0"/>
                          </a:rPr>
                          <m:t>1</m:t>
                        </m:r>
                        <m:r>
                          <a:rPr lang="en-US" sz="1200" b="0" i="1" smtClean="0">
                            <a:latin typeface="Cambria Math" panose="02040503050406030204" pitchFamily="18" charset="0"/>
                          </a:rPr>
                          <m:t>1.9</m:t>
                        </m:r>
                      </m:den>
                    </m:f>
                  </m:oMath>
                </a14:m>
                <a:endParaRPr lang="en-GB" sz="1200"/>
              </a:p>
            </p:txBody>
          </p:sp>
        </mc:Choice>
        <mc:Fallback xmlns="">
          <p:sp>
            <p:nvSpPr>
              <p:cNvPr id="65" name="TextBox 64"/>
              <p:cNvSpPr txBox="1">
                <a:spLocks noRot="1" noChangeAspect="1" noMove="1" noResize="1" noEditPoints="1" noAdjustHandles="1" noChangeArrowheads="1" noChangeShapeType="1" noTextEdit="1"/>
              </p:cNvSpPr>
              <p:nvPr/>
            </p:nvSpPr>
            <p:spPr>
              <a:xfrm>
                <a:off x="5061570" y="7448418"/>
                <a:ext cx="867482" cy="387414"/>
              </a:xfrm>
              <a:prstGeom prst="rect">
                <a:avLst/>
              </a:prstGeom>
              <a:blipFill>
                <a:blip r:embed="rId10"/>
                <a:stretch>
                  <a:fillRect b="-3175"/>
                </a:stretch>
              </a:blipFill>
            </p:spPr>
            <p:txBody>
              <a:bodyPr/>
              <a:lstStyle/>
              <a:p>
                <a:r>
                  <a:rPr lang="en-US">
                    <a:noFill/>
                  </a:rPr>
                  <a:t> </a:t>
                </a:r>
              </a:p>
            </p:txBody>
          </p:sp>
        </mc:Fallback>
      </mc:AlternateContent>
      <p:sp>
        <p:nvSpPr>
          <p:cNvPr id="66" name="Rectangle 65"/>
          <p:cNvSpPr/>
          <p:nvPr/>
        </p:nvSpPr>
        <p:spPr>
          <a:xfrm>
            <a:off x="213261" y="7845429"/>
            <a:ext cx="1532685" cy="20081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Rectangle 66">
            <a:extLst>
              <a:ext uri="{FF2B5EF4-FFF2-40B4-BE49-F238E27FC236}">
                <a16:creationId xmlns:a16="http://schemas.microsoft.com/office/drawing/2014/main" id="{CEEF23AD-EA17-135A-DB95-1D1FECB286F3}"/>
              </a:ext>
            </a:extLst>
          </p:cNvPr>
          <p:cNvSpPr/>
          <p:nvPr/>
        </p:nvSpPr>
        <p:spPr>
          <a:xfrm>
            <a:off x="339962" y="9442553"/>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Rectangle 67"/>
          <p:cNvSpPr/>
          <p:nvPr/>
        </p:nvSpPr>
        <p:spPr>
          <a:xfrm>
            <a:off x="1837206" y="7845428"/>
            <a:ext cx="1532685" cy="20081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Rectangle 68"/>
          <p:cNvSpPr/>
          <p:nvPr/>
        </p:nvSpPr>
        <p:spPr>
          <a:xfrm>
            <a:off x="3452525" y="7845427"/>
            <a:ext cx="1532685" cy="20081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Rectangle 69"/>
          <p:cNvSpPr/>
          <p:nvPr/>
        </p:nvSpPr>
        <p:spPr>
          <a:xfrm>
            <a:off x="5067844" y="7845427"/>
            <a:ext cx="1532685" cy="20081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Rectangle 70">
            <a:extLst>
              <a:ext uri="{FF2B5EF4-FFF2-40B4-BE49-F238E27FC236}">
                <a16:creationId xmlns:a16="http://schemas.microsoft.com/office/drawing/2014/main" id="{CEEF23AD-EA17-135A-DB95-1D1FECB286F3}"/>
              </a:ext>
            </a:extLst>
          </p:cNvPr>
          <p:cNvSpPr/>
          <p:nvPr/>
        </p:nvSpPr>
        <p:spPr>
          <a:xfrm>
            <a:off x="1969369" y="9442553"/>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2" name="Rectangle 71">
            <a:extLst>
              <a:ext uri="{FF2B5EF4-FFF2-40B4-BE49-F238E27FC236}">
                <a16:creationId xmlns:a16="http://schemas.microsoft.com/office/drawing/2014/main" id="{CEEF23AD-EA17-135A-DB95-1D1FECB286F3}"/>
              </a:ext>
            </a:extLst>
          </p:cNvPr>
          <p:cNvSpPr/>
          <p:nvPr/>
        </p:nvSpPr>
        <p:spPr>
          <a:xfrm>
            <a:off x="3577312" y="9442552"/>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3" name="Rectangle 72">
            <a:extLst>
              <a:ext uri="{FF2B5EF4-FFF2-40B4-BE49-F238E27FC236}">
                <a16:creationId xmlns:a16="http://schemas.microsoft.com/office/drawing/2014/main" id="{CEEF23AD-EA17-135A-DB95-1D1FECB286F3}"/>
              </a:ext>
            </a:extLst>
          </p:cNvPr>
          <p:cNvSpPr/>
          <p:nvPr/>
        </p:nvSpPr>
        <p:spPr>
          <a:xfrm>
            <a:off x="5179088" y="9442552"/>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4" name="Slide Number Placeholder 2"/>
          <p:cNvSpPr>
            <a:spLocks noGrp="1"/>
          </p:cNvSpPr>
          <p:nvPr>
            <p:ph type="sldNum" sz="quarter" idx="12"/>
          </p:nvPr>
        </p:nvSpPr>
        <p:spPr>
          <a:xfrm>
            <a:off x="5395716" y="9576945"/>
            <a:ext cx="1543050" cy="527403"/>
          </a:xfrm>
        </p:spPr>
        <p:txBody>
          <a:bodyPr/>
          <a:lstStyle/>
          <a:p>
            <a:fld id="{19F1D9CC-7119-45EC-A96C-D8C0660F3AAB}" type="slidenum">
              <a:rPr lang="en-GB" smtClean="0"/>
              <a:t>37</a:t>
            </a:fld>
            <a:endParaRPr lang="en-GB"/>
          </a:p>
        </p:txBody>
      </p:sp>
      <p:sp>
        <p:nvSpPr>
          <p:cNvPr id="10" name="Rectangle 9">
            <a:extLst>
              <a:ext uri="{FF2B5EF4-FFF2-40B4-BE49-F238E27FC236}">
                <a16:creationId xmlns:a16="http://schemas.microsoft.com/office/drawing/2014/main" id="{EF677E54-4F8D-A98C-3D5E-C1174B1CB795}"/>
              </a:ext>
            </a:extLst>
          </p:cNvPr>
          <p:cNvSpPr/>
          <p:nvPr/>
        </p:nvSpPr>
        <p:spPr>
          <a:xfrm>
            <a:off x="181527" y="3895511"/>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24" name="Rectangle 23">
            <a:extLst>
              <a:ext uri="{FF2B5EF4-FFF2-40B4-BE49-F238E27FC236}">
                <a16:creationId xmlns:a16="http://schemas.microsoft.com/office/drawing/2014/main" id="{13DA0C70-0D8D-F2DC-4204-1A5B237A035B}"/>
              </a:ext>
            </a:extLst>
          </p:cNvPr>
          <p:cNvSpPr/>
          <p:nvPr/>
        </p:nvSpPr>
        <p:spPr>
          <a:xfrm>
            <a:off x="180207" y="0"/>
            <a:ext cx="2605999" cy="38202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Multi-step Estimation</a:t>
            </a:r>
          </a:p>
        </p:txBody>
      </p:sp>
    </p:spTree>
    <p:extLst>
      <p:ext uri="{BB962C8B-B14F-4D97-AF65-F5344CB8AC3E}">
        <p14:creationId xmlns:p14="http://schemas.microsoft.com/office/powerpoint/2010/main" val="11551658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7487" y="465858"/>
            <a:ext cx="5935513" cy="276999"/>
          </a:xfrm>
          <a:prstGeom prst="rect">
            <a:avLst/>
          </a:prstGeom>
        </p:spPr>
        <p:txBody>
          <a:bodyPr wrap="square">
            <a:spAutoFit/>
          </a:bodyPr>
          <a:lstStyle/>
          <a:p>
            <a:r>
              <a:rPr lang="en-US" sz="1200"/>
              <a:t>8. Estimate the total cost of 32 printers at £198 each and 58 ink cartridges at £31.15 each. </a:t>
            </a:r>
            <a:endParaRPr lang="en-GB" sz="1200"/>
          </a:p>
        </p:txBody>
      </p:sp>
      <p:sp>
        <p:nvSpPr>
          <p:cNvPr id="4" name="Rectangle 3"/>
          <p:cNvSpPr/>
          <p:nvPr/>
        </p:nvSpPr>
        <p:spPr>
          <a:xfrm>
            <a:off x="159275" y="1557655"/>
            <a:ext cx="6207558" cy="461665"/>
          </a:xfrm>
          <a:prstGeom prst="rect">
            <a:avLst/>
          </a:prstGeom>
        </p:spPr>
        <p:txBody>
          <a:bodyPr wrap="square">
            <a:spAutoFit/>
          </a:bodyPr>
          <a:lstStyle/>
          <a:p>
            <a:r>
              <a:rPr lang="en-US" sz="1200"/>
              <a:t>9. In a cinema there are 28 rows and in each row there are 22 seats. Each ticket costs £8.10 Work out an estimate for the total income from the ticket sales</a:t>
            </a:r>
            <a:endParaRPr lang="en-GB" sz="1200"/>
          </a:p>
        </p:txBody>
      </p:sp>
      <p:sp>
        <p:nvSpPr>
          <p:cNvPr id="5" name="Rectangle 4"/>
          <p:cNvSpPr/>
          <p:nvPr/>
        </p:nvSpPr>
        <p:spPr>
          <a:xfrm>
            <a:off x="159275" y="2984339"/>
            <a:ext cx="6541811" cy="461665"/>
          </a:xfrm>
          <a:prstGeom prst="rect">
            <a:avLst/>
          </a:prstGeom>
        </p:spPr>
        <p:txBody>
          <a:bodyPr wrap="square">
            <a:spAutoFit/>
          </a:bodyPr>
          <a:lstStyle/>
          <a:p>
            <a:r>
              <a:rPr lang="en-US" sz="1200"/>
              <a:t>10. Lauren is given two job offers Job A: £785 a week Job B: £1950 a month Which job is offering the greatest pay?</a:t>
            </a:r>
            <a:endParaRPr lang="en-GB" sz="1200"/>
          </a:p>
        </p:txBody>
      </p:sp>
      <p:sp>
        <p:nvSpPr>
          <p:cNvPr id="6" name="Rectangle 5"/>
          <p:cNvSpPr/>
          <p:nvPr/>
        </p:nvSpPr>
        <p:spPr>
          <a:xfrm>
            <a:off x="203752" y="4398217"/>
            <a:ext cx="6541811" cy="461665"/>
          </a:xfrm>
          <a:prstGeom prst="rect">
            <a:avLst/>
          </a:prstGeom>
        </p:spPr>
        <p:txBody>
          <a:bodyPr wrap="square">
            <a:spAutoFit/>
          </a:bodyPr>
          <a:lstStyle/>
          <a:p>
            <a:r>
              <a:rPr lang="en-US" sz="1200"/>
              <a:t>11. A buzzer beeps every 1,111 seconds. Work out an estimate for the number of times the buzzer beeps in 1 week.</a:t>
            </a:r>
            <a:endParaRPr lang="en-GB" sz="1200"/>
          </a:p>
        </p:txBody>
      </p:sp>
      <p:sp>
        <p:nvSpPr>
          <p:cNvPr id="7" name="Rectangle 6"/>
          <p:cNvSpPr/>
          <p:nvPr/>
        </p:nvSpPr>
        <p:spPr>
          <a:xfrm>
            <a:off x="159275" y="5812095"/>
            <a:ext cx="6406055" cy="830997"/>
          </a:xfrm>
          <a:prstGeom prst="rect">
            <a:avLst/>
          </a:prstGeom>
        </p:spPr>
        <p:txBody>
          <a:bodyPr wrap="square">
            <a:spAutoFit/>
          </a:bodyPr>
          <a:lstStyle/>
          <a:p>
            <a:r>
              <a:rPr lang="en-US" sz="1200"/>
              <a:t>12. Andrew is going to fill an empty swimming pool. Andrew fills the swimming pool with water at a constant rate of 2.1 </a:t>
            </a:r>
            <a:r>
              <a:rPr lang="en-US" sz="1200" err="1"/>
              <a:t>litres</a:t>
            </a:r>
            <a:r>
              <a:rPr lang="en-US" sz="1200"/>
              <a:t> per second. </a:t>
            </a:r>
          </a:p>
          <a:p>
            <a:endParaRPr lang="en-US" sz="1200"/>
          </a:p>
          <a:p>
            <a:r>
              <a:rPr lang="en-US" sz="1200"/>
              <a:t>Given 1m³ = 1000 </a:t>
            </a:r>
            <a:r>
              <a:rPr lang="en-US" sz="1200" err="1"/>
              <a:t>litres</a:t>
            </a:r>
            <a:r>
              <a:rPr lang="en-US" sz="1200"/>
              <a:t>, estimate how long it takes to fill the pool</a:t>
            </a:r>
            <a:endParaRPr lang="en-GB" sz="1200"/>
          </a:p>
        </p:txBody>
      </p:sp>
      <p:pic>
        <p:nvPicPr>
          <p:cNvPr id="8" name="Picture 7"/>
          <p:cNvPicPr>
            <a:picLocks noChangeAspect="1"/>
          </p:cNvPicPr>
          <p:nvPr/>
        </p:nvPicPr>
        <p:blipFill>
          <a:blip r:embed="rId2"/>
          <a:stretch>
            <a:fillRect/>
          </a:stretch>
        </p:blipFill>
        <p:spPr>
          <a:xfrm>
            <a:off x="4200525" y="6583035"/>
            <a:ext cx="2657475" cy="1285875"/>
          </a:xfrm>
          <a:prstGeom prst="rect">
            <a:avLst/>
          </a:prstGeom>
        </p:spPr>
      </p:pic>
      <p:sp>
        <p:nvSpPr>
          <p:cNvPr id="9" name="Rectangle 8"/>
          <p:cNvSpPr/>
          <p:nvPr/>
        </p:nvSpPr>
        <p:spPr>
          <a:xfrm>
            <a:off x="287487" y="876933"/>
            <a:ext cx="6277843" cy="5917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p:nvSpPr>
        <p:spPr>
          <a:xfrm>
            <a:off x="287487" y="2102752"/>
            <a:ext cx="6277843" cy="7709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p:nvSpPr>
        <p:spPr>
          <a:xfrm>
            <a:off x="287487" y="3534944"/>
            <a:ext cx="6277843" cy="7709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p:nvSpPr>
        <p:spPr>
          <a:xfrm>
            <a:off x="287487" y="4961628"/>
            <a:ext cx="6277843" cy="7709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p:nvSpPr>
        <p:spPr>
          <a:xfrm>
            <a:off x="287487" y="6684352"/>
            <a:ext cx="3761999" cy="13057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4" name="Rectangle 13"/>
              <p:cNvSpPr/>
              <p:nvPr/>
            </p:nvSpPr>
            <p:spPr>
              <a:xfrm>
                <a:off x="203752" y="8098659"/>
                <a:ext cx="6406055" cy="468654"/>
              </a:xfrm>
              <a:prstGeom prst="rect">
                <a:avLst/>
              </a:prstGeom>
            </p:spPr>
            <p:txBody>
              <a:bodyPr wrap="square">
                <a:spAutoFit/>
              </a:bodyPr>
              <a:lstStyle/>
              <a:p>
                <a:r>
                  <a:rPr lang="en-US" sz="1200"/>
                  <a:t>13. Estimate </a:t>
                </a:r>
                <a14:m>
                  <m:oMath xmlns:m="http://schemas.openxmlformats.org/officeDocument/2006/math">
                    <m:f>
                      <m:fPr>
                        <m:ctrlPr>
                          <a:rPr lang="en-US" sz="1400" i="1">
                            <a:latin typeface="Cambria Math" panose="02040503050406030204" pitchFamily="18" charset="0"/>
                          </a:rPr>
                        </m:ctrlPr>
                      </m:fPr>
                      <m:num>
                        <m:rad>
                          <m:radPr>
                            <m:ctrlPr>
                              <a:rPr lang="en-US" sz="1400" b="0" i="1" smtClean="0">
                                <a:latin typeface="Cambria Math" panose="02040503050406030204" pitchFamily="18" charset="0"/>
                                <a:ea typeface="Cambria Math" panose="02040503050406030204" pitchFamily="18" charset="0"/>
                              </a:rPr>
                            </m:ctrlPr>
                          </m:radPr>
                          <m:deg>
                            <m:r>
                              <a:rPr lang="en-US" sz="1400" b="0" smtClean="0">
                                <a:latin typeface="Cambria Math" panose="02040503050406030204" pitchFamily="18" charset="0"/>
                                <a:ea typeface="Cambria Math" panose="02040503050406030204" pitchFamily="18" charset="0"/>
                              </a:rPr>
                              <m:t>3</m:t>
                            </m:r>
                          </m:deg>
                          <m:e>
                            <m:r>
                              <a:rPr lang="en-US" sz="1400" b="0" i="1" smtClean="0">
                                <a:latin typeface="Cambria Math" panose="02040503050406030204" pitchFamily="18" charset="0"/>
                                <a:ea typeface="Cambria Math" panose="02040503050406030204" pitchFamily="18" charset="0"/>
                              </a:rPr>
                              <m:t>124</m:t>
                            </m:r>
                          </m:e>
                        </m:rad>
                        <m:r>
                          <a:rPr lang="en-US" sz="1400" i="1">
                            <a:latin typeface="Cambria Math" panose="02040503050406030204" pitchFamily="18" charset="0"/>
                            <a:ea typeface="Cambria Math" panose="02040503050406030204" pitchFamily="18" charset="0"/>
                          </a:rPr>
                          <m:t> ×</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3</m:t>
                            </m:r>
                            <m:r>
                              <a:rPr lang="en-US" sz="1400" i="1">
                                <a:latin typeface="Cambria Math" panose="02040503050406030204" pitchFamily="18" charset="0"/>
                                <a:ea typeface="Cambria Math" panose="02040503050406030204" pitchFamily="18" charset="0"/>
                              </a:rPr>
                              <m:t>.9</m:t>
                            </m:r>
                          </m:e>
                          <m:sup>
                            <m:r>
                              <a:rPr lang="en-US" sz="1400" b="0" i="1" smtClean="0">
                                <a:latin typeface="Cambria Math" panose="02040503050406030204" pitchFamily="18" charset="0"/>
                                <a:ea typeface="Cambria Math" panose="02040503050406030204" pitchFamily="18" charset="0"/>
                              </a:rPr>
                              <m:t>2</m:t>
                            </m:r>
                          </m:sup>
                        </m:sSup>
                      </m:num>
                      <m:den>
                        <m:rad>
                          <m:radPr>
                            <m:degHide m:val="on"/>
                            <m:ctrlPr>
                              <a:rPr lang="en-US" sz="1400" b="0" i="1" smtClean="0">
                                <a:latin typeface="Cambria Math" panose="02040503050406030204" pitchFamily="18" charset="0"/>
                              </a:rPr>
                            </m:ctrlPr>
                          </m:radPr>
                          <m:deg/>
                          <m:e>
                            <m:r>
                              <a:rPr lang="en-US" sz="1400" b="0" i="1" smtClean="0">
                                <a:latin typeface="Cambria Math" panose="02040503050406030204" pitchFamily="18" charset="0"/>
                              </a:rPr>
                              <m:t>15.9</m:t>
                            </m:r>
                          </m:e>
                        </m:rad>
                        <m:r>
                          <a:rPr lang="en-US" sz="1400" b="0" i="1" smtClean="0">
                            <a:latin typeface="Cambria Math" panose="02040503050406030204" pitchFamily="18" charset="0"/>
                          </a:rPr>
                          <m:t> </m:t>
                        </m:r>
                        <m:r>
                          <a:rPr lang="en-US" sz="1400" b="0" i="1" smtClean="0">
                            <a:latin typeface="Cambria Math" panose="02040503050406030204" pitchFamily="18" charset="0"/>
                            <a:ea typeface="Cambria Math" panose="02040503050406030204" pitchFamily="18" charset="0"/>
                          </a:rPr>
                          <m:t>× 1.9</m:t>
                        </m:r>
                      </m:den>
                    </m:f>
                  </m:oMath>
                </a14:m>
                <a:r>
                  <a:rPr lang="en-US" sz="1200"/>
                  <a:t> </a:t>
                </a:r>
                <a:endParaRPr lang="en-GB" sz="1200"/>
              </a:p>
            </p:txBody>
          </p:sp>
        </mc:Choice>
        <mc:Fallback xmlns="">
          <p:sp>
            <p:nvSpPr>
              <p:cNvPr id="14" name="Rectangle 13"/>
              <p:cNvSpPr>
                <a:spLocks noRot="1" noChangeAspect="1" noMove="1" noResize="1" noEditPoints="1" noAdjustHandles="1" noChangeArrowheads="1" noChangeShapeType="1" noTextEdit="1"/>
              </p:cNvSpPr>
              <p:nvPr/>
            </p:nvSpPr>
            <p:spPr>
              <a:xfrm>
                <a:off x="203752" y="8098659"/>
                <a:ext cx="6406055" cy="468654"/>
              </a:xfrm>
              <a:prstGeom prst="rect">
                <a:avLst/>
              </a:prstGeom>
              <a:blipFill>
                <a:blip r:embed="rId3"/>
                <a:stretch>
                  <a:fillRect/>
                </a:stretch>
              </a:blipFill>
            </p:spPr>
            <p:txBody>
              <a:bodyPr/>
              <a:lstStyle/>
              <a:p>
                <a:r>
                  <a:rPr lang="en-US">
                    <a:noFill/>
                  </a:rPr>
                  <a:t> </a:t>
                </a:r>
              </a:p>
            </p:txBody>
          </p:sp>
        </mc:Fallback>
      </mc:AlternateContent>
      <p:sp>
        <p:nvSpPr>
          <p:cNvPr id="15" name="Rectangle 14"/>
          <p:cNvSpPr/>
          <p:nvPr/>
        </p:nvSpPr>
        <p:spPr>
          <a:xfrm>
            <a:off x="287487" y="8639849"/>
            <a:ext cx="6277843" cy="11924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38</a:t>
            </a:fld>
            <a:endParaRPr lang="en-GB"/>
          </a:p>
        </p:txBody>
      </p:sp>
    </p:spTree>
    <p:extLst>
      <p:ext uri="{BB962C8B-B14F-4D97-AF65-F5344CB8AC3E}">
        <p14:creationId xmlns:p14="http://schemas.microsoft.com/office/powerpoint/2010/main" val="36986076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42EBD2-023A-71ED-679C-2147AE612BFF}"/>
              </a:ext>
            </a:extLst>
          </p:cNvPr>
          <p:cNvSpPr>
            <a:spLocks noGrp="1"/>
          </p:cNvSpPr>
          <p:nvPr>
            <p:ph type="sldNum" sz="quarter" idx="12"/>
          </p:nvPr>
        </p:nvSpPr>
        <p:spPr/>
        <p:txBody>
          <a:bodyPr/>
          <a:lstStyle/>
          <a:p>
            <a:fld id="{19F1D9CC-7119-45EC-A96C-D8C0660F3AAB}" type="slidenum">
              <a:rPr lang="en-GB" smtClean="0"/>
              <a:t>39</a:t>
            </a:fld>
            <a:endParaRPr lang="en-GB"/>
          </a:p>
        </p:txBody>
      </p:sp>
      <p:sp>
        <p:nvSpPr>
          <p:cNvPr id="4" name="Rectangle 3">
            <a:extLst>
              <a:ext uri="{FF2B5EF4-FFF2-40B4-BE49-F238E27FC236}">
                <a16:creationId xmlns:a16="http://schemas.microsoft.com/office/drawing/2014/main" id="{3B406EFD-3997-B33B-E7B6-37A9BC479EFC}"/>
              </a:ext>
            </a:extLst>
          </p:cNvPr>
          <p:cNvSpPr/>
          <p:nvPr/>
        </p:nvSpPr>
        <p:spPr>
          <a:xfrm>
            <a:off x="-2" y="14515"/>
            <a:ext cx="6858001" cy="37737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chemeClr val="bg1"/>
                </a:solidFill>
              </a:rPr>
              <a:t>G</a:t>
            </a:r>
            <a:r>
              <a:rPr lang="en-US" sz="1600" b="1" dirty="0">
                <a:solidFill>
                  <a:schemeClr val="bg1"/>
                </a:solidFill>
              </a:rPr>
              <a:t>CSE Questions</a:t>
            </a:r>
            <a:endParaRPr lang="en-GB" sz="1600" b="1" dirty="0">
              <a:solidFill>
                <a:schemeClr val="bg1"/>
              </a:solidFill>
            </a:endParaRPr>
          </a:p>
        </p:txBody>
      </p:sp>
      <p:pic>
        <p:nvPicPr>
          <p:cNvPr id="6" name="Picture 5" descr="A paper with text on it&#10;&#10;AI-generated content may be incorrect.">
            <a:extLst>
              <a:ext uri="{FF2B5EF4-FFF2-40B4-BE49-F238E27FC236}">
                <a16:creationId xmlns:a16="http://schemas.microsoft.com/office/drawing/2014/main" id="{A6A1CA12-C575-9E59-49BA-9D2217A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13310"/>
            <a:ext cx="6168571" cy="6747661"/>
          </a:xfrm>
          <a:prstGeom prst="rect">
            <a:avLst/>
          </a:prstGeom>
        </p:spPr>
      </p:pic>
      <p:pic>
        <p:nvPicPr>
          <p:cNvPr id="8" name="Picture 7" descr="A white background with black text&#10;&#10;AI-generated content may be incorrect.">
            <a:extLst>
              <a:ext uri="{FF2B5EF4-FFF2-40B4-BE49-F238E27FC236}">
                <a16:creationId xmlns:a16="http://schemas.microsoft.com/office/drawing/2014/main" id="{991E96D7-48EA-7485-93FE-EC6CCC0AD7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504307"/>
            <a:ext cx="6152226" cy="1677090"/>
          </a:xfrm>
          <a:prstGeom prst="rect">
            <a:avLst/>
          </a:prstGeom>
        </p:spPr>
      </p:pic>
    </p:spTree>
    <p:extLst>
      <p:ext uri="{BB962C8B-B14F-4D97-AF65-F5344CB8AC3E}">
        <p14:creationId xmlns:p14="http://schemas.microsoft.com/office/powerpoint/2010/main" val="22178795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94C7E-14EA-C419-BC77-D9FA3454411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53AC7E9-762B-A461-2C89-074DC3C3720C}"/>
              </a:ext>
            </a:extLst>
          </p:cNvPr>
          <p:cNvSpPr>
            <a:spLocks noGrp="1"/>
          </p:cNvSpPr>
          <p:nvPr>
            <p:ph type="sldNum" sz="quarter" idx="12"/>
          </p:nvPr>
        </p:nvSpPr>
        <p:spPr/>
        <p:txBody>
          <a:bodyPr/>
          <a:lstStyle/>
          <a:p>
            <a:fld id="{19F1D9CC-7119-45EC-A96C-D8C0660F3AAB}" type="slidenum">
              <a:rPr lang="en-GB" smtClean="0"/>
              <a:t>40</a:t>
            </a:fld>
            <a:endParaRPr lang="en-GB"/>
          </a:p>
        </p:txBody>
      </p:sp>
      <p:pic>
        <p:nvPicPr>
          <p:cNvPr id="5" name="Picture 4" descr="A paper with text and numbers&#10;&#10;AI-generated content may be incorrect.">
            <a:extLst>
              <a:ext uri="{FF2B5EF4-FFF2-40B4-BE49-F238E27FC236}">
                <a16:creationId xmlns:a16="http://schemas.microsoft.com/office/drawing/2014/main" id="{FD2559D2-5E30-F540-1C7E-6DFE207CA0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255" y="160911"/>
            <a:ext cx="5769473" cy="5340004"/>
          </a:xfrm>
          <a:prstGeom prst="rect">
            <a:avLst/>
          </a:prstGeom>
        </p:spPr>
      </p:pic>
      <p:pic>
        <p:nvPicPr>
          <p:cNvPr id="9" name="Picture 8" descr="A questionnaire with text&#10;&#10;AI-generated content may be incorrect.">
            <a:extLst>
              <a:ext uri="{FF2B5EF4-FFF2-40B4-BE49-F238E27FC236}">
                <a16:creationId xmlns:a16="http://schemas.microsoft.com/office/drawing/2014/main" id="{FF743972-C53F-4316-9B10-E2E00C189C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255" y="5725116"/>
            <a:ext cx="5769473" cy="3983684"/>
          </a:xfrm>
          <a:prstGeom prst="rect">
            <a:avLst/>
          </a:prstGeom>
        </p:spPr>
      </p:pic>
    </p:spTree>
    <p:extLst>
      <p:ext uri="{BB962C8B-B14F-4D97-AF65-F5344CB8AC3E}">
        <p14:creationId xmlns:p14="http://schemas.microsoft.com/office/powerpoint/2010/main" val="39530048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524E9-D6C8-692D-30B7-CEBA38EEBC8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74B2062-1527-3CC8-7BF7-FCFE1460CFB6}"/>
              </a:ext>
            </a:extLst>
          </p:cNvPr>
          <p:cNvSpPr>
            <a:spLocks noGrp="1"/>
          </p:cNvSpPr>
          <p:nvPr>
            <p:ph type="sldNum" sz="quarter" idx="12"/>
          </p:nvPr>
        </p:nvSpPr>
        <p:spPr/>
        <p:txBody>
          <a:bodyPr/>
          <a:lstStyle/>
          <a:p>
            <a:fld id="{19F1D9CC-7119-45EC-A96C-D8C0660F3AAB}" type="slidenum">
              <a:rPr lang="en-GB" smtClean="0"/>
              <a:t>41</a:t>
            </a:fld>
            <a:endParaRPr lang="en-GB"/>
          </a:p>
        </p:txBody>
      </p:sp>
      <p:pic>
        <p:nvPicPr>
          <p:cNvPr id="4" name="Picture 3" descr="A paper with a square and rectangles&#10;&#10;AI-generated content may be incorrect.">
            <a:extLst>
              <a:ext uri="{FF2B5EF4-FFF2-40B4-BE49-F238E27FC236}">
                <a16:creationId xmlns:a16="http://schemas.microsoft.com/office/drawing/2014/main" id="{DBA1FBBE-F556-383E-563E-F44A85F603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815" y="196605"/>
            <a:ext cx="5880671" cy="6160311"/>
          </a:xfrm>
          <a:prstGeom prst="rect">
            <a:avLst/>
          </a:prstGeom>
        </p:spPr>
      </p:pic>
      <p:pic>
        <p:nvPicPr>
          <p:cNvPr id="6" name="Picture 5" descr="A close-up of a receipt&#10;&#10;AI-generated content may be incorrect.">
            <a:extLst>
              <a:ext uri="{FF2B5EF4-FFF2-40B4-BE49-F238E27FC236}">
                <a16:creationId xmlns:a16="http://schemas.microsoft.com/office/drawing/2014/main" id="{41EB33E1-EBAD-36EE-3ACE-83A46EC5CA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629" y="6356915"/>
            <a:ext cx="6089884" cy="3189533"/>
          </a:xfrm>
          <a:prstGeom prst="rect">
            <a:avLst/>
          </a:prstGeom>
        </p:spPr>
      </p:pic>
    </p:spTree>
    <p:extLst>
      <p:ext uri="{BB962C8B-B14F-4D97-AF65-F5344CB8AC3E}">
        <p14:creationId xmlns:p14="http://schemas.microsoft.com/office/powerpoint/2010/main" val="7184195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70A32-19ED-42D5-2055-C56EB652729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86B5DA-D37D-7C0B-9149-C947D2D37F1D}"/>
              </a:ext>
            </a:extLst>
          </p:cNvPr>
          <p:cNvSpPr>
            <a:spLocks noGrp="1"/>
          </p:cNvSpPr>
          <p:nvPr>
            <p:ph type="sldNum" sz="quarter" idx="12"/>
          </p:nvPr>
        </p:nvSpPr>
        <p:spPr/>
        <p:txBody>
          <a:bodyPr/>
          <a:lstStyle/>
          <a:p>
            <a:fld id="{19F1D9CC-7119-45EC-A96C-D8C0660F3AAB}" type="slidenum">
              <a:rPr lang="en-GB" smtClean="0"/>
              <a:t>42</a:t>
            </a:fld>
            <a:endParaRPr lang="en-GB"/>
          </a:p>
        </p:txBody>
      </p:sp>
      <p:pic>
        <p:nvPicPr>
          <p:cNvPr id="4" name="Picture 3" descr="A paper with numbers and text&#10;&#10;AI-generated content may be incorrect.">
            <a:extLst>
              <a:ext uri="{FF2B5EF4-FFF2-40B4-BE49-F238E27FC236}">
                <a16:creationId xmlns:a16="http://schemas.microsoft.com/office/drawing/2014/main" id="{8C8940A1-52B5-E5CD-A919-335EC7934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980" y="190255"/>
            <a:ext cx="6238969" cy="6544374"/>
          </a:xfrm>
          <a:prstGeom prst="rect">
            <a:avLst/>
          </a:prstGeom>
        </p:spPr>
      </p:pic>
    </p:spTree>
    <p:extLst>
      <p:ext uri="{BB962C8B-B14F-4D97-AF65-F5344CB8AC3E}">
        <p14:creationId xmlns:p14="http://schemas.microsoft.com/office/powerpoint/2010/main" val="8683662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ECBD35-2FA9-D94C-85CC-B269D46DFAF6}"/>
              </a:ext>
            </a:extLst>
          </p:cNvPr>
          <p:cNvSpPr/>
          <p:nvPr/>
        </p:nvSpPr>
        <p:spPr>
          <a:xfrm>
            <a:off x="0" y="0"/>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prstClr val="white"/>
                </a:solidFill>
              </a:rPr>
              <a:t>Subtopic 4 </a:t>
            </a:r>
            <a:r>
              <a:rPr kumimoji="0" lang="en-GB" sz="1800" b="1" i="0" u="none" strike="noStrike" kern="1200" cap="none" spc="0" normalizeH="0" baseline="0" noProof="0" dirty="0">
                <a:ln>
                  <a:noFill/>
                </a:ln>
                <a:solidFill>
                  <a:prstClr val="white"/>
                </a:solidFill>
                <a:effectLst/>
                <a:uLnTx/>
                <a:uFillTx/>
                <a:latin typeface="Calibri" panose="020F0502020204030204"/>
                <a:ea typeface="+mn-ea"/>
                <a:cs typeface="+mn-cs"/>
              </a:rPr>
              <a:t>– </a:t>
            </a:r>
            <a:r>
              <a:rPr lang="en-GB" b="1" dirty="0"/>
              <a:t>The Four Operations</a:t>
            </a:r>
          </a:p>
        </p:txBody>
      </p:sp>
      <p:sp>
        <p:nvSpPr>
          <p:cNvPr id="45" name="Rectangle 44">
            <a:extLst>
              <a:ext uri="{FF2B5EF4-FFF2-40B4-BE49-F238E27FC236}">
                <a16:creationId xmlns:a16="http://schemas.microsoft.com/office/drawing/2014/main" id="{04BFD1EF-DBB4-2249-B998-BA5834451F7D}"/>
              </a:ext>
            </a:extLst>
          </p:cNvPr>
          <p:cNvSpPr/>
          <p:nvPr/>
        </p:nvSpPr>
        <p:spPr>
          <a:xfrm>
            <a:off x="72056" y="414784"/>
            <a:ext cx="6728829" cy="14174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46" name="TextBox 45">
            <a:extLst>
              <a:ext uri="{FF2B5EF4-FFF2-40B4-BE49-F238E27FC236}">
                <a16:creationId xmlns:a16="http://schemas.microsoft.com/office/drawing/2014/main" id="{40A63AA0-9785-7842-8746-181CA9DC5483}"/>
              </a:ext>
            </a:extLst>
          </p:cNvPr>
          <p:cNvSpPr txBox="1"/>
          <p:nvPr/>
        </p:nvSpPr>
        <p:spPr>
          <a:xfrm>
            <a:off x="304914" y="787525"/>
            <a:ext cx="114939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2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47" name="TextBox 46">
            <a:extLst>
              <a:ext uri="{FF2B5EF4-FFF2-40B4-BE49-F238E27FC236}">
                <a16:creationId xmlns:a16="http://schemas.microsoft.com/office/drawing/2014/main" id="{8D99EBB3-E635-9B48-A13A-F8FC9E5CF168}"/>
              </a:ext>
            </a:extLst>
          </p:cNvPr>
          <p:cNvSpPr txBox="1"/>
          <p:nvPr/>
        </p:nvSpPr>
        <p:spPr>
          <a:xfrm>
            <a:off x="678901" y="995353"/>
            <a:ext cx="5055338" cy="646331"/>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To</a:t>
            </a:r>
            <a:r>
              <a:rPr kumimoji="0" lang="en-GB" sz="1200" b="0" i="0" u="none" strike="noStrike" kern="1200" cap="none" spc="0" normalizeH="0" noProof="0">
                <a:ln>
                  <a:noFill/>
                </a:ln>
                <a:solidFill>
                  <a:prstClr val="black"/>
                </a:solidFill>
                <a:effectLst/>
                <a:uLnTx/>
                <a:uFillTx/>
                <a:latin typeface="Calibri" panose="020F0502020204030204"/>
                <a:ea typeface="+mn-ea"/>
                <a:cs typeface="+mn-cs"/>
              </a:rPr>
              <a:t> add and subtract positive numbers</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To multiply and divide positive numbers.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To solve problems using different</a:t>
            </a:r>
            <a:r>
              <a:rPr kumimoji="0" lang="en-GB" sz="1200" b="0" i="0" u="none" strike="noStrike" kern="1200" cap="none" spc="0" normalizeH="0" noProof="0">
                <a:ln>
                  <a:noFill/>
                </a:ln>
                <a:solidFill>
                  <a:prstClr val="black"/>
                </a:solidFill>
                <a:effectLst/>
                <a:uLnTx/>
                <a:uFillTx/>
                <a:latin typeface="Calibri" panose="020F0502020204030204"/>
                <a:ea typeface="+mn-ea"/>
                <a:cs typeface="+mn-cs"/>
              </a:rPr>
              <a:t> rules of arithmetic</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
        <p:nvSpPr>
          <p:cNvPr id="48" name="TextBox 47">
            <a:extLst>
              <a:ext uri="{FF2B5EF4-FFF2-40B4-BE49-F238E27FC236}">
                <a16:creationId xmlns:a16="http://schemas.microsoft.com/office/drawing/2014/main" id="{F48C742E-559E-184B-B2D4-43B2F774DF10}"/>
              </a:ext>
            </a:extLst>
          </p:cNvPr>
          <p:cNvSpPr txBox="1"/>
          <p:nvPr/>
        </p:nvSpPr>
        <p:spPr>
          <a:xfrm>
            <a:off x="149877" y="472802"/>
            <a:ext cx="6590100" cy="276999"/>
          </a:xfrm>
          <a:prstGeom prst="rect">
            <a:avLst/>
          </a:prstGeom>
          <a:noFill/>
          <a:ln>
            <a:solidFill>
              <a:schemeClr val="tx1"/>
            </a:solidFill>
          </a:ln>
        </p:spPr>
        <p:txBody>
          <a:bodyPr wrap="square" rtlCol="0">
            <a:spAutoFit/>
          </a:bodyPr>
          <a:lstStyle/>
          <a:p>
            <a:pPr lvl="0" algn="ct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 To </a:t>
            </a:r>
            <a:r>
              <a:rPr lang="en-US" sz="1200" b="1">
                <a:solidFill>
                  <a:prstClr val="black"/>
                </a:solidFill>
              </a:rPr>
              <a:t>use the four rules of arithmetic with integers and decimals.</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Box 48">
            <a:extLst>
              <a:ext uri="{FF2B5EF4-FFF2-40B4-BE49-F238E27FC236}">
                <a16:creationId xmlns:a16="http://schemas.microsoft.com/office/drawing/2014/main" id="{F56BA6AD-76E4-264F-9E79-1A6D05899D87}"/>
              </a:ext>
            </a:extLst>
          </p:cNvPr>
          <p:cNvSpPr txBox="1"/>
          <p:nvPr/>
        </p:nvSpPr>
        <p:spPr>
          <a:xfrm>
            <a:off x="5319685" y="798570"/>
            <a:ext cx="1375758" cy="938719"/>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prstClr val="black"/>
                </a:solidFill>
                <a:effectLst/>
                <a:uLnTx/>
                <a:uFillTx/>
                <a:latin typeface="Calibri" panose="020F0502020204030204"/>
                <a:ea typeface="+mn-ea"/>
                <a:cs typeface="+mn-cs"/>
              </a:rPr>
              <a:t>Keywords: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indent="-285750">
              <a:buFont typeface=".AppleSystemUIFont" charset="-120"/>
              <a:buChar char="-"/>
            </a:pPr>
            <a:r>
              <a:rPr lang="en-US" sz="1100" dirty="0"/>
              <a:t>Sum</a:t>
            </a:r>
          </a:p>
          <a:p>
            <a:pPr marL="285750" indent="-285750">
              <a:buFont typeface=".AppleSystemUIFont" charset="-120"/>
              <a:buChar char="-"/>
            </a:pPr>
            <a:r>
              <a:rPr lang="en-US" sz="1100" dirty="0"/>
              <a:t>Difference</a:t>
            </a:r>
          </a:p>
          <a:p>
            <a:pPr marL="285750" indent="-285750">
              <a:buFont typeface=".AppleSystemUIFont" charset="-120"/>
              <a:buChar char="-"/>
            </a:pPr>
            <a:r>
              <a:rPr lang="en-US" sz="1100" dirty="0"/>
              <a:t>Division</a:t>
            </a:r>
          </a:p>
          <a:p>
            <a:pPr marL="285750" indent="-285750">
              <a:buFont typeface=".AppleSystemUIFont" charset="-120"/>
              <a:buChar char="-"/>
            </a:pPr>
            <a:r>
              <a:rPr lang="en-US" sz="1100" dirty="0"/>
              <a:t>Multiplication</a:t>
            </a:r>
          </a:p>
        </p:txBody>
      </p:sp>
      <p:sp>
        <p:nvSpPr>
          <p:cNvPr id="4" name="Slide Number Placeholder 3"/>
          <p:cNvSpPr>
            <a:spLocks noGrp="1"/>
          </p:cNvSpPr>
          <p:nvPr>
            <p:ph type="sldNum" sz="quarter" idx="12"/>
          </p:nvPr>
        </p:nvSpPr>
        <p:spPr>
          <a:xfrm>
            <a:off x="5364267" y="9576199"/>
            <a:ext cx="1543050" cy="527403"/>
          </a:xfrm>
        </p:spPr>
        <p:txBody>
          <a:bodyPr/>
          <a:lstStyle/>
          <a:p>
            <a:fld id="{19F1D9CC-7119-45EC-A96C-D8C0660F3AAB}" type="slidenum">
              <a:rPr lang="en-GB" smtClean="0"/>
              <a:t>43</a:t>
            </a:fld>
            <a:endParaRPr lang="en-GB"/>
          </a:p>
        </p:txBody>
      </p:sp>
      <p:sp>
        <p:nvSpPr>
          <p:cNvPr id="56" name="Rectangle 55">
            <a:extLst>
              <a:ext uri="{FF2B5EF4-FFF2-40B4-BE49-F238E27FC236}">
                <a16:creationId xmlns:a16="http://schemas.microsoft.com/office/drawing/2014/main" id="{C3A6FC16-72A3-60CF-042B-9DEB93A35192}"/>
              </a:ext>
            </a:extLst>
          </p:cNvPr>
          <p:cNvSpPr/>
          <p:nvPr/>
        </p:nvSpPr>
        <p:spPr>
          <a:xfrm>
            <a:off x="149877" y="5007781"/>
            <a:ext cx="6014442"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Addition</a:t>
            </a:r>
            <a:endParaRPr lang="en-GB" sz="1200" dirty="0">
              <a:solidFill>
                <a:schemeClr val="bg1"/>
              </a:solidFill>
            </a:endParaRPr>
          </a:p>
        </p:txBody>
      </p:sp>
      <p:graphicFrame>
        <p:nvGraphicFramePr>
          <p:cNvPr id="64" name="Table 63">
            <a:extLst>
              <a:ext uri="{FF2B5EF4-FFF2-40B4-BE49-F238E27FC236}">
                <a16:creationId xmlns:a16="http://schemas.microsoft.com/office/drawing/2014/main" id="{66BBA077-B47A-C6D9-D9EB-D3742E469C28}"/>
              </a:ext>
            </a:extLst>
          </p:cNvPr>
          <p:cNvGraphicFramePr>
            <a:graphicFrameLocks noGrp="1"/>
          </p:cNvGraphicFramePr>
          <p:nvPr>
            <p:extLst>
              <p:ext uri="{D42A27DB-BD31-4B8C-83A1-F6EECF244321}">
                <p14:modId xmlns:p14="http://schemas.microsoft.com/office/powerpoint/2010/main" val="3202991716"/>
              </p:ext>
            </p:extLst>
          </p:nvPr>
        </p:nvGraphicFramePr>
        <p:xfrm>
          <a:off x="149877" y="5619796"/>
          <a:ext cx="6572478" cy="2034148"/>
        </p:xfrm>
        <a:graphic>
          <a:graphicData uri="http://schemas.openxmlformats.org/drawingml/2006/table">
            <a:tbl>
              <a:tblPr firstRow="1" bandRow="1">
                <a:tableStyleId>{5C22544A-7EE6-4342-B048-85BDC9FD1C3A}</a:tableStyleId>
              </a:tblPr>
              <a:tblGrid>
                <a:gridCol w="1432752">
                  <a:extLst>
                    <a:ext uri="{9D8B030D-6E8A-4147-A177-3AD203B41FA5}">
                      <a16:colId xmlns:a16="http://schemas.microsoft.com/office/drawing/2014/main" val="1568142362"/>
                    </a:ext>
                  </a:extLst>
                </a:gridCol>
                <a:gridCol w="1668477">
                  <a:extLst>
                    <a:ext uri="{9D8B030D-6E8A-4147-A177-3AD203B41FA5}">
                      <a16:colId xmlns:a16="http://schemas.microsoft.com/office/drawing/2014/main" val="3551711160"/>
                    </a:ext>
                  </a:extLst>
                </a:gridCol>
                <a:gridCol w="1674318">
                  <a:extLst>
                    <a:ext uri="{9D8B030D-6E8A-4147-A177-3AD203B41FA5}">
                      <a16:colId xmlns:a16="http://schemas.microsoft.com/office/drawing/2014/main" val="1712497518"/>
                    </a:ext>
                  </a:extLst>
                </a:gridCol>
                <a:gridCol w="1796931">
                  <a:extLst>
                    <a:ext uri="{9D8B030D-6E8A-4147-A177-3AD203B41FA5}">
                      <a16:colId xmlns:a16="http://schemas.microsoft.com/office/drawing/2014/main" val="886122921"/>
                    </a:ext>
                  </a:extLst>
                </a:gridCol>
              </a:tblGrid>
              <a:tr h="320383">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Calculate 15 + 3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Calculate 17 + 2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Calculate 11 + 8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713765">
                <a:tc>
                  <a:txBody>
                    <a:bodyPr/>
                    <a:lstStyle/>
                    <a:p>
                      <a:pPr marL="228600" indent="-228600">
                        <a:buAutoNum type="arabicPeriod"/>
                      </a:pPr>
                      <a:r>
                        <a:rPr lang="en-US" sz="1100" dirty="0">
                          <a:solidFill>
                            <a:schemeClr val="tx1"/>
                          </a:solidFill>
                        </a:rPr>
                        <a:t>Line up both numbers in the correct columns</a:t>
                      </a:r>
                    </a:p>
                    <a:p>
                      <a:pPr marL="228600" indent="-228600">
                        <a:buAutoNum type="arabicPeriod"/>
                      </a:pPr>
                      <a:endParaRPr lang="en-US" sz="1100" dirty="0">
                        <a:solidFill>
                          <a:schemeClr val="tx1"/>
                        </a:solidFill>
                      </a:endParaRPr>
                    </a:p>
                    <a:p>
                      <a:r>
                        <a:rPr lang="en-US" sz="1100" dirty="0">
                          <a:solidFill>
                            <a:schemeClr val="tx1"/>
                          </a:solidFill>
                        </a:rPr>
                        <a:t>2. Add each column starting with the lowest column</a:t>
                      </a: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a:solidFill>
                          <a:schemeClr val="tx1"/>
                        </a:solidFill>
                      </a:endParaRPr>
                    </a:p>
                    <a:p>
                      <a:endParaRPr lang="en-US" sz="1100" baseline="0">
                        <a:solidFill>
                          <a:schemeClr val="tx1"/>
                        </a:solidFill>
                      </a:endParaRPr>
                    </a:p>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79" name="TextBox 78">
            <a:extLst>
              <a:ext uri="{FF2B5EF4-FFF2-40B4-BE49-F238E27FC236}">
                <a16:creationId xmlns:a16="http://schemas.microsoft.com/office/drawing/2014/main" id="{D68829E9-CBF3-E3F7-A0FE-E2E91CEB4A6F}"/>
              </a:ext>
            </a:extLst>
          </p:cNvPr>
          <p:cNvSpPr txBox="1"/>
          <p:nvPr/>
        </p:nvSpPr>
        <p:spPr>
          <a:xfrm>
            <a:off x="5101511" y="5338610"/>
            <a:ext cx="1498808" cy="276999"/>
          </a:xfrm>
          <a:prstGeom prst="rect">
            <a:avLst/>
          </a:prstGeom>
          <a:noFill/>
          <a:ln>
            <a:noFill/>
          </a:ln>
        </p:spPr>
        <p:txBody>
          <a:bodyPr wrap="none" rtlCol="0">
            <a:spAutoFit/>
          </a:bodyPr>
          <a:lstStyle/>
          <a:p>
            <a:r>
              <a:rPr lang="en-GB" sz="1200" b="1" i="1">
                <a:solidFill>
                  <a:srgbClr val="00B050"/>
                </a:solidFill>
                <a:latin typeface="Calibri" panose="020F0502020204030204" pitchFamily="34" charset="0"/>
                <a:cs typeface="Calibri" panose="020F0502020204030204" pitchFamily="34" charset="0"/>
              </a:rPr>
              <a:t>Example 3 - You do…</a:t>
            </a:r>
          </a:p>
        </p:txBody>
      </p:sp>
      <p:sp>
        <p:nvSpPr>
          <p:cNvPr id="80" name="TextBox 79">
            <a:extLst>
              <a:ext uri="{FF2B5EF4-FFF2-40B4-BE49-F238E27FC236}">
                <a16:creationId xmlns:a16="http://schemas.microsoft.com/office/drawing/2014/main" id="{4A8CBDFC-10B7-7226-87F6-BC32A969438B}"/>
              </a:ext>
            </a:extLst>
          </p:cNvPr>
          <p:cNvSpPr txBox="1"/>
          <p:nvPr/>
        </p:nvSpPr>
        <p:spPr>
          <a:xfrm>
            <a:off x="3302928" y="5341585"/>
            <a:ext cx="1475789" cy="276999"/>
          </a:xfrm>
          <a:prstGeom prst="rect">
            <a:avLst/>
          </a:prstGeom>
          <a:noFill/>
          <a:ln>
            <a:noFill/>
          </a:ln>
        </p:spPr>
        <p:txBody>
          <a:bodyPr wrap="none" rtlCol="0">
            <a:spAutoFit/>
          </a:bodyPr>
          <a:lstStyle/>
          <a:p>
            <a:r>
              <a:rPr lang="en-GB" sz="1200" b="1" i="1">
                <a:solidFill>
                  <a:schemeClr val="accent2"/>
                </a:solidFill>
                <a:latin typeface="Calibri" panose="020F0502020204030204" pitchFamily="34" charset="0"/>
                <a:cs typeface="Calibri" panose="020F0502020204030204" pitchFamily="34" charset="0"/>
              </a:rPr>
              <a:t>Example 2 - We do…</a:t>
            </a:r>
          </a:p>
        </p:txBody>
      </p:sp>
      <p:sp>
        <p:nvSpPr>
          <p:cNvPr id="81" name="TextBox 80">
            <a:extLst>
              <a:ext uri="{FF2B5EF4-FFF2-40B4-BE49-F238E27FC236}">
                <a16:creationId xmlns:a16="http://schemas.microsoft.com/office/drawing/2014/main" id="{AC512596-5358-7B82-0821-C58C1FECAA5B}"/>
              </a:ext>
            </a:extLst>
          </p:cNvPr>
          <p:cNvSpPr txBox="1"/>
          <p:nvPr/>
        </p:nvSpPr>
        <p:spPr>
          <a:xfrm>
            <a:off x="1730435" y="5338610"/>
            <a:ext cx="1273234" cy="276999"/>
          </a:xfrm>
          <a:prstGeom prst="rect">
            <a:avLst/>
          </a:prstGeom>
          <a:noFill/>
          <a:ln>
            <a:noFill/>
          </a:ln>
        </p:spPr>
        <p:txBody>
          <a:bodyPr wrap="none" rtlCol="0">
            <a:spAutoFit/>
          </a:bodyPr>
          <a:lstStyle/>
          <a:p>
            <a:r>
              <a:rPr lang="en-GB" sz="1200" b="1" i="1">
                <a:solidFill>
                  <a:srgbClr val="FF0000"/>
                </a:solidFill>
                <a:latin typeface="Calibri" panose="020F0502020204030204" pitchFamily="34" charset="0"/>
                <a:cs typeface="Calibri" panose="020F0502020204030204" pitchFamily="34" charset="0"/>
              </a:rPr>
              <a:t>Example 1- I do…</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83F18B1-250B-34AF-4E64-701587CCFF3C}"/>
                  </a:ext>
                </a:extLst>
              </p:cNvPr>
              <p:cNvGraphicFramePr>
                <a:graphicFrameLocks noGrp="1"/>
              </p:cNvGraphicFramePr>
              <p:nvPr>
                <p:extLst>
                  <p:ext uri="{D42A27DB-BD31-4B8C-83A1-F6EECF244321}">
                    <p14:modId xmlns:p14="http://schemas.microsoft.com/office/powerpoint/2010/main" val="3023678206"/>
                  </p:ext>
                </p:extLst>
              </p:nvPr>
            </p:nvGraphicFramePr>
            <p:xfrm>
              <a:off x="115753" y="1849512"/>
              <a:ext cx="6658348" cy="3062758"/>
            </p:xfrm>
            <a:graphic>
              <a:graphicData uri="http://schemas.openxmlformats.org/drawingml/2006/table">
                <a:tbl>
                  <a:tblPr firstRow="1" bandRow="1">
                    <a:tableStyleId>{5940675A-B579-460E-94D1-54222C63F5DA}</a:tableStyleId>
                  </a:tblPr>
                  <a:tblGrid>
                    <a:gridCol w="3329174">
                      <a:extLst>
                        <a:ext uri="{9D8B030D-6E8A-4147-A177-3AD203B41FA5}">
                          <a16:colId xmlns:a16="http://schemas.microsoft.com/office/drawing/2014/main" val="2534415139"/>
                        </a:ext>
                      </a:extLst>
                    </a:gridCol>
                    <a:gridCol w="3329174">
                      <a:extLst>
                        <a:ext uri="{9D8B030D-6E8A-4147-A177-3AD203B41FA5}">
                          <a16:colId xmlns:a16="http://schemas.microsoft.com/office/drawing/2014/main" val="715519378"/>
                        </a:ext>
                      </a:extLst>
                    </a:gridCol>
                  </a:tblGrid>
                  <a:tr h="153137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t>Definition</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The result of adding two or more numbers or terms together.</a:t>
                          </a:r>
                          <a:endParaRPr lang="en-US" sz="1200" dirty="0"/>
                        </a:p>
                        <a:p>
                          <a:endParaRPr lang="en-GB" sz="1200" dirty="0"/>
                        </a:p>
                      </a:txBody>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1200" b="1" dirty="0"/>
                            <a:t>Characteristics</a:t>
                          </a:r>
                        </a:p>
                        <a:p>
                          <a:r>
                            <a:rPr lang="en-GB" sz="1200" dirty="0"/>
                            <a:t>•</a:t>
                          </a:r>
                          <a:r>
                            <a:rPr lang="en-GB" sz="1200" dirty="0">
                              <a:solidFill>
                                <a:srgbClr val="FF0000"/>
                              </a:solidFill>
                            </a:rPr>
                            <a:t> </a:t>
                          </a:r>
                          <a:r>
                            <a:rPr lang="en-GB" sz="1200" dirty="0"/>
                            <a:t>Can involve positive or negative integers, fractions, decimals, percentages or algebraic terms. </a:t>
                          </a:r>
                        </a:p>
                        <a:p>
                          <a:pPr marL="171450" indent="-171450">
                            <a:buFont typeface="Arial" panose="020B0604020202020204" pitchFamily="34" charset="0"/>
                            <a:buChar char="•"/>
                          </a:pPr>
                          <a:r>
                            <a:rPr lang="en-GB" sz="1200" dirty="0"/>
                            <a:t>Linked words include add, plus, total.</a:t>
                          </a:r>
                          <a:endParaRPr lang="en-GB" sz="1200" b="1" dirty="0"/>
                        </a:p>
                        <a:p>
                          <a:endParaRPr lang="en-GB" sz="1200" dirty="0"/>
                        </a:p>
                      </a:txBody>
                      <a:tcPr/>
                    </a:tc>
                    <a:extLst>
                      <a:ext uri="{0D108BD9-81ED-4DB2-BD59-A6C34878D82A}">
                        <a16:rowId xmlns:a16="http://schemas.microsoft.com/office/drawing/2014/main" val="1546130242"/>
                      </a:ext>
                    </a:extLst>
                  </a:tr>
                  <a:tr h="153137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t>Examples</a:t>
                          </a:r>
                          <a:endParaRPr lang="en-GB" sz="1200" b="1" dirty="0"/>
                        </a:p>
                        <a:p>
                          <a:pPr algn="ct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3+4+11=18</m:t>
                                </m:r>
                              </m:oMath>
                            </m:oMathPara>
                          </a14:m>
                          <a:endParaRPr lang="en-GB" sz="1200" b="0" dirty="0"/>
                        </a:p>
                        <a:p>
                          <a:pPr algn="ctr"/>
                          <a14:m>
                            <m:oMathPara xmlns:m="http://schemas.openxmlformats.org/officeDocument/2006/math">
                              <m:oMathParaPr>
                                <m:jc m:val="center"/>
                              </m:oMathParaPr>
                              <m:oMath xmlns:m="http://schemas.openxmlformats.org/officeDocument/2006/math">
                                <m:r>
                                  <a:rPr lang="en-GB" sz="1200" b="0" i="1" smtClean="0">
                                    <a:latin typeface="Cambria Math" panose="02040503050406030204" pitchFamily="18" charset="0"/>
                                  </a:rPr>
                                  <m:t>2+</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−4</m:t>
                                    </m:r>
                                  </m:e>
                                </m:d>
                                <m:r>
                                  <a:rPr lang="en-GB" sz="1200" b="0" i="1" smtClean="0">
                                    <a:latin typeface="Cambria Math" panose="02040503050406030204" pitchFamily="18" charset="0"/>
                                  </a:rPr>
                                  <m:t>+</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−4</m:t>
                                    </m:r>
                                  </m:e>
                                </m:d>
                                <m:r>
                                  <a:rPr lang="en-GB" sz="1200" b="0" i="1" smtClean="0">
                                    <a:latin typeface="Cambria Math" panose="02040503050406030204" pitchFamily="18" charset="0"/>
                                  </a:rPr>
                                  <m:t>=−6</m:t>
                                </m:r>
                              </m:oMath>
                              <m:oMath xmlns:m="http://schemas.openxmlformats.org/officeDocument/2006/math">
                                <m:r>
                                  <a:rPr lang="en-GB" sz="1200" b="0" i="1" smtClean="0">
                                    <a:latin typeface="Cambria Math" panose="02040503050406030204" pitchFamily="18" charset="0"/>
                                  </a:rPr>
                                  <m:t>𝑎</m:t>
                                </m:r>
                                <m:r>
                                  <a:rPr lang="en-GB" sz="1200" b="0" i="1" smtClean="0">
                                    <a:latin typeface="Cambria Math" panose="02040503050406030204" pitchFamily="18" charset="0"/>
                                  </a:rPr>
                                  <m:t>+2</m:t>
                                </m:r>
                                <m:r>
                                  <a:rPr lang="en-GB" sz="1200" b="0" i="1" smtClean="0">
                                    <a:latin typeface="Cambria Math" panose="02040503050406030204" pitchFamily="18" charset="0"/>
                                  </a:rPr>
                                  <m:t>𝑎</m:t>
                                </m:r>
                                <m:r>
                                  <a:rPr lang="en-GB" sz="1200" b="0" i="1" smtClean="0">
                                    <a:latin typeface="Cambria Math" panose="02040503050406030204" pitchFamily="18" charset="0"/>
                                  </a:rPr>
                                  <m:t>+7</m:t>
                                </m:r>
                                <m:r>
                                  <a:rPr lang="en-GB" sz="1200" b="0" i="1" smtClean="0">
                                    <a:latin typeface="Cambria Math" panose="02040503050406030204" pitchFamily="18" charset="0"/>
                                  </a:rPr>
                                  <m:t>𝑎</m:t>
                                </m:r>
                                <m:r>
                                  <a:rPr lang="en-GB" sz="1200" b="0" i="1" smtClean="0">
                                    <a:latin typeface="Cambria Math" panose="02040503050406030204" pitchFamily="18" charset="0"/>
                                  </a:rPr>
                                  <m:t>=10</m:t>
                                </m:r>
                                <m:r>
                                  <a:rPr lang="en-GB" sz="1200" b="0" i="1" smtClean="0">
                                    <a:latin typeface="Cambria Math" panose="02040503050406030204" pitchFamily="18" charset="0"/>
                                  </a:rPr>
                                  <m:t>𝑎</m:t>
                                </m:r>
                              </m:oMath>
                              <m:oMath xmlns:m="http://schemas.openxmlformats.org/officeDocument/2006/math">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2</m:t>
                                    </m:r>
                                  </m:num>
                                  <m:den>
                                    <m:r>
                                      <a:rPr lang="en-GB" sz="1200" b="0" i="1" smtClean="0">
                                        <a:latin typeface="Cambria Math" panose="02040503050406030204" pitchFamily="18" charset="0"/>
                                      </a:rPr>
                                      <m:t>5</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5</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3</m:t>
                                    </m:r>
                                  </m:num>
                                  <m:den>
                                    <m:r>
                                      <a:rPr lang="en-GB" sz="1200" b="0" i="1" smtClean="0">
                                        <a:latin typeface="Cambria Math" panose="02040503050406030204" pitchFamily="18" charset="0"/>
                                      </a:rPr>
                                      <m:t>5</m:t>
                                    </m:r>
                                  </m:den>
                                </m:f>
                              </m:oMath>
                              <m:oMath xmlns:m="http://schemas.openxmlformats.org/officeDocument/2006/math">
                                <m:r>
                                  <a:rPr lang="en-GB" sz="1200" b="0" i="1" smtClean="0">
                                    <a:latin typeface="Cambria Math" panose="02040503050406030204" pitchFamily="18" charset="0"/>
                                  </a:rPr>
                                  <m:t>20</m:t>
                                </m:r>
                                <m:r>
                                  <a:rPr lang="en-GB" sz="1200" b="0" i="1" smtClean="0">
                                    <a:latin typeface="Cambria Math" panose="02040503050406030204" pitchFamily="18" charset="0"/>
                                  </a:rPr>
                                  <m:t>𝑝</m:t>
                                </m:r>
                                <m:r>
                                  <a:rPr lang="en-GB" sz="1200" b="0" i="1" smtClean="0">
                                    <a:latin typeface="Cambria Math" panose="02040503050406030204" pitchFamily="18" charset="0"/>
                                  </a:rPr>
                                  <m:t>+45</m:t>
                                </m:r>
                                <m:r>
                                  <a:rPr lang="en-GB" sz="1200" b="0" i="1" smtClean="0">
                                    <a:latin typeface="Cambria Math" panose="02040503050406030204" pitchFamily="18" charset="0"/>
                                  </a:rPr>
                                  <m:t>𝑝</m:t>
                                </m:r>
                                <m:r>
                                  <a:rPr lang="en-GB" sz="1200" b="0" i="1" smtClean="0">
                                    <a:latin typeface="Cambria Math" panose="02040503050406030204" pitchFamily="18" charset="0"/>
                                  </a:rPr>
                                  <m:t>=65</m:t>
                                </m:r>
                                <m:r>
                                  <a:rPr lang="en-GB" sz="1200" b="0" i="1" smtClean="0">
                                    <a:latin typeface="Cambria Math" panose="02040503050406030204" pitchFamily="18" charset="0"/>
                                  </a:rPr>
                                  <m:t>𝑝</m:t>
                                </m:r>
                              </m:oMath>
                            </m:oMathPara>
                          </a14:m>
                          <a:endParaRPr lang="en-GB" sz="1200" dirty="0"/>
                        </a:p>
                      </a:txBody>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1200" b="1" dirty="0"/>
                            <a:t>Non - Examples</a:t>
                          </a:r>
                          <a:endParaRPr lang="en-GB" sz="1200" b="1" dirty="0"/>
                        </a:p>
                        <a:p>
                          <a:pPr algn="ct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3×5=15</m:t>
                                </m:r>
                              </m:oMath>
                            </m:oMathPara>
                          </a14:m>
                          <a:br>
                            <a:rPr lang="en-GB" sz="1200" b="0" dirty="0"/>
                          </a:br>
                          <a:endParaRPr lang="en-GB" sz="1200" b="0" dirty="0"/>
                        </a:p>
                        <a:p>
                          <a:pPr algn="ct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2</m:t>
                                </m:r>
                                <m:r>
                                  <a:rPr lang="en-GB" sz="1200" b="0" i="1" smtClean="0">
                                    <a:latin typeface="Cambria Math" panose="02040503050406030204" pitchFamily="18" charset="0"/>
                                  </a:rPr>
                                  <m:t>𝑦</m:t>
                                </m:r>
                                <m:r>
                                  <a:rPr lang="en-GB" sz="1200" b="0" i="1" smtClean="0">
                                    <a:latin typeface="Cambria Math" panose="02040503050406030204" pitchFamily="18" charset="0"/>
                                  </a:rPr>
                                  <m:t>×2</m:t>
                                </m:r>
                                <m:r>
                                  <a:rPr lang="en-GB" sz="1200" b="0" i="1" smtClean="0">
                                    <a:latin typeface="Cambria Math" panose="02040503050406030204" pitchFamily="18" charset="0"/>
                                  </a:rPr>
                                  <m:t>𝑦</m:t>
                                </m:r>
                                <m:r>
                                  <a:rPr lang="en-GB" sz="1200" b="0" i="1" smtClean="0">
                                    <a:latin typeface="Cambria Math" panose="02040503050406030204" pitchFamily="18" charset="0"/>
                                  </a:rPr>
                                  <m:t>=4</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𝑦</m:t>
                                    </m:r>
                                  </m:e>
                                  <m:sup>
                                    <m:r>
                                      <a:rPr lang="en-GB" sz="1200" b="0" i="1" smtClean="0">
                                        <a:latin typeface="Cambria Math" panose="02040503050406030204" pitchFamily="18" charset="0"/>
                                      </a:rPr>
                                      <m:t>2</m:t>
                                    </m:r>
                                  </m:sup>
                                </m:sSup>
                              </m:oMath>
                              <m:oMath xmlns:m="http://schemas.openxmlformats.org/officeDocument/2006/math">
                                <m:r>
                                  <a:rPr lang="en-GB" sz="1200" b="0" i="1" smtClean="0">
                                    <a:latin typeface="Cambria Math" panose="02040503050406030204" pitchFamily="18" charset="0"/>
                                  </a:rPr>
                                  <m:t>15−11=4</m:t>
                                </m:r>
                              </m:oMath>
                            </m:oMathPara>
                          </a14:m>
                          <a:endParaRPr lang="en-GB" sz="1200" b="0" dirty="0"/>
                        </a:p>
                        <a:p>
                          <a:pPr algn="ctr"/>
                          <a14:m>
                            <m:oMathPara xmlns:m="http://schemas.openxmlformats.org/officeDocument/2006/math">
                              <m:oMathParaPr>
                                <m:jc m:val="centerGroup"/>
                              </m:oMathParaPr>
                              <m:oMath xmlns:m="http://schemas.openxmlformats.org/officeDocument/2006/math">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2</m:t>
                                    </m:r>
                                  </m:num>
                                  <m:den>
                                    <m:r>
                                      <a:rPr lang="en-GB" sz="1200" b="0" i="1" smtClean="0">
                                        <a:latin typeface="Cambria Math" panose="02040503050406030204" pitchFamily="18" charset="0"/>
                                      </a:rPr>
                                      <m:t>3</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3</m:t>
                                    </m:r>
                                  </m:den>
                                </m:f>
                                <m:r>
                                  <a:rPr lang="en-GB" sz="1200" b="0" i="1" smtClean="0">
                                    <a:latin typeface="Cambria Math" panose="02040503050406030204" pitchFamily="18" charset="0"/>
                                  </a:rPr>
                                  <m:t>=2</m:t>
                                </m:r>
                              </m:oMath>
                            </m:oMathPara>
                          </a14:m>
                          <a:endParaRPr lang="en-GB" sz="1200" dirty="0"/>
                        </a:p>
                      </a:txBody>
                      <a:tcPr/>
                    </a:tc>
                    <a:extLst>
                      <a:ext uri="{0D108BD9-81ED-4DB2-BD59-A6C34878D82A}">
                        <a16:rowId xmlns:a16="http://schemas.microsoft.com/office/drawing/2014/main" val="3939226908"/>
                      </a:ext>
                    </a:extLst>
                  </a:tr>
                </a:tbl>
              </a:graphicData>
            </a:graphic>
          </p:graphicFrame>
        </mc:Choice>
        <mc:Fallback xmlns="">
          <p:graphicFrame>
            <p:nvGraphicFramePr>
              <p:cNvPr id="6" name="Table 5">
                <a:extLst>
                  <a:ext uri="{FF2B5EF4-FFF2-40B4-BE49-F238E27FC236}">
                    <a16:creationId xmlns:a16="http://schemas.microsoft.com/office/drawing/2014/main" id="{E83F18B1-250B-34AF-4E64-701587CCFF3C}"/>
                  </a:ext>
                </a:extLst>
              </p:cNvPr>
              <p:cNvGraphicFramePr>
                <a:graphicFrameLocks noGrp="1"/>
              </p:cNvGraphicFramePr>
              <p:nvPr>
                <p:extLst>
                  <p:ext uri="{D42A27DB-BD31-4B8C-83A1-F6EECF244321}">
                    <p14:modId xmlns:p14="http://schemas.microsoft.com/office/powerpoint/2010/main" val="3023678206"/>
                  </p:ext>
                </p:extLst>
              </p:nvPr>
            </p:nvGraphicFramePr>
            <p:xfrm>
              <a:off x="115753" y="1849512"/>
              <a:ext cx="6658348" cy="3062758"/>
            </p:xfrm>
            <a:graphic>
              <a:graphicData uri="http://schemas.openxmlformats.org/drawingml/2006/table">
                <a:tbl>
                  <a:tblPr firstRow="1" bandRow="1">
                    <a:tableStyleId>{5940675A-B579-460E-94D1-54222C63F5DA}</a:tableStyleId>
                  </a:tblPr>
                  <a:tblGrid>
                    <a:gridCol w="3329174">
                      <a:extLst>
                        <a:ext uri="{9D8B030D-6E8A-4147-A177-3AD203B41FA5}">
                          <a16:colId xmlns:a16="http://schemas.microsoft.com/office/drawing/2014/main" val="2534415139"/>
                        </a:ext>
                      </a:extLst>
                    </a:gridCol>
                    <a:gridCol w="3329174">
                      <a:extLst>
                        <a:ext uri="{9D8B030D-6E8A-4147-A177-3AD203B41FA5}">
                          <a16:colId xmlns:a16="http://schemas.microsoft.com/office/drawing/2014/main" val="715519378"/>
                        </a:ext>
                      </a:extLst>
                    </a:gridCol>
                  </a:tblGrid>
                  <a:tr h="153137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t>Definition</a:t>
                          </a: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The result of adding two or more numbers or terms together.</a:t>
                          </a:r>
                          <a:endParaRPr lang="en-US" sz="1200" dirty="0"/>
                        </a:p>
                        <a:p>
                          <a:endParaRPr lang="en-GB" sz="1200" dirty="0"/>
                        </a:p>
                      </a:txBody>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1200" b="1" dirty="0"/>
                            <a:t>Characteristics</a:t>
                          </a:r>
                        </a:p>
                        <a:p>
                          <a:r>
                            <a:rPr lang="en-GB" sz="1200" dirty="0"/>
                            <a:t>•</a:t>
                          </a:r>
                          <a:r>
                            <a:rPr lang="en-GB" sz="1200" dirty="0">
                              <a:solidFill>
                                <a:srgbClr val="FF0000"/>
                              </a:solidFill>
                            </a:rPr>
                            <a:t> </a:t>
                          </a:r>
                          <a:r>
                            <a:rPr lang="en-GB" sz="1200" dirty="0"/>
                            <a:t>Can involve positive or negative integers, fractions, decimals, percentages or algebraic terms. </a:t>
                          </a:r>
                        </a:p>
                        <a:p>
                          <a:pPr marL="171450" indent="-171450">
                            <a:buFont typeface="Arial" panose="020B0604020202020204" pitchFamily="34" charset="0"/>
                            <a:buChar char="•"/>
                          </a:pPr>
                          <a:r>
                            <a:rPr lang="en-GB" sz="1200" dirty="0"/>
                            <a:t>Linked words include add, plus, total.</a:t>
                          </a:r>
                          <a:endParaRPr lang="en-GB" sz="1200" b="1" dirty="0"/>
                        </a:p>
                        <a:p>
                          <a:endParaRPr lang="en-GB" sz="1200" dirty="0"/>
                        </a:p>
                      </a:txBody>
                      <a:tcPr/>
                    </a:tc>
                    <a:extLst>
                      <a:ext uri="{0D108BD9-81ED-4DB2-BD59-A6C34878D82A}">
                        <a16:rowId xmlns:a16="http://schemas.microsoft.com/office/drawing/2014/main" val="1546130242"/>
                      </a:ext>
                    </a:extLst>
                  </a:tr>
                  <a:tr h="1531379">
                    <a:tc>
                      <a:txBody>
                        <a:bodyPr/>
                        <a:lstStyle/>
                        <a:p>
                          <a:endParaRPr lang="en-US"/>
                        </a:p>
                      </a:txBody>
                      <a:tcPr>
                        <a:blipFill>
                          <a:blip r:embed="rId3"/>
                          <a:stretch>
                            <a:fillRect l="-183" t="-100797" r="-100366" b="-797"/>
                          </a:stretch>
                        </a:blipFill>
                      </a:tcPr>
                    </a:tc>
                    <a:tc>
                      <a:txBody>
                        <a:bodyPr/>
                        <a:lstStyle/>
                        <a:p>
                          <a:endParaRPr lang="en-US"/>
                        </a:p>
                      </a:txBody>
                      <a:tcPr>
                        <a:blipFill>
                          <a:blip r:embed="rId3"/>
                          <a:stretch>
                            <a:fillRect l="-100183" t="-100797" r="-366" b="-797"/>
                          </a:stretch>
                        </a:blipFill>
                      </a:tcPr>
                    </a:tc>
                    <a:extLst>
                      <a:ext uri="{0D108BD9-81ED-4DB2-BD59-A6C34878D82A}">
                        <a16:rowId xmlns:a16="http://schemas.microsoft.com/office/drawing/2014/main" val="3939226908"/>
                      </a:ext>
                    </a:extLst>
                  </a:tr>
                </a:tbl>
              </a:graphicData>
            </a:graphic>
          </p:graphicFrame>
        </mc:Fallback>
      </mc:AlternateContent>
      <p:sp>
        <p:nvSpPr>
          <p:cNvPr id="32" name="TextBox 31">
            <a:extLst>
              <a:ext uri="{FF2B5EF4-FFF2-40B4-BE49-F238E27FC236}">
                <a16:creationId xmlns:a16="http://schemas.microsoft.com/office/drawing/2014/main" id="{FD36186C-66BD-1542-98D0-A6F3828B625C}"/>
              </a:ext>
            </a:extLst>
          </p:cNvPr>
          <p:cNvSpPr txBox="1"/>
          <p:nvPr/>
        </p:nvSpPr>
        <p:spPr>
          <a:xfrm>
            <a:off x="3074926" y="3238701"/>
            <a:ext cx="1489510" cy="369332"/>
          </a:xfrm>
          <a:prstGeom prst="rect">
            <a:avLst/>
          </a:prstGeom>
          <a:solidFill>
            <a:schemeClr val="bg1"/>
          </a:solidFill>
          <a:ln>
            <a:solidFill>
              <a:schemeClr val="tx1"/>
            </a:solidFill>
          </a:ln>
        </p:spPr>
        <p:txBody>
          <a:bodyPr wrap="none" rtlCol="0">
            <a:spAutoFit/>
          </a:bodyPr>
          <a:lstStyle/>
          <a:p>
            <a:r>
              <a:rPr lang="en-GB" dirty="0"/>
              <a:t>Addition/Sum</a:t>
            </a:r>
          </a:p>
        </p:txBody>
      </p:sp>
      <p:pic>
        <p:nvPicPr>
          <p:cNvPr id="7" name="Picture 28" descr="A picture containing chart">
            <a:extLst>
              <a:ext uri="{FF2B5EF4-FFF2-40B4-BE49-F238E27FC236}">
                <a16:creationId xmlns:a16="http://schemas.microsoft.com/office/drawing/2014/main" id="{04E0657F-A232-E25B-70C8-943F180A9605}"/>
              </a:ext>
            </a:extLst>
          </p:cNvPr>
          <p:cNvPicPr>
            <a:picLocks noChangeAspect="1"/>
          </p:cNvPicPr>
          <p:nvPr/>
        </p:nvPicPr>
        <p:blipFill rotWithShape="1">
          <a:blip r:embed="rId4"/>
          <a:srcRect t="69726"/>
          <a:stretch/>
        </p:blipFill>
        <p:spPr>
          <a:xfrm>
            <a:off x="136435" y="7837715"/>
            <a:ext cx="6585129" cy="1750786"/>
          </a:xfrm>
          <a:prstGeom prst="rect">
            <a:avLst/>
          </a:prstGeom>
        </p:spPr>
      </p:pic>
      <p:graphicFrame>
        <p:nvGraphicFramePr>
          <p:cNvPr id="2" name="Table 1">
            <a:extLst>
              <a:ext uri="{FF2B5EF4-FFF2-40B4-BE49-F238E27FC236}">
                <a16:creationId xmlns:a16="http://schemas.microsoft.com/office/drawing/2014/main" id="{C3311133-A626-FC54-E4FB-3BBF79CC8D3B}"/>
              </a:ext>
            </a:extLst>
          </p:cNvPr>
          <p:cNvGraphicFramePr>
            <a:graphicFrameLocks noGrp="1"/>
          </p:cNvGraphicFramePr>
          <p:nvPr>
            <p:extLst>
              <p:ext uri="{D42A27DB-BD31-4B8C-83A1-F6EECF244321}">
                <p14:modId xmlns:p14="http://schemas.microsoft.com/office/powerpoint/2010/main" val="2432256791"/>
              </p:ext>
            </p:extLst>
          </p:nvPr>
        </p:nvGraphicFramePr>
        <p:xfrm>
          <a:off x="3591903" y="6041949"/>
          <a:ext cx="1214043" cy="1005840"/>
        </p:xfrm>
        <a:graphic>
          <a:graphicData uri="http://schemas.openxmlformats.org/drawingml/2006/table">
            <a:tbl>
              <a:tblPr firstRow="1" bandRow="1">
                <a:tableStyleId>{5C22544A-7EE6-4342-B048-85BDC9FD1C3A}</a:tableStyleId>
              </a:tblPr>
              <a:tblGrid>
                <a:gridCol w="404681">
                  <a:extLst>
                    <a:ext uri="{9D8B030D-6E8A-4147-A177-3AD203B41FA5}">
                      <a16:colId xmlns:a16="http://schemas.microsoft.com/office/drawing/2014/main" val="221905763"/>
                    </a:ext>
                  </a:extLst>
                </a:gridCol>
                <a:gridCol w="404681">
                  <a:extLst>
                    <a:ext uri="{9D8B030D-6E8A-4147-A177-3AD203B41FA5}">
                      <a16:colId xmlns:a16="http://schemas.microsoft.com/office/drawing/2014/main" val="2022004965"/>
                    </a:ext>
                  </a:extLst>
                </a:gridCol>
                <a:gridCol w="404681">
                  <a:extLst>
                    <a:ext uri="{9D8B030D-6E8A-4147-A177-3AD203B41FA5}">
                      <a16:colId xmlns:a16="http://schemas.microsoft.com/office/drawing/2014/main" val="1385211880"/>
                    </a:ext>
                  </a:extLst>
                </a:gridCol>
              </a:tblGrid>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T</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O</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1506470"/>
                  </a:ext>
                </a:extLst>
              </a:tr>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6611945"/>
                  </a:ext>
                </a:extLst>
              </a:tr>
              <a:tr h="212951">
                <a:tc>
                  <a:txBody>
                    <a:bodyPr/>
                    <a:lstStyle/>
                    <a:p>
                      <a:r>
                        <a:rPr lang="en-US" sz="1050">
                          <a:solidFill>
                            <a:sysClr val="windowText" lastClr="000000"/>
                          </a:solidFill>
                        </a:rPr>
                        <a:t>+</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915567"/>
                  </a:ext>
                </a:extLst>
              </a:tr>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endParaRPr lang="en-GB" sz="105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768743689"/>
                  </a:ext>
                </a:extLst>
              </a:tr>
            </a:tbl>
          </a:graphicData>
        </a:graphic>
      </p:graphicFrame>
      <p:graphicFrame>
        <p:nvGraphicFramePr>
          <p:cNvPr id="5" name="Table 4">
            <a:extLst>
              <a:ext uri="{FF2B5EF4-FFF2-40B4-BE49-F238E27FC236}">
                <a16:creationId xmlns:a16="http://schemas.microsoft.com/office/drawing/2014/main" id="{4270EFB7-2C08-2A48-B8C6-87DC389B76E1}"/>
              </a:ext>
            </a:extLst>
          </p:cNvPr>
          <p:cNvGraphicFramePr>
            <a:graphicFrameLocks noGrp="1"/>
          </p:cNvGraphicFramePr>
          <p:nvPr>
            <p:extLst>
              <p:ext uri="{D42A27DB-BD31-4B8C-83A1-F6EECF244321}">
                <p14:modId xmlns:p14="http://schemas.microsoft.com/office/powerpoint/2010/main" val="3888934571"/>
              </p:ext>
            </p:extLst>
          </p:nvPr>
        </p:nvGraphicFramePr>
        <p:xfrm>
          <a:off x="5386276" y="6057921"/>
          <a:ext cx="1214043" cy="1005840"/>
        </p:xfrm>
        <a:graphic>
          <a:graphicData uri="http://schemas.openxmlformats.org/drawingml/2006/table">
            <a:tbl>
              <a:tblPr firstRow="1" bandRow="1">
                <a:tableStyleId>{5C22544A-7EE6-4342-B048-85BDC9FD1C3A}</a:tableStyleId>
              </a:tblPr>
              <a:tblGrid>
                <a:gridCol w="404681">
                  <a:extLst>
                    <a:ext uri="{9D8B030D-6E8A-4147-A177-3AD203B41FA5}">
                      <a16:colId xmlns:a16="http://schemas.microsoft.com/office/drawing/2014/main" val="221905763"/>
                    </a:ext>
                  </a:extLst>
                </a:gridCol>
                <a:gridCol w="404681">
                  <a:extLst>
                    <a:ext uri="{9D8B030D-6E8A-4147-A177-3AD203B41FA5}">
                      <a16:colId xmlns:a16="http://schemas.microsoft.com/office/drawing/2014/main" val="2022004965"/>
                    </a:ext>
                  </a:extLst>
                </a:gridCol>
                <a:gridCol w="404681">
                  <a:extLst>
                    <a:ext uri="{9D8B030D-6E8A-4147-A177-3AD203B41FA5}">
                      <a16:colId xmlns:a16="http://schemas.microsoft.com/office/drawing/2014/main" val="1385211880"/>
                    </a:ext>
                  </a:extLst>
                </a:gridCol>
              </a:tblGrid>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T</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O</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1506470"/>
                  </a:ext>
                </a:extLst>
              </a:tr>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6611945"/>
                  </a:ext>
                </a:extLst>
              </a:tr>
              <a:tr h="212951">
                <a:tc>
                  <a:txBody>
                    <a:bodyPr/>
                    <a:lstStyle/>
                    <a:p>
                      <a:r>
                        <a:rPr lang="en-US" sz="1050">
                          <a:solidFill>
                            <a:sysClr val="windowText" lastClr="000000"/>
                          </a:solidFill>
                        </a:rPr>
                        <a:t>+</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915567"/>
                  </a:ext>
                </a:extLst>
              </a:tr>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endParaRPr lang="en-GB" sz="105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endParaRPr lang="en-GB" sz="105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768743689"/>
                  </a:ext>
                </a:extLst>
              </a:tr>
            </a:tbl>
          </a:graphicData>
        </a:graphic>
      </p:graphicFrame>
      <p:graphicFrame>
        <p:nvGraphicFramePr>
          <p:cNvPr id="8" name="Table 7">
            <a:extLst>
              <a:ext uri="{FF2B5EF4-FFF2-40B4-BE49-F238E27FC236}">
                <a16:creationId xmlns:a16="http://schemas.microsoft.com/office/drawing/2014/main" id="{B856CEE2-E193-F1B5-167A-71A3AFCDB647}"/>
              </a:ext>
            </a:extLst>
          </p:cNvPr>
          <p:cNvGraphicFramePr>
            <a:graphicFrameLocks noGrp="1"/>
          </p:cNvGraphicFramePr>
          <p:nvPr>
            <p:extLst>
              <p:ext uri="{D42A27DB-BD31-4B8C-83A1-F6EECF244321}">
                <p14:modId xmlns:p14="http://schemas.microsoft.com/office/powerpoint/2010/main" val="1045107690"/>
              </p:ext>
            </p:extLst>
          </p:nvPr>
        </p:nvGraphicFramePr>
        <p:xfrm>
          <a:off x="1703446" y="6041949"/>
          <a:ext cx="1214043" cy="1005840"/>
        </p:xfrm>
        <a:graphic>
          <a:graphicData uri="http://schemas.openxmlformats.org/drawingml/2006/table">
            <a:tbl>
              <a:tblPr firstRow="1" bandRow="1">
                <a:tableStyleId>{5C22544A-7EE6-4342-B048-85BDC9FD1C3A}</a:tableStyleId>
              </a:tblPr>
              <a:tblGrid>
                <a:gridCol w="404681">
                  <a:extLst>
                    <a:ext uri="{9D8B030D-6E8A-4147-A177-3AD203B41FA5}">
                      <a16:colId xmlns:a16="http://schemas.microsoft.com/office/drawing/2014/main" val="221905763"/>
                    </a:ext>
                  </a:extLst>
                </a:gridCol>
                <a:gridCol w="404681">
                  <a:extLst>
                    <a:ext uri="{9D8B030D-6E8A-4147-A177-3AD203B41FA5}">
                      <a16:colId xmlns:a16="http://schemas.microsoft.com/office/drawing/2014/main" val="2022004965"/>
                    </a:ext>
                  </a:extLst>
                </a:gridCol>
                <a:gridCol w="404681">
                  <a:extLst>
                    <a:ext uri="{9D8B030D-6E8A-4147-A177-3AD203B41FA5}">
                      <a16:colId xmlns:a16="http://schemas.microsoft.com/office/drawing/2014/main" val="1385211880"/>
                    </a:ext>
                  </a:extLst>
                </a:gridCol>
              </a:tblGrid>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T</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O</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1506470"/>
                  </a:ext>
                </a:extLst>
              </a:tr>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1</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5</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6611945"/>
                  </a:ext>
                </a:extLst>
              </a:tr>
              <a:tr h="212951">
                <a:tc>
                  <a:txBody>
                    <a:bodyPr/>
                    <a:lstStyle/>
                    <a:p>
                      <a:r>
                        <a:rPr lang="en-US" sz="1050">
                          <a:solidFill>
                            <a:sysClr val="windowText" lastClr="000000"/>
                          </a:solidFill>
                        </a:rPr>
                        <a:t>+</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solidFill>
                            <a:sysClr val="windowText" lastClr="000000"/>
                          </a:solidFill>
                        </a:rPr>
                        <a:t>3</a:t>
                      </a:r>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915567"/>
                  </a:ext>
                </a:extLst>
              </a:tr>
              <a:tr h="212951">
                <a:tc>
                  <a:txBody>
                    <a:bodyPr/>
                    <a:lstStyle/>
                    <a:p>
                      <a:endParaRPr lang="en-GB" sz="105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endParaRPr lang="en-GB" sz="105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endParaRPr lang="en-GB" sz="105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768743689"/>
                  </a:ext>
                </a:extLst>
              </a:tr>
            </a:tbl>
          </a:graphicData>
        </a:graphic>
      </p:graphicFrame>
      <p:sp>
        <p:nvSpPr>
          <p:cNvPr id="9" name="Rectangle 8">
            <a:extLst>
              <a:ext uri="{FF2B5EF4-FFF2-40B4-BE49-F238E27FC236}">
                <a16:creationId xmlns:a16="http://schemas.microsoft.com/office/drawing/2014/main" id="{3B26CF68-3C8F-2614-348F-7901DA664C19}"/>
              </a:ext>
            </a:extLst>
          </p:cNvPr>
          <p:cNvSpPr/>
          <p:nvPr/>
        </p:nvSpPr>
        <p:spPr>
          <a:xfrm>
            <a:off x="1678047" y="7183835"/>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C137BEAF-CF71-C58C-86AE-75BD4CF63E3C}"/>
              </a:ext>
            </a:extLst>
          </p:cNvPr>
          <p:cNvSpPr/>
          <p:nvPr/>
        </p:nvSpPr>
        <p:spPr>
          <a:xfrm>
            <a:off x="3552378" y="7183835"/>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F6C7436B-A4E8-6AF7-0C38-55FBCFEBDE27}"/>
              </a:ext>
            </a:extLst>
          </p:cNvPr>
          <p:cNvSpPr/>
          <p:nvPr/>
        </p:nvSpPr>
        <p:spPr>
          <a:xfrm>
            <a:off x="5351489" y="7183835"/>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799077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 name="Table 96">
            <a:extLst>
              <a:ext uri="{FF2B5EF4-FFF2-40B4-BE49-F238E27FC236}">
                <a16:creationId xmlns:a16="http://schemas.microsoft.com/office/drawing/2014/main" id="{E0F244C0-1B24-B12C-A11A-36C30968E969}"/>
              </a:ext>
            </a:extLst>
          </p:cNvPr>
          <p:cNvGraphicFramePr>
            <a:graphicFrameLocks noGrp="1"/>
          </p:cNvGraphicFramePr>
          <p:nvPr>
            <p:extLst>
              <p:ext uri="{D42A27DB-BD31-4B8C-83A1-F6EECF244321}">
                <p14:modId xmlns:p14="http://schemas.microsoft.com/office/powerpoint/2010/main" val="409515762"/>
              </p:ext>
            </p:extLst>
          </p:nvPr>
        </p:nvGraphicFramePr>
        <p:xfrm>
          <a:off x="120303" y="639197"/>
          <a:ext cx="6572478" cy="2034148"/>
        </p:xfrm>
        <a:graphic>
          <a:graphicData uri="http://schemas.openxmlformats.org/drawingml/2006/table">
            <a:tbl>
              <a:tblPr firstRow="1" bandRow="1">
                <a:tableStyleId>{5C22544A-7EE6-4342-B048-85BDC9FD1C3A}</a:tableStyleId>
              </a:tblPr>
              <a:tblGrid>
                <a:gridCol w="1070499">
                  <a:extLst>
                    <a:ext uri="{9D8B030D-6E8A-4147-A177-3AD203B41FA5}">
                      <a16:colId xmlns:a16="http://schemas.microsoft.com/office/drawing/2014/main" val="1568142362"/>
                    </a:ext>
                  </a:extLst>
                </a:gridCol>
                <a:gridCol w="1876248">
                  <a:extLst>
                    <a:ext uri="{9D8B030D-6E8A-4147-A177-3AD203B41FA5}">
                      <a16:colId xmlns:a16="http://schemas.microsoft.com/office/drawing/2014/main" val="3551711160"/>
                    </a:ext>
                  </a:extLst>
                </a:gridCol>
                <a:gridCol w="1828800">
                  <a:extLst>
                    <a:ext uri="{9D8B030D-6E8A-4147-A177-3AD203B41FA5}">
                      <a16:colId xmlns:a16="http://schemas.microsoft.com/office/drawing/2014/main" val="1712497518"/>
                    </a:ext>
                  </a:extLst>
                </a:gridCol>
                <a:gridCol w="1796931">
                  <a:extLst>
                    <a:ext uri="{9D8B030D-6E8A-4147-A177-3AD203B41FA5}">
                      <a16:colId xmlns:a16="http://schemas.microsoft.com/office/drawing/2014/main" val="886122921"/>
                    </a:ext>
                  </a:extLst>
                </a:gridCol>
              </a:tblGrid>
              <a:tr h="320383">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5 + 37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dirty="0">
                          <a:solidFill>
                            <a:schemeClr val="tx1"/>
                          </a:solidFill>
                        </a:rPr>
                        <a:t>Calculate 18 + 75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dirty="0">
                          <a:solidFill>
                            <a:schemeClr val="tx1"/>
                          </a:solidFill>
                        </a:rPr>
                        <a:t>Calculate 54 + 17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23814">
                <a:tc>
                  <a:txBody>
                    <a:bodyPr/>
                    <a:lstStyle/>
                    <a:p>
                      <a:pPr marL="0" indent="0">
                        <a:buNone/>
                      </a:pPr>
                      <a:r>
                        <a:rPr lang="en-US" sz="1100">
                          <a:solidFill>
                            <a:schemeClr val="tx1"/>
                          </a:solidFill>
                        </a:rPr>
                        <a:t>1. Line up both numbers in the correct columns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9951">
                <a:tc>
                  <a:txBody>
                    <a:bodyPr/>
                    <a:lstStyle/>
                    <a:p>
                      <a:r>
                        <a:rPr lang="en-US" sz="1100" dirty="0">
                          <a:solidFill>
                            <a:schemeClr val="tx1"/>
                          </a:solidFill>
                        </a:rPr>
                        <a:t>2. Add each column starting with the lowest column</a:t>
                      </a: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112" name="Slide Number Placeholder 2"/>
          <p:cNvSpPr>
            <a:spLocks noGrp="1"/>
          </p:cNvSpPr>
          <p:nvPr>
            <p:ph type="sldNum" sz="quarter" idx="12"/>
          </p:nvPr>
        </p:nvSpPr>
        <p:spPr>
          <a:xfrm>
            <a:off x="5357813" y="9580120"/>
            <a:ext cx="1543050" cy="527403"/>
          </a:xfrm>
        </p:spPr>
        <p:txBody>
          <a:bodyPr/>
          <a:lstStyle/>
          <a:p>
            <a:fld id="{19F1D9CC-7119-45EC-A96C-D8C0660F3AAB}" type="slidenum">
              <a:rPr lang="en-GB" smtClean="0"/>
              <a:t>44</a:t>
            </a:fld>
            <a:endParaRPr lang="en-GB"/>
          </a:p>
        </p:txBody>
      </p:sp>
      <p:sp>
        <p:nvSpPr>
          <p:cNvPr id="98" name="Rectangle 97">
            <a:extLst>
              <a:ext uri="{FF2B5EF4-FFF2-40B4-BE49-F238E27FC236}">
                <a16:creationId xmlns:a16="http://schemas.microsoft.com/office/drawing/2014/main" id="{88E30CB5-76C8-8BD6-2448-9BD3DD91C46C}"/>
              </a:ext>
            </a:extLst>
          </p:cNvPr>
          <p:cNvSpPr/>
          <p:nvPr/>
        </p:nvSpPr>
        <p:spPr>
          <a:xfrm>
            <a:off x="63044" y="57680"/>
            <a:ext cx="6675966" cy="23560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Setting out and adding one- and two-digit integers using column method </a:t>
            </a:r>
            <a:endParaRPr lang="en-GB" sz="1200">
              <a:solidFill>
                <a:schemeClr val="bg1"/>
              </a:solidFill>
            </a:endParaRPr>
          </a:p>
        </p:txBody>
      </p:sp>
      <p:sp>
        <p:nvSpPr>
          <p:cNvPr id="108" name="Rectangle 107">
            <a:extLst>
              <a:ext uri="{FF2B5EF4-FFF2-40B4-BE49-F238E27FC236}">
                <a16:creationId xmlns:a16="http://schemas.microsoft.com/office/drawing/2014/main" id="{465B621B-EB55-A01D-9F0A-EEBB1109DFCC}"/>
              </a:ext>
            </a:extLst>
          </p:cNvPr>
          <p:cNvSpPr/>
          <p:nvPr/>
        </p:nvSpPr>
        <p:spPr>
          <a:xfrm>
            <a:off x="69362" y="2754991"/>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109" name="TextBox 108">
            <a:extLst>
              <a:ext uri="{FF2B5EF4-FFF2-40B4-BE49-F238E27FC236}">
                <a16:creationId xmlns:a16="http://schemas.microsoft.com/office/drawing/2014/main" id="{0B84AE52-D314-1C3F-6312-BAEB96E37B16}"/>
              </a:ext>
            </a:extLst>
          </p:cNvPr>
          <p:cNvSpPr txBox="1"/>
          <p:nvPr/>
        </p:nvSpPr>
        <p:spPr>
          <a:xfrm>
            <a:off x="1253844" y="2787945"/>
            <a:ext cx="3368166" cy="276999"/>
          </a:xfrm>
          <a:prstGeom prst="rect">
            <a:avLst/>
          </a:prstGeom>
          <a:noFill/>
        </p:spPr>
        <p:txBody>
          <a:bodyPr wrap="none" rtlCol="0">
            <a:spAutoFit/>
          </a:bodyPr>
          <a:lstStyle/>
          <a:p>
            <a:r>
              <a:rPr lang="en-US" sz="1200"/>
              <a:t>1. Add the following integers using column method</a:t>
            </a:r>
            <a:endParaRPr lang="en-GB" sz="1200"/>
          </a:p>
        </p:txBody>
      </p:sp>
      <p:sp>
        <p:nvSpPr>
          <p:cNvPr id="110" name="TextBox 109">
            <a:extLst>
              <a:ext uri="{FF2B5EF4-FFF2-40B4-BE49-F238E27FC236}">
                <a16:creationId xmlns:a16="http://schemas.microsoft.com/office/drawing/2014/main" id="{4ADA9E44-0C2D-471D-2FE6-1251C62C3983}"/>
              </a:ext>
            </a:extLst>
          </p:cNvPr>
          <p:cNvSpPr txBox="1"/>
          <p:nvPr/>
        </p:nvSpPr>
        <p:spPr>
          <a:xfrm>
            <a:off x="5101865" y="340481"/>
            <a:ext cx="1498808" cy="276999"/>
          </a:xfrm>
          <a:prstGeom prst="rect">
            <a:avLst/>
          </a:prstGeom>
          <a:noFill/>
          <a:ln>
            <a:noFill/>
          </a:ln>
        </p:spPr>
        <p:txBody>
          <a:bodyPr wrap="none" rtlCol="0">
            <a:spAutoFit/>
          </a:bodyPr>
          <a:lstStyle/>
          <a:p>
            <a:r>
              <a:rPr lang="en-GB" sz="1200" b="1" i="1">
                <a:solidFill>
                  <a:srgbClr val="00B050"/>
                </a:solidFill>
                <a:latin typeface="Calibri" panose="020F0502020204030204" pitchFamily="34" charset="0"/>
                <a:cs typeface="Calibri" panose="020F0502020204030204" pitchFamily="34" charset="0"/>
              </a:rPr>
              <a:t>Example 6 - You do…</a:t>
            </a:r>
          </a:p>
        </p:txBody>
      </p:sp>
      <p:sp>
        <p:nvSpPr>
          <p:cNvPr id="111" name="TextBox 110">
            <a:extLst>
              <a:ext uri="{FF2B5EF4-FFF2-40B4-BE49-F238E27FC236}">
                <a16:creationId xmlns:a16="http://schemas.microsoft.com/office/drawing/2014/main" id="{679FBAE2-E613-4F23-1089-513846B1689D}"/>
              </a:ext>
            </a:extLst>
          </p:cNvPr>
          <p:cNvSpPr txBox="1"/>
          <p:nvPr/>
        </p:nvSpPr>
        <p:spPr>
          <a:xfrm>
            <a:off x="3303282" y="343456"/>
            <a:ext cx="1475789" cy="276999"/>
          </a:xfrm>
          <a:prstGeom prst="rect">
            <a:avLst/>
          </a:prstGeom>
          <a:noFill/>
          <a:ln>
            <a:noFill/>
          </a:ln>
        </p:spPr>
        <p:txBody>
          <a:bodyPr wrap="none" rtlCol="0">
            <a:spAutoFit/>
          </a:bodyPr>
          <a:lstStyle/>
          <a:p>
            <a:r>
              <a:rPr lang="en-GB" sz="1200" b="1" i="1">
                <a:solidFill>
                  <a:schemeClr val="accent2"/>
                </a:solidFill>
                <a:latin typeface="Calibri" panose="020F0502020204030204" pitchFamily="34" charset="0"/>
                <a:cs typeface="Calibri" panose="020F0502020204030204" pitchFamily="34" charset="0"/>
              </a:rPr>
              <a:t>Example 5 - We do…</a:t>
            </a:r>
          </a:p>
        </p:txBody>
      </p:sp>
      <p:sp>
        <p:nvSpPr>
          <p:cNvPr id="113" name="TextBox 112">
            <a:extLst>
              <a:ext uri="{FF2B5EF4-FFF2-40B4-BE49-F238E27FC236}">
                <a16:creationId xmlns:a16="http://schemas.microsoft.com/office/drawing/2014/main" id="{D5CB9A3A-87AF-605F-724B-90F7EF199EE3}"/>
              </a:ext>
            </a:extLst>
          </p:cNvPr>
          <p:cNvSpPr txBox="1"/>
          <p:nvPr/>
        </p:nvSpPr>
        <p:spPr>
          <a:xfrm>
            <a:off x="1483581" y="371186"/>
            <a:ext cx="1308500" cy="276999"/>
          </a:xfrm>
          <a:prstGeom prst="rect">
            <a:avLst/>
          </a:prstGeom>
          <a:noFill/>
          <a:ln>
            <a:noFill/>
          </a:ln>
        </p:spPr>
        <p:txBody>
          <a:bodyPr wrap="none" rtlCol="0">
            <a:spAutoFit/>
          </a:bodyPr>
          <a:lstStyle/>
          <a:p>
            <a:r>
              <a:rPr lang="en-GB" sz="1200" b="1" i="1">
                <a:solidFill>
                  <a:srgbClr val="FF0000"/>
                </a:solidFill>
                <a:latin typeface="Calibri" panose="020F0502020204030204" pitchFamily="34" charset="0"/>
                <a:cs typeface="Calibri" panose="020F0502020204030204" pitchFamily="34" charset="0"/>
              </a:rPr>
              <a:t>Example 4 - I do…</a:t>
            </a:r>
          </a:p>
        </p:txBody>
      </p:sp>
      <p:sp>
        <p:nvSpPr>
          <p:cNvPr id="134" name="TextBox 133">
            <a:extLst>
              <a:ext uri="{FF2B5EF4-FFF2-40B4-BE49-F238E27FC236}">
                <a16:creationId xmlns:a16="http://schemas.microsoft.com/office/drawing/2014/main" id="{2F340C64-CCD8-F806-AEBD-6DEF8F7835A7}"/>
              </a:ext>
            </a:extLst>
          </p:cNvPr>
          <p:cNvSpPr txBox="1"/>
          <p:nvPr/>
        </p:nvSpPr>
        <p:spPr>
          <a:xfrm>
            <a:off x="250237" y="8268930"/>
            <a:ext cx="4874027" cy="276999"/>
          </a:xfrm>
          <a:prstGeom prst="rect">
            <a:avLst/>
          </a:prstGeom>
          <a:noFill/>
        </p:spPr>
        <p:txBody>
          <a:bodyPr wrap="none" rtlCol="0">
            <a:spAutoFit/>
          </a:bodyPr>
          <a:lstStyle/>
          <a:p>
            <a:r>
              <a:rPr lang="en-US" sz="1200" dirty="0"/>
              <a:t>p) Sally is calculating 438 + 100. Can you explain the mistake she has made?</a:t>
            </a:r>
            <a:endParaRPr lang="en-GB" sz="1200" dirty="0"/>
          </a:p>
        </p:txBody>
      </p:sp>
      <p:sp>
        <p:nvSpPr>
          <p:cNvPr id="135" name="TextBox 134">
            <a:extLst>
              <a:ext uri="{FF2B5EF4-FFF2-40B4-BE49-F238E27FC236}">
                <a16:creationId xmlns:a16="http://schemas.microsoft.com/office/drawing/2014/main" id="{710A8859-0C8B-4A82-86D4-994A4A71201D}"/>
              </a:ext>
            </a:extLst>
          </p:cNvPr>
          <p:cNvSpPr txBox="1"/>
          <p:nvPr/>
        </p:nvSpPr>
        <p:spPr>
          <a:xfrm>
            <a:off x="452141" y="8545929"/>
            <a:ext cx="1510350" cy="1323439"/>
          </a:xfrm>
          <a:prstGeom prst="rect">
            <a:avLst/>
          </a:prstGeom>
          <a:solidFill>
            <a:schemeClr val="bg1"/>
          </a:solidFill>
          <a:ln>
            <a:solidFill>
              <a:schemeClr val="bg1"/>
            </a:solidFill>
          </a:ln>
        </p:spPr>
        <p:txBody>
          <a:bodyPr wrap="none" rtlCol="0">
            <a:spAutoFit/>
          </a:bodyPr>
          <a:lstStyle/>
          <a:p>
            <a:r>
              <a:rPr lang="en-US" sz="2000" i="1"/>
              <a:t>     4   3   8 </a:t>
            </a:r>
          </a:p>
          <a:p>
            <a:r>
              <a:rPr lang="en-US" sz="2000" i="1"/>
              <a:t>+        1   0   0</a:t>
            </a:r>
          </a:p>
          <a:p>
            <a:r>
              <a:rPr lang="en-US" sz="2000" i="1"/>
              <a:t>     4   4   8   0</a:t>
            </a:r>
          </a:p>
          <a:p>
            <a:endParaRPr lang="en-GB" sz="2000" i="1"/>
          </a:p>
        </p:txBody>
      </p:sp>
      <p:cxnSp>
        <p:nvCxnSpPr>
          <p:cNvPr id="137" name="Straight Connector 136">
            <a:extLst>
              <a:ext uri="{FF2B5EF4-FFF2-40B4-BE49-F238E27FC236}">
                <a16:creationId xmlns:a16="http://schemas.microsoft.com/office/drawing/2014/main" id="{B16768F1-C53D-D3FA-C990-22D884ABC049}"/>
              </a:ext>
            </a:extLst>
          </p:cNvPr>
          <p:cNvCxnSpPr>
            <a:stCxn id="135" idx="1"/>
            <a:endCxn id="135" idx="3"/>
          </p:cNvCxnSpPr>
          <p:nvPr/>
        </p:nvCxnSpPr>
        <p:spPr>
          <a:xfrm>
            <a:off x="452141" y="9207649"/>
            <a:ext cx="15103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Rectangle 137">
            <a:extLst>
              <a:ext uri="{FF2B5EF4-FFF2-40B4-BE49-F238E27FC236}">
                <a16:creationId xmlns:a16="http://schemas.microsoft.com/office/drawing/2014/main" id="{8397BE24-34C7-2896-8A15-F1A6DC2628E2}"/>
              </a:ext>
            </a:extLst>
          </p:cNvPr>
          <p:cNvSpPr/>
          <p:nvPr/>
        </p:nvSpPr>
        <p:spPr>
          <a:xfrm>
            <a:off x="2334060" y="8599152"/>
            <a:ext cx="4404950" cy="105379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0C413933-296D-4B8A-0EE7-517AD124A2D1}"/>
                  </a:ext>
                </a:extLst>
              </p:cNvPr>
              <p:cNvGraphicFramePr>
                <a:graphicFrameLocks noGrp="1"/>
              </p:cNvGraphicFramePr>
              <p:nvPr>
                <p:extLst>
                  <p:ext uri="{D42A27DB-BD31-4B8C-83A1-F6EECF244321}">
                    <p14:modId xmlns:p14="http://schemas.microsoft.com/office/powerpoint/2010/main" val="4153585381"/>
                  </p:ext>
                </p:extLst>
              </p:nvPr>
            </p:nvGraphicFramePr>
            <p:xfrm>
              <a:off x="120301" y="3227154"/>
              <a:ext cx="6572480" cy="4864199"/>
            </p:xfrm>
            <a:graphic>
              <a:graphicData uri="http://schemas.openxmlformats.org/drawingml/2006/table">
                <a:tbl>
                  <a:tblPr firstRow="1" bandRow="1">
                    <a:tableStyleId>{5940675A-B579-460E-94D1-54222C63F5DA}</a:tableStyleId>
                  </a:tblPr>
                  <a:tblGrid>
                    <a:gridCol w="1314496">
                      <a:extLst>
                        <a:ext uri="{9D8B030D-6E8A-4147-A177-3AD203B41FA5}">
                          <a16:colId xmlns:a16="http://schemas.microsoft.com/office/drawing/2014/main" val="3638032371"/>
                        </a:ext>
                      </a:extLst>
                    </a:gridCol>
                    <a:gridCol w="1314496">
                      <a:extLst>
                        <a:ext uri="{9D8B030D-6E8A-4147-A177-3AD203B41FA5}">
                          <a16:colId xmlns:a16="http://schemas.microsoft.com/office/drawing/2014/main" val="1546733049"/>
                        </a:ext>
                      </a:extLst>
                    </a:gridCol>
                    <a:gridCol w="1314496">
                      <a:extLst>
                        <a:ext uri="{9D8B030D-6E8A-4147-A177-3AD203B41FA5}">
                          <a16:colId xmlns:a16="http://schemas.microsoft.com/office/drawing/2014/main" val="4228866829"/>
                        </a:ext>
                      </a:extLst>
                    </a:gridCol>
                    <a:gridCol w="1314496">
                      <a:extLst>
                        <a:ext uri="{9D8B030D-6E8A-4147-A177-3AD203B41FA5}">
                          <a16:colId xmlns:a16="http://schemas.microsoft.com/office/drawing/2014/main" val="2649711867"/>
                        </a:ext>
                      </a:extLst>
                    </a:gridCol>
                    <a:gridCol w="1314496">
                      <a:extLst>
                        <a:ext uri="{9D8B030D-6E8A-4147-A177-3AD203B41FA5}">
                          <a16:colId xmlns:a16="http://schemas.microsoft.com/office/drawing/2014/main" val="1493840748"/>
                        </a:ext>
                      </a:extLst>
                    </a:gridCol>
                  </a:tblGrid>
                  <a:tr h="507302">
                    <a:tc>
                      <a:txBody>
                        <a:bodyPr/>
                        <a:lstStyle/>
                        <a:p>
                          <a:r>
                            <a:rPr lang="en-GB" sz="1200" dirty="0"/>
                            <a:t>a) </a:t>
                          </a:r>
                          <a14:m>
                            <m:oMath xmlns:m="http://schemas.openxmlformats.org/officeDocument/2006/math">
                              <m:r>
                                <a:rPr lang="en-GB" sz="1200" b="0" i="1" smtClean="0">
                                  <a:latin typeface="Cambria Math" panose="02040503050406030204" pitchFamily="18" charset="0"/>
                                </a:rPr>
                                <m:t>13+5</m:t>
                              </m:r>
                            </m:oMath>
                          </a14:m>
                          <a:endParaRPr lang="en-GB" sz="1200" dirty="0"/>
                        </a:p>
                      </a:txBody>
                      <a:tcPr anchor="ctr"/>
                    </a:tc>
                    <a:tc>
                      <a:txBody>
                        <a:bodyPr/>
                        <a:lstStyle/>
                        <a:p>
                          <a:r>
                            <a:rPr lang="en-GB" sz="1200" dirty="0"/>
                            <a:t>b) </a:t>
                          </a:r>
                          <a14:m>
                            <m:oMath xmlns:m="http://schemas.openxmlformats.org/officeDocument/2006/math">
                              <m:r>
                                <a:rPr lang="en-GB" sz="1200" b="0" i="1" smtClean="0">
                                  <a:latin typeface="Cambria Math" panose="02040503050406030204" pitchFamily="18" charset="0"/>
                                </a:rPr>
                                <m:t>15+3</m:t>
                              </m:r>
                            </m:oMath>
                          </a14:m>
                          <a:endParaRPr lang="en-GB" sz="1200" dirty="0"/>
                        </a:p>
                      </a:txBody>
                      <a:tcPr anchor="ctr"/>
                    </a:tc>
                    <a:tc>
                      <a:txBody>
                        <a:bodyPr/>
                        <a:lstStyle/>
                        <a:p>
                          <a:r>
                            <a:rPr lang="en-GB" sz="1200" dirty="0"/>
                            <a:t>c) </a:t>
                          </a:r>
                          <a14:m>
                            <m:oMath xmlns:m="http://schemas.openxmlformats.org/officeDocument/2006/math">
                              <m:r>
                                <a:rPr lang="en-GB" sz="1200" b="0" i="1" smtClean="0">
                                  <a:latin typeface="Cambria Math" panose="02040503050406030204" pitchFamily="18" charset="0"/>
                                </a:rPr>
                                <m:t>5+13</m:t>
                              </m:r>
                            </m:oMath>
                          </a14:m>
                          <a:endParaRPr lang="en-GB" sz="1200" dirty="0"/>
                        </a:p>
                      </a:txBody>
                      <a:tcPr anchor="ctr"/>
                    </a:tc>
                    <a:tc>
                      <a:txBody>
                        <a:bodyPr/>
                        <a:lstStyle/>
                        <a:p>
                          <a:r>
                            <a:rPr lang="en-GB" sz="1200" dirty="0"/>
                            <a:t>d) </a:t>
                          </a:r>
                          <a14:m>
                            <m:oMath xmlns:m="http://schemas.openxmlformats.org/officeDocument/2006/math">
                              <m:r>
                                <a:rPr lang="en-GB" sz="1200" b="0" i="1" smtClean="0">
                                  <a:latin typeface="Cambria Math" panose="02040503050406030204" pitchFamily="18" charset="0"/>
                                </a:rPr>
                                <m:t>17+2</m:t>
                              </m:r>
                            </m:oMath>
                          </a14:m>
                          <a:endParaRPr lang="en-GB" sz="1200" dirty="0"/>
                        </a:p>
                      </a:txBody>
                      <a:tcPr anchor="ctr"/>
                    </a:tc>
                    <a:tc>
                      <a:txBody>
                        <a:bodyPr/>
                        <a:lstStyle/>
                        <a:p>
                          <a:r>
                            <a:rPr lang="en-GB" sz="1200" dirty="0"/>
                            <a:t>e) </a:t>
                          </a:r>
                          <a14:m>
                            <m:oMath xmlns:m="http://schemas.openxmlformats.org/officeDocument/2006/math">
                              <m:r>
                                <a:rPr lang="en-GB" sz="1200" b="0" i="1" smtClean="0">
                                  <a:latin typeface="Cambria Math" panose="02040503050406030204" pitchFamily="18" charset="0"/>
                                </a:rPr>
                                <m:t>2+17</m:t>
                              </m:r>
                            </m:oMath>
                          </a14:m>
                          <a:endParaRPr lang="en-GB" sz="1200" dirty="0"/>
                        </a:p>
                      </a:txBody>
                      <a:tcPr anchor="ctr"/>
                    </a:tc>
                    <a:extLst>
                      <a:ext uri="{0D108BD9-81ED-4DB2-BD59-A6C34878D82A}">
                        <a16:rowId xmlns:a16="http://schemas.microsoft.com/office/drawing/2014/main" val="1259623295"/>
                      </a:ext>
                    </a:extLst>
                  </a:tr>
                  <a:tr h="1126359">
                    <a:tc>
                      <a:txBody>
                        <a:bodyPr/>
                        <a:lstStyle/>
                        <a:p>
                          <a:endParaRPr lang="en-GB" sz="1200"/>
                        </a:p>
                      </a:txBody>
                      <a:tcPr anchor="ctr"/>
                    </a:tc>
                    <a:tc>
                      <a:txBody>
                        <a:bodyPr/>
                        <a:lstStyle/>
                        <a:p>
                          <a:endParaRPr lang="en-GB" sz="1200"/>
                        </a:p>
                      </a:txBody>
                      <a:tcPr anchor="ctr"/>
                    </a:tc>
                    <a:tc>
                      <a:txBody>
                        <a:bodyPr/>
                        <a:lstStyle/>
                        <a:p>
                          <a:endParaRPr lang="en-GB" sz="1200"/>
                        </a:p>
                      </a:txBody>
                      <a:tcPr anchor="ctr"/>
                    </a:tc>
                    <a:tc>
                      <a:txBody>
                        <a:bodyPr/>
                        <a:lstStyle/>
                        <a:p>
                          <a:endParaRPr lang="en-GB" sz="1200"/>
                        </a:p>
                      </a:txBody>
                      <a:tcPr anchor="ctr"/>
                    </a:tc>
                    <a:tc>
                      <a:txBody>
                        <a:bodyPr/>
                        <a:lstStyle/>
                        <a:p>
                          <a:endParaRPr lang="en-GB" sz="1200"/>
                        </a:p>
                      </a:txBody>
                      <a:tcPr anchor="ctr"/>
                    </a:tc>
                    <a:extLst>
                      <a:ext uri="{0D108BD9-81ED-4DB2-BD59-A6C34878D82A}">
                        <a16:rowId xmlns:a16="http://schemas.microsoft.com/office/drawing/2014/main" val="4077617919"/>
                      </a:ext>
                    </a:extLst>
                  </a:tr>
                  <a:tr h="543358">
                    <a:tc>
                      <a:txBody>
                        <a:bodyPr/>
                        <a:lstStyle/>
                        <a:p>
                          <a:r>
                            <a:rPr lang="en-GB" sz="1200" dirty="0"/>
                            <a:t>f) </a:t>
                          </a:r>
                          <a14:m>
                            <m:oMath xmlns:m="http://schemas.openxmlformats.org/officeDocument/2006/math">
                              <m:r>
                                <a:rPr lang="en-GB" sz="1200" b="0" i="1" smtClean="0">
                                  <a:latin typeface="Cambria Math" panose="02040503050406030204" pitchFamily="18" charset="0"/>
                                </a:rPr>
                                <m:t>13+24</m:t>
                              </m:r>
                            </m:oMath>
                          </a14:m>
                          <a:endParaRPr lang="en-GB" sz="1200" dirty="0"/>
                        </a:p>
                      </a:txBody>
                      <a:tcPr anchor="ctr"/>
                    </a:tc>
                    <a:tc>
                      <a:txBody>
                        <a:bodyPr/>
                        <a:lstStyle/>
                        <a:p>
                          <a:r>
                            <a:rPr lang="en-GB" sz="1200" dirty="0"/>
                            <a:t>g) </a:t>
                          </a:r>
                          <a14:m>
                            <m:oMath xmlns:m="http://schemas.openxmlformats.org/officeDocument/2006/math">
                              <m:r>
                                <a:rPr lang="en-GB" sz="1200" b="0" i="1" smtClean="0">
                                  <a:latin typeface="Cambria Math" panose="02040503050406030204" pitchFamily="18" charset="0"/>
                                </a:rPr>
                                <m:t>23+32</m:t>
                              </m:r>
                            </m:oMath>
                          </a14:m>
                          <a:endParaRPr lang="en-GB" sz="1200" dirty="0"/>
                        </a:p>
                      </a:txBody>
                      <a:tcPr anchor="ctr"/>
                    </a:tc>
                    <a:tc>
                      <a:txBody>
                        <a:bodyPr/>
                        <a:lstStyle/>
                        <a:p>
                          <a:r>
                            <a:rPr lang="en-GB" sz="1200" dirty="0"/>
                            <a:t>h) </a:t>
                          </a:r>
                          <a14:m>
                            <m:oMath xmlns:m="http://schemas.openxmlformats.org/officeDocument/2006/math">
                              <m:r>
                                <a:rPr lang="en-GB" sz="1200" b="0" i="1" smtClean="0">
                                  <a:latin typeface="Cambria Math" panose="02040503050406030204" pitchFamily="18" charset="0"/>
                                </a:rPr>
                                <m:t>23+5</m:t>
                              </m:r>
                            </m:oMath>
                          </a14:m>
                          <a:endParaRPr lang="en-GB" sz="1200" dirty="0"/>
                        </a:p>
                      </a:txBody>
                      <a:tcPr anchor="ctr"/>
                    </a:tc>
                    <a:tc>
                      <a:txBody>
                        <a:bodyPr/>
                        <a:lstStyle/>
                        <a:p>
                          <a:r>
                            <a:rPr lang="en-GB" sz="1200" dirty="0"/>
                            <a:t>i) </a:t>
                          </a:r>
                          <a14:m>
                            <m:oMath xmlns:m="http://schemas.openxmlformats.org/officeDocument/2006/math">
                              <m:r>
                                <a:rPr lang="en-GB" sz="1200" b="0" i="1" smtClean="0">
                                  <a:latin typeface="Cambria Math" panose="02040503050406030204" pitchFamily="18" charset="0"/>
                                </a:rPr>
                                <m:t>75+23</m:t>
                              </m:r>
                            </m:oMath>
                          </a14:m>
                          <a:endParaRPr lang="en-GB" sz="1200" dirty="0"/>
                        </a:p>
                      </a:txBody>
                      <a:tcPr anchor="ctr"/>
                    </a:tc>
                    <a:tc>
                      <a:txBody>
                        <a:bodyPr/>
                        <a:lstStyle/>
                        <a:p>
                          <a:r>
                            <a:rPr lang="en-GB" sz="1200" dirty="0"/>
                            <a:t>j)</a:t>
                          </a:r>
                          <a14:m>
                            <m:oMath xmlns:m="http://schemas.openxmlformats.org/officeDocument/2006/math">
                              <m:r>
                                <a:rPr lang="en-GB" sz="1200" b="0" i="1" smtClean="0">
                                  <a:latin typeface="Cambria Math" panose="02040503050406030204" pitchFamily="18" charset="0"/>
                                </a:rPr>
                                <m:t>19+20</m:t>
                              </m:r>
                            </m:oMath>
                          </a14:m>
                          <a:endParaRPr lang="en-GB" sz="1200" dirty="0"/>
                        </a:p>
                      </a:txBody>
                      <a:tcPr anchor="ctr"/>
                    </a:tc>
                    <a:extLst>
                      <a:ext uri="{0D108BD9-81ED-4DB2-BD59-A6C34878D82A}">
                        <a16:rowId xmlns:a16="http://schemas.microsoft.com/office/drawing/2014/main" val="3685955295"/>
                      </a:ext>
                    </a:extLst>
                  </a:tr>
                  <a:tr h="1126359">
                    <a:tc>
                      <a:txBody>
                        <a:bodyPr/>
                        <a:lstStyle/>
                        <a:p>
                          <a:endParaRPr lang="en-GB" sz="1200"/>
                        </a:p>
                      </a:txBody>
                      <a:tcPr anchor="ctr"/>
                    </a:tc>
                    <a:tc>
                      <a:txBody>
                        <a:bodyPr/>
                        <a:lstStyle/>
                        <a:p>
                          <a:endParaRPr lang="en-GB" sz="1200"/>
                        </a:p>
                      </a:txBody>
                      <a:tcPr anchor="ctr"/>
                    </a:tc>
                    <a:tc>
                      <a:txBody>
                        <a:bodyPr/>
                        <a:lstStyle/>
                        <a:p>
                          <a:endParaRPr lang="en-GB" sz="1200" dirty="0"/>
                        </a:p>
                      </a:txBody>
                      <a:tcPr anchor="ctr"/>
                    </a:tc>
                    <a:tc>
                      <a:txBody>
                        <a:bodyPr/>
                        <a:lstStyle/>
                        <a:p>
                          <a:endParaRPr lang="en-GB" sz="1200"/>
                        </a:p>
                      </a:txBody>
                      <a:tcPr anchor="ctr"/>
                    </a:tc>
                    <a:tc>
                      <a:txBody>
                        <a:bodyPr/>
                        <a:lstStyle/>
                        <a:p>
                          <a:endParaRPr lang="en-GB" sz="1200"/>
                        </a:p>
                      </a:txBody>
                      <a:tcPr anchor="ctr"/>
                    </a:tc>
                    <a:extLst>
                      <a:ext uri="{0D108BD9-81ED-4DB2-BD59-A6C34878D82A}">
                        <a16:rowId xmlns:a16="http://schemas.microsoft.com/office/drawing/2014/main" val="2984162169"/>
                      </a:ext>
                    </a:extLst>
                  </a:tr>
                  <a:tr h="434462">
                    <a:tc>
                      <a:txBody>
                        <a:bodyPr/>
                        <a:lstStyle/>
                        <a:p>
                          <a:r>
                            <a:rPr lang="en-GB" sz="1200" dirty="0"/>
                            <a:t>k) </a:t>
                          </a:r>
                          <a14:m>
                            <m:oMath xmlns:m="http://schemas.openxmlformats.org/officeDocument/2006/math">
                              <m:r>
                                <a:rPr lang="en-GB" sz="1200" b="0" i="1" smtClean="0">
                                  <a:latin typeface="Cambria Math" panose="02040503050406030204" pitchFamily="18" charset="0"/>
                                </a:rPr>
                                <m:t>33+24</m:t>
                              </m:r>
                            </m:oMath>
                          </a14:m>
                          <a:endParaRPr lang="en-GB" sz="1200" dirty="0"/>
                        </a:p>
                      </a:txBody>
                      <a:tcPr anchor="ctr"/>
                    </a:tc>
                    <a:tc>
                      <a:txBody>
                        <a:bodyPr/>
                        <a:lstStyle/>
                        <a:p>
                          <a:r>
                            <a:rPr lang="en-GB" sz="1200" dirty="0"/>
                            <a:t>l)</a:t>
                          </a:r>
                          <a14:m>
                            <m:oMath xmlns:m="http://schemas.openxmlformats.org/officeDocument/2006/math">
                              <m:r>
                                <a:rPr lang="en-GB" sz="1200" b="0" i="1" smtClean="0">
                                  <a:latin typeface="Cambria Math" panose="02040503050406030204" pitchFamily="18" charset="0"/>
                                </a:rPr>
                                <m:t>33+32</m:t>
                              </m:r>
                            </m:oMath>
                          </a14:m>
                          <a:endParaRPr lang="en-GB" sz="1200" dirty="0"/>
                        </a:p>
                      </a:txBody>
                      <a:tcPr anchor="ctr"/>
                    </a:tc>
                    <a:tc>
                      <a:txBody>
                        <a:bodyPr/>
                        <a:lstStyle/>
                        <a:p>
                          <a:r>
                            <a:rPr lang="en-GB" sz="1200" dirty="0"/>
                            <a:t>m)</a:t>
                          </a:r>
                          <a14:m>
                            <m:oMath xmlns:m="http://schemas.openxmlformats.org/officeDocument/2006/math">
                              <m:r>
                                <a:rPr lang="en-GB" sz="1200" b="0" i="1" smtClean="0">
                                  <a:latin typeface="Cambria Math" panose="02040503050406030204" pitchFamily="18" charset="0"/>
                                </a:rPr>
                                <m:t>13+26</m:t>
                              </m:r>
                            </m:oMath>
                          </a14:m>
                          <a:endParaRPr lang="en-GB" sz="1200" dirty="0"/>
                        </a:p>
                      </a:txBody>
                      <a:tcPr anchor="ctr"/>
                    </a:tc>
                    <a:tc>
                      <a:txBody>
                        <a:bodyPr/>
                        <a:lstStyle/>
                        <a:p>
                          <a:r>
                            <a:rPr lang="en-GB" sz="1200" dirty="0"/>
                            <a:t>n)</a:t>
                          </a:r>
                          <a14:m>
                            <m:oMath xmlns:m="http://schemas.openxmlformats.org/officeDocument/2006/math">
                              <m:r>
                                <a:rPr lang="en-GB" sz="1200" b="0" i="1" smtClean="0">
                                  <a:latin typeface="Cambria Math" panose="02040503050406030204" pitchFamily="18" charset="0"/>
                                </a:rPr>
                                <m:t>75+12</m:t>
                              </m:r>
                            </m:oMath>
                          </a14:m>
                          <a:endParaRPr lang="en-GB" sz="1200" dirty="0"/>
                        </a:p>
                      </a:txBody>
                      <a:tcPr anchor="ctr"/>
                    </a:tc>
                    <a:tc>
                      <a:txBody>
                        <a:bodyPr/>
                        <a:lstStyle/>
                        <a:p>
                          <a:r>
                            <a:rPr lang="en-GB" sz="1200" dirty="0"/>
                            <a:t>o) </a:t>
                          </a:r>
                          <a14:m>
                            <m:oMath xmlns:m="http://schemas.openxmlformats.org/officeDocument/2006/math">
                              <m:r>
                                <a:rPr lang="en-GB" sz="1200" b="0" i="1" smtClean="0">
                                  <a:latin typeface="Cambria Math" panose="02040503050406030204" pitchFamily="18" charset="0"/>
                                </a:rPr>
                                <m:t>18+71</m:t>
                              </m:r>
                            </m:oMath>
                          </a14:m>
                          <a:endParaRPr lang="en-GB" sz="1200" dirty="0"/>
                        </a:p>
                      </a:txBody>
                      <a:tcPr anchor="ctr"/>
                    </a:tc>
                    <a:extLst>
                      <a:ext uri="{0D108BD9-81ED-4DB2-BD59-A6C34878D82A}">
                        <a16:rowId xmlns:a16="http://schemas.microsoft.com/office/drawing/2014/main" val="1081891495"/>
                      </a:ext>
                    </a:extLst>
                  </a:tr>
                  <a:tr h="1126359">
                    <a:tc>
                      <a:txBody>
                        <a:bodyPr/>
                        <a:lstStyle/>
                        <a:p>
                          <a:endParaRPr lang="en-GB" sz="1200"/>
                        </a:p>
                      </a:txBody>
                      <a:tcPr anchor="ctr"/>
                    </a:tc>
                    <a:tc>
                      <a:txBody>
                        <a:bodyPr/>
                        <a:lstStyle/>
                        <a:p>
                          <a:endParaRPr lang="en-GB" sz="1200"/>
                        </a:p>
                      </a:txBody>
                      <a:tcPr anchor="ctr"/>
                    </a:tc>
                    <a:tc>
                      <a:txBody>
                        <a:bodyPr/>
                        <a:lstStyle/>
                        <a:p>
                          <a:endParaRPr lang="en-GB" sz="1200"/>
                        </a:p>
                      </a:txBody>
                      <a:tcPr anchor="ctr"/>
                    </a:tc>
                    <a:tc>
                      <a:txBody>
                        <a:bodyPr/>
                        <a:lstStyle/>
                        <a:p>
                          <a:endParaRPr lang="en-GB" sz="1200" dirty="0"/>
                        </a:p>
                      </a:txBody>
                      <a:tcPr anchor="ctr"/>
                    </a:tc>
                    <a:tc>
                      <a:txBody>
                        <a:bodyPr/>
                        <a:lstStyle/>
                        <a:p>
                          <a:endParaRPr lang="en-GB" sz="1200" dirty="0"/>
                        </a:p>
                      </a:txBody>
                      <a:tcPr anchor="ctr"/>
                    </a:tc>
                    <a:extLst>
                      <a:ext uri="{0D108BD9-81ED-4DB2-BD59-A6C34878D82A}">
                        <a16:rowId xmlns:a16="http://schemas.microsoft.com/office/drawing/2014/main" val="1326365422"/>
                      </a:ext>
                    </a:extLst>
                  </a:tr>
                </a:tbl>
              </a:graphicData>
            </a:graphic>
          </p:graphicFrame>
        </mc:Choice>
        <mc:Fallback xmlns="">
          <p:graphicFrame>
            <p:nvGraphicFramePr>
              <p:cNvPr id="8" name="Table 7">
                <a:extLst>
                  <a:ext uri="{FF2B5EF4-FFF2-40B4-BE49-F238E27FC236}">
                    <a16:creationId xmlns:a16="http://schemas.microsoft.com/office/drawing/2014/main" id="{0C413933-296D-4B8A-0EE7-517AD124A2D1}"/>
                  </a:ext>
                </a:extLst>
              </p:cNvPr>
              <p:cNvGraphicFramePr>
                <a:graphicFrameLocks noGrp="1"/>
              </p:cNvGraphicFramePr>
              <p:nvPr>
                <p:extLst>
                  <p:ext uri="{D42A27DB-BD31-4B8C-83A1-F6EECF244321}">
                    <p14:modId xmlns:p14="http://schemas.microsoft.com/office/powerpoint/2010/main" val="4153585381"/>
                  </p:ext>
                </p:extLst>
              </p:nvPr>
            </p:nvGraphicFramePr>
            <p:xfrm>
              <a:off x="120301" y="3227154"/>
              <a:ext cx="6572480" cy="4864199"/>
            </p:xfrm>
            <a:graphic>
              <a:graphicData uri="http://schemas.openxmlformats.org/drawingml/2006/table">
                <a:tbl>
                  <a:tblPr firstRow="1" bandRow="1">
                    <a:tableStyleId>{5940675A-B579-460E-94D1-54222C63F5DA}</a:tableStyleId>
                  </a:tblPr>
                  <a:tblGrid>
                    <a:gridCol w="1314496">
                      <a:extLst>
                        <a:ext uri="{9D8B030D-6E8A-4147-A177-3AD203B41FA5}">
                          <a16:colId xmlns:a16="http://schemas.microsoft.com/office/drawing/2014/main" val="3638032371"/>
                        </a:ext>
                      </a:extLst>
                    </a:gridCol>
                    <a:gridCol w="1314496">
                      <a:extLst>
                        <a:ext uri="{9D8B030D-6E8A-4147-A177-3AD203B41FA5}">
                          <a16:colId xmlns:a16="http://schemas.microsoft.com/office/drawing/2014/main" val="1546733049"/>
                        </a:ext>
                      </a:extLst>
                    </a:gridCol>
                    <a:gridCol w="1314496">
                      <a:extLst>
                        <a:ext uri="{9D8B030D-6E8A-4147-A177-3AD203B41FA5}">
                          <a16:colId xmlns:a16="http://schemas.microsoft.com/office/drawing/2014/main" val="4228866829"/>
                        </a:ext>
                      </a:extLst>
                    </a:gridCol>
                    <a:gridCol w="1314496">
                      <a:extLst>
                        <a:ext uri="{9D8B030D-6E8A-4147-A177-3AD203B41FA5}">
                          <a16:colId xmlns:a16="http://schemas.microsoft.com/office/drawing/2014/main" val="2649711867"/>
                        </a:ext>
                      </a:extLst>
                    </a:gridCol>
                    <a:gridCol w="1314496">
                      <a:extLst>
                        <a:ext uri="{9D8B030D-6E8A-4147-A177-3AD203B41FA5}">
                          <a16:colId xmlns:a16="http://schemas.microsoft.com/office/drawing/2014/main" val="1493840748"/>
                        </a:ext>
                      </a:extLst>
                    </a:gridCol>
                  </a:tblGrid>
                  <a:tr h="507302">
                    <a:tc>
                      <a:txBody>
                        <a:bodyPr/>
                        <a:lstStyle/>
                        <a:p>
                          <a:endParaRPr lang="en-US"/>
                        </a:p>
                      </a:txBody>
                      <a:tcPr anchor="ctr">
                        <a:blipFill>
                          <a:blip r:embed="rId3"/>
                          <a:stretch>
                            <a:fillRect l="-463" t="-1205" r="-400463" b="-865060"/>
                          </a:stretch>
                        </a:blipFill>
                      </a:tcPr>
                    </a:tc>
                    <a:tc>
                      <a:txBody>
                        <a:bodyPr/>
                        <a:lstStyle/>
                        <a:p>
                          <a:endParaRPr lang="en-US"/>
                        </a:p>
                      </a:txBody>
                      <a:tcPr anchor="ctr">
                        <a:blipFill>
                          <a:blip r:embed="rId3"/>
                          <a:stretch>
                            <a:fillRect l="-100463" t="-1205" r="-300463" b="-865060"/>
                          </a:stretch>
                        </a:blipFill>
                      </a:tcPr>
                    </a:tc>
                    <a:tc>
                      <a:txBody>
                        <a:bodyPr/>
                        <a:lstStyle/>
                        <a:p>
                          <a:endParaRPr lang="en-US"/>
                        </a:p>
                      </a:txBody>
                      <a:tcPr anchor="ctr">
                        <a:blipFill>
                          <a:blip r:embed="rId3"/>
                          <a:stretch>
                            <a:fillRect l="-201395" t="-1205" r="-201860" b="-865060"/>
                          </a:stretch>
                        </a:blipFill>
                      </a:tcPr>
                    </a:tc>
                    <a:tc>
                      <a:txBody>
                        <a:bodyPr/>
                        <a:lstStyle/>
                        <a:p>
                          <a:endParaRPr lang="en-US"/>
                        </a:p>
                      </a:txBody>
                      <a:tcPr anchor="ctr">
                        <a:blipFill>
                          <a:blip r:embed="rId3"/>
                          <a:stretch>
                            <a:fillRect l="-300000" t="-1205" r="-100926" b="-865060"/>
                          </a:stretch>
                        </a:blipFill>
                      </a:tcPr>
                    </a:tc>
                    <a:tc>
                      <a:txBody>
                        <a:bodyPr/>
                        <a:lstStyle/>
                        <a:p>
                          <a:endParaRPr lang="en-US"/>
                        </a:p>
                      </a:txBody>
                      <a:tcPr anchor="ctr">
                        <a:blipFill>
                          <a:blip r:embed="rId3"/>
                          <a:stretch>
                            <a:fillRect l="-400000" t="-1205" r="-926" b="-865060"/>
                          </a:stretch>
                        </a:blipFill>
                      </a:tcPr>
                    </a:tc>
                    <a:extLst>
                      <a:ext uri="{0D108BD9-81ED-4DB2-BD59-A6C34878D82A}">
                        <a16:rowId xmlns:a16="http://schemas.microsoft.com/office/drawing/2014/main" val="1259623295"/>
                      </a:ext>
                    </a:extLst>
                  </a:tr>
                  <a:tr h="1126359">
                    <a:tc>
                      <a:txBody>
                        <a:bodyPr/>
                        <a:lstStyle/>
                        <a:p>
                          <a:endParaRPr lang="en-GB" sz="1200"/>
                        </a:p>
                      </a:txBody>
                      <a:tcPr anchor="ctr"/>
                    </a:tc>
                    <a:tc>
                      <a:txBody>
                        <a:bodyPr/>
                        <a:lstStyle/>
                        <a:p>
                          <a:endParaRPr lang="en-GB" sz="1200"/>
                        </a:p>
                      </a:txBody>
                      <a:tcPr anchor="ctr"/>
                    </a:tc>
                    <a:tc>
                      <a:txBody>
                        <a:bodyPr/>
                        <a:lstStyle/>
                        <a:p>
                          <a:endParaRPr lang="en-GB" sz="1200"/>
                        </a:p>
                      </a:txBody>
                      <a:tcPr anchor="ctr"/>
                    </a:tc>
                    <a:tc>
                      <a:txBody>
                        <a:bodyPr/>
                        <a:lstStyle/>
                        <a:p>
                          <a:endParaRPr lang="en-GB" sz="1200"/>
                        </a:p>
                      </a:txBody>
                      <a:tcPr anchor="ctr"/>
                    </a:tc>
                    <a:tc>
                      <a:txBody>
                        <a:bodyPr/>
                        <a:lstStyle/>
                        <a:p>
                          <a:endParaRPr lang="en-GB" sz="1200"/>
                        </a:p>
                      </a:txBody>
                      <a:tcPr anchor="ctr"/>
                    </a:tc>
                    <a:extLst>
                      <a:ext uri="{0D108BD9-81ED-4DB2-BD59-A6C34878D82A}">
                        <a16:rowId xmlns:a16="http://schemas.microsoft.com/office/drawing/2014/main" val="4077617919"/>
                      </a:ext>
                    </a:extLst>
                  </a:tr>
                  <a:tr h="543358">
                    <a:tc>
                      <a:txBody>
                        <a:bodyPr/>
                        <a:lstStyle/>
                        <a:p>
                          <a:endParaRPr lang="en-US"/>
                        </a:p>
                      </a:txBody>
                      <a:tcPr anchor="ctr">
                        <a:blipFill>
                          <a:blip r:embed="rId3"/>
                          <a:stretch>
                            <a:fillRect l="-463" t="-298889" r="-400463" b="-492222"/>
                          </a:stretch>
                        </a:blipFill>
                      </a:tcPr>
                    </a:tc>
                    <a:tc>
                      <a:txBody>
                        <a:bodyPr/>
                        <a:lstStyle/>
                        <a:p>
                          <a:endParaRPr lang="en-US"/>
                        </a:p>
                      </a:txBody>
                      <a:tcPr anchor="ctr">
                        <a:blipFill>
                          <a:blip r:embed="rId3"/>
                          <a:stretch>
                            <a:fillRect l="-100463" t="-298889" r="-300463" b="-492222"/>
                          </a:stretch>
                        </a:blipFill>
                      </a:tcPr>
                    </a:tc>
                    <a:tc>
                      <a:txBody>
                        <a:bodyPr/>
                        <a:lstStyle/>
                        <a:p>
                          <a:endParaRPr lang="en-US"/>
                        </a:p>
                      </a:txBody>
                      <a:tcPr anchor="ctr">
                        <a:blipFill>
                          <a:blip r:embed="rId3"/>
                          <a:stretch>
                            <a:fillRect l="-201395" t="-298889" r="-201860" b="-492222"/>
                          </a:stretch>
                        </a:blipFill>
                      </a:tcPr>
                    </a:tc>
                    <a:tc>
                      <a:txBody>
                        <a:bodyPr/>
                        <a:lstStyle/>
                        <a:p>
                          <a:endParaRPr lang="en-US"/>
                        </a:p>
                      </a:txBody>
                      <a:tcPr anchor="ctr">
                        <a:blipFill>
                          <a:blip r:embed="rId3"/>
                          <a:stretch>
                            <a:fillRect l="-300000" t="-298889" r="-100926" b="-492222"/>
                          </a:stretch>
                        </a:blipFill>
                      </a:tcPr>
                    </a:tc>
                    <a:tc>
                      <a:txBody>
                        <a:bodyPr/>
                        <a:lstStyle/>
                        <a:p>
                          <a:endParaRPr lang="en-US"/>
                        </a:p>
                      </a:txBody>
                      <a:tcPr anchor="ctr">
                        <a:blipFill>
                          <a:blip r:embed="rId3"/>
                          <a:stretch>
                            <a:fillRect l="-400000" t="-298889" r="-926" b="-492222"/>
                          </a:stretch>
                        </a:blipFill>
                      </a:tcPr>
                    </a:tc>
                    <a:extLst>
                      <a:ext uri="{0D108BD9-81ED-4DB2-BD59-A6C34878D82A}">
                        <a16:rowId xmlns:a16="http://schemas.microsoft.com/office/drawing/2014/main" val="3685955295"/>
                      </a:ext>
                    </a:extLst>
                  </a:tr>
                  <a:tr h="1126359">
                    <a:tc>
                      <a:txBody>
                        <a:bodyPr/>
                        <a:lstStyle/>
                        <a:p>
                          <a:endParaRPr lang="en-GB" sz="1200"/>
                        </a:p>
                      </a:txBody>
                      <a:tcPr anchor="ctr"/>
                    </a:tc>
                    <a:tc>
                      <a:txBody>
                        <a:bodyPr/>
                        <a:lstStyle/>
                        <a:p>
                          <a:endParaRPr lang="en-GB" sz="1200"/>
                        </a:p>
                      </a:txBody>
                      <a:tcPr anchor="ctr"/>
                    </a:tc>
                    <a:tc>
                      <a:txBody>
                        <a:bodyPr/>
                        <a:lstStyle/>
                        <a:p>
                          <a:endParaRPr lang="en-GB" sz="1200" dirty="0"/>
                        </a:p>
                      </a:txBody>
                      <a:tcPr anchor="ctr"/>
                    </a:tc>
                    <a:tc>
                      <a:txBody>
                        <a:bodyPr/>
                        <a:lstStyle/>
                        <a:p>
                          <a:endParaRPr lang="en-GB" sz="1200"/>
                        </a:p>
                      </a:txBody>
                      <a:tcPr anchor="ctr"/>
                    </a:tc>
                    <a:tc>
                      <a:txBody>
                        <a:bodyPr/>
                        <a:lstStyle/>
                        <a:p>
                          <a:endParaRPr lang="en-GB" sz="1200"/>
                        </a:p>
                      </a:txBody>
                      <a:tcPr anchor="ctr"/>
                    </a:tc>
                    <a:extLst>
                      <a:ext uri="{0D108BD9-81ED-4DB2-BD59-A6C34878D82A}">
                        <a16:rowId xmlns:a16="http://schemas.microsoft.com/office/drawing/2014/main" val="2984162169"/>
                      </a:ext>
                    </a:extLst>
                  </a:tr>
                  <a:tr h="434462">
                    <a:tc>
                      <a:txBody>
                        <a:bodyPr/>
                        <a:lstStyle/>
                        <a:p>
                          <a:endParaRPr lang="en-US"/>
                        </a:p>
                      </a:txBody>
                      <a:tcPr anchor="ctr">
                        <a:blipFill>
                          <a:blip r:embed="rId3"/>
                          <a:stretch>
                            <a:fillRect l="-463" t="-766197" r="-400463" b="-263380"/>
                          </a:stretch>
                        </a:blipFill>
                      </a:tcPr>
                    </a:tc>
                    <a:tc>
                      <a:txBody>
                        <a:bodyPr/>
                        <a:lstStyle/>
                        <a:p>
                          <a:endParaRPr lang="en-US"/>
                        </a:p>
                      </a:txBody>
                      <a:tcPr anchor="ctr">
                        <a:blipFill>
                          <a:blip r:embed="rId3"/>
                          <a:stretch>
                            <a:fillRect l="-100463" t="-766197" r="-300463" b="-263380"/>
                          </a:stretch>
                        </a:blipFill>
                      </a:tcPr>
                    </a:tc>
                    <a:tc>
                      <a:txBody>
                        <a:bodyPr/>
                        <a:lstStyle/>
                        <a:p>
                          <a:endParaRPr lang="en-US"/>
                        </a:p>
                      </a:txBody>
                      <a:tcPr anchor="ctr">
                        <a:blipFill>
                          <a:blip r:embed="rId3"/>
                          <a:stretch>
                            <a:fillRect l="-201395" t="-766197" r="-201860" b="-263380"/>
                          </a:stretch>
                        </a:blipFill>
                      </a:tcPr>
                    </a:tc>
                    <a:tc>
                      <a:txBody>
                        <a:bodyPr/>
                        <a:lstStyle/>
                        <a:p>
                          <a:endParaRPr lang="en-US"/>
                        </a:p>
                      </a:txBody>
                      <a:tcPr anchor="ctr">
                        <a:blipFill>
                          <a:blip r:embed="rId3"/>
                          <a:stretch>
                            <a:fillRect l="-300000" t="-766197" r="-100926" b="-263380"/>
                          </a:stretch>
                        </a:blipFill>
                      </a:tcPr>
                    </a:tc>
                    <a:tc>
                      <a:txBody>
                        <a:bodyPr/>
                        <a:lstStyle/>
                        <a:p>
                          <a:endParaRPr lang="en-US"/>
                        </a:p>
                      </a:txBody>
                      <a:tcPr anchor="ctr">
                        <a:blipFill>
                          <a:blip r:embed="rId3"/>
                          <a:stretch>
                            <a:fillRect l="-400000" t="-766197" r="-926" b="-263380"/>
                          </a:stretch>
                        </a:blipFill>
                      </a:tcPr>
                    </a:tc>
                    <a:extLst>
                      <a:ext uri="{0D108BD9-81ED-4DB2-BD59-A6C34878D82A}">
                        <a16:rowId xmlns:a16="http://schemas.microsoft.com/office/drawing/2014/main" val="1081891495"/>
                      </a:ext>
                    </a:extLst>
                  </a:tr>
                  <a:tr h="1126359">
                    <a:tc>
                      <a:txBody>
                        <a:bodyPr/>
                        <a:lstStyle/>
                        <a:p>
                          <a:endParaRPr lang="en-GB" sz="1200"/>
                        </a:p>
                      </a:txBody>
                      <a:tcPr anchor="ctr"/>
                    </a:tc>
                    <a:tc>
                      <a:txBody>
                        <a:bodyPr/>
                        <a:lstStyle/>
                        <a:p>
                          <a:endParaRPr lang="en-GB" sz="1200"/>
                        </a:p>
                      </a:txBody>
                      <a:tcPr anchor="ctr"/>
                    </a:tc>
                    <a:tc>
                      <a:txBody>
                        <a:bodyPr/>
                        <a:lstStyle/>
                        <a:p>
                          <a:endParaRPr lang="en-GB" sz="1200"/>
                        </a:p>
                      </a:txBody>
                      <a:tcPr anchor="ctr"/>
                    </a:tc>
                    <a:tc>
                      <a:txBody>
                        <a:bodyPr/>
                        <a:lstStyle/>
                        <a:p>
                          <a:endParaRPr lang="en-GB" sz="1200" dirty="0"/>
                        </a:p>
                      </a:txBody>
                      <a:tcPr anchor="ctr"/>
                    </a:tc>
                    <a:tc>
                      <a:txBody>
                        <a:bodyPr/>
                        <a:lstStyle/>
                        <a:p>
                          <a:endParaRPr lang="en-GB" sz="1200" dirty="0"/>
                        </a:p>
                      </a:txBody>
                      <a:tcPr anchor="ctr"/>
                    </a:tc>
                    <a:extLst>
                      <a:ext uri="{0D108BD9-81ED-4DB2-BD59-A6C34878D82A}">
                        <a16:rowId xmlns:a16="http://schemas.microsoft.com/office/drawing/2014/main" val="1326365422"/>
                      </a:ext>
                    </a:extLst>
                  </a:tr>
                </a:tbl>
              </a:graphicData>
            </a:graphic>
          </p:graphicFrame>
        </mc:Fallback>
      </mc:AlternateContent>
    </p:spTree>
    <p:extLst>
      <p:ext uri="{BB962C8B-B14F-4D97-AF65-F5344CB8AC3E}">
        <p14:creationId xmlns:p14="http://schemas.microsoft.com/office/powerpoint/2010/main" val="33200729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0C1D09-CA9B-577A-60D2-4B7BD6084CAE}"/>
              </a:ext>
            </a:extLst>
          </p:cNvPr>
          <p:cNvSpPr/>
          <p:nvPr/>
        </p:nvSpPr>
        <p:spPr>
          <a:xfrm>
            <a:off x="1644986" y="2149298"/>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3047FB35-5842-EDE3-2699-BECE7B391EFC}"/>
              </a:ext>
            </a:extLst>
          </p:cNvPr>
          <p:cNvSpPr/>
          <p:nvPr/>
        </p:nvSpPr>
        <p:spPr>
          <a:xfrm>
            <a:off x="3503133" y="2149298"/>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1117AF76-B7BB-DFD7-6F88-E687548C7921}"/>
              </a:ext>
            </a:extLst>
          </p:cNvPr>
          <p:cNvSpPr/>
          <p:nvPr/>
        </p:nvSpPr>
        <p:spPr>
          <a:xfrm>
            <a:off x="5318428" y="2165482"/>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731BA3C0-9187-857A-4C05-B8D76CF80607}"/>
              </a:ext>
            </a:extLst>
          </p:cNvPr>
          <p:cNvSpPr/>
          <p:nvPr/>
        </p:nvSpPr>
        <p:spPr>
          <a:xfrm>
            <a:off x="120512" y="101993"/>
            <a:ext cx="6675966" cy="23560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Setting out and adding three-digit integers using column method involving exchanges </a:t>
            </a:r>
            <a:endParaRPr lang="en-GB" sz="1200">
              <a:solidFill>
                <a:schemeClr val="bg1"/>
              </a:solidFill>
            </a:endParaRPr>
          </a:p>
        </p:txBody>
      </p:sp>
      <p:sp>
        <p:nvSpPr>
          <p:cNvPr id="6" name="Rectangle 5">
            <a:extLst>
              <a:ext uri="{FF2B5EF4-FFF2-40B4-BE49-F238E27FC236}">
                <a16:creationId xmlns:a16="http://schemas.microsoft.com/office/drawing/2014/main" id="{6BE8DA9D-55C6-EDBD-3B9A-14027B51EE69}"/>
              </a:ext>
            </a:extLst>
          </p:cNvPr>
          <p:cNvSpPr/>
          <p:nvPr/>
        </p:nvSpPr>
        <p:spPr>
          <a:xfrm>
            <a:off x="98857" y="278969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7" name="TextBox 6">
            <a:extLst>
              <a:ext uri="{FF2B5EF4-FFF2-40B4-BE49-F238E27FC236}">
                <a16:creationId xmlns:a16="http://schemas.microsoft.com/office/drawing/2014/main" id="{5456F4D8-EBA0-0EBA-D8D2-609B5D345BD6}"/>
              </a:ext>
            </a:extLst>
          </p:cNvPr>
          <p:cNvSpPr txBox="1"/>
          <p:nvPr/>
        </p:nvSpPr>
        <p:spPr>
          <a:xfrm>
            <a:off x="1283339" y="2822647"/>
            <a:ext cx="3368166" cy="276999"/>
          </a:xfrm>
          <a:prstGeom prst="rect">
            <a:avLst/>
          </a:prstGeom>
          <a:noFill/>
        </p:spPr>
        <p:txBody>
          <a:bodyPr wrap="none" rtlCol="0">
            <a:spAutoFit/>
          </a:bodyPr>
          <a:lstStyle/>
          <a:p>
            <a:r>
              <a:rPr lang="en-US" sz="1200"/>
              <a:t>1. Add the following integers using column method</a:t>
            </a:r>
            <a:endParaRPr lang="en-GB" sz="1200"/>
          </a:p>
        </p:txBody>
      </p:sp>
      <p:sp>
        <p:nvSpPr>
          <p:cNvPr id="8" name="TextBox 7">
            <a:extLst>
              <a:ext uri="{FF2B5EF4-FFF2-40B4-BE49-F238E27FC236}">
                <a16:creationId xmlns:a16="http://schemas.microsoft.com/office/drawing/2014/main" id="{7B234D46-2C6C-3C6D-1BA9-97153A3AE511}"/>
              </a:ext>
            </a:extLst>
          </p:cNvPr>
          <p:cNvSpPr txBox="1"/>
          <p:nvPr/>
        </p:nvSpPr>
        <p:spPr>
          <a:xfrm>
            <a:off x="5131360" y="298983"/>
            <a:ext cx="1498808" cy="276999"/>
          </a:xfrm>
          <a:prstGeom prst="rect">
            <a:avLst/>
          </a:prstGeom>
          <a:noFill/>
          <a:ln>
            <a:noFill/>
          </a:ln>
        </p:spPr>
        <p:txBody>
          <a:bodyPr wrap="none" rtlCol="0">
            <a:spAutoFit/>
          </a:bodyPr>
          <a:lstStyle/>
          <a:p>
            <a:r>
              <a:rPr lang="en-GB" sz="1200" b="1" i="1">
                <a:solidFill>
                  <a:srgbClr val="00B050"/>
                </a:solidFill>
                <a:latin typeface="Calibri" panose="020F0502020204030204" pitchFamily="34" charset="0"/>
                <a:cs typeface="Calibri" panose="020F0502020204030204" pitchFamily="34" charset="0"/>
              </a:rPr>
              <a:t>Example 9 - You do…</a:t>
            </a:r>
          </a:p>
        </p:txBody>
      </p:sp>
      <p:sp>
        <p:nvSpPr>
          <p:cNvPr id="9" name="TextBox 8">
            <a:extLst>
              <a:ext uri="{FF2B5EF4-FFF2-40B4-BE49-F238E27FC236}">
                <a16:creationId xmlns:a16="http://schemas.microsoft.com/office/drawing/2014/main" id="{A0B31E43-2072-A697-757C-26CC57BF27B4}"/>
              </a:ext>
            </a:extLst>
          </p:cNvPr>
          <p:cNvSpPr txBox="1"/>
          <p:nvPr/>
        </p:nvSpPr>
        <p:spPr>
          <a:xfrm>
            <a:off x="3332777" y="301958"/>
            <a:ext cx="1475789" cy="276999"/>
          </a:xfrm>
          <a:prstGeom prst="rect">
            <a:avLst/>
          </a:prstGeom>
          <a:noFill/>
          <a:ln>
            <a:noFill/>
          </a:ln>
        </p:spPr>
        <p:txBody>
          <a:bodyPr wrap="none" rtlCol="0">
            <a:spAutoFit/>
          </a:bodyPr>
          <a:lstStyle/>
          <a:p>
            <a:r>
              <a:rPr lang="en-GB" sz="1200" b="1" i="1">
                <a:solidFill>
                  <a:schemeClr val="accent2"/>
                </a:solidFill>
                <a:latin typeface="Calibri" panose="020F0502020204030204" pitchFamily="34" charset="0"/>
                <a:cs typeface="Calibri" panose="020F0502020204030204" pitchFamily="34" charset="0"/>
              </a:rPr>
              <a:t>Example 8 - We do…</a:t>
            </a:r>
          </a:p>
        </p:txBody>
      </p:sp>
      <p:sp>
        <p:nvSpPr>
          <p:cNvPr id="10" name="TextBox 9">
            <a:extLst>
              <a:ext uri="{FF2B5EF4-FFF2-40B4-BE49-F238E27FC236}">
                <a16:creationId xmlns:a16="http://schemas.microsoft.com/office/drawing/2014/main" id="{7E17BEFF-58C6-F787-2B08-1FCB722899FB}"/>
              </a:ext>
            </a:extLst>
          </p:cNvPr>
          <p:cNvSpPr txBox="1"/>
          <p:nvPr/>
        </p:nvSpPr>
        <p:spPr>
          <a:xfrm>
            <a:off x="1513076" y="329688"/>
            <a:ext cx="1308500" cy="276999"/>
          </a:xfrm>
          <a:prstGeom prst="rect">
            <a:avLst/>
          </a:prstGeom>
          <a:noFill/>
          <a:ln>
            <a:noFill/>
          </a:ln>
        </p:spPr>
        <p:txBody>
          <a:bodyPr wrap="none" rtlCol="0">
            <a:spAutoFit/>
          </a:bodyPr>
          <a:lstStyle/>
          <a:p>
            <a:r>
              <a:rPr lang="en-GB" sz="1200" b="1" i="1">
                <a:solidFill>
                  <a:srgbClr val="FF0000"/>
                </a:solidFill>
                <a:latin typeface="Calibri" panose="020F0502020204030204" pitchFamily="34" charset="0"/>
                <a:cs typeface="Calibri" panose="020F0502020204030204" pitchFamily="34" charset="0"/>
              </a:rPr>
              <a:t>Example 7 - I do…</a:t>
            </a:r>
          </a:p>
        </p:txBody>
      </p:sp>
      <p:graphicFrame>
        <p:nvGraphicFramePr>
          <p:cNvPr id="11" name="Table 10">
            <a:extLst>
              <a:ext uri="{FF2B5EF4-FFF2-40B4-BE49-F238E27FC236}">
                <a16:creationId xmlns:a16="http://schemas.microsoft.com/office/drawing/2014/main" id="{B886D1F9-8A1F-3F17-452C-7B859EACBF53}"/>
              </a:ext>
            </a:extLst>
          </p:cNvPr>
          <p:cNvGraphicFramePr>
            <a:graphicFrameLocks noGrp="1"/>
          </p:cNvGraphicFramePr>
          <p:nvPr>
            <p:extLst>
              <p:ext uri="{D42A27DB-BD31-4B8C-83A1-F6EECF244321}">
                <p14:modId xmlns:p14="http://schemas.microsoft.com/office/powerpoint/2010/main" val="3888625814"/>
              </p:ext>
            </p:extLst>
          </p:nvPr>
        </p:nvGraphicFramePr>
        <p:xfrm>
          <a:off x="120511" y="591261"/>
          <a:ext cx="6675967" cy="2774023"/>
        </p:xfrm>
        <a:graphic>
          <a:graphicData uri="http://schemas.openxmlformats.org/drawingml/2006/table">
            <a:tbl>
              <a:tblPr firstRow="1" bandRow="1">
                <a:tableStyleId>{5C22544A-7EE6-4342-B048-85BDC9FD1C3A}</a:tableStyleId>
              </a:tblPr>
              <a:tblGrid>
                <a:gridCol w="1323278">
                  <a:extLst>
                    <a:ext uri="{9D8B030D-6E8A-4147-A177-3AD203B41FA5}">
                      <a16:colId xmlns:a16="http://schemas.microsoft.com/office/drawing/2014/main" val="1568142362"/>
                    </a:ext>
                  </a:extLst>
                </a:gridCol>
                <a:gridCol w="1764632">
                  <a:extLst>
                    <a:ext uri="{9D8B030D-6E8A-4147-A177-3AD203B41FA5}">
                      <a16:colId xmlns:a16="http://schemas.microsoft.com/office/drawing/2014/main" val="3551711160"/>
                    </a:ext>
                  </a:extLst>
                </a:gridCol>
                <a:gridCol w="1762832">
                  <a:extLst>
                    <a:ext uri="{9D8B030D-6E8A-4147-A177-3AD203B41FA5}">
                      <a16:colId xmlns:a16="http://schemas.microsoft.com/office/drawing/2014/main" val="1712497518"/>
                    </a:ext>
                  </a:extLst>
                </a:gridCol>
                <a:gridCol w="1825225">
                  <a:extLst>
                    <a:ext uri="{9D8B030D-6E8A-4147-A177-3AD203B41FA5}">
                      <a16:colId xmlns:a16="http://schemas.microsoft.com/office/drawing/2014/main" val="886122921"/>
                    </a:ext>
                  </a:extLst>
                </a:gridCol>
              </a:tblGrid>
              <a:tr h="320383">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588325">
                <a:tc>
                  <a:txBody>
                    <a:bodyPr/>
                    <a:lstStyle/>
                    <a:p>
                      <a:pPr marL="0" indent="0">
                        <a:buNone/>
                      </a:pPr>
                      <a:r>
                        <a:rPr lang="en-US" sz="1100">
                          <a:solidFill>
                            <a:schemeClr val="tx1"/>
                          </a:solidFill>
                        </a:rPr>
                        <a:t>1. Line up numbers in the correct columns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US" sz="11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US" sz="11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endParaRPr lang="en-US" sz="11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32460">
                <a:tc>
                  <a:txBody>
                    <a:bodyPr/>
                    <a:lstStyle/>
                    <a:p>
                      <a:r>
                        <a:rPr lang="en-GB" sz="1100">
                          <a:solidFill>
                            <a:schemeClr val="tx1"/>
                          </a:solidFill>
                        </a:rPr>
                        <a:t>2. Add each column starting with the lowest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632460">
                <a:tc>
                  <a:txBody>
                    <a:bodyPr/>
                    <a:lstStyle/>
                    <a:p>
                      <a:r>
                        <a:rPr lang="en-GB" sz="1100">
                          <a:solidFill>
                            <a:schemeClr val="tx1"/>
                          </a:solidFill>
                        </a:rPr>
                        <a:t>3. Write how many groups of ten are exchanged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81791248"/>
                  </a:ext>
                </a:extLst>
              </a:tr>
              <a:tr h="444976">
                <a:tc>
                  <a:txBody>
                    <a:bodyPr/>
                    <a:lstStyle/>
                    <a:p>
                      <a:r>
                        <a:rPr lang="en-GB" sz="1100" dirty="0">
                          <a:solidFill>
                            <a:schemeClr val="tx1"/>
                          </a:solidFill>
                        </a:rPr>
                        <a:t>4. Add this to your next column and repeat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240420541"/>
                  </a:ext>
                </a:extLst>
              </a:tr>
            </a:tbl>
          </a:graphicData>
        </a:graphic>
      </p:graphicFrame>
      <p:sp>
        <p:nvSpPr>
          <p:cNvPr id="12" name="TextBox 11">
            <a:extLst>
              <a:ext uri="{FF2B5EF4-FFF2-40B4-BE49-F238E27FC236}">
                <a16:creationId xmlns:a16="http://schemas.microsoft.com/office/drawing/2014/main" id="{82CC86F6-3ADF-C05B-FEA5-71AE8B3E1896}"/>
              </a:ext>
            </a:extLst>
          </p:cNvPr>
          <p:cNvSpPr txBox="1"/>
          <p:nvPr/>
        </p:nvSpPr>
        <p:spPr>
          <a:xfrm>
            <a:off x="1443709" y="609814"/>
            <a:ext cx="1515287" cy="276999"/>
          </a:xfrm>
          <a:prstGeom prst="rect">
            <a:avLst/>
          </a:prstGeom>
          <a:noFill/>
        </p:spPr>
        <p:txBody>
          <a:bodyPr wrap="none" rtlCol="0">
            <a:spAutoFit/>
          </a:bodyPr>
          <a:lstStyle/>
          <a:p>
            <a:r>
              <a:rPr lang="en-US" sz="1200"/>
              <a:t>   Calculate 425 + 878</a:t>
            </a:r>
            <a:endParaRPr lang="en-GB" sz="1200"/>
          </a:p>
        </p:txBody>
      </p:sp>
      <p:sp>
        <p:nvSpPr>
          <p:cNvPr id="13" name="TextBox 12">
            <a:extLst>
              <a:ext uri="{FF2B5EF4-FFF2-40B4-BE49-F238E27FC236}">
                <a16:creationId xmlns:a16="http://schemas.microsoft.com/office/drawing/2014/main" id="{E99E5B79-1D72-53B8-C3D5-94CD3156A1AA}"/>
              </a:ext>
            </a:extLst>
          </p:cNvPr>
          <p:cNvSpPr txBox="1"/>
          <p:nvPr/>
        </p:nvSpPr>
        <p:spPr>
          <a:xfrm>
            <a:off x="3320244" y="608879"/>
            <a:ext cx="1330942" cy="276999"/>
          </a:xfrm>
          <a:prstGeom prst="rect">
            <a:avLst/>
          </a:prstGeom>
          <a:noFill/>
        </p:spPr>
        <p:txBody>
          <a:bodyPr wrap="none" rtlCol="0">
            <a:spAutoFit/>
          </a:bodyPr>
          <a:lstStyle/>
          <a:p>
            <a:r>
              <a:rPr lang="en-US" sz="1200"/>
              <a:t>Calculate 248 + 67</a:t>
            </a:r>
            <a:endParaRPr lang="en-GB" sz="1200"/>
          </a:p>
        </p:txBody>
      </p:sp>
      <p:sp>
        <p:nvSpPr>
          <p:cNvPr id="14" name="TextBox 13">
            <a:extLst>
              <a:ext uri="{FF2B5EF4-FFF2-40B4-BE49-F238E27FC236}">
                <a16:creationId xmlns:a16="http://schemas.microsoft.com/office/drawing/2014/main" id="{18451E77-449A-B6DC-6B2F-78BE00BDFD20}"/>
              </a:ext>
            </a:extLst>
          </p:cNvPr>
          <p:cNvSpPr txBox="1"/>
          <p:nvPr/>
        </p:nvSpPr>
        <p:spPr>
          <a:xfrm>
            <a:off x="5114503" y="591261"/>
            <a:ext cx="1577354" cy="276999"/>
          </a:xfrm>
          <a:prstGeom prst="rect">
            <a:avLst/>
          </a:prstGeom>
          <a:noFill/>
        </p:spPr>
        <p:txBody>
          <a:bodyPr wrap="square" rtlCol="0">
            <a:spAutoFit/>
          </a:bodyPr>
          <a:lstStyle/>
          <a:p>
            <a:r>
              <a:rPr lang="en-US" sz="1200"/>
              <a:t>Calculate 455 + 775</a:t>
            </a:r>
            <a:endParaRPr lang="en-GB" sz="1200"/>
          </a:p>
        </p:txBody>
      </p:sp>
      <p:sp>
        <p:nvSpPr>
          <p:cNvPr id="15" name="Rectangle 14">
            <a:extLst>
              <a:ext uri="{FF2B5EF4-FFF2-40B4-BE49-F238E27FC236}">
                <a16:creationId xmlns:a16="http://schemas.microsoft.com/office/drawing/2014/main" id="{9D2E6C87-A19D-6BB2-621A-855A2E38E455}"/>
              </a:ext>
            </a:extLst>
          </p:cNvPr>
          <p:cNvSpPr/>
          <p:nvPr/>
        </p:nvSpPr>
        <p:spPr>
          <a:xfrm>
            <a:off x="1824545" y="2894247"/>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78975295-2EB7-28E4-2CD6-76A0696F1EC4}"/>
              </a:ext>
            </a:extLst>
          </p:cNvPr>
          <p:cNvSpPr/>
          <p:nvPr/>
        </p:nvSpPr>
        <p:spPr>
          <a:xfrm>
            <a:off x="3618524" y="2894247"/>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45F0F0AF-F6A7-9347-0A02-55E8B464A61A}"/>
              </a:ext>
            </a:extLst>
          </p:cNvPr>
          <p:cNvSpPr/>
          <p:nvPr/>
        </p:nvSpPr>
        <p:spPr>
          <a:xfrm>
            <a:off x="5449861" y="2894389"/>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0040960D-14BD-D51C-2BD0-2E0E4409F226}"/>
              </a:ext>
            </a:extLst>
          </p:cNvPr>
          <p:cNvSpPr/>
          <p:nvPr/>
        </p:nvSpPr>
        <p:spPr>
          <a:xfrm>
            <a:off x="69362" y="3416499"/>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19" name="TextBox 18">
            <a:extLst>
              <a:ext uri="{FF2B5EF4-FFF2-40B4-BE49-F238E27FC236}">
                <a16:creationId xmlns:a16="http://schemas.microsoft.com/office/drawing/2014/main" id="{0C5A0792-B67C-381A-BC52-C35A20BEF97F}"/>
              </a:ext>
            </a:extLst>
          </p:cNvPr>
          <p:cNvSpPr txBox="1"/>
          <p:nvPr/>
        </p:nvSpPr>
        <p:spPr>
          <a:xfrm>
            <a:off x="1280315" y="3487874"/>
            <a:ext cx="3446713" cy="276999"/>
          </a:xfrm>
          <a:prstGeom prst="rect">
            <a:avLst/>
          </a:prstGeom>
          <a:noFill/>
        </p:spPr>
        <p:txBody>
          <a:bodyPr wrap="none" rtlCol="0">
            <a:spAutoFit/>
          </a:bodyPr>
          <a:lstStyle/>
          <a:p>
            <a:r>
              <a:rPr lang="en-US" sz="1200"/>
              <a:t>2. Add the following integers using column method</a:t>
            </a:r>
            <a:endParaRPr lang="en-GB" sz="1200"/>
          </a:p>
        </p:txBody>
      </p:sp>
      <p:sp>
        <p:nvSpPr>
          <p:cNvPr id="26" name="Slide Number Placeholder 25">
            <a:extLst>
              <a:ext uri="{FF2B5EF4-FFF2-40B4-BE49-F238E27FC236}">
                <a16:creationId xmlns:a16="http://schemas.microsoft.com/office/drawing/2014/main" id="{C753A63B-6F43-5CDE-DFD0-ED3725437237}"/>
              </a:ext>
            </a:extLst>
          </p:cNvPr>
          <p:cNvSpPr>
            <a:spLocks noGrp="1"/>
          </p:cNvSpPr>
          <p:nvPr>
            <p:ph type="sldNum" sz="quarter" idx="12"/>
          </p:nvPr>
        </p:nvSpPr>
        <p:spPr>
          <a:xfrm>
            <a:off x="5253428" y="9286923"/>
            <a:ext cx="1543050" cy="527403"/>
          </a:xfrm>
        </p:spPr>
        <p:txBody>
          <a:bodyPr/>
          <a:lstStyle/>
          <a:p>
            <a:fld id="{086C3A38-D272-42AA-9C88-F1FBEAE20D2C}" type="slidenum">
              <a:rPr lang="en-GB" smtClean="0"/>
              <a:t>45</a:t>
            </a:fld>
            <a:endParaRPr lang="en-GB"/>
          </a:p>
        </p:txBody>
      </p:sp>
      <p:sp>
        <p:nvSpPr>
          <p:cNvPr id="27" name="Rectangle 26">
            <a:extLst>
              <a:ext uri="{FF2B5EF4-FFF2-40B4-BE49-F238E27FC236}">
                <a16:creationId xmlns:a16="http://schemas.microsoft.com/office/drawing/2014/main" id="{CE911E34-712D-B2BB-CAC4-0C3859695C44}"/>
              </a:ext>
            </a:extLst>
          </p:cNvPr>
          <p:cNvSpPr/>
          <p:nvPr/>
        </p:nvSpPr>
        <p:spPr>
          <a:xfrm>
            <a:off x="78856" y="3812242"/>
            <a:ext cx="2169020" cy="194043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1085ABF5-4F15-0846-835C-94906C50E745}"/>
              </a:ext>
            </a:extLst>
          </p:cNvPr>
          <p:cNvSpPr txBox="1"/>
          <p:nvPr/>
        </p:nvSpPr>
        <p:spPr>
          <a:xfrm>
            <a:off x="126649" y="3821732"/>
            <a:ext cx="1106393" cy="276999"/>
          </a:xfrm>
          <a:prstGeom prst="rect">
            <a:avLst/>
          </a:prstGeom>
          <a:noFill/>
        </p:spPr>
        <p:txBody>
          <a:bodyPr wrap="none" rtlCol="0">
            <a:spAutoFit/>
          </a:bodyPr>
          <a:lstStyle/>
          <a:p>
            <a:r>
              <a:rPr lang="en-US" sz="1200" dirty="0"/>
              <a:t>a) 352 + 451 =</a:t>
            </a:r>
            <a:r>
              <a:rPr lang="en-US" sz="1200" dirty="0">
                <a:solidFill>
                  <a:srgbClr val="FF0000"/>
                </a:solidFill>
              </a:rPr>
              <a:t> </a:t>
            </a:r>
            <a:endParaRPr lang="en-GB" sz="1200" dirty="0"/>
          </a:p>
        </p:txBody>
      </p:sp>
      <p:sp>
        <p:nvSpPr>
          <p:cNvPr id="29" name="Rectangle 28">
            <a:extLst>
              <a:ext uri="{FF2B5EF4-FFF2-40B4-BE49-F238E27FC236}">
                <a16:creationId xmlns:a16="http://schemas.microsoft.com/office/drawing/2014/main" id="{858FCDB0-125F-1260-4ACE-57364F618335}"/>
              </a:ext>
            </a:extLst>
          </p:cNvPr>
          <p:cNvSpPr/>
          <p:nvPr/>
        </p:nvSpPr>
        <p:spPr>
          <a:xfrm>
            <a:off x="2333593" y="3821733"/>
            <a:ext cx="2169020" cy="194043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4C6FD902-CA0E-2208-E8CD-56C55166927E}"/>
              </a:ext>
            </a:extLst>
          </p:cNvPr>
          <p:cNvSpPr txBox="1"/>
          <p:nvPr/>
        </p:nvSpPr>
        <p:spPr>
          <a:xfrm>
            <a:off x="2381386" y="3831223"/>
            <a:ext cx="1112805" cy="276999"/>
          </a:xfrm>
          <a:prstGeom prst="rect">
            <a:avLst/>
          </a:prstGeom>
          <a:noFill/>
        </p:spPr>
        <p:txBody>
          <a:bodyPr wrap="none" rtlCol="0">
            <a:spAutoFit/>
          </a:bodyPr>
          <a:lstStyle/>
          <a:p>
            <a:r>
              <a:rPr lang="en-US" sz="1200" dirty="0"/>
              <a:t>b) 255 + 182 =</a:t>
            </a:r>
            <a:r>
              <a:rPr lang="en-US" sz="1200" dirty="0">
                <a:solidFill>
                  <a:srgbClr val="FF0000"/>
                </a:solidFill>
              </a:rPr>
              <a:t> </a:t>
            </a:r>
            <a:endParaRPr lang="en-GB" sz="1200" dirty="0"/>
          </a:p>
        </p:txBody>
      </p:sp>
      <p:sp>
        <p:nvSpPr>
          <p:cNvPr id="31" name="Rectangle 30">
            <a:extLst>
              <a:ext uri="{FF2B5EF4-FFF2-40B4-BE49-F238E27FC236}">
                <a16:creationId xmlns:a16="http://schemas.microsoft.com/office/drawing/2014/main" id="{60722B86-0807-205B-3D0C-A13EA58E1575}"/>
              </a:ext>
            </a:extLst>
          </p:cNvPr>
          <p:cNvSpPr/>
          <p:nvPr/>
        </p:nvSpPr>
        <p:spPr>
          <a:xfrm>
            <a:off x="4601206" y="3812242"/>
            <a:ext cx="2169020" cy="194043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12E739D0-0E77-71D8-87EF-4410B7B113B0}"/>
              </a:ext>
            </a:extLst>
          </p:cNvPr>
          <p:cNvSpPr txBox="1"/>
          <p:nvPr/>
        </p:nvSpPr>
        <p:spPr>
          <a:xfrm>
            <a:off x="4648999" y="3821732"/>
            <a:ext cx="1098378" cy="276999"/>
          </a:xfrm>
          <a:prstGeom prst="rect">
            <a:avLst/>
          </a:prstGeom>
          <a:noFill/>
        </p:spPr>
        <p:txBody>
          <a:bodyPr wrap="none" rtlCol="0">
            <a:spAutoFit/>
          </a:bodyPr>
          <a:lstStyle/>
          <a:p>
            <a:r>
              <a:rPr lang="en-US" sz="1200" dirty="0"/>
              <a:t>c) 458 + 379 =</a:t>
            </a:r>
            <a:r>
              <a:rPr lang="en-US" sz="1200" dirty="0">
                <a:solidFill>
                  <a:srgbClr val="FF0000"/>
                </a:solidFill>
              </a:rPr>
              <a:t> </a:t>
            </a:r>
            <a:endParaRPr lang="en-GB" sz="1200" dirty="0"/>
          </a:p>
        </p:txBody>
      </p:sp>
      <p:sp>
        <p:nvSpPr>
          <p:cNvPr id="33" name="Rectangle 32">
            <a:extLst>
              <a:ext uri="{FF2B5EF4-FFF2-40B4-BE49-F238E27FC236}">
                <a16:creationId xmlns:a16="http://schemas.microsoft.com/office/drawing/2014/main" id="{22A7A4BC-E823-61D3-6257-009F9C04DD14}"/>
              </a:ext>
            </a:extLst>
          </p:cNvPr>
          <p:cNvSpPr/>
          <p:nvPr/>
        </p:nvSpPr>
        <p:spPr>
          <a:xfrm>
            <a:off x="78856" y="5839770"/>
            <a:ext cx="2169020" cy="193227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353B520C-2BBE-0C4E-F702-B993CF998A8B}"/>
              </a:ext>
            </a:extLst>
          </p:cNvPr>
          <p:cNvSpPr txBox="1"/>
          <p:nvPr/>
        </p:nvSpPr>
        <p:spPr>
          <a:xfrm>
            <a:off x="126649" y="5849261"/>
            <a:ext cx="1034257" cy="276999"/>
          </a:xfrm>
          <a:prstGeom prst="rect">
            <a:avLst/>
          </a:prstGeom>
          <a:noFill/>
        </p:spPr>
        <p:txBody>
          <a:bodyPr wrap="none" rtlCol="0">
            <a:spAutoFit/>
          </a:bodyPr>
          <a:lstStyle/>
          <a:p>
            <a:r>
              <a:rPr lang="en-US" sz="1200" dirty="0"/>
              <a:t>d) 356 + 45 = </a:t>
            </a:r>
            <a:endParaRPr lang="en-GB" sz="1200" dirty="0"/>
          </a:p>
        </p:txBody>
      </p:sp>
      <p:sp>
        <p:nvSpPr>
          <p:cNvPr id="35" name="Rectangle 34">
            <a:extLst>
              <a:ext uri="{FF2B5EF4-FFF2-40B4-BE49-F238E27FC236}">
                <a16:creationId xmlns:a16="http://schemas.microsoft.com/office/drawing/2014/main" id="{61232879-F28A-FE8B-F898-4DD9E7D40A50}"/>
              </a:ext>
            </a:extLst>
          </p:cNvPr>
          <p:cNvSpPr/>
          <p:nvPr/>
        </p:nvSpPr>
        <p:spPr>
          <a:xfrm>
            <a:off x="2333593" y="5849261"/>
            <a:ext cx="2169020" cy="193227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AAB13ACB-3D2B-4625-EFF4-FEFCCDFB48EE}"/>
              </a:ext>
            </a:extLst>
          </p:cNvPr>
          <p:cNvSpPr txBox="1"/>
          <p:nvPr/>
        </p:nvSpPr>
        <p:spPr>
          <a:xfrm>
            <a:off x="2381386" y="5858752"/>
            <a:ext cx="1031051" cy="276999"/>
          </a:xfrm>
          <a:prstGeom prst="rect">
            <a:avLst/>
          </a:prstGeom>
          <a:noFill/>
        </p:spPr>
        <p:txBody>
          <a:bodyPr wrap="none" rtlCol="0">
            <a:spAutoFit/>
          </a:bodyPr>
          <a:lstStyle/>
          <a:p>
            <a:r>
              <a:rPr lang="en-US" sz="1200" dirty="0"/>
              <a:t>e) 259 + 67 = </a:t>
            </a:r>
            <a:endParaRPr lang="en-GB" sz="1200" dirty="0"/>
          </a:p>
        </p:txBody>
      </p:sp>
      <p:sp>
        <p:nvSpPr>
          <p:cNvPr id="37" name="Rectangle 36">
            <a:extLst>
              <a:ext uri="{FF2B5EF4-FFF2-40B4-BE49-F238E27FC236}">
                <a16:creationId xmlns:a16="http://schemas.microsoft.com/office/drawing/2014/main" id="{C071DDF2-820E-55A7-8337-F3EF4CFA7EE1}"/>
              </a:ext>
            </a:extLst>
          </p:cNvPr>
          <p:cNvSpPr/>
          <p:nvPr/>
        </p:nvSpPr>
        <p:spPr>
          <a:xfrm>
            <a:off x="4601206" y="5839770"/>
            <a:ext cx="2169020" cy="193227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50" name="TextBox 49">
            <a:extLst>
              <a:ext uri="{FF2B5EF4-FFF2-40B4-BE49-F238E27FC236}">
                <a16:creationId xmlns:a16="http://schemas.microsoft.com/office/drawing/2014/main" id="{720D5A2F-A818-022C-8A32-999282F01940}"/>
              </a:ext>
            </a:extLst>
          </p:cNvPr>
          <p:cNvSpPr txBox="1"/>
          <p:nvPr/>
        </p:nvSpPr>
        <p:spPr>
          <a:xfrm>
            <a:off x="4648999" y="5849261"/>
            <a:ext cx="1002839" cy="276999"/>
          </a:xfrm>
          <a:prstGeom prst="rect">
            <a:avLst/>
          </a:prstGeom>
          <a:noFill/>
        </p:spPr>
        <p:txBody>
          <a:bodyPr wrap="none" rtlCol="0">
            <a:spAutoFit/>
          </a:bodyPr>
          <a:lstStyle/>
          <a:p>
            <a:r>
              <a:rPr lang="en-US" sz="1200" dirty="0"/>
              <a:t>f) 456 + 79 = </a:t>
            </a:r>
            <a:endParaRPr lang="en-GB" sz="1200" dirty="0"/>
          </a:p>
        </p:txBody>
      </p:sp>
      <p:sp>
        <p:nvSpPr>
          <p:cNvPr id="51" name="TextBox 50">
            <a:extLst>
              <a:ext uri="{FF2B5EF4-FFF2-40B4-BE49-F238E27FC236}">
                <a16:creationId xmlns:a16="http://schemas.microsoft.com/office/drawing/2014/main" id="{F418E431-95F3-47E2-7DC0-0B6324298E69}"/>
              </a:ext>
            </a:extLst>
          </p:cNvPr>
          <p:cNvSpPr txBox="1"/>
          <p:nvPr/>
        </p:nvSpPr>
        <p:spPr>
          <a:xfrm>
            <a:off x="126649" y="7882047"/>
            <a:ext cx="2119491" cy="646331"/>
          </a:xfrm>
          <a:prstGeom prst="rect">
            <a:avLst/>
          </a:prstGeom>
          <a:noFill/>
        </p:spPr>
        <p:txBody>
          <a:bodyPr wrap="square" rtlCol="0">
            <a:spAutoFit/>
          </a:bodyPr>
          <a:lstStyle/>
          <a:p>
            <a:r>
              <a:rPr lang="en-US" sz="1200" dirty="0"/>
              <a:t>g) Find the sum of 796 and 455</a:t>
            </a:r>
          </a:p>
          <a:p>
            <a:endParaRPr lang="en-US" sz="1200" dirty="0"/>
          </a:p>
          <a:p>
            <a:endParaRPr lang="en-GB" sz="1200" dirty="0">
              <a:solidFill>
                <a:srgbClr val="FF0000"/>
              </a:solidFill>
            </a:endParaRPr>
          </a:p>
        </p:txBody>
      </p:sp>
      <p:sp>
        <p:nvSpPr>
          <p:cNvPr id="52" name="TextBox 51">
            <a:extLst>
              <a:ext uri="{FF2B5EF4-FFF2-40B4-BE49-F238E27FC236}">
                <a16:creationId xmlns:a16="http://schemas.microsoft.com/office/drawing/2014/main" id="{79DBFAA3-6183-AB9F-74DB-ADD060DA2064}"/>
              </a:ext>
            </a:extLst>
          </p:cNvPr>
          <p:cNvSpPr txBox="1"/>
          <p:nvPr/>
        </p:nvSpPr>
        <p:spPr>
          <a:xfrm>
            <a:off x="2381386" y="7891538"/>
            <a:ext cx="2044149" cy="646331"/>
          </a:xfrm>
          <a:prstGeom prst="rect">
            <a:avLst/>
          </a:prstGeom>
          <a:noFill/>
        </p:spPr>
        <p:txBody>
          <a:bodyPr wrap="square" rtlCol="0">
            <a:spAutoFit/>
          </a:bodyPr>
          <a:lstStyle/>
          <a:p>
            <a:r>
              <a:rPr lang="en-US" sz="1200" dirty="0"/>
              <a:t>h) Find the sum of 89 and 678</a:t>
            </a:r>
          </a:p>
          <a:p>
            <a:endParaRPr lang="en-US" sz="1200" dirty="0"/>
          </a:p>
          <a:p>
            <a:endParaRPr lang="en-GB" sz="1200" dirty="0">
              <a:solidFill>
                <a:srgbClr val="FF0000"/>
              </a:solidFill>
            </a:endParaRPr>
          </a:p>
        </p:txBody>
      </p:sp>
      <p:sp>
        <p:nvSpPr>
          <p:cNvPr id="53" name="TextBox 52">
            <a:extLst>
              <a:ext uri="{FF2B5EF4-FFF2-40B4-BE49-F238E27FC236}">
                <a16:creationId xmlns:a16="http://schemas.microsoft.com/office/drawing/2014/main" id="{BAD721EE-EE6B-5DFF-AED6-1567638F31C3}"/>
              </a:ext>
            </a:extLst>
          </p:cNvPr>
          <p:cNvSpPr txBox="1"/>
          <p:nvPr/>
        </p:nvSpPr>
        <p:spPr>
          <a:xfrm>
            <a:off x="4648999" y="7882047"/>
            <a:ext cx="2037737" cy="646331"/>
          </a:xfrm>
          <a:prstGeom prst="rect">
            <a:avLst/>
          </a:prstGeom>
          <a:noFill/>
        </p:spPr>
        <p:txBody>
          <a:bodyPr wrap="square" rtlCol="0">
            <a:spAutoFit/>
          </a:bodyPr>
          <a:lstStyle/>
          <a:p>
            <a:r>
              <a:rPr lang="en-US" sz="1200" dirty="0" err="1"/>
              <a:t>i</a:t>
            </a:r>
            <a:r>
              <a:rPr lang="en-US" sz="1200" dirty="0"/>
              <a:t>) Find the sum of 49 and 887</a:t>
            </a:r>
          </a:p>
          <a:p>
            <a:endParaRPr lang="en-GB" sz="1200" dirty="0"/>
          </a:p>
          <a:p>
            <a:endParaRPr lang="en-GB" sz="1200" dirty="0">
              <a:solidFill>
                <a:srgbClr val="FF0000"/>
              </a:solidFill>
            </a:endParaRPr>
          </a:p>
        </p:txBody>
      </p:sp>
      <p:sp>
        <p:nvSpPr>
          <p:cNvPr id="54" name="Rectangle 53">
            <a:extLst>
              <a:ext uri="{FF2B5EF4-FFF2-40B4-BE49-F238E27FC236}">
                <a16:creationId xmlns:a16="http://schemas.microsoft.com/office/drawing/2014/main" id="{37FFDE0D-C996-F044-B34D-E09F6F0B5570}"/>
              </a:ext>
            </a:extLst>
          </p:cNvPr>
          <p:cNvSpPr/>
          <p:nvPr/>
        </p:nvSpPr>
        <p:spPr>
          <a:xfrm>
            <a:off x="78856" y="7820244"/>
            <a:ext cx="2169020" cy="193227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95A36643-F336-E262-7A2B-4FB5196F6D5F}"/>
              </a:ext>
            </a:extLst>
          </p:cNvPr>
          <p:cNvSpPr/>
          <p:nvPr/>
        </p:nvSpPr>
        <p:spPr>
          <a:xfrm>
            <a:off x="2333593" y="7829735"/>
            <a:ext cx="2169020" cy="193227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
        <p:nvSpPr>
          <p:cNvPr id="56" name="Rectangle 55">
            <a:extLst>
              <a:ext uri="{FF2B5EF4-FFF2-40B4-BE49-F238E27FC236}">
                <a16:creationId xmlns:a16="http://schemas.microsoft.com/office/drawing/2014/main" id="{C8738C77-85F6-B50F-E669-25419F720927}"/>
              </a:ext>
            </a:extLst>
          </p:cNvPr>
          <p:cNvSpPr/>
          <p:nvPr/>
        </p:nvSpPr>
        <p:spPr>
          <a:xfrm>
            <a:off x="4601206" y="7820244"/>
            <a:ext cx="2169020" cy="193227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633019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39BD06-4DB9-BF8F-48BF-CF97A78B167F}"/>
              </a:ext>
            </a:extLst>
          </p:cNvPr>
          <p:cNvSpPr/>
          <p:nvPr/>
        </p:nvSpPr>
        <p:spPr>
          <a:xfrm>
            <a:off x="96102" y="82142"/>
            <a:ext cx="6675966" cy="23560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Adding four- digit integers using column method involving exchanges </a:t>
            </a:r>
            <a:endParaRPr lang="en-GB" sz="1200">
              <a:solidFill>
                <a:schemeClr val="bg1"/>
              </a:solidFill>
            </a:endParaRPr>
          </a:p>
        </p:txBody>
      </p:sp>
      <p:graphicFrame>
        <p:nvGraphicFramePr>
          <p:cNvPr id="3" name="Table 2">
            <a:extLst>
              <a:ext uri="{FF2B5EF4-FFF2-40B4-BE49-F238E27FC236}">
                <a16:creationId xmlns:a16="http://schemas.microsoft.com/office/drawing/2014/main" id="{BB8C79B8-5A75-A3CF-71D9-EF564BF871FD}"/>
              </a:ext>
            </a:extLst>
          </p:cNvPr>
          <p:cNvGraphicFramePr>
            <a:graphicFrameLocks noGrp="1"/>
          </p:cNvGraphicFramePr>
          <p:nvPr>
            <p:extLst>
              <p:ext uri="{D42A27DB-BD31-4B8C-83A1-F6EECF244321}">
                <p14:modId xmlns:p14="http://schemas.microsoft.com/office/powerpoint/2010/main" val="2143321066"/>
              </p:ext>
            </p:extLst>
          </p:nvPr>
        </p:nvGraphicFramePr>
        <p:xfrm>
          <a:off x="123301" y="523144"/>
          <a:ext cx="6572478" cy="2417401"/>
        </p:xfrm>
        <a:graphic>
          <a:graphicData uri="http://schemas.openxmlformats.org/drawingml/2006/table">
            <a:tbl>
              <a:tblPr firstRow="1" bandRow="1">
                <a:tableStyleId>{5C22544A-7EE6-4342-B048-85BDC9FD1C3A}</a:tableStyleId>
              </a:tblPr>
              <a:tblGrid>
                <a:gridCol w="1095899">
                  <a:extLst>
                    <a:ext uri="{9D8B030D-6E8A-4147-A177-3AD203B41FA5}">
                      <a16:colId xmlns:a16="http://schemas.microsoft.com/office/drawing/2014/main" val="1568142362"/>
                    </a:ext>
                  </a:extLst>
                </a:gridCol>
                <a:gridCol w="1752600">
                  <a:extLst>
                    <a:ext uri="{9D8B030D-6E8A-4147-A177-3AD203B41FA5}">
                      <a16:colId xmlns:a16="http://schemas.microsoft.com/office/drawing/2014/main" val="3551711160"/>
                    </a:ext>
                  </a:extLst>
                </a:gridCol>
                <a:gridCol w="1888958">
                  <a:extLst>
                    <a:ext uri="{9D8B030D-6E8A-4147-A177-3AD203B41FA5}">
                      <a16:colId xmlns:a16="http://schemas.microsoft.com/office/drawing/2014/main" val="1712497518"/>
                    </a:ext>
                  </a:extLst>
                </a:gridCol>
                <a:gridCol w="1835021">
                  <a:extLst>
                    <a:ext uri="{9D8B030D-6E8A-4147-A177-3AD203B41FA5}">
                      <a16:colId xmlns:a16="http://schemas.microsoft.com/office/drawing/2014/main" val="886122921"/>
                    </a:ext>
                  </a:extLst>
                </a:gridCol>
              </a:tblGrid>
              <a:tr h="2612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Calculate 9851 + 3279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Calculate 5852 + 5378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Calculate 8963 + 3267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86721">
                <a:tc>
                  <a:txBody>
                    <a:bodyPr/>
                    <a:lstStyle/>
                    <a:p>
                      <a:pPr marL="0" indent="0">
                        <a:buNone/>
                      </a:pPr>
                      <a:r>
                        <a:rPr lang="en-US" sz="1100" dirty="0">
                          <a:solidFill>
                            <a:schemeClr val="tx1"/>
                          </a:solidFill>
                        </a:rPr>
                        <a:t>1. Add each column starting with the lowest column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r>
                        <a:rPr lang="en-US" sz="1100" baseline="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r>
                        <a:rPr lang="en-US" sz="1100" baseline="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endParaRPr lang="en-US" sz="1100" baseline="0" dirty="0">
                        <a:solidFill>
                          <a:schemeClr val="tx1"/>
                        </a:solidFill>
                      </a:endParaRPr>
                    </a:p>
                    <a:p>
                      <a:r>
                        <a:rPr lang="en-US" sz="1100" baseline="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93790">
                <a:tc>
                  <a:txBody>
                    <a:bodyPr/>
                    <a:lstStyle/>
                    <a:p>
                      <a:r>
                        <a:rPr lang="en-GB" sz="1100">
                          <a:solidFill>
                            <a:schemeClr val="tx1"/>
                          </a:solidFill>
                        </a:rPr>
                        <a:t>2. Write how many groups of ten are exchanged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493790">
                <a:tc>
                  <a:txBody>
                    <a:bodyPr/>
                    <a:lstStyle/>
                    <a:p>
                      <a:r>
                        <a:rPr lang="en-GB" sz="1100" dirty="0">
                          <a:solidFill>
                            <a:schemeClr val="tx1"/>
                          </a:solidFill>
                        </a:rPr>
                        <a:t>3. Add this to your next column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774926116"/>
                  </a:ext>
                </a:extLst>
              </a:tr>
            </a:tbl>
          </a:graphicData>
        </a:graphic>
      </p:graphicFrame>
      <p:sp>
        <p:nvSpPr>
          <p:cNvPr id="4" name="TextBox 3">
            <a:extLst>
              <a:ext uri="{FF2B5EF4-FFF2-40B4-BE49-F238E27FC236}">
                <a16:creationId xmlns:a16="http://schemas.microsoft.com/office/drawing/2014/main" id="{2F6C2A3F-C6B8-8D41-5FF6-92A427958A65}"/>
              </a:ext>
            </a:extLst>
          </p:cNvPr>
          <p:cNvSpPr txBox="1"/>
          <p:nvPr/>
        </p:nvSpPr>
        <p:spPr>
          <a:xfrm>
            <a:off x="4913768" y="264061"/>
            <a:ext cx="1577355" cy="276999"/>
          </a:xfrm>
          <a:prstGeom prst="rect">
            <a:avLst/>
          </a:prstGeom>
          <a:noFill/>
          <a:ln>
            <a:noFill/>
          </a:ln>
        </p:spPr>
        <p:txBody>
          <a:bodyPr wrap="none" rtlCol="0">
            <a:spAutoFit/>
          </a:bodyPr>
          <a:lstStyle/>
          <a:p>
            <a:r>
              <a:rPr lang="en-GB" sz="1200" b="1" i="1">
                <a:solidFill>
                  <a:srgbClr val="00B050"/>
                </a:solidFill>
                <a:latin typeface="Calibri" panose="020F0502020204030204" pitchFamily="34" charset="0"/>
                <a:cs typeface="Calibri" panose="020F0502020204030204" pitchFamily="34" charset="0"/>
              </a:rPr>
              <a:t>Example 12 - You do…</a:t>
            </a:r>
          </a:p>
        </p:txBody>
      </p:sp>
      <p:sp>
        <p:nvSpPr>
          <p:cNvPr id="5" name="TextBox 4">
            <a:extLst>
              <a:ext uri="{FF2B5EF4-FFF2-40B4-BE49-F238E27FC236}">
                <a16:creationId xmlns:a16="http://schemas.microsoft.com/office/drawing/2014/main" id="{C95E85BE-B45C-5BD5-4947-C160F4F30A5C}"/>
              </a:ext>
            </a:extLst>
          </p:cNvPr>
          <p:cNvSpPr txBox="1"/>
          <p:nvPr/>
        </p:nvSpPr>
        <p:spPr>
          <a:xfrm>
            <a:off x="2992963" y="265929"/>
            <a:ext cx="1554336" cy="276999"/>
          </a:xfrm>
          <a:prstGeom prst="rect">
            <a:avLst/>
          </a:prstGeom>
          <a:noFill/>
          <a:ln>
            <a:noFill/>
          </a:ln>
        </p:spPr>
        <p:txBody>
          <a:bodyPr wrap="none" rtlCol="0">
            <a:spAutoFit/>
          </a:bodyPr>
          <a:lstStyle/>
          <a:p>
            <a:r>
              <a:rPr lang="en-GB" sz="1200" b="1" i="1">
                <a:solidFill>
                  <a:schemeClr val="accent2"/>
                </a:solidFill>
                <a:latin typeface="Calibri" panose="020F0502020204030204" pitchFamily="34" charset="0"/>
                <a:cs typeface="Calibri" panose="020F0502020204030204" pitchFamily="34" charset="0"/>
              </a:rPr>
              <a:t>Example 11 - We do…</a:t>
            </a:r>
          </a:p>
        </p:txBody>
      </p:sp>
      <p:sp>
        <p:nvSpPr>
          <p:cNvPr id="6" name="TextBox 5">
            <a:extLst>
              <a:ext uri="{FF2B5EF4-FFF2-40B4-BE49-F238E27FC236}">
                <a16:creationId xmlns:a16="http://schemas.microsoft.com/office/drawing/2014/main" id="{A977EE33-CFC3-00B7-3AB0-94C6F748F4C9}"/>
              </a:ext>
            </a:extLst>
          </p:cNvPr>
          <p:cNvSpPr txBox="1"/>
          <p:nvPr/>
        </p:nvSpPr>
        <p:spPr>
          <a:xfrm>
            <a:off x="1252262" y="268184"/>
            <a:ext cx="1351780" cy="276999"/>
          </a:xfrm>
          <a:prstGeom prst="rect">
            <a:avLst/>
          </a:prstGeom>
          <a:noFill/>
          <a:ln>
            <a:noFill/>
          </a:ln>
        </p:spPr>
        <p:txBody>
          <a:bodyPr wrap="none" rtlCol="0">
            <a:spAutoFit/>
          </a:bodyPr>
          <a:lstStyle/>
          <a:p>
            <a:r>
              <a:rPr lang="en-GB" sz="1200" b="1" i="1">
                <a:solidFill>
                  <a:srgbClr val="FF0000"/>
                </a:solidFill>
                <a:latin typeface="Calibri" panose="020F0502020204030204" pitchFamily="34" charset="0"/>
                <a:cs typeface="Calibri" panose="020F0502020204030204" pitchFamily="34" charset="0"/>
              </a:rPr>
              <a:t>Example 10 I do…</a:t>
            </a:r>
          </a:p>
        </p:txBody>
      </p:sp>
      <p:sp>
        <p:nvSpPr>
          <p:cNvPr id="7" name="Rectangle 6">
            <a:extLst>
              <a:ext uri="{FF2B5EF4-FFF2-40B4-BE49-F238E27FC236}">
                <a16:creationId xmlns:a16="http://schemas.microsoft.com/office/drawing/2014/main" id="{D3B68D4A-B37F-5056-F4E5-C2CBEECFC89C}"/>
              </a:ext>
            </a:extLst>
          </p:cNvPr>
          <p:cNvSpPr/>
          <p:nvPr/>
        </p:nvSpPr>
        <p:spPr>
          <a:xfrm>
            <a:off x="69362" y="3043901"/>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8" name="TextBox 7">
            <a:extLst>
              <a:ext uri="{FF2B5EF4-FFF2-40B4-BE49-F238E27FC236}">
                <a16:creationId xmlns:a16="http://schemas.microsoft.com/office/drawing/2014/main" id="{6E3A9A5E-0156-2948-4874-D5C9EA1A4C14}"/>
              </a:ext>
            </a:extLst>
          </p:cNvPr>
          <p:cNvSpPr txBox="1"/>
          <p:nvPr/>
        </p:nvSpPr>
        <p:spPr>
          <a:xfrm>
            <a:off x="1280315" y="3115276"/>
            <a:ext cx="3446713" cy="276999"/>
          </a:xfrm>
          <a:prstGeom prst="rect">
            <a:avLst/>
          </a:prstGeom>
          <a:noFill/>
        </p:spPr>
        <p:txBody>
          <a:bodyPr wrap="none" rtlCol="0">
            <a:spAutoFit/>
          </a:bodyPr>
          <a:lstStyle/>
          <a:p>
            <a:r>
              <a:rPr lang="en-US" sz="1200"/>
              <a:t>3. Add the following integers using column method</a:t>
            </a:r>
            <a:endParaRPr lang="en-GB" sz="1200"/>
          </a:p>
        </p:txBody>
      </p:sp>
      <p:pic>
        <p:nvPicPr>
          <p:cNvPr id="27" name="Picture 26">
            <a:extLst>
              <a:ext uri="{FF2B5EF4-FFF2-40B4-BE49-F238E27FC236}">
                <a16:creationId xmlns:a16="http://schemas.microsoft.com/office/drawing/2014/main" id="{05D42AC8-B628-F8C3-AD1A-BD5B190451EA}"/>
              </a:ext>
            </a:extLst>
          </p:cNvPr>
          <p:cNvPicPr>
            <a:picLocks noChangeAspect="1"/>
          </p:cNvPicPr>
          <p:nvPr/>
        </p:nvPicPr>
        <p:blipFill rotWithShape="1">
          <a:blip r:embed="rId2"/>
          <a:srcRect b="21616"/>
          <a:stretch/>
        </p:blipFill>
        <p:spPr>
          <a:xfrm>
            <a:off x="96102" y="3636589"/>
            <a:ext cx="6502928" cy="5367617"/>
          </a:xfrm>
          <a:prstGeom prst="rect">
            <a:avLst/>
          </a:prstGeom>
        </p:spPr>
      </p:pic>
      <p:sp>
        <p:nvSpPr>
          <p:cNvPr id="28" name="TextBox 27">
            <a:extLst>
              <a:ext uri="{FF2B5EF4-FFF2-40B4-BE49-F238E27FC236}">
                <a16:creationId xmlns:a16="http://schemas.microsoft.com/office/drawing/2014/main" id="{822817E1-B12E-67AA-0F0C-F483337999A0}"/>
              </a:ext>
            </a:extLst>
          </p:cNvPr>
          <p:cNvSpPr txBox="1"/>
          <p:nvPr/>
        </p:nvSpPr>
        <p:spPr>
          <a:xfrm>
            <a:off x="97901" y="4966985"/>
            <a:ext cx="5948488" cy="307777"/>
          </a:xfrm>
          <a:prstGeom prst="rect">
            <a:avLst/>
          </a:prstGeom>
          <a:noFill/>
        </p:spPr>
        <p:txBody>
          <a:bodyPr wrap="none" rtlCol="0">
            <a:spAutoFit/>
          </a:bodyPr>
          <a:lstStyle/>
          <a:p>
            <a:r>
              <a:rPr lang="en-US" sz="1400"/>
              <a:t>f)                                  g)                               h)                              i)                             j)     </a:t>
            </a:r>
            <a:endParaRPr lang="en-GB" sz="1400"/>
          </a:p>
        </p:txBody>
      </p:sp>
      <p:sp>
        <p:nvSpPr>
          <p:cNvPr id="29" name="TextBox 28">
            <a:extLst>
              <a:ext uri="{FF2B5EF4-FFF2-40B4-BE49-F238E27FC236}">
                <a16:creationId xmlns:a16="http://schemas.microsoft.com/office/drawing/2014/main" id="{DD8055BC-31DE-B866-DC86-AF0B8EDA06E3}"/>
              </a:ext>
            </a:extLst>
          </p:cNvPr>
          <p:cNvSpPr txBox="1"/>
          <p:nvPr/>
        </p:nvSpPr>
        <p:spPr>
          <a:xfrm>
            <a:off x="124689" y="6325499"/>
            <a:ext cx="6082114" cy="307777"/>
          </a:xfrm>
          <a:prstGeom prst="rect">
            <a:avLst/>
          </a:prstGeom>
          <a:noFill/>
        </p:spPr>
        <p:txBody>
          <a:bodyPr wrap="none" rtlCol="0">
            <a:spAutoFit/>
          </a:bodyPr>
          <a:lstStyle/>
          <a:p>
            <a:r>
              <a:rPr lang="en-US" sz="1400"/>
              <a:t>k)                                  l)                               m)                              n)                             o)     </a:t>
            </a:r>
            <a:endParaRPr lang="en-GB" sz="1400"/>
          </a:p>
        </p:txBody>
      </p:sp>
      <p:sp>
        <p:nvSpPr>
          <p:cNvPr id="30" name="TextBox 29">
            <a:extLst>
              <a:ext uri="{FF2B5EF4-FFF2-40B4-BE49-F238E27FC236}">
                <a16:creationId xmlns:a16="http://schemas.microsoft.com/office/drawing/2014/main" id="{9D113177-4880-1032-2205-B15D293641E5}"/>
              </a:ext>
            </a:extLst>
          </p:cNvPr>
          <p:cNvSpPr txBox="1"/>
          <p:nvPr/>
        </p:nvSpPr>
        <p:spPr>
          <a:xfrm>
            <a:off x="110920" y="7821247"/>
            <a:ext cx="6009979" cy="307777"/>
          </a:xfrm>
          <a:prstGeom prst="rect">
            <a:avLst/>
          </a:prstGeom>
          <a:noFill/>
        </p:spPr>
        <p:txBody>
          <a:bodyPr wrap="none" rtlCol="0">
            <a:spAutoFit/>
          </a:bodyPr>
          <a:lstStyle/>
          <a:p>
            <a:r>
              <a:rPr lang="en-US" sz="1400"/>
              <a:t>p)                                  q)                               r)                              s)                             t)     </a:t>
            </a:r>
            <a:endParaRPr lang="en-GB" sz="1400"/>
          </a:p>
        </p:txBody>
      </p:sp>
      <p:sp>
        <p:nvSpPr>
          <p:cNvPr id="31" name="TextBox 30">
            <a:extLst>
              <a:ext uri="{FF2B5EF4-FFF2-40B4-BE49-F238E27FC236}">
                <a16:creationId xmlns:a16="http://schemas.microsoft.com/office/drawing/2014/main" id="{369CBE2F-2C17-E4CD-D067-D899BD5C9FAE}"/>
              </a:ext>
            </a:extLst>
          </p:cNvPr>
          <p:cNvSpPr txBox="1"/>
          <p:nvPr/>
        </p:nvSpPr>
        <p:spPr>
          <a:xfrm>
            <a:off x="-26824" y="3505464"/>
            <a:ext cx="5932324" cy="307777"/>
          </a:xfrm>
          <a:prstGeom prst="rect">
            <a:avLst/>
          </a:prstGeom>
          <a:noFill/>
        </p:spPr>
        <p:txBody>
          <a:bodyPr wrap="square" rtlCol="0">
            <a:spAutoFit/>
          </a:bodyPr>
          <a:lstStyle/>
          <a:p>
            <a:r>
              <a:rPr lang="en-US" sz="1400"/>
              <a:t>a)                                  b)                               c)                              d)                             e)     </a:t>
            </a:r>
            <a:endParaRPr lang="en-GB" sz="1400"/>
          </a:p>
        </p:txBody>
      </p:sp>
      <p:sp>
        <p:nvSpPr>
          <p:cNvPr id="9" name="Slide Number Placeholder 8">
            <a:extLst>
              <a:ext uri="{FF2B5EF4-FFF2-40B4-BE49-F238E27FC236}">
                <a16:creationId xmlns:a16="http://schemas.microsoft.com/office/drawing/2014/main" id="{B64B18A4-F4FB-7BB7-5A1B-F58D91355735}"/>
              </a:ext>
            </a:extLst>
          </p:cNvPr>
          <p:cNvSpPr>
            <a:spLocks noGrp="1"/>
          </p:cNvSpPr>
          <p:nvPr>
            <p:ph type="sldNum" sz="quarter" idx="12"/>
          </p:nvPr>
        </p:nvSpPr>
        <p:spPr>
          <a:xfrm>
            <a:off x="5274864" y="9316995"/>
            <a:ext cx="1543050" cy="527403"/>
          </a:xfrm>
        </p:spPr>
        <p:txBody>
          <a:bodyPr/>
          <a:lstStyle/>
          <a:p>
            <a:fld id="{086C3A38-D272-42AA-9C88-F1FBEAE20D2C}" type="slidenum">
              <a:rPr lang="en-GB" smtClean="0"/>
              <a:t>46</a:t>
            </a:fld>
            <a:endParaRPr lang="en-GB"/>
          </a:p>
        </p:txBody>
      </p:sp>
      <p:sp>
        <p:nvSpPr>
          <p:cNvPr id="10" name="Rectangle 9">
            <a:extLst>
              <a:ext uri="{FF2B5EF4-FFF2-40B4-BE49-F238E27FC236}">
                <a16:creationId xmlns:a16="http://schemas.microsoft.com/office/drawing/2014/main" id="{D6FF8B25-45FC-8435-FBF4-79720E92A80C}"/>
              </a:ext>
            </a:extLst>
          </p:cNvPr>
          <p:cNvSpPr/>
          <p:nvPr/>
        </p:nvSpPr>
        <p:spPr>
          <a:xfrm>
            <a:off x="1665139" y="2472643"/>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6C487F7C-5E60-37A6-379D-997CBF846643}"/>
              </a:ext>
            </a:extLst>
          </p:cNvPr>
          <p:cNvSpPr/>
          <p:nvPr/>
        </p:nvSpPr>
        <p:spPr>
          <a:xfrm>
            <a:off x="3541310" y="2472643"/>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F8CFDCF9-1854-C75C-E3F1-67DB9B5D69FC}"/>
              </a:ext>
            </a:extLst>
          </p:cNvPr>
          <p:cNvSpPr/>
          <p:nvPr/>
        </p:nvSpPr>
        <p:spPr>
          <a:xfrm>
            <a:off x="5382921" y="2472785"/>
            <a:ext cx="1245632" cy="3989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B1AC278E-4490-1A2C-5ABA-83928DB6AECB}"/>
              </a:ext>
            </a:extLst>
          </p:cNvPr>
          <p:cNvSpPr txBox="1"/>
          <p:nvPr/>
        </p:nvSpPr>
        <p:spPr>
          <a:xfrm>
            <a:off x="1665139" y="1122826"/>
            <a:ext cx="1223412" cy="707886"/>
          </a:xfrm>
          <a:prstGeom prst="rect">
            <a:avLst/>
          </a:prstGeom>
          <a:solidFill>
            <a:schemeClr val="bg1"/>
          </a:solidFill>
        </p:spPr>
        <p:txBody>
          <a:bodyPr wrap="none" rtlCol="0">
            <a:spAutoFit/>
          </a:bodyPr>
          <a:lstStyle/>
          <a:p>
            <a:r>
              <a:rPr lang="en-US" sz="2000"/>
              <a:t>9   8   5   1</a:t>
            </a:r>
          </a:p>
          <a:p>
            <a:r>
              <a:rPr lang="en-US" sz="2000"/>
              <a:t>3   2   7   9</a:t>
            </a:r>
            <a:endParaRPr lang="en-GB" sz="2000"/>
          </a:p>
        </p:txBody>
      </p:sp>
      <p:sp>
        <p:nvSpPr>
          <p:cNvPr id="14" name="TextBox 13">
            <a:extLst>
              <a:ext uri="{FF2B5EF4-FFF2-40B4-BE49-F238E27FC236}">
                <a16:creationId xmlns:a16="http://schemas.microsoft.com/office/drawing/2014/main" id="{EBAB83E6-F3AB-0F27-D3E3-F1D9730728C5}"/>
              </a:ext>
            </a:extLst>
          </p:cNvPr>
          <p:cNvSpPr txBox="1"/>
          <p:nvPr/>
        </p:nvSpPr>
        <p:spPr>
          <a:xfrm>
            <a:off x="1445659" y="1292103"/>
            <a:ext cx="300082" cy="369332"/>
          </a:xfrm>
          <a:prstGeom prst="rect">
            <a:avLst/>
          </a:prstGeom>
          <a:noFill/>
        </p:spPr>
        <p:txBody>
          <a:bodyPr wrap="none" rtlCol="0">
            <a:spAutoFit/>
          </a:bodyPr>
          <a:lstStyle/>
          <a:p>
            <a:r>
              <a:rPr lang="en-US"/>
              <a:t>+</a:t>
            </a:r>
            <a:endParaRPr lang="en-GB"/>
          </a:p>
        </p:txBody>
      </p:sp>
      <p:sp>
        <p:nvSpPr>
          <p:cNvPr id="15" name="TextBox 14">
            <a:extLst>
              <a:ext uri="{FF2B5EF4-FFF2-40B4-BE49-F238E27FC236}">
                <a16:creationId xmlns:a16="http://schemas.microsoft.com/office/drawing/2014/main" id="{0D4BEB02-10CC-234E-9D77-DDD3BD048155}"/>
              </a:ext>
            </a:extLst>
          </p:cNvPr>
          <p:cNvSpPr txBox="1"/>
          <p:nvPr/>
        </p:nvSpPr>
        <p:spPr>
          <a:xfrm>
            <a:off x="3474646" y="1149030"/>
            <a:ext cx="1223412" cy="707886"/>
          </a:xfrm>
          <a:prstGeom prst="rect">
            <a:avLst/>
          </a:prstGeom>
          <a:solidFill>
            <a:schemeClr val="bg1"/>
          </a:solidFill>
        </p:spPr>
        <p:txBody>
          <a:bodyPr wrap="square" rtlCol="0">
            <a:spAutoFit/>
          </a:bodyPr>
          <a:lstStyle/>
          <a:p>
            <a:r>
              <a:rPr lang="en-US" sz="2000"/>
              <a:t>5   8   5   2</a:t>
            </a:r>
          </a:p>
          <a:p>
            <a:r>
              <a:rPr lang="en-US" sz="2000"/>
              <a:t>5   3   7   8</a:t>
            </a:r>
            <a:endParaRPr lang="en-GB" sz="2000"/>
          </a:p>
        </p:txBody>
      </p:sp>
      <p:sp>
        <p:nvSpPr>
          <p:cNvPr id="16" name="TextBox 15">
            <a:extLst>
              <a:ext uri="{FF2B5EF4-FFF2-40B4-BE49-F238E27FC236}">
                <a16:creationId xmlns:a16="http://schemas.microsoft.com/office/drawing/2014/main" id="{6E9E0169-9971-5738-9668-33D80878AA3C}"/>
              </a:ext>
            </a:extLst>
          </p:cNvPr>
          <p:cNvSpPr txBox="1"/>
          <p:nvPr/>
        </p:nvSpPr>
        <p:spPr>
          <a:xfrm>
            <a:off x="3255166" y="1318307"/>
            <a:ext cx="300082" cy="369332"/>
          </a:xfrm>
          <a:prstGeom prst="rect">
            <a:avLst/>
          </a:prstGeom>
          <a:noFill/>
        </p:spPr>
        <p:txBody>
          <a:bodyPr wrap="square" rtlCol="0">
            <a:spAutoFit/>
          </a:bodyPr>
          <a:lstStyle/>
          <a:p>
            <a:r>
              <a:rPr lang="en-US"/>
              <a:t>+</a:t>
            </a:r>
            <a:endParaRPr lang="en-GB"/>
          </a:p>
        </p:txBody>
      </p:sp>
      <p:sp>
        <p:nvSpPr>
          <p:cNvPr id="17" name="TextBox 16">
            <a:extLst>
              <a:ext uri="{FF2B5EF4-FFF2-40B4-BE49-F238E27FC236}">
                <a16:creationId xmlns:a16="http://schemas.microsoft.com/office/drawing/2014/main" id="{334A9689-65C6-7022-C62D-C8FD8197B3AE}"/>
              </a:ext>
            </a:extLst>
          </p:cNvPr>
          <p:cNvSpPr txBox="1"/>
          <p:nvPr/>
        </p:nvSpPr>
        <p:spPr>
          <a:xfrm>
            <a:off x="5375618" y="1132294"/>
            <a:ext cx="1223412" cy="707886"/>
          </a:xfrm>
          <a:prstGeom prst="rect">
            <a:avLst/>
          </a:prstGeom>
          <a:solidFill>
            <a:schemeClr val="bg1"/>
          </a:solidFill>
        </p:spPr>
        <p:txBody>
          <a:bodyPr wrap="none" rtlCol="0">
            <a:spAutoFit/>
          </a:bodyPr>
          <a:lstStyle/>
          <a:p>
            <a:r>
              <a:rPr lang="en-US" sz="2000"/>
              <a:t>8   9   6   3</a:t>
            </a:r>
          </a:p>
          <a:p>
            <a:r>
              <a:rPr lang="en-US" sz="2000"/>
              <a:t>3   2   6   7</a:t>
            </a:r>
            <a:endParaRPr lang="en-GB" sz="2000"/>
          </a:p>
        </p:txBody>
      </p:sp>
      <p:sp>
        <p:nvSpPr>
          <p:cNvPr id="18" name="TextBox 17">
            <a:extLst>
              <a:ext uri="{FF2B5EF4-FFF2-40B4-BE49-F238E27FC236}">
                <a16:creationId xmlns:a16="http://schemas.microsoft.com/office/drawing/2014/main" id="{24997188-B629-07AF-9D65-C4C2F4EF0F99}"/>
              </a:ext>
            </a:extLst>
          </p:cNvPr>
          <p:cNvSpPr txBox="1"/>
          <p:nvPr/>
        </p:nvSpPr>
        <p:spPr>
          <a:xfrm>
            <a:off x="5156138" y="1301571"/>
            <a:ext cx="300082" cy="369332"/>
          </a:xfrm>
          <a:prstGeom prst="rect">
            <a:avLst/>
          </a:prstGeom>
          <a:noFill/>
        </p:spPr>
        <p:txBody>
          <a:bodyPr wrap="none" rtlCol="0">
            <a:spAutoFit/>
          </a:bodyPr>
          <a:lstStyle/>
          <a:p>
            <a:r>
              <a:rPr lang="en-US"/>
              <a:t>+</a:t>
            </a:r>
            <a:endParaRPr lang="en-GB"/>
          </a:p>
        </p:txBody>
      </p:sp>
      <p:pic>
        <p:nvPicPr>
          <p:cNvPr id="19" name="Picture 18">
            <a:extLst>
              <a:ext uri="{FF2B5EF4-FFF2-40B4-BE49-F238E27FC236}">
                <a16:creationId xmlns:a16="http://schemas.microsoft.com/office/drawing/2014/main" id="{BE0D6D76-99BB-5699-03EC-A36AAC15DFC7}"/>
              </a:ext>
            </a:extLst>
          </p:cNvPr>
          <p:cNvPicPr>
            <a:picLocks noChangeAspect="1"/>
          </p:cNvPicPr>
          <p:nvPr/>
        </p:nvPicPr>
        <p:blipFill rotWithShape="1">
          <a:blip r:embed="rId3"/>
          <a:srcRect t="58747" r="5028"/>
          <a:stretch/>
        </p:blipFill>
        <p:spPr>
          <a:xfrm>
            <a:off x="1251287" y="1827390"/>
            <a:ext cx="1695201" cy="438085"/>
          </a:xfrm>
          <a:prstGeom prst="rect">
            <a:avLst/>
          </a:prstGeom>
        </p:spPr>
      </p:pic>
      <p:pic>
        <p:nvPicPr>
          <p:cNvPr id="20" name="Picture 19">
            <a:extLst>
              <a:ext uri="{FF2B5EF4-FFF2-40B4-BE49-F238E27FC236}">
                <a16:creationId xmlns:a16="http://schemas.microsoft.com/office/drawing/2014/main" id="{CF9340B2-BA08-7C06-6F21-425A8C159BB2}"/>
              </a:ext>
            </a:extLst>
          </p:cNvPr>
          <p:cNvPicPr>
            <a:picLocks noChangeAspect="1"/>
          </p:cNvPicPr>
          <p:nvPr/>
        </p:nvPicPr>
        <p:blipFill rotWithShape="1">
          <a:blip r:embed="rId3"/>
          <a:srcRect t="58747" r="5028"/>
          <a:stretch/>
        </p:blipFill>
        <p:spPr>
          <a:xfrm>
            <a:off x="4979602" y="1835176"/>
            <a:ext cx="1695201" cy="438085"/>
          </a:xfrm>
          <a:prstGeom prst="rect">
            <a:avLst/>
          </a:prstGeom>
        </p:spPr>
      </p:pic>
      <p:pic>
        <p:nvPicPr>
          <p:cNvPr id="21" name="Picture 20">
            <a:extLst>
              <a:ext uri="{FF2B5EF4-FFF2-40B4-BE49-F238E27FC236}">
                <a16:creationId xmlns:a16="http://schemas.microsoft.com/office/drawing/2014/main" id="{A2985C61-3663-7A0D-11D9-2FD9BAE1A94C}"/>
              </a:ext>
            </a:extLst>
          </p:cNvPr>
          <p:cNvPicPr>
            <a:picLocks noChangeAspect="1"/>
          </p:cNvPicPr>
          <p:nvPr/>
        </p:nvPicPr>
        <p:blipFill rotWithShape="1">
          <a:blip r:embed="rId3"/>
          <a:srcRect t="58747" r="5028"/>
          <a:stretch/>
        </p:blipFill>
        <p:spPr>
          <a:xfrm>
            <a:off x="3125932" y="1827390"/>
            <a:ext cx="1695201" cy="438085"/>
          </a:xfrm>
          <a:prstGeom prst="rect">
            <a:avLst/>
          </a:prstGeom>
        </p:spPr>
      </p:pic>
    </p:spTree>
    <p:extLst>
      <p:ext uri="{BB962C8B-B14F-4D97-AF65-F5344CB8AC3E}">
        <p14:creationId xmlns:p14="http://schemas.microsoft.com/office/powerpoint/2010/main" val="41902852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5364267" y="9576199"/>
            <a:ext cx="1543050" cy="527403"/>
          </a:xfrm>
        </p:spPr>
        <p:txBody>
          <a:bodyPr/>
          <a:lstStyle/>
          <a:p>
            <a:fld id="{19F1D9CC-7119-45EC-A96C-D8C0660F3AAB}" type="slidenum">
              <a:rPr lang="en-GB" smtClean="0"/>
              <a:t>47</a:t>
            </a:fld>
            <a:endParaRPr lang="en-GB"/>
          </a:p>
        </p:txBody>
      </p:sp>
      <p:sp>
        <p:nvSpPr>
          <p:cNvPr id="23" name="Rectangle 22">
            <a:extLst>
              <a:ext uri="{FF2B5EF4-FFF2-40B4-BE49-F238E27FC236}">
                <a16:creationId xmlns:a16="http://schemas.microsoft.com/office/drawing/2014/main" id="{FAF13C6A-5961-2E46-E2FD-ED165DB8607F}"/>
              </a:ext>
            </a:extLst>
          </p:cNvPr>
          <p:cNvSpPr/>
          <p:nvPr/>
        </p:nvSpPr>
        <p:spPr>
          <a:xfrm>
            <a:off x="72053" y="671474"/>
            <a:ext cx="6699219" cy="288283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a:extLst>
              <a:ext uri="{FF2B5EF4-FFF2-40B4-BE49-F238E27FC236}">
                <a16:creationId xmlns:a16="http://schemas.microsoft.com/office/drawing/2014/main" id="{2BFA6B03-9E82-D676-9F14-ADEABB27F986}"/>
              </a:ext>
            </a:extLst>
          </p:cNvPr>
          <p:cNvCxnSpPr>
            <a:cxnSpLocks/>
          </p:cNvCxnSpPr>
          <p:nvPr/>
        </p:nvCxnSpPr>
        <p:spPr>
          <a:xfrm>
            <a:off x="72053" y="1925888"/>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069D44F5-BBD6-2A87-4EEE-54932749D5DB}"/>
              </a:ext>
            </a:extLst>
          </p:cNvPr>
          <p:cNvCxnSpPr>
            <a:cxnSpLocks/>
            <a:stCxn id="23" idx="2"/>
            <a:endCxn id="23" idx="0"/>
          </p:cNvCxnSpPr>
          <p:nvPr/>
        </p:nvCxnSpPr>
        <p:spPr>
          <a:xfrm flipV="1">
            <a:off x="3421663" y="671474"/>
            <a:ext cx="0" cy="2882834"/>
          </a:xfrm>
          <a:prstGeom prst="line">
            <a:avLst/>
          </a:prstGeom>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5D989311-BCBA-E78B-5FC9-7707E80A4015}"/>
              </a:ext>
            </a:extLst>
          </p:cNvPr>
          <p:cNvSpPr txBox="1"/>
          <p:nvPr/>
        </p:nvSpPr>
        <p:spPr>
          <a:xfrm>
            <a:off x="89808" y="671473"/>
            <a:ext cx="824713" cy="461665"/>
          </a:xfrm>
          <a:prstGeom prst="rect">
            <a:avLst/>
          </a:prstGeom>
          <a:noFill/>
        </p:spPr>
        <p:txBody>
          <a:bodyPr wrap="none" rtlCol="0">
            <a:spAutoFit/>
          </a:bodyPr>
          <a:lstStyle/>
          <a:p>
            <a:r>
              <a:rPr lang="en-US" sz="1200" b="1"/>
              <a:t>Definition</a:t>
            </a:r>
          </a:p>
          <a:p>
            <a:endParaRPr lang="en-US" sz="1200"/>
          </a:p>
        </p:txBody>
      </p:sp>
      <p:sp>
        <p:nvSpPr>
          <p:cNvPr id="27" name="TextBox 26">
            <a:extLst>
              <a:ext uri="{FF2B5EF4-FFF2-40B4-BE49-F238E27FC236}">
                <a16:creationId xmlns:a16="http://schemas.microsoft.com/office/drawing/2014/main" id="{35646444-A68D-2591-81E4-285B1A39FDD0}"/>
              </a:ext>
            </a:extLst>
          </p:cNvPr>
          <p:cNvSpPr txBox="1"/>
          <p:nvPr/>
        </p:nvSpPr>
        <p:spPr>
          <a:xfrm>
            <a:off x="5613859" y="639087"/>
            <a:ext cx="1112228" cy="276999"/>
          </a:xfrm>
          <a:prstGeom prst="rect">
            <a:avLst/>
          </a:prstGeom>
          <a:noFill/>
        </p:spPr>
        <p:txBody>
          <a:bodyPr wrap="none" rtlCol="0">
            <a:spAutoFit/>
          </a:bodyPr>
          <a:lstStyle/>
          <a:p>
            <a:r>
              <a:rPr lang="en-US" sz="1200" b="1"/>
              <a:t>Characteristics</a:t>
            </a:r>
            <a:endParaRPr lang="en-GB" sz="1200" b="1"/>
          </a:p>
        </p:txBody>
      </p:sp>
      <p:sp>
        <p:nvSpPr>
          <p:cNvPr id="28" name="TextBox 27">
            <a:extLst>
              <a:ext uri="{FF2B5EF4-FFF2-40B4-BE49-F238E27FC236}">
                <a16:creationId xmlns:a16="http://schemas.microsoft.com/office/drawing/2014/main" id="{FBF41190-D9F8-E3A6-2BD3-C8900850B8DE}"/>
              </a:ext>
            </a:extLst>
          </p:cNvPr>
          <p:cNvSpPr txBox="1"/>
          <p:nvPr/>
        </p:nvSpPr>
        <p:spPr>
          <a:xfrm>
            <a:off x="104955" y="1929481"/>
            <a:ext cx="788164" cy="276999"/>
          </a:xfrm>
          <a:prstGeom prst="rect">
            <a:avLst/>
          </a:prstGeom>
          <a:noFill/>
        </p:spPr>
        <p:txBody>
          <a:bodyPr wrap="none" rtlCol="0">
            <a:spAutoFit/>
          </a:bodyPr>
          <a:lstStyle/>
          <a:p>
            <a:r>
              <a:rPr lang="en-US" sz="1200" b="1"/>
              <a:t>Examples</a:t>
            </a:r>
            <a:endParaRPr lang="en-GB" sz="1200" b="1"/>
          </a:p>
        </p:txBody>
      </p:sp>
      <p:sp>
        <p:nvSpPr>
          <p:cNvPr id="29" name="TextBox 28">
            <a:extLst>
              <a:ext uri="{FF2B5EF4-FFF2-40B4-BE49-F238E27FC236}">
                <a16:creationId xmlns:a16="http://schemas.microsoft.com/office/drawing/2014/main" id="{8742B492-95E6-38FE-8781-4022DC13C70D}"/>
              </a:ext>
            </a:extLst>
          </p:cNvPr>
          <p:cNvSpPr txBox="1"/>
          <p:nvPr/>
        </p:nvSpPr>
        <p:spPr>
          <a:xfrm>
            <a:off x="5542372" y="1905100"/>
            <a:ext cx="1172885" cy="276999"/>
          </a:xfrm>
          <a:prstGeom prst="rect">
            <a:avLst/>
          </a:prstGeom>
          <a:noFill/>
        </p:spPr>
        <p:txBody>
          <a:bodyPr wrap="none" rtlCol="0">
            <a:spAutoFit/>
          </a:bodyPr>
          <a:lstStyle/>
          <a:p>
            <a:r>
              <a:rPr lang="en-US" sz="1200" b="1"/>
              <a:t>Non - Examples</a:t>
            </a:r>
            <a:endParaRPr lang="en-GB" sz="1200" b="1"/>
          </a:p>
        </p:txBody>
      </p:sp>
      <p:sp>
        <p:nvSpPr>
          <p:cNvPr id="30" name="TextBox 29">
            <a:extLst>
              <a:ext uri="{FF2B5EF4-FFF2-40B4-BE49-F238E27FC236}">
                <a16:creationId xmlns:a16="http://schemas.microsoft.com/office/drawing/2014/main" id="{8F67D5E3-7AF8-496D-D20D-0547DE232868}"/>
              </a:ext>
            </a:extLst>
          </p:cNvPr>
          <p:cNvSpPr txBox="1"/>
          <p:nvPr/>
        </p:nvSpPr>
        <p:spPr>
          <a:xfrm>
            <a:off x="202108" y="1063386"/>
            <a:ext cx="3230335" cy="646331"/>
          </a:xfrm>
          <a:prstGeom prst="rect">
            <a:avLst/>
          </a:prstGeom>
          <a:noFill/>
        </p:spPr>
        <p:txBody>
          <a:bodyPr wrap="square" rtlCol="0">
            <a:spAutoFit/>
          </a:bodyPr>
          <a:lstStyle/>
          <a:p>
            <a:r>
              <a:rPr lang="en-GB" sz="1200">
                <a:solidFill>
                  <a:srgbClr val="040C28"/>
                </a:solidFill>
                <a:latin typeface="Google Sans"/>
              </a:rPr>
              <a:t>A</a:t>
            </a:r>
            <a:r>
              <a:rPr lang="en-GB" sz="1200" b="0" i="0">
                <a:solidFill>
                  <a:srgbClr val="040C28"/>
                </a:solidFill>
                <a:effectLst/>
                <a:latin typeface="Google Sans"/>
              </a:rPr>
              <a:t> mathematical operation in which the difference between two numbers or quantities is calculated</a:t>
            </a:r>
            <a:r>
              <a:rPr lang="en-GB" sz="1200" b="0" i="0">
                <a:solidFill>
                  <a:srgbClr val="202124"/>
                </a:solidFill>
                <a:effectLst/>
                <a:latin typeface="Google Sans"/>
              </a:rPr>
              <a:t>. </a:t>
            </a:r>
            <a:endParaRPr lang="en-US" sz="1200"/>
          </a:p>
        </p:txBody>
      </p:sp>
      <p:sp>
        <p:nvSpPr>
          <p:cNvPr id="31" name="TextBox 30">
            <a:extLst>
              <a:ext uri="{FF2B5EF4-FFF2-40B4-BE49-F238E27FC236}">
                <a16:creationId xmlns:a16="http://schemas.microsoft.com/office/drawing/2014/main" id="{92DE8EF5-0771-EB85-9494-B2A37CCFD959}"/>
              </a:ext>
            </a:extLst>
          </p:cNvPr>
          <p:cNvSpPr txBox="1"/>
          <p:nvPr/>
        </p:nvSpPr>
        <p:spPr>
          <a:xfrm>
            <a:off x="3486690" y="824307"/>
            <a:ext cx="3230335" cy="1015663"/>
          </a:xfrm>
          <a:prstGeom prst="rect">
            <a:avLst/>
          </a:prstGeom>
          <a:noFill/>
        </p:spPr>
        <p:txBody>
          <a:bodyPr wrap="square" rtlCol="0">
            <a:spAutoFit/>
          </a:bodyPr>
          <a:lstStyle/>
          <a:p>
            <a:r>
              <a:rPr lang="en-GB" sz="1200" dirty="0"/>
              <a:t>•</a:t>
            </a:r>
            <a:r>
              <a:rPr lang="en-GB" sz="1200" dirty="0">
                <a:solidFill>
                  <a:srgbClr val="FF0000"/>
                </a:solidFill>
              </a:rPr>
              <a:t> </a:t>
            </a:r>
            <a:r>
              <a:rPr lang="en-GB" sz="1200" dirty="0"/>
              <a:t>Can involve positive or negative integers, fractions, decimals, percentages or algebraic terms. </a:t>
            </a:r>
          </a:p>
          <a:p>
            <a:pPr marL="171450" indent="-171450">
              <a:buFont typeface="Arial" panose="020B0604020202020204" pitchFamily="34" charset="0"/>
              <a:buChar char="•"/>
            </a:pPr>
            <a:r>
              <a:rPr lang="en-GB" sz="1200" dirty="0"/>
              <a:t>Linked words include minus, difference, less than</a:t>
            </a:r>
            <a:r>
              <a:rPr lang="en-GB" sz="1200"/>
              <a:t>, reduce.</a:t>
            </a:r>
            <a:endParaRPr lang="en-GB" sz="1200" dirty="0"/>
          </a:p>
        </p:txBody>
      </p:sp>
      <p:sp>
        <p:nvSpPr>
          <p:cNvPr id="32" name="TextBox 31">
            <a:extLst>
              <a:ext uri="{FF2B5EF4-FFF2-40B4-BE49-F238E27FC236}">
                <a16:creationId xmlns:a16="http://schemas.microsoft.com/office/drawing/2014/main" id="{FD36186C-66BD-1542-98D0-A6F3828B625C}"/>
              </a:ext>
            </a:extLst>
          </p:cNvPr>
          <p:cNvSpPr txBox="1"/>
          <p:nvPr/>
        </p:nvSpPr>
        <p:spPr>
          <a:xfrm>
            <a:off x="2807126" y="1749930"/>
            <a:ext cx="1163011" cy="369332"/>
          </a:xfrm>
          <a:prstGeom prst="rect">
            <a:avLst/>
          </a:prstGeom>
          <a:solidFill>
            <a:schemeClr val="bg1"/>
          </a:solidFill>
          <a:ln>
            <a:solidFill>
              <a:schemeClr val="tx1"/>
            </a:solidFill>
          </a:ln>
        </p:spPr>
        <p:txBody>
          <a:bodyPr wrap="none" rtlCol="0">
            <a:spAutoFit/>
          </a:bodyPr>
          <a:lstStyle/>
          <a:p>
            <a:r>
              <a:rPr lang="en-GB"/>
              <a:t>SUBTRACT</a:t>
            </a:r>
          </a:p>
        </p:txBody>
      </p:sp>
      <p:sp>
        <p:nvSpPr>
          <p:cNvPr id="33" name="TextBox 32">
            <a:extLst>
              <a:ext uri="{FF2B5EF4-FFF2-40B4-BE49-F238E27FC236}">
                <a16:creationId xmlns:a16="http://schemas.microsoft.com/office/drawing/2014/main" id="{ED493A13-540C-0CF5-E31D-51E81F51A5E9}"/>
              </a:ext>
            </a:extLst>
          </p:cNvPr>
          <p:cNvSpPr txBox="1"/>
          <p:nvPr/>
        </p:nvSpPr>
        <p:spPr>
          <a:xfrm>
            <a:off x="180549" y="2281437"/>
            <a:ext cx="3230335" cy="276999"/>
          </a:xfrm>
          <a:prstGeom prst="rect">
            <a:avLst/>
          </a:prstGeom>
          <a:noFill/>
        </p:spPr>
        <p:txBody>
          <a:bodyPr wrap="square" rtlCol="0">
            <a:spAutoFit/>
          </a:bodyPr>
          <a:lstStyle/>
          <a:p>
            <a:r>
              <a:rPr lang="en-US" sz="1200"/>
              <a:t>.</a:t>
            </a:r>
          </a:p>
        </p:txBody>
      </p:sp>
      <p:graphicFrame>
        <p:nvGraphicFramePr>
          <p:cNvPr id="52" name="Table 51">
            <a:extLst>
              <a:ext uri="{FF2B5EF4-FFF2-40B4-BE49-F238E27FC236}">
                <a16:creationId xmlns:a16="http://schemas.microsoft.com/office/drawing/2014/main" id="{623CE4A1-6AD8-940D-0718-6613507C2127}"/>
              </a:ext>
            </a:extLst>
          </p:cNvPr>
          <p:cNvGraphicFramePr>
            <a:graphicFrameLocks noGrp="1"/>
          </p:cNvGraphicFramePr>
          <p:nvPr>
            <p:extLst>
              <p:ext uri="{D42A27DB-BD31-4B8C-83A1-F6EECF244321}">
                <p14:modId xmlns:p14="http://schemas.microsoft.com/office/powerpoint/2010/main" val="1213718369"/>
              </p:ext>
            </p:extLst>
          </p:nvPr>
        </p:nvGraphicFramePr>
        <p:xfrm>
          <a:off x="72052" y="3704367"/>
          <a:ext cx="6699214" cy="3150643"/>
        </p:xfrm>
        <a:graphic>
          <a:graphicData uri="http://schemas.openxmlformats.org/drawingml/2006/table">
            <a:tbl>
              <a:tblPr firstRow="1" bandRow="1">
                <a:tableStyleId>{5C22544A-7EE6-4342-B048-85BDC9FD1C3A}</a:tableStyleId>
              </a:tblPr>
              <a:tblGrid>
                <a:gridCol w="1007363">
                  <a:extLst>
                    <a:ext uri="{9D8B030D-6E8A-4147-A177-3AD203B41FA5}">
                      <a16:colId xmlns:a16="http://schemas.microsoft.com/office/drawing/2014/main" val="1568142362"/>
                    </a:ext>
                  </a:extLst>
                </a:gridCol>
                <a:gridCol w="1782253">
                  <a:extLst>
                    <a:ext uri="{9D8B030D-6E8A-4147-A177-3AD203B41FA5}">
                      <a16:colId xmlns:a16="http://schemas.microsoft.com/office/drawing/2014/main" val="3551711160"/>
                    </a:ext>
                  </a:extLst>
                </a:gridCol>
                <a:gridCol w="1954799">
                  <a:extLst>
                    <a:ext uri="{9D8B030D-6E8A-4147-A177-3AD203B41FA5}">
                      <a16:colId xmlns:a16="http://schemas.microsoft.com/office/drawing/2014/main" val="1712497518"/>
                    </a:ext>
                  </a:extLst>
                </a:gridCol>
                <a:gridCol w="1954799">
                  <a:extLst>
                    <a:ext uri="{9D8B030D-6E8A-4147-A177-3AD203B41FA5}">
                      <a16:colId xmlns:a16="http://schemas.microsoft.com/office/drawing/2014/main" val="886122921"/>
                    </a:ext>
                  </a:extLst>
                </a:gridCol>
              </a:tblGrid>
              <a:tr h="396336">
                <a:tc grid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For the following questions, use this number line to help you place the numbers in ascending order</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771934154"/>
                  </a:ext>
                </a:extLst>
              </a:tr>
              <a:tr h="362055">
                <a:tc>
                  <a:txBody>
                    <a:bodyPr/>
                    <a:lstStyle/>
                    <a:p>
                      <a:r>
                        <a:rPr lang="en-US" sz="1100" b="1" dirty="0">
                          <a:solidFill>
                            <a:schemeClr val="tx1"/>
                          </a:solidFill>
                        </a:rPr>
                        <a:t>Steps</a:t>
                      </a:r>
                      <a:endParaRPr lang="en-GB"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83 – 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96 – 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45 – 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100">
                          <a:solidFill>
                            <a:schemeClr val="tx1"/>
                          </a:solidFill>
                        </a:rPr>
                        <a:t>1) Write the numbers in columns, ensuring that they are lined up correctly.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chemeClr val="tx1"/>
                        </a:solidFill>
                      </a:endParaRPr>
                    </a:p>
                    <a:p>
                      <a:r>
                        <a:rPr lang="en-US" sz="1100" baseline="0" dirty="0">
                          <a:solidFill>
                            <a:schemeClr val="tx1"/>
                          </a:solidFill>
                        </a:rPr>
                        <a:t>                </a:t>
                      </a:r>
                      <a:endParaRPr lang="en-US" sz="11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chemeClr val="tx1"/>
                        </a:solidFill>
                      </a:endParaRPr>
                    </a:p>
                    <a:p>
                      <a:pPr algn="ctr"/>
                      <a:endParaRPr lang="en-US" sz="24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aseline="0" dirty="0">
                        <a:solidFill>
                          <a:srgbClr val="FF0000"/>
                        </a:solidFill>
                      </a:endParaRPr>
                    </a:p>
                    <a:p>
                      <a:pPr algn="ctr"/>
                      <a:endParaRPr lang="en-US" sz="28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65694">
                <a:tc>
                  <a:txBody>
                    <a:bodyPr/>
                    <a:lstStyle/>
                    <a:p>
                      <a:r>
                        <a:rPr lang="en-GB" sz="1100" dirty="0">
                          <a:solidFill>
                            <a:schemeClr val="tx1"/>
                          </a:solidFill>
                        </a:rPr>
                        <a:t>2) Starting from the ones column, complete subtraction.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53" name="TextBox 52">
            <a:extLst>
              <a:ext uri="{FF2B5EF4-FFF2-40B4-BE49-F238E27FC236}">
                <a16:creationId xmlns:a16="http://schemas.microsoft.com/office/drawing/2014/main" id="{503967FC-C8A5-343A-E89E-88149D1B1B8C}"/>
              </a:ext>
            </a:extLst>
          </p:cNvPr>
          <p:cNvSpPr txBox="1"/>
          <p:nvPr/>
        </p:nvSpPr>
        <p:spPr>
          <a:xfrm>
            <a:off x="1256788" y="3806380"/>
            <a:ext cx="1410704" cy="276999"/>
          </a:xfrm>
          <a:prstGeom prst="rect">
            <a:avLst/>
          </a:prstGeom>
          <a:noFill/>
          <a:ln>
            <a:noFill/>
          </a:ln>
        </p:spPr>
        <p:txBody>
          <a:bodyPr wrap="square" rtlCol="0">
            <a:spAutoFit/>
          </a:bodyPr>
          <a:lstStyle/>
          <a:p>
            <a:r>
              <a:rPr lang="en-GB" sz="1200" b="1" i="1">
                <a:solidFill>
                  <a:srgbClr val="FF0000"/>
                </a:solidFill>
              </a:rPr>
              <a:t>Example 13 - I do…</a:t>
            </a:r>
          </a:p>
        </p:txBody>
      </p:sp>
      <p:sp>
        <p:nvSpPr>
          <p:cNvPr id="54" name="TextBox 53">
            <a:extLst>
              <a:ext uri="{FF2B5EF4-FFF2-40B4-BE49-F238E27FC236}">
                <a16:creationId xmlns:a16="http://schemas.microsoft.com/office/drawing/2014/main" id="{9C73088A-8FF0-E968-4A86-89488D0C7224}"/>
              </a:ext>
            </a:extLst>
          </p:cNvPr>
          <p:cNvSpPr txBox="1"/>
          <p:nvPr/>
        </p:nvSpPr>
        <p:spPr>
          <a:xfrm>
            <a:off x="5031393" y="3808213"/>
            <a:ext cx="1643405" cy="276999"/>
          </a:xfrm>
          <a:prstGeom prst="rect">
            <a:avLst/>
          </a:prstGeom>
          <a:noFill/>
          <a:ln>
            <a:noFill/>
          </a:ln>
        </p:spPr>
        <p:txBody>
          <a:bodyPr wrap="square" rtlCol="0">
            <a:spAutoFit/>
          </a:bodyPr>
          <a:lstStyle/>
          <a:p>
            <a:r>
              <a:rPr lang="en-GB" sz="1200" b="1" i="1">
                <a:solidFill>
                  <a:srgbClr val="00B050"/>
                </a:solidFill>
              </a:rPr>
              <a:t>Example 15 – You do…</a:t>
            </a:r>
          </a:p>
        </p:txBody>
      </p:sp>
      <p:sp>
        <p:nvSpPr>
          <p:cNvPr id="55" name="TextBox 54">
            <a:extLst>
              <a:ext uri="{FF2B5EF4-FFF2-40B4-BE49-F238E27FC236}">
                <a16:creationId xmlns:a16="http://schemas.microsoft.com/office/drawing/2014/main" id="{959D6F01-9ACA-09B8-3933-F0FBF9F0A130}"/>
              </a:ext>
            </a:extLst>
          </p:cNvPr>
          <p:cNvSpPr txBox="1"/>
          <p:nvPr/>
        </p:nvSpPr>
        <p:spPr>
          <a:xfrm>
            <a:off x="3093149" y="3803321"/>
            <a:ext cx="1643405" cy="276999"/>
          </a:xfrm>
          <a:prstGeom prst="rect">
            <a:avLst/>
          </a:prstGeom>
          <a:noFill/>
          <a:ln>
            <a:noFill/>
          </a:ln>
        </p:spPr>
        <p:txBody>
          <a:bodyPr wrap="square" rtlCol="0">
            <a:spAutoFit/>
          </a:bodyPr>
          <a:lstStyle/>
          <a:p>
            <a:r>
              <a:rPr lang="en-GB" sz="1200" b="1" i="1">
                <a:solidFill>
                  <a:schemeClr val="accent2"/>
                </a:solidFill>
              </a:rPr>
              <a:t>Example 14 – We do…</a:t>
            </a:r>
          </a:p>
        </p:txBody>
      </p:sp>
      <p:sp>
        <p:nvSpPr>
          <p:cNvPr id="56" name="Rectangle 55">
            <a:extLst>
              <a:ext uri="{FF2B5EF4-FFF2-40B4-BE49-F238E27FC236}">
                <a16:creationId xmlns:a16="http://schemas.microsoft.com/office/drawing/2014/main" id="{C3A6FC16-72A3-60CF-042B-9DEB93A35192}"/>
              </a:ext>
            </a:extLst>
          </p:cNvPr>
          <p:cNvSpPr/>
          <p:nvPr/>
        </p:nvSpPr>
        <p:spPr>
          <a:xfrm>
            <a:off x="0" y="29326"/>
            <a:ext cx="6014442"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Subtraction</a:t>
            </a:r>
            <a:endParaRPr lang="en-GB" sz="1200">
              <a:solidFill>
                <a:schemeClr val="bg1"/>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BE389FF-DAE7-6F96-75C7-708A33183366}"/>
                  </a:ext>
                </a:extLst>
              </p:cNvPr>
              <p:cNvSpPr txBox="1"/>
              <p:nvPr/>
            </p:nvSpPr>
            <p:spPr>
              <a:xfrm>
                <a:off x="154755" y="2196473"/>
                <a:ext cx="3230335" cy="1366336"/>
              </a:xfrm>
              <a:prstGeom prst="rect">
                <a:avLst/>
              </a:prstGeom>
              <a:noFill/>
            </p:spPr>
            <p:txBody>
              <a:bodyPr wrap="square" rtlCol="0">
                <a:spAutoFit/>
              </a:bodyPr>
              <a:lstStyle/>
              <a:p>
                <a:r>
                  <a:rPr lang="en-GB" sz="1200"/>
                  <a:t>5 – 2 = 3</a:t>
                </a:r>
              </a:p>
              <a:p>
                <a:r>
                  <a:rPr lang="en-GB" sz="1200"/>
                  <a:t>2 – 5 = -3</a:t>
                </a:r>
              </a:p>
              <a:p>
                <a:r>
                  <a:rPr lang="en-GB" sz="1200"/>
                  <a:t>-3 – 2 = -5</a:t>
                </a:r>
              </a:p>
              <a:p>
                <a:pPr/>
                <a14:m>
                  <m:oMathPara xmlns:m="http://schemas.openxmlformats.org/officeDocument/2006/math">
                    <m:oMathParaPr>
                      <m:jc m:val="left"/>
                    </m:oMathParaPr>
                    <m:oMath xmlns:m="http://schemas.openxmlformats.org/officeDocument/2006/math">
                      <m:f>
                        <m:fPr>
                          <m:ctrlPr>
                            <a:rPr lang="en-US" sz="1200" i="1" smtClean="0">
                              <a:latin typeface="Cambria Math" panose="02040503050406030204" pitchFamily="18" charset="0"/>
                            </a:rPr>
                          </m:ctrlPr>
                        </m:fPr>
                        <m:num>
                          <m:r>
                            <a:rPr lang="en-GB" sz="1200" b="0" i="1" smtClean="0">
                              <a:latin typeface="Cambria Math" panose="02040503050406030204" pitchFamily="18" charset="0"/>
                            </a:rPr>
                            <m:t>5</m:t>
                          </m:r>
                        </m:num>
                        <m:den>
                          <m:r>
                            <a:rPr lang="en-GB" sz="1200" b="0" i="1" smtClean="0">
                              <a:latin typeface="Cambria Math" panose="02040503050406030204" pitchFamily="18" charset="0"/>
                            </a:rPr>
                            <m:t>6</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2</m:t>
                          </m:r>
                        </m:num>
                        <m:den>
                          <m:r>
                            <a:rPr lang="en-GB" sz="1200" b="0" i="1" smtClean="0">
                              <a:latin typeface="Cambria Math" panose="02040503050406030204" pitchFamily="18" charset="0"/>
                            </a:rPr>
                            <m:t>6</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3</m:t>
                          </m:r>
                        </m:num>
                        <m:den>
                          <m:r>
                            <a:rPr lang="en-GB" sz="1200" b="0" i="1" smtClean="0">
                              <a:latin typeface="Cambria Math" panose="02040503050406030204" pitchFamily="18" charset="0"/>
                            </a:rPr>
                            <m:t>6</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2</m:t>
                          </m:r>
                        </m:den>
                      </m:f>
                    </m:oMath>
                  </m:oMathPara>
                </a14:m>
                <a:endParaRPr lang="en-GB" sz="1200" b="0"/>
              </a:p>
              <a:p>
                <a:r>
                  <a:rPr lang="en-US" sz="1200"/>
                  <a:t>0.5 – 0.3 = 0.2</a:t>
                </a:r>
              </a:p>
              <a:p>
                <a:r>
                  <a:rPr lang="en-US" sz="1200"/>
                  <a:t>5a – 2a = 3a </a:t>
                </a:r>
              </a:p>
            </p:txBody>
          </p:sp>
        </mc:Choice>
        <mc:Fallback xmlns="">
          <p:sp>
            <p:nvSpPr>
              <p:cNvPr id="5" name="TextBox 4">
                <a:extLst>
                  <a:ext uri="{FF2B5EF4-FFF2-40B4-BE49-F238E27FC236}">
                    <a16:creationId xmlns:a16="http://schemas.microsoft.com/office/drawing/2014/main" id="{8BE389FF-DAE7-6F96-75C7-708A33183366}"/>
                  </a:ext>
                </a:extLst>
              </p:cNvPr>
              <p:cNvSpPr txBox="1">
                <a:spLocks noRot="1" noChangeAspect="1" noMove="1" noResize="1" noEditPoints="1" noAdjustHandles="1" noChangeArrowheads="1" noChangeShapeType="1" noTextEdit="1"/>
              </p:cNvSpPr>
              <p:nvPr/>
            </p:nvSpPr>
            <p:spPr>
              <a:xfrm>
                <a:off x="154755" y="2196473"/>
                <a:ext cx="3230335" cy="1366336"/>
              </a:xfrm>
              <a:prstGeom prst="rect">
                <a:avLst/>
              </a:prstGeom>
              <a:blipFill>
                <a:blip r:embed="rId3"/>
                <a:stretch>
                  <a:fillRect b="-26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E3863FB-8D89-287D-60FA-784F0286F6A5}"/>
                  </a:ext>
                </a:extLst>
              </p:cNvPr>
              <p:cNvSpPr txBox="1"/>
              <p:nvPr/>
            </p:nvSpPr>
            <p:spPr>
              <a:xfrm>
                <a:off x="3483844" y="2125059"/>
                <a:ext cx="4800600" cy="830997"/>
              </a:xfrm>
              <a:prstGeom prst="rect">
                <a:avLst/>
              </a:prstGeom>
              <a:noFill/>
            </p:spPr>
            <p:txBody>
              <a:bodyPr wrap="square">
                <a:spAutoFit/>
              </a:bodyPr>
              <a:lstStyle/>
              <a:p>
                <a:r>
                  <a:rPr lang="en-GB" sz="1200"/>
                  <a:t>3 + 2 = 5</a:t>
                </a:r>
              </a:p>
              <a:p>
                <a:r>
                  <a:rPr lang="en-GB" sz="1200"/>
                  <a:t>3 x 2 = 6</a:t>
                </a:r>
              </a:p>
              <a:p>
                <a:pPr/>
                <a14:m>
                  <m:oMathPara xmlns:m="http://schemas.openxmlformats.org/officeDocument/2006/math">
                    <m:oMathParaPr>
                      <m:jc m:val="left"/>
                    </m:oMathParaPr>
                    <m:oMath xmlns:m="http://schemas.openxmlformats.org/officeDocument/2006/math">
                      <m:r>
                        <a:rPr lang="en-GB" sz="1200" b="0" i="0" smtClean="0">
                          <a:latin typeface="Cambria Math" panose="02040503050406030204" pitchFamily="18" charset="0"/>
                          <a:ea typeface="Cambria Math" panose="02040503050406030204" pitchFamily="18" charset="0"/>
                        </a:rPr>
                        <m:t>8</m:t>
                      </m:r>
                      <m:r>
                        <a:rPr lang="en-GB" sz="120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2=4</m:t>
                      </m:r>
                    </m:oMath>
                  </m:oMathPara>
                </a14:m>
                <a:endParaRPr lang="en-GB" sz="1200"/>
              </a:p>
              <a:p>
                <a:endParaRPr lang="en-GB" sz="1200"/>
              </a:p>
            </p:txBody>
          </p:sp>
        </mc:Choice>
        <mc:Fallback xmlns="">
          <p:sp>
            <p:nvSpPr>
              <p:cNvPr id="8" name="TextBox 7">
                <a:extLst>
                  <a:ext uri="{FF2B5EF4-FFF2-40B4-BE49-F238E27FC236}">
                    <a16:creationId xmlns:a16="http://schemas.microsoft.com/office/drawing/2014/main" id="{0E3863FB-8D89-287D-60FA-784F0286F6A5}"/>
                  </a:ext>
                </a:extLst>
              </p:cNvPr>
              <p:cNvSpPr txBox="1">
                <a:spLocks noRot="1" noChangeAspect="1" noMove="1" noResize="1" noEditPoints="1" noAdjustHandles="1" noChangeArrowheads="1" noChangeShapeType="1" noTextEdit="1"/>
              </p:cNvSpPr>
              <p:nvPr/>
            </p:nvSpPr>
            <p:spPr>
              <a:xfrm>
                <a:off x="3483844" y="2125059"/>
                <a:ext cx="4800600" cy="830997"/>
              </a:xfrm>
              <a:prstGeom prst="rect">
                <a:avLst/>
              </a:prstGeom>
              <a:blipFill>
                <a:blip r:embed="rId4"/>
                <a:stretch>
                  <a:fillRect t="-735"/>
                </a:stretch>
              </a:blipFill>
            </p:spPr>
            <p:txBody>
              <a:bodyPr/>
              <a:lstStyle/>
              <a:p>
                <a:r>
                  <a:rPr lang="en-US">
                    <a:noFill/>
                  </a:rPr>
                  <a:t> </a:t>
                </a:r>
              </a:p>
            </p:txBody>
          </p:sp>
        </mc:Fallback>
      </mc:AlternateContent>
      <p:pic>
        <p:nvPicPr>
          <p:cNvPr id="3" name="Picture 28" descr="A picture containing chart">
            <a:extLst>
              <a:ext uri="{FF2B5EF4-FFF2-40B4-BE49-F238E27FC236}">
                <a16:creationId xmlns:a16="http://schemas.microsoft.com/office/drawing/2014/main" id="{8462FCA5-3D9D-6EF9-1FC7-0046B010C6B5}"/>
              </a:ext>
            </a:extLst>
          </p:cNvPr>
          <p:cNvPicPr>
            <a:picLocks noChangeAspect="1"/>
          </p:cNvPicPr>
          <p:nvPr/>
        </p:nvPicPr>
        <p:blipFill rotWithShape="1">
          <a:blip r:embed="rId5"/>
          <a:srcRect t="46807" b="-1"/>
          <a:stretch/>
        </p:blipFill>
        <p:spPr>
          <a:xfrm>
            <a:off x="264091" y="6996568"/>
            <a:ext cx="6200865" cy="2714610"/>
          </a:xfrm>
          <a:prstGeom prst="rect">
            <a:avLst/>
          </a:prstGeom>
        </p:spPr>
      </p:pic>
    </p:spTree>
    <p:extLst>
      <p:ext uri="{BB962C8B-B14F-4D97-AF65-F5344CB8AC3E}">
        <p14:creationId xmlns:p14="http://schemas.microsoft.com/office/powerpoint/2010/main" val="12677436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57813" y="9580120"/>
            <a:ext cx="1543050" cy="527403"/>
          </a:xfrm>
        </p:spPr>
        <p:txBody>
          <a:bodyPr/>
          <a:lstStyle/>
          <a:p>
            <a:fld id="{19F1D9CC-7119-45EC-A96C-D8C0660F3AAB}" type="slidenum">
              <a:rPr lang="en-GB" smtClean="0"/>
              <a:t>48</a:t>
            </a:fld>
            <a:endParaRPr lang="en-GB"/>
          </a:p>
        </p:txBody>
      </p:sp>
      <p:graphicFrame>
        <p:nvGraphicFramePr>
          <p:cNvPr id="2" name="Table 1">
            <a:extLst>
              <a:ext uri="{FF2B5EF4-FFF2-40B4-BE49-F238E27FC236}">
                <a16:creationId xmlns:a16="http://schemas.microsoft.com/office/drawing/2014/main" id="{421859EE-1D5E-C914-7298-18DBB54F8984}"/>
              </a:ext>
            </a:extLst>
          </p:cNvPr>
          <p:cNvGraphicFramePr>
            <a:graphicFrameLocks noGrp="1"/>
          </p:cNvGraphicFramePr>
          <p:nvPr>
            <p:extLst>
              <p:ext uri="{D42A27DB-BD31-4B8C-83A1-F6EECF244321}">
                <p14:modId xmlns:p14="http://schemas.microsoft.com/office/powerpoint/2010/main" val="4035838426"/>
              </p:ext>
            </p:extLst>
          </p:nvPr>
        </p:nvGraphicFramePr>
        <p:xfrm>
          <a:off x="159068" y="376853"/>
          <a:ext cx="6572478" cy="2826950"/>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i="0" kern="1200">
                          <a:solidFill>
                            <a:schemeClr val="dk1"/>
                          </a:solidFill>
                          <a:effectLst/>
                          <a:latin typeface="+mn-lt"/>
                          <a:ea typeface="+mn-ea"/>
                          <a:cs typeface="+mn-cs"/>
                        </a:rPr>
                        <a:t>5183 – 52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dirty="0">
                          <a:solidFill>
                            <a:schemeClr val="tx1"/>
                          </a:solidFill>
                        </a:rPr>
                        <a:t>4782 – 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dirty="0">
                          <a:solidFill>
                            <a:schemeClr val="tx1"/>
                          </a:solidFill>
                        </a:rPr>
                        <a:t>3494 - 23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100">
                          <a:solidFill>
                            <a:schemeClr val="tx1"/>
                          </a:solidFill>
                        </a:rPr>
                        <a:t>1) Write the numbers in columns, ensuring that they are lined up correctly.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chemeClr val="tx1"/>
                        </a:solidFill>
                      </a:endParaRPr>
                    </a:p>
                    <a:p>
                      <a:r>
                        <a:rPr lang="en-US" sz="1100" baseline="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chemeClr val="tx1"/>
                        </a:solidFill>
                      </a:endParaRPr>
                    </a:p>
                    <a:p>
                      <a:pPr algn="ctr"/>
                      <a:endParaRPr lang="en-US" sz="12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dirty="0">
                        <a:solidFill>
                          <a:schemeClr val="tx1"/>
                        </a:solidFill>
                      </a:endParaRPr>
                    </a:p>
                    <a:p>
                      <a:pPr algn="ctr"/>
                      <a:endParaRPr lang="en-US" sz="12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65694">
                <a:tc>
                  <a:txBody>
                    <a:bodyPr/>
                    <a:lstStyle/>
                    <a:p>
                      <a:r>
                        <a:rPr lang="en-GB" sz="1100" dirty="0">
                          <a:solidFill>
                            <a:schemeClr val="tx1"/>
                          </a:solidFill>
                        </a:rPr>
                        <a:t>2) Starting from the ones column, complete subtraction.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3" name="TextBox 2">
            <a:extLst>
              <a:ext uri="{FF2B5EF4-FFF2-40B4-BE49-F238E27FC236}">
                <a16:creationId xmlns:a16="http://schemas.microsoft.com/office/drawing/2014/main" id="{921C4FDE-D3ED-01CB-8AE1-5EA806BE8809}"/>
              </a:ext>
            </a:extLst>
          </p:cNvPr>
          <p:cNvSpPr txBox="1"/>
          <p:nvPr/>
        </p:nvSpPr>
        <p:spPr>
          <a:xfrm>
            <a:off x="1219267" y="99854"/>
            <a:ext cx="1410704" cy="276999"/>
          </a:xfrm>
          <a:prstGeom prst="rect">
            <a:avLst/>
          </a:prstGeom>
          <a:noFill/>
          <a:ln>
            <a:noFill/>
          </a:ln>
        </p:spPr>
        <p:txBody>
          <a:bodyPr wrap="square" rtlCol="0">
            <a:spAutoFit/>
          </a:bodyPr>
          <a:lstStyle/>
          <a:p>
            <a:r>
              <a:rPr lang="en-GB" sz="1200" b="1" i="1" dirty="0">
                <a:solidFill>
                  <a:srgbClr val="FF0000"/>
                </a:solidFill>
              </a:rPr>
              <a:t>Example 16 - I do…</a:t>
            </a:r>
          </a:p>
        </p:txBody>
      </p:sp>
      <p:sp>
        <p:nvSpPr>
          <p:cNvPr id="8" name="TextBox 7">
            <a:extLst>
              <a:ext uri="{FF2B5EF4-FFF2-40B4-BE49-F238E27FC236}">
                <a16:creationId xmlns:a16="http://schemas.microsoft.com/office/drawing/2014/main" id="{79D1296C-8666-2741-6293-FBCB61ADCA66}"/>
              </a:ext>
            </a:extLst>
          </p:cNvPr>
          <p:cNvSpPr txBox="1"/>
          <p:nvPr/>
        </p:nvSpPr>
        <p:spPr>
          <a:xfrm>
            <a:off x="4902722" y="93033"/>
            <a:ext cx="1643405" cy="276999"/>
          </a:xfrm>
          <a:prstGeom prst="rect">
            <a:avLst/>
          </a:prstGeom>
          <a:noFill/>
          <a:ln>
            <a:noFill/>
          </a:ln>
        </p:spPr>
        <p:txBody>
          <a:bodyPr wrap="square" rtlCol="0">
            <a:spAutoFit/>
          </a:bodyPr>
          <a:lstStyle/>
          <a:p>
            <a:r>
              <a:rPr lang="en-GB" sz="1200" b="1" i="1">
                <a:solidFill>
                  <a:srgbClr val="00B050"/>
                </a:solidFill>
              </a:rPr>
              <a:t>Example 18 – You do…</a:t>
            </a:r>
          </a:p>
        </p:txBody>
      </p:sp>
      <p:sp>
        <p:nvSpPr>
          <p:cNvPr id="9" name="TextBox 8">
            <a:extLst>
              <a:ext uri="{FF2B5EF4-FFF2-40B4-BE49-F238E27FC236}">
                <a16:creationId xmlns:a16="http://schemas.microsoft.com/office/drawing/2014/main" id="{ECA71EC7-A1B1-473C-3297-C13292CC5508}"/>
              </a:ext>
            </a:extLst>
          </p:cNvPr>
          <p:cNvSpPr txBox="1"/>
          <p:nvPr/>
        </p:nvSpPr>
        <p:spPr>
          <a:xfrm>
            <a:off x="2944644" y="80460"/>
            <a:ext cx="1643405" cy="276999"/>
          </a:xfrm>
          <a:prstGeom prst="rect">
            <a:avLst/>
          </a:prstGeom>
          <a:noFill/>
          <a:ln>
            <a:noFill/>
          </a:ln>
        </p:spPr>
        <p:txBody>
          <a:bodyPr wrap="square" rtlCol="0">
            <a:spAutoFit/>
          </a:bodyPr>
          <a:lstStyle/>
          <a:p>
            <a:r>
              <a:rPr lang="en-GB" sz="1200" b="1" i="1">
                <a:solidFill>
                  <a:schemeClr val="accent2"/>
                </a:solidFill>
              </a:rPr>
              <a:t>Example 17 – We do…</a:t>
            </a:r>
          </a:p>
        </p:txBody>
      </p:sp>
      <p:sp>
        <p:nvSpPr>
          <p:cNvPr id="15" name="Rectangle 14">
            <a:extLst>
              <a:ext uri="{FF2B5EF4-FFF2-40B4-BE49-F238E27FC236}">
                <a16:creationId xmlns:a16="http://schemas.microsoft.com/office/drawing/2014/main" id="{BB3279DA-9B48-9CA2-B20D-987460153031}"/>
              </a:ext>
            </a:extLst>
          </p:cNvPr>
          <p:cNvSpPr/>
          <p:nvPr/>
        </p:nvSpPr>
        <p:spPr>
          <a:xfrm>
            <a:off x="164101" y="3266782"/>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844868932"/>
              </p:ext>
            </p:extLst>
          </p:nvPr>
        </p:nvGraphicFramePr>
        <p:xfrm>
          <a:off x="159068" y="3664483"/>
          <a:ext cx="6572478" cy="4421616"/>
        </p:xfrm>
        <a:graphic>
          <a:graphicData uri="http://schemas.openxmlformats.org/drawingml/2006/table">
            <a:tbl>
              <a:tblPr firstRow="1" bandRow="1">
                <a:tableStyleId>{5C22544A-7EE6-4342-B048-85BDC9FD1C3A}</a:tableStyleId>
              </a:tblPr>
              <a:tblGrid>
                <a:gridCol w="2190826">
                  <a:extLst>
                    <a:ext uri="{9D8B030D-6E8A-4147-A177-3AD203B41FA5}">
                      <a16:colId xmlns:a16="http://schemas.microsoft.com/office/drawing/2014/main" val="3632647821"/>
                    </a:ext>
                  </a:extLst>
                </a:gridCol>
                <a:gridCol w="2190826">
                  <a:extLst>
                    <a:ext uri="{9D8B030D-6E8A-4147-A177-3AD203B41FA5}">
                      <a16:colId xmlns:a16="http://schemas.microsoft.com/office/drawing/2014/main" val="1519449280"/>
                    </a:ext>
                  </a:extLst>
                </a:gridCol>
                <a:gridCol w="2190826">
                  <a:extLst>
                    <a:ext uri="{9D8B030D-6E8A-4147-A177-3AD203B41FA5}">
                      <a16:colId xmlns:a16="http://schemas.microsoft.com/office/drawing/2014/main" val="2021873984"/>
                    </a:ext>
                  </a:extLst>
                </a:gridCol>
              </a:tblGrid>
              <a:tr h="396336">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9. For the following questions, use the column method to work out the subtraction problems: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64007671"/>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dirty="0">
                          <a:solidFill>
                            <a:schemeClr val="tx1"/>
                          </a:solidFill>
                          <a:latin typeface="+mn-lt"/>
                        </a:rPr>
                        <a:t>a) 79 – 22</a:t>
                      </a:r>
                    </a:p>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b) 89 – 22 </a:t>
                      </a: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dirty="0">
                          <a:solidFill>
                            <a:schemeClr val="tx1"/>
                          </a:solidFill>
                          <a:latin typeface="+mn-lt"/>
                        </a:rPr>
                        <a:t>c) 89 – 11 </a:t>
                      </a:r>
                    </a:p>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6664857"/>
                  </a:ext>
                </a:extLst>
              </a:tr>
              <a:tr h="468000">
                <a:tc>
                  <a:txBody>
                    <a:bodyPr/>
                    <a:lstStyle/>
                    <a:p>
                      <a:endParaRPr lang="en-US" sz="1100" baseline="0" dirty="0">
                        <a:solidFill>
                          <a:schemeClr val="tx1"/>
                        </a:solidFill>
                        <a:latin typeface="+mn-lt"/>
                      </a:endParaRPr>
                    </a:p>
                    <a:p>
                      <a:endParaRPr lang="en-US" sz="1100" b="1" baseline="0" dirty="0">
                        <a:solidFill>
                          <a:srgbClr val="FF0000"/>
                        </a:solidFill>
                        <a:latin typeface="+mn-lt"/>
                      </a:endParaRPr>
                    </a:p>
                    <a:p>
                      <a:endParaRPr lang="en-US" sz="1100" baseline="0" dirty="0">
                        <a:solidFill>
                          <a:schemeClr val="tx1"/>
                        </a:solidFill>
                        <a:latin typeface="+mn-lt"/>
                      </a:endParaRPr>
                    </a:p>
                    <a:p>
                      <a:endParaRPr lang="en-US" sz="1100" baseline="0" dirty="0">
                        <a:solidFill>
                          <a:schemeClr val="tx1"/>
                        </a:solidFill>
                        <a:latin typeface="+mn-lt"/>
                      </a:endParaRPr>
                    </a:p>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7699537"/>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d) 89 – 17 </a:t>
                      </a: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e) 19 – 17 </a:t>
                      </a: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f) 99 – 17 </a:t>
                      </a: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2126533"/>
                  </a:ext>
                </a:extLst>
              </a:tr>
              <a:tr h="468000">
                <a:tc>
                  <a:txBody>
                    <a:bodyPr/>
                    <a:lstStyle/>
                    <a:p>
                      <a:endParaRPr lang="en-US" sz="1100" b="1" baseline="0" dirty="0">
                        <a:solidFill>
                          <a:srgbClr val="FF0000"/>
                        </a:solidFill>
                        <a:latin typeface="+mn-lt"/>
                      </a:endParaRPr>
                    </a:p>
                    <a:p>
                      <a:endParaRPr lang="en-US" sz="1100" b="1" baseline="0" dirty="0">
                        <a:solidFill>
                          <a:srgbClr val="FF0000"/>
                        </a:solidFill>
                        <a:latin typeface="+mn-lt"/>
                      </a:endParaRPr>
                    </a:p>
                    <a:p>
                      <a:endParaRPr lang="en-US" sz="1100" b="1" baseline="0" dirty="0">
                        <a:solidFill>
                          <a:srgbClr val="FF0000"/>
                        </a:solidFill>
                        <a:latin typeface="+mn-lt"/>
                      </a:endParaRPr>
                    </a:p>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1" baseline="0" dirty="0">
                        <a:solidFill>
                          <a:srgbClr val="FF0000"/>
                        </a:solidFill>
                        <a:latin typeface="+mn-lt"/>
                      </a:endParaRPr>
                    </a:p>
                    <a:p>
                      <a:endParaRPr lang="en-US" sz="1100" b="1" baseline="0" dirty="0">
                        <a:solidFill>
                          <a:srgbClr val="FF0000"/>
                        </a:solidFill>
                        <a:latin typeface="+mn-lt"/>
                      </a:endParaRPr>
                    </a:p>
                    <a:p>
                      <a:endParaRPr lang="en-US" sz="1100" b="1" baseline="0" dirty="0">
                        <a:solidFill>
                          <a:srgbClr val="FF0000"/>
                        </a:solidFill>
                        <a:latin typeface="+mn-lt"/>
                      </a:endParaRPr>
                    </a:p>
                    <a:p>
                      <a:endParaRPr lang="en-US" sz="1100" b="1" baseline="0" dirty="0">
                        <a:solidFill>
                          <a:srgbClr val="FF0000"/>
                        </a:solidFill>
                        <a:latin typeface="+mn-lt"/>
                      </a:endParaRPr>
                    </a:p>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5738095"/>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g) 197 – 12</a:t>
                      </a: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h) 297 – 12 </a:t>
                      </a: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err="1">
                          <a:solidFill>
                            <a:schemeClr val="tx1"/>
                          </a:solidFill>
                          <a:latin typeface="+mn-lt"/>
                        </a:rPr>
                        <a:t>i</a:t>
                      </a:r>
                      <a:r>
                        <a:rPr lang="en-US" sz="1100" baseline="0">
                          <a:solidFill>
                            <a:schemeClr val="tx1"/>
                          </a:solidFill>
                          <a:latin typeface="+mn-lt"/>
                        </a:rPr>
                        <a:t>) 297 – 61</a:t>
                      </a: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1597428"/>
                  </a:ext>
                </a:extLst>
              </a:tr>
              <a:tr h="468000">
                <a:tc>
                  <a:txBody>
                    <a:bodyPr/>
                    <a:lstStyle/>
                    <a:p>
                      <a:endParaRPr lang="en-US" sz="1100" b="1" baseline="0" dirty="0">
                        <a:solidFill>
                          <a:srgbClr val="FF0000"/>
                        </a:solidFill>
                        <a:latin typeface="+mn-lt"/>
                      </a:endParaRPr>
                    </a:p>
                    <a:p>
                      <a:endParaRPr lang="en-US" sz="1100" b="1" baseline="0" dirty="0">
                        <a:solidFill>
                          <a:srgbClr val="FF0000"/>
                        </a:solidFill>
                        <a:latin typeface="+mn-lt"/>
                      </a:endParaRPr>
                    </a:p>
                    <a:p>
                      <a:endParaRPr lang="en-US" sz="1100" b="1" baseline="0" dirty="0">
                        <a:solidFill>
                          <a:srgbClr val="FF0000"/>
                        </a:solidFill>
                        <a:latin typeface="+mn-lt"/>
                      </a:endParaRPr>
                    </a:p>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1" baseline="0" dirty="0">
                        <a:solidFill>
                          <a:srgbClr val="FF0000"/>
                        </a:solidFill>
                        <a:latin typeface="+mn-lt"/>
                      </a:endParaRPr>
                    </a:p>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1" baseline="0" dirty="0">
                        <a:solidFill>
                          <a:srgbClr val="FF0000"/>
                        </a:solidFill>
                        <a:latin typeface="+mn-lt"/>
                      </a:endParaRPr>
                    </a:p>
                    <a:p>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0549009"/>
                  </a:ext>
                </a:extLst>
              </a:tr>
            </a:tbl>
          </a:graphicData>
        </a:graphic>
      </p:graphicFrame>
      <p:pic>
        <p:nvPicPr>
          <p:cNvPr id="5" name="Picture 28" descr="A picture containing chart">
            <a:extLst>
              <a:ext uri="{FF2B5EF4-FFF2-40B4-BE49-F238E27FC236}">
                <a16:creationId xmlns:a16="http://schemas.microsoft.com/office/drawing/2014/main" id="{312D778B-7A5F-2E42-F280-1627A0DCCA68}"/>
              </a:ext>
            </a:extLst>
          </p:cNvPr>
          <p:cNvPicPr>
            <a:picLocks noChangeAspect="1"/>
          </p:cNvPicPr>
          <p:nvPr/>
        </p:nvPicPr>
        <p:blipFill rotWithShape="1">
          <a:blip r:embed="rId3"/>
          <a:srcRect l="152" t="76582" r="-152" b="-155"/>
          <a:stretch/>
        </p:blipFill>
        <p:spPr>
          <a:xfrm>
            <a:off x="136435" y="8310987"/>
            <a:ext cx="6585129" cy="1277513"/>
          </a:xfrm>
          <a:prstGeom prst="rect">
            <a:avLst/>
          </a:prstGeom>
        </p:spPr>
      </p:pic>
    </p:spTree>
    <p:extLst>
      <p:ext uri="{BB962C8B-B14F-4D97-AF65-F5344CB8AC3E}">
        <p14:creationId xmlns:p14="http://schemas.microsoft.com/office/powerpoint/2010/main" val="30656783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14950" y="9378597"/>
            <a:ext cx="1543050" cy="527403"/>
          </a:xfrm>
        </p:spPr>
        <p:txBody>
          <a:bodyPr/>
          <a:lstStyle/>
          <a:p>
            <a:fld id="{19F1D9CC-7119-45EC-A96C-D8C0660F3AAB}" type="slidenum">
              <a:rPr lang="en-GB" smtClean="0"/>
              <a:t>49</a:t>
            </a:fld>
            <a:endParaRPr lang="en-GB"/>
          </a:p>
        </p:txBody>
      </p:sp>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1085008769"/>
              </p:ext>
            </p:extLst>
          </p:nvPr>
        </p:nvGraphicFramePr>
        <p:xfrm>
          <a:off x="142760" y="195941"/>
          <a:ext cx="6585129" cy="7485020"/>
        </p:xfrm>
        <a:graphic>
          <a:graphicData uri="http://schemas.openxmlformats.org/drawingml/2006/table">
            <a:tbl>
              <a:tblPr firstRow="1" bandRow="1">
                <a:tableStyleId>{5C22544A-7EE6-4342-B048-85BDC9FD1C3A}</a:tableStyleId>
              </a:tblPr>
              <a:tblGrid>
                <a:gridCol w="2195043">
                  <a:extLst>
                    <a:ext uri="{9D8B030D-6E8A-4147-A177-3AD203B41FA5}">
                      <a16:colId xmlns:a16="http://schemas.microsoft.com/office/drawing/2014/main" val="3632647821"/>
                    </a:ext>
                  </a:extLst>
                </a:gridCol>
                <a:gridCol w="2195043">
                  <a:extLst>
                    <a:ext uri="{9D8B030D-6E8A-4147-A177-3AD203B41FA5}">
                      <a16:colId xmlns:a16="http://schemas.microsoft.com/office/drawing/2014/main" val="63703613"/>
                    </a:ext>
                  </a:extLst>
                </a:gridCol>
                <a:gridCol w="2195043">
                  <a:extLst>
                    <a:ext uri="{9D8B030D-6E8A-4147-A177-3AD203B41FA5}">
                      <a16:colId xmlns:a16="http://schemas.microsoft.com/office/drawing/2014/main" val="3534306915"/>
                    </a:ext>
                  </a:extLst>
                </a:gridCol>
              </a:tblGrid>
              <a:tr h="36918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j) 298 – 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k) 298 – 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l) 497 – 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2978"/>
                  </a:ext>
                </a:extLst>
              </a:tr>
              <a:tr h="1512424">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6053078"/>
                  </a:ext>
                </a:extLst>
              </a:tr>
              <a:tr h="36243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m) 785 – 512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n) 859 – 132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o) 557 – 319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9878384"/>
                  </a:ext>
                </a:extLst>
              </a:tr>
              <a:tr h="1512424">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48265970"/>
                  </a:ext>
                </a:extLst>
              </a:tr>
              <a:tr h="36243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p) 946 – 230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q) 4854 – 1132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r) 4871 – 1540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176666"/>
                  </a:ext>
                </a:extLst>
              </a:tr>
              <a:tr h="1512424">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9609196"/>
                  </a:ext>
                </a:extLst>
              </a:tr>
              <a:tr h="34127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s) 5792 – 4431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t) 4781 – 1650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u) 48832 – 14501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37092917"/>
                  </a:ext>
                </a:extLst>
              </a:tr>
              <a:tr h="1512424">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4188326"/>
                  </a:ext>
                </a:extLst>
              </a:tr>
            </a:tbl>
          </a:graphicData>
        </a:graphic>
      </p:graphicFrame>
      <p:pic>
        <p:nvPicPr>
          <p:cNvPr id="2" name="Picture 28" descr="A picture containing chart">
            <a:extLst>
              <a:ext uri="{FF2B5EF4-FFF2-40B4-BE49-F238E27FC236}">
                <a16:creationId xmlns:a16="http://schemas.microsoft.com/office/drawing/2014/main" id="{1DF4766D-2CF0-9A8D-2370-B75D1AC95732}"/>
              </a:ext>
            </a:extLst>
          </p:cNvPr>
          <p:cNvPicPr>
            <a:picLocks noChangeAspect="1"/>
          </p:cNvPicPr>
          <p:nvPr/>
        </p:nvPicPr>
        <p:blipFill rotWithShape="1">
          <a:blip r:embed="rId3"/>
          <a:srcRect l="152" t="65679" r="-152" b="-155"/>
          <a:stretch/>
        </p:blipFill>
        <p:spPr>
          <a:xfrm>
            <a:off x="130110" y="7869381"/>
            <a:ext cx="6585129" cy="1679931"/>
          </a:xfrm>
          <a:prstGeom prst="rect">
            <a:avLst/>
          </a:prstGeom>
        </p:spPr>
      </p:pic>
    </p:spTree>
    <p:extLst>
      <p:ext uri="{BB962C8B-B14F-4D97-AF65-F5344CB8AC3E}">
        <p14:creationId xmlns:p14="http://schemas.microsoft.com/office/powerpoint/2010/main" val="28711428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292999" y="9356242"/>
            <a:ext cx="1543050" cy="527403"/>
          </a:xfrm>
        </p:spPr>
        <p:txBody>
          <a:bodyPr/>
          <a:lstStyle/>
          <a:p>
            <a:fld id="{19F1D9CC-7119-45EC-A96C-D8C0660F3AAB}" type="slidenum">
              <a:rPr lang="en-GB" smtClean="0"/>
              <a:t>50</a:t>
            </a:fld>
            <a:endParaRPr lang="en-GB"/>
          </a:p>
        </p:txBody>
      </p:sp>
      <p:graphicFrame>
        <p:nvGraphicFramePr>
          <p:cNvPr id="2" name="Table 1">
            <a:extLst>
              <a:ext uri="{FF2B5EF4-FFF2-40B4-BE49-F238E27FC236}">
                <a16:creationId xmlns:a16="http://schemas.microsoft.com/office/drawing/2014/main" id="{421859EE-1D5E-C914-7298-18DBB54F8984}"/>
              </a:ext>
            </a:extLst>
          </p:cNvPr>
          <p:cNvGraphicFramePr>
            <a:graphicFrameLocks noGrp="1"/>
          </p:cNvGraphicFramePr>
          <p:nvPr>
            <p:extLst>
              <p:ext uri="{D42A27DB-BD31-4B8C-83A1-F6EECF244321}">
                <p14:modId xmlns:p14="http://schemas.microsoft.com/office/powerpoint/2010/main" val="3103050968"/>
              </p:ext>
            </p:extLst>
          </p:nvPr>
        </p:nvGraphicFramePr>
        <p:xfrm>
          <a:off x="159068" y="475735"/>
          <a:ext cx="6572478" cy="3474950"/>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i="0" kern="1200">
                          <a:solidFill>
                            <a:schemeClr val="dk1"/>
                          </a:solidFill>
                          <a:effectLst/>
                          <a:latin typeface="+mn-lt"/>
                          <a:ea typeface="+mn-ea"/>
                          <a:cs typeface="+mn-cs"/>
                        </a:rPr>
                        <a:t>94 - 36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62 - 28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dirty="0">
                          <a:solidFill>
                            <a:schemeClr val="tx1"/>
                          </a:solidFill>
                        </a:rPr>
                        <a:t>53 - 39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100" dirty="0">
                          <a:solidFill>
                            <a:schemeClr val="tx1"/>
                          </a:solidFill>
                        </a:rPr>
                        <a:t>1) Write the numbers in columns, ensuring that they are lined up correctly.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0" baseline="0" dirty="0">
                        <a:solidFill>
                          <a:schemeClr val="tx1"/>
                        </a:solidFill>
                      </a:endParaRPr>
                    </a:p>
                    <a:p>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dirty="0">
                        <a:solidFill>
                          <a:schemeClr val="tx1"/>
                        </a:solidFill>
                      </a:endParaRPr>
                    </a:p>
                    <a:p>
                      <a:pPr algn="ctr"/>
                      <a:endParaRPr lang="en-US" sz="28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endParaRPr lang="en-US" sz="1100" baseline="0" dirty="0">
                        <a:solidFill>
                          <a:schemeClr val="tx1"/>
                        </a:solidFill>
                      </a:endParaRPr>
                    </a:p>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65694">
                <a:tc>
                  <a:txBody>
                    <a:bodyPr/>
                    <a:lstStyle/>
                    <a:p>
                      <a:r>
                        <a:rPr lang="en-GB" sz="1100">
                          <a:solidFill>
                            <a:schemeClr val="tx1"/>
                          </a:solidFill>
                        </a:rPr>
                        <a:t>2) Starting from the ones column, complete subtraction.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648000">
                <a:tc>
                  <a:txBody>
                    <a:bodyPr/>
                    <a:lstStyle/>
                    <a:p>
                      <a:r>
                        <a:rPr lang="en-GB" sz="1100" dirty="0">
                          <a:solidFill>
                            <a:schemeClr val="tx1"/>
                          </a:solidFill>
                        </a:rPr>
                        <a:t>3) Exchange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9984546"/>
                  </a:ext>
                </a:extLst>
              </a:tr>
            </a:tbl>
          </a:graphicData>
        </a:graphic>
      </p:graphicFrame>
      <p:sp>
        <p:nvSpPr>
          <p:cNvPr id="3" name="TextBox 2">
            <a:extLst>
              <a:ext uri="{FF2B5EF4-FFF2-40B4-BE49-F238E27FC236}">
                <a16:creationId xmlns:a16="http://schemas.microsoft.com/office/drawing/2014/main" id="{921C4FDE-D3ED-01CB-8AE1-5EA806BE8809}"/>
              </a:ext>
            </a:extLst>
          </p:cNvPr>
          <p:cNvSpPr txBox="1"/>
          <p:nvPr/>
        </p:nvSpPr>
        <p:spPr>
          <a:xfrm>
            <a:off x="1136171" y="205557"/>
            <a:ext cx="1410704" cy="276999"/>
          </a:xfrm>
          <a:prstGeom prst="rect">
            <a:avLst/>
          </a:prstGeom>
          <a:noFill/>
          <a:ln>
            <a:noFill/>
          </a:ln>
        </p:spPr>
        <p:txBody>
          <a:bodyPr wrap="square" rtlCol="0">
            <a:spAutoFit/>
          </a:bodyPr>
          <a:lstStyle/>
          <a:p>
            <a:r>
              <a:rPr lang="en-GB" sz="1200" b="1" i="1" dirty="0">
                <a:solidFill>
                  <a:srgbClr val="FF0000"/>
                </a:solidFill>
              </a:rPr>
              <a:t>Example 19 - I do…</a:t>
            </a:r>
          </a:p>
        </p:txBody>
      </p:sp>
      <p:sp>
        <p:nvSpPr>
          <p:cNvPr id="8" name="TextBox 7">
            <a:extLst>
              <a:ext uri="{FF2B5EF4-FFF2-40B4-BE49-F238E27FC236}">
                <a16:creationId xmlns:a16="http://schemas.microsoft.com/office/drawing/2014/main" id="{79D1296C-8666-2741-6293-FBCB61ADCA66}"/>
              </a:ext>
            </a:extLst>
          </p:cNvPr>
          <p:cNvSpPr txBox="1"/>
          <p:nvPr/>
        </p:nvSpPr>
        <p:spPr>
          <a:xfrm>
            <a:off x="5055527" y="198736"/>
            <a:ext cx="1643405" cy="276999"/>
          </a:xfrm>
          <a:prstGeom prst="rect">
            <a:avLst/>
          </a:prstGeom>
          <a:noFill/>
          <a:ln>
            <a:noFill/>
          </a:ln>
        </p:spPr>
        <p:txBody>
          <a:bodyPr wrap="square" rtlCol="0">
            <a:spAutoFit/>
          </a:bodyPr>
          <a:lstStyle/>
          <a:p>
            <a:r>
              <a:rPr lang="en-GB" sz="1200" b="1" i="1">
                <a:solidFill>
                  <a:srgbClr val="00B050"/>
                </a:solidFill>
              </a:rPr>
              <a:t>Example 21 – You do…</a:t>
            </a:r>
          </a:p>
        </p:txBody>
      </p:sp>
      <p:sp>
        <p:nvSpPr>
          <p:cNvPr id="9" name="TextBox 8">
            <a:extLst>
              <a:ext uri="{FF2B5EF4-FFF2-40B4-BE49-F238E27FC236}">
                <a16:creationId xmlns:a16="http://schemas.microsoft.com/office/drawing/2014/main" id="{ECA71EC7-A1B1-473C-3297-C13292CC5508}"/>
              </a:ext>
            </a:extLst>
          </p:cNvPr>
          <p:cNvSpPr txBox="1"/>
          <p:nvPr/>
        </p:nvSpPr>
        <p:spPr>
          <a:xfrm>
            <a:off x="3097449" y="186163"/>
            <a:ext cx="1643405" cy="276999"/>
          </a:xfrm>
          <a:prstGeom prst="rect">
            <a:avLst/>
          </a:prstGeom>
          <a:noFill/>
          <a:ln>
            <a:noFill/>
          </a:ln>
        </p:spPr>
        <p:txBody>
          <a:bodyPr wrap="square" rtlCol="0">
            <a:spAutoFit/>
          </a:bodyPr>
          <a:lstStyle/>
          <a:p>
            <a:r>
              <a:rPr lang="en-GB" sz="1200" b="1" i="1" dirty="0">
                <a:solidFill>
                  <a:schemeClr val="accent2"/>
                </a:solidFill>
              </a:rPr>
              <a:t>Example 20 – We do…</a:t>
            </a:r>
          </a:p>
        </p:txBody>
      </p:sp>
      <p:graphicFrame>
        <p:nvGraphicFramePr>
          <p:cNvPr id="19" name="Table 18">
            <a:extLst>
              <a:ext uri="{FF2B5EF4-FFF2-40B4-BE49-F238E27FC236}">
                <a16:creationId xmlns:a16="http://schemas.microsoft.com/office/drawing/2014/main" id="{F94F5F6D-7804-8A2C-A65E-D3BBD7247C47}"/>
              </a:ext>
            </a:extLst>
          </p:cNvPr>
          <p:cNvGraphicFramePr>
            <a:graphicFrameLocks noGrp="1"/>
          </p:cNvGraphicFramePr>
          <p:nvPr>
            <p:extLst>
              <p:ext uri="{D42A27DB-BD31-4B8C-83A1-F6EECF244321}">
                <p14:modId xmlns:p14="http://schemas.microsoft.com/office/powerpoint/2010/main" val="3618150041"/>
              </p:ext>
            </p:extLst>
          </p:nvPr>
        </p:nvGraphicFramePr>
        <p:xfrm>
          <a:off x="126454" y="4259651"/>
          <a:ext cx="6572478" cy="3474950"/>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i="0" kern="1200" dirty="0">
                          <a:solidFill>
                            <a:schemeClr val="dk1"/>
                          </a:solidFill>
                          <a:effectLst/>
                          <a:latin typeface="+mn-lt"/>
                          <a:ea typeface="+mn-ea"/>
                          <a:cs typeface="+mn-cs"/>
                        </a:rPr>
                        <a:t>3417 - 58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6423 - 49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dirty="0">
                          <a:solidFill>
                            <a:schemeClr val="tx1"/>
                          </a:solidFill>
                        </a:rPr>
                        <a:t>7342 - 95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100">
                          <a:solidFill>
                            <a:schemeClr val="tx1"/>
                          </a:solidFill>
                        </a:rPr>
                        <a:t>1) Write the numbers in columns, ensuring that they are lined up correctly.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2000" baseline="0" dirty="0">
                        <a:solidFill>
                          <a:schemeClr val="tx1"/>
                        </a:solidFill>
                      </a:endParaRPr>
                    </a:p>
                    <a:p>
                      <a:r>
                        <a:rPr lang="en-US" sz="2000" baseline="0" dirty="0">
                          <a:solidFill>
                            <a:schemeClr val="tx1"/>
                          </a:solidFill>
                        </a:rPr>
                        <a:t>      </a:t>
                      </a:r>
                      <a:endParaRPr lang="en-US" sz="20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endParaRPr lang="en-US" sz="1100" baseline="0" dirty="0">
                        <a:solidFill>
                          <a:schemeClr val="tx1"/>
                        </a:solidFill>
                      </a:endParaRPr>
                    </a:p>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endParaRPr lang="en-US" sz="1100" baseline="0" dirty="0">
                        <a:solidFill>
                          <a:schemeClr val="tx1"/>
                        </a:solidFill>
                      </a:endParaRPr>
                    </a:p>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65694">
                <a:tc>
                  <a:txBody>
                    <a:bodyPr/>
                    <a:lstStyle/>
                    <a:p>
                      <a:r>
                        <a:rPr lang="en-GB" sz="1100">
                          <a:solidFill>
                            <a:schemeClr val="tx1"/>
                          </a:solidFill>
                        </a:rPr>
                        <a:t>2) Starting from the ones column, complete subtraction.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648000">
                <a:tc>
                  <a:txBody>
                    <a:bodyPr/>
                    <a:lstStyle/>
                    <a:p>
                      <a:r>
                        <a:rPr lang="en-GB" sz="1100" dirty="0">
                          <a:solidFill>
                            <a:schemeClr val="tx1"/>
                          </a:solidFill>
                        </a:rPr>
                        <a:t>3) Exchange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9984546"/>
                  </a:ext>
                </a:extLst>
              </a:tr>
            </a:tbl>
          </a:graphicData>
        </a:graphic>
      </p:graphicFrame>
      <p:sp>
        <p:nvSpPr>
          <p:cNvPr id="20" name="TextBox 19">
            <a:extLst>
              <a:ext uri="{FF2B5EF4-FFF2-40B4-BE49-F238E27FC236}">
                <a16:creationId xmlns:a16="http://schemas.microsoft.com/office/drawing/2014/main" id="{FCE9CFC5-3CDD-06B4-E19F-D8AC914D8216}"/>
              </a:ext>
            </a:extLst>
          </p:cNvPr>
          <p:cNvSpPr txBox="1"/>
          <p:nvPr/>
        </p:nvSpPr>
        <p:spPr>
          <a:xfrm>
            <a:off x="1103557" y="3982652"/>
            <a:ext cx="1410704" cy="276999"/>
          </a:xfrm>
          <a:prstGeom prst="rect">
            <a:avLst/>
          </a:prstGeom>
          <a:noFill/>
          <a:ln>
            <a:noFill/>
          </a:ln>
        </p:spPr>
        <p:txBody>
          <a:bodyPr wrap="square" rtlCol="0">
            <a:spAutoFit/>
          </a:bodyPr>
          <a:lstStyle/>
          <a:p>
            <a:r>
              <a:rPr lang="en-GB" sz="1200" b="1" i="1">
                <a:solidFill>
                  <a:srgbClr val="FF0000"/>
                </a:solidFill>
              </a:rPr>
              <a:t>Example 22 - I do…</a:t>
            </a:r>
          </a:p>
        </p:txBody>
      </p:sp>
      <p:sp>
        <p:nvSpPr>
          <p:cNvPr id="21" name="TextBox 20">
            <a:extLst>
              <a:ext uri="{FF2B5EF4-FFF2-40B4-BE49-F238E27FC236}">
                <a16:creationId xmlns:a16="http://schemas.microsoft.com/office/drawing/2014/main" id="{61DF5685-BDAA-C807-8B15-5277965DD91F}"/>
              </a:ext>
            </a:extLst>
          </p:cNvPr>
          <p:cNvSpPr txBox="1"/>
          <p:nvPr/>
        </p:nvSpPr>
        <p:spPr>
          <a:xfrm>
            <a:off x="5022913" y="3975831"/>
            <a:ext cx="1643405" cy="276999"/>
          </a:xfrm>
          <a:prstGeom prst="rect">
            <a:avLst/>
          </a:prstGeom>
          <a:noFill/>
          <a:ln>
            <a:noFill/>
          </a:ln>
        </p:spPr>
        <p:txBody>
          <a:bodyPr wrap="square" rtlCol="0">
            <a:spAutoFit/>
          </a:bodyPr>
          <a:lstStyle/>
          <a:p>
            <a:r>
              <a:rPr lang="en-GB" sz="1200" b="1" i="1">
                <a:solidFill>
                  <a:srgbClr val="00B050"/>
                </a:solidFill>
              </a:rPr>
              <a:t>Example 24 – You do…</a:t>
            </a:r>
          </a:p>
        </p:txBody>
      </p:sp>
      <p:sp>
        <p:nvSpPr>
          <p:cNvPr id="22" name="TextBox 21">
            <a:extLst>
              <a:ext uri="{FF2B5EF4-FFF2-40B4-BE49-F238E27FC236}">
                <a16:creationId xmlns:a16="http://schemas.microsoft.com/office/drawing/2014/main" id="{9C352657-AFD2-D318-8D59-A55EC81B4976}"/>
              </a:ext>
            </a:extLst>
          </p:cNvPr>
          <p:cNvSpPr txBox="1"/>
          <p:nvPr/>
        </p:nvSpPr>
        <p:spPr>
          <a:xfrm>
            <a:off x="3064835" y="3963258"/>
            <a:ext cx="1643405" cy="276999"/>
          </a:xfrm>
          <a:prstGeom prst="rect">
            <a:avLst/>
          </a:prstGeom>
          <a:noFill/>
          <a:ln>
            <a:noFill/>
          </a:ln>
        </p:spPr>
        <p:txBody>
          <a:bodyPr wrap="square" rtlCol="0">
            <a:spAutoFit/>
          </a:bodyPr>
          <a:lstStyle/>
          <a:p>
            <a:r>
              <a:rPr lang="en-GB" sz="1200" b="1" i="1">
                <a:solidFill>
                  <a:schemeClr val="accent2"/>
                </a:solidFill>
              </a:rPr>
              <a:t>Example 23 – We do…</a:t>
            </a:r>
          </a:p>
        </p:txBody>
      </p:sp>
      <p:pic>
        <p:nvPicPr>
          <p:cNvPr id="4" name="Picture 28" descr="A picture containing chart">
            <a:extLst>
              <a:ext uri="{FF2B5EF4-FFF2-40B4-BE49-F238E27FC236}">
                <a16:creationId xmlns:a16="http://schemas.microsoft.com/office/drawing/2014/main" id="{CA04DEEC-769A-62C5-161C-69A7CB40589E}"/>
              </a:ext>
            </a:extLst>
          </p:cNvPr>
          <p:cNvPicPr>
            <a:picLocks noChangeAspect="1"/>
          </p:cNvPicPr>
          <p:nvPr/>
        </p:nvPicPr>
        <p:blipFill rotWithShape="1">
          <a:blip r:embed="rId3"/>
          <a:srcRect l="152" t="65679" r="-152" b="5188"/>
          <a:stretch/>
        </p:blipFill>
        <p:spPr>
          <a:xfrm>
            <a:off x="126454" y="7851485"/>
            <a:ext cx="6585129" cy="1578780"/>
          </a:xfrm>
          <a:prstGeom prst="rect">
            <a:avLst/>
          </a:prstGeom>
        </p:spPr>
      </p:pic>
    </p:spTree>
    <p:extLst>
      <p:ext uri="{BB962C8B-B14F-4D97-AF65-F5344CB8AC3E}">
        <p14:creationId xmlns:p14="http://schemas.microsoft.com/office/powerpoint/2010/main" val="31250501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57813" y="9580120"/>
            <a:ext cx="1543050" cy="527403"/>
          </a:xfrm>
        </p:spPr>
        <p:txBody>
          <a:bodyPr/>
          <a:lstStyle/>
          <a:p>
            <a:fld id="{19F1D9CC-7119-45EC-A96C-D8C0660F3AAB}" type="slidenum">
              <a:rPr lang="en-GB" smtClean="0"/>
              <a:t>51</a:t>
            </a:fld>
            <a:endParaRPr lang="en-GB"/>
          </a:p>
        </p:txBody>
      </p:sp>
      <p:sp>
        <p:nvSpPr>
          <p:cNvPr id="15" name="Rectangle 14">
            <a:extLst>
              <a:ext uri="{FF2B5EF4-FFF2-40B4-BE49-F238E27FC236}">
                <a16:creationId xmlns:a16="http://schemas.microsoft.com/office/drawing/2014/main" id="{BB3279DA-9B48-9CA2-B20D-987460153031}"/>
              </a:ext>
            </a:extLst>
          </p:cNvPr>
          <p:cNvSpPr/>
          <p:nvPr/>
        </p:nvSpPr>
        <p:spPr>
          <a:xfrm>
            <a:off x="159068" y="104438"/>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1083801217"/>
              </p:ext>
            </p:extLst>
          </p:nvPr>
        </p:nvGraphicFramePr>
        <p:xfrm>
          <a:off x="124693" y="444891"/>
          <a:ext cx="6574239" cy="9020079"/>
        </p:xfrm>
        <a:graphic>
          <a:graphicData uri="http://schemas.openxmlformats.org/drawingml/2006/table">
            <a:tbl>
              <a:tblPr firstRow="1" bandRow="1">
                <a:tableStyleId>{5C22544A-7EE6-4342-B048-85BDC9FD1C3A}</a:tableStyleId>
              </a:tblPr>
              <a:tblGrid>
                <a:gridCol w="2191413">
                  <a:extLst>
                    <a:ext uri="{9D8B030D-6E8A-4147-A177-3AD203B41FA5}">
                      <a16:colId xmlns:a16="http://schemas.microsoft.com/office/drawing/2014/main" val="3632647821"/>
                    </a:ext>
                  </a:extLst>
                </a:gridCol>
                <a:gridCol w="2191413">
                  <a:extLst>
                    <a:ext uri="{9D8B030D-6E8A-4147-A177-3AD203B41FA5}">
                      <a16:colId xmlns:a16="http://schemas.microsoft.com/office/drawing/2014/main" val="1138827502"/>
                    </a:ext>
                  </a:extLst>
                </a:gridCol>
                <a:gridCol w="2191413">
                  <a:extLst>
                    <a:ext uri="{9D8B030D-6E8A-4147-A177-3AD203B41FA5}">
                      <a16:colId xmlns:a16="http://schemas.microsoft.com/office/drawing/2014/main" val="1418808595"/>
                    </a:ext>
                  </a:extLst>
                </a:gridCol>
              </a:tblGrid>
              <a:tr h="346816">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10. For the following questions, use the column method to work out the subtraction problems: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64007671"/>
                  </a:ext>
                </a:extLst>
              </a:tr>
              <a:tr h="3041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a) 67 – 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b) 78 – 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c) 92 - 38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2978"/>
                  </a:ext>
                </a:extLst>
              </a:tr>
              <a:tr h="1857277">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88829583"/>
                  </a:ext>
                </a:extLst>
              </a:tr>
              <a:tr h="3041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d) 105 – 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e) 123 - 89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f) 150 - 62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4023382"/>
                  </a:ext>
                </a:extLst>
              </a:tr>
              <a:tr h="1857277">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35242807"/>
                  </a:ext>
                </a:extLst>
              </a:tr>
              <a:tr h="33167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g) 156 - 74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h) 187 - 105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err="1">
                          <a:solidFill>
                            <a:schemeClr val="tx1"/>
                          </a:solidFill>
                          <a:latin typeface="+mn-lt"/>
                        </a:rPr>
                        <a:t>i</a:t>
                      </a:r>
                      <a:r>
                        <a:rPr lang="en-US" sz="1200" baseline="0" dirty="0">
                          <a:solidFill>
                            <a:schemeClr val="tx1"/>
                          </a:solidFill>
                          <a:latin typeface="+mn-lt"/>
                        </a:rPr>
                        <a:t>) 267 – 194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1924963"/>
                  </a:ext>
                </a:extLst>
              </a:tr>
              <a:tr h="1857277">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9894713"/>
                  </a:ext>
                </a:extLst>
              </a:tr>
              <a:tr h="3041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j) 312 – 187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k) 398 – 256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l) 1452 - 898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9963981"/>
                  </a:ext>
                </a:extLst>
              </a:tr>
              <a:tr h="1857277">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1" baseline="0" dirty="0">
                        <a:solidFill>
                          <a:srgbClr val="FF0000"/>
                        </a:solidFill>
                        <a:latin typeface="+mn-lt"/>
                      </a:endParaRPr>
                    </a:p>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287784"/>
                  </a:ext>
                </a:extLst>
              </a:tr>
            </a:tbl>
          </a:graphicData>
        </a:graphic>
      </p:graphicFrame>
    </p:spTree>
    <p:extLst>
      <p:ext uri="{BB962C8B-B14F-4D97-AF65-F5344CB8AC3E}">
        <p14:creationId xmlns:p14="http://schemas.microsoft.com/office/powerpoint/2010/main" val="6890788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57813" y="9580120"/>
            <a:ext cx="1543050" cy="527403"/>
          </a:xfrm>
        </p:spPr>
        <p:txBody>
          <a:bodyPr/>
          <a:lstStyle/>
          <a:p>
            <a:fld id="{19F1D9CC-7119-45EC-A96C-D8C0660F3AAB}" type="slidenum">
              <a:rPr lang="en-GB" smtClean="0"/>
              <a:t>52</a:t>
            </a:fld>
            <a:endParaRPr lang="en-GB"/>
          </a:p>
        </p:txBody>
      </p:sp>
      <p:sp>
        <p:nvSpPr>
          <p:cNvPr id="15" name="Rectangle 14">
            <a:extLst>
              <a:ext uri="{FF2B5EF4-FFF2-40B4-BE49-F238E27FC236}">
                <a16:creationId xmlns:a16="http://schemas.microsoft.com/office/drawing/2014/main" id="{BB3279DA-9B48-9CA2-B20D-987460153031}"/>
              </a:ext>
            </a:extLst>
          </p:cNvPr>
          <p:cNvSpPr/>
          <p:nvPr/>
        </p:nvSpPr>
        <p:spPr>
          <a:xfrm>
            <a:off x="164101" y="3435487"/>
            <a:ext cx="2082710" cy="30201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1279512367"/>
              </p:ext>
            </p:extLst>
          </p:nvPr>
        </p:nvGraphicFramePr>
        <p:xfrm>
          <a:off x="164101" y="3786358"/>
          <a:ext cx="6572478" cy="5895360"/>
        </p:xfrm>
        <a:graphic>
          <a:graphicData uri="http://schemas.openxmlformats.org/drawingml/2006/table">
            <a:tbl>
              <a:tblPr firstRow="1" bandRow="1">
                <a:tableStyleId>{5C22544A-7EE6-4342-B048-85BDC9FD1C3A}</a:tableStyleId>
              </a:tblPr>
              <a:tblGrid>
                <a:gridCol w="6572478">
                  <a:extLst>
                    <a:ext uri="{9D8B030D-6E8A-4147-A177-3AD203B41FA5}">
                      <a16:colId xmlns:a16="http://schemas.microsoft.com/office/drawing/2014/main" val="3632647821"/>
                    </a:ext>
                  </a:extLst>
                </a:gridCol>
              </a:tblGrid>
              <a:tr h="468000">
                <a:tc>
                  <a:txBody>
                    <a:bodyPr/>
                    <a:lstStyle/>
                    <a:p>
                      <a:r>
                        <a:rPr lang="en-GB" sz="1200" b="0" dirty="0">
                          <a:solidFill>
                            <a:schemeClr val="tx1"/>
                          </a:solidFill>
                        </a:rPr>
                        <a:t>11. Sarah buys an apple for 41p and a banana for 27p. </a:t>
                      </a:r>
                    </a:p>
                    <a:p>
                      <a:r>
                        <a:rPr lang="en-GB" sz="1200" b="0" dirty="0">
                          <a:solidFill>
                            <a:schemeClr val="tx1"/>
                          </a:solidFill>
                        </a:rPr>
                        <a:t>How much more expensive is an apple than a banana? </a:t>
                      </a:r>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89501847"/>
                  </a:ext>
                </a:extLst>
              </a:tr>
              <a:tr h="468000">
                <a:tc>
                  <a:txBody>
                    <a:bodyPr/>
                    <a:lstStyle/>
                    <a:p>
                      <a:endParaRPr lang="en-US" sz="1200" baseline="0" dirty="0">
                        <a:solidFill>
                          <a:schemeClr val="tx1"/>
                        </a:solidFill>
                        <a:latin typeface="+mn-lt"/>
                      </a:endParaRPr>
                    </a:p>
                    <a:p>
                      <a:endParaRPr lang="en-US" sz="1200" baseline="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4804679"/>
                  </a:ext>
                </a:extLst>
              </a:tr>
              <a:tr h="468000">
                <a:tc>
                  <a:txBody>
                    <a:bodyPr/>
                    <a:lstStyle/>
                    <a:p>
                      <a:r>
                        <a:rPr lang="en-GB" sz="1200" dirty="0"/>
                        <a:t>12. Kelly has 76 marbles and Hannah has 102 marbles. </a:t>
                      </a:r>
                    </a:p>
                    <a:p>
                      <a:r>
                        <a:rPr lang="en-GB" sz="1200" dirty="0"/>
                        <a:t>How many more marble does Hannah have than Kelly?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0371147"/>
                  </a:ext>
                </a:extLst>
              </a:tr>
              <a:tr h="468000">
                <a:tc>
                  <a:txBody>
                    <a:bodyPr/>
                    <a:lstStyle/>
                    <a:p>
                      <a:endParaRPr lang="en-US" sz="1200" baseline="0" dirty="0">
                        <a:solidFill>
                          <a:schemeClr val="tx1"/>
                        </a:solidFill>
                        <a:latin typeface="+mn-lt"/>
                      </a:endParaRPr>
                    </a:p>
                    <a:p>
                      <a:endParaRPr lang="en-US" sz="1200" b="1" baseline="0" dirty="0">
                        <a:solidFill>
                          <a:srgbClr val="FF0000"/>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9289617"/>
                  </a:ext>
                </a:extLst>
              </a:tr>
              <a:tr h="468000">
                <a:tc>
                  <a:txBody>
                    <a:bodyPr/>
                    <a:lstStyle/>
                    <a:p>
                      <a:r>
                        <a:rPr lang="en-GB" sz="1200" dirty="0"/>
                        <a:t>13. At a football match there are 2942 Rovers fans and 9381 City fans.</a:t>
                      </a:r>
                    </a:p>
                    <a:p>
                      <a:r>
                        <a:rPr lang="en-GB" sz="1200" dirty="0"/>
                        <a:t>How many more fans did City have?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5895376"/>
                  </a:ext>
                </a:extLst>
              </a:tr>
              <a:tr h="468000">
                <a:tc>
                  <a:txBody>
                    <a:bodyPr/>
                    <a:lstStyle/>
                    <a:p>
                      <a:endParaRPr lang="en-US" sz="1200" baseline="0" dirty="0">
                        <a:solidFill>
                          <a:schemeClr val="tx1"/>
                        </a:solidFill>
                        <a:latin typeface="+mn-lt"/>
                      </a:endParaRPr>
                    </a:p>
                    <a:p>
                      <a:endParaRPr lang="en-US" sz="1200" baseline="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209200"/>
                  </a:ext>
                </a:extLst>
              </a:tr>
              <a:tr h="468000">
                <a:tc>
                  <a:txBody>
                    <a:bodyPr/>
                    <a:lstStyle/>
                    <a:p>
                      <a:r>
                        <a:rPr lang="en-GB" sz="1200" dirty="0"/>
                        <a:t>14. Theo wants to buy a laptop that costs £425. Theo has saved £267 so far. How much more money does Theo need to save?</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8114210"/>
                  </a:ext>
                </a:extLst>
              </a:tr>
              <a:tr h="468000">
                <a:tc>
                  <a:txBody>
                    <a:bodyPr/>
                    <a:lstStyle/>
                    <a:p>
                      <a:endParaRPr lang="en-US" sz="1200" baseline="0" dirty="0">
                        <a:solidFill>
                          <a:schemeClr val="tx1"/>
                        </a:solidFill>
                        <a:latin typeface="+mn-lt"/>
                      </a:endParaRPr>
                    </a:p>
                    <a:p>
                      <a:endParaRPr lang="en-US" sz="1200" baseline="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2291101"/>
                  </a:ext>
                </a:extLst>
              </a:tr>
            </a:tbl>
          </a:graphicData>
        </a:graphic>
      </p:graphicFrame>
      <p:graphicFrame>
        <p:nvGraphicFramePr>
          <p:cNvPr id="2" name="Table 1">
            <a:extLst>
              <a:ext uri="{FF2B5EF4-FFF2-40B4-BE49-F238E27FC236}">
                <a16:creationId xmlns:a16="http://schemas.microsoft.com/office/drawing/2014/main" id="{27CA179B-8DE4-F118-F9B1-41432CFB0F1C}"/>
              </a:ext>
            </a:extLst>
          </p:cNvPr>
          <p:cNvGraphicFramePr>
            <a:graphicFrameLocks noGrp="1"/>
          </p:cNvGraphicFramePr>
          <p:nvPr>
            <p:extLst>
              <p:ext uri="{D42A27DB-BD31-4B8C-83A1-F6EECF244321}">
                <p14:modId xmlns:p14="http://schemas.microsoft.com/office/powerpoint/2010/main" val="309170340"/>
              </p:ext>
            </p:extLst>
          </p:nvPr>
        </p:nvGraphicFramePr>
        <p:xfrm>
          <a:off x="159068" y="376853"/>
          <a:ext cx="6572478" cy="2872504"/>
        </p:xfrm>
        <a:graphic>
          <a:graphicData uri="http://schemas.openxmlformats.org/drawingml/2006/table">
            <a:tbl>
              <a:tblPr firstRow="1" bandRow="1">
                <a:tableStyleId>{5C22544A-7EE6-4342-B048-85BDC9FD1C3A}</a:tableStyleId>
              </a:tblPr>
              <a:tblGrid>
                <a:gridCol w="1434601">
                  <a:extLst>
                    <a:ext uri="{9D8B030D-6E8A-4147-A177-3AD203B41FA5}">
                      <a16:colId xmlns:a16="http://schemas.microsoft.com/office/drawing/2014/main" val="1568142362"/>
                    </a:ext>
                  </a:extLst>
                </a:gridCol>
                <a:gridCol w="1541417">
                  <a:extLst>
                    <a:ext uri="{9D8B030D-6E8A-4147-A177-3AD203B41FA5}">
                      <a16:colId xmlns:a16="http://schemas.microsoft.com/office/drawing/2014/main" val="3551711160"/>
                    </a:ext>
                  </a:extLst>
                </a:gridCol>
                <a:gridCol w="1841863">
                  <a:extLst>
                    <a:ext uri="{9D8B030D-6E8A-4147-A177-3AD203B41FA5}">
                      <a16:colId xmlns:a16="http://schemas.microsoft.com/office/drawing/2014/main" val="1712497518"/>
                    </a:ext>
                  </a:extLst>
                </a:gridCol>
                <a:gridCol w="1754597">
                  <a:extLst>
                    <a:ext uri="{9D8B030D-6E8A-4147-A177-3AD203B41FA5}">
                      <a16:colId xmlns:a16="http://schemas.microsoft.com/office/drawing/2014/main" val="886122921"/>
                    </a:ext>
                  </a:extLst>
                </a:gridCol>
              </a:tblGrid>
              <a:tr h="1202900">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i="0" kern="1200" dirty="0">
                          <a:solidFill>
                            <a:schemeClr val="dk1"/>
                          </a:solidFill>
                          <a:effectLst/>
                          <a:latin typeface="+mn-lt"/>
                          <a:ea typeface="+mn-ea"/>
                          <a:cs typeface="+mn-cs"/>
                        </a:rPr>
                        <a:t>John buys a chocolate bar for £1.55 and a lemonade for £0.98.</a:t>
                      </a:r>
                    </a:p>
                    <a:p>
                      <a:pPr algn="ctr"/>
                      <a:r>
                        <a:rPr lang="en-GB" sz="1100" b="0" i="0" kern="1200" dirty="0">
                          <a:solidFill>
                            <a:schemeClr val="dk1"/>
                          </a:solidFill>
                          <a:effectLst/>
                          <a:latin typeface="+mn-lt"/>
                          <a:ea typeface="+mn-ea"/>
                          <a:cs typeface="+mn-cs"/>
                        </a:rPr>
                        <a:t>How much more expensive is the chocolate bar than the lemonade?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i="0" kern="1200" dirty="0">
                          <a:solidFill>
                            <a:schemeClr val="dk1"/>
                          </a:solidFill>
                          <a:effectLst/>
                          <a:latin typeface="+mn-lt"/>
                          <a:ea typeface="+mn-ea"/>
                          <a:cs typeface="+mn-cs"/>
                        </a:rPr>
                        <a:t>At a football match, there are 8509 united fans and 6883 city fans.</a:t>
                      </a:r>
                    </a:p>
                    <a:p>
                      <a:pPr algn="ctr"/>
                      <a:r>
                        <a:rPr lang="en-GB" sz="1100" b="0" i="0" kern="1200" dirty="0">
                          <a:solidFill>
                            <a:schemeClr val="dk1"/>
                          </a:solidFill>
                          <a:effectLst/>
                          <a:latin typeface="+mn-lt"/>
                          <a:ea typeface="+mn-ea"/>
                          <a:cs typeface="+mn-cs"/>
                        </a:rPr>
                        <a:t>How many more united fans are there than city fans?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i="0" kern="1200" dirty="0">
                          <a:solidFill>
                            <a:schemeClr val="dk1"/>
                          </a:solidFill>
                          <a:effectLst/>
                          <a:latin typeface="+mn-lt"/>
                          <a:ea typeface="+mn-ea"/>
                          <a:cs typeface="+mn-cs"/>
                        </a:rPr>
                        <a:t>Kelly has 25 marbles and Hannah has 144 marbles. </a:t>
                      </a:r>
                    </a:p>
                    <a:p>
                      <a:pPr algn="ctr"/>
                      <a:r>
                        <a:rPr lang="en-GB" sz="1100" b="0" i="0" kern="1200" dirty="0">
                          <a:solidFill>
                            <a:schemeClr val="dk1"/>
                          </a:solidFill>
                          <a:effectLst/>
                          <a:latin typeface="+mn-lt"/>
                          <a:ea typeface="+mn-ea"/>
                          <a:cs typeface="+mn-cs"/>
                        </a:rPr>
                        <a:t>How many more marble does Hannah have than Kelly?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03792">
                <a:tc>
                  <a:txBody>
                    <a:bodyPr/>
                    <a:lstStyle/>
                    <a:p>
                      <a:pPr marL="0" indent="0">
                        <a:buNone/>
                      </a:pPr>
                      <a:r>
                        <a:rPr lang="en-US" sz="1100">
                          <a:solidFill>
                            <a:schemeClr val="tx1"/>
                          </a:solidFill>
                        </a:rPr>
                        <a:t>1) Write the numbers in columns, ensuring that they are lined up correctly.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600" baseline="0" dirty="0">
                        <a:solidFill>
                          <a:srgbClr val="FF0000"/>
                        </a:solidFill>
                      </a:endParaRPr>
                    </a:p>
                    <a:p>
                      <a:endParaRPr lang="en-US" sz="16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6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6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03792">
                <a:tc>
                  <a:txBody>
                    <a:bodyPr/>
                    <a:lstStyle/>
                    <a:p>
                      <a:r>
                        <a:rPr lang="en-GB" sz="1100" dirty="0">
                          <a:solidFill>
                            <a:schemeClr val="tx1"/>
                          </a:solidFill>
                        </a:rPr>
                        <a:t>2) Starting from the ones column, complete subtraction.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3" name="TextBox 2">
            <a:extLst>
              <a:ext uri="{FF2B5EF4-FFF2-40B4-BE49-F238E27FC236}">
                <a16:creationId xmlns:a16="http://schemas.microsoft.com/office/drawing/2014/main" id="{E743F075-C6D5-BBF5-5FF9-F86273B022B2}"/>
              </a:ext>
            </a:extLst>
          </p:cNvPr>
          <p:cNvSpPr txBox="1"/>
          <p:nvPr/>
        </p:nvSpPr>
        <p:spPr>
          <a:xfrm>
            <a:off x="1699424" y="14745"/>
            <a:ext cx="1410704" cy="276999"/>
          </a:xfrm>
          <a:prstGeom prst="rect">
            <a:avLst/>
          </a:prstGeom>
          <a:noFill/>
          <a:ln>
            <a:noFill/>
          </a:ln>
        </p:spPr>
        <p:txBody>
          <a:bodyPr wrap="square" rtlCol="0">
            <a:spAutoFit/>
          </a:bodyPr>
          <a:lstStyle/>
          <a:p>
            <a:r>
              <a:rPr lang="en-GB" sz="1200" b="1" i="1" dirty="0">
                <a:solidFill>
                  <a:srgbClr val="FF0000"/>
                </a:solidFill>
              </a:rPr>
              <a:t>Example 25 - I do…</a:t>
            </a:r>
          </a:p>
        </p:txBody>
      </p:sp>
      <p:sp>
        <p:nvSpPr>
          <p:cNvPr id="5" name="TextBox 4">
            <a:extLst>
              <a:ext uri="{FF2B5EF4-FFF2-40B4-BE49-F238E27FC236}">
                <a16:creationId xmlns:a16="http://schemas.microsoft.com/office/drawing/2014/main" id="{7458BDFE-01DD-55C5-9B1A-4DCA4A2F823C}"/>
              </a:ext>
            </a:extLst>
          </p:cNvPr>
          <p:cNvSpPr txBox="1"/>
          <p:nvPr/>
        </p:nvSpPr>
        <p:spPr>
          <a:xfrm>
            <a:off x="5088141" y="12573"/>
            <a:ext cx="1643405" cy="276999"/>
          </a:xfrm>
          <a:prstGeom prst="rect">
            <a:avLst/>
          </a:prstGeom>
          <a:noFill/>
          <a:ln>
            <a:noFill/>
          </a:ln>
        </p:spPr>
        <p:txBody>
          <a:bodyPr wrap="square" rtlCol="0">
            <a:spAutoFit/>
          </a:bodyPr>
          <a:lstStyle/>
          <a:p>
            <a:r>
              <a:rPr lang="en-GB" sz="1200" b="1" i="1" dirty="0">
                <a:solidFill>
                  <a:srgbClr val="00B050"/>
                </a:solidFill>
              </a:rPr>
              <a:t>Example 27 – You do…</a:t>
            </a:r>
          </a:p>
        </p:txBody>
      </p:sp>
      <p:sp>
        <p:nvSpPr>
          <p:cNvPr id="6" name="TextBox 5">
            <a:extLst>
              <a:ext uri="{FF2B5EF4-FFF2-40B4-BE49-F238E27FC236}">
                <a16:creationId xmlns:a16="http://schemas.microsoft.com/office/drawing/2014/main" id="{8D46505B-51D8-0A0E-3D50-5B444E6465D7}"/>
              </a:ext>
            </a:extLst>
          </p:cNvPr>
          <p:cNvSpPr txBox="1"/>
          <p:nvPr/>
        </p:nvSpPr>
        <p:spPr>
          <a:xfrm>
            <a:off x="3277432" y="12573"/>
            <a:ext cx="1643405" cy="276999"/>
          </a:xfrm>
          <a:prstGeom prst="rect">
            <a:avLst/>
          </a:prstGeom>
          <a:noFill/>
          <a:ln>
            <a:noFill/>
          </a:ln>
        </p:spPr>
        <p:txBody>
          <a:bodyPr wrap="square" rtlCol="0">
            <a:spAutoFit/>
          </a:bodyPr>
          <a:lstStyle/>
          <a:p>
            <a:r>
              <a:rPr lang="en-GB" sz="1200" b="1" i="1" dirty="0">
                <a:solidFill>
                  <a:schemeClr val="accent2"/>
                </a:solidFill>
              </a:rPr>
              <a:t>Example 26 – We do…</a:t>
            </a:r>
          </a:p>
        </p:txBody>
      </p:sp>
    </p:spTree>
    <p:extLst>
      <p:ext uri="{BB962C8B-B14F-4D97-AF65-F5344CB8AC3E}">
        <p14:creationId xmlns:p14="http://schemas.microsoft.com/office/powerpoint/2010/main" val="22757304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57813" y="9580120"/>
            <a:ext cx="1543050" cy="527403"/>
          </a:xfrm>
        </p:spPr>
        <p:txBody>
          <a:bodyPr/>
          <a:lstStyle/>
          <a:p>
            <a:fld id="{19F1D9CC-7119-45EC-A96C-D8C0660F3AAB}" type="slidenum">
              <a:rPr lang="en-GB" smtClean="0"/>
              <a:t>53</a:t>
            </a:fld>
            <a:endParaRPr lang="en-GB"/>
          </a:p>
        </p:txBody>
      </p:sp>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112382516"/>
              </p:ext>
            </p:extLst>
          </p:nvPr>
        </p:nvGraphicFramePr>
        <p:xfrm>
          <a:off x="173758" y="194073"/>
          <a:ext cx="6566676" cy="7917840"/>
        </p:xfrm>
        <a:graphic>
          <a:graphicData uri="http://schemas.openxmlformats.org/drawingml/2006/table">
            <a:tbl>
              <a:tblPr firstRow="1" bandRow="1">
                <a:tableStyleId>{5C22544A-7EE6-4342-B048-85BDC9FD1C3A}</a:tableStyleId>
              </a:tblPr>
              <a:tblGrid>
                <a:gridCol w="1906941">
                  <a:extLst>
                    <a:ext uri="{9D8B030D-6E8A-4147-A177-3AD203B41FA5}">
                      <a16:colId xmlns:a16="http://schemas.microsoft.com/office/drawing/2014/main" val="3632647821"/>
                    </a:ext>
                  </a:extLst>
                </a:gridCol>
                <a:gridCol w="1409031">
                  <a:extLst>
                    <a:ext uri="{9D8B030D-6E8A-4147-A177-3AD203B41FA5}">
                      <a16:colId xmlns:a16="http://schemas.microsoft.com/office/drawing/2014/main" val="3560104441"/>
                    </a:ext>
                  </a:extLst>
                </a:gridCol>
                <a:gridCol w="920837">
                  <a:extLst>
                    <a:ext uri="{9D8B030D-6E8A-4147-A177-3AD203B41FA5}">
                      <a16:colId xmlns:a16="http://schemas.microsoft.com/office/drawing/2014/main" val="3607570541"/>
                    </a:ext>
                  </a:extLst>
                </a:gridCol>
                <a:gridCol w="2329867">
                  <a:extLst>
                    <a:ext uri="{9D8B030D-6E8A-4147-A177-3AD203B41FA5}">
                      <a16:colId xmlns:a16="http://schemas.microsoft.com/office/drawing/2014/main" val="2502636195"/>
                    </a:ext>
                  </a:extLst>
                </a:gridCol>
              </a:tblGrid>
              <a:tr h="468000">
                <a:tc gridSpan="4">
                  <a:txBody>
                    <a:bodyPr/>
                    <a:lstStyle/>
                    <a:p>
                      <a:r>
                        <a:rPr lang="en-GB" sz="1200" b="0" dirty="0">
                          <a:solidFill>
                            <a:schemeClr val="tx1"/>
                          </a:solidFill>
                        </a:rPr>
                        <a:t>15. For the following questions, fill in the missing numbers.</a:t>
                      </a:r>
                      <a:endParaRPr lang="en-US" sz="1200" b="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89501847"/>
                  </a:ext>
                </a:extLst>
              </a:tr>
              <a:tr h="468000">
                <a:tc>
                  <a:txBody>
                    <a:bodyPr/>
                    <a:lstStyle/>
                    <a:p>
                      <a:r>
                        <a:rPr lang="en-US" sz="1200" baseline="0" dirty="0">
                          <a:solidFill>
                            <a:schemeClr val="tx1"/>
                          </a:solidFill>
                          <a:latin typeface="+mn-lt"/>
                        </a:rPr>
                        <a:t>a) </a:t>
                      </a: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r>
                        <a:rPr lang="en-US" sz="1200" baseline="0" dirty="0">
                          <a:solidFill>
                            <a:schemeClr val="tx1"/>
                          </a:solidFill>
                          <a:latin typeface="+mn-lt"/>
                        </a:rPr>
                        <a:t>b) </a:t>
                      </a: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tc>
                <a:tc>
                  <a:txBody>
                    <a:bodyPr/>
                    <a:lstStyle/>
                    <a:p>
                      <a:r>
                        <a:rPr lang="en-US" sz="1200" baseline="0" dirty="0">
                          <a:solidFill>
                            <a:schemeClr val="tx1"/>
                          </a:solidFill>
                          <a:latin typeface="+mn-lt"/>
                        </a:rPr>
                        <a:t>c)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4804679"/>
                  </a:ext>
                </a:extLst>
              </a:tr>
              <a:tr h="468000">
                <a:tc gridSpan="4">
                  <a:txBody>
                    <a:bodyPr/>
                    <a:lstStyle/>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41604291"/>
                  </a:ext>
                </a:extLst>
              </a:tr>
              <a:tr h="468000">
                <a:tc gridSpan="2">
                  <a:txBody>
                    <a:bodyPr/>
                    <a:lstStyle/>
                    <a:p>
                      <a:r>
                        <a:rPr lang="en-US" sz="1200" baseline="0" dirty="0">
                          <a:solidFill>
                            <a:schemeClr val="tx1"/>
                          </a:solidFill>
                          <a:latin typeface="+mn-lt"/>
                        </a:rPr>
                        <a:t>16. The table shows the lengths of three rivers.</a:t>
                      </a: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tc>
                <a:tc gridSpan="2">
                  <a:txBody>
                    <a:bodyPr/>
                    <a:lstStyle/>
                    <a:p>
                      <a:r>
                        <a:rPr lang="en-GB" sz="1200" dirty="0"/>
                        <a:t>How much longer is the Nile than the combined lengths of the other two rivers?</a:t>
                      </a:r>
                    </a:p>
                    <a:p>
                      <a:endParaRPr lang="en-GB" sz="1200" baseline="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tc>
                <a:extLst>
                  <a:ext uri="{0D108BD9-81ED-4DB2-BD59-A6C34878D82A}">
                    <a16:rowId xmlns:a16="http://schemas.microsoft.com/office/drawing/2014/main" val="2420371147"/>
                  </a:ext>
                </a:extLst>
              </a:tr>
              <a:tr h="468000">
                <a:tc gridSpan="4">
                  <a:txBody>
                    <a:bodyPr/>
                    <a:lstStyle/>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309289617"/>
                  </a:ext>
                </a:extLst>
              </a:tr>
              <a:tr h="468000">
                <a:tc gridSpan="4">
                  <a:txBody>
                    <a:bodyPr/>
                    <a:lstStyle/>
                    <a:p>
                      <a:r>
                        <a:rPr lang="en-GB" sz="1200" dirty="0"/>
                        <a:t>17. Work out the difference between 234,789 and 502,113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415895376"/>
                  </a:ext>
                </a:extLst>
              </a:tr>
              <a:tr h="468000">
                <a:tc gridSpan="4">
                  <a:txBody>
                    <a:bodyPr/>
                    <a:lstStyle/>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05209200"/>
                  </a:ext>
                </a:extLst>
              </a:tr>
              <a:tr h="468000">
                <a:tc gridSpan="4">
                  <a:txBody>
                    <a:bodyPr/>
                    <a:lstStyle/>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134154409"/>
                  </a:ext>
                </a:extLst>
              </a:tr>
            </a:tbl>
          </a:graphicData>
        </a:graphic>
      </p:graphicFrame>
      <p:pic>
        <p:nvPicPr>
          <p:cNvPr id="10" name="Picture 9">
            <a:extLst>
              <a:ext uri="{FF2B5EF4-FFF2-40B4-BE49-F238E27FC236}">
                <a16:creationId xmlns:a16="http://schemas.microsoft.com/office/drawing/2014/main" id="{BAFCE4B1-DAEB-B07C-84B8-AB09A8DA0B13}"/>
              </a:ext>
            </a:extLst>
          </p:cNvPr>
          <p:cNvPicPr>
            <a:picLocks noChangeAspect="1"/>
          </p:cNvPicPr>
          <p:nvPr/>
        </p:nvPicPr>
        <p:blipFill>
          <a:blip r:embed="rId3"/>
          <a:stretch>
            <a:fillRect/>
          </a:stretch>
        </p:blipFill>
        <p:spPr>
          <a:xfrm>
            <a:off x="444563" y="3463234"/>
            <a:ext cx="2816590" cy="1489766"/>
          </a:xfrm>
          <a:prstGeom prst="rect">
            <a:avLst/>
          </a:prstGeom>
        </p:spPr>
      </p:pic>
      <p:pic>
        <p:nvPicPr>
          <p:cNvPr id="2" name="Picture 28" descr="A picture containing chart">
            <a:extLst>
              <a:ext uri="{FF2B5EF4-FFF2-40B4-BE49-F238E27FC236}">
                <a16:creationId xmlns:a16="http://schemas.microsoft.com/office/drawing/2014/main" id="{9FCCDC1D-A647-D74D-59D3-2F93F5C365A7}"/>
              </a:ext>
            </a:extLst>
          </p:cNvPr>
          <p:cNvPicPr>
            <a:picLocks noChangeAspect="1"/>
          </p:cNvPicPr>
          <p:nvPr/>
        </p:nvPicPr>
        <p:blipFill rotWithShape="1">
          <a:blip r:embed="rId4"/>
          <a:srcRect l="152" t="60122" r="-152" b="2422"/>
          <a:stretch/>
        </p:blipFill>
        <p:spPr>
          <a:xfrm>
            <a:off x="117566" y="7781210"/>
            <a:ext cx="6585129" cy="2029788"/>
          </a:xfrm>
          <a:prstGeom prst="rect">
            <a:avLst/>
          </a:prstGeom>
        </p:spPr>
      </p:pic>
      <p:pic>
        <p:nvPicPr>
          <p:cNvPr id="5" name="Picture 4">
            <a:extLst>
              <a:ext uri="{FF2B5EF4-FFF2-40B4-BE49-F238E27FC236}">
                <a16:creationId xmlns:a16="http://schemas.microsoft.com/office/drawing/2014/main" id="{81310083-C438-48A5-DC9F-F53A0C888BAE}"/>
              </a:ext>
            </a:extLst>
          </p:cNvPr>
          <p:cNvPicPr>
            <a:picLocks noChangeAspect="1"/>
          </p:cNvPicPr>
          <p:nvPr/>
        </p:nvPicPr>
        <p:blipFill>
          <a:blip r:embed="rId5"/>
          <a:stretch>
            <a:fillRect/>
          </a:stretch>
        </p:blipFill>
        <p:spPr>
          <a:xfrm>
            <a:off x="444563" y="766131"/>
            <a:ext cx="1086002" cy="1228896"/>
          </a:xfrm>
          <a:prstGeom prst="rect">
            <a:avLst/>
          </a:prstGeom>
        </p:spPr>
      </p:pic>
      <p:pic>
        <p:nvPicPr>
          <p:cNvPr id="7" name="Picture 6">
            <a:extLst>
              <a:ext uri="{FF2B5EF4-FFF2-40B4-BE49-F238E27FC236}">
                <a16:creationId xmlns:a16="http://schemas.microsoft.com/office/drawing/2014/main" id="{59E9E661-D18D-2B5B-3283-5957505864DC}"/>
              </a:ext>
            </a:extLst>
          </p:cNvPr>
          <p:cNvPicPr>
            <a:picLocks noChangeAspect="1"/>
          </p:cNvPicPr>
          <p:nvPr/>
        </p:nvPicPr>
        <p:blipFill>
          <a:blip r:embed="rId6"/>
          <a:stretch>
            <a:fillRect/>
          </a:stretch>
        </p:blipFill>
        <p:spPr>
          <a:xfrm>
            <a:off x="2359122" y="766131"/>
            <a:ext cx="1419423" cy="1228896"/>
          </a:xfrm>
          <a:prstGeom prst="rect">
            <a:avLst/>
          </a:prstGeom>
        </p:spPr>
      </p:pic>
      <p:pic>
        <p:nvPicPr>
          <p:cNvPr id="9" name="Picture 8">
            <a:extLst>
              <a:ext uri="{FF2B5EF4-FFF2-40B4-BE49-F238E27FC236}">
                <a16:creationId xmlns:a16="http://schemas.microsoft.com/office/drawing/2014/main" id="{DAE50CE9-2FC4-C5A5-5E79-C9DDBC2866BA}"/>
              </a:ext>
            </a:extLst>
          </p:cNvPr>
          <p:cNvPicPr>
            <a:picLocks noChangeAspect="1"/>
          </p:cNvPicPr>
          <p:nvPr/>
        </p:nvPicPr>
        <p:blipFill>
          <a:blip r:embed="rId7"/>
          <a:stretch>
            <a:fillRect/>
          </a:stretch>
        </p:blipFill>
        <p:spPr>
          <a:xfrm>
            <a:off x="4607102" y="824789"/>
            <a:ext cx="1524213" cy="1171739"/>
          </a:xfrm>
          <a:prstGeom prst="rect">
            <a:avLst/>
          </a:prstGeom>
        </p:spPr>
      </p:pic>
    </p:spTree>
    <p:extLst>
      <p:ext uri="{BB962C8B-B14F-4D97-AF65-F5344CB8AC3E}">
        <p14:creationId xmlns:p14="http://schemas.microsoft.com/office/powerpoint/2010/main" val="39871305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294092" y="9400028"/>
            <a:ext cx="1543050" cy="527403"/>
          </a:xfrm>
        </p:spPr>
        <p:txBody>
          <a:bodyPr/>
          <a:lstStyle/>
          <a:p>
            <a:fld id="{19F1D9CC-7119-45EC-A96C-D8C0660F3AAB}" type="slidenum">
              <a:rPr lang="en-GB" smtClean="0"/>
              <a:t>54</a:t>
            </a:fld>
            <a:endParaRPr lang="en-GB" dirty="0"/>
          </a:p>
        </p:txBody>
      </p:sp>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3511109022"/>
              </p:ext>
            </p:extLst>
          </p:nvPr>
        </p:nvGraphicFramePr>
        <p:xfrm>
          <a:off x="142761" y="207136"/>
          <a:ext cx="6572478" cy="6798960"/>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3632647821"/>
                    </a:ext>
                  </a:extLst>
                </a:gridCol>
                <a:gridCol w="3286239">
                  <a:extLst>
                    <a:ext uri="{9D8B030D-6E8A-4147-A177-3AD203B41FA5}">
                      <a16:colId xmlns:a16="http://schemas.microsoft.com/office/drawing/2014/main" val="967335964"/>
                    </a:ext>
                  </a:extLst>
                </a:gridCol>
              </a:tblGrid>
              <a:tr h="468000">
                <a:tc>
                  <a:txBody>
                    <a:bodyPr/>
                    <a:lstStyle/>
                    <a:p>
                      <a:r>
                        <a:rPr lang="en-GB" sz="1200" b="0" dirty="0">
                          <a:solidFill>
                            <a:schemeClr val="tx1"/>
                          </a:solidFill>
                        </a:rPr>
                        <a:t>18. This table shows the number of people living in various cities in England.</a:t>
                      </a:r>
                    </a:p>
                    <a:p>
                      <a:endParaRPr lang="en-GB" sz="1200" b="0" dirty="0">
                        <a:solidFill>
                          <a:schemeClr val="tx1"/>
                        </a:solidFill>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dirty="0">
                          <a:solidFill>
                            <a:schemeClr val="tx1"/>
                          </a:solidFill>
                        </a:rPr>
                        <a:t>How many more people live in Birmingham than Preston?</a:t>
                      </a:r>
                    </a:p>
                    <a:p>
                      <a:endParaRPr lang="en-GB"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4804679"/>
                  </a:ext>
                </a:extLst>
              </a:tr>
              <a:tr h="468000">
                <a:tc gridSpan="2">
                  <a:txBody>
                    <a:bodyPr/>
                    <a:lstStyle/>
                    <a:p>
                      <a:r>
                        <a:rPr lang="en-US" sz="1200" baseline="0" dirty="0">
                          <a:solidFill>
                            <a:schemeClr val="tx1"/>
                          </a:solidFill>
                          <a:latin typeface="+mn-lt"/>
                        </a:rPr>
                        <a:t>19. For the following questions, fill in the missing numbers.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extLst>
                  <a:ext uri="{0D108BD9-81ED-4DB2-BD59-A6C34878D82A}">
                    <a16:rowId xmlns:a16="http://schemas.microsoft.com/office/drawing/2014/main" val="2571650640"/>
                  </a:ext>
                </a:extLst>
              </a:tr>
              <a:tr h="468000">
                <a:tc>
                  <a:txBody>
                    <a:bodyPr/>
                    <a:lstStyle/>
                    <a:p>
                      <a:r>
                        <a:rPr lang="en-US" sz="1200" baseline="0" dirty="0">
                          <a:solidFill>
                            <a:schemeClr val="tx1"/>
                          </a:solidFill>
                          <a:latin typeface="+mn-lt"/>
                        </a:rPr>
                        <a:t>a)</a:t>
                      </a: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aseline="0">
                          <a:solidFill>
                            <a:schemeClr val="tx1"/>
                          </a:solidFill>
                          <a:latin typeface="+mn-lt"/>
                        </a:rPr>
                        <a:t>b)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5315960"/>
                  </a:ext>
                </a:extLst>
              </a:tr>
              <a:tr h="468000">
                <a:tc gridSpan="2">
                  <a:txBody>
                    <a:bodyPr/>
                    <a:lstStyle/>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2261261"/>
                  </a:ext>
                </a:extLst>
              </a:tr>
              <a:tr h="468000">
                <a:tc gridSpan="2">
                  <a:txBody>
                    <a:bodyPr/>
                    <a:lstStyle/>
                    <a:p>
                      <a:r>
                        <a:rPr lang="en-GB" sz="1200" dirty="0"/>
                        <a:t>20. Write down the number that is ten thousand less than two million.</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1349752"/>
                  </a:ext>
                </a:extLst>
              </a:tr>
              <a:tr h="468000">
                <a:tc gridSpan="2">
                  <a:txBody>
                    <a:bodyPr/>
                    <a:lstStyle/>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8815336"/>
                  </a:ext>
                </a:extLst>
              </a:tr>
            </a:tbl>
          </a:graphicData>
        </a:graphic>
      </p:graphicFrame>
      <p:pic>
        <p:nvPicPr>
          <p:cNvPr id="5" name="Picture 4">
            <a:extLst>
              <a:ext uri="{FF2B5EF4-FFF2-40B4-BE49-F238E27FC236}">
                <a16:creationId xmlns:a16="http://schemas.microsoft.com/office/drawing/2014/main" id="{4B529A24-F0BE-C143-02D3-DE6A506CAC9E}"/>
              </a:ext>
            </a:extLst>
          </p:cNvPr>
          <p:cNvPicPr>
            <a:picLocks noChangeAspect="1"/>
          </p:cNvPicPr>
          <p:nvPr/>
        </p:nvPicPr>
        <p:blipFill>
          <a:blip r:embed="rId3"/>
          <a:stretch>
            <a:fillRect/>
          </a:stretch>
        </p:blipFill>
        <p:spPr>
          <a:xfrm>
            <a:off x="347393" y="715913"/>
            <a:ext cx="2898113" cy="1847403"/>
          </a:xfrm>
          <a:prstGeom prst="rect">
            <a:avLst/>
          </a:prstGeom>
        </p:spPr>
      </p:pic>
      <p:pic>
        <p:nvPicPr>
          <p:cNvPr id="9" name="Picture 8">
            <a:extLst>
              <a:ext uri="{FF2B5EF4-FFF2-40B4-BE49-F238E27FC236}">
                <a16:creationId xmlns:a16="http://schemas.microsoft.com/office/drawing/2014/main" id="{7F70CFD2-C5AC-30D9-8D28-139821A893D1}"/>
              </a:ext>
            </a:extLst>
          </p:cNvPr>
          <p:cNvPicPr>
            <a:picLocks noChangeAspect="1"/>
          </p:cNvPicPr>
          <p:nvPr/>
        </p:nvPicPr>
        <p:blipFill>
          <a:blip r:embed="rId4"/>
          <a:stretch>
            <a:fillRect/>
          </a:stretch>
        </p:blipFill>
        <p:spPr>
          <a:xfrm>
            <a:off x="448473" y="3378080"/>
            <a:ext cx="2695951" cy="571580"/>
          </a:xfrm>
          <a:prstGeom prst="rect">
            <a:avLst/>
          </a:prstGeom>
        </p:spPr>
      </p:pic>
      <p:pic>
        <p:nvPicPr>
          <p:cNvPr id="12" name="Picture 11">
            <a:extLst>
              <a:ext uri="{FF2B5EF4-FFF2-40B4-BE49-F238E27FC236}">
                <a16:creationId xmlns:a16="http://schemas.microsoft.com/office/drawing/2014/main" id="{E8BDAA15-57A2-A0AE-AC15-BDCC7C7AC988}"/>
              </a:ext>
            </a:extLst>
          </p:cNvPr>
          <p:cNvPicPr>
            <a:picLocks noChangeAspect="1"/>
          </p:cNvPicPr>
          <p:nvPr/>
        </p:nvPicPr>
        <p:blipFill>
          <a:blip r:embed="rId5"/>
          <a:stretch>
            <a:fillRect/>
          </a:stretch>
        </p:blipFill>
        <p:spPr>
          <a:xfrm>
            <a:off x="3680964" y="3378080"/>
            <a:ext cx="2934109" cy="666843"/>
          </a:xfrm>
          <a:prstGeom prst="rect">
            <a:avLst/>
          </a:prstGeom>
        </p:spPr>
      </p:pic>
      <p:pic>
        <p:nvPicPr>
          <p:cNvPr id="2" name="Picture 28" descr="A picture containing chart">
            <a:extLst>
              <a:ext uri="{FF2B5EF4-FFF2-40B4-BE49-F238E27FC236}">
                <a16:creationId xmlns:a16="http://schemas.microsoft.com/office/drawing/2014/main" id="{48F93F03-FB8A-1ABF-9E4E-E46628490406}"/>
              </a:ext>
            </a:extLst>
          </p:cNvPr>
          <p:cNvPicPr>
            <a:picLocks noChangeAspect="1"/>
          </p:cNvPicPr>
          <p:nvPr/>
        </p:nvPicPr>
        <p:blipFill rotWithShape="1">
          <a:blip r:embed="rId6"/>
          <a:srcRect l="152" t="49442" r="-152" b="2422"/>
          <a:stretch/>
        </p:blipFill>
        <p:spPr>
          <a:xfrm>
            <a:off x="0" y="7123949"/>
            <a:ext cx="6585129" cy="2276079"/>
          </a:xfrm>
          <a:prstGeom prst="rect">
            <a:avLst/>
          </a:prstGeom>
        </p:spPr>
      </p:pic>
    </p:spTree>
    <p:extLst>
      <p:ext uri="{BB962C8B-B14F-4D97-AF65-F5344CB8AC3E}">
        <p14:creationId xmlns:p14="http://schemas.microsoft.com/office/powerpoint/2010/main" val="36189061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B56669D7-24EF-489B-1D7C-122008B7596B}"/>
              </a:ext>
            </a:extLst>
          </p:cNvPr>
          <p:cNvCxnSpPr/>
          <p:nvPr/>
        </p:nvCxnSpPr>
        <p:spPr>
          <a:xfrm flipV="1">
            <a:off x="924385" y="2508019"/>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794D924F-716D-C1C4-34DC-23C13620FAC4}"/>
              </a:ext>
            </a:extLst>
          </p:cNvPr>
          <p:cNvSpPr/>
          <p:nvPr/>
        </p:nvSpPr>
        <p:spPr>
          <a:xfrm>
            <a:off x="79390" y="480592"/>
            <a:ext cx="6699219" cy="25561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Connector 31">
            <a:extLst>
              <a:ext uri="{FF2B5EF4-FFF2-40B4-BE49-F238E27FC236}">
                <a16:creationId xmlns:a16="http://schemas.microsoft.com/office/drawing/2014/main" id="{748A5A61-4098-BD6F-ED1A-32426048A4A6}"/>
              </a:ext>
            </a:extLst>
          </p:cNvPr>
          <p:cNvCxnSpPr/>
          <p:nvPr/>
        </p:nvCxnSpPr>
        <p:spPr>
          <a:xfrm>
            <a:off x="69704" y="1807066"/>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166FA1B0-7C1E-DB7C-6E5F-588B8450F95A}"/>
              </a:ext>
            </a:extLst>
          </p:cNvPr>
          <p:cNvCxnSpPr/>
          <p:nvPr/>
        </p:nvCxnSpPr>
        <p:spPr>
          <a:xfrm flipV="1">
            <a:off x="3419314" y="577424"/>
            <a:ext cx="0" cy="2459284"/>
          </a:xfrm>
          <a:prstGeom prst="line">
            <a:avLst/>
          </a:prstGeom>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0809B782-3837-BC69-0124-44518EDC4E92}"/>
              </a:ext>
            </a:extLst>
          </p:cNvPr>
          <p:cNvSpPr txBox="1"/>
          <p:nvPr/>
        </p:nvSpPr>
        <p:spPr>
          <a:xfrm>
            <a:off x="87459" y="470872"/>
            <a:ext cx="824713" cy="461665"/>
          </a:xfrm>
          <a:prstGeom prst="rect">
            <a:avLst/>
          </a:prstGeom>
          <a:noFill/>
        </p:spPr>
        <p:txBody>
          <a:bodyPr wrap="none" rtlCol="0">
            <a:spAutoFit/>
          </a:bodyPr>
          <a:lstStyle/>
          <a:p>
            <a:r>
              <a:rPr lang="en-US" sz="1200" b="1"/>
              <a:t>Definition</a:t>
            </a:r>
          </a:p>
          <a:p>
            <a:endParaRPr lang="en-US" sz="1200"/>
          </a:p>
        </p:txBody>
      </p:sp>
      <p:sp>
        <p:nvSpPr>
          <p:cNvPr id="50" name="TextBox 49">
            <a:extLst>
              <a:ext uri="{FF2B5EF4-FFF2-40B4-BE49-F238E27FC236}">
                <a16:creationId xmlns:a16="http://schemas.microsoft.com/office/drawing/2014/main" id="{25D76C64-E5ED-C222-797E-83EAF8ED8D74}"/>
              </a:ext>
            </a:extLst>
          </p:cNvPr>
          <p:cNvSpPr txBox="1"/>
          <p:nvPr/>
        </p:nvSpPr>
        <p:spPr>
          <a:xfrm>
            <a:off x="5611510" y="477232"/>
            <a:ext cx="1112228" cy="276999"/>
          </a:xfrm>
          <a:prstGeom prst="rect">
            <a:avLst/>
          </a:prstGeom>
          <a:noFill/>
        </p:spPr>
        <p:txBody>
          <a:bodyPr wrap="none" rtlCol="0">
            <a:spAutoFit/>
          </a:bodyPr>
          <a:lstStyle/>
          <a:p>
            <a:r>
              <a:rPr lang="en-US" sz="1200" b="1"/>
              <a:t>Characteristics</a:t>
            </a:r>
            <a:endParaRPr lang="en-GB" sz="1200" b="1"/>
          </a:p>
        </p:txBody>
      </p:sp>
      <p:sp>
        <p:nvSpPr>
          <p:cNvPr id="52" name="TextBox 51">
            <a:extLst>
              <a:ext uri="{FF2B5EF4-FFF2-40B4-BE49-F238E27FC236}">
                <a16:creationId xmlns:a16="http://schemas.microsoft.com/office/drawing/2014/main" id="{4729CA0B-B8D4-82A3-0E5E-2BB431592294}"/>
              </a:ext>
            </a:extLst>
          </p:cNvPr>
          <p:cNvSpPr txBox="1"/>
          <p:nvPr/>
        </p:nvSpPr>
        <p:spPr>
          <a:xfrm>
            <a:off x="102606" y="1835431"/>
            <a:ext cx="788164" cy="276999"/>
          </a:xfrm>
          <a:prstGeom prst="rect">
            <a:avLst/>
          </a:prstGeom>
          <a:noFill/>
        </p:spPr>
        <p:txBody>
          <a:bodyPr wrap="none" rtlCol="0">
            <a:spAutoFit/>
          </a:bodyPr>
          <a:lstStyle/>
          <a:p>
            <a:r>
              <a:rPr lang="en-US" sz="1200" b="1"/>
              <a:t>Examples</a:t>
            </a:r>
            <a:endParaRPr lang="en-GB" sz="1200" b="1"/>
          </a:p>
        </p:txBody>
      </p:sp>
      <p:sp>
        <p:nvSpPr>
          <p:cNvPr id="54" name="TextBox 53">
            <a:extLst>
              <a:ext uri="{FF2B5EF4-FFF2-40B4-BE49-F238E27FC236}">
                <a16:creationId xmlns:a16="http://schemas.microsoft.com/office/drawing/2014/main" id="{DBAA70F2-C5CF-93BA-413D-A29B01E69732}"/>
              </a:ext>
            </a:extLst>
          </p:cNvPr>
          <p:cNvSpPr txBox="1"/>
          <p:nvPr/>
        </p:nvSpPr>
        <p:spPr>
          <a:xfrm>
            <a:off x="5540023" y="1811050"/>
            <a:ext cx="1172885" cy="276999"/>
          </a:xfrm>
          <a:prstGeom prst="rect">
            <a:avLst/>
          </a:prstGeom>
          <a:noFill/>
        </p:spPr>
        <p:txBody>
          <a:bodyPr wrap="none" rtlCol="0">
            <a:spAutoFit/>
          </a:bodyPr>
          <a:lstStyle/>
          <a:p>
            <a:r>
              <a:rPr lang="en-US" sz="1200" b="1"/>
              <a:t>Non - Examples</a:t>
            </a:r>
            <a:endParaRPr lang="en-GB" sz="1200" b="1"/>
          </a:p>
        </p:txBody>
      </p:sp>
      <p:sp>
        <p:nvSpPr>
          <p:cNvPr id="56" name="TextBox 55">
            <a:extLst>
              <a:ext uri="{FF2B5EF4-FFF2-40B4-BE49-F238E27FC236}">
                <a16:creationId xmlns:a16="http://schemas.microsoft.com/office/drawing/2014/main" id="{156DC39D-E889-7278-78C3-1640D82ED83D}"/>
              </a:ext>
            </a:extLst>
          </p:cNvPr>
          <p:cNvSpPr txBox="1"/>
          <p:nvPr/>
        </p:nvSpPr>
        <p:spPr>
          <a:xfrm>
            <a:off x="93174" y="678743"/>
            <a:ext cx="3230335" cy="461665"/>
          </a:xfrm>
          <a:prstGeom prst="rect">
            <a:avLst/>
          </a:prstGeom>
          <a:noFill/>
        </p:spPr>
        <p:txBody>
          <a:bodyPr wrap="square" lIns="91440" tIns="45720" rIns="91440" bIns="45720" rtlCol="0" anchor="t">
            <a:spAutoFit/>
          </a:bodyPr>
          <a:lstStyle/>
          <a:p>
            <a:r>
              <a:rPr lang="en-US" sz="1200">
                <a:solidFill>
                  <a:srgbClr val="000000"/>
                </a:solidFill>
                <a:latin typeface="Calibri"/>
                <a:ea typeface="Calibri"/>
                <a:cs typeface="Calibri"/>
              </a:rPr>
              <a:t>The result of multiplying two or more numbers or terms together. </a:t>
            </a:r>
            <a:endParaRPr lang="en-US"/>
          </a:p>
        </p:txBody>
      </p:sp>
      <p:sp>
        <p:nvSpPr>
          <p:cNvPr id="58" name="TextBox 57">
            <a:extLst>
              <a:ext uri="{FF2B5EF4-FFF2-40B4-BE49-F238E27FC236}">
                <a16:creationId xmlns:a16="http://schemas.microsoft.com/office/drawing/2014/main" id="{F1A5040B-90F4-A4AF-DF1D-B1EE761409D7}"/>
              </a:ext>
            </a:extLst>
          </p:cNvPr>
          <p:cNvSpPr txBox="1"/>
          <p:nvPr/>
        </p:nvSpPr>
        <p:spPr>
          <a:xfrm>
            <a:off x="3484341" y="700030"/>
            <a:ext cx="3230335" cy="1015663"/>
          </a:xfrm>
          <a:prstGeom prst="rect">
            <a:avLst/>
          </a:prstGeom>
          <a:noFill/>
        </p:spPr>
        <p:txBody>
          <a:bodyPr wrap="square" lIns="91440" tIns="45720" rIns="91440" bIns="45720" rtlCol="0" anchor="t">
            <a:spAutoFit/>
          </a:bodyPr>
          <a:lstStyle/>
          <a:p>
            <a:pPr algn="ctr"/>
            <a:r>
              <a:rPr lang="en-US" sz="1200"/>
              <a:t>3 x 5 = 15</a:t>
            </a:r>
          </a:p>
          <a:p>
            <a:pPr algn="ctr"/>
            <a:endParaRPr lang="en-US" sz="1200">
              <a:ea typeface="Calibri" panose="020F0502020204030204"/>
              <a:cs typeface="Calibri" panose="020F0502020204030204"/>
            </a:endParaRPr>
          </a:p>
          <a:p>
            <a:pPr algn="ctr"/>
            <a:endParaRPr lang="en-US" sz="1200">
              <a:ea typeface="Calibri" panose="020F0502020204030204"/>
              <a:cs typeface="Calibri" panose="020F0502020204030204"/>
            </a:endParaRPr>
          </a:p>
          <a:p>
            <a:pPr algn="ctr"/>
            <a:endParaRPr lang="en-US" sz="1200">
              <a:ea typeface="Calibri" panose="020F0502020204030204"/>
              <a:cs typeface="Calibri" panose="020F0502020204030204"/>
            </a:endParaRPr>
          </a:p>
          <a:p>
            <a:pPr algn="ctr"/>
            <a:r>
              <a:rPr lang="en-US" sz="1200">
                <a:ea typeface="Calibri" panose="020F0502020204030204"/>
                <a:cs typeface="Calibri" panose="020F0502020204030204"/>
              </a:rPr>
              <a:t>Products are not always larger than their factors</a:t>
            </a:r>
          </a:p>
        </p:txBody>
      </p:sp>
      <p:sp>
        <p:nvSpPr>
          <p:cNvPr id="60" name="TextBox 59">
            <a:extLst>
              <a:ext uri="{FF2B5EF4-FFF2-40B4-BE49-F238E27FC236}">
                <a16:creationId xmlns:a16="http://schemas.microsoft.com/office/drawing/2014/main" id="{15421EAD-1F95-76FD-B6A1-C2A1D19603DF}"/>
              </a:ext>
            </a:extLst>
          </p:cNvPr>
          <p:cNvSpPr txBox="1"/>
          <p:nvPr/>
        </p:nvSpPr>
        <p:spPr>
          <a:xfrm>
            <a:off x="2342086" y="1670883"/>
            <a:ext cx="2316916" cy="369332"/>
          </a:xfrm>
          <a:prstGeom prst="rect">
            <a:avLst/>
          </a:prstGeom>
          <a:solidFill>
            <a:schemeClr val="bg1"/>
          </a:solidFill>
          <a:ln>
            <a:solidFill>
              <a:schemeClr val="tx1"/>
            </a:solidFill>
          </a:ln>
        </p:spPr>
        <p:txBody>
          <a:bodyPr wrap="none" lIns="91440" tIns="45720" rIns="91440" bIns="45720" rtlCol="0" anchor="t">
            <a:spAutoFit/>
          </a:bodyPr>
          <a:lstStyle/>
          <a:p>
            <a:r>
              <a:rPr lang="en-US" dirty="0"/>
              <a:t>Multiplication/Product</a:t>
            </a:r>
            <a:endParaRPr lang="en-GB" dirty="0">
              <a:ea typeface="Calibri" panose="020F0502020204030204"/>
              <a:cs typeface="Calibri" panose="020F0502020204030204"/>
            </a:endParaRP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3C822CB2-5C6E-C0D8-398F-4CB722866996}"/>
                  </a:ext>
                </a:extLst>
              </p:cNvPr>
              <p:cNvSpPr txBox="1"/>
              <p:nvPr/>
            </p:nvSpPr>
            <p:spPr>
              <a:xfrm>
                <a:off x="132964" y="2084375"/>
                <a:ext cx="3230335" cy="1108509"/>
              </a:xfrm>
              <a:prstGeom prst="rect">
                <a:avLst/>
              </a:prstGeom>
              <a:noFill/>
            </p:spPr>
            <p:txBody>
              <a:bodyPr wrap="square" lIns="91440" tIns="45720" rIns="91440" bIns="45720" rtlCol="0" anchor="t">
                <a:spAutoFit/>
              </a:bodyPr>
              <a:lstStyle/>
              <a:p>
                <a:r>
                  <a:rPr lang="en-US" sz="1200"/>
                  <a:t>2 x 3 = 6</a:t>
                </a:r>
              </a:p>
              <a:p>
                <a:r>
                  <a:rPr lang="en-US" sz="1200">
                    <a:ea typeface="Calibri"/>
                    <a:cs typeface="Calibri"/>
                  </a:rPr>
                  <a:t>9 x -3 = -27</a:t>
                </a:r>
              </a:p>
              <a:p>
                <a:r>
                  <a:rPr lang="en-US" sz="1200">
                    <a:ea typeface="Calibri"/>
                    <a:cs typeface="Calibri"/>
                  </a:rPr>
                  <a:t>½ x ¾ =  </a:t>
                </a:r>
                <a14:m>
                  <m:oMath xmlns:m="http://schemas.openxmlformats.org/officeDocument/2006/math">
                    <m:f>
                      <m:fPr>
                        <m:ctrlPr>
                          <a:rPr lang="en-US" sz="1200" i="1" smtClean="0">
                            <a:latin typeface="Cambria Math" panose="02040503050406030204" pitchFamily="18" charset="0"/>
                            <a:ea typeface="Calibri"/>
                            <a:cs typeface="Calibri"/>
                          </a:rPr>
                        </m:ctrlPr>
                      </m:fPr>
                      <m:num>
                        <m:r>
                          <a:rPr lang="en-GB" sz="1200" b="0" i="1" smtClean="0">
                            <a:latin typeface="Cambria Math" panose="02040503050406030204" pitchFamily="18" charset="0"/>
                            <a:ea typeface="Calibri"/>
                            <a:cs typeface="Calibri"/>
                          </a:rPr>
                          <m:t>3</m:t>
                        </m:r>
                      </m:num>
                      <m:den>
                        <m:r>
                          <a:rPr lang="en-GB" sz="1200" b="0" i="1" smtClean="0">
                            <a:latin typeface="Cambria Math" panose="02040503050406030204" pitchFamily="18" charset="0"/>
                            <a:ea typeface="Calibri"/>
                            <a:cs typeface="Calibri"/>
                          </a:rPr>
                          <m:t>8</m:t>
                        </m:r>
                      </m:den>
                    </m:f>
                  </m:oMath>
                </a14:m>
                <a:endParaRPr lang="en-US" sz="1200">
                  <a:ea typeface="Calibri"/>
                  <a:cs typeface="Calibri"/>
                </a:endParaRPr>
              </a:p>
              <a:p>
                <a:r>
                  <a:rPr lang="en-US" sz="1200">
                    <a:ea typeface="Calibri"/>
                    <a:cs typeface="Calibri"/>
                  </a:rPr>
                  <a:t>2a x 2a = 4a</a:t>
                </a:r>
                <a:r>
                  <a:rPr lang="en-US" sz="1200" baseline="30000">
                    <a:ea typeface="Calibri"/>
                    <a:cs typeface="Calibri"/>
                  </a:rPr>
                  <a:t>2</a:t>
                </a:r>
              </a:p>
              <a:p>
                <a:endParaRPr lang="en-US" sz="1200">
                  <a:ea typeface="Calibri"/>
                  <a:cs typeface="Calibri"/>
                </a:endParaRPr>
              </a:p>
            </p:txBody>
          </p:sp>
        </mc:Choice>
        <mc:Fallback xmlns="">
          <p:sp>
            <p:nvSpPr>
              <p:cNvPr id="62" name="TextBox 61">
                <a:extLst>
                  <a:ext uri="{FF2B5EF4-FFF2-40B4-BE49-F238E27FC236}">
                    <a16:creationId xmlns:a16="http://schemas.microsoft.com/office/drawing/2014/main" id="{3C822CB2-5C6E-C0D8-398F-4CB722866996}"/>
                  </a:ext>
                </a:extLst>
              </p:cNvPr>
              <p:cNvSpPr txBox="1">
                <a:spLocks noRot="1" noChangeAspect="1" noMove="1" noResize="1" noEditPoints="1" noAdjustHandles="1" noChangeArrowheads="1" noChangeShapeType="1" noTextEdit="1"/>
              </p:cNvSpPr>
              <p:nvPr/>
            </p:nvSpPr>
            <p:spPr>
              <a:xfrm>
                <a:off x="132964" y="2084375"/>
                <a:ext cx="3230335" cy="1108509"/>
              </a:xfrm>
              <a:prstGeom prst="rect">
                <a:avLst/>
              </a:prstGeom>
              <a:blipFill>
                <a:blip r:embed="rId3"/>
                <a:stretch>
                  <a:fillRect l="-189" t="-5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953070FD-BF2A-67A6-1B87-C44D58816DD5}"/>
                  </a:ext>
                </a:extLst>
              </p:cNvPr>
              <p:cNvSpPr txBox="1"/>
              <p:nvPr/>
            </p:nvSpPr>
            <p:spPr>
              <a:xfrm>
                <a:off x="3430607" y="2110167"/>
                <a:ext cx="3230335" cy="808555"/>
              </a:xfrm>
              <a:prstGeom prst="rect">
                <a:avLst/>
              </a:prstGeom>
              <a:noFill/>
            </p:spPr>
            <p:txBody>
              <a:bodyPr wrap="square" lIns="91440" tIns="45720" rIns="91440" bIns="45720" rtlCol="0" anchor="t">
                <a:spAutoFit/>
              </a:bodyPr>
              <a:lstStyle/>
              <a:p>
                <a:r>
                  <a:rPr lang="en-US" sz="1200">
                    <a:solidFill>
                      <a:schemeClr val="tx1"/>
                    </a:solidFill>
                    <a:ea typeface="Calibri"/>
                    <a:cs typeface="Calibri"/>
                  </a:rPr>
                  <a:t>6</a:t>
                </a:r>
                <a:r>
                  <a:rPr lang="en-US" sz="1200">
                    <a:solidFill>
                      <a:schemeClr val="tx1"/>
                    </a:solidFill>
                  </a:rPr>
                  <a:t> + 4 = 10</a:t>
                </a:r>
                <a:endParaRPr lang="en-US">
                  <a:solidFill>
                    <a:schemeClr val="tx1"/>
                  </a:solidFill>
                </a:endParaRPr>
              </a:p>
              <a:p>
                <a:r>
                  <a:rPr lang="en-US" sz="1200">
                    <a:solidFill>
                      <a:schemeClr val="tx1"/>
                    </a:solidFill>
                  </a:rPr>
                  <a:t>15a ÷ 3 = 5a</a:t>
                </a:r>
              </a:p>
              <a:p>
                <a:pPr/>
                <a14:m>
                  <m:oMathPara xmlns:m="http://schemas.openxmlformats.org/officeDocument/2006/math">
                    <m:oMathParaPr>
                      <m:jc m:val="left"/>
                    </m:oMathParaPr>
                    <m:oMath xmlns:m="http://schemas.openxmlformats.org/officeDocument/2006/math">
                      <m:f>
                        <m:fPr>
                          <m:ctrlPr>
                            <a:rPr lang="en-US" sz="1200" i="1" smtClean="0">
                              <a:solidFill>
                                <a:schemeClr val="tx1"/>
                              </a:solidFill>
                              <a:latin typeface="Cambria Math" panose="02040503050406030204" pitchFamily="18" charset="0"/>
                              <a:ea typeface="Calibri"/>
                              <a:cs typeface="Calibri"/>
                            </a:rPr>
                          </m:ctrlPr>
                        </m:fPr>
                        <m:num>
                          <m:r>
                            <a:rPr lang="en-GB" sz="1200" b="0" i="1" smtClean="0">
                              <a:solidFill>
                                <a:schemeClr val="tx1"/>
                              </a:solidFill>
                              <a:latin typeface="Cambria Math" panose="02040503050406030204" pitchFamily="18" charset="0"/>
                              <a:ea typeface="Calibri"/>
                              <a:cs typeface="Calibri"/>
                            </a:rPr>
                            <m:t>4</m:t>
                          </m:r>
                        </m:num>
                        <m:den>
                          <m:r>
                            <a:rPr lang="en-GB" sz="1200" b="0" i="1" smtClean="0">
                              <a:solidFill>
                                <a:schemeClr val="tx1"/>
                              </a:solidFill>
                              <a:latin typeface="Cambria Math" panose="02040503050406030204" pitchFamily="18" charset="0"/>
                              <a:ea typeface="Calibri"/>
                              <a:cs typeface="Calibri"/>
                            </a:rPr>
                            <m:t>5</m:t>
                          </m:r>
                        </m:den>
                      </m:f>
                      <m:r>
                        <a:rPr lang="en-GB" sz="1200" b="0" i="1" smtClean="0">
                          <a:solidFill>
                            <a:schemeClr val="tx1"/>
                          </a:solidFill>
                          <a:latin typeface="Cambria Math" panose="02040503050406030204" pitchFamily="18" charset="0"/>
                          <a:ea typeface="Calibri"/>
                          <a:cs typeface="Calibri"/>
                        </a:rPr>
                        <m:t>−</m:t>
                      </m:r>
                      <m:f>
                        <m:fPr>
                          <m:ctrlPr>
                            <a:rPr lang="en-GB" sz="1200" b="0" i="1" smtClean="0">
                              <a:solidFill>
                                <a:schemeClr val="tx1"/>
                              </a:solidFill>
                              <a:latin typeface="Cambria Math" panose="02040503050406030204" pitchFamily="18" charset="0"/>
                              <a:ea typeface="Calibri"/>
                              <a:cs typeface="Calibri"/>
                            </a:rPr>
                          </m:ctrlPr>
                        </m:fPr>
                        <m:num>
                          <m:r>
                            <a:rPr lang="en-GB" sz="1200" b="0" i="1" smtClean="0">
                              <a:solidFill>
                                <a:schemeClr val="tx1"/>
                              </a:solidFill>
                              <a:latin typeface="Cambria Math" panose="02040503050406030204" pitchFamily="18" charset="0"/>
                              <a:ea typeface="Calibri"/>
                              <a:cs typeface="Calibri"/>
                            </a:rPr>
                            <m:t>1</m:t>
                          </m:r>
                        </m:num>
                        <m:den>
                          <m:r>
                            <a:rPr lang="en-GB" sz="1200" b="0" i="1" smtClean="0">
                              <a:solidFill>
                                <a:schemeClr val="tx1"/>
                              </a:solidFill>
                              <a:latin typeface="Cambria Math" panose="02040503050406030204" pitchFamily="18" charset="0"/>
                              <a:ea typeface="Calibri"/>
                              <a:cs typeface="Calibri"/>
                            </a:rPr>
                            <m:t>5</m:t>
                          </m:r>
                        </m:den>
                      </m:f>
                      <m:r>
                        <a:rPr lang="en-GB" sz="1200" b="0" i="1" smtClean="0">
                          <a:solidFill>
                            <a:schemeClr val="tx1"/>
                          </a:solidFill>
                          <a:latin typeface="Cambria Math" panose="02040503050406030204" pitchFamily="18" charset="0"/>
                          <a:ea typeface="Calibri"/>
                          <a:cs typeface="Calibri"/>
                        </a:rPr>
                        <m:t>=</m:t>
                      </m:r>
                      <m:f>
                        <m:fPr>
                          <m:ctrlPr>
                            <a:rPr lang="en-GB" sz="1200" b="0" i="1" smtClean="0">
                              <a:solidFill>
                                <a:schemeClr val="tx1"/>
                              </a:solidFill>
                              <a:latin typeface="Cambria Math" panose="02040503050406030204" pitchFamily="18" charset="0"/>
                              <a:ea typeface="Calibri"/>
                              <a:cs typeface="Calibri"/>
                            </a:rPr>
                          </m:ctrlPr>
                        </m:fPr>
                        <m:num>
                          <m:r>
                            <a:rPr lang="en-GB" sz="1200" b="0" i="1" smtClean="0">
                              <a:solidFill>
                                <a:schemeClr val="tx1"/>
                              </a:solidFill>
                              <a:latin typeface="Cambria Math" panose="02040503050406030204" pitchFamily="18" charset="0"/>
                              <a:ea typeface="Calibri"/>
                              <a:cs typeface="Calibri"/>
                            </a:rPr>
                            <m:t>3</m:t>
                          </m:r>
                        </m:num>
                        <m:den>
                          <m:r>
                            <a:rPr lang="en-GB" sz="1200" b="0" i="1" smtClean="0">
                              <a:solidFill>
                                <a:schemeClr val="tx1"/>
                              </a:solidFill>
                              <a:latin typeface="Cambria Math" panose="02040503050406030204" pitchFamily="18" charset="0"/>
                              <a:ea typeface="Calibri"/>
                              <a:cs typeface="Calibri"/>
                            </a:rPr>
                            <m:t>5</m:t>
                          </m:r>
                        </m:den>
                      </m:f>
                    </m:oMath>
                  </m:oMathPara>
                </a14:m>
                <a:endParaRPr lang="en-US" sz="1200">
                  <a:solidFill>
                    <a:schemeClr val="tx1"/>
                  </a:solidFill>
                  <a:ea typeface="Calibri"/>
                  <a:cs typeface="Calibri"/>
                </a:endParaRPr>
              </a:p>
            </p:txBody>
          </p:sp>
        </mc:Choice>
        <mc:Fallback xmlns="">
          <p:sp>
            <p:nvSpPr>
              <p:cNvPr id="64" name="TextBox 63">
                <a:extLst>
                  <a:ext uri="{FF2B5EF4-FFF2-40B4-BE49-F238E27FC236}">
                    <a16:creationId xmlns:a16="http://schemas.microsoft.com/office/drawing/2014/main" id="{953070FD-BF2A-67A6-1B87-C44D58816DD5}"/>
                  </a:ext>
                </a:extLst>
              </p:cNvPr>
              <p:cNvSpPr txBox="1">
                <a:spLocks noRot="1" noChangeAspect="1" noMove="1" noResize="1" noEditPoints="1" noAdjustHandles="1" noChangeArrowheads="1" noChangeShapeType="1" noTextEdit="1"/>
              </p:cNvSpPr>
              <p:nvPr/>
            </p:nvSpPr>
            <p:spPr>
              <a:xfrm>
                <a:off x="3430607" y="2110167"/>
                <a:ext cx="3230335" cy="808555"/>
              </a:xfrm>
              <a:prstGeom prst="rect">
                <a:avLst/>
              </a:prstGeom>
              <a:blipFill>
                <a:blip r:embed="rId4"/>
                <a:stretch>
                  <a:fillRect l="-189"/>
                </a:stretch>
              </a:blipFill>
            </p:spPr>
            <p:txBody>
              <a:bodyPr/>
              <a:lstStyle/>
              <a:p>
                <a:r>
                  <a:rPr lang="en-US">
                    <a:noFill/>
                  </a:rPr>
                  <a:t> </a:t>
                </a:r>
              </a:p>
            </p:txBody>
          </p:sp>
        </mc:Fallback>
      </mc:AlternateContent>
      <p:cxnSp>
        <p:nvCxnSpPr>
          <p:cNvPr id="3" name="Straight Arrow Connector 2">
            <a:extLst>
              <a:ext uri="{FF2B5EF4-FFF2-40B4-BE49-F238E27FC236}">
                <a16:creationId xmlns:a16="http://schemas.microsoft.com/office/drawing/2014/main" id="{9F573525-37A6-A7E0-D718-FF2D33089A4F}"/>
              </a:ext>
            </a:extLst>
          </p:cNvPr>
          <p:cNvCxnSpPr/>
          <p:nvPr/>
        </p:nvCxnSpPr>
        <p:spPr>
          <a:xfrm flipH="1" flipV="1">
            <a:off x="5431807" y="948009"/>
            <a:ext cx="257659" cy="2863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3D87BB2-0A2A-4CC6-FAAA-D04F2A4D72E4}"/>
              </a:ext>
            </a:extLst>
          </p:cNvPr>
          <p:cNvSpPr txBox="1"/>
          <p:nvPr/>
        </p:nvSpPr>
        <p:spPr>
          <a:xfrm>
            <a:off x="5616787" y="829620"/>
            <a:ext cx="274319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ea typeface="Calibri"/>
                <a:cs typeface="Calibri"/>
              </a:rPr>
              <a:t>Product </a:t>
            </a:r>
          </a:p>
        </p:txBody>
      </p:sp>
      <p:cxnSp>
        <p:nvCxnSpPr>
          <p:cNvPr id="8" name="Straight Arrow Connector 7">
            <a:extLst>
              <a:ext uri="{FF2B5EF4-FFF2-40B4-BE49-F238E27FC236}">
                <a16:creationId xmlns:a16="http://schemas.microsoft.com/office/drawing/2014/main" id="{B3C58C99-0691-B876-683E-EDFCAE789A6A}"/>
              </a:ext>
            </a:extLst>
          </p:cNvPr>
          <p:cNvCxnSpPr>
            <a:cxnSpLocks/>
          </p:cNvCxnSpPr>
          <p:nvPr/>
        </p:nvCxnSpPr>
        <p:spPr>
          <a:xfrm flipV="1">
            <a:off x="4660531" y="918922"/>
            <a:ext cx="129797" cy="3541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107107C-4B48-71D8-FB6C-E71C6E70A2FA}"/>
              </a:ext>
            </a:extLst>
          </p:cNvPr>
          <p:cNvCxnSpPr>
            <a:cxnSpLocks/>
          </p:cNvCxnSpPr>
          <p:nvPr/>
        </p:nvCxnSpPr>
        <p:spPr>
          <a:xfrm flipV="1">
            <a:off x="4659002" y="967293"/>
            <a:ext cx="352584" cy="3250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94B026F-14FD-1A7E-1B4D-250D0AE7BB81}"/>
              </a:ext>
            </a:extLst>
          </p:cNvPr>
          <p:cNvSpPr txBox="1"/>
          <p:nvPr/>
        </p:nvSpPr>
        <p:spPr>
          <a:xfrm>
            <a:off x="4359794" y="1210211"/>
            <a:ext cx="274319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ea typeface="Calibri"/>
                <a:cs typeface="Calibri"/>
              </a:rPr>
              <a:t>Factors</a:t>
            </a:r>
            <a:endParaRPr lang="en-US"/>
          </a:p>
        </p:txBody>
      </p:sp>
      <p:graphicFrame>
        <p:nvGraphicFramePr>
          <p:cNvPr id="14" name="Table 13">
            <a:extLst>
              <a:ext uri="{FF2B5EF4-FFF2-40B4-BE49-F238E27FC236}">
                <a16:creationId xmlns:a16="http://schemas.microsoft.com/office/drawing/2014/main" id="{72E9C084-9238-4EA5-95DA-BB12B19F5FE8}"/>
              </a:ext>
            </a:extLst>
          </p:cNvPr>
          <p:cNvGraphicFramePr>
            <a:graphicFrameLocks noGrp="1"/>
          </p:cNvGraphicFramePr>
          <p:nvPr>
            <p:extLst>
              <p:ext uri="{D42A27DB-BD31-4B8C-83A1-F6EECF244321}">
                <p14:modId xmlns:p14="http://schemas.microsoft.com/office/powerpoint/2010/main" val="888194311"/>
              </p:ext>
            </p:extLst>
          </p:nvPr>
        </p:nvGraphicFramePr>
        <p:xfrm>
          <a:off x="193512" y="3344429"/>
          <a:ext cx="6470975" cy="2431231"/>
        </p:xfrm>
        <a:graphic>
          <a:graphicData uri="http://schemas.openxmlformats.org/drawingml/2006/table">
            <a:tbl>
              <a:tblPr firstRow="1" bandRow="1">
                <a:tableStyleId>{5C22544A-7EE6-4342-B048-85BDC9FD1C3A}</a:tableStyleId>
              </a:tblPr>
              <a:tblGrid>
                <a:gridCol w="2026215">
                  <a:extLst>
                    <a:ext uri="{9D8B030D-6E8A-4147-A177-3AD203B41FA5}">
                      <a16:colId xmlns:a16="http://schemas.microsoft.com/office/drawing/2014/main" val="3551711160"/>
                    </a:ext>
                  </a:extLst>
                </a:gridCol>
                <a:gridCol w="2222380">
                  <a:extLst>
                    <a:ext uri="{9D8B030D-6E8A-4147-A177-3AD203B41FA5}">
                      <a16:colId xmlns:a16="http://schemas.microsoft.com/office/drawing/2014/main" val="1712497518"/>
                    </a:ext>
                  </a:extLst>
                </a:gridCol>
                <a:gridCol w="2222380">
                  <a:extLst>
                    <a:ext uri="{9D8B030D-6E8A-4147-A177-3AD203B41FA5}">
                      <a16:colId xmlns:a16="http://schemas.microsoft.com/office/drawing/2014/main" val="886122921"/>
                    </a:ext>
                  </a:extLst>
                </a:gridCol>
              </a:tblGrid>
              <a:tr h="326808">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34 x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43 x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36 x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104423">
                <a:tc>
                  <a:txBody>
                    <a:bodyPr/>
                    <a:lstStyle/>
                    <a:p>
                      <a:pPr algn="ctr"/>
                      <a:endParaRPr lang="en-US" sz="1100" b="1" baseline="0" dirty="0">
                        <a:solidFill>
                          <a:srgbClr val="FF0000"/>
                        </a:solidFill>
                      </a:endParaRPr>
                    </a:p>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endParaRPr>
                    </a:p>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endParaRPr>
                    </a:p>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15" name="Rectangle 14">
            <a:extLst>
              <a:ext uri="{FF2B5EF4-FFF2-40B4-BE49-F238E27FC236}">
                <a16:creationId xmlns:a16="http://schemas.microsoft.com/office/drawing/2014/main" id="{144F46D7-E377-245F-5B79-C8BEBE87BEBA}"/>
              </a:ext>
            </a:extLst>
          </p:cNvPr>
          <p:cNvSpPr/>
          <p:nvPr/>
        </p:nvSpPr>
        <p:spPr>
          <a:xfrm>
            <a:off x="0" y="28017"/>
            <a:ext cx="6641599" cy="23365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Multiplication</a:t>
            </a:r>
            <a:endParaRPr lang="en-GB" sz="1200" dirty="0">
              <a:solidFill>
                <a:schemeClr val="bg1"/>
              </a:solidFill>
            </a:endParaRPr>
          </a:p>
        </p:txBody>
      </p:sp>
      <p:sp>
        <p:nvSpPr>
          <p:cNvPr id="16" name="TextBox 15">
            <a:extLst>
              <a:ext uri="{FF2B5EF4-FFF2-40B4-BE49-F238E27FC236}">
                <a16:creationId xmlns:a16="http://schemas.microsoft.com/office/drawing/2014/main" id="{AB5735C2-6EC1-DFC5-DA1D-2F770935F915}"/>
              </a:ext>
            </a:extLst>
          </p:cNvPr>
          <p:cNvSpPr txBox="1"/>
          <p:nvPr/>
        </p:nvSpPr>
        <p:spPr>
          <a:xfrm>
            <a:off x="511488" y="3052069"/>
            <a:ext cx="1410704" cy="276999"/>
          </a:xfrm>
          <a:prstGeom prst="rect">
            <a:avLst/>
          </a:prstGeom>
          <a:noFill/>
          <a:ln>
            <a:noFill/>
          </a:ln>
        </p:spPr>
        <p:txBody>
          <a:bodyPr wrap="square" rtlCol="0">
            <a:spAutoFit/>
          </a:bodyPr>
          <a:lstStyle/>
          <a:p>
            <a:r>
              <a:rPr lang="en-GB" sz="1200" b="1" i="1" dirty="0">
                <a:solidFill>
                  <a:srgbClr val="FF0000"/>
                </a:solidFill>
              </a:rPr>
              <a:t>Example 28 - I do…</a:t>
            </a:r>
          </a:p>
        </p:txBody>
      </p:sp>
      <p:sp>
        <p:nvSpPr>
          <p:cNvPr id="21" name="TextBox 20">
            <a:extLst>
              <a:ext uri="{FF2B5EF4-FFF2-40B4-BE49-F238E27FC236}">
                <a16:creationId xmlns:a16="http://schemas.microsoft.com/office/drawing/2014/main" id="{89A0C344-4E6E-6E2A-0151-F218F2B3A061}"/>
              </a:ext>
            </a:extLst>
          </p:cNvPr>
          <p:cNvSpPr txBox="1"/>
          <p:nvPr/>
        </p:nvSpPr>
        <p:spPr>
          <a:xfrm>
            <a:off x="4795084" y="3067429"/>
            <a:ext cx="1643405" cy="276999"/>
          </a:xfrm>
          <a:prstGeom prst="rect">
            <a:avLst/>
          </a:prstGeom>
          <a:noFill/>
          <a:ln>
            <a:noFill/>
          </a:ln>
        </p:spPr>
        <p:txBody>
          <a:bodyPr wrap="square" rtlCol="0">
            <a:spAutoFit/>
          </a:bodyPr>
          <a:lstStyle/>
          <a:p>
            <a:r>
              <a:rPr lang="en-GB" sz="1200" b="1" i="1" dirty="0">
                <a:solidFill>
                  <a:srgbClr val="00B050"/>
                </a:solidFill>
              </a:rPr>
              <a:t>Example 30– You do…</a:t>
            </a:r>
          </a:p>
        </p:txBody>
      </p:sp>
      <p:sp>
        <p:nvSpPr>
          <p:cNvPr id="27" name="TextBox 26">
            <a:extLst>
              <a:ext uri="{FF2B5EF4-FFF2-40B4-BE49-F238E27FC236}">
                <a16:creationId xmlns:a16="http://schemas.microsoft.com/office/drawing/2014/main" id="{5B8AACCC-58A8-19EE-D81B-943D42146B43}"/>
              </a:ext>
            </a:extLst>
          </p:cNvPr>
          <p:cNvSpPr txBox="1"/>
          <p:nvPr/>
        </p:nvSpPr>
        <p:spPr>
          <a:xfrm>
            <a:off x="2602802" y="3067430"/>
            <a:ext cx="1643405" cy="276999"/>
          </a:xfrm>
          <a:prstGeom prst="rect">
            <a:avLst/>
          </a:prstGeom>
          <a:noFill/>
          <a:ln>
            <a:noFill/>
          </a:ln>
        </p:spPr>
        <p:txBody>
          <a:bodyPr wrap="square" rtlCol="0">
            <a:spAutoFit/>
          </a:bodyPr>
          <a:lstStyle/>
          <a:p>
            <a:r>
              <a:rPr lang="en-GB" sz="1200" b="1" i="1" dirty="0">
                <a:solidFill>
                  <a:schemeClr val="accent2"/>
                </a:solidFill>
              </a:rPr>
              <a:t>Example 29 – We do…</a:t>
            </a:r>
          </a:p>
        </p:txBody>
      </p:sp>
      <p:graphicFrame>
        <p:nvGraphicFramePr>
          <p:cNvPr id="34" name="Table 33">
            <a:extLst>
              <a:ext uri="{FF2B5EF4-FFF2-40B4-BE49-F238E27FC236}">
                <a16:creationId xmlns:a16="http://schemas.microsoft.com/office/drawing/2014/main" id="{B48827C3-C978-FB61-FEEB-E161D6BECBA1}"/>
              </a:ext>
            </a:extLst>
          </p:cNvPr>
          <p:cNvGraphicFramePr>
            <a:graphicFrameLocks noGrp="1"/>
          </p:cNvGraphicFramePr>
          <p:nvPr>
            <p:extLst>
              <p:ext uri="{D42A27DB-BD31-4B8C-83A1-F6EECF244321}">
                <p14:modId xmlns:p14="http://schemas.microsoft.com/office/powerpoint/2010/main" val="3349031298"/>
              </p:ext>
            </p:extLst>
          </p:nvPr>
        </p:nvGraphicFramePr>
        <p:xfrm>
          <a:off x="178018" y="6115847"/>
          <a:ext cx="6532591" cy="3440357"/>
        </p:xfrm>
        <a:graphic>
          <a:graphicData uri="http://schemas.openxmlformats.org/drawingml/2006/table">
            <a:tbl>
              <a:tblPr firstRow="1" bandRow="1">
                <a:tableStyleId>{5C22544A-7EE6-4342-B048-85BDC9FD1C3A}</a:tableStyleId>
              </a:tblPr>
              <a:tblGrid>
                <a:gridCol w="2182567">
                  <a:extLst>
                    <a:ext uri="{9D8B030D-6E8A-4147-A177-3AD203B41FA5}">
                      <a16:colId xmlns:a16="http://schemas.microsoft.com/office/drawing/2014/main" val="3632647821"/>
                    </a:ext>
                  </a:extLst>
                </a:gridCol>
                <a:gridCol w="2182567">
                  <a:extLst>
                    <a:ext uri="{9D8B030D-6E8A-4147-A177-3AD203B41FA5}">
                      <a16:colId xmlns:a16="http://schemas.microsoft.com/office/drawing/2014/main" val="3246861082"/>
                    </a:ext>
                  </a:extLst>
                </a:gridCol>
                <a:gridCol w="2167457">
                  <a:extLst>
                    <a:ext uri="{9D8B030D-6E8A-4147-A177-3AD203B41FA5}">
                      <a16:colId xmlns:a16="http://schemas.microsoft.com/office/drawing/2014/main" val="3322670567"/>
                    </a:ext>
                  </a:extLst>
                </a:gridCol>
              </a:tblGrid>
              <a:tr h="331404">
                <a:tc gridSpan="3">
                  <a:txBody>
                    <a:bodyPr/>
                    <a:lstStyle/>
                    <a:p>
                      <a:r>
                        <a:rPr lang="en-US" sz="1200" b="0" baseline="0" dirty="0">
                          <a:solidFill>
                            <a:schemeClr val="tx1"/>
                          </a:solidFill>
                          <a:latin typeface="+mn-lt"/>
                        </a:rPr>
                        <a:t>21. Without a calculator, calculate the following: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5532570"/>
                  </a:ext>
                </a:extLst>
              </a:tr>
              <a:tr h="263769">
                <a:tc>
                  <a:txBody>
                    <a:bodyPr/>
                    <a:lstStyle/>
                    <a:p>
                      <a:r>
                        <a:rPr lang="en-US" sz="1100" baseline="0">
                          <a:solidFill>
                            <a:schemeClr val="tx1"/>
                          </a:solidFill>
                          <a:latin typeface="+mn-lt"/>
                        </a:rPr>
                        <a:t>a) 32 x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a:solidFill>
                            <a:schemeClr val="tx1"/>
                          </a:solidFill>
                          <a:latin typeface="+mn-lt"/>
                        </a:rPr>
                        <a:t>b) 23 x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c) 46 x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6664857"/>
                  </a:ext>
                </a:extLst>
              </a:tr>
              <a:tr h="1290654">
                <a:tc>
                  <a:txBody>
                    <a:bodyPr/>
                    <a:lstStyle/>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1193512"/>
                  </a:ext>
                </a:extLst>
              </a:tr>
              <a:tr h="263876">
                <a:tc>
                  <a:txBody>
                    <a:bodyPr/>
                    <a:lstStyle/>
                    <a:p>
                      <a:r>
                        <a:rPr lang="en-US" sz="1100" baseline="0" dirty="0">
                          <a:solidFill>
                            <a:schemeClr val="tx1"/>
                          </a:solidFill>
                          <a:latin typeface="+mn-lt"/>
                        </a:rPr>
                        <a:t>d) 46 x 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e) 9 x 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f) 98 x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662944"/>
                  </a:ext>
                </a:extLst>
              </a:tr>
              <a:tr h="1290654">
                <a:tc>
                  <a:txBody>
                    <a:bodyPr/>
                    <a:lstStyle/>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1750854"/>
                  </a:ext>
                </a:extLst>
              </a:tr>
            </a:tbl>
          </a:graphicData>
        </a:graphic>
      </p:graphicFrame>
      <p:sp>
        <p:nvSpPr>
          <p:cNvPr id="2" name="Slide Number Placeholder 2">
            <a:extLst>
              <a:ext uri="{FF2B5EF4-FFF2-40B4-BE49-F238E27FC236}">
                <a16:creationId xmlns:a16="http://schemas.microsoft.com/office/drawing/2014/main" id="{26D8BBF3-D1D5-A0DD-0E8F-ABB971B55EC2}"/>
              </a:ext>
            </a:extLst>
          </p:cNvPr>
          <p:cNvSpPr>
            <a:spLocks noGrp="1"/>
          </p:cNvSpPr>
          <p:nvPr>
            <p:ph type="sldNum" sz="quarter" idx="12"/>
          </p:nvPr>
        </p:nvSpPr>
        <p:spPr>
          <a:xfrm>
            <a:off x="5294092" y="9400028"/>
            <a:ext cx="1543050" cy="527403"/>
          </a:xfrm>
        </p:spPr>
        <p:txBody>
          <a:bodyPr/>
          <a:lstStyle/>
          <a:p>
            <a:fld id="{19F1D9CC-7119-45EC-A96C-D8C0660F3AAB}" type="slidenum">
              <a:rPr lang="en-GB" smtClean="0"/>
              <a:t>55</a:t>
            </a:fld>
            <a:endParaRPr lang="en-GB" dirty="0"/>
          </a:p>
        </p:txBody>
      </p:sp>
      <p:sp>
        <p:nvSpPr>
          <p:cNvPr id="4" name="Rectangle 3">
            <a:extLst>
              <a:ext uri="{FF2B5EF4-FFF2-40B4-BE49-F238E27FC236}">
                <a16:creationId xmlns:a16="http://schemas.microsoft.com/office/drawing/2014/main" id="{873629F9-6512-3937-7AA4-83474ECE9D18}"/>
              </a:ext>
            </a:extLst>
          </p:cNvPr>
          <p:cNvSpPr/>
          <p:nvPr/>
        </p:nvSpPr>
        <p:spPr>
          <a:xfrm>
            <a:off x="193512" y="5813829"/>
            <a:ext cx="2082710" cy="30201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13641638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57813" y="9580120"/>
            <a:ext cx="1543050" cy="527403"/>
          </a:xfrm>
        </p:spPr>
        <p:txBody>
          <a:bodyPr/>
          <a:lstStyle/>
          <a:p>
            <a:fld id="{19F1D9CC-7119-45EC-A96C-D8C0660F3AAB}" type="slidenum">
              <a:rPr lang="en-GB" smtClean="0"/>
              <a:t>56</a:t>
            </a:fld>
            <a:endParaRPr lang="en-GB"/>
          </a:p>
        </p:txBody>
      </p:sp>
      <p:graphicFrame>
        <p:nvGraphicFramePr>
          <p:cNvPr id="2" name="Table 1">
            <a:extLst>
              <a:ext uri="{FF2B5EF4-FFF2-40B4-BE49-F238E27FC236}">
                <a16:creationId xmlns:a16="http://schemas.microsoft.com/office/drawing/2014/main" id="{421859EE-1D5E-C914-7298-18DBB54F8984}"/>
              </a:ext>
            </a:extLst>
          </p:cNvPr>
          <p:cNvGraphicFramePr>
            <a:graphicFrameLocks noGrp="1"/>
          </p:cNvGraphicFramePr>
          <p:nvPr>
            <p:extLst>
              <p:ext uri="{D42A27DB-BD31-4B8C-83A1-F6EECF244321}">
                <p14:modId xmlns:p14="http://schemas.microsoft.com/office/powerpoint/2010/main" val="2742625378"/>
              </p:ext>
            </p:extLst>
          </p:nvPr>
        </p:nvGraphicFramePr>
        <p:xfrm>
          <a:off x="127681" y="0"/>
          <a:ext cx="6635254" cy="3014644"/>
        </p:xfrm>
        <a:graphic>
          <a:graphicData uri="http://schemas.openxmlformats.org/drawingml/2006/table">
            <a:tbl>
              <a:tblPr firstRow="1" bandRow="1">
                <a:tableStyleId>{5C22544A-7EE6-4342-B048-85BDC9FD1C3A}</a:tableStyleId>
              </a:tblPr>
              <a:tblGrid>
                <a:gridCol w="2118176">
                  <a:extLst>
                    <a:ext uri="{9D8B030D-6E8A-4147-A177-3AD203B41FA5}">
                      <a16:colId xmlns:a16="http://schemas.microsoft.com/office/drawing/2014/main" val="3551711160"/>
                    </a:ext>
                  </a:extLst>
                </a:gridCol>
                <a:gridCol w="2258539">
                  <a:extLst>
                    <a:ext uri="{9D8B030D-6E8A-4147-A177-3AD203B41FA5}">
                      <a16:colId xmlns:a16="http://schemas.microsoft.com/office/drawing/2014/main" val="1712497518"/>
                    </a:ext>
                  </a:extLst>
                </a:gridCol>
                <a:gridCol w="2258539">
                  <a:extLst>
                    <a:ext uri="{9D8B030D-6E8A-4147-A177-3AD203B41FA5}">
                      <a16:colId xmlns:a16="http://schemas.microsoft.com/office/drawing/2014/main" val="886122921"/>
                    </a:ext>
                  </a:extLst>
                </a:gridCol>
              </a:tblGrid>
              <a:tr h="31472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314724">
                <a:tc>
                  <a:txBody>
                    <a:bodyPr/>
                    <a:lstStyle/>
                    <a:p>
                      <a:pPr algn="ctr"/>
                      <a:r>
                        <a:rPr lang="en-GB" sz="1100" b="0" i="0" kern="1200">
                          <a:solidFill>
                            <a:schemeClr val="dk1"/>
                          </a:solidFill>
                          <a:effectLst/>
                          <a:latin typeface="+mn-lt"/>
                          <a:ea typeface="+mn-ea"/>
                          <a:cs typeface="+mn-cs"/>
                        </a:rPr>
                        <a:t>14 x 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23 x 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18 x 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385196">
                <a:tc>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3" name="TextBox 2">
            <a:extLst>
              <a:ext uri="{FF2B5EF4-FFF2-40B4-BE49-F238E27FC236}">
                <a16:creationId xmlns:a16="http://schemas.microsoft.com/office/drawing/2014/main" id="{921C4FDE-D3ED-01CB-8AE1-5EA806BE8809}"/>
              </a:ext>
            </a:extLst>
          </p:cNvPr>
          <p:cNvSpPr txBox="1"/>
          <p:nvPr/>
        </p:nvSpPr>
        <p:spPr>
          <a:xfrm>
            <a:off x="498022" y="45067"/>
            <a:ext cx="1410704" cy="276999"/>
          </a:xfrm>
          <a:prstGeom prst="rect">
            <a:avLst/>
          </a:prstGeom>
          <a:noFill/>
          <a:ln>
            <a:noFill/>
          </a:ln>
        </p:spPr>
        <p:txBody>
          <a:bodyPr wrap="square" rtlCol="0">
            <a:spAutoFit/>
          </a:bodyPr>
          <a:lstStyle/>
          <a:p>
            <a:r>
              <a:rPr lang="en-GB" sz="1200" b="1" i="1" dirty="0">
                <a:solidFill>
                  <a:srgbClr val="FF0000"/>
                </a:solidFill>
              </a:rPr>
              <a:t>Example 31 - I do…</a:t>
            </a:r>
          </a:p>
        </p:txBody>
      </p:sp>
      <p:sp>
        <p:nvSpPr>
          <p:cNvPr id="8" name="TextBox 7">
            <a:extLst>
              <a:ext uri="{FF2B5EF4-FFF2-40B4-BE49-F238E27FC236}">
                <a16:creationId xmlns:a16="http://schemas.microsoft.com/office/drawing/2014/main" id="{79D1296C-8666-2741-6293-FBCB61ADCA66}"/>
              </a:ext>
            </a:extLst>
          </p:cNvPr>
          <p:cNvSpPr txBox="1"/>
          <p:nvPr/>
        </p:nvSpPr>
        <p:spPr>
          <a:xfrm>
            <a:off x="4966920" y="37476"/>
            <a:ext cx="1643405" cy="276999"/>
          </a:xfrm>
          <a:prstGeom prst="rect">
            <a:avLst/>
          </a:prstGeom>
          <a:noFill/>
          <a:ln>
            <a:noFill/>
          </a:ln>
        </p:spPr>
        <p:txBody>
          <a:bodyPr wrap="square" rtlCol="0">
            <a:spAutoFit/>
          </a:bodyPr>
          <a:lstStyle/>
          <a:p>
            <a:r>
              <a:rPr lang="en-GB" sz="1200" b="1" i="1" dirty="0">
                <a:solidFill>
                  <a:srgbClr val="00B050"/>
                </a:solidFill>
              </a:rPr>
              <a:t>Example 33 – You do…</a:t>
            </a:r>
          </a:p>
        </p:txBody>
      </p:sp>
      <p:sp>
        <p:nvSpPr>
          <p:cNvPr id="9" name="TextBox 8">
            <a:extLst>
              <a:ext uri="{FF2B5EF4-FFF2-40B4-BE49-F238E27FC236}">
                <a16:creationId xmlns:a16="http://schemas.microsoft.com/office/drawing/2014/main" id="{ECA71EC7-A1B1-473C-3297-C13292CC5508}"/>
              </a:ext>
            </a:extLst>
          </p:cNvPr>
          <p:cNvSpPr txBox="1"/>
          <p:nvPr/>
        </p:nvSpPr>
        <p:spPr>
          <a:xfrm>
            <a:off x="2575911" y="49597"/>
            <a:ext cx="1643405" cy="276999"/>
          </a:xfrm>
          <a:prstGeom prst="rect">
            <a:avLst/>
          </a:prstGeom>
          <a:noFill/>
          <a:ln>
            <a:noFill/>
          </a:ln>
        </p:spPr>
        <p:txBody>
          <a:bodyPr wrap="square" rtlCol="0">
            <a:spAutoFit/>
          </a:bodyPr>
          <a:lstStyle/>
          <a:p>
            <a:r>
              <a:rPr lang="en-GB" sz="1200" b="1" i="1" dirty="0">
                <a:solidFill>
                  <a:schemeClr val="accent2"/>
                </a:solidFill>
              </a:rPr>
              <a:t>Example 32 – We do…</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563F0C6-5439-1D3B-8142-4DE5E8146F86}"/>
                  </a:ext>
                </a:extLst>
              </p:cNvPr>
              <p:cNvGraphicFramePr>
                <a:graphicFrameLocks noGrp="1"/>
              </p:cNvGraphicFramePr>
              <p:nvPr>
                <p:extLst>
                  <p:ext uri="{D42A27DB-BD31-4B8C-83A1-F6EECF244321}">
                    <p14:modId xmlns:p14="http://schemas.microsoft.com/office/powerpoint/2010/main" val="1552340771"/>
                  </p:ext>
                </p:extLst>
              </p:nvPr>
            </p:nvGraphicFramePr>
            <p:xfrm>
              <a:off x="168867" y="3361729"/>
              <a:ext cx="6552882" cy="6334721"/>
            </p:xfrm>
            <a:graphic>
              <a:graphicData uri="http://schemas.openxmlformats.org/drawingml/2006/table">
                <a:tbl>
                  <a:tblPr firstRow="1" bandRow="1">
                    <a:tableStyleId>{5C22544A-7EE6-4342-B048-85BDC9FD1C3A}</a:tableStyleId>
                  </a:tblPr>
                  <a:tblGrid>
                    <a:gridCol w="2184294">
                      <a:extLst>
                        <a:ext uri="{9D8B030D-6E8A-4147-A177-3AD203B41FA5}">
                          <a16:colId xmlns:a16="http://schemas.microsoft.com/office/drawing/2014/main" val="3632647821"/>
                        </a:ext>
                      </a:extLst>
                    </a:gridCol>
                    <a:gridCol w="2184294">
                      <a:extLst>
                        <a:ext uri="{9D8B030D-6E8A-4147-A177-3AD203B41FA5}">
                          <a16:colId xmlns:a16="http://schemas.microsoft.com/office/drawing/2014/main" val="1889165231"/>
                        </a:ext>
                      </a:extLst>
                    </a:gridCol>
                    <a:gridCol w="2184294">
                      <a:extLst>
                        <a:ext uri="{9D8B030D-6E8A-4147-A177-3AD203B41FA5}">
                          <a16:colId xmlns:a16="http://schemas.microsoft.com/office/drawing/2014/main" val="3322670567"/>
                        </a:ext>
                      </a:extLst>
                    </a:gridCol>
                  </a:tblGrid>
                  <a:tr h="423032">
                    <a:tc grid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22. Without a calculator, calculate the following: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5532570"/>
                      </a:ext>
                    </a:extLst>
                  </a:tr>
                  <a:tr h="335183">
                    <a:tc>
                      <a:txBody>
                        <a:bodyPr/>
                        <a:lstStyle/>
                        <a:p>
                          <a:r>
                            <a:rPr lang="en-US" sz="1100" baseline="0">
                              <a:solidFill>
                                <a:schemeClr val="tx1"/>
                              </a:solidFill>
                              <a:latin typeface="+mn-lt"/>
                            </a:rPr>
                            <a:t>a) 32 x 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b) 23 x 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c) 46 x 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6664857"/>
                      </a:ext>
                    </a:extLst>
                  </a:tr>
                  <a:tr h="1690306">
                    <a:tc>
                      <a:txBody>
                        <a:bodyPr/>
                        <a:lstStyle/>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1193512"/>
                      </a:ext>
                    </a:extLst>
                  </a:tr>
                  <a:tr h="376181">
                    <a:tc>
                      <a:txBody>
                        <a:bodyPr/>
                        <a:lstStyle/>
                        <a:p>
                          <a:r>
                            <a:rPr lang="en-US" sz="1100" baseline="0" dirty="0">
                              <a:solidFill>
                                <a:schemeClr val="tx1"/>
                              </a:solidFill>
                              <a:latin typeface="+mn-lt"/>
                            </a:rPr>
                            <a:t>d) 40 x 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e) 59 x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f) 98 x 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662944"/>
                      </a:ext>
                    </a:extLst>
                  </a:tr>
                  <a:tr h="1557394">
                    <a:tc>
                      <a:txBody>
                        <a:bodyPr/>
                        <a:lstStyle/>
                        <a:p>
                          <a:pPr algn="ctr"/>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1750854"/>
                      </a:ext>
                    </a:extLst>
                  </a:tr>
                  <a:tr h="174240">
                    <a:tc>
                      <a:txBody>
                        <a:bodyPr/>
                        <a:lstStyle/>
                        <a:p>
                          <a:r>
                            <a:rPr lang="en-US" sz="1100" baseline="0" dirty="0">
                              <a:solidFill>
                                <a:schemeClr val="tx1"/>
                              </a:solidFill>
                              <a:latin typeface="+mn-lt"/>
                            </a:rPr>
                            <a:t>g) </a:t>
                          </a:r>
                          <a14:m>
                            <m:oMath xmlns:m="http://schemas.openxmlformats.org/officeDocument/2006/math">
                              <m:r>
                                <a:rPr lang="en-GB" sz="1100" b="0" i="1" baseline="0" smtClean="0">
                                  <a:solidFill>
                                    <a:schemeClr val="tx1"/>
                                  </a:solidFill>
                                  <a:latin typeface="Cambria Math" panose="02040503050406030204" pitchFamily="18" charset="0"/>
                                </a:rPr>
                                <m:t>79×31</m:t>
                              </m:r>
                            </m:oMath>
                          </a14:m>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h) </a:t>
                          </a:r>
                          <a14:m>
                            <m:oMath xmlns:m="http://schemas.openxmlformats.org/officeDocument/2006/math">
                              <m:r>
                                <a:rPr lang="en-GB" sz="1100" b="0" i="1" baseline="0" smtClean="0">
                                  <a:solidFill>
                                    <a:schemeClr val="tx1"/>
                                  </a:solidFill>
                                  <a:latin typeface="Cambria Math" panose="02040503050406030204" pitchFamily="18" charset="0"/>
                                </a:rPr>
                                <m:t>59×78</m:t>
                              </m:r>
                            </m:oMath>
                          </a14:m>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i) </a:t>
                          </a:r>
                          <a14:m>
                            <m:oMath xmlns:m="http://schemas.openxmlformats.org/officeDocument/2006/math">
                              <m:r>
                                <a:rPr lang="en-GB" sz="1100" b="0" i="1" baseline="0" smtClean="0">
                                  <a:solidFill>
                                    <a:schemeClr val="tx1"/>
                                  </a:solidFill>
                                  <a:latin typeface="Cambria Math" panose="02040503050406030204" pitchFamily="18" charset="0"/>
                                </a:rPr>
                                <m:t>75×75</m:t>
                              </m:r>
                            </m:oMath>
                          </a14:m>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5562893"/>
                      </a:ext>
                    </a:extLst>
                  </a:tr>
                  <a:tr h="1693545">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3179421"/>
                      </a:ext>
                    </a:extLst>
                  </a:tr>
                </a:tbl>
              </a:graphicData>
            </a:graphic>
          </p:graphicFrame>
        </mc:Choice>
        <mc:Fallback xmlns="">
          <p:graphicFrame>
            <p:nvGraphicFramePr>
              <p:cNvPr id="4" name="Table 3">
                <a:extLst>
                  <a:ext uri="{FF2B5EF4-FFF2-40B4-BE49-F238E27FC236}">
                    <a16:creationId xmlns:a16="http://schemas.microsoft.com/office/drawing/2014/main" id="{2563F0C6-5439-1D3B-8142-4DE5E8146F86}"/>
                  </a:ext>
                </a:extLst>
              </p:cNvPr>
              <p:cNvGraphicFramePr>
                <a:graphicFrameLocks noGrp="1"/>
              </p:cNvGraphicFramePr>
              <p:nvPr>
                <p:extLst>
                  <p:ext uri="{D42A27DB-BD31-4B8C-83A1-F6EECF244321}">
                    <p14:modId xmlns:p14="http://schemas.microsoft.com/office/powerpoint/2010/main" val="1552340771"/>
                  </p:ext>
                </p:extLst>
              </p:nvPr>
            </p:nvGraphicFramePr>
            <p:xfrm>
              <a:off x="168867" y="3361729"/>
              <a:ext cx="6552882" cy="6334721"/>
            </p:xfrm>
            <a:graphic>
              <a:graphicData uri="http://schemas.openxmlformats.org/drawingml/2006/table">
                <a:tbl>
                  <a:tblPr firstRow="1" bandRow="1">
                    <a:tableStyleId>{5C22544A-7EE6-4342-B048-85BDC9FD1C3A}</a:tableStyleId>
                  </a:tblPr>
                  <a:tblGrid>
                    <a:gridCol w="2184294">
                      <a:extLst>
                        <a:ext uri="{9D8B030D-6E8A-4147-A177-3AD203B41FA5}">
                          <a16:colId xmlns:a16="http://schemas.microsoft.com/office/drawing/2014/main" val="3632647821"/>
                        </a:ext>
                      </a:extLst>
                    </a:gridCol>
                    <a:gridCol w="2184294">
                      <a:extLst>
                        <a:ext uri="{9D8B030D-6E8A-4147-A177-3AD203B41FA5}">
                          <a16:colId xmlns:a16="http://schemas.microsoft.com/office/drawing/2014/main" val="1889165231"/>
                        </a:ext>
                      </a:extLst>
                    </a:gridCol>
                    <a:gridCol w="2184294">
                      <a:extLst>
                        <a:ext uri="{9D8B030D-6E8A-4147-A177-3AD203B41FA5}">
                          <a16:colId xmlns:a16="http://schemas.microsoft.com/office/drawing/2014/main" val="3322670567"/>
                        </a:ext>
                      </a:extLst>
                    </a:gridCol>
                  </a:tblGrid>
                  <a:tr h="423032">
                    <a:tc grid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22. Without a calculator, calculate the following: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5532570"/>
                      </a:ext>
                    </a:extLst>
                  </a:tr>
                  <a:tr h="335183">
                    <a:tc>
                      <a:txBody>
                        <a:bodyPr/>
                        <a:lstStyle/>
                        <a:p>
                          <a:r>
                            <a:rPr lang="en-US" sz="1100" baseline="0">
                              <a:solidFill>
                                <a:schemeClr val="tx1"/>
                              </a:solidFill>
                              <a:latin typeface="+mn-lt"/>
                            </a:rPr>
                            <a:t>a) 32 x 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b) 23 x 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c) 46 x 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6664857"/>
                      </a:ext>
                    </a:extLst>
                  </a:tr>
                  <a:tr h="1690306">
                    <a:tc>
                      <a:txBody>
                        <a:bodyPr/>
                        <a:lstStyle/>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1193512"/>
                      </a:ext>
                    </a:extLst>
                  </a:tr>
                  <a:tr h="376181">
                    <a:tc>
                      <a:txBody>
                        <a:bodyPr/>
                        <a:lstStyle/>
                        <a:p>
                          <a:r>
                            <a:rPr lang="en-US" sz="1100" baseline="0" dirty="0">
                              <a:solidFill>
                                <a:schemeClr val="tx1"/>
                              </a:solidFill>
                              <a:latin typeface="+mn-lt"/>
                            </a:rPr>
                            <a:t>d) 40 x 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e) 59 x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aseline="0" dirty="0">
                              <a:solidFill>
                                <a:schemeClr val="tx1"/>
                              </a:solidFill>
                              <a:latin typeface="+mn-lt"/>
                            </a:rPr>
                            <a:t>f) 98 x 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662944"/>
                      </a:ext>
                    </a:extLst>
                  </a:tr>
                  <a:tr h="1557394">
                    <a:tc>
                      <a:txBody>
                        <a:bodyPr/>
                        <a:lstStyle/>
                        <a:p>
                          <a:pPr algn="ctr"/>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1750854"/>
                      </a:ext>
                    </a:extLst>
                  </a:tr>
                  <a:tr h="2590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9" t="-1672093" r="-200279" b="-6511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559" t="-1672093" r="-100838" b="-6511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1672093" r="-557" b="-651163"/>
                          </a:stretch>
                        </a:blipFill>
                      </a:tcPr>
                    </a:tc>
                    <a:extLst>
                      <a:ext uri="{0D108BD9-81ED-4DB2-BD59-A6C34878D82A}">
                        <a16:rowId xmlns:a16="http://schemas.microsoft.com/office/drawing/2014/main" val="4075562893"/>
                      </a:ext>
                    </a:extLst>
                  </a:tr>
                  <a:tr h="1693545">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3179421"/>
                      </a:ext>
                    </a:extLst>
                  </a:tr>
                </a:tbl>
              </a:graphicData>
            </a:graphic>
          </p:graphicFrame>
        </mc:Fallback>
      </mc:AlternateContent>
      <p:sp>
        <p:nvSpPr>
          <p:cNvPr id="5" name="Rectangle 4">
            <a:extLst>
              <a:ext uri="{FF2B5EF4-FFF2-40B4-BE49-F238E27FC236}">
                <a16:creationId xmlns:a16="http://schemas.microsoft.com/office/drawing/2014/main" id="{5E0F40F2-D6D1-3D70-523B-CC7F27D0A099}"/>
              </a:ext>
            </a:extLst>
          </p:cNvPr>
          <p:cNvSpPr/>
          <p:nvPr/>
        </p:nvSpPr>
        <p:spPr>
          <a:xfrm>
            <a:off x="127681" y="3059711"/>
            <a:ext cx="2082710" cy="30201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15396475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B56669D7-24EF-489B-1D7C-122008B7596B}"/>
              </a:ext>
            </a:extLst>
          </p:cNvPr>
          <p:cNvCxnSpPr/>
          <p:nvPr/>
        </p:nvCxnSpPr>
        <p:spPr>
          <a:xfrm flipV="1">
            <a:off x="1003776" y="2593722"/>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72E9C084-9238-4EA5-95DA-BB12B19F5FE8}"/>
                  </a:ext>
                </a:extLst>
              </p:cNvPr>
              <p:cNvGraphicFramePr>
                <a:graphicFrameLocks noGrp="1"/>
              </p:cNvGraphicFramePr>
              <p:nvPr>
                <p:extLst>
                  <p:ext uri="{D42A27DB-BD31-4B8C-83A1-F6EECF244321}">
                    <p14:modId xmlns:p14="http://schemas.microsoft.com/office/powerpoint/2010/main" val="3480441186"/>
                  </p:ext>
                </p:extLst>
              </p:nvPr>
            </p:nvGraphicFramePr>
            <p:xfrm>
              <a:off x="166850" y="3536076"/>
              <a:ext cx="6641694" cy="2400037"/>
            </p:xfrm>
            <a:graphic>
              <a:graphicData uri="http://schemas.openxmlformats.org/drawingml/2006/table">
                <a:tbl>
                  <a:tblPr firstRow="1" bandRow="1">
                    <a:tableStyleId>{5C22544A-7EE6-4342-B048-85BDC9FD1C3A}</a:tableStyleId>
                  </a:tblPr>
                  <a:tblGrid>
                    <a:gridCol w="998714">
                      <a:extLst>
                        <a:ext uri="{9D8B030D-6E8A-4147-A177-3AD203B41FA5}">
                          <a16:colId xmlns:a16="http://schemas.microsoft.com/office/drawing/2014/main" val="1568142362"/>
                        </a:ext>
                      </a:extLst>
                    </a:gridCol>
                    <a:gridCol w="1766950">
                      <a:extLst>
                        <a:ext uri="{9D8B030D-6E8A-4147-A177-3AD203B41FA5}">
                          <a16:colId xmlns:a16="http://schemas.microsoft.com/office/drawing/2014/main" val="3551711160"/>
                        </a:ext>
                      </a:extLst>
                    </a:gridCol>
                    <a:gridCol w="1938015">
                      <a:extLst>
                        <a:ext uri="{9D8B030D-6E8A-4147-A177-3AD203B41FA5}">
                          <a16:colId xmlns:a16="http://schemas.microsoft.com/office/drawing/2014/main" val="1712497518"/>
                        </a:ext>
                      </a:extLst>
                    </a:gridCol>
                    <a:gridCol w="1938015">
                      <a:extLst>
                        <a:ext uri="{9D8B030D-6E8A-4147-A177-3AD203B41FA5}">
                          <a16:colId xmlns:a16="http://schemas.microsoft.com/office/drawing/2014/main" val="886122921"/>
                        </a:ext>
                      </a:extLst>
                    </a:gridCol>
                  </a:tblGrid>
                  <a:tr h="322615">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r>
                            <a:rPr lang="en-GB" sz="1200" b="0" baseline="0" dirty="0">
                              <a:solidFill>
                                <a:schemeClr val="tx1"/>
                              </a:solidFill>
                            </a:rPr>
                            <a:t> </a:t>
                          </a:r>
                          <a14:m>
                            <m:oMath xmlns:m="http://schemas.openxmlformats.org/officeDocument/2006/math">
                              <m:r>
                                <a:rPr lang="en-GB" sz="1200" b="0" i="1" smtClean="0">
                                  <a:solidFill>
                                    <a:schemeClr val="tx1"/>
                                  </a:solidFill>
                                  <a:latin typeface="Cambria Math" panose="02040503050406030204" pitchFamily="18" charset="0"/>
                                </a:rPr>
                                <m:t>242</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baseline="0" dirty="0">
                              <a:solidFill>
                                <a:schemeClr val="tx1"/>
                              </a:solidFill>
                              <a:ea typeface="+mn-ea"/>
                            </a:rPr>
                            <a:t>Calculate: </a:t>
                          </a:r>
                          <a14:m>
                            <m:oMath xmlns:m="http://schemas.openxmlformats.org/officeDocument/2006/math">
                              <m:r>
                                <a:rPr lang="en-GB" sz="1200" b="0" i="1" smtClean="0">
                                  <a:solidFill>
                                    <a:schemeClr val="tx1"/>
                                  </a:solidFill>
                                  <a:latin typeface="Cambria Math" panose="02040503050406030204" pitchFamily="18" charset="0"/>
                                  <a:ea typeface="+mn-ea"/>
                                </a:rPr>
                                <m:t>420</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 Calculate: </a:t>
                          </a:r>
                          <a14:m>
                            <m:oMath xmlns:m="http://schemas.openxmlformats.org/officeDocument/2006/math">
                              <m:r>
                                <a:rPr lang="en-GB" sz="1200" b="0" i="1" smtClean="0">
                                  <a:solidFill>
                                    <a:schemeClr val="tx1"/>
                                  </a:solidFill>
                                  <a:latin typeface="Cambria Math" panose="02040503050406030204" pitchFamily="18" charset="0"/>
                                </a:rPr>
                                <m:t>224</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38711">
                    <a:tc>
                      <a:txBody>
                        <a:bodyPr/>
                        <a:lstStyle/>
                        <a:p>
                          <a:pPr marL="0" indent="0">
                            <a:buNone/>
                          </a:pPr>
                          <a:r>
                            <a:rPr lang="en-US" sz="1050" dirty="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38711">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Choice>
        <mc:Fallback xmlns="">
          <p:graphicFrame>
            <p:nvGraphicFramePr>
              <p:cNvPr id="14" name="Table 13">
                <a:extLst>
                  <a:ext uri="{FF2B5EF4-FFF2-40B4-BE49-F238E27FC236}">
                    <a16:creationId xmlns:a16="http://schemas.microsoft.com/office/drawing/2014/main" id="{72E9C084-9238-4EA5-95DA-BB12B19F5FE8}"/>
                  </a:ext>
                </a:extLst>
              </p:cNvPr>
              <p:cNvGraphicFramePr>
                <a:graphicFrameLocks noGrp="1"/>
              </p:cNvGraphicFramePr>
              <p:nvPr>
                <p:extLst>
                  <p:ext uri="{D42A27DB-BD31-4B8C-83A1-F6EECF244321}">
                    <p14:modId xmlns:p14="http://schemas.microsoft.com/office/powerpoint/2010/main" val="3480441186"/>
                  </p:ext>
                </p:extLst>
              </p:nvPr>
            </p:nvGraphicFramePr>
            <p:xfrm>
              <a:off x="166850" y="3536076"/>
              <a:ext cx="6641694" cy="2400037"/>
            </p:xfrm>
            <a:graphic>
              <a:graphicData uri="http://schemas.openxmlformats.org/drawingml/2006/table">
                <a:tbl>
                  <a:tblPr firstRow="1" bandRow="1">
                    <a:tableStyleId>{5C22544A-7EE6-4342-B048-85BDC9FD1C3A}</a:tableStyleId>
                  </a:tblPr>
                  <a:tblGrid>
                    <a:gridCol w="998714">
                      <a:extLst>
                        <a:ext uri="{9D8B030D-6E8A-4147-A177-3AD203B41FA5}">
                          <a16:colId xmlns:a16="http://schemas.microsoft.com/office/drawing/2014/main" val="1568142362"/>
                        </a:ext>
                      </a:extLst>
                    </a:gridCol>
                    <a:gridCol w="1766950">
                      <a:extLst>
                        <a:ext uri="{9D8B030D-6E8A-4147-A177-3AD203B41FA5}">
                          <a16:colId xmlns:a16="http://schemas.microsoft.com/office/drawing/2014/main" val="3551711160"/>
                        </a:ext>
                      </a:extLst>
                    </a:gridCol>
                    <a:gridCol w="1938015">
                      <a:extLst>
                        <a:ext uri="{9D8B030D-6E8A-4147-A177-3AD203B41FA5}">
                          <a16:colId xmlns:a16="http://schemas.microsoft.com/office/drawing/2014/main" val="1712497518"/>
                        </a:ext>
                      </a:extLst>
                    </a:gridCol>
                    <a:gridCol w="1938015">
                      <a:extLst>
                        <a:ext uri="{9D8B030D-6E8A-4147-A177-3AD203B41FA5}">
                          <a16:colId xmlns:a16="http://schemas.microsoft.com/office/drawing/2014/main" val="886122921"/>
                        </a:ext>
                      </a:extLst>
                    </a:gridCol>
                  </a:tblGrid>
                  <a:tr h="322615">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897" t="-1887" r="-220000" b="-6471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3082" t="-1887" r="-100629" b="-6471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3082" t="-1887" r="-629" b="-647170"/>
                          </a:stretch>
                        </a:blipFill>
                      </a:tcPr>
                    </a:tc>
                    <a:extLst>
                      <a:ext uri="{0D108BD9-81ED-4DB2-BD59-A6C34878D82A}">
                        <a16:rowId xmlns:a16="http://schemas.microsoft.com/office/drawing/2014/main" val="2357201933"/>
                      </a:ext>
                    </a:extLst>
                  </a:tr>
                  <a:tr h="1038711">
                    <a:tc>
                      <a:txBody>
                        <a:bodyPr/>
                        <a:lstStyle/>
                        <a:p>
                          <a:pPr marL="0" indent="0">
                            <a:buNone/>
                          </a:pPr>
                          <a:r>
                            <a:rPr lang="en-US" sz="1050" dirty="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038711">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Fallback>
      </mc:AlternateContent>
      <p:sp>
        <p:nvSpPr>
          <p:cNvPr id="15" name="Rectangle 14">
            <a:extLst>
              <a:ext uri="{FF2B5EF4-FFF2-40B4-BE49-F238E27FC236}">
                <a16:creationId xmlns:a16="http://schemas.microsoft.com/office/drawing/2014/main" id="{144F46D7-E377-245F-5B79-C8BEBE87BEBA}"/>
              </a:ext>
            </a:extLst>
          </p:cNvPr>
          <p:cNvSpPr/>
          <p:nvPr/>
        </p:nvSpPr>
        <p:spPr>
          <a:xfrm>
            <a:off x="0" y="8012"/>
            <a:ext cx="6014442"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Short Division</a:t>
            </a:r>
            <a:endParaRPr lang="en-GB" sz="1200">
              <a:solidFill>
                <a:schemeClr val="bg1"/>
              </a:solidFill>
            </a:endParaRPr>
          </a:p>
        </p:txBody>
      </p:sp>
      <p:sp>
        <p:nvSpPr>
          <p:cNvPr id="16" name="TextBox 15">
            <a:extLst>
              <a:ext uri="{FF2B5EF4-FFF2-40B4-BE49-F238E27FC236}">
                <a16:creationId xmlns:a16="http://schemas.microsoft.com/office/drawing/2014/main" id="{AB5735C2-6EC1-DFC5-DA1D-2F770935F915}"/>
              </a:ext>
            </a:extLst>
          </p:cNvPr>
          <p:cNvSpPr txBox="1"/>
          <p:nvPr/>
        </p:nvSpPr>
        <p:spPr>
          <a:xfrm>
            <a:off x="1308619" y="3164842"/>
            <a:ext cx="1410704" cy="276999"/>
          </a:xfrm>
          <a:prstGeom prst="rect">
            <a:avLst/>
          </a:prstGeom>
          <a:noFill/>
          <a:ln>
            <a:noFill/>
          </a:ln>
        </p:spPr>
        <p:txBody>
          <a:bodyPr wrap="square" rtlCol="0">
            <a:spAutoFit/>
          </a:bodyPr>
          <a:lstStyle/>
          <a:p>
            <a:r>
              <a:rPr lang="en-GB" sz="1200" b="1" i="1" dirty="0">
                <a:solidFill>
                  <a:srgbClr val="FF0000"/>
                </a:solidFill>
              </a:rPr>
              <a:t>Example 34 - I do…</a:t>
            </a:r>
          </a:p>
        </p:txBody>
      </p:sp>
      <p:sp>
        <p:nvSpPr>
          <p:cNvPr id="21" name="TextBox 20">
            <a:extLst>
              <a:ext uri="{FF2B5EF4-FFF2-40B4-BE49-F238E27FC236}">
                <a16:creationId xmlns:a16="http://schemas.microsoft.com/office/drawing/2014/main" id="{89A0C344-4E6E-6E2A-0151-F218F2B3A061}"/>
              </a:ext>
            </a:extLst>
          </p:cNvPr>
          <p:cNvSpPr txBox="1"/>
          <p:nvPr/>
        </p:nvSpPr>
        <p:spPr>
          <a:xfrm>
            <a:off x="5083224" y="3166675"/>
            <a:ext cx="1643405" cy="276999"/>
          </a:xfrm>
          <a:prstGeom prst="rect">
            <a:avLst/>
          </a:prstGeom>
          <a:noFill/>
          <a:ln>
            <a:noFill/>
          </a:ln>
        </p:spPr>
        <p:txBody>
          <a:bodyPr wrap="square" rtlCol="0">
            <a:spAutoFit/>
          </a:bodyPr>
          <a:lstStyle/>
          <a:p>
            <a:r>
              <a:rPr lang="en-GB" sz="1200" b="1" i="1" dirty="0">
                <a:solidFill>
                  <a:srgbClr val="00B050"/>
                </a:solidFill>
              </a:rPr>
              <a:t>Example 36 – You do…</a:t>
            </a:r>
          </a:p>
        </p:txBody>
      </p:sp>
      <p:sp>
        <p:nvSpPr>
          <p:cNvPr id="27" name="TextBox 26">
            <a:extLst>
              <a:ext uri="{FF2B5EF4-FFF2-40B4-BE49-F238E27FC236}">
                <a16:creationId xmlns:a16="http://schemas.microsoft.com/office/drawing/2014/main" id="{5B8AACCC-58A8-19EE-D81B-943D42146B43}"/>
              </a:ext>
            </a:extLst>
          </p:cNvPr>
          <p:cNvSpPr txBox="1"/>
          <p:nvPr/>
        </p:nvSpPr>
        <p:spPr>
          <a:xfrm>
            <a:off x="3144980" y="3161783"/>
            <a:ext cx="1643405" cy="276999"/>
          </a:xfrm>
          <a:prstGeom prst="rect">
            <a:avLst/>
          </a:prstGeom>
          <a:noFill/>
          <a:ln>
            <a:noFill/>
          </a:ln>
        </p:spPr>
        <p:txBody>
          <a:bodyPr wrap="square" rtlCol="0">
            <a:spAutoFit/>
          </a:bodyPr>
          <a:lstStyle/>
          <a:p>
            <a:r>
              <a:rPr lang="en-GB" sz="1200" b="1" i="1" dirty="0">
                <a:solidFill>
                  <a:schemeClr val="accent2"/>
                </a:solidFill>
              </a:rPr>
              <a:t>Example 35 – We do…</a:t>
            </a:r>
          </a:p>
        </p:txBody>
      </p:sp>
      <mc:AlternateContent xmlns:mc="http://schemas.openxmlformats.org/markup-compatibility/2006" xmlns:a14="http://schemas.microsoft.com/office/drawing/2010/main">
        <mc:Choice Requires="a14">
          <p:graphicFrame>
            <p:nvGraphicFramePr>
              <p:cNvPr id="34" name="Table 33">
                <a:extLst>
                  <a:ext uri="{FF2B5EF4-FFF2-40B4-BE49-F238E27FC236}">
                    <a16:creationId xmlns:a16="http://schemas.microsoft.com/office/drawing/2014/main" id="{B48827C3-C978-FB61-FEEB-E161D6BECBA1}"/>
                  </a:ext>
                </a:extLst>
              </p:cNvPr>
              <p:cNvGraphicFramePr>
                <a:graphicFrameLocks noGrp="1"/>
              </p:cNvGraphicFramePr>
              <p:nvPr>
                <p:extLst>
                  <p:ext uri="{D42A27DB-BD31-4B8C-83A1-F6EECF244321}">
                    <p14:modId xmlns:p14="http://schemas.microsoft.com/office/powerpoint/2010/main" val="2894757719"/>
                  </p:ext>
                </p:extLst>
              </p:nvPr>
            </p:nvGraphicFramePr>
            <p:xfrm>
              <a:off x="167579" y="6233875"/>
              <a:ext cx="6572480" cy="3008995"/>
            </p:xfrm>
            <a:graphic>
              <a:graphicData uri="http://schemas.openxmlformats.org/drawingml/2006/table">
                <a:tbl>
                  <a:tblPr firstRow="1" bandRow="1">
                    <a:tableStyleId>{5C22544A-7EE6-4342-B048-85BDC9FD1C3A}</a:tableStyleId>
                  </a:tblPr>
                  <a:tblGrid>
                    <a:gridCol w="1643120">
                      <a:extLst>
                        <a:ext uri="{9D8B030D-6E8A-4147-A177-3AD203B41FA5}">
                          <a16:colId xmlns:a16="http://schemas.microsoft.com/office/drawing/2014/main" val="3632647821"/>
                        </a:ext>
                      </a:extLst>
                    </a:gridCol>
                    <a:gridCol w="1643120">
                      <a:extLst>
                        <a:ext uri="{9D8B030D-6E8A-4147-A177-3AD203B41FA5}">
                          <a16:colId xmlns:a16="http://schemas.microsoft.com/office/drawing/2014/main" val="3246861082"/>
                        </a:ext>
                      </a:extLst>
                    </a:gridCol>
                    <a:gridCol w="1643120">
                      <a:extLst>
                        <a:ext uri="{9D8B030D-6E8A-4147-A177-3AD203B41FA5}">
                          <a16:colId xmlns:a16="http://schemas.microsoft.com/office/drawing/2014/main" val="1889165231"/>
                        </a:ext>
                      </a:extLst>
                    </a:gridCol>
                    <a:gridCol w="1643120">
                      <a:extLst>
                        <a:ext uri="{9D8B030D-6E8A-4147-A177-3AD203B41FA5}">
                          <a16:colId xmlns:a16="http://schemas.microsoft.com/office/drawing/2014/main" val="3322670567"/>
                        </a:ext>
                      </a:extLst>
                    </a:gridCol>
                  </a:tblGrid>
                  <a:tr h="357461">
                    <a:tc gridSpan="4">
                      <a:txBody>
                        <a:bodyPr/>
                        <a:lstStyle/>
                        <a:p>
                          <a:r>
                            <a:rPr lang="en-US" sz="1200" b="0" baseline="0" dirty="0">
                              <a:solidFill>
                                <a:schemeClr val="tx1"/>
                              </a:solidFill>
                              <a:latin typeface="+mn-lt"/>
                            </a:rPr>
                            <a:t>23. Without a calculator, calculate: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05532570"/>
                      </a:ext>
                    </a:extLst>
                  </a:tr>
                  <a:tr h="50443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a) </a:t>
                          </a:r>
                          <a14:m>
                            <m:oMath xmlns:m="http://schemas.openxmlformats.org/officeDocument/2006/math">
                              <m:r>
                                <a:rPr lang="en-GB" sz="1100" b="0" i="0" smtClean="0">
                                  <a:solidFill>
                                    <a:schemeClr val="tx1"/>
                                  </a:solidFill>
                                  <a:latin typeface="Cambria Math" panose="02040503050406030204" pitchFamily="18" charset="0"/>
                                  <a:ea typeface="Cambria Math" panose="02040503050406030204" pitchFamily="18" charset="0"/>
                                </a:rPr>
                                <m:t>84</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b) </a:t>
                          </a:r>
                          <a14:m>
                            <m:oMath xmlns:m="http://schemas.openxmlformats.org/officeDocument/2006/math">
                              <m:r>
                                <a:rPr lang="en-GB" sz="1100" b="0" i="1" smtClean="0">
                                  <a:solidFill>
                                    <a:schemeClr val="tx1"/>
                                  </a:solidFill>
                                  <a:latin typeface="Cambria Math" panose="02040503050406030204" pitchFamily="18" charset="0"/>
                                </a:rPr>
                                <m:t>248</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c) </a:t>
                          </a:r>
                          <a14:m>
                            <m:oMath xmlns:m="http://schemas.openxmlformats.org/officeDocument/2006/math">
                              <m:r>
                                <a:rPr lang="en-GB" sz="1100" b="0" i="1" smtClean="0">
                                  <a:solidFill>
                                    <a:schemeClr val="tx1"/>
                                  </a:solidFill>
                                  <a:latin typeface="Cambria Math" panose="02040503050406030204" pitchFamily="18" charset="0"/>
                                </a:rPr>
                                <m:t>268</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d) </a:t>
                          </a:r>
                          <a14:m>
                            <m:oMath xmlns:m="http://schemas.openxmlformats.org/officeDocument/2006/math">
                              <m:r>
                                <a:rPr lang="en-GB" sz="1100" b="0" i="1" smtClean="0">
                                  <a:solidFill>
                                    <a:schemeClr val="tx1"/>
                                  </a:solidFill>
                                  <a:latin typeface="Cambria Math" panose="02040503050406030204" pitchFamily="18" charset="0"/>
                                </a:rPr>
                                <m:t>284</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6664857"/>
                      </a:ext>
                    </a:extLst>
                  </a:tr>
                  <a:tr h="821329">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1193512"/>
                      </a:ext>
                    </a:extLst>
                  </a:tr>
                  <a:tr h="50443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e) </a:t>
                          </a:r>
                          <a14:m>
                            <m:oMath xmlns:m="http://schemas.openxmlformats.org/officeDocument/2006/math">
                              <m:r>
                                <a:rPr lang="en-GB" sz="1100" b="0" i="1" smtClean="0">
                                  <a:solidFill>
                                    <a:schemeClr val="tx1"/>
                                  </a:solidFill>
                                  <a:latin typeface="Cambria Math" panose="02040503050406030204" pitchFamily="18" charset="0"/>
                                </a:rPr>
                                <m:t>428</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f) </a:t>
                          </a:r>
                          <a14:m>
                            <m:oMath xmlns:m="http://schemas.openxmlformats.org/officeDocument/2006/math">
                              <m:r>
                                <a:rPr lang="en-GB" sz="1100" b="0" i="1" smtClean="0">
                                  <a:solidFill>
                                    <a:schemeClr val="tx1"/>
                                  </a:solidFill>
                                  <a:latin typeface="Cambria Math" panose="02040503050406030204" pitchFamily="18" charset="0"/>
                                </a:rPr>
                                <m:t>444</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g) </a:t>
                          </a:r>
                          <a14:m>
                            <m:oMath xmlns:m="http://schemas.openxmlformats.org/officeDocument/2006/math">
                              <m:r>
                                <a:rPr lang="en-GB" sz="1100" b="0" i="1" smtClean="0">
                                  <a:solidFill>
                                    <a:schemeClr val="tx1"/>
                                  </a:solidFill>
                                  <a:latin typeface="Cambria Math" panose="02040503050406030204" pitchFamily="18" charset="0"/>
                                </a:rPr>
                                <m:t>2440</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a:solidFill>
                                <a:schemeClr val="tx1"/>
                              </a:solidFill>
                              <a:latin typeface="+mn-lt"/>
                            </a:rPr>
                            <a:t>h) </a:t>
                          </a:r>
                          <a14:m>
                            <m:oMath xmlns:m="http://schemas.openxmlformats.org/officeDocument/2006/math">
                              <m:r>
                                <a:rPr lang="en-GB" sz="1100" b="0" i="1" smtClean="0">
                                  <a:solidFill>
                                    <a:schemeClr val="tx1"/>
                                  </a:solidFill>
                                  <a:latin typeface="Cambria Math" panose="02040503050406030204" pitchFamily="18" charset="0"/>
                                </a:rPr>
                                <m:t>2640</m:t>
                              </m:r>
                              <m:r>
                                <a:rPr lang="en-GB" sz="1100" b="0" i="1" smtClean="0">
                                  <a:solidFill>
                                    <a:schemeClr val="tx1"/>
                                  </a:solidFill>
                                  <a:latin typeface="Cambria Math" panose="02040503050406030204" pitchFamily="18" charset="0"/>
                                  <a:ea typeface="Cambria Math" panose="02040503050406030204" pitchFamily="18" charset="0"/>
                                </a:rPr>
                                <m:t>÷2</m:t>
                              </m:r>
                            </m:oMath>
                          </a14:m>
                          <a:endParaRPr lang="en-GB" sz="1100" b="0">
                            <a:solidFill>
                              <a:schemeClr val="tx1"/>
                            </a:solidFill>
                          </a:endParaRPr>
                        </a:p>
                        <a:p>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662944"/>
                      </a:ext>
                    </a:extLst>
                  </a:tr>
                  <a:tr h="821329">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1750854"/>
                      </a:ext>
                    </a:extLst>
                  </a:tr>
                </a:tbl>
              </a:graphicData>
            </a:graphic>
          </p:graphicFrame>
        </mc:Choice>
        <mc:Fallback xmlns="">
          <p:graphicFrame>
            <p:nvGraphicFramePr>
              <p:cNvPr id="34" name="Table 33">
                <a:extLst>
                  <a:ext uri="{FF2B5EF4-FFF2-40B4-BE49-F238E27FC236}">
                    <a16:creationId xmlns:a16="http://schemas.microsoft.com/office/drawing/2014/main" id="{B48827C3-C978-FB61-FEEB-E161D6BECBA1}"/>
                  </a:ext>
                </a:extLst>
              </p:cNvPr>
              <p:cNvGraphicFramePr>
                <a:graphicFrameLocks noGrp="1"/>
              </p:cNvGraphicFramePr>
              <p:nvPr>
                <p:extLst>
                  <p:ext uri="{D42A27DB-BD31-4B8C-83A1-F6EECF244321}">
                    <p14:modId xmlns:p14="http://schemas.microsoft.com/office/powerpoint/2010/main" val="2894757719"/>
                  </p:ext>
                </p:extLst>
              </p:nvPr>
            </p:nvGraphicFramePr>
            <p:xfrm>
              <a:off x="167579" y="6233875"/>
              <a:ext cx="6572480" cy="3008995"/>
            </p:xfrm>
            <a:graphic>
              <a:graphicData uri="http://schemas.openxmlformats.org/drawingml/2006/table">
                <a:tbl>
                  <a:tblPr firstRow="1" bandRow="1">
                    <a:tableStyleId>{5C22544A-7EE6-4342-B048-85BDC9FD1C3A}</a:tableStyleId>
                  </a:tblPr>
                  <a:tblGrid>
                    <a:gridCol w="1643120">
                      <a:extLst>
                        <a:ext uri="{9D8B030D-6E8A-4147-A177-3AD203B41FA5}">
                          <a16:colId xmlns:a16="http://schemas.microsoft.com/office/drawing/2014/main" val="3632647821"/>
                        </a:ext>
                      </a:extLst>
                    </a:gridCol>
                    <a:gridCol w="1643120">
                      <a:extLst>
                        <a:ext uri="{9D8B030D-6E8A-4147-A177-3AD203B41FA5}">
                          <a16:colId xmlns:a16="http://schemas.microsoft.com/office/drawing/2014/main" val="3246861082"/>
                        </a:ext>
                      </a:extLst>
                    </a:gridCol>
                    <a:gridCol w="1643120">
                      <a:extLst>
                        <a:ext uri="{9D8B030D-6E8A-4147-A177-3AD203B41FA5}">
                          <a16:colId xmlns:a16="http://schemas.microsoft.com/office/drawing/2014/main" val="1889165231"/>
                        </a:ext>
                      </a:extLst>
                    </a:gridCol>
                    <a:gridCol w="1643120">
                      <a:extLst>
                        <a:ext uri="{9D8B030D-6E8A-4147-A177-3AD203B41FA5}">
                          <a16:colId xmlns:a16="http://schemas.microsoft.com/office/drawing/2014/main" val="3322670567"/>
                        </a:ext>
                      </a:extLst>
                    </a:gridCol>
                  </a:tblGrid>
                  <a:tr h="357461">
                    <a:tc gridSpan="4">
                      <a:txBody>
                        <a:bodyPr/>
                        <a:lstStyle/>
                        <a:p>
                          <a:r>
                            <a:rPr lang="en-US" sz="1200" b="0" baseline="0" dirty="0">
                              <a:solidFill>
                                <a:schemeClr val="tx1"/>
                              </a:solidFill>
                              <a:latin typeface="+mn-lt"/>
                            </a:rPr>
                            <a:t>23. Without a calculator, calculate: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05532570"/>
                      </a:ext>
                    </a:extLst>
                  </a:tr>
                  <a:tr h="50443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70" t="-71084" r="-300370" b="-4277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70" t="-71084" r="-200370" b="-4277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115" t="-71084" r="-101115" b="-4277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000" t="-71084" r="-741" b="-427711"/>
                          </a:stretch>
                        </a:blipFill>
                      </a:tcPr>
                    </a:tc>
                    <a:extLst>
                      <a:ext uri="{0D108BD9-81ED-4DB2-BD59-A6C34878D82A}">
                        <a16:rowId xmlns:a16="http://schemas.microsoft.com/office/drawing/2014/main" val="3376664857"/>
                      </a:ext>
                    </a:extLst>
                  </a:tr>
                  <a:tr h="821329">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1193512"/>
                      </a:ext>
                    </a:extLst>
                  </a:tr>
                  <a:tr h="50443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70" t="-333735" r="-300370" b="-16506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70" t="-333735" r="-200370" b="-16506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115" t="-333735" r="-101115" b="-16506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000" t="-333735" r="-741" b="-165060"/>
                          </a:stretch>
                        </a:blipFill>
                      </a:tcPr>
                    </a:tc>
                    <a:extLst>
                      <a:ext uri="{0D108BD9-81ED-4DB2-BD59-A6C34878D82A}">
                        <a16:rowId xmlns:a16="http://schemas.microsoft.com/office/drawing/2014/main" val="297662944"/>
                      </a:ext>
                    </a:extLst>
                  </a:tr>
                  <a:tr h="821329">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1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1750854"/>
                      </a:ext>
                    </a:extLst>
                  </a:tr>
                </a:tbl>
              </a:graphicData>
            </a:graphic>
          </p:graphicFrame>
        </mc:Fallback>
      </mc:AlternateContent>
      <p:cxnSp>
        <p:nvCxnSpPr>
          <p:cNvPr id="2" name="Straight Connector 1">
            <a:extLst>
              <a:ext uri="{FF2B5EF4-FFF2-40B4-BE49-F238E27FC236}">
                <a16:creationId xmlns:a16="http://schemas.microsoft.com/office/drawing/2014/main" id="{1E0C2B1F-3B31-35CB-AB28-6309439E5F32}"/>
              </a:ext>
            </a:extLst>
          </p:cNvPr>
          <p:cNvCxnSpPr/>
          <p:nvPr/>
        </p:nvCxnSpPr>
        <p:spPr>
          <a:xfrm flipV="1">
            <a:off x="1003776" y="2593722"/>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D2C9FF7-1132-E45C-E02C-4A3B40B4E897}"/>
              </a:ext>
            </a:extLst>
          </p:cNvPr>
          <p:cNvSpPr/>
          <p:nvPr/>
        </p:nvSpPr>
        <p:spPr>
          <a:xfrm>
            <a:off x="158781" y="566295"/>
            <a:ext cx="6699219" cy="25561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traight Connector 4">
            <a:extLst>
              <a:ext uri="{FF2B5EF4-FFF2-40B4-BE49-F238E27FC236}">
                <a16:creationId xmlns:a16="http://schemas.microsoft.com/office/drawing/2014/main" id="{F1A17E41-B139-0612-0009-A25BD214CE09}"/>
              </a:ext>
            </a:extLst>
          </p:cNvPr>
          <p:cNvCxnSpPr/>
          <p:nvPr/>
        </p:nvCxnSpPr>
        <p:spPr>
          <a:xfrm>
            <a:off x="149095" y="1892769"/>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7FFA2691-C206-0A7B-8D77-2642C2EF3752}"/>
              </a:ext>
            </a:extLst>
          </p:cNvPr>
          <p:cNvCxnSpPr/>
          <p:nvPr/>
        </p:nvCxnSpPr>
        <p:spPr>
          <a:xfrm flipV="1">
            <a:off x="3498705" y="663127"/>
            <a:ext cx="0" cy="2459284"/>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D329D06E-359F-809D-4D67-F146C9196712}"/>
              </a:ext>
            </a:extLst>
          </p:cNvPr>
          <p:cNvSpPr txBox="1"/>
          <p:nvPr/>
        </p:nvSpPr>
        <p:spPr>
          <a:xfrm>
            <a:off x="166850" y="556575"/>
            <a:ext cx="824713" cy="461665"/>
          </a:xfrm>
          <a:prstGeom prst="rect">
            <a:avLst/>
          </a:prstGeom>
          <a:noFill/>
        </p:spPr>
        <p:txBody>
          <a:bodyPr wrap="none" rtlCol="0">
            <a:spAutoFit/>
          </a:bodyPr>
          <a:lstStyle/>
          <a:p>
            <a:r>
              <a:rPr lang="en-US" sz="1200" b="1"/>
              <a:t>Definition</a:t>
            </a:r>
          </a:p>
          <a:p>
            <a:endParaRPr lang="en-US" sz="1200"/>
          </a:p>
        </p:txBody>
      </p:sp>
      <p:sp>
        <p:nvSpPr>
          <p:cNvPr id="13" name="TextBox 12">
            <a:extLst>
              <a:ext uri="{FF2B5EF4-FFF2-40B4-BE49-F238E27FC236}">
                <a16:creationId xmlns:a16="http://schemas.microsoft.com/office/drawing/2014/main" id="{46941734-FFAF-AB0B-8DC5-2160139979B4}"/>
              </a:ext>
            </a:extLst>
          </p:cNvPr>
          <p:cNvSpPr txBox="1"/>
          <p:nvPr/>
        </p:nvSpPr>
        <p:spPr>
          <a:xfrm>
            <a:off x="5690901" y="562935"/>
            <a:ext cx="1112228" cy="276999"/>
          </a:xfrm>
          <a:prstGeom prst="rect">
            <a:avLst/>
          </a:prstGeom>
          <a:noFill/>
        </p:spPr>
        <p:txBody>
          <a:bodyPr wrap="none" rtlCol="0">
            <a:spAutoFit/>
          </a:bodyPr>
          <a:lstStyle/>
          <a:p>
            <a:r>
              <a:rPr lang="en-US" sz="1200" b="1"/>
              <a:t>Characteristics</a:t>
            </a:r>
            <a:endParaRPr lang="en-GB" sz="1200" b="1"/>
          </a:p>
        </p:txBody>
      </p:sp>
      <p:sp>
        <p:nvSpPr>
          <p:cNvPr id="17" name="TextBox 16">
            <a:extLst>
              <a:ext uri="{FF2B5EF4-FFF2-40B4-BE49-F238E27FC236}">
                <a16:creationId xmlns:a16="http://schemas.microsoft.com/office/drawing/2014/main" id="{A76B184B-AB2D-D93A-90AF-47833EDDA29E}"/>
              </a:ext>
            </a:extLst>
          </p:cNvPr>
          <p:cNvSpPr txBox="1"/>
          <p:nvPr/>
        </p:nvSpPr>
        <p:spPr>
          <a:xfrm>
            <a:off x="181997" y="1921134"/>
            <a:ext cx="788164" cy="276999"/>
          </a:xfrm>
          <a:prstGeom prst="rect">
            <a:avLst/>
          </a:prstGeom>
          <a:noFill/>
        </p:spPr>
        <p:txBody>
          <a:bodyPr wrap="none" rtlCol="0">
            <a:spAutoFit/>
          </a:bodyPr>
          <a:lstStyle/>
          <a:p>
            <a:r>
              <a:rPr lang="en-US" sz="1200" b="1"/>
              <a:t>Examples</a:t>
            </a:r>
            <a:endParaRPr lang="en-GB" sz="1200" b="1"/>
          </a:p>
        </p:txBody>
      </p:sp>
      <p:sp>
        <p:nvSpPr>
          <p:cNvPr id="18" name="TextBox 17">
            <a:extLst>
              <a:ext uri="{FF2B5EF4-FFF2-40B4-BE49-F238E27FC236}">
                <a16:creationId xmlns:a16="http://schemas.microsoft.com/office/drawing/2014/main" id="{A4500DBF-D7C3-C16A-169D-B3D757B444F8}"/>
              </a:ext>
            </a:extLst>
          </p:cNvPr>
          <p:cNvSpPr txBox="1"/>
          <p:nvPr/>
        </p:nvSpPr>
        <p:spPr>
          <a:xfrm>
            <a:off x="5619414" y="1896753"/>
            <a:ext cx="1172885" cy="276999"/>
          </a:xfrm>
          <a:prstGeom prst="rect">
            <a:avLst/>
          </a:prstGeom>
          <a:noFill/>
        </p:spPr>
        <p:txBody>
          <a:bodyPr wrap="none" rtlCol="0">
            <a:spAutoFit/>
          </a:bodyPr>
          <a:lstStyle/>
          <a:p>
            <a:r>
              <a:rPr lang="en-US" sz="1200" b="1"/>
              <a:t>Non - Examples</a:t>
            </a:r>
            <a:endParaRPr lang="en-GB" sz="1200" b="1"/>
          </a:p>
        </p:txBody>
      </p:sp>
      <p:sp>
        <p:nvSpPr>
          <p:cNvPr id="19" name="TextBox 18">
            <a:extLst>
              <a:ext uri="{FF2B5EF4-FFF2-40B4-BE49-F238E27FC236}">
                <a16:creationId xmlns:a16="http://schemas.microsoft.com/office/drawing/2014/main" id="{2CE4B8BB-63AB-4798-C54D-89CF4E66C5F7}"/>
              </a:ext>
            </a:extLst>
          </p:cNvPr>
          <p:cNvSpPr txBox="1"/>
          <p:nvPr/>
        </p:nvSpPr>
        <p:spPr>
          <a:xfrm>
            <a:off x="172565" y="764446"/>
            <a:ext cx="3230335" cy="276999"/>
          </a:xfrm>
          <a:prstGeom prst="rect">
            <a:avLst/>
          </a:prstGeom>
          <a:noFill/>
        </p:spPr>
        <p:txBody>
          <a:bodyPr wrap="square" lIns="91440" tIns="45720" rIns="91440" bIns="45720" rtlCol="0" anchor="t">
            <a:spAutoFit/>
          </a:bodyPr>
          <a:lstStyle/>
          <a:p>
            <a:r>
              <a:rPr lang="en-US" sz="1200">
                <a:solidFill>
                  <a:srgbClr val="000000"/>
                </a:solidFill>
                <a:latin typeface="Calibri"/>
                <a:ea typeface="Calibri"/>
                <a:cs typeface="Calibri"/>
              </a:rPr>
              <a:t>A number by which another number is divided</a:t>
            </a:r>
            <a:endParaRPr lang="en-US"/>
          </a:p>
        </p:txBody>
      </p:sp>
      <p:sp>
        <p:nvSpPr>
          <p:cNvPr id="20" name="TextBox 19">
            <a:extLst>
              <a:ext uri="{FF2B5EF4-FFF2-40B4-BE49-F238E27FC236}">
                <a16:creationId xmlns:a16="http://schemas.microsoft.com/office/drawing/2014/main" id="{EF8A6797-B70E-0EC4-FBF8-8A865FFB9210}"/>
              </a:ext>
            </a:extLst>
          </p:cNvPr>
          <p:cNvSpPr txBox="1"/>
          <p:nvPr/>
        </p:nvSpPr>
        <p:spPr>
          <a:xfrm>
            <a:off x="3563732" y="785733"/>
            <a:ext cx="3230335" cy="830997"/>
          </a:xfrm>
          <a:prstGeom prst="rect">
            <a:avLst/>
          </a:prstGeom>
          <a:noFill/>
        </p:spPr>
        <p:txBody>
          <a:bodyPr wrap="square" lIns="91440" tIns="45720" rIns="91440" bIns="45720" rtlCol="0" anchor="t">
            <a:spAutoFit/>
          </a:bodyPr>
          <a:lstStyle/>
          <a:p>
            <a:pPr algn="ctr"/>
            <a:r>
              <a:rPr lang="en-US" sz="1200"/>
              <a:t>425 ÷ 5 = 85</a:t>
            </a:r>
          </a:p>
          <a:p>
            <a:pPr algn="ctr"/>
            <a:endParaRPr lang="en-US" sz="1200">
              <a:ea typeface="Calibri" panose="020F0502020204030204"/>
              <a:cs typeface="Calibri" panose="020F0502020204030204"/>
            </a:endParaRPr>
          </a:p>
          <a:p>
            <a:pPr algn="ctr"/>
            <a:endParaRPr lang="en-US" sz="1200">
              <a:ea typeface="Calibri" panose="020F0502020204030204"/>
              <a:cs typeface="Calibri" panose="020F0502020204030204"/>
            </a:endParaRPr>
          </a:p>
          <a:p>
            <a:pPr algn="ctr"/>
            <a:endParaRPr lang="en-US" sz="1200">
              <a:ea typeface="Calibri" panose="020F0502020204030204"/>
              <a:cs typeface="Calibri" panose="020F0502020204030204"/>
            </a:endParaRPr>
          </a:p>
        </p:txBody>
      </p:sp>
      <p:sp>
        <p:nvSpPr>
          <p:cNvPr id="22" name="TextBox 21">
            <a:extLst>
              <a:ext uri="{FF2B5EF4-FFF2-40B4-BE49-F238E27FC236}">
                <a16:creationId xmlns:a16="http://schemas.microsoft.com/office/drawing/2014/main" id="{A708634B-DB5F-9A8E-1087-45D025C3BB42}"/>
              </a:ext>
            </a:extLst>
          </p:cNvPr>
          <p:cNvSpPr txBox="1"/>
          <p:nvPr/>
        </p:nvSpPr>
        <p:spPr>
          <a:xfrm>
            <a:off x="3114160" y="1765549"/>
            <a:ext cx="829073" cy="369332"/>
          </a:xfrm>
          <a:prstGeom prst="rect">
            <a:avLst/>
          </a:prstGeom>
          <a:solidFill>
            <a:schemeClr val="bg1"/>
          </a:solidFill>
          <a:ln>
            <a:solidFill>
              <a:schemeClr val="tx1"/>
            </a:solidFill>
          </a:ln>
        </p:spPr>
        <p:txBody>
          <a:bodyPr wrap="none" lIns="91440" tIns="45720" rIns="91440" bIns="45720" rtlCol="0" anchor="t">
            <a:spAutoFit/>
          </a:bodyPr>
          <a:lstStyle/>
          <a:p>
            <a:r>
              <a:rPr lang="en-US"/>
              <a:t>Divisor</a:t>
            </a:r>
            <a:endParaRPr lang="en-GB">
              <a:ea typeface="Calibri" panose="020F0502020204030204"/>
              <a:cs typeface="Calibri" panose="020F0502020204030204"/>
            </a:endParaRPr>
          </a:p>
        </p:txBody>
      </p:sp>
      <p:sp>
        <p:nvSpPr>
          <p:cNvPr id="23" name="TextBox 22">
            <a:extLst>
              <a:ext uri="{FF2B5EF4-FFF2-40B4-BE49-F238E27FC236}">
                <a16:creationId xmlns:a16="http://schemas.microsoft.com/office/drawing/2014/main" id="{5520CB53-7719-F3AA-C52B-CEAA3CC09E7B}"/>
              </a:ext>
            </a:extLst>
          </p:cNvPr>
          <p:cNvSpPr txBox="1"/>
          <p:nvPr/>
        </p:nvSpPr>
        <p:spPr>
          <a:xfrm>
            <a:off x="212355" y="2170078"/>
            <a:ext cx="3230335" cy="461665"/>
          </a:xfrm>
          <a:prstGeom prst="rect">
            <a:avLst/>
          </a:prstGeom>
          <a:noFill/>
        </p:spPr>
        <p:txBody>
          <a:bodyPr wrap="square" lIns="91440" tIns="45720" rIns="91440" bIns="45720" rtlCol="0" anchor="t">
            <a:spAutoFit/>
          </a:bodyPr>
          <a:lstStyle/>
          <a:p>
            <a:r>
              <a:rPr lang="en-US" sz="1200"/>
              <a:t>6 </a:t>
            </a:r>
            <a:r>
              <a:rPr lang="en-US" sz="1200">
                <a:solidFill>
                  <a:schemeClr val="tx1"/>
                </a:solidFill>
              </a:rPr>
              <a:t>÷ 3 = 2</a:t>
            </a:r>
            <a:endParaRPr lang="en-US" sz="1200"/>
          </a:p>
          <a:p>
            <a:r>
              <a:rPr lang="en-US" sz="1200">
                <a:ea typeface="Calibri"/>
                <a:cs typeface="Calibri"/>
              </a:rPr>
              <a:t>3 is the divisor</a:t>
            </a:r>
          </a:p>
        </p:txBody>
      </p:sp>
      <p:cxnSp>
        <p:nvCxnSpPr>
          <p:cNvPr id="24" name="Straight Arrow Connector 23">
            <a:extLst>
              <a:ext uri="{FF2B5EF4-FFF2-40B4-BE49-F238E27FC236}">
                <a16:creationId xmlns:a16="http://schemas.microsoft.com/office/drawing/2014/main" id="{ECC611F7-7854-3F4E-A328-7C3D59CD13D0}"/>
              </a:ext>
            </a:extLst>
          </p:cNvPr>
          <p:cNvCxnSpPr>
            <a:cxnSpLocks/>
          </p:cNvCxnSpPr>
          <p:nvPr/>
        </p:nvCxnSpPr>
        <p:spPr>
          <a:xfrm flipV="1">
            <a:off x="4834230" y="1018240"/>
            <a:ext cx="352584" cy="3250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91968BE-CFFA-35CD-854B-6F3E7ED6DEA1}"/>
              </a:ext>
            </a:extLst>
          </p:cNvPr>
          <p:cNvSpPr txBox="1"/>
          <p:nvPr/>
        </p:nvSpPr>
        <p:spPr>
          <a:xfrm>
            <a:off x="4439185" y="1295914"/>
            <a:ext cx="274319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ea typeface="Calibri"/>
                <a:cs typeface="Calibri"/>
              </a:rPr>
              <a:t>Divisor</a:t>
            </a:r>
            <a:endParaRPr lang="en-US"/>
          </a:p>
        </p:txBody>
      </p:sp>
      <p:sp>
        <p:nvSpPr>
          <p:cNvPr id="28" name="Half Frame 27">
            <a:extLst>
              <a:ext uri="{FF2B5EF4-FFF2-40B4-BE49-F238E27FC236}">
                <a16:creationId xmlns:a16="http://schemas.microsoft.com/office/drawing/2014/main" id="{8954836B-C8E6-09B8-6CFC-A6216D3E8C39}"/>
              </a:ext>
            </a:extLst>
          </p:cNvPr>
          <p:cNvSpPr/>
          <p:nvPr/>
        </p:nvSpPr>
        <p:spPr>
          <a:xfrm>
            <a:off x="5753810" y="1390886"/>
            <a:ext cx="699469" cy="420624"/>
          </a:xfrm>
          <a:prstGeom prst="halfFrame">
            <a:avLst>
              <a:gd name="adj1" fmla="val 6612"/>
              <a:gd name="adj2" fmla="val 4858"/>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29" name="Straight Arrow Connector 28">
            <a:extLst>
              <a:ext uri="{FF2B5EF4-FFF2-40B4-BE49-F238E27FC236}">
                <a16:creationId xmlns:a16="http://schemas.microsoft.com/office/drawing/2014/main" id="{2CC7CB43-D018-1ACE-EDC9-E1AF1383F71D}"/>
              </a:ext>
            </a:extLst>
          </p:cNvPr>
          <p:cNvCxnSpPr>
            <a:cxnSpLocks/>
          </p:cNvCxnSpPr>
          <p:nvPr/>
        </p:nvCxnSpPr>
        <p:spPr>
          <a:xfrm>
            <a:off x="4986630" y="1495700"/>
            <a:ext cx="499770" cy="662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7D053A7-BE1C-73EA-9220-6264CE715C85}"/>
              </a:ext>
            </a:extLst>
          </p:cNvPr>
          <p:cNvSpPr txBox="1"/>
          <p:nvPr/>
        </p:nvSpPr>
        <p:spPr>
          <a:xfrm>
            <a:off x="3498617" y="2130770"/>
            <a:ext cx="3230335" cy="276999"/>
          </a:xfrm>
          <a:prstGeom prst="rect">
            <a:avLst/>
          </a:prstGeom>
          <a:noFill/>
        </p:spPr>
        <p:txBody>
          <a:bodyPr wrap="square" lIns="91440" tIns="45720" rIns="91440" bIns="45720" rtlCol="0" anchor="t">
            <a:spAutoFit/>
          </a:bodyPr>
          <a:lstStyle/>
          <a:p>
            <a:r>
              <a:rPr lang="en-US" sz="1200"/>
              <a:t>Cannot be the numerator of a fraction</a:t>
            </a:r>
            <a:endParaRPr lang="en-US" sz="1200">
              <a:ea typeface="Calibri"/>
              <a:cs typeface="Calibri"/>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7805A4F-23D4-33A9-9362-8B0630023895}"/>
                  </a:ext>
                </a:extLst>
              </p:cNvPr>
              <p:cNvSpPr txBox="1"/>
              <p:nvPr/>
            </p:nvSpPr>
            <p:spPr>
              <a:xfrm>
                <a:off x="3379666" y="943896"/>
                <a:ext cx="1243585" cy="4430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425</m:t>
                          </m:r>
                        </m:num>
                        <m:den>
                          <m:r>
                            <a:rPr lang="en-GB" sz="1200" b="0" i="1" smtClean="0">
                              <a:latin typeface="Cambria Math" panose="02040503050406030204" pitchFamily="18" charset="0"/>
                            </a:rPr>
                            <m:t>5</m:t>
                          </m:r>
                        </m:den>
                      </m:f>
                      <m:r>
                        <a:rPr lang="en-GB" sz="1200" b="0" i="1" smtClean="0">
                          <a:latin typeface="Cambria Math" panose="02040503050406030204" pitchFamily="18" charset="0"/>
                        </a:rPr>
                        <m:t>=85</m:t>
                      </m:r>
                    </m:oMath>
                  </m:oMathPara>
                </a14:m>
                <a:endParaRPr lang="en-GB" sz="1200"/>
              </a:p>
            </p:txBody>
          </p:sp>
        </mc:Choice>
        <mc:Fallback xmlns="">
          <p:sp>
            <p:nvSpPr>
              <p:cNvPr id="31" name="TextBox 30">
                <a:extLst>
                  <a:ext uri="{FF2B5EF4-FFF2-40B4-BE49-F238E27FC236}">
                    <a16:creationId xmlns:a16="http://schemas.microsoft.com/office/drawing/2014/main" id="{C7805A4F-23D4-33A9-9362-8B0630023895}"/>
                  </a:ext>
                </a:extLst>
              </p:cNvPr>
              <p:cNvSpPr txBox="1">
                <a:spLocks noRot="1" noChangeAspect="1" noMove="1" noResize="1" noEditPoints="1" noAdjustHandles="1" noChangeArrowheads="1" noChangeShapeType="1" noTextEdit="1"/>
              </p:cNvSpPr>
              <p:nvPr/>
            </p:nvSpPr>
            <p:spPr>
              <a:xfrm>
                <a:off x="3379666" y="943896"/>
                <a:ext cx="1243585" cy="443006"/>
              </a:xfrm>
              <a:prstGeom prst="rect">
                <a:avLst/>
              </a:prstGeom>
              <a:blipFill>
                <a:blip r:embed="rId5"/>
                <a:stretch>
                  <a:fillRect b="-1370"/>
                </a:stretch>
              </a:blipFill>
            </p:spPr>
            <p:txBody>
              <a:bodyPr/>
              <a:lstStyle/>
              <a:p>
                <a:r>
                  <a:rPr lang="en-US">
                    <a:noFill/>
                  </a:rPr>
                  <a:t> </a:t>
                </a:r>
              </a:p>
            </p:txBody>
          </p:sp>
        </mc:Fallback>
      </mc:AlternateContent>
      <p:cxnSp>
        <p:nvCxnSpPr>
          <p:cNvPr id="33" name="Straight Arrow Connector 32">
            <a:extLst>
              <a:ext uri="{FF2B5EF4-FFF2-40B4-BE49-F238E27FC236}">
                <a16:creationId xmlns:a16="http://schemas.microsoft.com/office/drawing/2014/main" id="{043624C7-CED8-7080-F374-297CF4EEDA72}"/>
              </a:ext>
            </a:extLst>
          </p:cNvPr>
          <p:cNvCxnSpPr>
            <a:cxnSpLocks/>
          </p:cNvCxnSpPr>
          <p:nvPr/>
        </p:nvCxnSpPr>
        <p:spPr>
          <a:xfrm flipH="1" flipV="1">
            <a:off x="3894271" y="1305347"/>
            <a:ext cx="565294" cy="1196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25EC052-6EC0-6854-1445-2AADF0665C6C}"/>
              </a:ext>
            </a:extLst>
          </p:cNvPr>
          <p:cNvSpPr/>
          <p:nvPr/>
        </p:nvSpPr>
        <p:spPr>
          <a:xfrm>
            <a:off x="0" y="6028515"/>
            <a:ext cx="1856024" cy="222621"/>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6" name="Slide Number Placeholder 2">
            <a:extLst>
              <a:ext uri="{FF2B5EF4-FFF2-40B4-BE49-F238E27FC236}">
                <a16:creationId xmlns:a16="http://schemas.microsoft.com/office/drawing/2014/main" id="{26FE9B3C-726B-7719-1A91-A8C1601A210F}"/>
              </a:ext>
            </a:extLst>
          </p:cNvPr>
          <p:cNvSpPr>
            <a:spLocks noGrp="1"/>
          </p:cNvSpPr>
          <p:nvPr>
            <p:ph type="sldNum" sz="quarter" idx="12"/>
          </p:nvPr>
        </p:nvSpPr>
        <p:spPr>
          <a:xfrm>
            <a:off x="5314950" y="9394857"/>
            <a:ext cx="1543050" cy="527403"/>
          </a:xfrm>
        </p:spPr>
        <p:txBody>
          <a:bodyPr/>
          <a:lstStyle/>
          <a:p>
            <a:fld id="{19F1D9CC-7119-45EC-A96C-D8C0660F3AAB}" type="slidenum">
              <a:rPr lang="en-GB" smtClean="0"/>
              <a:t>57</a:t>
            </a:fld>
            <a:endParaRPr lang="en-GB" dirty="0"/>
          </a:p>
        </p:txBody>
      </p:sp>
    </p:spTree>
    <p:extLst>
      <p:ext uri="{BB962C8B-B14F-4D97-AF65-F5344CB8AC3E}">
        <p14:creationId xmlns:p14="http://schemas.microsoft.com/office/powerpoint/2010/main" val="7913339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14950" y="9378597"/>
            <a:ext cx="1543050" cy="527403"/>
          </a:xfrm>
        </p:spPr>
        <p:txBody>
          <a:bodyPr/>
          <a:lstStyle/>
          <a:p>
            <a:fld id="{19F1D9CC-7119-45EC-A96C-D8C0660F3AAB}" type="slidenum">
              <a:rPr lang="en-GB" smtClean="0"/>
              <a:t>58</a:t>
            </a:fld>
            <a:endParaRPr lang="en-GB" dirty="0"/>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421859EE-1D5E-C914-7298-18DBB54F8984}"/>
                  </a:ext>
                </a:extLst>
              </p:cNvPr>
              <p:cNvGraphicFramePr>
                <a:graphicFrameLocks noGrp="1"/>
              </p:cNvGraphicFramePr>
              <p:nvPr>
                <p:extLst>
                  <p:ext uri="{D42A27DB-BD31-4B8C-83A1-F6EECF244321}">
                    <p14:modId xmlns:p14="http://schemas.microsoft.com/office/powerpoint/2010/main" val="1370851628"/>
                  </p:ext>
                </p:extLst>
              </p:nvPr>
            </p:nvGraphicFramePr>
            <p:xfrm>
              <a:off x="155894" y="0"/>
              <a:ext cx="6572478" cy="2866739"/>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endParaRPr lang="en-GB" sz="11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56÷4</m:t>
                                </m:r>
                              </m:oMath>
                            </m:oMathPara>
                          </a14:m>
                          <a:endParaRPr lang="en-GB" sz="1100" b="0" i="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64÷4</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96÷4</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05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08373">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Choice>
        <mc:Fallback xmlns="">
          <p:graphicFrame>
            <p:nvGraphicFramePr>
              <p:cNvPr id="2" name="Table 1">
                <a:extLst>
                  <a:ext uri="{FF2B5EF4-FFF2-40B4-BE49-F238E27FC236}">
                    <a16:creationId xmlns:a16="http://schemas.microsoft.com/office/drawing/2014/main" id="{421859EE-1D5E-C914-7298-18DBB54F8984}"/>
                  </a:ext>
                </a:extLst>
              </p:cNvPr>
              <p:cNvGraphicFramePr>
                <a:graphicFrameLocks noGrp="1"/>
              </p:cNvGraphicFramePr>
              <p:nvPr>
                <p:extLst>
                  <p:ext uri="{D42A27DB-BD31-4B8C-83A1-F6EECF244321}">
                    <p14:modId xmlns:p14="http://schemas.microsoft.com/office/powerpoint/2010/main" val="1370851628"/>
                  </p:ext>
                </p:extLst>
              </p:nvPr>
            </p:nvGraphicFramePr>
            <p:xfrm>
              <a:off x="155894" y="0"/>
              <a:ext cx="6572478" cy="2866739"/>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endParaRPr lang="en-GB" sz="11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2542" t="-100000" r="-214237" b="-52769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2857" t="-100000" r="-100635" b="-52769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2857" t="-100000" r="-635" b="-527692"/>
                          </a:stretch>
                        </a:blipFill>
                      </a:tcPr>
                    </a:tc>
                    <a:extLst>
                      <a:ext uri="{0D108BD9-81ED-4DB2-BD59-A6C34878D82A}">
                        <a16:rowId xmlns:a16="http://schemas.microsoft.com/office/drawing/2014/main" val="2357201933"/>
                      </a:ext>
                    </a:extLst>
                  </a:tr>
                  <a:tr h="1165694">
                    <a:tc>
                      <a:txBody>
                        <a:bodyPr/>
                        <a:lstStyle/>
                        <a:p>
                          <a:pPr marL="0" indent="0">
                            <a:buNone/>
                          </a:pPr>
                          <a:r>
                            <a:rPr lang="en-US" sz="105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08373">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Fallback>
      </mc:AlternateContent>
      <p:sp>
        <p:nvSpPr>
          <p:cNvPr id="3" name="TextBox 2">
            <a:extLst>
              <a:ext uri="{FF2B5EF4-FFF2-40B4-BE49-F238E27FC236}">
                <a16:creationId xmlns:a16="http://schemas.microsoft.com/office/drawing/2014/main" id="{921C4FDE-D3ED-01CB-8AE1-5EA806BE8809}"/>
              </a:ext>
            </a:extLst>
          </p:cNvPr>
          <p:cNvSpPr txBox="1"/>
          <p:nvPr/>
        </p:nvSpPr>
        <p:spPr>
          <a:xfrm>
            <a:off x="1165611" y="77629"/>
            <a:ext cx="1410704" cy="276999"/>
          </a:xfrm>
          <a:prstGeom prst="rect">
            <a:avLst/>
          </a:prstGeom>
          <a:noFill/>
          <a:ln>
            <a:noFill/>
          </a:ln>
        </p:spPr>
        <p:txBody>
          <a:bodyPr wrap="square" rtlCol="0">
            <a:spAutoFit/>
          </a:bodyPr>
          <a:lstStyle/>
          <a:p>
            <a:r>
              <a:rPr lang="en-GB" sz="1200" b="1" i="1" dirty="0">
                <a:solidFill>
                  <a:srgbClr val="FF0000"/>
                </a:solidFill>
              </a:rPr>
              <a:t>Example 37 - I do…</a:t>
            </a:r>
          </a:p>
        </p:txBody>
      </p:sp>
      <p:sp>
        <p:nvSpPr>
          <p:cNvPr id="8" name="TextBox 7">
            <a:extLst>
              <a:ext uri="{FF2B5EF4-FFF2-40B4-BE49-F238E27FC236}">
                <a16:creationId xmlns:a16="http://schemas.microsoft.com/office/drawing/2014/main" id="{79D1296C-8666-2741-6293-FBCB61ADCA66}"/>
              </a:ext>
            </a:extLst>
          </p:cNvPr>
          <p:cNvSpPr txBox="1"/>
          <p:nvPr/>
        </p:nvSpPr>
        <p:spPr>
          <a:xfrm>
            <a:off x="5084967" y="70808"/>
            <a:ext cx="1643405" cy="276999"/>
          </a:xfrm>
          <a:prstGeom prst="rect">
            <a:avLst/>
          </a:prstGeom>
          <a:noFill/>
          <a:ln>
            <a:noFill/>
          </a:ln>
        </p:spPr>
        <p:txBody>
          <a:bodyPr wrap="square" rtlCol="0">
            <a:spAutoFit/>
          </a:bodyPr>
          <a:lstStyle/>
          <a:p>
            <a:r>
              <a:rPr lang="en-GB" sz="1200" b="1" i="1" dirty="0">
                <a:solidFill>
                  <a:srgbClr val="00B050"/>
                </a:solidFill>
              </a:rPr>
              <a:t>Example 39 – You do…</a:t>
            </a:r>
          </a:p>
        </p:txBody>
      </p:sp>
      <p:sp>
        <p:nvSpPr>
          <p:cNvPr id="9" name="TextBox 8">
            <a:extLst>
              <a:ext uri="{FF2B5EF4-FFF2-40B4-BE49-F238E27FC236}">
                <a16:creationId xmlns:a16="http://schemas.microsoft.com/office/drawing/2014/main" id="{ECA71EC7-A1B1-473C-3297-C13292CC5508}"/>
              </a:ext>
            </a:extLst>
          </p:cNvPr>
          <p:cNvSpPr txBox="1"/>
          <p:nvPr/>
        </p:nvSpPr>
        <p:spPr>
          <a:xfrm>
            <a:off x="3126889" y="58235"/>
            <a:ext cx="1643405" cy="276999"/>
          </a:xfrm>
          <a:prstGeom prst="rect">
            <a:avLst/>
          </a:prstGeom>
          <a:noFill/>
          <a:ln>
            <a:noFill/>
          </a:ln>
        </p:spPr>
        <p:txBody>
          <a:bodyPr wrap="square" rtlCol="0">
            <a:spAutoFit/>
          </a:bodyPr>
          <a:lstStyle/>
          <a:p>
            <a:r>
              <a:rPr lang="en-GB" sz="1200" b="1" i="1" dirty="0">
                <a:solidFill>
                  <a:schemeClr val="accent2"/>
                </a:solidFill>
              </a:rPr>
              <a:t>Example 38 – We do…</a:t>
            </a: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14C67562-52E0-E400-E3D9-7C968E894A10}"/>
                  </a:ext>
                </a:extLst>
              </p:cNvPr>
              <p:cNvGraphicFramePr>
                <a:graphicFrameLocks noGrp="1"/>
              </p:cNvGraphicFramePr>
              <p:nvPr>
                <p:extLst>
                  <p:ext uri="{D42A27DB-BD31-4B8C-83A1-F6EECF244321}">
                    <p14:modId xmlns:p14="http://schemas.microsoft.com/office/powerpoint/2010/main" val="49991843"/>
                  </p:ext>
                </p:extLst>
              </p:nvPr>
            </p:nvGraphicFramePr>
            <p:xfrm>
              <a:off x="155894" y="2911806"/>
              <a:ext cx="6572478" cy="2866739"/>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endParaRPr lang="en-GB" sz="11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528÷4</m:t>
                                </m:r>
                              </m:oMath>
                            </m:oMathPara>
                          </a14:m>
                          <a:endParaRPr lang="en-GB" sz="1100" b="0" i="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324÷2</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362÷2</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05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08373">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Choice>
        <mc:Fallback xmlns="">
          <p:graphicFrame>
            <p:nvGraphicFramePr>
              <p:cNvPr id="11" name="Table 10">
                <a:extLst>
                  <a:ext uri="{FF2B5EF4-FFF2-40B4-BE49-F238E27FC236}">
                    <a16:creationId xmlns:a16="http://schemas.microsoft.com/office/drawing/2014/main" id="{14C67562-52E0-E400-E3D9-7C968E894A10}"/>
                  </a:ext>
                </a:extLst>
              </p:cNvPr>
              <p:cNvGraphicFramePr>
                <a:graphicFrameLocks noGrp="1"/>
              </p:cNvGraphicFramePr>
              <p:nvPr>
                <p:extLst>
                  <p:ext uri="{D42A27DB-BD31-4B8C-83A1-F6EECF244321}">
                    <p14:modId xmlns:p14="http://schemas.microsoft.com/office/powerpoint/2010/main" val="49991843"/>
                  </p:ext>
                </p:extLst>
              </p:nvPr>
            </p:nvGraphicFramePr>
            <p:xfrm>
              <a:off x="155894" y="2911806"/>
              <a:ext cx="6572478" cy="2866739"/>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endParaRPr lang="en-GB" sz="11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2542" t="-100000" r="-214237" b="-52923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2857" t="-100000" r="-100635" b="-52923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42857" t="-100000" r="-635" b="-529231"/>
                          </a:stretch>
                        </a:blipFill>
                      </a:tcPr>
                    </a:tc>
                    <a:extLst>
                      <a:ext uri="{0D108BD9-81ED-4DB2-BD59-A6C34878D82A}">
                        <a16:rowId xmlns:a16="http://schemas.microsoft.com/office/drawing/2014/main" val="2357201933"/>
                      </a:ext>
                    </a:extLst>
                  </a:tr>
                  <a:tr h="1165694">
                    <a:tc>
                      <a:txBody>
                        <a:bodyPr/>
                        <a:lstStyle/>
                        <a:p>
                          <a:pPr marL="0" indent="0">
                            <a:buNone/>
                          </a:pPr>
                          <a:r>
                            <a:rPr lang="en-US" sz="105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08373">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Fallback>
      </mc:AlternateContent>
      <p:sp>
        <p:nvSpPr>
          <p:cNvPr id="12" name="TextBox 11">
            <a:extLst>
              <a:ext uri="{FF2B5EF4-FFF2-40B4-BE49-F238E27FC236}">
                <a16:creationId xmlns:a16="http://schemas.microsoft.com/office/drawing/2014/main" id="{CC875394-C51A-D865-A3F0-E221185E77A4}"/>
              </a:ext>
            </a:extLst>
          </p:cNvPr>
          <p:cNvSpPr txBox="1"/>
          <p:nvPr/>
        </p:nvSpPr>
        <p:spPr>
          <a:xfrm>
            <a:off x="1228386" y="2956873"/>
            <a:ext cx="1410704" cy="276999"/>
          </a:xfrm>
          <a:prstGeom prst="rect">
            <a:avLst/>
          </a:prstGeom>
          <a:noFill/>
          <a:ln>
            <a:noFill/>
          </a:ln>
        </p:spPr>
        <p:txBody>
          <a:bodyPr wrap="square" rtlCol="0">
            <a:spAutoFit/>
          </a:bodyPr>
          <a:lstStyle/>
          <a:p>
            <a:r>
              <a:rPr lang="en-GB" sz="1200" b="1" i="1" dirty="0">
                <a:solidFill>
                  <a:srgbClr val="FF0000"/>
                </a:solidFill>
              </a:rPr>
              <a:t>Example 40 - I do…</a:t>
            </a:r>
          </a:p>
        </p:txBody>
      </p:sp>
      <p:sp>
        <p:nvSpPr>
          <p:cNvPr id="13" name="TextBox 12">
            <a:extLst>
              <a:ext uri="{FF2B5EF4-FFF2-40B4-BE49-F238E27FC236}">
                <a16:creationId xmlns:a16="http://schemas.microsoft.com/office/drawing/2014/main" id="{49E7F6B2-CBE3-5E49-7584-1817B2EC24B2}"/>
              </a:ext>
            </a:extLst>
          </p:cNvPr>
          <p:cNvSpPr txBox="1"/>
          <p:nvPr/>
        </p:nvSpPr>
        <p:spPr>
          <a:xfrm>
            <a:off x="5147742" y="2950052"/>
            <a:ext cx="1643405" cy="276999"/>
          </a:xfrm>
          <a:prstGeom prst="rect">
            <a:avLst/>
          </a:prstGeom>
          <a:noFill/>
          <a:ln>
            <a:noFill/>
          </a:ln>
        </p:spPr>
        <p:txBody>
          <a:bodyPr wrap="square" rtlCol="0">
            <a:spAutoFit/>
          </a:bodyPr>
          <a:lstStyle/>
          <a:p>
            <a:r>
              <a:rPr lang="en-GB" sz="1200" b="1" i="1" dirty="0">
                <a:solidFill>
                  <a:srgbClr val="00B050"/>
                </a:solidFill>
              </a:rPr>
              <a:t>Example 42 – You do…</a:t>
            </a:r>
          </a:p>
        </p:txBody>
      </p:sp>
      <p:sp>
        <p:nvSpPr>
          <p:cNvPr id="14" name="TextBox 13">
            <a:extLst>
              <a:ext uri="{FF2B5EF4-FFF2-40B4-BE49-F238E27FC236}">
                <a16:creationId xmlns:a16="http://schemas.microsoft.com/office/drawing/2014/main" id="{6AF16C39-A5B4-DE08-308D-250722D18E0F}"/>
              </a:ext>
            </a:extLst>
          </p:cNvPr>
          <p:cNvSpPr txBox="1"/>
          <p:nvPr/>
        </p:nvSpPr>
        <p:spPr>
          <a:xfrm>
            <a:off x="3189664" y="2937479"/>
            <a:ext cx="1643405" cy="276999"/>
          </a:xfrm>
          <a:prstGeom prst="rect">
            <a:avLst/>
          </a:prstGeom>
          <a:noFill/>
          <a:ln>
            <a:noFill/>
          </a:ln>
        </p:spPr>
        <p:txBody>
          <a:bodyPr wrap="square" rtlCol="0">
            <a:spAutoFit/>
          </a:bodyPr>
          <a:lstStyle/>
          <a:p>
            <a:r>
              <a:rPr lang="en-GB" sz="1200" b="1" i="1" dirty="0">
                <a:solidFill>
                  <a:schemeClr val="accent2"/>
                </a:solidFill>
              </a:rPr>
              <a:t>Example 41 – We do…</a:t>
            </a:r>
          </a:p>
        </p:txBody>
      </p:sp>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14D915FE-717C-631E-AD06-D8CAACD13023}"/>
                  </a:ext>
                </a:extLst>
              </p:cNvPr>
              <p:cNvGraphicFramePr>
                <a:graphicFrameLocks noGrp="1"/>
              </p:cNvGraphicFramePr>
              <p:nvPr>
                <p:extLst>
                  <p:ext uri="{D42A27DB-BD31-4B8C-83A1-F6EECF244321}">
                    <p14:modId xmlns:p14="http://schemas.microsoft.com/office/powerpoint/2010/main" val="135210894"/>
                  </p:ext>
                </p:extLst>
              </p:nvPr>
            </p:nvGraphicFramePr>
            <p:xfrm>
              <a:off x="155894" y="5816723"/>
              <a:ext cx="6572478" cy="2866739"/>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endParaRPr lang="en-GB" sz="11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3232÷2</m:t>
                                </m:r>
                              </m:oMath>
                            </m:oMathPara>
                          </a14:m>
                          <a:endParaRPr lang="en-GB" sz="1100" b="0" i="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3112÷4</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solidFill>
                                      <a:schemeClr val="tx1"/>
                                    </a:solidFill>
                                    <a:latin typeface="Cambria Math" panose="02040503050406030204" pitchFamily="18" charset="0"/>
                                    <a:ea typeface="Cambria Math" panose="02040503050406030204" pitchFamily="18" charset="0"/>
                                  </a:rPr>
                                  <m:t>3332÷4</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05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08373">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Choice>
        <mc:Fallback xmlns="">
          <p:graphicFrame>
            <p:nvGraphicFramePr>
              <p:cNvPr id="15" name="Table 14">
                <a:extLst>
                  <a:ext uri="{FF2B5EF4-FFF2-40B4-BE49-F238E27FC236}">
                    <a16:creationId xmlns:a16="http://schemas.microsoft.com/office/drawing/2014/main" id="{14D915FE-717C-631E-AD06-D8CAACD13023}"/>
                  </a:ext>
                </a:extLst>
              </p:cNvPr>
              <p:cNvGraphicFramePr>
                <a:graphicFrameLocks noGrp="1"/>
              </p:cNvGraphicFramePr>
              <p:nvPr>
                <p:extLst>
                  <p:ext uri="{D42A27DB-BD31-4B8C-83A1-F6EECF244321}">
                    <p14:modId xmlns:p14="http://schemas.microsoft.com/office/powerpoint/2010/main" val="135210894"/>
                  </p:ext>
                </p:extLst>
              </p:nvPr>
            </p:nvGraphicFramePr>
            <p:xfrm>
              <a:off x="155894" y="5816723"/>
              <a:ext cx="6572478" cy="2866739"/>
            </p:xfrm>
            <a:graphic>
              <a:graphicData uri="http://schemas.openxmlformats.org/drawingml/2006/table">
                <a:tbl>
                  <a:tblPr firstRow="1" bandRow="1">
                    <a:tableStyleId>{5C22544A-7EE6-4342-B048-85BDC9FD1C3A}</a:tableStyleId>
                  </a:tblPr>
                  <a:tblGrid>
                    <a:gridCol w="938212">
                      <a:extLst>
                        <a:ext uri="{9D8B030D-6E8A-4147-A177-3AD203B41FA5}">
                          <a16:colId xmlns:a16="http://schemas.microsoft.com/office/drawing/2014/main" val="1568142362"/>
                        </a:ext>
                      </a:extLst>
                    </a:gridCol>
                    <a:gridCol w="1798630">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endParaRPr lang="en-GB" sz="11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2542" t="-100000" r="-214237" b="-52769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42857" t="-100000" r="-100635" b="-52769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42857" t="-100000" r="-635" b="-527692"/>
                          </a:stretch>
                        </a:blipFill>
                      </a:tcPr>
                    </a:tc>
                    <a:extLst>
                      <a:ext uri="{0D108BD9-81ED-4DB2-BD59-A6C34878D82A}">
                        <a16:rowId xmlns:a16="http://schemas.microsoft.com/office/drawing/2014/main" val="2357201933"/>
                      </a:ext>
                    </a:extLst>
                  </a:tr>
                  <a:tr h="1165694">
                    <a:tc>
                      <a:txBody>
                        <a:bodyPr/>
                        <a:lstStyle/>
                        <a:p>
                          <a:pPr marL="0" indent="0">
                            <a:buNone/>
                          </a:pPr>
                          <a:r>
                            <a:rPr lang="en-US" sz="1050">
                              <a:solidFill>
                                <a:schemeClr val="tx1"/>
                              </a:solidFill>
                            </a:rPr>
                            <a:t>1) Set out the numbers in the correct layout.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908373">
                    <a:tc>
                      <a:txBody>
                        <a:bodyPr/>
                        <a:lstStyle/>
                        <a:p>
                          <a:r>
                            <a:rPr lang="en-GB" sz="1050" dirty="0">
                              <a:solidFill>
                                <a:schemeClr val="tx1"/>
                              </a:solidFill>
                            </a:rPr>
                            <a:t>2) Complete the division, carrying where appropriate.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Fallback>
      </mc:AlternateContent>
      <p:sp>
        <p:nvSpPr>
          <p:cNvPr id="16" name="TextBox 15">
            <a:extLst>
              <a:ext uri="{FF2B5EF4-FFF2-40B4-BE49-F238E27FC236}">
                <a16:creationId xmlns:a16="http://schemas.microsoft.com/office/drawing/2014/main" id="{8449B7A0-C2C5-3927-45F1-98BD875BE565}"/>
              </a:ext>
            </a:extLst>
          </p:cNvPr>
          <p:cNvSpPr txBox="1"/>
          <p:nvPr/>
        </p:nvSpPr>
        <p:spPr>
          <a:xfrm>
            <a:off x="1228386" y="5861790"/>
            <a:ext cx="1410704" cy="276999"/>
          </a:xfrm>
          <a:prstGeom prst="rect">
            <a:avLst/>
          </a:prstGeom>
          <a:noFill/>
          <a:ln>
            <a:noFill/>
          </a:ln>
        </p:spPr>
        <p:txBody>
          <a:bodyPr wrap="square" rtlCol="0">
            <a:spAutoFit/>
          </a:bodyPr>
          <a:lstStyle/>
          <a:p>
            <a:r>
              <a:rPr lang="en-GB" sz="1200" b="1" i="1" dirty="0">
                <a:solidFill>
                  <a:srgbClr val="FF0000"/>
                </a:solidFill>
              </a:rPr>
              <a:t>Example 43 - I do…</a:t>
            </a:r>
          </a:p>
        </p:txBody>
      </p:sp>
      <p:sp>
        <p:nvSpPr>
          <p:cNvPr id="17" name="TextBox 16">
            <a:extLst>
              <a:ext uri="{FF2B5EF4-FFF2-40B4-BE49-F238E27FC236}">
                <a16:creationId xmlns:a16="http://schemas.microsoft.com/office/drawing/2014/main" id="{7A4FE300-5B14-C204-3B66-42764D6A9FA0}"/>
              </a:ext>
            </a:extLst>
          </p:cNvPr>
          <p:cNvSpPr txBox="1"/>
          <p:nvPr/>
        </p:nvSpPr>
        <p:spPr>
          <a:xfrm>
            <a:off x="5147742" y="5854969"/>
            <a:ext cx="1643405" cy="276999"/>
          </a:xfrm>
          <a:prstGeom prst="rect">
            <a:avLst/>
          </a:prstGeom>
          <a:noFill/>
          <a:ln>
            <a:noFill/>
          </a:ln>
        </p:spPr>
        <p:txBody>
          <a:bodyPr wrap="square" rtlCol="0">
            <a:spAutoFit/>
          </a:bodyPr>
          <a:lstStyle/>
          <a:p>
            <a:r>
              <a:rPr lang="en-GB" sz="1200" b="1" i="1" dirty="0">
                <a:solidFill>
                  <a:srgbClr val="00B050"/>
                </a:solidFill>
              </a:rPr>
              <a:t>Example 45 – You do…</a:t>
            </a:r>
          </a:p>
        </p:txBody>
      </p:sp>
      <p:sp>
        <p:nvSpPr>
          <p:cNvPr id="18" name="TextBox 17">
            <a:extLst>
              <a:ext uri="{FF2B5EF4-FFF2-40B4-BE49-F238E27FC236}">
                <a16:creationId xmlns:a16="http://schemas.microsoft.com/office/drawing/2014/main" id="{8541F2EC-156C-F59F-89E7-E8CD1FAC04E6}"/>
              </a:ext>
            </a:extLst>
          </p:cNvPr>
          <p:cNvSpPr txBox="1"/>
          <p:nvPr/>
        </p:nvSpPr>
        <p:spPr>
          <a:xfrm>
            <a:off x="3189664" y="5842396"/>
            <a:ext cx="1643405" cy="276999"/>
          </a:xfrm>
          <a:prstGeom prst="rect">
            <a:avLst/>
          </a:prstGeom>
          <a:noFill/>
          <a:ln>
            <a:noFill/>
          </a:ln>
        </p:spPr>
        <p:txBody>
          <a:bodyPr wrap="square" rtlCol="0">
            <a:spAutoFit/>
          </a:bodyPr>
          <a:lstStyle/>
          <a:p>
            <a:r>
              <a:rPr lang="en-GB" sz="1200" b="1" i="1" dirty="0">
                <a:solidFill>
                  <a:schemeClr val="accent2"/>
                </a:solidFill>
              </a:rPr>
              <a:t>Example 44 - We do…</a:t>
            </a:r>
          </a:p>
        </p:txBody>
      </p:sp>
    </p:spTree>
    <p:extLst>
      <p:ext uri="{BB962C8B-B14F-4D97-AF65-F5344CB8AC3E}">
        <p14:creationId xmlns:p14="http://schemas.microsoft.com/office/powerpoint/2010/main" val="25571471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57813" y="9580120"/>
            <a:ext cx="1543050" cy="527403"/>
          </a:xfrm>
        </p:spPr>
        <p:txBody>
          <a:bodyPr/>
          <a:lstStyle/>
          <a:p>
            <a:fld id="{19F1D9CC-7119-45EC-A96C-D8C0660F3AAB}" type="slidenum">
              <a:rPr lang="en-GB" smtClean="0"/>
              <a:t>59</a:t>
            </a:fld>
            <a:endParaRPr lang="en-GB"/>
          </a:p>
        </p:txBody>
      </p:sp>
      <p:sp>
        <p:nvSpPr>
          <p:cNvPr id="15" name="Rectangle 14">
            <a:extLst>
              <a:ext uri="{FF2B5EF4-FFF2-40B4-BE49-F238E27FC236}">
                <a16:creationId xmlns:a16="http://schemas.microsoft.com/office/drawing/2014/main" id="{BB3279DA-9B48-9CA2-B20D-987460153031}"/>
              </a:ext>
            </a:extLst>
          </p:cNvPr>
          <p:cNvSpPr/>
          <p:nvPr/>
        </p:nvSpPr>
        <p:spPr>
          <a:xfrm>
            <a:off x="164101" y="339569"/>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728824718"/>
                  </p:ext>
                </p:extLst>
              </p:nvPr>
            </p:nvGraphicFramePr>
            <p:xfrm>
              <a:off x="159068" y="912530"/>
              <a:ext cx="6572480" cy="8213760"/>
            </p:xfrm>
            <a:graphic>
              <a:graphicData uri="http://schemas.openxmlformats.org/drawingml/2006/table">
                <a:tbl>
                  <a:tblPr firstRow="1" bandRow="1">
                    <a:tableStyleId>{5C22544A-7EE6-4342-B048-85BDC9FD1C3A}</a:tableStyleId>
                  </a:tblPr>
                  <a:tblGrid>
                    <a:gridCol w="1643120">
                      <a:extLst>
                        <a:ext uri="{9D8B030D-6E8A-4147-A177-3AD203B41FA5}">
                          <a16:colId xmlns:a16="http://schemas.microsoft.com/office/drawing/2014/main" val="3632647821"/>
                        </a:ext>
                      </a:extLst>
                    </a:gridCol>
                    <a:gridCol w="1643120">
                      <a:extLst>
                        <a:ext uri="{9D8B030D-6E8A-4147-A177-3AD203B41FA5}">
                          <a16:colId xmlns:a16="http://schemas.microsoft.com/office/drawing/2014/main" val="3614694657"/>
                        </a:ext>
                      </a:extLst>
                    </a:gridCol>
                    <a:gridCol w="1643120">
                      <a:extLst>
                        <a:ext uri="{9D8B030D-6E8A-4147-A177-3AD203B41FA5}">
                          <a16:colId xmlns:a16="http://schemas.microsoft.com/office/drawing/2014/main" val="3745410584"/>
                        </a:ext>
                      </a:extLst>
                    </a:gridCol>
                    <a:gridCol w="1643120">
                      <a:extLst>
                        <a:ext uri="{9D8B030D-6E8A-4147-A177-3AD203B41FA5}">
                          <a16:colId xmlns:a16="http://schemas.microsoft.com/office/drawing/2014/main" val="3307710997"/>
                        </a:ext>
                      </a:extLst>
                    </a:gridCol>
                  </a:tblGrid>
                  <a:tr h="468000">
                    <a:tc gridSpan="4">
                      <a:txBody>
                        <a:bodyPr/>
                        <a:lstStyle/>
                        <a:p>
                          <a:r>
                            <a:rPr lang="en-US" sz="1200" b="0" baseline="0">
                              <a:solidFill>
                                <a:schemeClr val="tx1"/>
                              </a:solidFill>
                              <a:latin typeface="+mn-lt"/>
                            </a:rPr>
                            <a:t>Question 24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05532570"/>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a)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342</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b)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542</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c) </a:t>
                          </a:r>
                          <a14:m>
                            <m:oMath xmlns:m="http://schemas.openxmlformats.org/officeDocument/2006/math">
                              <m:r>
                                <a:rPr lang="en-GB" sz="1200" b="0" i="1" baseline="0" smtClean="0">
                                  <a:solidFill>
                                    <a:schemeClr val="tx1"/>
                                  </a:solidFill>
                                  <a:latin typeface="Cambria Math" panose="02040503050406030204" pitchFamily="18" charset="0"/>
                                  <a:ea typeface="Cambria Math" panose="02040503050406030204" pitchFamily="18" charset="0"/>
                                </a:rPr>
                                <m:t>524</m:t>
                              </m:r>
                              <m:r>
                                <a:rPr lang="en-GB" sz="1200" b="0" i="1" smtClean="0">
                                  <a:solidFill>
                                    <a:schemeClr val="tx1"/>
                                  </a:solidFill>
                                  <a:latin typeface="Cambria Math" panose="02040503050406030204" pitchFamily="18" charset="0"/>
                                  <a:ea typeface="Cambria Math" panose="02040503050406030204" pitchFamily="18" charset="0"/>
                                </a:rPr>
                                <m:t>÷4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d)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724</m:t>
                              </m:r>
                              <m:r>
                                <a:rPr lang="en-GB" sz="1200" b="0" i="1" smtClean="0">
                                  <a:solidFill>
                                    <a:schemeClr val="tx1"/>
                                  </a:solidFill>
                                  <a:latin typeface="Cambria Math" panose="02040503050406030204" pitchFamily="18" charset="0"/>
                                  <a:ea typeface="Cambria Math" panose="02040503050406030204" pitchFamily="18" charset="0"/>
                                </a:rPr>
                                <m:t>÷4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2978"/>
                      </a:ext>
                    </a:extLst>
                  </a:tr>
                  <a:tr h="46800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6026984"/>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e) </a:t>
                          </a:r>
                          <a14:m>
                            <m:oMath xmlns:m="http://schemas.openxmlformats.org/officeDocument/2006/math">
                              <m:r>
                                <a:rPr lang="en-GB" sz="1200" b="0" i="1" baseline="0" smtClean="0">
                                  <a:solidFill>
                                    <a:schemeClr val="tx1"/>
                                  </a:solidFill>
                                  <a:latin typeface="Cambria Math" panose="02040503050406030204" pitchFamily="18" charset="0"/>
                                  <a:ea typeface="Cambria Math" panose="02040503050406030204" pitchFamily="18" charset="0"/>
                                </a:rPr>
                                <m:t>964</m:t>
                              </m:r>
                              <m:r>
                                <a:rPr lang="en-GB" sz="1200" b="0" i="1" smtClean="0">
                                  <a:solidFill>
                                    <a:schemeClr val="tx1"/>
                                  </a:solidFill>
                                  <a:latin typeface="Cambria Math" panose="02040503050406030204" pitchFamily="18" charset="0"/>
                                  <a:ea typeface="Cambria Math" panose="02040503050406030204" pitchFamily="18" charset="0"/>
                                </a:rPr>
                                <m:t>÷4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f) </a:t>
                          </a:r>
                          <a14:m>
                            <m:oMath xmlns:m="http://schemas.openxmlformats.org/officeDocument/2006/math">
                              <m:r>
                                <a:rPr lang="en-GB" sz="1200" b="0" i="1" smtClean="0">
                                  <a:solidFill>
                                    <a:schemeClr val="tx1"/>
                                  </a:solidFill>
                                  <a:latin typeface="Cambria Math" panose="02040503050406030204" pitchFamily="18" charset="0"/>
                                  <a:ea typeface="Cambria Math" panose="02040503050406030204" pitchFamily="18" charset="0"/>
                                </a:rPr>
                                <m:t>5644÷4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g)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6444</m:t>
                              </m:r>
                              <m:r>
                                <a:rPr lang="en-GB" sz="1200" b="0" i="1" smtClean="0">
                                  <a:solidFill>
                                    <a:schemeClr val="tx1"/>
                                  </a:solidFill>
                                  <a:latin typeface="Cambria Math" panose="02040503050406030204" pitchFamily="18" charset="0"/>
                                  <a:ea typeface="Cambria Math" panose="02040503050406030204" pitchFamily="18" charset="0"/>
                                </a:rPr>
                                <m:t>÷4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h)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9640</m:t>
                              </m:r>
                              <m:r>
                                <a:rPr lang="en-GB" sz="1200" b="0" i="1" smtClean="0">
                                  <a:solidFill>
                                    <a:schemeClr val="tx1"/>
                                  </a:solidFill>
                                  <a:latin typeface="Cambria Math" panose="02040503050406030204" pitchFamily="18" charset="0"/>
                                  <a:ea typeface="Cambria Math" panose="02040503050406030204" pitchFamily="18" charset="0"/>
                                </a:rPr>
                                <m:t>÷4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54471230"/>
                      </a:ext>
                    </a:extLst>
                  </a:tr>
                  <a:tr h="46800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3303251"/>
                      </a:ext>
                    </a:extLst>
                  </a:tr>
                  <a:tr h="468000">
                    <a:tc gridSpan="4">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52711346"/>
                      </a:ext>
                    </a:extLst>
                  </a:tr>
                  <a:tr h="468000">
                    <a:tc gridSpan="4">
                      <a:txBody>
                        <a:bodyPr/>
                        <a:lstStyle/>
                        <a:p>
                          <a:r>
                            <a:rPr lang="en-US" sz="1200" baseline="0">
                              <a:solidFill>
                                <a:schemeClr val="tx1"/>
                              </a:solidFill>
                              <a:latin typeface="+mn-lt"/>
                            </a:rPr>
                            <a:t>Question 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35340559"/>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a)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3434</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b)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3636</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c)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3838</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d) </a:t>
                          </a:r>
                          <a14:m>
                            <m:oMath xmlns:m="http://schemas.openxmlformats.org/officeDocument/2006/math">
                              <m:r>
                                <a:rPr lang="en-GB" sz="1200" b="0" i="1" baseline="0" smtClean="0">
                                  <a:solidFill>
                                    <a:schemeClr val="tx1"/>
                                  </a:solidFill>
                                  <a:latin typeface="Cambria Math" panose="02040503050406030204" pitchFamily="18" charset="0"/>
                                  <a:ea typeface="Cambria Math" panose="02040503050406030204" pitchFamily="18" charset="0"/>
                                </a:rPr>
                                <m:t>3938</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8745246"/>
                      </a:ext>
                    </a:extLst>
                  </a:tr>
                  <a:tr h="46800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4407680"/>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e)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1938</m:t>
                              </m:r>
                              <m:r>
                                <a:rPr lang="en-GB" sz="1200" b="0" i="1" smtClean="0">
                                  <a:solidFill>
                                    <a:schemeClr val="tx1"/>
                                  </a:solidFill>
                                  <a:latin typeface="Cambria Math" panose="02040503050406030204" pitchFamily="18" charset="0"/>
                                  <a:ea typeface="Cambria Math" panose="02040503050406030204" pitchFamily="18" charset="0"/>
                                </a:rPr>
                                <m:t>÷2</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f)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193</m:t>
                              </m:r>
                              <m:r>
                                <a:rPr lang="en-GB" sz="1200" b="0" i="1" smtClean="0">
                                  <a:solidFill>
                                    <a:schemeClr val="tx1"/>
                                  </a:solidFill>
                                  <a:latin typeface="Cambria Math" panose="02040503050406030204" pitchFamily="18" charset="0"/>
                                  <a:ea typeface="Cambria Math" panose="02040503050406030204" pitchFamily="18" charset="0"/>
                                </a:rPr>
                                <m:t>6÷4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g) </a:t>
                          </a:r>
                          <a14:m>
                            <m:oMath xmlns:m="http://schemas.openxmlformats.org/officeDocument/2006/math">
                              <m:r>
                                <a:rPr lang="en-GB" sz="1200" b="0" i="1" smtClean="0">
                                  <a:solidFill>
                                    <a:schemeClr val="tx1"/>
                                  </a:solidFill>
                                  <a:latin typeface="Cambria Math" panose="02040503050406030204" pitchFamily="18" charset="0"/>
                                  <a:ea typeface="Cambria Math" panose="02040503050406030204" pitchFamily="18" charset="0"/>
                                </a:rPr>
                                <m:t>8936÷4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latin typeface="+mn-lt"/>
                            </a:rPr>
                            <a:t>h) </a:t>
                          </a:r>
                          <a14:m>
                            <m:oMath xmlns:m="http://schemas.openxmlformats.org/officeDocument/2006/math">
                              <m:r>
                                <a:rPr lang="en-GB" sz="1200" b="0" i="0" smtClean="0">
                                  <a:solidFill>
                                    <a:schemeClr val="tx1"/>
                                  </a:solidFill>
                                  <a:latin typeface="Cambria Math" panose="02040503050406030204" pitchFamily="18" charset="0"/>
                                  <a:ea typeface="Cambria Math" panose="02040503050406030204" pitchFamily="18" charset="0"/>
                                </a:rPr>
                                <m:t>8136</m:t>
                              </m:r>
                              <m:r>
                                <a:rPr lang="en-GB" sz="1200" b="0" i="1" smtClean="0">
                                  <a:solidFill>
                                    <a:schemeClr val="tx1"/>
                                  </a:solidFill>
                                  <a:latin typeface="Cambria Math" panose="02040503050406030204" pitchFamily="18" charset="0"/>
                                  <a:ea typeface="Cambria Math" panose="02040503050406030204" pitchFamily="18" charset="0"/>
                                </a:rPr>
                                <m:t>÷4</m:t>
                              </m:r>
                            </m:oMath>
                          </a14:m>
                          <a:endParaRPr lang="en-GB" sz="1200" b="0" i="0" kern="1200">
                            <a:solidFill>
                              <a:schemeClr val="dk1"/>
                            </a:solidFill>
                            <a:effectLst/>
                            <a:latin typeface="+mn-lt"/>
                            <a:ea typeface="+mn-ea"/>
                            <a:cs typeface="+mn-cs"/>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0893475"/>
                      </a:ext>
                    </a:extLst>
                  </a:tr>
                  <a:tr h="46800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2357360"/>
                      </a:ext>
                    </a:extLst>
                  </a:tr>
                </a:tbl>
              </a:graphicData>
            </a:graphic>
          </p:graphicFrame>
        </mc:Choice>
        <mc:Fallback xmlns="">
          <p:graphicFrame>
            <p:nvGraphicFramePr>
              <p:cNvPr id="4" name="Table 3">
                <a:extLst>
                  <a:ext uri="{FF2B5EF4-FFF2-40B4-BE49-F238E27FC236}">
                    <a16:creationId xmlns:a16="http://schemas.microsoft.com/office/drawing/2014/main" id="{30435876-848A-7D8D-3A26-B0C97BF26152}"/>
                  </a:ext>
                </a:extLst>
              </p:cNvPr>
              <p:cNvGraphicFramePr>
                <a:graphicFrameLocks noGrp="1"/>
              </p:cNvGraphicFramePr>
              <p:nvPr>
                <p:extLst>
                  <p:ext uri="{D42A27DB-BD31-4B8C-83A1-F6EECF244321}">
                    <p14:modId xmlns:p14="http://schemas.microsoft.com/office/powerpoint/2010/main" val="728824718"/>
                  </p:ext>
                </p:extLst>
              </p:nvPr>
            </p:nvGraphicFramePr>
            <p:xfrm>
              <a:off x="159068" y="912530"/>
              <a:ext cx="6572480" cy="8213760"/>
            </p:xfrm>
            <a:graphic>
              <a:graphicData uri="http://schemas.openxmlformats.org/drawingml/2006/table">
                <a:tbl>
                  <a:tblPr firstRow="1" bandRow="1">
                    <a:tableStyleId>{5C22544A-7EE6-4342-B048-85BDC9FD1C3A}</a:tableStyleId>
                  </a:tblPr>
                  <a:tblGrid>
                    <a:gridCol w="1643120">
                      <a:extLst>
                        <a:ext uri="{9D8B030D-6E8A-4147-A177-3AD203B41FA5}">
                          <a16:colId xmlns:a16="http://schemas.microsoft.com/office/drawing/2014/main" val="3632647821"/>
                        </a:ext>
                      </a:extLst>
                    </a:gridCol>
                    <a:gridCol w="1643120">
                      <a:extLst>
                        <a:ext uri="{9D8B030D-6E8A-4147-A177-3AD203B41FA5}">
                          <a16:colId xmlns:a16="http://schemas.microsoft.com/office/drawing/2014/main" val="3614694657"/>
                        </a:ext>
                      </a:extLst>
                    </a:gridCol>
                    <a:gridCol w="1643120">
                      <a:extLst>
                        <a:ext uri="{9D8B030D-6E8A-4147-A177-3AD203B41FA5}">
                          <a16:colId xmlns:a16="http://schemas.microsoft.com/office/drawing/2014/main" val="3745410584"/>
                        </a:ext>
                      </a:extLst>
                    </a:gridCol>
                    <a:gridCol w="1643120">
                      <a:extLst>
                        <a:ext uri="{9D8B030D-6E8A-4147-A177-3AD203B41FA5}">
                          <a16:colId xmlns:a16="http://schemas.microsoft.com/office/drawing/2014/main" val="3307710997"/>
                        </a:ext>
                      </a:extLst>
                    </a:gridCol>
                  </a:tblGrid>
                  <a:tr h="468000">
                    <a:tc gridSpan="4">
                      <a:txBody>
                        <a:bodyPr/>
                        <a:lstStyle/>
                        <a:p>
                          <a:r>
                            <a:rPr lang="en-US" sz="1200" b="0" baseline="0">
                              <a:solidFill>
                                <a:schemeClr val="tx1"/>
                              </a:solidFill>
                              <a:latin typeface="+mn-lt"/>
                            </a:rPr>
                            <a:t>Question 24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05532570"/>
                      </a:ext>
                    </a:extLst>
                  </a:tr>
                  <a:tr h="468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70" t="-100000" r="-300370" b="-155454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70" t="-100000" r="-200370" b="-155454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115" t="-100000" r="-101115" b="-155454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100000" r="-741" b="-1554545"/>
                          </a:stretch>
                        </a:blipFill>
                      </a:tcPr>
                    </a:tc>
                    <a:extLst>
                      <a:ext uri="{0D108BD9-81ED-4DB2-BD59-A6C34878D82A}">
                        <a16:rowId xmlns:a16="http://schemas.microsoft.com/office/drawing/2014/main" val="10632978"/>
                      </a:ext>
                    </a:extLst>
                  </a:tr>
                  <a:tr h="118872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6026984"/>
                      </a:ext>
                    </a:extLst>
                  </a:tr>
                  <a:tr h="468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70" t="-453247" r="-300370" b="-120129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70" t="-453247" r="-200370" b="-120129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115" t="-453247" r="-101115" b="-120129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453247" r="-741" b="-1201299"/>
                          </a:stretch>
                        </a:blipFill>
                      </a:tcPr>
                    </a:tc>
                    <a:extLst>
                      <a:ext uri="{0D108BD9-81ED-4DB2-BD59-A6C34878D82A}">
                        <a16:rowId xmlns:a16="http://schemas.microsoft.com/office/drawing/2014/main" val="1554471230"/>
                      </a:ext>
                    </a:extLst>
                  </a:tr>
                  <a:tr h="118872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3303251"/>
                      </a:ext>
                    </a:extLst>
                  </a:tr>
                  <a:tr h="468000">
                    <a:tc gridSpan="4">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52711346"/>
                      </a:ext>
                    </a:extLst>
                  </a:tr>
                  <a:tr h="468000">
                    <a:tc gridSpan="4">
                      <a:txBody>
                        <a:bodyPr/>
                        <a:lstStyle/>
                        <a:p>
                          <a:r>
                            <a:rPr lang="en-US" sz="1200" baseline="0">
                              <a:solidFill>
                                <a:schemeClr val="tx1"/>
                              </a:solidFill>
                              <a:latin typeface="+mn-lt"/>
                            </a:rPr>
                            <a:t>Question 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35340559"/>
                      </a:ext>
                    </a:extLst>
                  </a:tr>
                  <a:tr h="468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70" t="-1006494" r="-300370" b="-6480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70" t="-1006494" r="-200370" b="-6480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115" t="-1006494" r="-101115" b="-6480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1006494" r="-741" b="-648052"/>
                          </a:stretch>
                        </a:blipFill>
                      </a:tcPr>
                    </a:tc>
                    <a:extLst>
                      <a:ext uri="{0D108BD9-81ED-4DB2-BD59-A6C34878D82A}">
                        <a16:rowId xmlns:a16="http://schemas.microsoft.com/office/drawing/2014/main" val="2928745246"/>
                      </a:ext>
                    </a:extLst>
                  </a:tr>
                  <a:tr h="118872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4407680"/>
                      </a:ext>
                    </a:extLst>
                  </a:tr>
                  <a:tr h="468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70" t="-1359740" r="-300370" b="-2948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70" t="-1359740" r="-200370" b="-2948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115" t="-1359740" r="-101115" b="-2948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1359740" r="-741" b="-294805"/>
                          </a:stretch>
                        </a:blipFill>
                      </a:tcPr>
                    </a:tc>
                    <a:extLst>
                      <a:ext uri="{0D108BD9-81ED-4DB2-BD59-A6C34878D82A}">
                        <a16:rowId xmlns:a16="http://schemas.microsoft.com/office/drawing/2014/main" val="2080893475"/>
                      </a:ext>
                    </a:extLst>
                  </a:tr>
                  <a:tr h="1371600">
                    <a:tc>
                      <a:txBody>
                        <a:bodyPr/>
                        <a:lstStyle/>
                        <a:p>
                          <a:pPr algn="ctr"/>
                          <a:endParaRPr lang="en-GB"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US" sz="1200" b="1" baseline="0" dirty="0">
                            <a:solidFill>
                              <a:srgbClr val="FF0000"/>
                            </a:solidFill>
                            <a:latin typeface="+mn-lt"/>
                          </a:endParaRPr>
                        </a:p>
                        <a:p>
                          <a:pPr algn="ctr"/>
                          <a:endParaRPr lang="en-GB"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2357360"/>
                      </a:ext>
                    </a:extLst>
                  </a:tr>
                </a:tbl>
              </a:graphicData>
            </a:graphic>
          </p:graphicFrame>
        </mc:Fallback>
      </mc:AlternateContent>
    </p:spTree>
    <p:extLst>
      <p:ext uri="{BB962C8B-B14F-4D97-AF65-F5344CB8AC3E}">
        <p14:creationId xmlns:p14="http://schemas.microsoft.com/office/powerpoint/2010/main" val="17273549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72825" y="9574938"/>
            <a:ext cx="1543050" cy="527403"/>
          </a:xfrm>
        </p:spPr>
        <p:txBody>
          <a:bodyPr/>
          <a:lstStyle/>
          <a:p>
            <a:fld id="{19F1D9CC-7119-45EC-A96C-D8C0660F3AAB}" type="slidenum">
              <a:rPr lang="en-GB" smtClean="0"/>
              <a:t>60</a:t>
            </a:fld>
            <a:endParaRPr lang="en-GB"/>
          </a:p>
        </p:txBody>
      </p:sp>
      <p:graphicFrame>
        <p:nvGraphicFramePr>
          <p:cNvPr id="3" name="Table 2">
            <a:extLst>
              <a:ext uri="{FF2B5EF4-FFF2-40B4-BE49-F238E27FC236}">
                <a16:creationId xmlns:a16="http://schemas.microsoft.com/office/drawing/2014/main" id="{D31395E0-63EE-7285-8641-40611AC40F9B}"/>
              </a:ext>
            </a:extLst>
          </p:cNvPr>
          <p:cNvGraphicFramePr>
            <a:graphicFrameLocks noGrp="1"/>
          </p:cNvGraphicFramePr>
          <p:nvPr>
            <p:extLst>
              <p:ext uri="{D42A27DB-BD31-4B8C-83A1-F6EECF244321}">
                <p14:modId xmlns:p14="http://schemas.microsoft.com/office/powerpoint/2010/main" val="6038732"/>
              </p:ext>
            </p:extLst>
          </p:nvPr>
        </p:nvGraphicFramePr>
        <p:xfrm>
          <a:off x="228440" y="63155"/>
          <a:ext cx="6401120" cy="9511783"/>
        </p:xfrm>
        <a:graphic>
          <a:graphicData uri="http://schemas.openxmlformats.org/drawingml/2006/table">
            <a:tbl>
              <a:tblPr firstRow="1" bandRow="1">
                <a:tableStyleId>{5940675A-B579-460E-94D1-54222C63F5DA}</a:tableStyleId>
              </a:tblPr>
              <a:tblGrid>
                <a:gridCol w="3200560">
                  <a:extLst>
                    <a:ext uri="{9D8B030D-6E8A-4147-A177-3AD203B41FA5}">
                      <a16:colId xmlns:a16="http://schemas.microsoft.com/office/drawing/2014/main" val="1608161618"/>
                    </a:ext>
                  </a:extLst>
                </a:gridCol>
                <a:gridCol w="3200560">
                  <a:extLst>
                    <a:ext uri="{9D8B030D-6E8A-4147-A177-3AD203B41FA5}">
                      <a16:colId xmlns:a16="http://schemas.microsoft.com/office/drawing/2014/main" val="2987342931"/>
                    </a:ext>
                  </a:extLst>
                </a:gridCol>
              </a:tblGrid>
              <a:tr h="335082">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solidFill>
                            <a:srgbClr val="000000"/>
                          </a:solidFill>
                        </a:rPr>
                        <a:t>26.    </a:t>
                      </a:r>
                      <a:r>
                        <a:rPr lang="en-US" sz="1200" dirty="0">
                          <a:solidFill>
                            <a:srgbClr val="000000"/>
                          </a:solidFill>
                        </a:rPr>
                        <a:t>Answer these questions by completing a suitable multiplication.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hMerge="1">
                  <a:txBody>
                    <a:bodyPr/>
                    <a:lstStyle/>
                    <a:p>
                      <a:endParaRPr lang="en-GB" dirty="0"/>
                    </a:p>
                  </a:txBody>
                  <a:tcPr/>
                </a:tc>
                <a:extLst>
                  <a:ext uri="{0D108BD9-81ED-4DB2-BD59-A6C34878D82A}">
                    <a16:rowId xmlns:a16="http://schemas.microsoft.com/office/drawing/2014/main" val="462466245"/>
                  </a:ext>
                </a:extLst>
              </a:tr>
              <a:tr h="44678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(a) How many days are there in 17 weeks?</a:t>
                      </a:r>
                    </a:p>
                    <a:p>
                      <a:endParaRPr lang="en-GB" sz="1200" dirty="0"/>
                    </a:p>
                  </a:txBody>
                  <a:tcPr/>
                </a:tc>
                <a:tc>
                  <a:txBody>
                    <a:bodyPr/>
                    <a:lstStyle/>
                    <a:p>
                      <a:endParaRPr lang="en-GB" sz="1200" b="1" dirty="0">
                        <a:solidFill>
                          <a:srgbClr val="FF0000"/>
                        </a:solidFill>
                      </a:endParaRPr>
                    </a:p>
                  </a:txBody>
                  <a:tcPr/>
                </a:tc>
                <a:extLst>
                  <a:ext uri="{0D108BD9-81ED-4DB2-BD59-A6C34878D82A}">
                    <a16:rowId xmlns:a16="http://schemas.microsoft.com/office/drawing/2014/main" val="2843839521"/>
                  </a:ext>
                </a:extLst>
              </a:tr>
              <a:tr h="44678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(b) How many hours are there in four days?</a:t>
                      </a:r>
                    </a:p>
                    <a:p>
                      <a:endParaRPr lang="en-GB" sz="1200" dirty="0"/>
                    </a:p>
                  </a:txBody>
                  <a:tcPr/>
                </a:tc>
                <a:tc>
                  <a:txBody>
                    <a:bodyPr/>
                    <a:lstStyle/>
                    <a:p>
                      <a:endParaRPr lang="en-GB" sz="1200" b="1" dirty="0">
                        <a:solidFill>
                          <a:srgbClr val="FF0000"/>
                        </a:solidFill>
                      </a:endParaRPr>
                    </a:p>
                  </a:txBody>
                  <a:tcPr/>
                </a:tc>
                <a:extLst>
                  <a:ext uri="{0D108BD9-81ED-4DB2-BD59-A6C34878D82A}">
                    <a16:rowId xmlns:a16="http://schemas.microsoft.com/office/drawing/2014/main" val="1085592194"/>
                  </a:ext>
                </a:extLst>
              </a:tr>
              <a:tr h="6255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(c)  Eggs are packed in boxes of six. How many eggs altogether are there in 24 boxes?</a:t>
                      </a:r>
                    </a:p>
                    <a:p>
                      <a:endParaRPr lang="en-GB" sz="1200" dirty="0"/>
                    </a:p>
                  </a:txBody>
                  <a:tcPr/>
                </a:tc>
                <a:tc>
                  <a:txBody>
                    <a:bodyPr/>
                    <a:lstStyle/>
                    <a:p>
                      <a:endParaRPr lang="en-GB" sz="1200" b="1" dirty="0">
                        <a:solidFill>
                          <a:srgbClr val="FF0000"/>
                        </a:solidFill>
                      </a:endParaRPr>
                    </a:p>
                  </a:txBody>
                  <a:tcPr/>
                </a:tc>
                <a:extLst>
                  <a:ext uri="{0D108BD9-81ED-4DB2-BD59-A6C34878D82A}">
                    <a16:rowId xmlns:a16="http://schemas.microsoft.com/office/drawing/2014/main" val="3299659285"/>
                  </a:ext>
                </a:extLst>
              </a:tr>
              <a:tr h="804217">
                <a:tc>
                  <a:txBody>
                    <a:bodyPr/>
                    <a:lstStyle/>
                    <a:p>
                      <a:pPr marL="177800" indent="-177800"/>
                      <a:r>
                        <a:rPr lang="en-US" sz="1200" dirty="0">
                          <a:solidFill>
                            <a:srgbClr val="000000"/>
                          </a:solidFill>
                        </a:rPr>
                        <a:t>(d) Joe bought five boxes of matches. Each box contained 42 matches.  </a:t>
                      </a:r>
                    </a:p>
                    <a:p>
                      <a:r>
                        <a:rPr lang="en-US" sz="1200" dirty="0">
                          <a:solidFill>
                            <a:srgbClr val="000000"/>
                          </a:solidFill>
                        </a:rPr>
                        <a:t>      How many matches did Joe buy altogether?</a:t>
                      </a:r>
                    </a:p>
                    <a:p>
                      <a:endParaRPr lang="en-GB" sz="1200" dirty="0"/>
                    </a:p>
                  </a:txBody>
                  <a:tcPr/>
                </a:tc>
                <a:tc>
                  <a:txBody>
                    <a:bodyPr/>
                    <a:lstStyle/>
                    <a:p>
                      <a:endParaRPr lang="en-GB" sz="1200" b="1" dirty="0">
                        <a:solidFill>
                          <a:srgbClr val="FF0000"/>
                        </a:solidFill>
                      </a:endParaRPr>
                    </a:p>
                  </a:txBody>
                  <a:tcPr/>
                </a:tc>
                <a:extLst>
                  <a:ext uri="{0D108BD9-81ED-4DB2-BD59-A6C34878D82A}">
                    <a16:rowId xmlns:a16="http://schemas.microsoft.com/office/drawing/2014/main" val="105134190"/>
                  </a:ext>
                </a:extLst>
              </a:tr>
              <a:tr h="335082">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solidFill>
                            <a:srgbClr val="000000"/>
                          </a:solidFill>
                        </a:rPr>
                        <a:t>27.   </a:t>
                      </a:r>
                      <a:r>
                        <a:rPr lang="en-US" sz="1200" dirty="0">
                          <a:solidFill>
                            <a:srgbClr val="000000"/>
                          </a:solidFill>
                        </a:rPr>
                        <a:t>Answer these questions by completing a suitable division.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endParaRPr lang="en-GB" sz="1200" dirty="0"/>
                    </a:p>
                  </a:txBody>
                  <a:tcPr/>
                </a:tc>
                <a:extLst>
                  <a:ext uri="{0D108BD9-81ED-4DB2-BD59-A6C34878D82A}">
                    <a16:rowId xmlns:a16="http://schemas.microsoft.com/office/drawing/2014/main" val="3362933086"/>
                  </a:ext>
                </a:extLst>
              </a:tr>
              <a:tr h="33508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(a) How many weeks are there in 91 days?</a:t>
                      </a:r>
                    </a:p>
                  </a:txBody>
                  <a:tcPr/>
                </a:tc>
                <a:tc>
                  <a:txBody>
                    <a:bodyPr/>
                    <a:lstStyle/>
                    <a:p>
                      <a:endParaRPr lang="en-GB" sz="1200" b="1" dirty="0">
                        <a:solidFill>
                          <a:srgbClr val="FF0000"/>
                        </a:solidFill>
                      </a:endParaRPr>
                    </a:p>
                  </a:txBody>
                  <a:tcPr/>
                </a:tc>
                <a:extLst>
                  <a:ext uri="{0D108BD9-81ED-4DB2-BD59-A6C34878D82A}">
                    <a16:rowId xmlns:a16="http://schemas.microsoft.com/office/drawing/2014/main" val="1331617114"/>
                  </a:ext>
                </a:extLst>
              </a:tr>
              <a:tr h="44678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(b) How long will it take me to save £111, if I save £3 a week?</a:t>
                      </a:r>
                    </a:p>
                  </a:txBody>
                  <a:tcPr/>
                </a:tc>
                <a:tc>
                  <a:txBody>
                    <a:bodyPr/>
                    <a:lstStyle/>
                    <a:p>
                      <a:endParaRPr lang="en-GB" sz="1200" b="1" dirty="0">
                        <a:solidFill>
                          <a:srgbClr val="FF0000"/>
                        </a:solidFill>
                      </a:endParaRPr>
                    </a:p>
                  </a:txBody>
                  <a:tcPr/>
                </a:tc>
                <a:extLst>
                  <a:ext uri="{0D108BD9-81ED-4DB2-BD59-A6C34878D82A}">
                    <a16:rowId xmlns:a16="http://schemas.microsoft.com/office/drawing/2014/main" val="2109906970"/>
                  </a:ext>
                </a:extLst>
              </a:tr>
              <a:tr h="446787">
                <a:tc>
                  <a:txBody>
                    <a:bodyPr/>
                    <a:lstStyle/>
                    <a:p>
                      <a:pPr lvl="0"/>
                      <a:r>
                        <a:rPr lang="en-US" sz="1200" dirty="0">
                          <a:solidFill>
                            <a:srgbClr val="000000"/>
                          </a:solidFill>
                        </a:rPr>
                        <a:t>(c) A rope, 21.5 m long, is cut into five equal pieces. How long is each piece?</a:t>
                      </a:r>
                    </a:p>
                  </a:txBody>
                  <a:tcPr/>
                </a:tc>
                <a:tc>
                  <a:txBody>
                    <a:bodyPr/>
                    <a:lstStyle/>
                    <a:p>
                      <a:endParaRPr lang="en-GB" sz="1200" b="1" dirty="0">
                        <a:solidFill>
                          <a:srgbClr val="FF0000"/>
                        </a:solidFill>
                      </a:endParaRPr>
                    </a:p>
                  </a:txBody>
                  <a:tcPr/>
                </a:tc>
                <a:extLst>
                  <a:ext uri="{0D108BD9-81ED-4DB2-BD59-A6C34878D82A}">
                    <a16:rowId xmlns:a16="http://schemas.microsoft.com/office/drawing/2014/main" val="3489377409"/>
                  </a:ext>
                </a:extLst>
              </a:tr>
              <a:tr h="804217">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t>28.   </a:t>
                      </a:r>
                      <a:r>
                        <a:rPr lang="en-US" sz="1200" dirty="0"/>
                        <a:t>There are seven columns on one page of a newspaper. In each column there are 172 lines, and in each line there are 50 letters. The newspaper has the equivalent of 20 pages of print, excluding photographs and adverts. Are there more than a million letters in the paper?</a:t>
                      </a:r>
                      <a:endParaRPr lang="en-GB" sz="1200" dirty="0"/>
                    </a:p>
                    <a:p>
                      <a:pPr lvl="0"/>
                      <a:endParaRPr lang="en-US" sz="1200" dirty="0">
                        <a:solidFill>
                          <a:srgbClr val="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endParaRPr lang="en-GB" sz="1200" dirty="0"/>
                    </a:p>
                  </a:txBody>
                  <a:tcPr/>
                </a:tc>
                <a:extLst>
                  <a:ext uri="{0D108BD9-81ED-4DB2-BD59-A6C34878D82A}">
                    <a16:rowId xmlns:a16="http://schemas.microsoft.com/office/drawing/2014/main" val="1927948194"/>
                  </a:ext>
                </a:extLst>
              </a:tr>
              <a:tr h="1246852">
                <a:tc gridSpan="2">
                  <a:txBody>
                    <a:bodyPr/>
                    <a:lstStyle/>
                    <a:p>
                      <a:pPr lvl="0"/>
                      <a:endParaRPr lang="en-US" sz="1200" b="1" dirty="0">
                        <a:solidFill>
                          <a:srgbClr val="FF0000"/>
                        </a:solidFill>
                      </a:endParaRPr>
                    </a:p>
                  </a:txBody>
                  <a:tcPr/>
                </a:tc>
                <a:tc hMerge="1">
                  <a:txBody>
                    <a:bodyPr/>
                    <a:lstStyle/>
                    <a:p>
                      <a:endParaRPr lang="en-GB" sz="1200" dirty="0"/>
                    </a:p>
                  </a:txBody>
                  <a:tcPr/>
                </a:tc>
                <a:extLst>
                  <a:ext uri="{0D108BD9-81ED-4DB2-BD59-A6C34878D82A}">
                    <a16:rowId xmlns:a16="http://schemas.microsoft.com/office/drawing/2014/main" val="2367476832"/>
                  </a:ext>
                </a:extLst>
              </a:tr>
              <a:tr h="625502">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t>29.   </a:t>
                      </a:r>
                      <a:r>
                        <a:rPr lang="en-US" sz="1200" dirty="0"/>
                        <a:t>A tank of water was emptied into casks. Each cask held 81 </a:t>
                      </a:r>
                      <a:r>
                        <a:rPr lang="en-US" sz="1200" dirty="0" err="1"/>
                        <a:t>litres</a:t>
                      </a:r>
                      <a:r>
                        <a:rPr lang="en-US" sz="1200" dirty="0"/>
                        <a:t>. 71 casks were filled and there were 68 </a:t>
                      </a:r>
                      <a:r>
                        <a:rPr lang="en-US" sz="1200" dirty="0" err="1"/>
                        <a:t>litres</a:t>
                      </a:r>
                      <a:r>
                        <a:rPr lang="en-US" sz="1200" dirty="0"/>
                        <a:t> left over. How much water was there in the tank to start with?</a:t>
                      </a:r>
                      <a:endParaRPr lang="en-GB" sz="1200" dirty="0"/>
                    </a:p>
                    <a:p>
                      <a:pPr lvl="0"/>
                      <a:endParaRPr lang="en-US" sz="1200" dirty="0">
                        <a:solidFill>
                          <a:srgbClr val="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endParaRPr lang="en-GB" sz="1200" dirty="0"/>
                    </a:p>
                  </a:txBody>
                  <a:tcPr/>
                </a:tc>
                <a:extLst>
                  <a:ext uri="{0D108BD9-81ED-4DB2-BD59-A6C34878D82A}">
                    <a16:rowId xmlns:a16="http://schemas.microsoft.com/office/drawing/2014/main" val="2050494054"/>
                  </a:ext>
                </a:extLst>
              </a:tr>
              <a:tr h="918860">
                <a:tc gridSpan="2">
                  <a:txBody>
                    <a:bodyPr/>
                    <a:lstStyle/>
                    <a:p>
                      <a:pPr lvl="0"/>
                      <a:endParaRPr lang="en-US" sz="1200" b="1" dirty="0">
                        <a:solidFill>
                          <a:srgbClr val="FF0000"/>
                        </a:solidFill>
                      </a:endParaRPr>
                    </a:p>
                  </a:txBody>
                  <a:tcPr/>
                </a:tc>
                <a:tc hMerge="1">
                  <a:txBody>
                    <a:bodyPr/>
                    <a:lstStyle/>
                    <a:p>
                      <a:endParaRPr lang="en-GB"/>
                    </a:p>
                  </a:txBody>
                  <a:tcPr/>
                </a:tc>
                <a:extLst>
                  <a:ext uri="{0D108BD9-81ED-4DB2-BD59-A6C34878D82A}">
                    <a16:rowId xmlns:a16="http://schemas.microsoft.com/office/drawing/2014/main" val="2425941380"/>
                  </a:ext>
                </a:extLst>
              </a:tr>
              <a:tr h="472133">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t>30.   </a:t>
                      </a:r>
                      <a:r>
                        <a:rPr lang="en-US" sz="1200" dirty="0"/>
                        <a:t>Joy is doing a sponsored walk. She managed to get 18 people to sponsor her, each for 35p per </a:t>
                      </a:r>
                      <a:r>
                        <a:rPr lang="en-US" sz="1200" dirty="0" err="1"/>
                        <a:t>kilometre</a:t>
                      </a:r>
                      <a:r>
                        <a:rPr lang="en-US" sz="1200" dirty="0"/>
                        <a:t>. She walked a total of 48 km. Did Joy reach her fundraising target of £400?</a:t>
                      </a:r>
                      <a:endParaRPr lang="en-GB"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hMerge="1">
                  <a:txBody>
                    <a:bodyPr/>
                    <a:lstStyle/>
                    <a:p>
                      <a:endParaRPr lang="en-GB"/>
                    </a:p>
                  </a:txBody>
                  <a:tcPr/>
                </a:tc>
                <a:extLst>
                  <a:ext uri="{0D108BD9-81ED-4DB2-BD59-A6C34878D82A}">
                    <a16:rowId xmlns:a16="http://schemas.microsoft.com/office/drawing/2014/main" val="2597354067"/>
                  </a:ext>
                </a:extLst>
              </a:tr>
              <a:tr h="1113812">
                <a:tc gridSpan="2">
                  <a:txBody>
                    <a:bodyPr/>
                    <a:lstStyle/>
                    <a:p>
                      <a:pPr lvl="0"/>
                      <a:endParaRPr lang="en-US" sz="1200" b="1" dirty="0">
                        <a:solidFill>
                          <a:srgbClr val="FF0000"/>
                        </a:solidFill>
                      </a:endParaRPr>
                    </a:p>
                  </a:txBody>
                  <a:tcPr/>
                </a:tc>
                <a:tc hMerge="1">
                  <a:txBody>
                    <a:bodyPr/>
                    <a:lstStyle/>
                    <a:p>
                      <a:endParaRPr lang="en-GB"/>
                    </a:p>
                  </a:txBody>
                  <a:tcPr/>
                </a:tc>
                <a:extLst>
                  <a:ext uri="{0D108BD9-81ED-4DB2-BD59-A6C34878D82A}">
                    <a16:rowId xmlns:a16="http://schemas.microsoft.com/office/drawing/2014/main" val="2572828758"/>
                  </a:ext>
                </a:extLst>
              </a:tr>
            </a:tbl>
          </a:graphicData>
        </a:graphic>
      </p:graphicFrame>
    </p:spTree>
    <p:extLst>
      <p:ext uri="{BB962C8B-B14F-4D97-AF65-F5344CB8AC3E}">
        <p14:creationId xmlns:p14="http://schemas.microsoft.com/office/powerpoint/2010/main" val="24649290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628E9C-0F0B-A996-3CA0-4F1054BDA414}"/>
              </a:ext>
            </a:extLst>
          </p:cNvPr>
          <p:cNvSpPr>
            <a:spLocks noGrp="1"/>
          </p:cNvSpPr>
          <p:nvPr>
            <p:ph type="sldNum" sz="quarter" idx="12"/>
          </p:nvPr>
        </p:nvSpPr>
        <p:spPr/>
        <p:txBody>
          <a:bodyPr/>
          <a:lstStyle/>
          <a:p>
            <a:fld id="{19F1D9CC-7119-45EC-A96C-D8C0660F3AAB}" type="slidenum">
              <a:rPr lang="en-GB" smtClean="0"/>
              <a:t>61</a:t>
            </a:fld>
            <a:endParaRPr lang="en-GB"/>
          </a:p>
        </p:txBody>
      </p:sp>
      <p:pic>
        <p:nvPicPr>
          <p:cNvPr id="6" name="Picture 5">
            <a:extLst>
              <a:ext uri="{FF2B5EF4-FFF2-40B4-BE49-F238E27FC236}">
                <a16:creationId xmlns:a16="http://schemas.microsoft.com/office/drawing/2014/main" id="{71744BD1-EC35-3029-D1D0-DF62F76AB79E}"/>
              </a:ext>
            </a:extLst>
          </p:cNvPr>
          <p:cNvPicPr>
            <a:picLocks noChangeAspect="1"/>
          </p:cNvPicPr>
          <p:nvPr/>
        </p:nvPicPr>
        <p:blipFill rotWithShape="1">
          <a:blip r:embed="rId3"/>
          <a:srcRect l="7272" t="86"/>
          <a:stretch/>
        </p:blipFill>
        <p:spPr>
          <a:xfrm>
            <a:off x="121052" y="450105"/>
            <a:ext cx="6242020" cy="871601"/>
          </a:xfrm>
          <a:prstGeom prst="rect">
            <a:avLst/>
          </a:prstGeom>
          <a:ln>
            <a:noFill/>
          </a:ln>
        </p:spPr>
      </p:pic>
      <p:pic>
        <p:nvPicPr>
          <p:cNvPr id="10" name="Picture 9">
            <a:extLst>
              <a:ext uri="{FF2B5EF4-FFF2-40B4-BE49-F238E27FC236}">
                <a16:creationId xmlns:a16="http://schemas.microsoft.com/office/drawing/2014/main" id="{7AD4ACE1-E197-94C7-F588-98E4CA95B346}"/>
              </a:ext>
            </a:extLst>
          </p:cNvPr>
          <p:cNvPicPr>
            <a:picLocks noChangeAspect="1"/>
          </p:cNvPicPr>
          <p:nvPr/>
        </p:nvPicPr>
        <p:blipFill rotWithShape="1">
          <a:blip r:embed="rId4"/>
          <a:srcRect l="8164"/>
          <a:stretch/>
        </p:blipFill>
        <p:spPr>
          <a:xfrm>
            <a:off x="29268" y="3523803"/>
            <a:ext cx="6492584" cy="825839"/>
          </a:xfrm>
          <a:prstGeom prst="rect">
            <a:avLst/>
          </a:prstGeom>
          <a:ln>
            <a:noFill/>
          </a:ln>
        </p:spPr>
      </p:pic>
      <p:sp>
        <p:nvSpPr>
          <p:cNvPr id="13" name="TextBox 12">
            <a:extLst>
              <a:ext uri="{FF2B5EF4-FFF2-40B4-BE49-F238E27FC236}">
                <a16:creationId xmlns:a16="http://schemas.microsoft.com/office/drawing/2014/main" id="{27A45E7C-E110-A5F1-BEDD-4DBA9F6D03E8}"/>
              </a:ext>
            </a:extLst>
          </p:cNvPr>
          <p:cNvSpPr txBox="1"/>
          <p:nvPr/>
        </p:nvSpPr>
        <p:spPr>
          <a:xfrm>
            <a:off x="121052" y="44576"/>
            <a:ext cx="4147995" cy="307777"/>
          </a:xfrm>
          <a:prstGeom prst="rect">
            <a:avLst/>
          </a:prstGeom>
          <a:solidFill>
            <a:srgbClr val="0070C0"/>
          </a:solidFill>
        </p:spPr>
        <p:txBody>
          <a:bodyPr wrap="none" rtlCol="0" anchor="ctr">
            <a:spAutoFit/>
          </a:bodyPr>
          <a:lstStyle/>
          <a:p>
            <a:pPr algn="ctr"/>
            <a:r>
              <a:rPr lang="en-GB" sz="1400" b="1" dirty="0">
                <a:solidFill>
                  <a:schemeClr val="bg1"/>
                </a:solidFill>
                <a:latin typeface="Calibri" panose="020F0502020204030204" pitchFamily="34" charset="0"/>
                <a:cs typeface="Calibri" panose="020F0502020204030204" pitchFamily="34" charset="0"/>
              </a:rPr>
              <a:t>GCSE PAST PAPER QUESTIONS – Non Calculator paper</a:t>
            </a:r>
          </a:p>
        </p:txBody>
      </p:sp>
      <p:sp>
        <p:nvSpPr>
          <p:cNvPr id="14" name="Rectangle 13">
            <a:extLst>
              <a:ext uri="{FF2B5EF4-FFF2-40B4-BE49-F238E27FC236}">
                <a16:creationId xmlns:a16="http://schemas.microsoft.com/office/drawing/2014/main" id="{5466CC10-C62A-00C0-A9DB-B6C6C5D1D3C0}"/>
              </a:ext>
            </a:extLst>
          </p:cNvPr>
          <p:cNvSpPr/>
          <p:nvPr/>
        </p:nvSpPr>
        <p:spPr>
          <a:xfrm>
            <a:off x="152401" y="321228"/>
            <a:ext cx="6360160" cy="17181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B2D3FBEC-2336-BCA9-1889-97D155B50C98}"/>
              </a:ext>
            </a:extLst>
          </p:cNvPr>
          <p:cNvSpPr/>
          <p:nvPr/>
        </p:nvSpPr>
        <p:spPr>
          <a:xfrm>
            <a:off x="152401" y="3502694"/>
            <a:ext cx="6360160" cy="15755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7" name="Picture 26">
            <a:extLst>
              <a:ext uri="{FF2B5EF4-FFF2-40B4-BE49-F238E27FC236}">
                <a16:creationId xmlns:a16="http://schemas.microsoft.com/office/drawing/2014/main" id="{887599C7-C44D-4F93-6B78-B687F33B41B1}"/>
              </a:ext>
            </a:extLst>
          </p:cNvPr>
          <p:cNvPicPr>
            <a:picLocks noChangeAspect="1"/>
          </p:cNvPicPr>
          <p:nvPr/>
        </p:nvPicPr>
        <p:blipFill>
          <a:blip r:embed="rId5"/>
          <a:stretch>
            <a:fillRect/>
          </a:stretch>
        </p:blipFill>
        <p:spPr>
          <a:xfrm>
            <a:off x="74080" y="2112605"/>
            <a:ext cx="6201725" cy="619476"/>
          </a:xfrm>
          <a:prstGeom prst="rect">
            <a:avLst/>
          </a:prstGeom>
        </p:spPr>
      </p:pic>
      <p:sp>
        <p:nvSpPr>
          <p:cNvPr id="28" name="Rectangle 27">
            <a:extLst>
              <a:ext uri="{FF2B5EF4-FFF2-40B4-BE49-F238E27FC236}">
                <a16:creationId xmlns:a16="http://schemas.microsoft.com/office/drawing/2014/main" id="{878EC269-A328-3095-8F2E-B75F629BB646}"/>
              </a:ext>
            </a:extLst>
          </p:cNvPr>
          <p:cNvSpPr/>
          <p:nvPr/>
        </p:nvSpPr>
        <p:spPr>
          <a:xfrm>
            <a:off x="140989" y="2104315"/>
            <a:ext cx="6360160" cy="135452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2" name="Picture 31">
            <a:extLst>
              <a:ext uri="{FF2B5EF4-FFF2-40B4-BE49-F238E27FC236}">
                <a16:creationId xmlns:a16="http://schemas.microsoft.com/office/drawing/2014/main" id="{651A83C7-AE0A-C09F-E566-A73CE4090F1B}"/>
              </a:ext>
            </a:extLst>
          </p:cNvPr>
          <p:cNvPicPr>
            <a:picLocks noChangeAspect="1"/>
          </p:cNvPicPr>
          <p:nvPr/>
        </p:nvPicPr>
        <p:blipFill rotWithShape="1">
          <a:blip r:embed="rId6"/>
          <a:srcRect t="71973"/>
          <a:stretch/>
        </p:blipFill>
        <p:spPr>
          <a:xfrm>
            <a:off x="121052" y="7783821"/>
            <a:ext cx="6086708" cy="1439832"/>
          </a:xfrm>
          <a:prstGeom prst="rect">
            <a:avLst/>
          </a:prstGeom>
        </p:spPr>
      </p:pic>
      <p:pic>
        <p:nvPicPr>
          <p:cNvPr id="33" name="Picture 32">
            <a:extLst>
              <a:ext uri="{FF2B5EF4-FFF2-40B4-BE49-F238E27FC236}">
                <a16:creationId xmlns:a16="http://schemas.microsoft.com/office/drawing/2014/main" id="{11B4B1E6-4A4B-D1E1-3F58-C6D13A689984}"/>
              </a:ext>
            </a:extLst>
          </p:cNvPr>
          <p:cNvPicPr>
            <a:picLocks noChangeAspect="1"/>
          </p:cNvPicPr>
          <p:nvPr/>
        </p:nvPicPr>
        <p:blipFill rotWithShape="1">
          <a:blip r:embed="rId6"/>
          <a:srcRect r="52226" b="86504"/>
          <a:stretch/>
        </p:blipFill>
        <p:spPr>
          <a:xfrm>
            <a:off x="140988" y="5666493"/>
            <a:ext cx="3008611" cy="717360"/>
          </a:xfrm>
          <a:prstGeom prst="rect">
            <a:avLst/>
          </a:prstGeom>
        </p:spPr>
      </p:pic>
      <p:pic>
        <p:nvPicPr>
          <p:cNvPr id="34" name="Picture 33">
            <a:extLst>
              <a:ext uri="{FF2B5EF4-FFF2-40B4-BE49-F238E27FC236}">
                <a16:creationId xmlns:a16="http://schemas.microsoft.com/office/drawing/2014/main" id="{EC1296F9-AA4A-5778-38A8-E4ADE5B912CD}"/>
              </a:ext>
            </a:extLst>
          </p:cNvPr>
          <p:cNvPicPr>
            <a:picLocks noChangeAspect="1"/>
          </p:cNvPicPr>
          <p:nvPr/>
        </p:nvPicPr>
        <p:blipFill rotWithShape="1">
          <a:blip r:embed="rId6"/>
          <a:srcRect l="28767" t="12634" r="26076" b="31370"/>
          <a:stretch/>
        </p:blipFill>
        <p:spPr>
          <a:xfrm>
            <a:off x="4130041" y="5581137"/>
            <a:ext cx="2021839" cy="2115996"/>
          </a:xfrm>
          <a:prstGeom prst="rect">
            <a:avLst/>
          </a:prstGeom>
        </p:spPr>
      </p:pic>
      <p:sp>
        <p:nvSpPr>
          <p:cNvPr id="35" name="Rectangle 34">
            <a:extLst>
              <a:ext uri="{FF2B5EF4-FFF2-40B4-BE49-F238E27FC236}">
                <a16:creationId xmlns:a16="http://schemas.microsoft.com/office/drawing/2014/main" id="{C7EA67A0-BF03-D11D-B134-DB38F8699485}"/>
              </a:ext>
            </a:extLst>
          </p:cNvPr>
          <p:cNvSpPr/>
          <p:nvPr/>
        </p:nvSpPr>
        <p:spPr>
          <a:xfrm>
            <a:off x="161692" y="5576341"/>
            <a:ext cx="6360160" cy="37810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extBox 35">
            <a:extLst>
              <a:ext uri="{FF2B5EF4-FFF2-40B4-BE49-F238E27FC236}">
                <a16:creationId xmlns:a16="http://schemas.microsoft.com/office/drawing/2014/main" id="{05DE50E5-AE68-4B9E-B6CE-B4E66F256BAA}"/>
              </a:ext>
            </a:extLst>
          </p:cNvPr>
          <p:cNvSpPr txBox="1"/>
          <p:nvPr/>
        </p:nvSpPr>
        <p:spPr>
          <a:xfrm>
            <a:off x="240177" y="5173417"/>
            <a:ext cx="1410771" cy="307777"/>
          </a:xfrm>
          <a:prstGeom prst="rect">
            <a:avLst/>
          </a:prstGeom>
          <a:solidFill>
            <a:srgbClr val="0070C0"/>
          </a:solidFill>
        </p:spPr>
        <p:txBody>
          <a:bodyPr wrap="none" rtlCol="0" anchor="ctr">
            <a:spAutoFit/>
          </a:bodyPr>
          <a:lstStyle/>
          <a:p>
            <a:pPr algn="ctr"/>
            <a:r>
              <a:rPr lang="en-GB" sz="1400" b="1" dirty="0">
                <a:solidFill>
                  <a:schemeClr val="bg1"/>
                </a:solidFill>
                <a:latin typeface="Calibri" panose="020F0502020204030204" pitchFamily="34" charset="0"/>
                <a:cs typeface="Calibri" panose="020F0502020204030204" pitchFamily="34" charset="0"/>
              </a:rPr>
              <a:t>Calculator paper</a:t>
            </a:r>
          </a:p>
        </p:txBody>
      </p:sp>
    </p:spTree>
    <p:extLst>
      <p:ext uri="{BB962C8B-B14F-4D97-AF65-F5344CB8AC3E}">
        <p14:creationId xmlns:p14="http://schemas.microsoft.com/office/powerpoint/2010/main" val="13672648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628E9C-0F0B-A996-3CA0-4F1054BDA414}"/>
              </a:ext>
            </a:extLst>
          </p:cNvPr>
          <p:cNvSpPr>
            <a:spLocks noGrp="1"/>
          </p:cNvSpPr>
          <p:nvPr>
            <p:ph type="sldNum" sz="quarter" idx="12"/>
          </p:nvPr>
        </p:nvSpPr>
        <p:spPr/>
        <p:txBody>
          <a:bodyPr/>
          <a:lstStyle/>
          <a:p>
            <a:fld id="{19F1D9CC-7119-45EC-A96C-D8C0660F3AAB}" type="slidenum">
              <a:rPr lang="en-GB" smtClean="0"/>
              <a:t>62</a:t>
            </a:fld>
            <a:endParaRPr lang="en-GB"/>
          </a:p>
        </p:txBody>
      </p:sp>
      <p:pic>
        <p:nvPicPr>
          <p:cNvPr id="8" name="Picture 7">
            <a:extLst>
              <a:ext uri="{FF2B5EF4-FFF2-40B4-BE49-F238E27FC236}">
                <a16:creationId xmlns:a16="http://schemas.microsoft.com/office/drawing/2014/main" id="{6503975C-47E9-228F-183D-DAEFD7E2C0BF}"/>
              </a:ext>
            </a:extLst>
          </p:cNvPr>
          <p:cNvPicPr>
            <a:picLocks noChangeAspect="1"/>
          </p:cNvPicPr>
          <p:nvPr/>
        </p:nvPicPr>
        <p:blipFill>
          <a:blip r:embed="rId3"/>
          <a:stretch>
            <a:fillRect/>
          </a:stretch>
        </p:blipFill>
        <p:spPr>
          <a:xfrm>
            <a:off x="216038" y="314623"/>
            <a:ext cx="5702593" cy="3530781"/>
          </a:xfrm>
          <a:prstGeom prst="rect">
            <a:avLst/>
          </a:prstGeom>
        </p:spPr>
      </p:pic>
      <p:sp>
        <p:nvSpPr>
          <p:cNvPr id="13" name="TextBox 12">
            <a:extLst>
              <a:ext uri="{FF2B5EF4-FFF2-40B4-BE49-F238E27FC236}">
                <a16:creationId xmlns:a16="http://schemas.microsoft.com/office/drawing/2014/main" id="{27A45E7C-E110-A5F1-BEDD-4DBA9F6D03E8}"/>
              </a:ext>
            </a:extLst>
          </p:cNvPr>
          <p:cNvSpPr txBox="1"/>
          <p:nvPr/>
        </p:nvSpPr>
        <p:spPr>
          <a:xfrm>
            <a:off x="152401" y="18912"/>
            <a:ext cx="4658198" cy="307777"/>
          </a:xfrm>
          <a:prstGeom prst="rect">
            <a:avLst/>
          </a:prstGeom>
          <a:solidFill>
            <a:srgbClr val="0070C0"/>
          </a:solidFill>
        </p:spPr>
        <p:txBody>
          <a:bodyPr wrap="none" rtlCol="0" anchor="ctr">
            <a:spAutoFit/>
          </a:bodyPr>
          <a:lstStyle/>
          <a:p>
            <a:pPr algn="ctr"/>
            <a:r>
              <a:rPr lang="en-GB" sz="1400" b="1" dirty="0">
                <a:solidFill>
                  <a:schemeClr val="bg1"/>
                </a:solidFill>
                <a:latin typeface="Calibri" panose="020F0502020204030204" pitchFamily="34" charset="0"/>
                <a:cs typeface="Calibri" panose="020F0502020204030204" pitchFamily="34" charset="0"/>
              </a:rPr>
              <a:t>GCSE PAST PAPER QUESTIONS – context (NON-CALCULATOR)</a:t>
            </a:r>
          </a:p>
        </p:txBody>
      </p:sp>
      <p:sp>
        <p:nvSpPr>
          <p:cNvPr id="14" name="Rectangle 13">
            <a:extLst>
              <a:ext uri="{FF2B5EF4-FFF2-40B4-BE49-F238E27FC236}">
                <a16:creationId xmlns:a16="http://schemas.microsoft.com/office/drawing/2014/main" id="{5466CC10-C62A-00C0-A9DB-B6C6C5D1D3C0}"/>
              </a:ext>
            </a:extLst>
          </p:cNvPr>
          <p:cNvSpPr/>
          <p:nvPr/>
        </p:nvSpPr>
        <p:spPr>
          <a:xfrm>
            <a:off x="152401" y="321228"/>
            <a:ext cx="6360160" cy="35241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A51C081E-9088-738B-9F1B-417351C98F45}"/>
              </a:ext>
            </a:extLst>
          </p:cNvPr>
          <p:cNvPicPr>
            <a:picLocks noChangeAspect="1"/>
          </p:cNvPicPr>
          <p:nvPr/>
        </p:nvPicPr>
        <p:blipFill>
          <a:blip r:embed="rId4"/>
          <a:stretch>
            <a:fillRect/>
          </a:stretch>
        </p:blipFill>
        <p:spPr>
          <a:xfrm>
            <a:off x="152401" y="3954444"/>
            <a:ext cx="6286316" cy="3416476"/>
          </a:xfrm>
          <a:prstGeom prst="rect">
            <a:avLst/>
          </a:prstGeom>
        </p:spPr>
      </p:pic>
      <p:pic>
        <p:nvPicPr>
          <p:cNvPr id="11" name="Picture 28" descr="A picture containing chart">
            <a:extLst>
              <a:ext uri="{FF2B5EF4-FFF2-40B4-BE49-F238E27FC236}">
                <a16:creationId xmlns:a16="http://schemas.microsoft.com/office/drawing/2014/main" id="{D24F7A36-D6E2-0CE1-E736-0D062000B3D3}"/>
              </a:ext>
            </a:extLst>
          </p:cNvPr>
          <p:cNvPicPr>
            <a:picLocks noChangeAspect="1"/>
          </p:cNvPicPr>
          <p:nvPr/>
        </p:nvPicPr>
        <p:blipFill rotWithShape="1">
          <a:blip r:embed="rId5"/>
          <a:srcRect l="152" t="49442" r="-152" b="2422"/>
          <a:stretch/>
        </p:blipFill>
        <p:spPr>
          <a:xfrm>
            <a:off x="136435" y="7479960"/>
            <a:ext cx="6585129" cy="2276079"/>
          </a:xfrm>
          <a:prstGeom prst="rect">
            <a:avLst/>
          </a:prstGeom>
        </p:spPr>
      </p:pic>
    </p:spTree>
    <p:extLst>
      <p:ext uri="{BB962C8B-B14F-4D97-AF65-F5344CB8AC3E}">
        <p14:creationId xmlns:p14="http://schemas.microsoft.com/office/powerpoint/2010/main" val="36328753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628E9C-0F0B-A996-3CA0-4F1054BDA414}"/>
              </a:ext>
            </a:extLst>
          </p:cNvPr>
          <p:cNvSpPr>
            <a:spLocks noGrp="1"/>
          </p:cNvSpPr>
          <p:nvPr>
            <p:ph type="sldNum" sz="quarter" idx="12"/>
          </p:nvPr>
        </p:nvSpPr>
        <p:spPr/>
        <p:txBody>
          <a:bodyPr/>
          <a:lstStyle/>
          <a:p>
            <a:fld id="{19F1D9CC-7119-45EC-A96C-D8C0660F3AAB}" type="slidenum">
              <a:rPr lang="en-GB" smtClean="0"/>
              <a:t>63</a:t>
            </a:fld>
            <a:endParaRPr lang="en-GB"/>
          </a:p>
        </p:txBody>
      </p:sp>
      <p:sp>
        <p:nvSpPr>
          <p:cNvPr id="13" name="TextBox 12">
            <a:extLst>
              <a:ext uri="{FF2B5EF4-FFF2-40B4-BE49-F238E27FC236}">
                <a16:creationId xmlns:a16="http://schemas.microsoft.com/office/drawing/2014/main" id="{27A45E7C-E110-A5F1-BEDD-4DBA9F6D03E8}"/>
              </a:ext>
            </a:extLst>
          </p:cNvPr>
          <p:cNvSpPr txBox="1"/>
          <p:nvPr/>
        </p:nvSpPr>
        <p:spPr>
          <a:xfrm>
            <a:off x="152401" y="18912"/>
            <a:ext cx="4658198" cy="307777"/>
          </a:xfrm>
          <a:prstGeom prst="rect">
            <a:avLst/>
          </a:prstGeom>
          <a:solidFill>
            <a:srgbClr val="0070C0"/>
          </a:solidFill>
        </p:spPr>
        <p:txBody>
          <a:bodyPr wrap="none" rtlCol="0" anchor="ctr">
            <a:spAutoFit/>
          </a:bodyPr>
          <a:lstStyle/>
          <a:p>
            <a:pPr algn="ctr"/>
            <a:r>
              <a:rPr lang="en-GB" sz="1400" b="1" dirty="0">
                <a:solidFill>
                  <a:schemeClr val="bg1"/>
                </a:solidFill>
                <a:latin typeface="Calibri" panose="020F0502020204030204" pitchFamily="34" charset="0"/>
                <a:cs typeface="Calibri" panose="020F0502020204030204" pitchFamily="34" charset="0"/>
              </a:rPr>
              <a:t>GCSE PAST PAPER QUESTIONS – context (NON-CALCULATOR)</a:t>
            </a:r>
          </a:p>
        </p:txBody>
      </p:sp>
      <p:sp>
        <p:nvSpPr>
          <p:cNvPr id="14" name="Rectangle 13">
            <a:extLst>
              <a:ext uri="{FF2B5EF4-FFF2-40B4-BE49-F238E27FC236}">
                <a16:creationId xmlns:a16="http://schemas.microsoft.com/office/drawing/2014/main" id="{5466CC10-C62A-00C0-A9DB-B6C6C5D1D3C0}"/>
              </a:ext>
            </a:extLst>
          </p:cNvPr>
          <p:cNvSpPr/>
          <p:nvPr/>
        </p:nvSpPr>
        <p:spPr>
          <a:xfrm>
            <a:off x="152401" y="321228"/>
            <a:ext cx="6360160" cy="25644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 name="Group 9">
            <a:extLst>
              <a:ext uri="{FF2B5EF4-FFF2-40B4-BE49-F238E27FC236}">
                <a16:creationId xmlns:a16="http://schemas.microsoft.com/office/drawing/2014/main" id="{1D4A7B26-C5AB-A7AF-6388-8348114ED02C}"/>
              </a:ext>
            </a:extLst>
          </p:cNvPr>
          <p:cNvGrpSpPr/>
          <p:nvPr/>
        </p:nvGrpSpPr>
        <p:grpSpPr>
          <a:xfrm>
            <a:off x="244436" y="440244"/>
            <a:ext cx="3781299" cy="2445460"/>
            <a:chOff x="513018" y="527681"/>
            <a:chExt cx="6240332" cy="5266821"/>
          </a:xfrm>
        </p:grpSpPr>
        <p:pic>
          <p:nvPicPr>
            <p:cNvPr id="2" name="Picture 1">
              <a:extLst>
                <a:ext uri="{FF2B5EF4-FFF2-40B4-BE49-F238E27FC236}">
                  <a16:creationId xmlns:a16="http://schemas.microsoft.com/office/drawing/2014/main" id="{7B10DE6C-71EA-79B7-4711-5A730866010B}"/>
                </a:ext>
              </a:extLst>
            </p:cNvPr>
            <p:cNvPicPr>
              <a:picLocks noChangeAspect="1"/>
            </p:cNvPicPr>
            <p:nvPr/>
          </p:nvPicPr>
          <p:blipFill>
            <a:blip r:embed="rId3"/>
            <a:stretch>
              <a:fillRect/>
            </a:stretch>
          </p:blipFill>
          <p:spPr>
            <a:xfrm>
              <a:off x="513018" y="527681"/>
              <a:ext cx="5135942" cy="2636268"/>
            </a:xfrm>
            <a:prstGeom prst="rect">
              <a:avLst/>
            </a:prstGeom>
          </p:spPr>
        </p:pic>
        <p:pic>
          <p:nvPicPr>
            <p:cNvPr id="3" name="Picture 2">
              <a:extLst>
                <a:ext uri="{FF2B5EF4-FFF2-40B4-BE49-F238E27FC236}">
                  <a16:creationId xmlns:a16="http://schemas.microsoft.com/office/drawing/2014/main" id="{B18DAA33-7C3A-57A6-EEB0-DB91488AA7C1}"/>
                </a:ext>
              </a:extLst>
            </p:cNvPr>
            <p:cNvPicPr>
              <a:picLocks noChangeAspect="1"/>
            </p:cNvPicPr>
            <p:nvPr/>
          </p:nvPicPr>
          <p:blipFill>
            <a:blip r:embed="rId4"/>
            <a:stretch>
              <a:fillRect/>
            </a:stretch>
          </p:blipFill>
          <p:spPr>
            <a:xfrm>
              <a:off x="5308837" y="2730239"/>
              <a:ext cx="787163" cy="469270"/>
            </a:xfrm>
            <a:prstGeom prst="rect">
              <a:avLst/>
            </a:prstGeom>
          </p:spPr>
        </p:pic>
        <p:pic>
          <p:nvPicPr>
            <p:cNvPr id="6" name="Picture 5">
              <a:extLst>
                <a:ext uri="{FF2B5EF4-FFF2-40B4-BE49-F238E27FC236}">
                  <a16:creationId xmlns:a16="http://schemas.microsoft.com/office/drawing/2014/main" id="{AE8F8B0A-94BD-77F2-09D2-24BA528FE54D}"/>
                </a:ext>
              </a:extLst>
            </p:cNvPr>
            <p:cNvPicPr>
              <a:picLocks noChangeAspect="1"/>
            </p:cNvPicPr>
            <p:nvPr/>
          </p:nvPicPr>
          <p:blipFill>
            <a:blip r:embed="rId5"/>
            <a:stretch>
              <a:fillRect/>
            </a:stretch>
          </p:blipFill>
          <p:spPr>
            <a:xfrm>
              <a:off x="513018" y="3341983"/>
              <a:ext cx="5630186" cy="1778657"/>
            </a:xfrm>
            <a:prstGeom prst="rect">
              <a:avLst/>
            </a:prstGeom>
          </p:spPr>
        </p:pic>
        <p:pic>
          <p:nvPicPr>
            <p:cNvPr id="7" name="Picture 6">
              <a:extLst>
                <a:ext uri="{FF2B5EF4-FFF2-40B4-BE49-F238E27FC236}">
                  <a16:creationId xmlns:a16="http://schemas.microsoft.com/office/drawing/2014/main" id="{942FAEEC-4766-2BC1-9610-A8C95D2579A7}"/>
                </a:ext>
              </a:extLst>
            </p:cNvPr>
            <p:cNvPicPr>
              <a:picLocks noChangeAspect="1"/>
            </p:cNvPicPr>
            <p:nvPr/>
          </p:nvPicPr>
          <p:blipFill>
            <a:blip r:embed="rId6"/>
            <a:stretch>
              <a:fillRect/>
            </a:stretch>
          </p:blipFill>
          <p:spPr>
            <a:xfrm>
              <a:off x="5026638" y="5009632"/>
              <a:ext cx="1726712" cy="784870"/>
            </a:xfrm>
            <a:prstGeom prst="rect">
              <a:avLst/>
            </a:prstGeom>
          </p:spPr>
        </p:pic>
      </p:grpSp>
      <p:pic>
        <p:nvPicPr>
          <p:cNvPr id="15" name="Picture 28" descr="A picture containing chart">
            <a:extLst>
              <a:ext uri="{FF2B5EF4-FFF2-40B4-BE49-F238E27FC236}">
                <a16:creationId xmlns:a16="http://schemas.microsoft.com/office/drawing/2014/main" id="{563BA8F1-559A-2332-A686-7EBFF9A5CA65}"/>
              </a:ext>
            </a:extLst>
          </p:cNvPr>
          <p:cNvPicPr>
            <a:picLocks noChangeAspect="1"/>
          </p:cNvPicPr>
          <p:nvPr/>
        </p:nvPicPr>
        <p:blipFill rotWithShape="1">
          <a:blip r:embed="rId7"/>
          <a:srcRect l="152" t="49442" r="-152" b="2422"/>
          <a:stretch/>
        </p:blipFill>
        <p:spPr>
          <a:xfrm>
            <a:off x="63970" y="2989811"/>
            <a:ext cx="6585129" cy="2276079"/>
          </a:xfrm>
          <a:prstGeom prst="rect">
            <a:avLst/>
          </a:prstGeom>
        </p:spPr>
      </p:pic>
      <p:pic>
        <p:nvPicPr>
          <p:cNvPr id="24" name="Picture 23">
            <a:extLst>
              <a:ext uri="{FF2B5EF4-FFF2-40B4-BE49-F238E27FC236}">
                <a16:creationId xmlns:a16="http://schemas.microsoft.com/office/drawing/2014/main" id="{79E3A4C3-F0E8-F021-215D-7726927B4BE3}"/>
              </a:ext>
            </a:extLst>
          </p:cNvPr>
          <p:cNvPicPr>
            <a:picLocks noChangeAspect="1"/>
          </p:cNvPicPr>
          <p:nvPr/>
        </p:nvPicPr>
        <p:blipFill>
          <a:blip r:embed="rId8"/>
          <a:stretch>
            <a:fillRect/>
          </a:stretch>
        </p:blipFill>
        <p:spPr>
          <a:xfrm>
            <a:off x="417355" y="5354520"/>
            <a:ext cx="4315427" cy="1923295"/>
          </a:xfrm>
          <a:prstGeom prst="rect">
            <a:avLst/>
          </a:prstGeom>
        </p:spPr>
      </p:pic>
      <p:pic>
        <p:nvPicPr>
          <p:cNvPr id="25" name="Picture 28" descr="A picture containing chart">
            <a:extLst>
              <a:ext uri="{FF2B5EF4-FFF2-40B4-BE49-F238E27FC236}">
                <a16:creationId xmlns:a16="http://schemas.microsoft.com/office/drawing/2014/main" id="{68D53777-1F10-481B-3C37-577887CFB7BD}"/>
              </a:ext>
            </a:extLst>
          </p:cNvPr>
          <p:cNvPicPr>
            <a:picLocks noChangeAspect="1"/>
          </p:cNvPicPr>
          <p:nvPr/>
        </p:nvPicPr>
        <p:blipFill rotWithShape="1">
          <a:blip r:embed="rId7"/>
          <a:srcRect l="152" t="49442" r="-152" b="2422"/>
          <a:stretch/>
        </p:blipFill>
        <p:spPr>
          <a:xfrm>
            <a:off x="39916" y="7493779"/>
            <a:ext cx="6585129" cy="2276079"/>
          </a:xfrm>
          <a:prstGeom prst="rect">
            <a:avLst/>
          </a:prstGeom>
        </p:spPr>
      </p:pic>
      <p:sp>
        <p:nvSpPr>
          <p:cNvPr id="26" name="Rectangle 25">
            <a:extLst>
              <a:ext uri="{FF2B5EF4-FFF2-40B4-BE49-F238E27FC236}">
                <a16:creationId xmlns:a16="http://schemas.microsoft.com/office/drawing/2014/main" id="{7EAA9A45-B2E7-B75B-7910-854436CEE13D}"/>
              </a:ext>
            </a:extLst>
          </p:cNvPr>
          <p:cNvSpPr/>
          <p:nvPr/>
        </p:nvSpPr>
        <p:spPr>
          <a:xfrm>
            <a:off x="288939" y="5199615"/>
            <a:ext cx="6360160" cy="22331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963460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628E9C-0F0B-A996-3CA0-4F1054BDA414}"/>
              </a:ext>
            </a:extLst>
          </p:cNvPr>
          <p:cNvSpPr>
            <a:spLocks noGrp="1"/>
          </p:cNvSpPr>
          <p:nvPr>
            <p:ph type="sldNum" sz="quarter" idx="12"/>
          </p:nvPr>
        </p:nvSpPr>
        <p:spPr/>
        <p:txBody>
          <a:bodyPr/>
          <a:lstStyle/>
          <a:p>
            <a:fld id="{19F1D9CC-7119-45EC-A96C-D8C0660F3AAB}" type="slidenum">
              <a:rPr lang="en-GB" smtClean="0"/>
              <a:t>64</a:t>
            </a:fld>
            <a:endParaRPr lang="en-GB"/>
          </a:p>
        </p:txBody>
      </p:sp>
      <p:sp>
        <p:nvSpPr>
          <p:cNvPr id="13" name="TextBox 12">
            <a:extLst>
              <a:ext uri="{FF2B5EF4-FFF2-40B4-BE49-F238E27FC236}">
                <a16:creationId xmlns:a16="http://schemas.microsoft.com/office/drawing/2014/main" id="{27A45E7C-E110-A5F1-BEDD-4DBA9F6D03E8}"/>
              </a:ext>
            </a:extLst>
          </p:cNvPr>
          <p:cNvSpPr txBox="1"/>
          <p:nvPr/>
        </p:nvSpPr>
        <p:spPr>
          <a:xfrm>
            <a:off x="150063" y="18912"/>
            <a:ext cx="4662880" cy="307777"/>
          </a:xfrm>
          <a:prstGeom prst="rect">
            <a:avLst/>
          </a:prstGeom>
          <a:solidFill>
            <a:srgbClr val="0070C0"/>
          </a:solidFill>
        </p:spPr>
        <p:txBody>
          <a:bodyPr wrap="none" rtlCol="0" anchor="ctr">
            <a:spAutoFit/>
          </a:bodyPr>
          <a:lstStyle/>
          <a:p>
            <a:pPr algn="ctr"/>
            <a:r>
              <a:rPr lang="en-GB" sz="1400" b="1" dirty="0">
                <a:solidFill>
                  <a:schemeClr val="bg1"/>
                </a:solidFill>
                <a:latin typeface="Calibri" panose="020F0502020204030204" pitchFamily="34" charset="0"/>
                <a:cs typeface="Calibri" panose="020F0502020204030204" pitchFamily="34" charset="0"/>
              </a:rPr>
              <a:t>GCSE PAST PAPER QUESTIONS – context (Calculator allowed)</a:t>
            </a:r>
          </a:p>
        </p:txBody>
      </p:sp>
      <p:sp>
        <p:nvSpPr>
          <p:cNvPr id="14" name="Rectangle 13">
            <a:extLst>
              <a:ext uri="{FF2B5EF4-FFF2-40B4-BE49-F238E27FC236}">
                <a16:creationId xmlns:a16="http://schemas.microsoft.com/office/drawing/2014/main" id="{5466CC10-C62A-00C0-A9DB-B6C6C5D1D3C0}"/>
              </a:ext>
            </a:extLst>
          </p:cNvPr>
          <p:cNvSpPr/>
          <p:nvPr/>
        </p:nvSpPr>
        <p:spPr>
          <a:xfrm>
            <a:off x="152401" y="321227"/>
            <a:ext cx="6360160" cy="37543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28" descr="A picture containing chart">
            <a:extLst>
              <a:ext uri="{FF2B5EF4-FFF2-40B4-BE49-F238E27FC236}">
                <a16:creationId xmlns:a16="http://schemas.microsoft.com/office/drawing/2014/main" id="{D24F7A36-D6E2-0CE1-E736-0D062000B3D3}"/>
              </a:ext>
            </a:extLst>
          </p:cNvPr>
          <p:cNvPicPr>
            <a:picLocks noChangeAspect="1"/>
          </p:cNvPicPr>
          <p:nvPr/>
        </p:nvPicPr>
        <p:blipFill rotWithShape="1">
          <a:blip r:embed="rId3"/>
          <a:srcRect l="152" t="49442" r="-152" b="2422"/>
          <a:stretch/>
        </p:blipFill>
        <p:spPr>
          <a:xfrm>
            <a:off x="63970" y="7528995"/>
            <a:ext cx="6585129" cy="2276079"/>
          </a:xfrm>
          <a:prstGeom prst="rect">
            <a:avLst/>
          </a:prstGeom>
        </p:spPr>
      </p:pic>
      <p:pic>
        <p:nvPicPr>
          <p:cNvPr id="5" name="Picture 4">
            <a:extLst>
              <a:ext uri="{FF2B5EF4-FFF2-40B4-BE49-F238E27FC236}">
                <a16:creationId xmlns:a16="http://schemas.microsoft.com/office/drawing/2014/main" id="{D482DE6C-DD99-9EA6-5BC9-8A9E68678B8E}"/>
              </a:ext>
            </a:extLst>
          </p:cNvPr>
          <p:cNvPicPr>
            <a:picLocks noChangeAspect="1"/>
          </p:cNvPicPr>
          <p:nvPr/>
        </p:nvPicPr>
        <p:blipFill>
          <a:blip r:embed="rId4"/>
          <a:stretch>
            <a:fillRect/>
          </a:stretch>
        </p:blipFill>
        <p:spPr>
          <a:xfrm>
            <a:off x="352731" y="430796"/>
            <a:ext cx="3281578" cy="2468780"/>
          </a:xfrm>
          <a:prstGeom prst="rect">
            <a:avLst/>
          </a:prstGeom>
        </p:spPr>
      </p:pic>
      <p:pic>
        <p:nvPicPr>
          <p:cNvPr id="8" name="Picture 7">
            <a:extLst>
              <a:ext uri="{FF2B5EF4-FFF2-40B4-BE49-F238E27FC236}">
                <a16:creationId xmlns:a16="http://schemas.microsoft.com/office/drawing/2014/main" id="{2A34551C-A365-7F49-BF20-9ABD5F2BABB6}"/>
              </a:ext>
            </a:extLst>
          </p:cNvPr>
          <p:cNvPicPr>
            <a:picLocks noChangeAspect="1"/>
          </p:cNvPicPr>
          <p:nvPr/>
        </p:nvPicPr>
        <p:blipFill>
          <a:blip r:embed="rId5"/>
          <a:stretch>
            <a:fillRect/>
          </a:stretch>
        </p:blipFill>
        <p:spPr>
          <a:xfrm>
            <a:off x="352731" y="2953177"/>
            <a:ext cx="3570667" cy="967163"/>
          </a:xfrm>
          <a:prstGeom prst="rect">
            <a:avLst/>
          </a:prstGeom>
        </p:spPr>
      </p:pic>
      <p:pic>
        <p:nvPicPr>
          <p:cNvPr id="9" name="Picture 8">
            <a:extLst>
              <a:ext uri="{FF2B5EF4-FFF2-40B4-BE49-F238E27FC236}">
                <a16:creationId xmlns:a16="http://schemas.microsoft.com/office/drawing/2014/main" id="{167FC149-601F-AF86-1866-021BD61C3028}"/>
              </a:ext>
            </a:extLst>
          </p:cNvPr>
          <p:cNvPicPr>
            <a:picLocks noChangeAspect="1"/>
          </p:cNvPicPr>
          <p:nvPr/>
        </p:nvPicPr>
        <p:blipFill>
          <a:blip r:embed="rId6"/>
          <a:stretch>
            <a:fillRect/>
          </a:stretch>
        </p:blipFill>
        <p:spPr>
          <a:xfrm>
            <a:off x="3011331" y="3473386"/>
            <a:ext cx="980563" cy="538187"/>
          </a:xfrm>
          <a:prstGeom prst="rect">
            <a:avLst/>
          </a:prstGeom>
        </p:spPr>
      </p:pic>
      <p:pic>
        <p:nvPicPr>
          <p:cNvPr id="18" name="Picture 17">
            <a:extLst>
              <a:ext uri="{FF2B5EF4-FFF2-40B4-BE49-F238E27FC236}">
                <a16:creationId xmlns:a16="http://schemas.microsoft.com/office/drawing/2014/main" id="{433491AD-5FE1-6706-DC45-FC44DE091D70}"/>
              </a:ext>
            </a:extLst>
          </p:cNvPr>
          <p:cNvPicPr>
            <a:picLocks noChangeAspect="1"/>
          </p:cNvPicPr>
          <p:nvPr/>
        </p:nvPicPr>
        <p:blipFill>
          <a:blip r:embed="rId7"/>
          <a:stretch>
            <a:fillRect/>
          </a:stretch>
        </p:blipFill>
        <p:spPr>
          <a:xfrm>
            <a:off x="152401" y="4179711"/>
            <a:ext cx="6360160" cy="3491357"/>
          </a:xfrm>
          <a:prstGeom prst="rect">
            <a:avLst/>
          </a:prstGeom>
        </p:spPr>
      </p:pic>
    </p:spTree>
    <p:extLst>
      <p:ext uri="{BB962C8B-B14F-4D97-AF65-F5344CB8AC3E}">
        <p14:creationId xmlns:p14="http://schemas.microsoft.com/office/powerpoint/2010/main" val="11324900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07" name="Table 106"/>
              <p:cNvGraphicFramePr>
                <a:graphicFrameLocks noGrp="1"/>
              </p:cNvGraphicFramePr>
              <p:nvPr/>
            </p:nvGraphicFramePr>
            <p:xfrm>
              <a:off x="159048" y="5556309"/>
              <a:ext cx="6512053" cy="2037579"/>
            </p:xfrm>
            <a:graphic>
              <a:graphicData uri="http://schemas.openxmlformats.org/drawingml/2006/table">
                <a:tbl>
                  <a:tblPr firstRow="1" bandRow="1">
                    <a:tableStyleId>{5C22544A-7EE6-4342-B048-85BDC9FD1C3A}</a:tableStyleId>
                  </a:tblPr>
                  <a:tblGrid>
                    <a:gridCol w="1322998">
                      <a:extLst>
                        <a:ext uri="{9D8B030D-6E8A-4147-A177-3AD203B41FA5}">
                          <a16:colId xmlns:a16="http://schemas.microsoft.com/office/drawing/2014/main" val="1568142362"/>
                        </a:ext>
                      </a:extLst>
                    </a:gridCol>
                    <a:gridCol w="1729685">
                      <a:extLst>
                        <a:ext uri="{9D8B030D-6E8A-4147-A177-3AD203B41FA5}">
                          <a16:colId xmlns:a16="http://schemas.microsoft.com/office/drawing/2014/main" val="3551711160"/>
                        </a:ext>
                      </a:extLst>
                    </a:gridCol>
                    <a:gridCol w="1729685">
                      <a:extLst>
                        <a:ext uri="{9D8B030D-6E8A-4147-A177-3AD203B41FA5}">
                          <a16:colId xmlns:a16="http://schemas.microsoft.com/office/drawing/2014/main" val="1712497518"/>
                        </a:ext>
                      </a:extLst>
                    </a:gridCol>
                    <a:gridCol w="1729685">
                      <a:extLst>
                        <a:ext uri="{9D8B030D-6E8A-4147-A177-3AD203B41FA5}">
                          <a16:colId xmlns:a16="http://schemas.microsoft.com/office/drawing/2014/main" val="886122921"/>
                        </a:ext>
                      </a:extLst>
                    </a:gridCol>
                  </a:tblGrid>
                  <a:tr h="300219">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678029">
                    <a:tc>
                      <a:txBody>
                        <a:bodyPr/>
                        <a:lstStyle/>
                        <a:p>
                          <a:pPr marL="0" indent="0">
                            <a:buNone/>
                          </a:pPr>
                          <a:r>
                            <a:rPr lang="en-US" sz="1200" dirty="0">
                              <a:solidFill>
                                <a:schemeClr val="tx1"/>
                              </a:solidFill>
                            </a:rPr>
                            <a:t>1) Determine which operations are in the question</a:t>
                          </a:r>
                          <a:br>
                            <a:rPr lang="en-US" sz="1200" dirty="0">
                              <a:solidFill>
                                <a:schemeClr val="tx1"/>
                              </a:solidFill>
                            </a:rPr>
                          </a:br>
                          <a:endParaRPr lang="en-US" sz="1200" dirty="0">
                            <a:solidFill>
                              <a:schemeClr val="tx1"/>
                            </a:solidFill>
                          </a:endParaRPr>
                        </a:p>
                        <a:p>
                          <a:r>
                            <a:rPr lang="en-GB" sz="1200" dirty="0">
                              <a:solidFill>
                                <a:schemeClr val="tx1"/>
                              </a:solidFill>
                            </a:rPr>
                            <a:t>2) Determine the correct order to perform the calculation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b="0" i="1" baseline="0"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6</m:t>
                                </m:r>
                                <m:r>
                                  <a:rPr lang="en-GB" sz="1200" b="0" i="1" baseline="0" smtClean="0">
                                    <a:solidFill>
                                      <a:schemeClr val="tx1"/>
                                    </a:solidFill>
                                    <a:latin typeface="Cambria Math" panose="02040503050406030204" pitchFamily="18" charset="0"/>
                                    <a:ea typeface="Cambria Math" panose="02040503050406030204" pitchFamily="18" charset="0"/>
                                  </a:rPr>
                                  <m:t>×3÷2</m:t>
                                </m:r>
                              </m:oMath>
                            </m:oMathPara>
                          </a14:m>
                          <a:endParaRPr lang="en-US" sz="1200" baseline="0" dirty="0">
                            <a:solidFill>
                              <a:schemeClr val="tx1"/>
                            </a:solidFill>
                          </a:endParaRPr>
                        </a:p>
                        <a:p>
                          <a:pPr algn="ctr"/>
                          <a:endParaRPr lang="en-US" sz="1200" baseline="0" dirty="0">
                            <a:solidFill>
                              <a:schemeClr val="tx1"/>
                            </a:solidFill>
                          </a:endParaRPr>
                        </a:p>
                        <a:p>
                          <a:pPr algn="ctr"/>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14−3+5</m:t>
                                </m:r>
                              </m:oMath>
                            </m:oMathPara>
                          </a14:m>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18÷6</m:t>
                                </m:r>
                                <m:r>
                                  <a:rPr lang="en-GB" sz="1200" b="0" i="1" baseline="0" smtClean="0">
                                    <a:solidFill>
                                      <a:schemeClr val="tx1"/>
                                    </a:solidFill>
                                    <a:latin typeface="Cambria Math" panose="02040503050406030204" pitchFamily="18" charset="0"/>
                                    <a:ea typeface="Cambria Math" panose="02040503050406030204" pitchFamily="18" charset="0"/>
                                  </a:rPr>
                                  <m:t>×2</m:t>
                                </m:r>
                              </m:oMath>
                            </m:oMathPara>
                          </a14:m>
                          <a:endParaRPr lang="en-US" sz="1200" baseline="0" dirty="0">
                            <a:solidFill>
                              <a:schemeClr val="tx1"/>
                            </a:solidFill>
                          </a:endParaRPr>
                        </a:p>
                        <a:p>
                          <a:pPr algn="ctr"/>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107" name="Table 106"/>
              <p:cNvGraphicFramePr>
                <a:graphicFrameLocks noGrp="1"/>
              </p:cNvGraphicFramePr>
              <p:nvPr/>
            </p:nvGraphicFramePr>
            <p:xfrm>
              <a:off x="159048" y="5556309"/>
              <a:ext cx="6512053" cy="2037579"/>
            </p:xfrm>
            <a:graphic>
              <a:graphicData uri="http://schemas.openxmlformats.org/drawingml/2006/table">
                <a:tbl>
                  <a:tblPr firstRow="1" bandRow="1">
                    <a:tableStyleId>{5C22544A-7EE6-4342-B048-85BDC9FD1C3A}</a:tableStyleId>
                  </a:tblPr>
                  <a:tblGrid>
                    <a:gridCol w="1322998">
                      <a:extLst>
                        <a:ext uri="{9D8B030D-6E8A-4147-A177-3AD203B41FA5}">
                          <a16:colId xmlns:a16="http://schemas.microsoft.com/office/drawing/2014/main" val="1568142362"/>
                        </a:ext>
                      </a:extLst>
                    </a:gridCol>
                    <a:gridCol w="1729685">
                      <a:extLst>
                        <a:ext uri="{9D8B030D-6E8A-4147-A177-3AD203B41FA5}">
                          <a16:colId xmlns:a16="http://schemas.microsoft.com/office/drawing/2014/main" val="3551711160"/>
                        </a:ext>
                      </a:extLst>
                    </a:gridCol>
                    <a:gridCol w="1729685">
                      <a:extLst>
                        <a:ext uri="{9D8B030D-6E8A-4147-A177-3AD203B41FA5}">
                          <a16:colId xmlns:a16="http://schemas.microsoft.com/office/drawing/2014/main" val="1712497518"/>
                        </a:ext>
                      </a:extLst>
                    </a:gridCol>
                    <a:gridCol w="1729685">
                      <a:extLst>
                        <a:ext uri="{9D8B030D-6E8A-4147-A177-3AD203B41FA5}">
                          <a16:colId xmlns:a16="http://schemas.microsoft.com/office/drawing/2014/main" val="886122921"/>
                        </a:ext>
                      </a:extLst>
                    </a:gridCol>
                  </a:tblGrid>
                  <a:tr h="300219">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737360">
                    <a:tc>
                      <a:txBody>
                        <a:bodyPr/>
                        <a:lstStyle/>
                        <a:p>
                          <a:pPr marL="0" indent="0">
                            <a:buNone/>
                          </a:pPr>
                          <a:r>
                            <a:rPr lang="en-US" sz="1200" dirty="0">
                              <a:solidFill>
                                <a:schemeClr val="tx1"/>
                              </a:solidFill>
                            </a:rPr>
                            <a:t>1) Determine which operations are in the question</a:t>
                          </a:r>
                          <a:br>
                            <a:rPr lang="en-US" sz="1200" dirty="0">
                              <a:solidFill>
                                <a:schemeClr val="tx1"/>
                              </a:solidFill>
                            </a:rPr>
                          </a:br>
                          <a:endParaRPr lang="en-US" sz="1200" dirty="0">
                            <a:solidFill>
                              <a:schemeClr val="tx1"/>
                            </a:solidFill>
                          </a:endParaRPr>
                        </a:p>
                        <a:p>
                          <a:r>
                            <a:rPr lang="en-GB" sz="1200" dirty="0">
                              <a:solidFill>
                                <a:schemeClr val="tx1"/>
                              </a:solidFill>
                            </a:rPr>
                            <a:t>2) Determine the correct order to perform the calculation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6761" t="-17483" r="-200704" b="-27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6761" t="-17483" r="-100704" b="-27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6761" t="-17483" r="-704" b="-2797"/>
                          </a:stretch>
                        </a:blipFill>
                      </a:tcPr>
                    </a:tc>
                    <a:extLst>
                      <a:ext uri="{0D108BD9-81ED-4DB2-BD59-A6C34878D82A}">
                        <a16:rowId xmlns:a16="http://schemas.microsoft.com/office/drawing/2014/main" val="3293625240"/>
                      </a:ext>
                    </a:extLst>
                  </a:tr>
                </a:tbl>
              </a:graphicData>
            </a:graphic>
          </p:graphicFrame>
        </mc:Fallback>
      </mc:AlternateContent>
      <p:sp>
        <p:nvSpPr>
          <p:cNvPr id="15" name="TextBox 14">
            <a:extLst>
              <a:ext uri="{FF2B5EF4-FFF2-40B4-BE49-F238E27FC236}">
                <a16:creationId xmlns:a16="http://schemas.microsoft.com/office/drawing/2014/main" id="{BCDC1A2B-2D26-C945-B722-18950FA49879}"/>
              </a:ext>
            </a:extLst>
          </p:cNvPr>
          <p:cNvSpPr txBox="1"/>
          <p:nvPr/>
        </p:nvSpPr>
        <p:spPr>
          <a:xfrm>
            <a:off x="1705296" y="5311912"/>
            <a:ext cx="1410704" cy="276999"/>
          </a:xfrm>
          <a:prstGeom prst="rect">
            <a:avLst/>
          </a:prstGeom>
          <a:noFill/>
          <a:ln>
            <a:noFill/>
          </a:ln>
        </p:spPr>
        <p:txBody>
          <a:bodyPr wrap="square" rtlCol="0">
            <a:spAutoFit/>
          </a:bodyPr>
          <a:lstStyle/>
          <a:p>
            <a:r>
              <a:rPr lang="en-GB" sz="1200" b="1" i="1" dirty="0">
                <a:solidFill>
                  <a:srgbClr val="FF0000"/>
                </a:solidFill>
              </a:rPr>
              <a:t>Example 1 - I do…</a:t>
            </a:r>
          </a:p>
        </p:txBody>
      </p:sp>
      <p:sp>
        <p:nvSpPr>
          <p:cNvPr id="17" name="TextBox 16">
            <a:extLst>
              <a:ext uri="{FF2B5EF4-FFF2-40B4-BE49-F238E27FC236}">
                <a16:creationId xmlns:a16="http://schemas.microsoft.com/office/drawing/2014/main" id="{4AF4150A-9218-D640-8777-2ECCBC4D10FB}"/>
              </a:ext>
            </a:extLst>
          </p:cNvPr>
          <p:cNvSpPr txBox="1"/>
          <p:nvPr/>
        </p:nvSpPr>
        <p:spPr>
          <a:xfrm>
            <a:off x="5143491" y="5313006"/>
            <a:ext cx="1643405" cy="276999"/>
          </a:xfrm>
          <a:prstGeom prst="rect">
            <a:avLst/>
          </a:prstGeom>
          <a:noFill/>
          <a:ln>
            <a:noFill/>
          </a:ln>
        </p:spPr>
        <p:txBody>
          <a:bodyPr wrap="square" rtlCol="0">
            <a:spAutoFit/>
          </a:bodyPr>
          <a:lstStyle/>
          <a:p>
            <a:r>
              <a:rPr lang="en-GB" sz="1200" b="1" i="1" dirty="0">
                <a:solidFill>
                  <a:srgbClr val="00B050"/>
                </a:solidFill>
              </a:rPr>
              <a:t>Example 3 – You do…</a:t>
            </a:r>
          </a:p>
        </p:txBody>
      </p:sp>
      <p:sp>
        <p:nvSpPr>
          <p:cNvPr id="6" name="Slide Number Placeholder 5"/>
          <p:cNvSpPr>
            <a:spLocks noGrp="1"/>
          </p:cNvSpPr>
          <p:nvPr>
            <p:ph type="sldNum" sz="quarter" idx="12"/>
          </p:nvPr>
        </p:nvSpPr>
        <p:spPr>
          <a:xfrm>
            <a:off x="5269733" y="9415247"/>
            <a:ext cx="1543050" cy="527403"/>
          </a:xfrm>
        </p:spPr>
        <p:txBody>
          <a:bodyPr/>
          <a:lstStyle/>
          <a:p>
            <a:fld id="{19F1D9CC-7119-45EC-A96C-D8C0660F3AAB}" type="slidenum">
              <a:rPr lang="en-GB" smtClean="0">
                <a:solidFill>
                  <a:schemeClr val="tx1"/>
                </a:solidFill>
              </a:rPr>
              <a:t>65</a:t>
            </a:fld>
            <a:endParaRPr lang="en-GB" dirty="0">
              <a:solidFill>
                <a:schemeClr val="tx1"/>
              </a:solidFill>
            </a:endParaRPr>
          </a:p>
        </p:txBody>
      </p:sp>
      <p:sp>
        <p:nvSpPr>
          <p:cNvPr id="67" name="Rectangle 66">
            <a:extLst>
              <a:ext uri="{FF2B5EF4-FFF2-40B4-BE49-F238E27FC236}">
                <a16:creationId xmlns:a16="http://schemas.microsoft.com/office/drawing/2014/main" id="{B59D2F85-C40C-6F49-A8DC-9962E32C54A7}"/>
              </a:ext>
            </a:extLst>
          </p:cNvPr>
          <p:cNvSpPr/>
          <p:nvPr/>
        </p:nvSpPr>
        <p:spPr>
          <a:xfrm>
            <a:off x="157866" y="318368"/>
            <a:ext cx="6513235" cy="1116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dirty="0">
              <a:solidFill>
                <a:sysClr val="windowText" lastClr="000000"/>
              </a:solidFill>
            </a:endParaRPr>
          </a:p>
        </p:txBody>
      </p:sp>
      <p:sp>
        <p:nvSpPr>
          <p:cNvPr id="70" name="Rectangle 69">
            <a:extLst>
              <a:ext uri="{FF2B5EF4-FFF2-40B4-BE49-F238E27FC236}">
                <a16:creationId xmlns:a16="http://schemas.microsoft.com/office/drawing/2014/main" id="{E3A83C37-429B-B44E-B9E5-6054EBA2FC17}"/>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5</a:t>
            </a:r>
            <a:r>
              <a:rPr lang="en-GB" dirty="0">
                <a:solidFill>
                  <a:schemeClr val="bg1"/>
                </a:solidFill>
              </a:rPr>
              <a:t>– Order of Operations</a:t>
            </a:r>
          </a:p>
        </p:txBody>
      </p:sp>
      <p:sp>
        <p:nvSpPr>
          <p:cNvPr id="71" name="TextBox 70">
            <a:extLst>
              <a:ext uri="{FF2B5EF4-FFF2-40B4-BE49-F238E27FC236}">
                <a16:creationId xmlns:a16="http://schemas.microsoft.com/office/drawing/2014/main" id="{F05264B7-DB58-7E49-B4A9-8F02D752A45D}"/>
              </a:ext>
            </a:extLst>
          </p:cNvPr>
          <p:cNvSpPr txBox="1"/>
          <p:nvPr/>
        </p:nvSpPr>
        <p:spPr>
          <a:xfrm>
            <a:off x="110929" y="661228"/>
            <a:ext cx="1399768" cy="276999"/>
          </a:xfrm>
          <a:prstGeom prst="rect">
            <a:avLst/>
          </a:prstGeom>
          <a:noFill/>
        </p:spPr>
        <p:txBody>
          <a:bodyPr wrap="square" rtlCol="0">
            <a:spAutoFit/>
          </a:bodyPr>
          <a:lstStyle/>
          <a:p>
            <a:r>
              <a:rPr lang="en-GB" sz="1200" b="1" dirty="0"/>
              <a:t>Objectives:</a:t>
            </a:r>
          </a:p>
        </p:txBody>
      </p:sp>
      <p:sp>
        <p:nvSpPr>
          <p:cNvPr id="72" name="TextBox 71">
            <a:extLst>
              <a:ext uri="{FF2B5EF4-FFF2-40B4-BE49-F238E27FC236}">
                <a16:creationId xmlns:a16="http://schemas.microsoft.com/office/drawing/2014/main" id="{FF2A834D-2195-C446-98E7-51533FA4411B}"/>
              </a:ext>
            </a:extLst>
          </p:cNvPr>
          <p:cNvSpPr txBox="1"/>
          <p:nvPr/>
        </p:nvSpPr>
        <p:spPr>
          <a:xfrm>
            <a:off x="148501" y="859616"/>
            <a:ext cx="4864666" cy="646331"/>
          </a:xfrm>
          <a:prstGeom prst="rect">
            <a:avLst/>
          </a:prstGeom>
          <a:noFill/>
        </p:spPr>
        <p:txBody>
          <a:bodyPr wrap="square" rtlCol="0">
            <a:spAutoFit/>
          </a:bodyPr>
          <a:lstStyle/>
          <a:p>
            <a:pPr marL="342900" indent="-342900">
              <a:buFont typeface="+mj-lt"/>
              <a:buAutoNum type="arabicPeriod"/>
            </a:pPr>
            <a:r>
              <a:rPr lang="en-GB" sz="1200" dirty="0"/>
              <a:t>To correctly apply order of operations with the four operations.</a:t>
            </a:r>
          </a:p>
          <a:p>
            <a:pPr marL="342900" indent="-342900">
              <a:buFont typeface="+mj-lt"/>
              <a:buAutoNum type="arabicPeriod"/>
            </a:pPr>
            <a:r>
              <a:rPr lang="en-GB" sz="1200" dirty="0"/>
              <a:t>To correctly apply order of operations including indices and brackets.</a:t>
            </a:r>
          </a:p>
          <a:p>
            <a:pPr marL="342900" indent="-342900">
              <a:buFont typeface="+mj-lt"/>
              <a:buAutoNum type="arabicPeriod"/>
            </a:pPr>
            <a:r>
              <a:rPr lang="en-GB" sz="1200" dirty="0"/>
              <a:t>To insert brackets into calculations to make them correct.</a:t>
            </a:r>
          </a:p>
        </p:txBody>
      </p:sp>
      <p:sp>
        <p:nvSpPr>
          <p:cNvPr id="73" name="TextBox 72">
            <a:extLst>
              <a:ext uri="{FF2B5EF4-FFF2-40B4-BE49-F238E27FC236}">
                <a16:creationId xmlns:a16="http://schemas.microsoft.com/office/drawing/2014/main" id="{2E771014-6049-D94F-9894-F3E0D5FBDFBE}"/>
              </a:ext>
            </a:extLst>
          </p:cNvPr>
          <p:cNvSpPr txBox="1"/>
          <p:nvPr/>
        </p:nvSpPr>
        <p:spPr>
          <a:xfrm>
            <a:off x="418729" y="373024"/>
            <a:ext cx="4864666" cy="276999"/>
          </a:xfrm>
          <a:prstGeom prst="rect">
            <a:avLst/>
          </a:prstGeom>
          <a:noFill/>
          <a:ln>
            <a:solidFill>
              <a:schemeClr val="tx1"/>
            </a:solidFill>
          </a:ln>
        </p:spPr>
        <p:txBody>
          <a:bodyPr wrap="none" rtlCol="0">
            <a:spAutoFit/>
          </a:bodyPr>
          <a:lstStyle/>
          <a:p>
            <a:pPr algn="ctr"/>
            <a:r>
              <a:rPr lang="en-GB" sz="1200" dirty="0"/>
              <a:t>LEARNING OUTCOME: To understand and apply correct order of operations</a:t>
            </a:r>
          </a:p>
        </p:txBody>
      </p:sp>
      <p:sp>
        <p:nvSpPr>
          <p:cNvPr id="74" name="TextBox 73">
            <a:extLst>
              <a:ext uri="{FF2B5EF4-FFF2-40B4-BE49-F238E27FC236}">
                <a16:creationId xmlns:a16="http://schemas.microsoft.com/office/drawing/2014/main" id="{7715F86B-6C3B-6849-A0A3-1AA8A5990EEB}"/>
              </a:ext>
            </a:extLst>
          </p:cNvPr>
          <p:cNvSpPr txBox="1"/>
          <p:nvPr/>
        </p:nvSpPr>
        <p:spPr>
          <a:xfrm>
            <a:off x="5641380" y="372198"/>
            <a:ext cx="988027" cy="1015663"/>
          </a:xfrm>
          <a:prstGeom prst="rect">
            <a:avLst/>
          </a:prstGeom>
          <a:noFill/>
          <a:ln w="12700">
            <a:solidFill>
              <a:schemeClr val="tx1"/>
            </a:solidFill>
          </a:ln>
        </p:spPr>
        <p:txBody>
          <a:bodyPr wrap="none" rtlCol="0">
            <a:spAutoFit/>
          </a:bodyPr>
          <a:lstStyle/>
          <a:p>
            <a:r>
              <a:rPr lang="en-US" sz="1200" b="1" u="sng" dirty="0"/>
              <a:t>Keywords:</a:t>
            </a:r>
            <a:endParaRPr lang="en-US" sz="1200" dirty="0"/>
          </a:p>
          <a:p>
            <a:pPr marL="171450" indent="-171450">
              <a:buFontTx/>
              <a:buChar char="-"/>
            </a:pPr>
            <a:r>
              <a:rPr lang="en-US" sz="1200" dirty="0"/>
              <a:t>Operation</a:t>
            </a:r>
          </a:p>
          <a:p>
            <a:pPr marL="171450" indent="-171450">
              <a:buFontTx/>
              <a:buChar char="-"/>
            </a:pPr>
            <a:r>
              <a:rPr lang="en-US" sz="1200" dirty="0"/>
              <a:t>Index</a:t>
            </a:r>
          </a:p>
          <a:p>
            <a:pPr marL="171450" indent="-171450">
              <a:buFontTx/>
              <a:buChar char="-"/>
            </a:pPr>
            <a:r>
              <a:rPr lang="en-US" sz="1200" dirty="0"/>
              <a:t>Power</a:t>
            </a:r>
          </a:p>
          <a:p>
            <a:pPr marL="171450" indent="-171450">
              <a:buFontTx/>
              <a:buChar char="-"/>
            </a:pPr>
            <a:r>
              <a:rPr lang="en-US" sz="1200" dirty="0"/>
              <a:t>Root</a:t>
            </a:r>
          </a:p>
        </p:txBody>
      </p:sp>
      <p:cxnSp>
        <p:nvCxnSpPr>
          <p:cNvPr id="61" name="Straight Connector 60">
            <a:extLst>
              <a:ext uri="{FF2B5EF4-FFF2-40B4-BE49-F238E27FC236}">
                <a16:creationId xmlns:a16="http://schemas.microsoft.com/office/drawing/2014/main" id="{FE7EDCC2-ABAA-434F-8C0E-6C3A1F76BAE7}"/>
              </a:ext>
            </a:extLst>
          </p:cNvPr>
          <p:cNvCxnSpPr/>
          <p:nvPr/>
        </p:nvCxnSpPr>
        <p:spPr>
          <a:xfrm flipV="1">
            <a:off x="930464" y="460645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Rectangle 61"/>
          <p:cNvSpPr/>
          <p:nvPr/>
        </p:nvSpPr>
        <p:spPr>
          <a:xfrm>
            <a:off x="159048" y="2675863"/>
            <a:ext cx="6512054" cy="20388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cxnSp>
        <p:nvCxnSpPr>
          <p:cNvPr id="63" name="Straight Connector 62"/>
          <p:cNvCxnSpPr>
            <a:cxnSpLocks/>
          </p:cNvCxnSpPr>
          <p:nvPr/>
        </p:nvCxnSpPr>
        <p:spPr>
          <a:xfrm>
            <a:off x="157866" y="3479303"/>
            <a:ext cx="6516000" cy="0"/>
          </a:xfrm>
          <a:prstGeom prst="line">
            <a:avLst/>
          </a:prstGeom>
        </p:spPr>
        <p:style>
          <a:lnRef idx="1">
            <a:schemeClr val="dk1"/>
          </a:lnRef>
          <a:fillRef idx="0">
            <a:schemeClr val="dk1"/>
          </a:fillRef>
          <a:effectRef idx="0">
            <a:schemeClr val="dk1"/>
          </a:effectRef>
          <a:fontRef idx="minor">
            <a:schemeClr val="tx1"/>
          </a:fontRef>
        </p:style>
      </p:cxnSp>
      <p:cxnSp>
        <p:nvCxnSpPr>
          <p:cNvPr id="64" name="Straight Connector 63"/>
          <p:cNvCxnSpPr>
            <a:cxnSpLocks/>
            <a:stCxn id="62" idx="2"/>
            <a:endCxn id="62" idx="0"/>
          </p:cNvCxnSpPr>
          <p:nvPr/>
        </p:nvCxnSpPr>
        <p:spPr>
          <a:xfrm flipV="1">
            <a:off x="3415075" y="2675863"/>
            <a:ext cx="0" cy="2038881"/>
          </a:xfrm>
          <a:prstGeom prst="line">
            <a:avLst/>
          </a:prstGeom>
        </p:spPr>
        <p:style>
          <a:lnRef idx="1">
            <a:schemeClr val="dk1"/>
          </a:lnRef>
          <a:fillRef idx="0">
            <a:schemeClr val="dk1"/>
          </a:fillRef>
          <a:effectRef idx="0">
            <a:schemeClr val="dk1"/>
          </a:effectRef>
          <a:fontRef idx="minor">
            <a:schemeClr val="tx1"/>
          </a:fontRef>
        </p:style>
      </p:cxnSp>
      <p:sp>
        <p:nvSpPr>
          <p:cNvPr id="65" name="TextBox 64"/>
          <p:cNvSpPr txBox="1"/>
          <p:nvPr/>
        </p:nvSpPr>
        <p:spPr>
          <a:xfrm>
            <a:off x="139258" y="2675862"/>
            <a:ext cx="824713" cy="461665"/>
          </a:xfrm>
          <a:prstGeom prst="rect">
            <a:avLst/>
          </a:prstGeom>
          <a:noFill/>
        </p:spPr>
        <p:txBody>
          <a:bodyPr wrap="none" rtlCol="0">
            <a:spAutoFit/>
          </a:bodyPr>
          <a:lstStyle/>
          <a:p>
            <a:r>
              <a:rPr lang="en-US" sz="1200" b="1" dirty="0"/>
              <a:t>Definition</a:t>
            </a:r>
          </a:p>
          <a:p>
            <a:endParaRPr lang="en-US" sz="1200" dirty="0"/>
          </a:p>
        </p:txBody>
      </p:sp>
      <p:sp>
        <p:nvSpPr>
          <p:cNvPr id="68" name="TextBox 67"/>
          <p:cNvSpPr txBox="1"/>
          <p:nvPr/>
        </p:nvSpPr>
        <p:spPr>
          <a:xfrm>
            <a:off x="5644651" y="2642246"/>
            <a:ext cx="1112228" cy="276999"/>
          </a:xfrm>
          <a:prstGeom prst="rect">
            <a:avLst/>
          </a:prstGeom>
          <a:noFill/>
        </p:spPr>
        <p:txBody>
          <a:bodyPr wrap="none" rtlCol="0">
            <a:spAutoFit/>
          </a:bodyPr>
          <a:lstStyle/>
          <a:p>
            <a:r>
              <a:rPr lang="en-US" sz="1200" b="1" dirty="0"/>
              <a:t>Characteristics</a:t>
            </a:r>
            <a:endParaRPr lang="en-GB" sz="1200" b="1" dirty="0"/>
          </a:p>
        </p:txBody>
      </p:sp>
      <p:sp>
        <p:nvSpPr>
          <p:cNvPr id="95" name="TextBox 94"/>
          <p:cNvSpPr txBox="1"/>
          <p:nvPr/>
        </p:nvSpPr>
        <p:spPr>
          <a:xfrm>
            <a:off x="78445" y="3502194"/>
            <a:ext cx="3425305" cy="1215717"/>
          </a:xfrm>
          <a:prstGeom prst="rect">
            <a:avLst/>
          </a:prstGeom>
          <a:noFill/>
        </p:spPr>
        <p:txBody>
          <a:bodyPr wrap="square" rtlCol="0">
            <a:spAutoFit/>
          </a:bodyPr>
          <a:lstStyle/>
          <a:p>
            <a:r>
              <a:rPr lang="en-US" sz="1200" b="1" dirty="0"/>
              <a:t>Examples</a:t>
            </a:r>
          </a:p>
          <a:p>
            <a:endParaRPr lang="en-US" sz="100" b="1" dirty="0"/>
          </a:p>
          <a:p>
            <a:pPr marL="171450" indent="-171450">
              <a:buFont typeface="Arial" panose="020B0604020202020204" pitchFamily="34" charset="0"/>
              <a:buChar char="•"/>
            </a:pPr>
            <a:r>
              <a:rPr lang="en-GB" sz="1200" b="0" i="0" dirty="0">
                <a:effectLst/>
              </a:rPr>
              <a:t>In the expression 3 + 4, the operation is addition, which combines 3 and 4 to give a sum of 7.</a:t>
            </a:r>
          </a:p>
          <a:p>
            <a:pPr marL="171450" indent="-171450">
              <a:buFont typeface="Arial" panose="020B0604020202020204" pitchFamily="34" charset="0"/>
              <a:buChar char="•"/>
            </a:pPr>
            <a:r>
              <a:rPr lang="en-GB" sz="1200" b="0" i="0" dirty="0">
                <a:effectLst/>
              </a:rPr>
              <a:t>In the expression 12 ÷ 3, the operation is division, indicating that 12 is shared into 3 equal parts, resulting in 4</a:t>
            </a:r>
            <a:endParaRPr lang="en-GB" sz="1200" b="1" dirty="0"/>
          </a:p>
        </p:txBody>
      </p:sp>
      <p:sp>
        <p:nvSpPr>
          <p:cNvPr id="96" name="TextBox 95"/>
          <p:cNvSpPr txBox="1"/>
          <p:nvPr/>
        </p:nvSpPr>
        <p:spPr>
          <a:xfrm>
            <a:off x="5577191" y="3480956"/>
            <a:ext cx="1172885" cy="276999"/>
          </a:xfrm>
          <a:prstGeom prst="rect">
            <a:avLst/>
          </a:prstGeom>
          <a:noFill/>
        </p:spPr>
        <p:txBody>
          <a:bodyPr wrap="none" rtlCol="0">
            <a:spAutoFit/>
          </a:bodyPr>
          <a:lstStyle/>
          <a:p>
            <a:r>
              <a:rPr lang="en-US" sz="1200" b="1" dirty="0"/>
              <a:t>Non - Examples</a:t>
            </a:r>
            <a:endParaRPr lang="en-GB" sz="1200" b="1" dirty="0"/>
          </a:p>
        </p:txBody>
      </p:sp>
      <p:sp>
        <p:nvSpPr>
          <p:cNvPr id="98" name="TextBox 97"/>
          <p:cNvSpPr txBox="1"/>
          <p:nvPr/>
        </p:nvSpPr>
        <p:spPr>
          <a:xfrm>
            <a:off x="139258" y="2844008"/>
            <a:ext cx="3230335" cy="646331"/>
          </a:xfrm>
          <a:prstGeom prst="rect">
            <a:avLst/>
          </a:prstGeom>
          <a:noFill/>
        </p:spPr>
        <p:txBody>
          <a:bodyPr wrap="square" rtlCol="0">
            <a:spAutoFit/>
          </a:bodyPr>
          <a:lstStyle/>
          <a:p>
            <a:r>
              <a:rPr lang="en-GB" sz="1200" b="0" i="0" dirty="0">
                <a:effectLst/>
                <a:latin typeface="Söhne"/>
              </a:rPr>
              <a:t>Operations in mathematics refer to the basic mathematical actions or processes used to perform calculations and solve problems. </a:t>
            </a:r>
            <a:endParaRPr lang="en-US" sz="1200" dirty="0"/>
          </a:p>
        </p:txBody>
      </p:sp>
      <p:sp>
        <p:nvSpPr>
          <p:cNvPr id="97" name="TextBox 96"/>
          <p:cNvSpPr txBox="1"/>
          <p:nvPr/>
        </p:nvSpPr>
        <p:spPr>
          <a:xfrm>
            <a:off x="2824221" y="3295577"/>
            <a:ext cx="1131592" cy="369332"/>
          </a:xfrm>
          <a:prstGeom prst="rect">
            <a:avLst/>
          </a:prstGeom>
          <a:solidFill>
            <a:schemeClr val="bg1"/>
          </a:solidFill>
          <a:ln>
            <a:solidFill>
              <a:schemeClr val="tx1"/>
            </a:solidFill>
          </a:ln>
        </p:spPr>
        <p:txBody>
          <a:bodyPr wrap="none" rtlCol="0">
            <a:spAutoFit/>
          </a:bodyPr>
          <a:lstStyle/>
          <a:p>
            <a:r>
              <a:rPr lang="en-US" dirty="0"/>
              <a:t>Operation</a:t>
            </a:r>
            <a:endParaRPr lang="en-GB" dirty="0"/>
          </a:p>
        </p:txBody>
      </p:sp>
      <p:sp>
        <p:nvSpPr>
          <p:cNvPr id="108" name="TextBox 107">
            <a:extLst>
              <a:ext uri="{FF2B5EF4-FFF2-40B4-BE49-F238E27FC236}">
                <a16:creationId xmlns:a16="http://schemas.microsoft.com/office/drawing/2014/main" id="{4AF4150A-9218-D640-8777-2ECCBC4D10FB}"/>
              </a:ext>
            </a:extLst>
          </p:cNvPr>
          <p:cNvSpPr txBox="1"/>
          <p:nvPr/>
        </p:nvSpPr>
        <p:spPr>
          <a:xfrm>
            <a:off x="3376951" y="5295611"/>
            <a:ext cx="1643405" cy="276999"/>
          </a:xfrm>
          <a:prstGeom prst="rect">
            <a:avLst/>
          </a:prstGeom>
          <a:noFill/>
          <a:ln>
            <a:noFill/>
          </a:ln>
        </p:spPr>
        <p:txBody>
          <a:bodyPr wrap="square" rtlCol="0">
            <a:spAutoFit/>
          </a:bodyPr>
          <a:lstStyle/>
          <a:p>
            <a:r>
              <a:rPr lang="en-GB" sz="1200" b="1" i="1" dirty="0">
                <a:solidFill>
                  <a:schemeClr val="accent2"/>
                </a:solidFill>
              </a:rPr>
              <a:t>Example 2 – We do…</a:t>
            </a:r>
          </a:p>
        </p:txBody>
      </p:sp>
      <p:sp>
        <p:nvSpPr>
          <p:cNvPr id="7" name="TextBox 6">
            <a:extLst>
              <a:ext uri="{FF2B5EF4-FFF2-40B4-BE49-F238E27FC236}">
                <a16:creationId xmlns:a16="http://schemas.microsoft.com/office/drawing/2014/main" id="{AEDF8907-7FD4-883A-56E8-5268D67FAB42}"/>
              </a:ext>
            </a:extLst>
          </p:cNvPr>
          <p:cNvSpPr txBox="1"/>
          <p:nvPr/>
        </p:nvSpPr>
        <p:spPr>
          <a:xfrm>
            <a:off x="3731540" y="2892643"/>
            <a:ext cx="333718" cy="338554"/>
          </a:xfrm>
          <a:prstGeom prst="rect">
            <a:avLst/>
          </a:prstGeom>
          <a:noFill/>
        </p:spPr>
        <p:txBody>
          <a:bodyPr wrap="square" rtlCol="0">
            <a:spAutoFit/>
          </a:bodyPr>
          <a:lstStyle/>
          <a:p>
            <a:r>
              <a:rPr lang="en-US" sz="1600" dirty="0"/>
              <a:t>+</a:t>
            </a:r>
          </a:p>
        </p:txBody>
      </p:sp>
      <p:sp>
        <p:nvSpPr>
          <p:cNvPr id="8" name="TextBox 7">
            <a:extLst>
              <a:ext uri="{FF2B5EF4-FFF2-40B4-BE49-F238E27FC236}">
                <a16:creationId xmlns:a16="http://schemas.microsoft.com/office/drawing/2014/main" id="{22EF0E05-5207-8930-1AD1-D8C32C6F7558}"/>
              </a:ext>
            </a:extLst>
          </p:cNvPr>
          <p:cNvSpPr txBox="1"/>
          <p:nvPr/>
        </p:nvSpPr>
        <p:spPr>
          <a:xfrm>
            <a:off x="3955813" y="3836924"/>
            <a:ext cx="509833" cy="276999"/>
          </a:xfrm>
          <a:prstGeom prst="rect">
            <a:avLst/>
          </a:prstGeom>
          <a:noFill/>
        </p:spPr>
        <p:txBody>
          <a:bodyPr wrap="square" rtlCol="0">
            <a:spAutoFit/>
          </a:bodyPr>
          <a:lstStyle/>
          <a:p>
            <a:r>
              <a:rPr lang="en-US" sz="1200" dirty="0"/>
              <a:t>23</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FA1B5DA8-4CB5-0326-3CF7-85634B196AD2}"/>
                  </a:ext>
                </a:extLst>
              </p:cNvPr>
              <p:cNvSpPr/>
              <p:nvPr/>
            </p:nvSpPr>
            <p:spPr>
              <a:xfrm>
                <a:off x="151983" y="4751119"/>
                <a:ext cx="3477103" cy="23753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Order of operations with </a:t>
                </a:r>
                <a14:m>
                  <m:oMath xmlns:m="http://schemas.openxmlformats.org/officeDocument/2006/math">
                    <m:r>
                      <a:rPr lang="en-US" sz="1200" i="1" smtClean="0">
                        <a:solidFill>
                          <a:schemeClr val="bg1"/>
                        </a:solidFill>
                        <a:latin typeface="Cambria Math" panose="02040503050406030204" pitchFamily="18" charset="0"/>
                        <a:ea typeface="Cambria Math" panose="02040503050406030204" pitchFamily="18" charset="0"/>
                      </a:rPr>
                      <m:t>×</m:t>
                    </m:r>
                  </m:oMath>
                </a14:m>
                <a:r>
                  <a:rPr lang="en-GB" sz="1200" dirty="0">
                    <a:solidFill>
                      <a:schemeClr val="bg1"/>
                    </a:solidFill>
                  </a:rPr>
                  <a:t> / </a:t>
                </a:r>
                <a14:m>
                  <m:oMath xmlns:m="http://schemas.openxmlformats.org/officeDocument/2006/math">
                    <m:r>
                      <a:rPr lang="en-GB" sz="1200" i="1" smtClean="0">
                        <a:solidFill>
                          <a:schemeClr val="bg1"/>
                        </a:solidFill>
                        <a:latin typeface="Cambria Math" panose="02040503050406030204" pitchFamily="18" charset="0"/>
                        <a:ea typeface="Cambria Math" panose="02040503050406030204" pitchFamily="18" charset="0"/>
                      </a:rPr>
                      <m:t>÷</m:t>
                    </m:r>
                  </m:oMath>
                </a14:m>
                <a:r>
                  <a:rPr lang="en-GB" sz="1200" dirty="0">
                    <a:solidFill>
                      <a:schemeClr val="bg1"/>
                    </a:solidFill>
                  </a:rPr>
                  <a:t> only or </a:t>
                </a:r>
                <a14:m>
                  <m:oMath xmlns:m="http://schemas.openxmlformats.org/officeDocument/2006/math">
                    <m:r>
                      <a:rPr lang="en-GB" sz="1200" i="1" dirty="0" smtClean="0">
                        <a:solidFill>
                          <a:schemeClr val="bg1"/>
                        </a:solidFill>
                        <a:latin typeface="Cambria Math" panose="02040503050406030204" pitchFamily="18" charset="0"/>
                      </a:rPr>
                      <m:t>+</m:t>
                    </m:r>
                  </m:oMath>
                </a14:m>
                <a:r>
                  <a:rPr lang="en-GB" sz="1200" dirty="0">
                    <a:solidFill>
                      <a:schemeClr val="bg1"/>
                    </a:solidFill>
                  </a:rPr>
                  <a:t> / - only</a:t>
                </a:r>
              </a:p>
            </p:txBody>
          </p:sp>
        </mc:Choice>
        <mc:Fallback xmlns="">
          <p:sp>
            <p:nvSpPr>
              <p:cNvPr id="10" name="Rectangle 9">
                <a:extLst>
                  <a:ext uri="{FF2B5EF4-FFF2-40B4-BE49-F238E27FC236}">
                    <a16:creationId xmlns:a16="http://schemas.microsoft.com/office/drawing/2014/main" id="{FA1B5DA8-4CB5-0326-3CF7-85634B196AD2}"/>
                  </a:ext>
                </a:extLst>
              </p:cNvPr>
              <p:cNvSpPr>
                <a:spLocks noRot="1" noChangeAspect="1" noMove="1" noResize="1" noEditPoints="1" noAdjustHandles="1" noChangeArrowheads="1" noChangeShapeType="1" noTextEdit="1"/>
              </p:cNvSpPr>
              <p:nvPr/>
            </p:nvSpPr>
            <p:spPr>
              <a:xfrm>
                <a:off x="151983" y="4751119"/>
                <a:ext cx="3477103" cy="237537"/>
              </a:xfrm>
              <a:prstGeom prst="rect">
                <a:avLst/>
              </a:prstGeom>
              <a:blipFill>
                <a:blip r:embed="rId4"/>
                <a:stretch>
                  <a:fillRect l="-175" t="-7692" b="-28205"/>
                </a:stretch>
              </a:blipFill>
              <a:ln>
                <a:noFill/>
              </a:ln>
            </p:spPr>
            <p:txBody>
              <a:bodyPr/>
              <a:lstStyle/>
              <a:p>
                <a:r>
                  <a:rPr lang="en-US">
                    <a:noFill/>
                  </a:rPr>
                  <a:t> </a:t>
                </a:r>
              </a:p>
            </p:txBody>
          </p:sp>
        </mc:Fallback>
      </mc:AlternateContent>
      <p:sp>
        <p:nvSpPr>
          <p:cNvPr id="29" name="TextBox 28">
            <a:extLst>
              <a:ext uri="{FF2B5EF4-FFF2-40B4-BE49-F238E27FC236}">
                <a16:creationId xmlns:a16="http://schemas.microsoft.com/office/drawing/2014/main" id="{1137FF79-718C-4813-820B-89ECFEEA99C2}"/>
              </a:ext>
            </a:extLst>
          </p:cNvPr>
          <p:cNvSpPr txBox="1"/>
          <p:nvPr/>
        </p:nvSpPr>
        <p:spPr>
          <a:xfrm>
            <a:off x="4279082" y="2688462"/>
            <a:ext cx="333718" cy="338554"/>
          </a:xfrm>
          <a:prstGeom prst="rect">
            <a:avLst/>
          </a:prstGeom>
          <a:noFill/>
        </p:spPr>
        <p:txBody>
          <a:bodyPr wrap="square" rtlCol="0">
            <a:spAutoFit/>
          </a:bodyPr>
          <a:lstStyle/>
          <a:p>
            <a:r>
              <a:rPr lang="en-US" sz="1600" dirty="0"/>
              <a:t>-</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0BD97C8-5FA3-4D49-ABB4-25F531818912}"/>
                  </a:ext>
                </a:extLst>
              </p:cNvPr>
              <p:cNvSpPr txBox="1"/>
              <p:nvPr/>
            </p:nvSpPr>
            <p:spPr>
              <a:xfrm>
                <a:off x="6209349" y="2881547"/>
                <a:ext cx="3337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ea typeface="Cambria Math" panose="02040503050406030204" pitchFamily="18" charset="0"/>
                        </a:rPr>
                        <m:t>÷</m:t>
                      </m:r>
                    </m:oMath>
                  </m:oMathPara>
                </a14:m>
                <a:endParaRPr lang="en-US" sz="1600" dirty="0">
                  <a:solidFill>
                    <a:schemeClr val="tx1"/>
                  </a:solidFill>
                </a:endParaRPr>
              </a:p>
            </p:txBody>
          </p:sp>
        </mc:Choice>
        <mc:Fallback xmlns="">
          <p:sp>
            <p:nvSpPr>
              <p:cNvPr id="30" name="TextBox 29">
                <a:extLst>
                  <a:ext uri="{FF2B5EF4-FFF2-40B4-BE49-F238E27FC236}">
                    <a16:creationId xmlns:a16="http://schemas.microsoft.com/office/drawing/2014/main" id="{C0BD97C8-5FA3-4D49-ABB4-25F531818912}"/>
                  </a:ext>
                </a:extLst>
              </p:cNvPr>
              <p:cNvSpPr txBox="1">
                <a:spLocks noRot="1" noChangeAspect="1" noMove="1" noResize="1" noEditPoints="1" noAdjustHandles="1" noChangeArrowheads="1" noChangeShapeType="1" noTextEdit="1"/>
              </p:cNvSpPr>
              <p:nvPr/>
            </p:nvSpPr>
            <p:spPr>
              <a:xfrm>
                <a:off x="6209349" y="2881547"/>
                <a:ext cx="333718" cy="33855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D93263E-95E1-4F77-813E-50F37B0F2949}"/>
                  </a:ext>
                </a:extLst>
              </p:cNvPr>
              <p:cNvSpPr txBox="1"/>
              <p:nvPr/>
            </p:nvSpPr>
            <p:spPr>
              <a:xfrm>
                <a:off x="4760594" y="2936394"/>
                <a:ext cx="333718" cy="35695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ea typeface="Cambria Math" panose="02040503050406030204" pitchFamily="18" charset="0"/>
                        </a:rPr>
                        <m:t>√</m:t>
                      </m:r>
                    </m:oMath>
                  </m:oMathPara>
                </a14:m>
                <a:endParaRPr lang="en-US" sz="1600" dirty="0">
                  <a:solidFill>
                    <a:schemeClr val="tx1"/>
                  </a:solidFill>
                </a:endParaRPr>
              </a:p>
            </p:txBody>
          </p:sp>
        </mc:Choice>
        <mc:Fallback xmlns="">
          <p:sp>
            <p:nvSpPr>
              <p:cNvPr id="31" name="TextBox 30">
                <a:extLst>
                  <a:ext uri="{FF2B5EF4-FFF2-40B4-BE49-F238E27FC236}">
                    <a16:creationId xmlns:a16="http://schemas.microsoft.com/office/drawing/2014/main" id="{1D93263E-95E1-4F77-813E-50F37B0F2949}"/>
                  </a:ext>
                </a:extLst>
              </p:cNvPr>
              <p:cNvSpPr txBox="1">
                <a:spLocks noRot="1" noChangeAspect="1" noMove="1" noResize="1" noEditPoints="1" noAdjustHandles="1" noChangeArrowheads="1" noChangeShapeType="1" noTextEdit="1"/>
              </p:cNvSpPr>
              <p:nvPr/>
            </p:nvSpPr>
            <p:spPr>
              <a:xfrm>
                <a:off x="4760594" y="2936394"/>
                <a:ext cx="333718" cy="35695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BE2B74F-9DB5-4E66-B077-43E43C9CF7DE}"/>
                  </a:ext>
                </a:extLst>
              </p:cNvPr>
              <p:cNvSpPr txBox="1"/>
              <p:nvPr/>
            </p:nvSpPr>
            <p:spPr>
              <a:xfrm>
                <a:off x="5328214" y="2720525"/>
                <a:ext cx="3337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ea typeface="Cambria Math" panose="02040503050406030204" pitchFamily="18" charset="0"/>
                        </a:rPr>
                        <m:t>×</m:t>
                      </m:r>
                    </m:oMath>
                  </m:oMathPara>
                </a14:m>
                <a:endParaRPr lang="en-US" sz="1600" dirty="0">
                  <a:solidFill>
                    <a:schemeClr val="tx1"/>
                  </a:solidFill>
                </a:endParaRPr>
              </a:p>
            </p:txBody>
          </p:sp>
        </mc:Choice>
        <mc:Fallback xmlns="">
          <p:sp>
            <p:nvSpPr>
              <p:cNvPr id="32" name="TextBox 31">
                <a:extLst>
                  <a:ext uri="{FF2B5EF4-FFF2-40B4-BE49-F238E27FC236}">
                    <a16:creationId xmlns:a16="http://schemas.microsoft.com/office/drawing/2014/main" id="{2BE2B74F-9DB5-4E66-B077-43E43C9CF7DE}"/>
                  </a:ext>
                </a:extLst>
              </p:cNvPr>
              <p:cNvSpPr txBox="1">
                <a:spLocks noRot="1" noChangeAspect="1" noMove="1" noResize="1" noEditPoints="1" noAdjustHandles="1" noChangeArrowheads="1" noChangeShapeType="1" noTextEdit="1"/>
              </p:cNvSpPr>
              <p:nvPr/>
            </p:nvSpPr>
            <p:spPr>
              <a:xfrm>
                <a:off x="5328214" y="2720525"/>
                <a:ext cx="333718" cy="338554"/>
              </a:xfrm>
              <a:prstGeom prst="rect">
                <a:avLst/>
              </a:prstGeom>
              <a:blipFill>
                <a:blip r:embed="rId7"/>
                <a:stretch>
                  <a:fillRect/>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D08B2F00-668B-405B-8FF5-6F45B1E9399E}"/>
              </a:ext>
            </a:extLst>
          </p:cNvPr>
          <p:cNvSpPr txBox="1"/>
          <p:nvPr/>
        </p:nvSpPr>
        <p:spPr>
          <a:xfrm>
            <a:off x="4697288" y="3760146"/>
            <a:ext cx="509838" cy="276999"/>
          </a:xfrm>
          <a:prstGeom prst="rect">
            <a:avLst/>
          </a:prstGeom>
          <a:noFill/>
        </p:spPr>
        <p:txBody>
          <a:bodyPr wrap="square" rtlCol="0">
            <a:spAutoFit/>
          </a:bodyPr>
          <a:lstStyle/>
          <a:p>
            <a:r>
              <a:rPr lang="en-US" sz="1200" dirty="0"/>
              <a:t>4.76</a:t>
            </a:r>
          </a:p>
        </p:txBody>
      </p:sp>
      <p:sp>
        <p:nvSpPr>
          <p:cNvPr id="2" name="Isosceles Triangle 1">
            <a:extLst>
              <a:ext uri="{FF2B5EF4-FFF2-40B4-BE49-F238E27FC236}">
                <a16:creationId xmlns:a16="http://schemas.microsoft.com/office/drawing/2014/main" id="{F83D44D4-5E91-4143-9D1D-E4C2795DF964}"/>
              </a:ext>
            </a:extLst>
          </p:cNvPr>
          <p:cNvSpPr/>
          <p:nvPr/>
        </p:nvSpPr>
        <p:spPr>
          <a:xfrm>
            <a:off x="5713646" y="3848868"/>
            <a:ext cx="509833" cy="49847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graphicFrame>
            <p:nvGraphicFramePr>
              <p:cNvPr id="36" name="Table 35">
                <a:extLst>
                  <a:ext uri="{FF2B5EF4-FFF2-40B4-BE49-F238E27FC236}">
                    <a16:creationId xmlns:a16="http://schemas.microsoft.com/office/drawing/2014/main" id="{74996991-99C3-CA2C-9884-A59E7CFDB01C}"/>
                  </a:ext>
                </a:extLst>
              </p:cNvPr>
              <p:cNvGraphicFramePr>
                <a:graphicFrameLocks noGrp="1"/>
              </p:cNvGraphicFramePr>
              <p:nvPr>
                <p:extLst>
                  <p:ext uri="{D42A27DB-BD31-4B8C-83A1-F6EECF244321}">
                    <p14:modId xmlns:p14="http://schemas.microsoft.com/office/powerpoint/2010/main" val="1320323793"/>
                  </p:ext>
                </p:extLst>
              </p:nvPr>
            </p:nvGraphicFramePr>
            <p:xfrm>
              <a:off x="153061" y="7971059"/>
              <a:ext cx="6530772" cy="1615376"/>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4149152469"/>
                        </a:ext>
                      </a:extLst>
                    </a:gridCol>
                    <a:gridCol w="4924927">
                      <a:extLst>
                        <a:ext uri="{9D8B030D-6E8A-4147-A177-3AD203B41FA5}">
                          <a16:colId xmlns:a16="http://schemas.microsoft.com/office/drawing/2014/main" val="1971714873"/>
                        </a:ext>
                      </a:extLst>
                    </a:gridCol>
                  </a:tblGrid>
                  <a:tr h="403844">
                    <a:tc>
                      <a:txBody>
                        <a:bodyPr/>
                        <a:lstStyle/>
                        <a:p>
                          <a:pPr algn="ctr"/>
                          <a:r>
                            <a:rPr lang="en-GB" b="0" dirty="0">
                              <a:solidFill>
                                <a:schemeClr val="tx1"/>
                              </a:solidFill>
                            </a:rPr>
                            <a:t>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b="0" dirty="0">
                              <a:solidFill>
                                <a:schemeClr val="tx1"/>
                              </a:solidFill>
                            </a:rPr>
                            <a:t>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5281946"/>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a) </a:t>
                          </a:r>
                          <a14:m>
                            <m:oMath xmlns:m="http://schemas.openxmlformats.org/officeDocument/2006/math">
                              <m:r>
                                <a:rPr lang="en-GB" sz="1200" b="0" i="1" smtClean="0">
                                  <a:latin typeface="Cambria Math" panose="02040503050406030204" pitchFamily="18" charset="0"/>
                                </a:rPr>
                                <m:t>7−</m:t>
                              </m:r>
                              <m:r>
                                <a:rPr lang="en-GB" sz="1200" b="0" i="1" smtClean="0">
                                  <a:latin typeface="Cambria Math" panose="02040503050406030204" pitchFamily="18" charset="0"/>
                                  <a:ea typeface="Cambria Math" panose="02040503050406030204" pitchFamily="18" charset="0"/>
                                </a:rPr>
                                <m:t>4+3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41156"/>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b) </a:t>
                          </a:r>
                          <a14:m>
                            <m:oMath xmlns:m="http://schemas.openxmlformats.org/officeDocument/2006/math">
                              <m:r>
                                <a:rPr lang="en-GB" sz="1200" b="0" i="1" smtClean="0">
                                  <a:latin typeface="Cambria Math" panose="02040503050406030204" pitchFamily="18" charset="0"/>
                                  <a:ea typeface="Cambria Math" panose="02040503050406030204" pitchFamily="18" charset="0"/>
                                </a:rPr>
                                <m:t>7+4 −3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1139907"/>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c) </a:t>
                          </a:r>
                          <a14:m>
                            <m:oMath xmlns:m="http://schemas.openxmlformats.org/officeDocument/2006/math">
                              <m:r>
                                <a:rPr lang="en-GB" sz="1200" i="1" smtClean="0">
                                  <a:latin typeface="Cambria Math" panose="02040503050406030204" pitchFamily="18" charset="0"/>
                                </a:rPr>
                                <m:t>6</m:t>
                              </m:r>
                              <m:r>
                                <a:rPr lang="en-GB" sz="1200" b="0" i="1" smtClean="0">
                                  <a:latin typeface="Cambria Math" panose="02040503050406030204" pitchFamily="18" charset="0"/>
                                </a:rPr>
                                <m:t> −3+4</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6803710"/>
                      </a:ext>
                    </a:extLst>
                  </a:tr>
                </a:tbl>
              </a:graphicData>
            </a:graphic>
          </p:graphicFrame>
        </mc:Choice>
        <mc:Fallback xmlns="">
          <p:graphicFrame>
            <p:nvGraphicFramePr>
              <p:cNvPr id="36" name="Table 35">
                <a:extLst>
                  <a:ext uri="{FF2B5EF4-FFF2-40B4-BE49-F238E27FC236}">
                    <a16:creationId xmlns:a16="http://schemas.microsoft.com/office/drawing/2014/main" id="{74996991-99C3-CA2C-9884-A59E7CFDB01C}"/>
                  </a:ext>
                </a:extLst>
              </p:cNvPr>
              <p:cNvGraphicFramePr>
                <a:graphicFrameLocks noGrp="1"/>
              </p:cNvGraphicFramePr>
              <p:nvPr>
                <p:extLst>
                  <p:ext uri="{D42A27DB-BD31-4B8C-83A1-F6EECF244321}">
                    <p14:modId xmlns:p14="http://schemas.microsoft.com/office/powerpoint/2010/main" val="1320323793"/>
                  </p:ext>
                </p:extLst>
              </p:nvPr>
            </p:nvGraphicFramePr>
            <p:xfrm>
              <a:off x="153061" y="7971059"/>
              <a:ext cx="6530772" cy="1615376"/>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4149152469"/>
                        </a:ext>
                      </a:extLst>
                    </a:gridCol>
                    <a:gridCol w="4924927">
                      <a:extLst>
                        <a:ext uri="{9D8B030D-6E8A-4147-A177-3AD203B41FA5}">
                          <a16:colId xmlns:a16="http://schemas.microsoft.com/office/drawing/2014/main" val="1971714873"/>
                        </a:ext>
                      </a:extLst>
                    </a:gridCol>
                  </a:tblGrid>
                  <a:tr h="403844">
                    <a:tc>
                      <a:txBody>
                        <a:bodyPr/>
                        <a:lstStyle/>
                        <a:p>
                          <a:pPr algn="ctr"/>
                          <a:r>
                            <a:rPr lang="en-GB" b="0" dirty="0">
                              <a:solidFill>
                                <a:schemeClr val="tx1"/>
                              </a:solidFill>
                            </a:rPr>
                            <a:t>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b="0" dirty="0">
                              <a:solidFill>
                                <a:schemeClr val="tx1"/>
                              </a:solidFill>
                            </a:rPr>
                            <a:t>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5281946"/>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79" t="-103030" r="-306818" b="-20454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41156"/>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79" t="-200000" r="-306818" b="-101493"/>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1139907"/>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79" t="-304545" r="-306818" b="-3030"/>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6803710"/>
                      </a:ext>
                    </a:extLst>
                  </a:tr>
                </a:tbl>
              </a:graphicData>
            </a:graphic>
          </p:graphicFrame>
        </mc:Fallback>
      </mc:AlternateContent>
      <p:sp>
        <p:nvSpPr>
          <p:cNvPr id="42" name="TextBox 41">
            <a:extLst>
              <a:ext uri="{FF2B5EF4-FFF2-40B4-BE49-F238E27FC236}">
                <a16:creationId xmlns:a16="http://schemas.microsoft.com/office/drawing/2014/main" id="{BC92E51F-AC86-C7BA-BC66-C22BE53F9E0D}"/>
              </a:ext>
            </a:extLst>
          </p:cNvPr>
          <p:cNvSpPr txBox="1"/>
          <p:nvPr/>
        </p:nvSpPr>
        <p:spPr>
          <a:xfrm>
            <a:off x="1721872" y="7657387"/>
            <a:ext cx="3230335" cy="276999"/>
          </a:xfrm>
          <a:prstGeom prst="rect">
            <a:avLst/>
          </a:prstGeom>
          <a:noFill/>
        </p:spPr>
        <p:txBody>
          <a:bodyPr wrap="square" rtlCol="0">
            <a:spAutoFit/>
          </a:bodyPr>
          <a:lstStyle/>
          <a:p>
            <a:r>
              <a:rPr lang="en-US" sz="1200" dirty="0"/>
              <a:t>1. Work out the answers to the following:</a:t>
            </a:r>
          </a:p>
        </p:txBody>
      </p:sp>
      <p:sp>
        <p:nvSpPr>
          <p:cNvPr id="43" name="Rectangle 42">
            <a:extLst>
              <a:ext uri="{FF2B5EF4-FFF2-40B4-BE49-F238E27FC236}">
                <a16:creationId xmlns:a16="http://schemas.microsoft.com/office/drawing/2014/main" id="{0568CFB7-3BAB-2B2F-591C-72BDF11640EF}"/>
              </a:ext>
            </a:extLst>
          </p:cNvPr>
          <p:cNvSpPr/>
          <p:nvPr/>
        </p:nvSpPr>
        <p:spPr>
          <a:xfrm>
            <a:off x="153061" y="7611667"/>
            <a:ext cx="1582715" cy="27699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
        <p:nvSpPr>
          <p:cNvPr id="9" name="Rectangle 8">
            <a:extLst>
              <a:ext uri="{FF2B5EF4-FFF2-40B4-BE49-F238E27FC236}">
                <a16:creationId xmlns:a16="http://schemas.microsoft.com/office/drawing/2014/main" id="{577F1067-6EDC-EC73-FCDC-1E26CEF8CEC4}"/>
              </a:ext>
            </a:extLst>
          </p:cNvPr>
          <p:cNvSpPr/>
          <p:nvPr/>
        </p:nvSpPr>
        <p:spPr>
          <a:xfrm>
            <a:off x="148502" y="1481844"/>
            <a:ext cx="6522600" cy="11604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200" b="1" u="sng" dirty="0">
                <a:solidFill>
                  <a:sysClr val="windowText" lastClr="000000"/>
                </a:solidFill>
              </a:rPr>
              <a:t>Introduction –</a:t>
            </a:r>
            <a:br>
              <a:rPr lang="en-GB" sz="1200" b="1" u="sng" dirty="0">
                <a:solidFill>
                  <a:sysClr val="windowText" lastClr="000000"/>
                </a:solidFill>
              </a:rPr>
            </a:br>
            <a:r>
              <a:rPr lang="en-US" sz="1200" dirty="0">
                <a:solidFill>
                  <a:sysClr val="windowText" lastClr="000000"/>
                </a:solidFill>
              </a:rPr>
              <a:t>In this unit so far, you’ve built strong foundations using the four operations. Now, you’ll apply that knowledge to solve problems using the correct order of operations. The order of operations follows a specific sequence: brackets first, then multiplication and division (from left to right), followed by addition and subtraction (from left to right). Understanding and applying this order is essential for solving multi-step problems accurately.</a:t>
            </a:r>
            <a:endParaRPr lang="en-GB" sz="1200" dirty="0">
              <a:solidFill>
                <a:sysClr val="windowText" lastClr="000000"/>
              </a:solidFill>
            </a:endParaRPr>
          </a:p>
        </p:txBody>
      </p:sp>
      <p:sp>
        <p:nvSpPr>
          <p:cNvPr id="11" name="TextBox 10">
            <a:extLst>
              <a:ext uri="{FF2B5EF4-FFF2-40B4-BE49-F238E27FC236}">
                <a16:creationId xmlns:a16="http://schemas.microsoft.com/office/drawing/2014/main" id="{D84F4482-B7D2-70C0-0FAD-97755B5C1CD2}"/>
              </a:ext>
            </a:extLst>
          </p:cNvPr>
          <p:cNvSpPr txBox="1"/>
          <p:nvPr/>
        </p:nvSpPr>
        <p:spPr>
          <a:xfrm>
            <a:off x="72414" y="4997719"/>
            <a:ext cx="6785586" cy="461665"/>
          </a:xfrm>
          <a:prstGeom prst="rect">
            <a:avLst/>
          </a:prstGeom>
          <a:noFill/>
        </p:spPr>
        <p:txBody>
          <a:bodyPr wrap="square" rtlCol="0">
            <a:spAutoFit/>
          </a:bodyPr>
          <a:lstStyle/>
          <a:p>
            <a:r>
              <a:rPr lang="en-GB" sz="1200" b="1" dirty="0"/>
              <a:t>When calculations have only addition and subtraction OR only multiplication and division, work from left to right.</a:t>
            </a:r>
          </a:p>
        </p:txBody>
      </p:sp>
    </p:spTree>
    <p:extLst>
      <p:ext uri="{BB962C8B-B14F-4D97-AF65-F5344CB8AC3E}">
        <p14:creationId xmlns:p14="http://schemas.microsoft.com/office/powerpoint/2010/main" val="12044841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5FC38B53-9083-8E55-4753-0464A69B97C1}"/>
                  </a:ext>
                </a:extLst>
              </p:cNvPr>
              <p:cNvGraphicFramePr>
                <a:graphicFrameLocks noGrp="1"/>
              </p:cNvGraphicFramePr>
              <p:nvPr>
                <p:extLst>
                  <p:ext uri="{D42A27DB-BD31-4B8C-83A1-F6EECF244321}">
                    <p14:modId xmlns:p14="http://schemas.microsoft.com/office/powerpoint/2010/main" val="214750751"/>
                  </p:ext>
                </p:extLst>
              </p:nvPr>
            </p:nvGraphicFramePr>
            <p:xfrm>
              <a:off x="163614" y="99798"/>
              <a:ext cx="6530772" cy="2772000"/>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2596595553"/>
                        </a:ext>
                      </a:extLst>
                    </a:gridCol>
                    <a:gridCol w="4924927">
                      <a:extLst>
                        <a:ext uri="{9D8B030D-6E8A-4147-A177-3AD203B41FA5}">
                          <a16:colId xmlns:a16="http://schemas.microsoft.com/office/drawing/2014/main" val="1484641352"/>
                        </a:ext>
                      </a:extLst>
                    </a:gridCol>
                  </a:tblGrid>
                  <a:tr h="3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d) </a:t>
                          </a:r>
                          <a14:m>
                            <m:oMath xmlns:m="http://schemas.openxmlformats.org/officeDocument/2006/math">
                              <m:r>
                                <a:rPr lang="en-GB" sz="1200" b="0" i="1" smtClean="0">
                                  <a:solidFill>
                                    <a:schemeClr val="tx1"/>
                                  </a:solidFill>
                                  <a:latin typeface="Cambria Math" panose="02040503050406030204" pitchFamily="18" charset="0"/>
                                </a:rPr>
                                <m:t>2×9÷6</m:t>
                              </m:r>
                            </m:oMath>
                          </a14:m>
                          <a:endParaRPr 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9785795"/>
                      </a:ext>
                    </a:extLst>
                  </a:tr>
                  <a:tr h="3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e) </a:t>
                          </a:r>
                          <a14:m>
                            <m:oMath xmlns:m="http://schemas.openxmlformats.org/officeDocument/2006/math">
                              <m:r>
                                <a:rPr lang="en-GB" sz="1200" i="1" smtClean="0">
                                  <a:latin typeface="Cambria Math" panose="02040503050406030204" pitchFamily="18" charset="0"/>
                                </a:rPr>
                                <m:t>9</m:t>
                              </m:r>
                              <m:r>
                                <a:rPr lang="en-GB" sz="1200" b="0" i="1" smtClean="0">
                                  <a:latin typeface="Cambria Math" panose="02040503050406030204" pitchFamily="18" charset="0"/>
                                </a:rPr>
                                <m:t>÷3×2 </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6214131"/>
                      </a:ext>
                    </a:extLst>
                  </a:tr>
                  <a:tr h="3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f) </a:t>
                          </a:r>
                          <a14:m>
                            <m:oMath xmlns:m="http://schemas.openxmlformats.org/officeDocument/2006/math">
                              <m:r>
                                <a:rPr lang="en-GB" sz="1200" i="1" dirty="0" smtClean="0">
                                  <a:latin typeface="Cambria Math" panose="02040503050406030204" pitchFamily="18" charset="0"/>
                                </a:rPr>
                                <m:t>1</m:t>
                              </m:r>
                              <m:r>
                                <a:rPr lang="en-GB" sz="1200" b="0" i="1" dirty="0" smtClean="0">
                                  <a:latin typeface="Cambria Math" panose="02040503050406030204" pitchFamily="18" charset="0"/>
                                </a:rPr>
                                <m:t>1 −3 −1</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7060163"/>
                      </a:ext>
                    </a:extLst>
                  </a:tr>
                  <a:tr h="3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g) </a:t>
                          </a:r>
                          <a14:m>
                            <m:oMath xmlns:m="http://schemas.openxmlformats.org/officeDocument/2006/math">
                              <m:r>
                                <a:rPr lang="en-GB" sz="1200" i="1" smtClean="0">
                                  <a:latin typeface="Cambria Math" panose="02040503050406030204" pitchFamily="18" charset="0"/>
                                </a:rPr>
                                <m:t>1</m:t>
                              </m:r>
                              <m:r>
                                <a:rPr lang="en-GB" sz="1200" b="0" i="1" smtClean="0">
                                  <a:latin typeface="Cambria Math" panose="02040503050406030204" pitchFamily="18" charset="0"/>
                                </a:rPr>
                                <m:t>7 −3+7</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2995790"/>
                      </a:ext>
                    </a:extLst>
                  </a:tr>
                  <a:tr h="3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h) </a:t>
                          </a:r>
                          <a14:m>
                            <m:oMath xmlns:m="http://schemas.openxmlformats.org/officeDocument/2006/math">
                              <m:r>
                                <a:rPr lang="en-GB" sz="1200" i="1" smtClean="0">
                                  <a:latin typeface="Cambria Math" panose="02040503050406030204" pitchFamily="18" charset="0"/>
                                </a:rPr>
                                <m:t>1</m:t>
                              </m:r>
                              <m:r>
                                <a:rPr lang="en-GB" sz="1200" b="0" i="1" smtClean="0">
                                  <a:latin typeface="Cambria Math" panose="02040503050406030204" pitchFamily="18" charset="0"/>
                                </a:rPr>
                                <m:t>6×3÷8</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983306"/>
                      </a:ext>
                    </a:extLst>
                  </a:tr>
                  <a:tr h="3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i) </a:t>
                          </a:r>
                          <a14:m>
                            <m:oMath xmlns:m="http://schemas.openxmlformats.org/officeDocument/2006/math">
                              <m:r>
                                <a:rPr lang="en-GB" sz="1200" i="1" smtClean="0">
                                  <a:latin typeface="Cambria Math" panose="02040503050406030204" pitchFamily="18" charset="0"/>
                                </a:rPr>
                                <m:t>1</m:t>
                              </m:r>
                              <m:r>
                                <a:rPr lang="en-GB" sz="1200" b="0" i="1" smtClean="0">
                                  <a:latin typeface="Cambria Math" panose="02040503050406030204" pitchFamily="18" charset="0"/>
                                </a:rPr>
                                <m:t>7 −4+3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798691"/>
                      </a:ext>
                    </a:extLst>
                  </a:tr>
                  <a:tr h="396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j) </a:t>
                          </a:r>
                          <a14:m>
                            <m:oMath xmlns:m="http://schemas.openxmlformats.org/officeDocument/2006/math">
                              <m:r>
                                <a:rPr lang="en-GB" sz="1200" i="1" smtClean="0">
                                  <a:latin typeface="Cambria Math" panose="02040503050406030204" pitchFamily="18" charset="0"/>
                                </a:rPr>
                                <m:t>1</m:t>
                              </m:r>
                              <m:r>
                                <a:rPr lang="en-GB" sz="1200" b="0" i="1" smtClean="0">
                                  <a:latin typeface="Cambria Math" panose="02040503050406030204" pitchFamily="18" charset="0"/>
                                </a:rPr>
                                <m:t>2÷3×7</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0826592"/>
                      </a:ext>
                    </a:extLst>
                  </a:tr>
                </a:tbl>
              </a:graphicData>
            </a:graphic>
          </p:graphicFrame>
        </mc:Choice>
        <mc:Fallback xmlns="">
          <p:graphicFrame>
            <p:nvGraphicFramePr>
              <p:cNvPr id="4" name="Table 3">
                <a:extLst>
                  <a:ext uri="{FF2B5EF4-FFF2-40B4-BE49-F238E27FC236}">
                    <a16:creationId xmlns:a16="http://schemas.microsoft.com/office/drawing/2014/main" id="{5FC38B53-9083-8E55-4753-0464A69B97C1}"/>
                  </a:ext>
                </a:extLst>
              </p:cNvPr>
              <p:cNvGraphicFramePr>
                <a:graphicFrameLocks noGrp="1"/>
              </p:cNvGraphicFramePr>
              <p:nvPr>
                <p:extLst>
                  <p:ext uri="{D42A27DB-BD31-4B8C-83A1-F6EECF244321}">
                    <p14:modId xmlns:p14="http://schemas.microsoft.com/office/powerpoint/2010/main" val="214750751"/>
                  </p:ext>
                </p:extLst>
              </p:nvPr>
            </p:nvGraphicFramePr>
            <p:xfrm>
              <a:off x="163614" y="99798"/>
              <a:ext cx="6530772" cy="2772000"/>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2596595553"/>
                        </a:ext>
                      </a:extLst>
                    </a:gridCol>
                    <a:gridCol w="4924927">
                      <a:extLst>
                        <a:ext uri="{9D8B030D-6E8A-4147-A177-3AD203B41FA5}">
                          <a16:colId xmlns:a16="http://schemas.microsoft.com/office/drawing/2014/main" val="1484641352"/>
                        </a:ext>
                      </a:extLst>
                    </a:gridCol>
                  </a:tblGrid>
                  <a:tr h="396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9" t="-1538" r="-307197" b="-60461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9785795"/>
                      </a:ext>
                    </a:extLst>
                  </a:tr>
                  <a:tr h="396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9" t="-101538" r="-307197" b="-50461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6214131"/>
                      </a:ext>
                    </a:extLst>
                  </a:tr>
                  <a:tr h="396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9" t="-201538" r="-307197" b="-40461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7060163"/>
                      </a:ext>
                    </a:extLst>
                  </a:tr>
                  <a:tr h="396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9" t="-296970" r="-307197" b="-29848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2995790"/>
                      </a:ext>
                    </a:extLst>
                  </a:tr>
                  <a:tr h="396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9" t="-403077" r="-307197" b="-203077"/>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983306"/>
                      </a:ext>
                    </a:extLst>
                  </a:tr>
                  <a:tr h="396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9" t="-503077" r="-307197" b="-103077"/>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798691"/>
                      </a:ext>
                    </a:extLst>
                  </a:tr>
                  <a:tr h="396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9" t="-603077" r="-307197" b="-3077"/>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082659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3D318C50-1892-E994-9D45-20A8A561E321}"/>
                  </a:ext>
                </a:extLst>
              </p:cNvPr>
              <p:cNvGraphicFramePr>
                <a:graphicFrameLocks noGrp="1"/>
              </p:cNvGraphicFramePr>
              <p:nvPr/>
            </p:nvGraphicFramePr>
            <p:xfrm>
              <a:off x="163614" y="3455943"/>
              <a:ext cx="6530772" cy="1831785"/>
            </p:xfrm>
            <a:graphic>
              <a:graphicData uri="http://schemas.openxmlformats.org/drawingml/2006/table">
                <a:tbl>
                  <a:tblPr firstRow="1" bandRow="1">
                    <a:tableStyleId>{5C22544A-7EE6-4342-B048-85BDC9FD1C3A}</a:tableStyleId>
                  </a:tblPr>
                  <a:tblGrid>
                    <a:gridCol w="1710906">
                      <a:extLst>
                        <a:ext uri="{9D8B030D-6E8A-4147-A177-3AD203B41FA5}">
                          <a16:colId xmlns:a16="http://schemas.microsoft.com/office/drawing/2014/main" val="1568142362"/>
                        </a:ext>
                      </a:extLst>
                    </a:gridCol>
                    <a:gridCol w="1606622">
                      <a:extLst>
                        <a:ext uri="{9D8B030D-6E8A-4147-A177-3AD203B41FA5}">
                          <a16:colId xmlns:a16="http://schemas.microsoft.com/office/drawing/2014/main" val="3551711160"/>
                        </a:ext>
                      </a:extLst>
                    </a:gridCol>
                    <a:gridCol w="1606622">
                      <a:extLst>
                        <a:ext uri="{9D8B030D-6E8A-4147-A177-3AD203B41FA5}">
                          <a16:colId xmlns:a16="http://schemas.microsoft.com/office/drawing/2014/main" val="1712497518"/>
                        </a:ext>
                      </a:extLst>
                    </a:gridCol>
                    <a:gridCol w="1606622">
                      <a:extLst>
                        <a:ext uri="{9D8B030D-6E8A-4147-A177-3AD203B41FA5}">
                          <a16:colId xmlns:a16="http://schemas.microsoft.com/office/drawing/2014/main" val="886122921"/>
                        </a:ext>
                      </a:extLst>
                    </a:gridCol>
                  </a:tblGrid>
                  <a:tr h="277305">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216152">
                    <a:tc>
                      <a:txBody>
                        <a:bodyPr/>
                        <a:lstStyle/>
                        <a:p>
                          <a:pPr marL="0" indent="0">
                            <a:buNone/>
                          </a:pPr>
                          <a:r>
                            <a:rPr lang="en-US" sz="1200" dirty="0">
                              <a:solidFill>
                                <a:schemeClr val="tx1"/>
                              </a:solidFill>
                            </a:rPr>
                            <a:t>1) Determine which operations are in the question.</a:t>
                          </a:r>
                          <a:br>
                            <a:rPr lang="en-US" sz="1200" dirty="0">
                              <a:solidFill>
                                <a:schemeClr val="tx1"/>
                              </a:solidFill>
                            </a:rPr>
                          </a:br>
                          <a:endParaRPr lang="en-US" sz="120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2) Determine the correct order to perform the calculation. </a:t>
                          </a:r>
                          <a:r>
                            <a:rPr lang="en-US" sz="1200" dirty="0">
                              <a:solidFill>
                                <a:schemeClr val="tx1"/>
                              </a:solidFill>
                            </a:rPr>
                            <a:t>(</a:t>
                          </a:r>
                          <a14:m>
                            <m:oMath xmlns:m="http://schemas.openxmlformats.org/officeDocument/2006/math">
                              <m:r>
                                <a:rPr lang="en-GB" sz="1200" b="0" i="1" smtClean="0">
                                  <a:solidFill>
                                    <a:schemeClr val="tx1"/>
                                  </a:solidFill>
                                  <a:latin typeface="Cambria Math" panose="02040503050406030204" pitchFamily="18" charset="0"/>
                                </a:rPr>
                                <m:t>×</m:t>
                              </m:r>
                            </m:oMath>
                          </a14:m>
                          <a:r>
                            <a:rPr lang="en-US" sz="1200" dirty="0">
                              <a:solidFill>
                                <a:schemeClr val="tx1"/>
                              </a:solidFill>
                            </a:rPr>
                            <a:t> and </a:t>
                          </a:r>
                          <a14:m>
                            <m:oMath xmlns:m="http://schemas.openxmlformats.org/officeDocument/2006/math">
                              <m:r>
                                <a:rPr lang="en-GB" sz="1200" b="0" i="1" smtClean="0">
                                  <a:solidFill>
                                    <a:schemeClr val="tx1"/>
                                  </a:solidFill>
                                  <a:latin typeface="Cambria Math" panose="02040503050406030204" pitchFamily="18" charset="0"/>
                                </a:rPr>
                                <m:t>÷</m:t>
                              </m:r>
                            </m:oMath>
                          </a14:m>
                          <a:r>
                            <a:rPr lang="en-US" sz="1200" dirty="0">
                              <a:solidFill>
                                <a:schemeClr val="tx1"/>
                              </a:solidFill>
                            </a:rPr>
                            <a:t> </a:t>
                          </a:r>
                          <a:r>
                            <a:rPr lang="en-US" sz="1200" baseline="0" dirty="0">
                              <a:solidFill>
                                <a:schemeClr val="tx1"/>
                              </a:solidFill>
                            </a:rPr>
                            <a:t>before </a:t>
                          </a:r>
                          <a14:m>
                            <m:oMath xmlns:m="http://schemas.openxmlformats.org/officeDocument/2006/math">
                              <m:r>
                                <a:rPr lang="en-US" sz="1200" i="1" baseline="0" dirty="0" smtClean="0">
                                  <a:solidFill>
                                    <a:schemeClr val="tx1"/>
                                  </a:solidFill>
                                  <a:latin typeface="Cambria Math" panose="02040503050406030204" pitchFamily="18" charset="0"/>
                                </a:rPr>
                                <m:t>+</m:t>
                              </m:r>
                            </m:oMath>
                          </a14:m>
                          <a:r>
                            <a:rPr lang="en-US" sz="1200" baseline="0" dirty="0">
                              <a:solidFill>
                                <a:schemeClr val="tx1"/>
                              </a:solidFill>
                            </a:rPr>
                            <a:t> and </a:t>
                          </a:r>
                          <a14:m>
                            <m:oMath xmlns:m="http://schemas.openxmlformats.org/officeDocument/2006/math">
                              <m:r>
                                <a:rPr lang="en-US" sz="1200" i="1" baseline="0" dirty="0" smtClean="0">
                                  <a:solidFill>
                                    <a:schemeClr val="tx1"/>
                                  </a:solidFill>
                                  <a:latin typeface="Cambria Math" panose="02040503050406030204" pitchFamily="18" charset="0"/>
                                </a:rPr>
                                <m:t>−</m:t>
                              </m:r>
                            </m:oMath>
                          </a14:m>
                          <a:r>
                            <a:rPr lang="en-US" sz="1200" baseline="0" dirty="0">
                              <a:solidFill>
                                <a:schemeClr val="tx1"/>
                              </a:solidFill>
                            </a:rPr>
                            <a:t>).</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6</m:t>
                                </m:r>
                                <m:r>
                                  <a:rPr lang="en-GB" sz="1200" b="0" i="1" baseline="0" smtClean="0">
                                    <a:solidFill>
                                      <a:schemeClr val="tx1"/>
                                    </a:solidFill>
                                    <a:latin typeface="Cambria Math" panose="02040503050406030204" pitchFamily="18" charset="0"/>
                                    <a:ea typeface="Cambria Math" panose="02040503050406030204" pitchFamily="18" charset="0"/>
                                  </a:rPr>
                                  <m:t>+3×2</m:t>
                                </m:r>
                              </m:oMath>
                            </m:oMathPara>
                          </a14:m>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7+10 </m:t>
                                </m:r>
                                <m:r>
                                  <a:rPr lang="en-GB" sz="1200" b="0" i="1" baseline="0" smtClean="0">
                                    <a:solidFill>
                                      <a:schemeClr val="tx1"/>
                                    </a:solidFill>
                                    <a:latin typeface="Cambria Math" panose="02040503050406030204" pitchFamily="18" charset="0"/>
                                    <a:ea typeface="Cambria Math" panose="02040503050406030204" pitchFamily="18" charset="0"/>
                                  </a:rPr>
                                  <m:t>÷5</m:t>
                                </m:r>
                              </m:oMath>
                            </m:oMathPara>
                          </a14:m>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18−6</m:t>
                                </m:r>
                                <m:r>
                                  <a:rPr lang="en-GB" sz="1200" b="0" i="1" baseline="0" smtClean="0">
                                    <a:solidFill>
                                      <a:schemeClr val="tx1"/>
                                    </a:solidFill>
                                    <a:latin typeface="Cambria Math" panose="02040503050406030204" pitchFamily="18" charset="0"/>
                                    <a:ea typeface="Cambria Math" panose="02040503050406030204" pitchFamily="18" charset="0"/>
                                  </a:rPr>
                                  <m:t>÷2</m:t>
                                </m:r>
                              </m:oMath>
                            </m:oMathPara>
                          </a14:m>
                          <a:endParaRPr lang="en-US" sz="1200" baseline="0" dirty="0">
                            <a:solidFill>
                              <a:schemeClr val="tx1"/>
                            </a:solidFill>
                          </a:endParaRP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5" name="Table 4">
                <a:extLst>
                  <a:ext uri="{FF2B5EF4-FFF2-40B4-BE49-F238E27FC236}">
                    <a16:creationId xmlns:a16="http://schemas.microsoft.com/office/drawing/2014/main" id="{3D318C50-1892-E994-9D45-20A8A561E321}"/>
                  </a:ext>
                </a:extLst>
              </p:cNvPr>
              <p:cNvGraphicFramePr>
                <a:graphicFrameLocks noGrp="1"/>
              </p:cNvGraphicFramePr>
              <p:nvPr/>
            </p:nvGraphicFramePr>
            <p:xfrm>
              <a:off x="163614" y="3455943"/>
              <a:ext cx="6530772" cy="1831785"/>
            </p:xfrm>
            <a:graphic>
              <a:graphicData uri="http://schemas.openxmlformats.org/drawingml/2006/table">
                <a:tbl>
                  <a:tblPr firstRow="1" bandRow="1">
                    <a:tableStyleId>{5C22544A-7EE6-4342-B048-85BDC9FD1C3A}</a:tableStyleId>
                  </a:tblPr>
                  <a:tblGrid>
                    <a:gridCol w="1710906">
                      <a:extLst>
                        <a:ext uri="{9D8B030D-6E8A-4147-A177-3AD203B41FA5}">
                          <a16:colId xmlns:a16="http://schemas.microsoft.com/office/drawing/2014/main" val="1568142362"/>
                        </a:ext>
                      </a:extLst>
                    </a:gridCol>
                    <a:gridCol w="1606622">
                      <a:extLst>
                        <a:ext uri="{9D8B030D-6E8A-4147-A177-3AD203B41FA5}">
                          <a16:colId xmlns:a16="http://schemas.microsoft.com/office/drawing/2014/main" val="3551711160"/>
                        </a:ext>
                      </a:extLst>
                    </a:gridCol>
                    <a:gridCol w="1606622">
                      <a:extLst>
                        <a:ext uri="{9D8B030D-6E8A-4147-A177-3AD203B41FA5}">
                          <a16:colId xmlns:a16="http://schemas.microsoft.com/office/drawing/2014/main" val="1712497518"/>
                        </a:ext>
                      </a:extLst>
                    </a:gridCol>
                    <a:gridCol w="1606622">
                      <a:extLst>
                        <a:ext uri="{9D8B030D-6E8A-4147-A177-3AD203B41FA5}">
                          <a16:colId xmlns:a16="http://schemas.microsoft.com/office/drawing/2014/main" val="886122921"/>
                        </a:ext>
                      </a:extLst>
                    </a:gridCol>
                  </a:tblGrid>
                  <a:tr h="277305">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5544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56" t="-18359" r="-282562" b="-273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6818" t="-18359" r="-200758" b="-273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6818" t="-18359" r="-100758" b="-273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6818" t="-18359" r="-758" b="-2734"/>
                          </a:stretch>
                        </a:blipFill>
                      </a:tcPr>
                    </a:tc>
                    <a:extLst>
                      <a:ext uri="{0D108BD9-81ED-4DB2-BD59-A6C34878D82A}">
                        <a16:rowId xmlns:a16="http://schemas.microsoft.com/office/drawing/2014/main" val="3293625240"/>
                      </a:ext>
                    </a:extLst>
                  </a:tr>
                </a:tbl>
              </a:graphicData>
            </a:graphic>
          </p:graphicFrame>
        </mc:Fallback>
      </mc:AlternateContent>
      <p:sp>
        <p:nvSpPr>
          <p:cNvPr id="6" name="TextBox 5">
            <a:extLst>
              <a:ext uri="{FF2B5EF4-FFF2-40B4-BE49-F238E27FC236}">
                <a16:creationId xmlns:a16="http://schemas.microsoft.com/office/drawing/2014/main" id="{7912C6CE-A12A-93DA-6F70-715CD752A5D7}"/>
              </a:ext>
            </a:extLst>
          </p:cNvPr>
          <p:cNvSpPr txBox="1"/>
          <p:nvPr/>
        </p:nvSpPr>
        <p:spPr>
          <a:xfrm>
            <a:off x="2038655" y="3210485"/>
            <a:ext cx="1410704" cy="276999"/>
          </a:xfrm>
          <a:prstGeom prst="rect">
            <a:avLst/>
          </a:prstGeom>
          <a:noFill/>
          <a:ln>
            <a:noFill/>
          </a:ln>
        </p:spPr>
        <p:txBody>
          <a:bodyPr wrap="square" rtlCol="0">
            <a:spAutoFit/>
          </a:bodyPr>
          <a:lstStyle/>
          <a:p>
            <a:r>
              <a:rPr lang="en-GB" sz="1200" b="1" i="1" dirty="0">
                <a:solidFill>
                  <a:srgbClr val="FF0000"/>
                </a:solidFill>
              </a:rPr>
              <a:t>Example 4 - I do…</a:t>
            </a:r>
          </a:p>
        </p:txBody>
      </p:sp>
      <p:sp>
        <p:nvSpPr>
          <p:cNvPr id="7" name="TextBox 6">
            <a:extLst>
              <a:ext uri="{FF2B5EF4-FFF2-40B4-BE49-F238E27FC236}">
                <a16:creationId xmlns:a16="http://schemas.microsoft.com/office/drawing/2014/main" id="{57CDD418-8FBF-67C9-8B36-D1B65A5EF64B}"/>
              </a:ext>
            </a:extLst>
          </p:cNvPr>
          <p:cNvSpPr txBox="1"/>
          <p:nvPr/>
        </p:nvSpPr>
        <p:spPr>
          <a:xfrm>
            <a:off x="5178537" y="3212640"/>
            <a:ext cx="1643405" cy="276999"/>
          </a:xfrm>
          <a:prstGeom prst="rect">
            <a:avLst/>
          </a:prstGeom>
          <a:noFill/>
          <a:ln>
            <a:noFill/>
          </a:ln>
        </p:spPr>
        <p:txBody>
          <a:bodyPr wrap="square" rtlCol="0">
            <a:spAutoFit/>
          </a:bodyPr>
          <a:lstStyle/>
          <a:p>
            <a:r>
              <a:rPr lang="en-GB" sz="1200" b="1" i="1" dirty="0">
                <a:solidFill>
                  <a:srgbClr val="00B050"/>
                </a:solidFill>
              </a:rPr>
              <a:t>Example 6 – You do…</a:t>
            </a:r>
          </a:p>
        </p:txBody>
      </p:sp>
      <p:sp>
        <p:nvSpPr>
          <p:cNvPr id="8" name="TextBox 7">
            <a:extLst>
              <a:ext uri="{FF2B5EF4-FFF2-40B4-BE49-F238E27FC236}">
                <a16:creationId xmlns:a16="http://schemas.microsoft.com/office/drawing/2014/main" id="{3EFFC3EC-FEAE-3189-57CF-20ED29896AEF}"/>
              </a:ext>
            </a:extLst>
          </p:cNvPr>
          <p:cNvSpPr txBox="1"/>
          <p:nvPr/>
        </p:nvSpPr>
        <p:spPr>
          <a:xfrm>
            <a:off x="3492245" y="3210485"/>
            <a:ext cx="1643405" cy="276999"/>
          </a:xfrm>
          <a:prstGeom prst="rect">
            <a:avLst/>
          </a:prstGeom>
          <a:noFill/>
          <a:ln>
            <a:noFill/>
          </a:ln>
        </p:spPr>
        <p:txBody>
          <a:bodyPr wrap="square" rtlCol="0">
            <a:spAutoFit/>
          </a:bodyPr>
          <a:lstStyle/>
          <a:p>
            <a:r>
              <a:rPr lang="en-GB" sz="1200" b="1" i="1" dirty="0">
                <a:solidFill>
                  <a:schemeClr val="accent2"/>
                </a:solidFill>
              </a:rPr>
              <a:t>Example 5 – We do…</a:t>
            </a:r>
          </a:p>
        </p:txBody>
      </p:sp>
      <p:sp>
        <p:nvSpPr>
          <p:cNvPr id="12" name="Rectangle 11">
            <a:extLst>
              <a:ext uri="{FF2B5EF4-FFF2-40B4-BE49-F238E27FC236}">
                <a16:creationId xmlns:a16="http://schemas.microsoft.com/office/drawing/2014/main" id="{2BE1B70F-D47F-6356-BA0D-AE8BCADE332A}"/>
              </a:ext>
            </a:extLst>
          </p:cNvPr>
          <p:cNvSpPr/>
          <p:nvPr/>
        </p:nvSpPr>
        <p:spPr>
          <a:xfrm>
            <a:off x="152228" y="5377384"/>
            <a:ext cx="1600372" cy="277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D2496B0B-374B-4003-A185-98424BAC51D6}"/>
                  </a:ext>
                </a:extLst>
              </p:cNvPr>
              <p:cNvGraphicFramePr>
                <a:graphicFrameLocks noGrp="1"/>
              </p:cNvGraphicFramePr>
              <p:nvPr>
                <p:extLst>
                  <p:ext uri="{D42A27DB-BD31-4B8C-83A1-F6EECF244321}">
                    <p14:modId xmlns:p14="http://schemas.microsoft.com/office/powerpoint/2010/main" val="3966160939"/>
                  </p:ext>
                </p:extLst>
              </p:nvPr>
            </p:nvGraphicFramePr>
            <p:xfrm>
              <a:off x="146611" y="5713064"/>
              <a:ext cx="6530772" cy="1104868"/>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577735621"/>
                        </a:ext>
                      </a:extLst>
                    </a:gridCol>
                    <a:gridCol w="4924927">
                      <a:extLst>
                        <a:ext uri="{9D8B030D-6E8A-4147-A177-3AD203B41FA5}">
                          <a16:colId xmlns:a16="http://schemas.microsoft.com/office/drawing/2014/main" val="1734380290"/>
                        </a:ext>
                      </a:extLst>
                    </a:gridCol>
                  </a:tblGrid>
                  <a:tr h="230536">
                    <a:tc>
                      <a:txBody>
                        <a:bodyPr/>
                        <a:lstStyle/>
                        <a:p>
                          <a:pPr algn="ctr"/>
                          <a:r>
                            <a:rPr lang="en-GB" b="1" dirty="0">
                              <a:solidFill>
                                <a:schemeClr val="tx1"/>
                              </a:solidFill>
                            </a:rPr>
                            <a:t>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b="1" dirty="0">
                              <a:solidFill>
                                <a:schemeClr val="tx1"/>
                              </a:solidFill>
                            </a:rPr>
                            <a:t>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08146770"/>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a) </a:t>
                          </a:r>
                          <a14:m>
                            <m:oMath xmlns:m="http://schemas.openxmlformats.org/officeDocument/2006/math">
                              <m:r>
                                <a:rPr lang="en-GB" sz="1200" b="0" i="1" smtClean="0">
                                  <a:latin typeface="Cambria Math" panose="02040503050406030204" pitchFamily="18" charset="0"/>
                                </a:rPr>
                                <m:t>7</m:t>
                              </m:r>
                              <m:r>
                                <a:rPr lang="en-GB" sz="1200" b="0" i="1" smtClean="0">
                                  <a:latin typeface="Cambria Math" panose="02040503050406030204" pitchFamily="18" charset="0"/>
                                  <a:ea typeface="Cambria Math" panose="02040503050406030204" pitchFamily="18" charset="0"/>
                                </a:rPr>
                                <m:t>+2×3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8628785"/>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b) </a:t>
                          </a:r>
                          <a14:m>
                            <m:oMath xmlns:m="http://schemas.openxmlformats.org/officeDocument/2006/math">
                              <m:r>
                                <a:rPr lang="en-GB" sz="1200" b="0" i="0" smtClean="0">
                                  <a:latin typeface="Cambria Math" panose="02040503050406030204" pitchFamily="18" charset="0"/>
                                  <a:ea typeface="Cambria Math" panose="02040503050406030204" pitchFamily="18" charset="0"/>
                                </a:rPr>
                                <m:t>9</m:t>
                              </m:r>
                              <m:r>
                                <a:rPr lang="en-GB" sz="1200" b="0" i="1" smtClean="0">
                                  <a:latin typeface="Cambria Math" panose="02040503050406030204" pitchFamily="18" charset="0"/>
                                  <a:ea typeface="Cambria Math" panose="02040503050406030204" pitchFamily="18" charset="0"/>
                                </a:rPr>
                                <m:t>+4×2</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1521758"/>
                      </a:ext>
                    </a:extLst>
                  </a:tr>
                </a:tbl>
              </a:graphicData>
            </a:graphic>
          </p:graphicFrame>
        </mc:Choice>
        <mc:Fallback xmlns="">
          <p:graphicFrame>
            <p:nvGraphicFramePr>
              <p:cNvPr id="14" name="Table 13">
                <a:extLst>
                  <a:ext uri="{FF2B5EF4-FFF2-40B4-BE49-F238E27FC236}">
                    <a16:creationId xmlns:a16="http://schemas.microsoft.com/office/drawing/2014/main" id="{D2496B0B-374B-4003-A185-98424BAC51D6}"/>
                  </a:ext>
                </a:extLst>
              </p:cNvPr>
              <p:cNvGraphicFramePr>
                <a:graphicFrameLocks noGrp="1"/>
              </p:cNvGraphicFramePr>
              <p:nvPr>
                <p:extLst>
                  <p:ext uri="{D42A27DB-BD31-4B8C-83A1-F6EECF244321}">
                    <p14:modId xmlns:p14="http://schemas.microsoft.com/office/powerpoint/2010/main" val="3966160939"/>
                  </p:ext>
                </p:extLst>
              </p:nvPr>
            </p:nvGraphicFramePr>
            <p:xfrm>
              <a:off x="146611" y="5713064"/>
              <a:ext cx="6530772" cy="1104868"/>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577735621"/>
                        </a:ext>
                      </a:extLst>
                    </a:gridCol>
                    <a:gridCol w="4924927">
                      <a:extLst>
                        <a:ext uri="{9D8B030D-6E8A-4147-A177-3AD203B41FA5}">
                          <a16:colId xmlns:a16="http://schemas.microsoft.com/office/drawing/2014/main" val="1734380290"/>
                        </a:ext>
                      </a:extLst>
                    </a:gridCol>
                  </a:tblGrid>
                  <a:tr h="297180">
                    <a:tc>
                      <a:txBody>
                        <a:bodyPr/>
                        <a:lstStyle/>
                        <a:p>
                          <a:pPr algn="ctr"/>
                          <a:r>
                            <a:rPr lang="en-GB" b="1" dirty="0">
                              <a:solidFill>
                                <a:schemeClr val="tx1"/>
                              </a:solidFill>
                            </a:rPr>
                            <a:t>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b="1" dirty="0">
                              <a:solidFill>
                                <a:schemeClr val="tx1"/>
                              </a:solidFill>
                            </a:rPr>
                            <a:t>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08146770"/>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79" t="-75758" r="-306818" b="-10454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8628785"/>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79" t="-173134" r="-306818" b="-298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1521758"/>
                      </a:ext>
                    </a:extLst>
                  </a:tr>
                </a:tbl>
              </a:graphicData>
            </a:graphic>
          </p:graphicFrame>
        </mc:Fallback>
      </mc:AlternateContent>
      <p:sp>
        <p:nvSpPr>
          <p:cNvPr id="15" name="Slide Number Placeholder 14">
            <a:extLst>
              <a:ext uri="{FF2B5EF4-FFF2-40B4-BE49-F238E27FC236}">
                <a16:creationId xmlns:a16="http://schemas.microsoft.com/office/drawing/2014/main" id="{E09986ED-5484-CD3E-47EF-7D139B1C8D8D}"/>
              </a:ext>
            </a:extLst>
          </p:cNvPr>
          <p:cNvSpPr>
            <a:spLocks noGrp="1"/>
          </p:cNvSpPr>
          <p:nvPr>
            <p:ph type="sldNum" sz="quarter" idx="12"/>
          </p:nvPr>
        </p:nvSpPr>
        <p:spPr>
          <a:xfrm>
            <a:off x="5223510" y="9481540"/>
            <a:ext cx="1543050" cy="527403"/>
          </a:xfrm>
        </p:spPr>
        <p:txBody>
          <a:bodyPr/>
          <a:lstStyle/>
          <a:p>
            <a:fld id="{086C3A38-D272-42AA-9C88-F1FBEAE20D2C}" type="slidenum">
              <a:rPr lang="en-GB" smtClean="0"/>
              <a:t>66</a:t>
            </a:fld>
            <a:endParaRPr lang="en-GB" dirty="0"/>
          </a:p>
        </p:txBody>
      </p:sp>
      <p:sp>
        <p:nvSpPr>
          <p:cNvPr id="16" name="TextBox 15">
            <a:extLst>
              <a:ext uri="{FF2B5EF4-FFF2-40B4-BE49-F238E27FC236}">
                <a16:creationId xmlns:a16="http://schemas.microsoft.com/office/drawing/2014/main" id="{B61C2B78-12FE-9E51-C0FE-7EBD6252890B}"/>
              </a:ext>
            </a:extLst>
          </p:cNvPr>
          <p:cNvSpPr txBox="1"/>
          <p:nvPr/>
        </p:nvSpPr>
        <p:spPr>
          <a:xfrm>
            <a:off x="1752600" y="5388010"/>
            <a:ext cx="3230335" cy="276999"/>
          </a:xfrm>
          <a:prstGeom prst="rect">
            <a:avLst/>
          </a:prstGeom>
          <a:noFill/>
        </p:spPr>
        <p:txBody>
          <a:bodyPr wrap="square" rtlCol="0">
            <a:spAutoFit/>
          </a:bodyPr>
          <a:lstStyle/>
          <a:p>
            <a:r>
              <a:rPr lang="en-US" sz="1200" dirty="0"/>
              <a:t>2. Work out the answers to the following:</a:t>
            </a: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A07006F5-E911-4EF9-34DB-51FB9F5DE2AD}"/>
                  </a:ext>
                </a:extLst>
              </p:cNvPr>
              <p:cNvSpPr/>
              <p:nvPr/>
            </p:nvSpPr>
            <p:spPr>
              <a:xfrm>
                <a:off x="163614" y="2922220"/>
                <a:ext cx="2640546" cy="30244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Order of operations with </a:t>
                </a:r>
                <a14:m>
                  <m:oMath xmlns:m="http://schemas.openxmlformats.org/officeDocument/2006/math">
                    <m:r>
                      <a:rPr lang="en-US" sz="1200" i="1" smtClean="0">
                        <a:solidFill>
                          <a:schemeClr val="bg1"/>
                        </a:solidFill>
                        <a:latin typeface="Cambria Math" panose="02040503050406030204" pitchFamily="18" charset="0"/>
                        <a:ea typeface="Cambria Math" panose="02040503050406030204" pitchFamily="18" charset="0"/>
                      </a:rPr>
                      <m:t>×</m:t>
                    </m:r>
                    <m:r>
                      <a:rPr lang="en-GB" sz="1200" b="0" i="1" smtClean="0">
                        <a:solidFill>
                          <a:schemeClr val="bg1"/>
                        </a:solidFill>
                        <a:latin typeface="Cambria Math" panose="02040503050406030204" pitchFamily="18" charset="0"/>
                        <a:ea typeface="Cambria Math" panose="02040503050406030204" pitchFamily="18" charset="0"/>
                      </a:rPr>
                      <m:t>/÷/</m:t>
                    </m:r>
                    <m:r>
                      <a:rPr lang="en-US" sz="1200" i="1" smtClean="0">
                        <a:solidFill>
                          <a:schemeClr val="bg1"/>
                        </a:solidFill>
                        <a:latin typeface="Cambria Math" panose="02040503050406030204" pitchFamily="18" charset="0"/>
                        <a:ea typeface="Cambria Math" panose="02040503050406030204" pitchFamily="18" charset="0"/>
                      </a:rPr>
                      <m:t>+</m:t>
                    </m:r>
                    <m:r>
                      <a:rPr lang="en-GB" sz="1200" b="0" i="1" smtClean="0">
                        <a:solidFill>
                          <a:schemeClr val="bg1"/>
                        </a:solidFill>
                        <a:latin typeface="Cambria Math" panose="02040503050406030204" pitchFamily="18" charset="0"/>
                        <a:ea typeface="Cambria Math" panose="02040503050406030204" pitchFamily="18" charset="0"/>
                      </a:rPr>
                      <m:t>/−</m:t>
                    </m:r>
                  </m:oMath>
                </a14:m>
                <a:endParaRPr lang="en-GB" sz="1200" dirty="0">
                  <a:solidFill>
                    <a:schemeClr val="bg1"/>
                  </a:solidFill>
                </a:endParaRPr>
              </a:p>
            </p:txBody>
          </p:sp>
        </mc:Choice>
        <mc:Fallback xmlns="">
          <p:sp>
            <p:nvSpPr>
              <p:cNvPr id="17" name="Rectangle 16">
                <a:extLst>
                  <a:ext uri="{FF2B5EF4-FFF2-40B4-BE49-F238E27FC236}">
                    <a16:creationId xmlns:a16="http://schemas.microsoft.com/office/drawing/2014/main" id="{A07006F5-E911-4EF9-34DB-51FB9F5DE2AD}"/>
                  </a:ext>
                </a:extLst>
              </p:cNvPr>
              <p:cNvSpPr>
                <a:spLocks noRot="1" noChangeAspect="1" noMove="1" noResize="1" noEditPoints="1" noAdjustHandles="1" noChangeArrowheads="1" noChangeShapeType="1" noTextEdit="1"/>
              </p:cNvSpPr>
              <p:nvPr/>
            </p:nvSpPr>
            <p:spPr>
              <a:xfrm>
                <a:off x="163614" y="2922220"/>
                <a:ext cx="2640546" cy="302444"/>
              </a:xfrm>
              <a:prstGeom prst="rect">
                <a:avLst/>
              </a:prstGeom>
              <a:blipFill>
                <a:blip r:embed="rId5"/>
                <a:stretch>
                  <a:fillRect l="-231" b="-12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5DB51928-D9CE-6E7B-BDBE-9AFA05159B87}"/>
                  </a:ext>
                </a:extLst>
              </p:cNvPr>
              <p:cNvGraphicFramePr>
                <a:graphicFrameLocks noGrp="1"/>
              </p:cNvGraphicFramePr>
              <p:nvPr>
                <p:extLst>
                  <p:ext uri="{D42A27DB-BD31-4B8C-83A1-F6EECF244321}">
                    <p14:modId xmlns:p14="http://schemas.microsoft.com/office/powerpoint/2010/main" val="1072558921"/>
                  </p:ext>
                </p:extLst>
              </p:nvPr>
            </p:nvGraphicFramePr>
            <p:xfrm>
              <a:off x="148374" y="6817916"/>
              <a:ext cx="6530772" cy="2826908"/>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1569077143"/>
                        </a:ext>
                      </a:extLst>
                    </a:gridCol>
                    <a:gridCol w="4924927">
                      <a:extLst>
                        <a:ext uri="{9D8B030D-6E8A-4147-A177-3AD203B41FA5}">
                          <a16:colId xmlns:a16="http://schemas.microsoft.com/office/drawing/2014/main" val="2365654555"/>
                        </a:ext>
                      </a:extLst>
                    </a:gridCol>
                  </a:tblGrid>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d) </a:t>
                          </a:r>
                          <a14:m>
                            <m:oMath xmlns:m="http://schemas.openxmlformats.org/officeDocument/2006/math">
                              <m:r>
                                <a:rPr lang="en-GB" sz="1200" i="1">
                                  <a:solidFill>
                                    <a:schemeClr val="tx1"/>
                                  </a:solidFill>
                                  <a:latin typeface="Cambria Math" panose="02040503050406030204" pitchFamily="18" charset="0"/>
                                </a:rPr>
                                <m:t>1</m:t>
                              </m:r>
                              <m:r>
                                <a:rPr lang="en-GB" sz="1200" b="0" i="1" smtClean="0">
                                  <a:solidFill>
                                    <a:schemeClr val="tx1"/>
                                  </a:solidFill>
                                  <a:latin typeface="Cambria Math" panose="02040503050406030204" pitchFamily="18" charset="0"/>
                                </a:rPr>
                                <m:t>8</m:t>
                              </m:r>
                              <m:r>
                                <a:rPr lang="en-GB" sz="1200" b="0" i="1" smtClean="0">
                                  <a:solidFill>
                                    <a:schemeClr val="tx1"/>
                                  </a:solidFill>
                                  <a:latin typeface="Cambria Math" panose="02040503050406030204" pitchFamily="18" charset="0"/>
                                  <a:ea typeface="Cambria Math" panose="02040503050406030204" pitchFamily="18" charset="0"/>
                                </a:rPr>
                                <m:t>+4÷2</m:t>
                              </m:r>
                            </m:oMath>
                          </a14:m>
                          <a:endParaRPr 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0197987"/>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e) </a:t>
                          </a:r>
                          <a14:m>
                            <m:oMath xmlns:m="http://schemas.openxmlformats.org/officeDocument/2006/math">
                              <m:r>
                                <a:rPr lang="en-GB" sz="1200" i="1">
                                  <a:latin typeface="Cambria Math" panose="02040503050406030204" pitchFamily="18" charset="0"/>
                                </a:rPr>
                                <m:t>2</m:t>
                              </m:r>
                              <m:r>
                                <a:rPr lang="en-GB" sz="1200" b="0" i="1" smtClean="0">
                                  <a:latin typeface="Cambria Math" panose="02040503050406030204" pitchFamily="18" charset="0"/>
                                </a:rPr>
                                <m:t>0−5</m:t>
                              </m:r>
                              <m:r>
                                <a:rPr lang="en-GB" sz="1200" b="0" i="1" smtClean="0">
                                  <a:latin typeface="Cambria Math" panose="02040503050406030204" pitchFamily="18" charset="0"/>
                                  <a:ea typeface="Cambria Math" panose="02040503050406030204" pitchFamily="18" charset="0"/>
                                </a:rPr>
                                <m:t>×2</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3255221"/>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f) </a:t>
                          </a:r>
                          <a14:m>
                            <m:oMath xmlns:m="http://schemas.openxmlformats.org/officeDocument/2006/math">
                              <m:r>
                                <a:rPr lang="en-GB" sz="1200" i="1" dirty="0" smtClean="0">
                                  <a:latin typeface="Cambria Math" panose="02040503050406030204" pitchFamily="18" charset="0"/>
                                </a:rPr>
                                <m:t>8</m:t>
                              </m:r>
                              <m:r>
                                <a:rPr lang="en-GB" sz="1200" b="0" i="1" dirty="0" smtClean="0">
                                  <a:latin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2×3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8357961"/>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g) </a:t>
                          </a:r>
                          <a14:m>
                            <m:oMath xmlns:m="http://schemas.openxmlformats.org/officeDocument/2006/math">
                              <m:r>
                                <a:rPr lang="en-GB" sz="1200" i="1">
                                  <a:latin typeface="Cambria Math" panose="02040503050406030204" pitchFamily="18" charset="0"/>
                                </a:rPr>
                                <m:t>2</m:t>
                              </m:r>
                              <m:r>
                                <a:rPr lang="en-GB" sz="1200" b="0" i="1" smtClean="0">
                                  <a:latin typeface="Cambria Math" panose="02040503050406030204" pitchFamily="18" charset="0"/>
                                </a:rPr>
                                <m:t>1−9</m:t>
                              </m:r>
                              <m:r>
                                <a:rPr lang="en-GB" sz="1200" i="1">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1914990"/>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h) </a:t>
                          </a:r>
                          <a14:m>
                            <m:oMath xmlns:m="http://schemas.openxmlformats.org/officeDocument/2006/math">
                              <m:r>
                                <a:rPr lang="en-GB" sz="1200" i="1">
                                  <a:latin typeface="Cambria Math" panose="02040503050406030204" pitchFamily="18" charset="0"/>
                                </a:rPr>
                                <m:t>1</m:t>
                              </m:r>
                              <m:r>
                                <a:rPr lang="en-GB" sz="1200" b="0" i="1" smtClean="0">
                                  <a:latin typeface="Cambria Math" panose="02040503050406030204" pitchFamily="18" charset="0"/>
                                </a:rPr>
                                <m:t>00−40</m:t>
                              </m:r>
                              <m:r>
                                <a:rPr lang="en-GB" sz="1200" b="0" i="1" smtClean="0">
                                  <a:latin typeface="Cambria Math" panose="02040503050406030204" pitchFamily="18" charset="0"/>
                                  <a:ea typeface="Cambria Math" panose="02040503050406030204" pitchFamily="18" charset="0"/>
                                </a:rPr>
                                <m:t>×2</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4697511"/>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i) </a:t>
                          </a:r>
                          <a14:m>
                            <m:oMath xmlns:m="http://schemas.openxmlformats.org/officeDocument/2006/math">
                              <m:r>
                                <a:rPr lang="en-GB" sz="1200" i="1">
                                  <a:latin typeface="Cambria Math" panose="02040503050406030204" pitchFamily="18" charset="0"/>
                                </a:rPr>
                                <m:t>1</m:t>
                              </m:r>
                              <m:r>
                                <a:rPr lang="en-GB" sz="1200" b="0" i="1" smtClean="0">
                                  <a:latin typeface="Cambria Math" panose="02040503050406030204" pitchFamily="18" charset="0"/>
                                </a:rPr>
                                <m:t>6</m:t>
                              </m:r>
                              <m:r>
                                <a:rPr lang="en-GB" sz="1200" i="1">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1−3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7316698"/>
                      </a:ext>
                    </a:extLst>
                  </a:tr>
                  <a:tr h="40384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j) </a:t>
                          </a:r>
                          <a14:m>
                            <m:oMath xmlns:m="http://schemas.openxmlformats.org/officeDocument/2006/math">
                              <m:r>
                                <a:rPr lang="en-GB" sz="1200" i="1">
                                  <a:latin typeface="Cambria Math" panose="02040503050406030204" pitchFamily="18" charset="0"/>
                                </a:rPr>
                                <m:t>1</m:t>
                              </m:r>
                              <m:r>
                                <a:rPr lang="en-GB" sz="1200" b="0" i="1" smtClean="0">
                                  <a:latin typeface="Cambria Math" panose="02040503050406030204" pitchFamily="18" charset="0"/>
                                </a:rPr>
                                <m:t>3−7</m:t>
                              </m:r>
                              <m:r>
                                <a:rPr lang="en-GB" sz="1200" i="1">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1</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1493822"/>
                      </a:ext>
                    </a:extLst>
                  </a:tr>
                </a:tbl>
              </a:graphicData>
            </a:graphic>
          </p:graphicFrame>
        </mc:Choice>
        <mc:Fallback xmlns="">
          <p:graphicFrame>
            <p:nvGraphicFramePr>
              <p:cNvPr id="2" name="Table 1">
                <a:extLst>
                  <a:ext uri="{FF2B5EF4-FFF2-40B4-BE49-F238E27FC236}">
                    <a16:creationId xmlns:a16="http://schemas.microsoft.com/office/drawing/2014/main" id="{5DB51928-D9CE-6E7B-BDBE-9AFA05159B87}"/>
                  </a:ext>
                </a:extLst>
              </p:cNvPr>
              <p:cNvGraphicFramePr>
                <a:graphicFrameLocks noGrp="1"/>
              </p:cNvGraphicFramePr>
              <p:nvPr>
                <p:extLst>
                  <p:ext uri="{D42A27DB-BD31-4B8C-83A1-F6EECF244321}">
                    <p14:modId xmlns:p14="http://schemas.microsoft.com/office/powerpoint/2010/main" val="1072558921"/>
                  </p:ext>
                </p:extLst>
              </p:nvPr>
            </p:nvGraphicFramePr>
            <p:xfrm>
              <a:off x="148374" y="6817916"/>
              <a:ext cx="6530772" cy="2826908"/>
            </p:xfrm>
            <a:graphic>
              <a:graphicData uri="http://schemas.openxmlformats.org/drawingml/2006/table">
                <a:tbl>
                  <a:tblPr firstRow="1" bandRow="1">
                    <a:tableStyleId>{5C22544A-7EE6-4342-B048-85BDC9FD1C3A}</a:tableStyleId>
                  </a:tblPr>
                  <a:tblGrid>
                    <a:gridCol w="1605845">
                      <a:extLst>
                        <a:ext uri="{9D8B030D-6E8A-4147-A177-3AD203B41FA5}">
                          <a16:colId xmlns:a16="http://schemas.microsoft.com/office/drawing/2014/main" val="1569077143"/>
                        </a:ext>
                      </a:extLst>
                    </a:gridCol>
                    <a:gridCol w="4924927">
                      <a:extLst>
                        <a:ext uri="{9D8B030D-6E8A-4147-A177-3AD203B41FA5}">
                          <a16:colId xmlns:a16="http://schemas.microsoft.com/office/drawing/2014/main" val="2365654555"/>
                        </a:ext>
                      </a:extLst>
                    </a:gridCol>
                  </a:tblGrid>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79" t="-1515" r="-306818" b="-607576"/>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0197987"/>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79" t="-100000" r="-306818" b="-498507"/>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3255221"/>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79" t="-203030" r="-306818" b="-406061"/>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8357961"/>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79" t="-298507" r="-306818" b="-300000"/>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1914990"/>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79" t="-404545" r="-306818" b="-204545"/>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4697511"/>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79" t="-497015" r="-306818" b="-101493"/>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7316698"/>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79" t="-606061" r="-306818" b="-3030"/>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1493822"/>
                      </a:ext>
                    </a:extLst>
                  </a:tr>
                </a:tbl>
              </a:graphicData>
            </a:graphic>
          </p:graphicFrame>
        </mc:Fallback>
      </mc:AlternateContent>
    </p:spTree>
    <p:extLst>
      <p:ext uri="{BB962C8B-B14F-4D97-AF65-F5344CB8AC3E}">
        <p14:creationId xmlns:p14="http://schemas.microsoft.com/office/powerpoint/2010/main" val="11396796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2" name="Table 51">
                <a:extLst>
                  <a:ext uri="{FF2B5EF4-FFF2-40B4-BE49-F238E27FC236}">
                    <a16:creationId xmlns:a16="http://schemas.microsoft.com/office/drawing/2014/main" id="{423AC783-622E-4CCB-B4F2-2A16C242C5C6}"/>
                  </a:ext>
                </a:extLst>
              </p:cNvPr>
              <p:cNvGraphicFramePr>
                <a:graphicFrameLocks noGrp="1"/>
              </p:cNvGraphicFramePr>
              <p:nvPr/>
            </p:nvGraphicFramePr>
            <p:xfrm>
              <a:off x="157497" y="582880"/>
              <a:ext cx="6572478" cy="2938320"/>
            </p:xfrm>
            <a:graphic>
              <a:graphicData uri="http://schemas.openxmlformats.org/drawingml/2006/table">
                <a:tbl>
                  <a:tblPr firstRow="1" bandRow="1">
                    <a:tableStyleId>{5C22544A-7EE6-4342-B048-85BDC9FD1C3A}</a:tableStyleId>
                  </a:tblPr>
                  <a:tblGrid>
                    <a:gridCol w="1503663">
                      <a:extLst>
                        <a:ext uri="{9D8B030D-6E8A-4147-A177-3AD203B41FA5}">
                          <a16:colId xmlns:a16="http://schemas.microsoft.com/office/drawing/2014/main" val="1568142362"/>
                        </a:ext>
                      </a:extLst>
                    </a:gridCol>
                    <a:gridCol w="1689605">
                      <a:extLst>
                        <a:ext uri="{9D8B030D-6E8A-4147-A177-3AD203B41FA5}">
                          <a16:colId xmlns:a16="http://schemas.microsoft.com/office/drawing/2014/main" val="3551711160"/>
                        </a:ext>
                      </a:extLst>
                    </a:gridCol>
                    <a:gridCol w="1689605">
                      <a:extLst>
                        <a:ext uri="{9D8B030D-6E8A-4147-A177-3AD203B41FA5}">
                          <a16:colId xmlns:a16="http://schemas.microsoft.com/office/drawing/2014/main" val="1712497518"/>
                        </a:ext>
                      </a:extLst>
                    </a:gridCol>
                    <a:gridCol w="1689605">
                      <a:extLst>
                        <a:ext uri="{9D8B030D-6E8A-4147-A177-3AD203B41FA5}">
                          <a16:colId xmlns:a16="http://schemas.microsoft.com/office/drawing/2014/main" val="886122921"/>
                        </a:ext>
                      </a:extLst>
                    </a:gridCol>
                  </a:tblGrid>
                  <a:tr h="255320">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664000">
                    <a:tc>
                      <a:txBody>
                        <a:bodyPr/>
                        <a:lstStyle/>
                        <a:p>
                          <a:pPr marL="0" indent="0">
                            <a:buNone/>
                          </a:pPr>
                          <a:r>
                            <a:rPr lang="en-US" sz="1200" dirty="0">
                              <a:solidFill>
                                <a:schemeClr val="tx1"/>
                              </a:solidFill>
                            </a:rPr>
                            <a:t>1) Determine which operations are in the question.</a:t>
                          </a:r>
                          <a:br>
                            <a:rPr lang="en-US" sz="1200" dirty="0">
                              <a:solidFill>
                                <a:schemeClr val="tx1"/>
                              </a:solidFill>
                            </a:rPr>
                          </a:br>
                          <a:endParaRPr lang="en-US" sz="120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2) Determine the correct order to perform the calculation. </a:t>
                          </a:r>
                          <a:r>
                            <a:rPr lang="en-US" sz="1200" dirty="0">
                              <a:solidFill>
                                <a:schemeClr val="tx1"/>
                              </a:solidFill>
                            </a:rPr>
                            <a:t>(powers and roots, then </a:t>
                          </a:r>
                          <a14:m>
                            <m:oMath xmlns:m="http://schemas.openxmlformats.org/officeDocument/2006/math">
                              <m:r>
                                <a:rPr lang="en-GB" sz="1200" b="0" i="1" smtClean="0">
                                  <a:solidFill>
                                    <a:schemeClr val="tx1"/>
                                  </a:solidFill>
                                  <a:latin typeface="Cambria Math" panose="02040503050406030204" pitchFamily="18" charset="0"/>
                                </a:rPr>
                                <m:t>×</m:t>
                              </m:r>
                            </m:oMath>
                          </a14:m>
                          <a:r>
                            <a:rPr lang="en-US" sz="1200" dirty="0">
                              <a:solidFill>
                                <a:schemeClr val="tx1"/>
                              </a:solidFill>
                            </a:rPr>
                            <a:t> and </a:t>
                          </a:r>
                          <a14:m>
                            <m:oMath xmlns:m="http://schemas.openxmlformats.org/officeDocument/2006/math">
                              <m:r>
                                <a:rPr lang="en-GB" sz="1200" b="0" i="1" smtClean="0">
                                  <a:solidFill>
                                    <a:schemeClr val="tx1"/>
                                  </a:solidFill>
                                  <a:latin typeface="Cambria Math" panose="02040503050406030204" pitchFamily="18" charset="0"/>
                                </a:rPr>
                                <m:t>÷, </m:t>
                              </m:r>
                            </m:oMath>
                          </a14:m>
                          <a:r>
                            <a:rPr lang="en-US" sz="1200" dirty="0">
                              <a:solidFill>
                                <a:schemeClr val="tx1"/>
                              </a:solidFill>
                            </a:rPr>
                            <a:t> </a:t>
                          </a:r>
                          <a:r>
                            <a:rPr lang="en-US" sz="1200" baseline="0" dirty="0">
                              <a:solidFill>
                                <a:schemeClr val="tx1"/>
                              </a:solidFill>
                            </a:rPr>
                            <a:t>then </a:t>
                          </a:r>
                          <a14:m>
                            <m:oMath xmlns:m="http://schemas.openxmlformats.org/officeDocument/2006/math">
                              <m:r>
                                <a:rPr lang="en-US" sz="1200" i="1" baseline="0" dirty="0" smtClean="0">
                                  <a:solidFill>
                                    <a:schemeClr val="tx1"/>
                                  </a:solidFill>
                                  <a:latin typeface="Cambria Math" panose="02040503050406030204" pitchFamily="18" charset="0"/>
                                </a:rPr>
                                <m:t>+</m:t>
                              </m:r>
                            </m:oMath>
                          </a14:m>
                          <a:r>
                            <a:rPr lang="en-US" sz="1200" baseline="0" dirty="0">
                              <a:solidFill>
                                <a:schemeClr val="tx1"/>
                              </a:solidFill>
                            </a:rPr>
                            <a:t> and </a:t>
                          </a:r>
                          <a14:m>
                            <m:oMath xmlns:m="http://schemas.openxmlformats.org/officeDocument/2006/math">
                              <m:r>
                                <a:rPr lang="en-US" sz="1200" i="1" baseline="0" dirty="0" smtClean="0">
                                  <a:solidFill>
                                    <a:schemeClr val="tx1"/>
                                  </a:solidFill>
                                  <a:latin typeface="Cambria Math" panose="02040503050406030204" pitchFamily="18" charset="0"/>
                                </a:rPr>
                                <m:t>−</m:t>
                              </m:r>
                            </m:oMath>
                          </a14:m>
                          <a:r>
                            <a:rPr lang="en-US" sz="1200" baseline="0" dirty="0">
                              <a:solidFill>
                                <a:schemeClr val="tx1"/>
                              </a:solidFill>
                            </a:rPr>
                            <a:t>).</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6−</m:t>
                                </m:r>
                                <m:sSup>
                                  <m:sSupPr>
                                    <m:ctrlPr>
                                      <a:rPr lang="en-GB"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2</m:t>
                                    </m:r>
                                  </m:e>
                                  <m:sup>
                                    <m:r>
                                      <a:rPr lang="en-GB" sz="1200" b="0" i="1" baseline="0" smtClean="0">
                                        <a:solidFill>
                                          <a:schemeClr val="tx1"/>
                                        </a:solidFill>
                                        <a:latin typeface="Cambria Math" panose="02040503050406030204" pitchFamily="18" charset="0"/>
                                      </a:rPr>
                                      <m:t>2</m:t>
                                    </m:r>
                                  </m:sup>
                                </m:sSup>
                              </m:oMath>
                            </m:oMathPara>
                          </a14:m>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7 − </m:t>
                                </m:r>
                                <m:rad>
                                  <m:radPr>
                                    <m:degHide m:val="on"/>
                                    <m:ctrlPr>
                                      <a:rPr lang="en-GB" sz="1200" b="0" i="1" baseline="0" smtClean="0">
                                        <a:solidFill>
                                          <a:schemeClr val="tx1"/>
                                        </a:solidFill>
                                        <a:latin typeface="Cambria Math" panose="02040503050406030204" pitchFamily="18" charset="0"/>
                                      </a:rPr>
                                    </m:ctrlPr>
                                  </m:radPr>
                                  <m:deg/>
                                  <m:e>
                                    <m:r>
                                      <a:rPr lang="en-GB" sz="1200" b="0" i="1" baseline="0" smtClean="0">
                                        <a:solidFill>
                                          <a:schemeClr val="tx1"/>
                                        </a:solidFill>
                                        <a:latin typeface="Cambria Math" panose="02040503050406030204" pitchFamily="18" charset="0"/>
                                      </a:rPr>
                                      <m:t>4</m:t>
                                    </m:r>
                                  </m:e>
                                </m:rad>
                              </m:oMath>
                            </m:oMathPara>
                          </a14:m>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pPr/>
                          <a14:m>
                            <m:oMathPara xmlns:m="http://schemas.openxmlformats.org/officeDocument/2006/math">
                              <m:oMathParaPr>
                                <m:jc m:val="centerGroup"/>
                              </m:oMathParaPr>
                              <m:oMath xmlns:m="http://schemas.openxmlformats.org/officeDocument/2006/math">
                                <m:rad>
                                  <m:radPr>
                                    <m:degHide m:val="on"/>
                                    <m:ctrlPr>
                                      <a:rPr lang="en-US" sz="1200" i="1" baseline="0" smtClean="0">
                                        <a:solidFill>
                                          <a:schemeClr val="tx1"/>
                                        </a:solidFill>
                                        <a:latin typeface="Cambria Math" panose="02040503050406030204" pitchFamily="18" charset="0"/>
                                      </a:rPr>
                                    </m:ctrlPr>
                                  </m:radPr>
                                  <m:deg/>
                                  <m:e>
                                    <m:r>
                                      <a:rPr lang="en-GB" sz="1200" b="0" i="1" baseline="0" smtClean="0">
                                        <a:solidFill>
                                          <a:schemeClr val="tx1"/>
                                        </a:solidFill>
                                        <a:latin typeface="Cambria Math" panose="02040503050406030204" pitchFamily="18" charset="0"/>
                                      </a:rPr>
                                      <m:t>19+6</m:t>
                                    </m:r>
                                  </m:e>
                                </m:rad>
                              </m:oMath>
                            </m:oMathPara>
                          </a14:m>
                          <a:endParaRPr lang="en-US" sz="1200" baseline="0" dirty="0">
                            <a:solidFill>
                              <a:schemeClr val="tx1"/>
                            </a:solidFill>
                          </a:endParaRP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7+</m:t>
                                </m:r>
                                <m:sSup>
                                  <m:sSupPr>
                                    <m:ctrlPr>
                                      <a:rPr lang="en-GB"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3</m:t>
                                    </m:r>
                                  </m:e>
                                  <m:sup>
                                    <m:r>
                                      <a:rPr lang="en-GB" sz="1200" b="0" i="1" baseline="0" smtClean="0">
                                        <a:solidFill>
                                          <a:schemeClr val="tx1"/>
                                        </a:solidFill>
                                        <a:latin typeface="Cambria Math" panose="02040503050406030204" pitchFamily="18" charset="0"/>
                                      </a:rPr>
                                      <m:t>3</m:t>
                                    </m:r>
                                  </m:sup>
                                </m:sSup>
                              </m:oMath>
                            </m:oMathPara>
                          </a14:m>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ad>
                                  <m:radPr>
                                    <m:degHide m:val="on"/>
                                    <m:ctrlPr>
                                      <a:rPr lang="en-GB" sz="1200" b="0" i="1" baseline="0" dirty="0" smtClean="0">
                                        <a:solidFill>
                                          <a:schemeClr val="tx1"/>
                                        </a:solidFill>
                                        <a:latin typeface="Cambria Math" panose="02040503050406030204" pitchFamily="18" charset="0"/>
                                      </a:rPr>
                                    </m:ctrlPr>
                                  </m:radPr>
                                  <m:deg/>
                                  <m:e>
                                    <m:r>
                                      <a:rPr lang="en-GB" sz="1200" b="0" i="1" baseline="0" dirty="0" smtClean="0">
                                        <a:solidFill>
                                          <a:schemeClr val="tx1"/>
                                        </a:solidFill>
                                        <a:latin typeface="Cambria Math" panose="02040503050406030204" pitchFamily="18" charset="0"/>
                                      </a:rPr>
                                      <m:t>4</m:t>
                                    </m:r>
                                  </m:e>
                                </m:rad>
                                <m:r>
                                  <a:rPr lang="en-GB" sz="1200" b="0" i="1" baseline="0" smtClean="0">
                                    <a:solidFill>
                                      <a:schemeClr val="tx1"/>
                                    </a:solidFill>
                                    <a:latin typeface="Cambria Math" panose="02040503050406030204" pitchFamily="18" charset="0"/>
                                  </a:rPr>
                                  <m:t>+12</m:t>
                                </m:r>
                              </m:oMath>
                            </m:oMathPara>
                          </a14:m>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pPr/>
                          <a14:m>
                            <m:oMathPara xmlns:m="http://schemas.openxmlformats.org/officeDocument/2006/math">
                              <m:oMathParaPr>
                                <m:jc m:val="centerGroup"/>
                              </m:oMathParaPr>
                              <m:oMath xmlns:m="http://schemas.openxmlformats.org/officeDocument/2006/math">
                                <m:rad>
                                  <m:radPr>
                                    <m:ctrlPr>
                                      <a:rPr lang="en-GB" sz="1200" b="0" i="1" baseline="0" smtClean="0">
                                        <a:solidFill>
                                          <a:schemeClr val="tx1"/>
                                        </a:solidFill>
                                        <a:latin typeface="Cambria Math" panose="02040503050406030204" pitchFamily="18" charset="0"/>
                                      </a:rPr>
                                    </m:ctrlPr>
                                  </m:radPr>
                                  <m:deg>
                                    <m:r>
                                      <a:rPr lang="en-GB" sz="1200" b="0" i="1" baseline="0" smtClean="0">
                                        <a:solidFill>
                                          <a:schemeClr val="tx1"/>
                                        </a:solidFill>
                                        <a:latin typeface="Cambria Math" panose="02040503050406030204" pitchFamily="18" charset="0"/>
                                      </a:rPr>
                                      <m:t>3</m:t>
                                    </m:r>
                                  </m:deg>
                                  <m:e>
                                    <m:r>
                                      <a:rPr lang="en-GB" sz="1200" b="0" i="1" baseline="0" smtClean="0">
                                        <a:solidFill>
                                          <a:schemeClr val="tx1"/>
                                        </a:solidFill>
                                        <a:latin typeface="Cambria Math" panose="02040503050406030204" pitchFamily="18" charset="0"/>
                                      </a:rPr>
                                      <m:t>27</m:t>
                                    </m:r>
                                  </m:e>
                                </m:rad>
                                <m:r>
                                  <a:rPr lang="en-GB" sz="1200" b="0" i="1" baseline="0" smtClean="0">
                                    <a:solidFill>
                                      <a:schemeClr val="tx1"/>
                                    </a:solidFill>
                                    <a:latin typeface="Cambria Math" panose="02040503050406030204" pitchFamily="18" charset="0"/>
                                  </a:rPr>
                                  <m:t>+</m:t>
                                </m:r>
                                <m:sSup>
                                  <m:sSupPr>
                                    <m:ctrlPr>
                                      <a:rPr lang="en-GB"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4</m:t>
                                    </m:r>
                                  </m:e>
                                  <m:sup>
                                    <m:r>
                                      <a:rPr lang="en-GB" sz="1200" b="0" i="1" baseline="0" smtClean="0">
                                        <a:solidFill>
                                          <a:schemeClr val="tx1"/>
                                        </a:solidFill>
                                        <a:latin typeface="Cambria Math" panose="02040503050406030204" pitchFamily="18" charset="0"/>
                                      </a:rPr>
                                      <m:t>2</m:t>
                                    </m:r>
                                  </m:sup>
                                </m:sSup>
                              </m:oMath>
                            </m:oMathPara>
                          </a14:m>
                          <a:endParaRPr lang="en-US" sz="1200" baseline="0" dirty="0">
                            <a:solidFill>
                              <a:schemeClr val="tx1"/>
                            </a:solidFill>
                          </a:endParaRP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8−</m:t>
                                </m:r>
                                <m:sSup>
                                  <m:sSupPr>
                                    <m:ctrlPr>
                                      <a:rPr lang="en-GB"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2</m:t>
                                    </m:r>
                                  </m:e>
                                  <m:sup>
                                    <m:r>
                                      <a:rPr lang="en-GB" sz="1200" b="0" i="1" baseline="0" smtClean="0">
                                        <a:solidFill>
                                          <a:schemeClr val="tx1"/>
                                        </a:solidFill>
                                        <a:latin typeface="Cambria Math" panose="02040503050406030204" pitchFamily="18" charset="0"/>
                                      </a:rPr>
                                      <m:t>2</m:t>
                                    </m:r>
                                  </m:sup>
                                </m:sSup>
                              </m:oMath>
                            </m:oMathPara>
                          </a14:m>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15 − </m:t>
                                </m:r>
                                <m:rad>
                                  <m:radPr>
                                    <m:ctrlPr>
                                      <a:rPr lang="en-GB" sz="1200" b="0" i="1" baseline="0" smtClean="0">
                                        <a:solidFill>
                                          <a:schemeClr val="tx1"/>
                                        </a:solidFill>
                                        <a:latin typeface="Cambria Math" panose="02040503050406030204" pitchFamily="18" charset="0"/>
                                      </a:rPr>
                                    </m:ctrlPr>
                                  </m:radPr>
                                  <m:deg>
                                    <m:r>
                                      <a:rPr lang="en-GB" sz="1200" b="0" i="1" baseline="0" smtClean="0">
                                        <a:solidFill>
                                          <a:schemeClr val="tx1"/>
                                        </a:solidFill>
                                        <a:latin typeface="Cambria Math" panose="02040503050406030204" pitchFamily="18" charset="0"/>
                                      </a:rPr>
                                      <m:t>3</m:t>
                                    </m:r>
                                  </m:deg>
                                  <m:e>
                                    <m:r>
                                      <a:rPr lang="en-GB" sz="1200" b="0" i="1" baseline="0" smtClean="0">
                                        <a:solidFill>
                                          <a:schemeClr val="tx1"/>
                                        </a:solidFill>
                                        <a:latin typeface="Cambria Math" panose="02040503050406030204" pitchFamily="18" charset="0"/>
                                      </a:rPr>
                                      <m:t>27</m:t>
                                    </m:r>
                                  </m:e>
                                </m:rad>
                              </m:oMath>
                            </m:oMathPara>
                          </a14:m>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pPr/>
                          <a14:m>
                            <m:oMathPara xmlns:m="http://schemas.openxmlformats.org/officeDocument/2006/math">
                              <m:oMathParaPr>
                                <m:jc m:val="centerGroup"/>
                              </m:oMathParaPr>
                              <m:oMath xmlns:m="http://schemas.openxmlformats.org/officeDocument/2006/math">
                                <m:rad>
                                  <m:radPr>
                                    <m:degHide m:val="on"/>
                                    <m:ctrlPr>
                                      <a:rPr lang="en-US" sz="1200" i="1" baseline="0" smtClean="0">
                                        <a:solidFill>
                                          <a:schemeClr val="tx1"/>
                                        </a:solidFill>
                                        <a:latin typeface="Cambria Math" panose="02040503050406030204" pitchFamily="18" charset="0"/>
                                      </a:rPr>
                                    </m:ctrlPr>
                                  </m:radPr>
                                  <m:deg/>
                                  <m:e>
                                    <m:r>
                                      <a:rPr lang="en-GB" sz="1200" b="0" i="1" baseline="0" smtClean="0">
                                        <a:solidFill>
                                          <a:schemeClr val="tx1"/>
                                        </a:solidFill>
                                        <a:latin typeface="Cambria Math" panose="02040503050406030204" pitchFamily="18" charset="0"/>
                                      </a:rPr>
                                      <m:t>100</m:t>
                                    </m:r>
                                  </m:e>
                                </m:rad>
                                <m:r>
                                  <a:rPr lang="en-GB" sz="1200" b="0" i="1" baseline="0" smtClean="0">
                                    <a:solidFill>
                                      <a:schemeClr val="tx1"/>
                                    </a:solidFill>
                                    <a:latin typeface="Cambria Math" panose="02040503050406030204" pitchFamily="18" charset="0"/>
                                  </a:rPr>
                                  <m:t>−</m:t>
                                </m:r>
                                <m:rad>
                                  <m:radPr>
                                    <m:degHide m:val="on"/>
                                    <m:ctrlPr>
                                      <a:rPr lang="en-GB" sz="1200" b="0" i="1" baseline="0" smtClean="0">
                                        <a:solidFill>
                                          <a:schemeClr val="tx1"/>
                                        </a:solidFill>
                                        <a:latin typeface="Cambria Math" panose="02040503050406030204" pitchFamily="18" charset="0"/>
                                      </a:rPr>
                                    </m:ctrlPr>
                                  </m:radPr>
                                  <m:deg/>
                                  <m:e>
                                    <m:r>
                                      <a:rPr lang="en-GB" sz="1200" b="0" i="1" baseline="0" smtClean="0">
                                        <a:solidFill>
                                          <a:schemeClr val="tx1"/>
                                        </a:solidFill>
                                        <a:latin typeface="Cambria Math" panose="02040503050406030204" pitchFamily="18" charset="0"/>
                                      </a:rPr>
                                      <m:t>64</m:t>
                                    </m:r>
                                  </m:e>
                                </m:rad>
                              </m:oMath>
                            </m:oMathPara>
                          </a14:m>
                          <a:endParaRPr lang="en-US" sz="1200" baseline="0" dirty="0">
                            <a:solidFill>
                              <a:schemeClr val="tx1"/>
                            </a:solidFill>
                          </a:endParaRP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52" name="Table 51">
                <a:extLst>
                  <a:ext uri="{FF2B5EF4-FFF2-40B4-BE49-F238E27FC236}">
                    <a16:creationId xmlns:a16="http://schemas.microsoft.com/office/drawing/2014/main" id="{423AC783-622E-4CCB-B4F2-2A16C242C5C6}"/>
                  </a:ext>
                </a:extLst>
              </p:cNvPr>
              <p:cNvGraphicFramePr>
                <a:graphicFrameLocks noGrp="1"/>
              </p:cNvGraphicFramePr>
              <p:nvPr/>
            </p:nvGraphicFramePr>
            <p:xfrm>
              <a:off x="157497" y="582880"/>
              <a:ext cx="6572478" cy="2938320"/>
            </p:xfrm>
            <a:graphic>
              <a:graphicData uri="http://schemas.openxmlformats.org/drawingml/2006/table">
                <a:tbl>
                  <a:tblPr firstRow="1" bandRow="1">
                    <a:tableStyleId>{5C22544A-7EE6-4342-B048-85BDC9FD1C3A}</a:tableStyleId>
                  </a:tblPr>
                  <a:tblGrid>
                    <a:gridCol w="1503663">
                      <a:extLst>
                        <a:ext uri="{9D8B030D-6E8A-4147-A177-3AD203B41FA5}">
                          <a16:colId xmlns:a16="http://schemas.microsoft.com/office/drawing/2014/main" val="1568142362"/>
                        </a:ext>
                      </a:extLst>
                    </a:gridCol>
                    <a:gridCol w="1689605">
                      <a:extLst>
                        <a:ext uri="{9D8B030D-6E8A-4147-A177-3AD203B41FA5}">
                          <a16:colId xmlns:a16="http://schemas.microsoft.com/office/drawing/2014/main" val="3551711160"/>
                        </a:ext>
                      </a:extLst>
                    </a:gridCol>
                    <a:gridCol w="1689605">
                      <a:extLst>
                        <a:ext uri="{9D8B030D-6E8A-4147-A177-3AD203B41FA5}">
                          <a16:colId xmlns:a16="http://schemas.microsoft.com/office/drawing/2014/main" val="1712497518"/>
                        </a:ext>
                      </a:extLst>
                    </a:gridCol>
                    <a:gridCol w="1689605">
                      <a:extLst>
                        <a:ext uri="{9D8B030D-6E8A-4147-A177-3AD203B41FA5}">
                          <a16:colId xmlns:a16="http://schemas.microsoft.com/office/drawing/2014/main" val="886122921"/>
                        </a:ext>
                      </a:extLst>
                    </a:gridCol>
                  </a:tblGrid>
                  <a:tr h="274320">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664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 t="-10502" r="-338057" b="-4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9531" t="-10502" r="-201444" b="-4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8849" t="-10502" r="-100719" b="-4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9892" t="-10502" r="-1083" b="-457"/>
                          </a:stretch>
                        </a:blipFill>
                      </a:tcPr>
                    </a:tc>
                    <a:extLst>
                      <a:ext uri="{0D108BD9-81ED-4DB2-BD59-A6C34878D82A}">
                        <a16:rowId xmlns:a16="http://schemas.microsoft.com/office/drawing/2014/main" val="3293625240"/>
                      </a:ext>
                    </a:extLst>
                  </a:tr>
                </a:tbl>
              </a:graphicData>
            </a:graphic>
          </p:graphicFrame>
        </mc:Fallback>
      </mc:AlternateContent>
      <p:sp>
        <p:nvSpPr>
          <p:cNvPr id="53" name="TextBox 52">
            <a:extLst>
              <a:ext uri="{FF2B5EF4-FFF2-40B4-BE49-F238E27FC236}">
                <a16:creationId xmlns:a16="http://schemas.microsoft.com/office/drawing/2014/main" id="{780CCECA-E6CB-4927-9608-A72B4063B721}"/>
              </a:ext>
            </a:extLst>
          </p:cNvPr>
          <p:cNvSpPr txBox="1"/>
          <p:nvPr/>
        </p:nvSpPr>
        <p:spPr>
          <a:xfrm>
            <a:off x="1879829" y="352700"/>
            <a:ext cx="1410704" cy="276999"/>
          </a:xfrm>
          <a:prstGeom prst="rect">
            <a:avLst/>
          </a:prstGeom>
          <a:noFill/>
          <a:ln>
            <a:noFill/>
          </a:ln>
        </p:spPr>
        <p:txBody>
          <a:bodyPr wrap="square" rtlCol="0">
            <a:spAutoFit/>
          </a:bodyPr>
          <a:lstStyle/>
          <a:p>
            <a:r>
              <a:rPr lang="en-GB" sz="1200" b="1" i="1" dirty="0">
                <a:solidFill>
                  <a:srgbClr val="FF0000"/>
                </a:solidFill>
              </a:rPr>
              <a:t>Example 7 - I do…</a:t>
            </a:r>
          </a:p>
        </p:txBody>
      </p:sp>
      <p:sp>
        <p:nvSpPr>
          <p:cNvPr id="54" name="TextBox 53">
            <a:extLst>
              <a:ext uri="{FF2B5EF4-FFF2-40B4-BE49-F238E27FC236}">
                <a16:creationId xmlns:a16="http://schemas.microsoft.com/office/drawing/2014/main" id="{634818ED-A7CC-4248-97CB-0050B89FEEEB}"/>
              </a:ext>
            </a:extLst>
          </p:cNvPr>
          <p:cNvSpPr txBox="1"/>
          <p:nvPr/>
        </p:nvSpPr>
        <p:spPr>
          <a:xfrm>
            <a:off x="5176849" y="335199"/>
            <a:ext cx="1643405" cy="276999"/>
          </a:xfrm>
          <a:prstGeom prst="rect">
            <a:avLst/>
          </a:prstGeom>
          <a:noFill/>
          <a:ln>
            <a:noFill/>
          </a:ln>
        </p:spPr>
        <p:txBody>
          <a:bodyPr wrap="square" rtlCol="0">
            <a:spAutoFit/>
          </a:bodyPr>
          <a:lstStyle/>
          <a:p>
            <a:r>
              <a:rPr lang="en-GB" sz="1200" b="1" i="1" dirty="0">
                <a:solidFill>
                  <a:srgbClr val="00B050"/>
                </a:solidFill>
              </a:rPr>
              <a:t>Example 9 – You do…</a:t>
            </a:r>
          </a:p>
        </p:txBody>
      </p:sp>
      <p:sp>
        <p:nvSpPr>
          <p:cNvPr id="55" name="TextBox 54">
            <a:extLst>
              <a:ext uri="{FF2B5EF4-FFF2-40B4-BE49-F238E27FC236}">
                <a16:creationId xmlns:a16="http://schemas.microsoft.com/office/drawing/2014/main" id="{CE1748DB-52A0-44FA-B26B-61E1A05803B5}"/>
              </a:ext>
            </a:extLst>
          </p:cNvPr>
          <p:cNvSpPr txBox="1"/>
          <p:nvPr/>
        </p:nvSpPr>
        <p:spPr>
          <a:xfrm>
            <a:off x="3471091" y="334036"/>
            <a:ext cx="1643405" cy="276999"/>
          </a:xfrm>
          <a:prstGeom prst="rect">
            <a:avLst/>
          </a:prstGeom>
          <a:noFill/>
          <a:ln>
            <a:noFill/>
          </a:ln>
        </p:spPr>
        <p:txBody>
          <a:bodyPr wrap="square" rtlCol="0">
            <a:spAutoFit/>
          </a:bodyPr>
          <a:lstStyle/>
          <a:p>
            <a:r>
              <a:rPr lang="en-GB" sz="1200" b="1" i="1" dirty="0">
                <a:solidFill>
                  <a:schemeClr val="accent2"/>
                </a:solidFill>
              </a:rPr>
              <a:t>Example 8 – We do…</a:t>
            </a:r>
          </a:p>
        </p:txBody>
      </p:sp>
      <p:sp>
        <p:nvSpPr>
          <p:cNvPr id="56" name="Rectangle 55">
            <a:extLst>
              <a:ext uri="{FF2B5EF4-FFF2-40B4-BE49-F238E27FC236}">
                <a16:creationId xmlns:a16="http://schemas.microsoft.com/office/drawing/2014/main" id="{A3DD47CE-AC22-4556-864E-1AFF22277A95}"/>
              </a:ext>
            </a:extLst>
          </p:cNvPr>
          <p:cNvSpPr/>
          <p:nvPr/>
        </p:nvSpPr>
        <p:spPr>
          <a:xfrm>
            <a:off x="140652" y="3562239"/>
            <a:ext cx="1581467" cy="277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mc:AlternateContent xmlns:mc="http://schemas.openxmlformats.org/markup-compatibility/2006" xmlns:a14="http://schemas.microsoft.com/office/drawing/2010/main">
        <mc:Choice Requires="a14">
          <p:graphicFrame>
            <p:nvGraphicFramePr>
              <p:cNvPr id="122" name="Table 122">
                <a:extLst>
                  <a:ext uri="{FF2B5EF4-FFF2-40B4-BE49-F238E27FC236}">
                    <a16:creationId xmlns:a16="http://schemas.microsoft.com/office/drawing/2014/main" id="{D0F1C308-A334-EB7B-6B4F-BD81F34A3D54}"/>
                  </a:ext>
                </a:extLst>
              </p:cNvPr>
              <p:cNvGraphicFramePr>
                <a:graphicFrameLocks noGrp="1"/>
              </p:cNvGraphicFramePr>
              <p:nvPr>
                <p:extLst>
                  <p:ext uri="{D42A27DB-BD31-4B8C-83A1-F6EECF244321}">
                    <p14:modId xmlns:p14="http://schemas.microsoft.com/office/powerpoint/2010/main" val="1546606025"/>
                  </p:ext>
                </p:extLst>
              </p:nvPr>
            </p:nvGraphicFramePr>
            <p:xfrm>
              <a:off x="140652" y="3895518"/>
              <a:ext cx="6589323" cy="4724400"/>
            </p:xfrm>
            <a:graphic>
              <a:graphicData uri="http://schemas.openxmlformats.org/drawingml/2006/table">
                <a:tbl>
                  <a:tblPr firstRow="1" bandRow="1">
                    <a:tableStyleId>{5C22544A-7EE6-4342-B048-85BDC9FD1C3A}</a:tableStyleId>
                  </a:tblPr>
                  <a:tblGrid>
                    <a:gridCol w="1523862">
                      <a:extLst>
                        <a:ext uri="{9D8B030D-6E8A-4147-A177-3AD203B41FA5}">
                          <a16:colId xmlns:a16="http://schemas.microsoft.com/office/drawing/2014/main" val="3768416857"/>
                        </a:ext>
                      </a:extLst>
                    </a:gridCol>
                    <a:gridCol w="5065461">
                      <a:extLst>
                        <a:ext uri="{9D8B030D-6E8A-4147-A177-3AD203B41FA5}">
                          <a16:colId xmlns:a16="http://schemas.microsoft.com/office/drawing/2014/main" val="995409048"/>
                        </a:ext>
                      </a:extLst>
                    </a:gridCol>
                  </a:tblGrid>
                  <a:tr h="262478">
                    <a:tc>
                      <a:txBody>
                        <a:bodyPr/>
                        <a:lstStyle/>
                        <a:p>
                          <a:pPr algn="ctr"/>
                          <a:r>
                            <a:rPr lang="en-GB" sz="1200" b="1" dirty="0">
                              <a:solidFill>
                                <a:schemeClr val="tx1"/>
                              </a:solidFill>
                            </a:rPr>
                            <a:t>Question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1" dirty="0">
                              <a:solidFill>
                                <a:schemeClr val="tx1"/>
                              </a:solidFill>
                            </a:rPr>
                            <a:t>Answer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590762"/>
                      </a:ext>
                    </a:extLst>
                  </a:tr>
                  <a:tr h="370840">
                    <a:tc>
                      <a:txBody>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5−</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2</m:t>
                                    </m:r>
                                  </m:e>
                                  <m:sup>
                                    <m:r>
                                      <a:rPr lang="en-GB" sz="1200" b="0" i="1" smtClean="0">
                                        <a:latin typeface="Cambria Math" panose="02040503050406030204" pitchFamily="18" charset="0"/>
                                      </a:rPr>
                                      <m:t>2</m:t>
                                    </m:r>
                                  </m:sup>
                                </m:sSup>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8035460"/>
                      </a:ext>
                    </a:extLst>
                  </a:tr>
                  <a:tr h="370840">
                    <a:tc>
                      <a:txBody>
                        <a:bodyPr/>
                        <a:lstStyle/>
                        <a:p>
                          <a:pPr/>
                          <a14:m>
                            <m:oMathPara xmlns:m="http://schemas.openxmlformats.org/officeDocument/2006/math">
                              <m:oMathParaPr>
                                <m:jc m:val="centerGroup"/>
                              </m:oMathParaPr>
                              <m:oMath xmlns:m="http://schemas.openxmlformats.org/officeDocument/2006/math">
                                <m:r>
                                  <a:rPr lang="en-GB" sz="1200" i="1" smtClean="0">
                                    <a:latin typeface="Cambria Math" panose="02040503050406030204" pitchFamily="18" charset="0"/>
                                  </a:rPr>
                                  <m:t>7</m:t>
                                </m:r>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3</m:t>
                                    </m:r>
                                  </m:e>
                                  <m:sup>
                                    <m:r>
                                      <a:rPr lang="en-GB" sz="1200" b="0" i="1" smtClean="0">
                                        <a:latin typeface="Cambria Math" panose="02040503050406030204" pitchFamily="18" charset="0"/>
                                      </a:rPr>
                                      <m:t>2</m:t>
                                    </m:r>
                                  </m:sup>
                                </m:sSup>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53345312"/>
                      </a:ext>
                    </a:extLst>
                  </a:tr>
                  <a:tr h="370840">
                    <a:tc>
                      <a:txBody>
                        <a:bodyPr/>
                        <a:lstStyle/>
                        <a:p>
                          <a:pPr/>
                          <a14:m>
                            <m:oMathPara xmlns:m="http://schemas.openxmlformats.org/officeDocument/2006/math">
                              <m:oMathParaPr>
                                <m:jc m:val="centerGroup"/>
                              </m:oMathParaPr>
                              <m:oMath xmlns:m="http://schemas.openxmlformats.org/officeDocument/2006/math">
                                <m:sSup>
                                  <m:sSupPr>
                                    <m:ctrlPr>
                                      <a:rPr lang="en-GB" sz="1200" i="1" smtClean="0">
                                        <a:latin typeface="Cambria Math" panose="02040503050406030204" pitchFamily="18" charset="0"/>
                                      </a:rPr>
                                    </m:ctrlPr>
                                  </m:sSupPr>
                                  <m:e>
                                    <m:r>
                                      <a:rPr lang="en-GB" sz="1200" b="0" i="1" smtClean="0">
                                        <a:latin typeface="Cambria Math" panose="02040503050406030204" pitchFamily="18" charset="0"/>
                                      </a:rPr>
                                      <m:t>9</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+1</m:t>
                                </m:r>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279835"/>
                      </a:ext>
                    </a:extLst>
                  </a:tr>
                  <a:tr h="370840">
                    <a:tc>
                      <a:txBody>
                        <a:bodyPr/>
                        <a:lstStyle/>
                        <a:p>
                          <a:pPr/>
                          <a14:m>
                            <m:oMathPara xmlns:m="http://schemas.openxmlformats.org/officeDocument/2006/math">
                              <m:oMathParaPr>
                                <m:jc m:val="centerGroup"/>
                              </m:oMathParaPr>
                              <m:oMath xmlns:m="http://schemas.openxmlformats.org/officeDocument/2006/math">
                                <m:sSup>
                                  <m:sSupPr>
                                    <m:ctrlPr>
                                      <a:rPr lang="en-GB" sz="1200" i="1" smtClean="0">
                                        <a:latin typeface="Cambria Math" panose="02040503050406030204" pitchFamily="18" charset="0"/>
                                      </a:rPr>
                                    </m:ctrlPr>
                                  </m:sSupPr>
                                  <m:e>
                                    <m:r>
                                      <a:rPr lang="en-GB" sz="1200" b="0" i="1" smtClean="0">
                                        <a:latin typeface="Cambria Math" panose="02040503050406030204" pitchFamily="18" charset="0"/>
                                      </a:rPr>
                                      <m:t>6</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m:t>
                                </m:r>
                                <m:sSup>
                                  <m:sSupPr>
                                    <m:ctrlPr>
                                      <a:rPr lang="en-GB" sz="1200" b="0" i="1" smtClean="0">
                                        <a:latin typeface="Cambria Math" panose="02040503050406030204" pitchFamily="18" charset="0"/>
                                        <a:ea typeface="Cambria Math" panose="02040503050406030204" pitchFamily="18" charset="0"/>
                                      </a:rPr>
                                    </m:ctrlPr>
                                  </m:sSupPr>
                                  <m:e>
                                    <m:r>
                                      <a:rPr lang="en-GB" sz="1200" b="0" i="1" smtClean="0">
                                        <a:latin typeface="Cambria Math" panose="02040503050406030204" pitchFamily="18" charset="0"/>
                                        <a:ea typeface="Cambria Math" panose="02040503050406030204" pitchFamily="18" charset="0"/>
                                      </a:rPr>
                                      <m:t>5</m:t>
                                    </m:r>
                                  </m:e>
                                  <m:sup>
                                    <m:r>
                                      <a:rPr lang="en-GB" sz="1200" b="0" i="1" smtClean="0">
                                        <a:latin typeface="Cambria Math" panose="02040503050406030204" pitchFamily="18" charset="0"/>
                                        <a:ea typeface="Cambria Math" panose="02040503050406030204" pitchFamily="18" charset="0"/>
                                      </a:rPr>
                                      <m:t>2</m:t>
                                    </m:r>
                                  </m:sup>
                                </m:sSup>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2025082"/>
                      </a:ext>
                    </a:extLst>
                  </a:tr>
                  <a:tr h="370840">
                    <a:tc>
                      <a:txBody>
                        <a:bodyPr/>
                        <a:lstStyle/>
                        <a:p>
                          <a:pPr algn="ctr"/>
                          <a:r>
                            <a:rPr lang="en-US" sz="1200" dirty="0"/>
                            <a:t>10</a:t>
                          </a:r>
                          <a14:m>
                            <m:oMath xmlns:m="http://schemas.openxmlformats.org/officeDocument/2006/math">
                              <m:r>
                                <a:rPr lang="en-GB" sz="1200" b="0" i="1" smtClean="0">
                                  <a:latin typeface="Cambria Math" panose="02040503050406030204" pitchFamily="18" charset="0"/>
                                </a:rPr>
                                <m:t>−</m:t>
                              </m:r>
                              <m:rad>
                                <m:radPr>
                                  <m:degHide m:val="on"/>
                                  <m:ctrlPr>
                                    <a:rPr lang="en-GB" sz="1200" b="0" i="1" smtClean="0">
                                      <a:latin typeface="Cambria Math" panose="02040503050406030204" pitchFamily="18" charset="0"/>
                                    </a:rPr>
                                  </m:ctrlPr>
                                </m:radPr>
                                <m:deg/>
                                <m:e>
                                  <m:r>
                                    <a:rPr lang="en-GB" sz="1200" b="0" i="1" smtClean="0">
                                      <a:latin typeface="Cambria Math" panose="02040503050406030204" pitchFamily="18" charset="0"/>
                                    </a:rPr>
                                    <m:t>16</m:t>
                                  </m:r>
                                </m:e>
                              </m:rad>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6352520"/>
                      </a:ext>
                    </a:extLst>
                  </a:tr>
                  <a:tr h="370840">
                    <a:tc>
                      <a:txBody>
                        <a:bodyPr/>
                        <a:lstStyle/>
                        <a:p>
                          <a:pPr/>
                          <a14:m>
                            <m:oMathPara xmlns:m="http://schemas.openxmlformats.org/officeDocument/2006/math">
                              <m:oMathParaPr>
                                <m:jc m:val="centerGroup"/>
                              </m:oMathParaPr>
                              <m:oMath xmlns:m="http://schemas.openxmlformats.org/officeDocument/2006/math">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2+14</m:t>
                                    </m:r>
                                  </m:e>
                                </m:rad>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4494431"/>
                      </a:ext>
                    </a:extLst>
                  </a:tr>
                  <a:tr h="370840">
                    <a:tc>
                      <a:txBody>
                        <a:bodyPr/>
                        <a:lstStyle/>
                        <a:p>
                          <a:pPr/>
                          <a14:m>
                            <m:oMathPara xmlns:m="http://schemas.openxmlformats.org/officeDocument/2006/math">
                              <m:oMathParaPr>
                                <m:jc m:val="centerGroup"/>
                              </m:oMathParaPr>
                              <m:oMath xmlns:m="http://schemas.openxmlformats.org/officeDocument/2006/math">
                                <m:sSup>
                                  <m:sSupPr>
                                    <m:ctrlPr>
                                      <a:rPr lang="en-GB" sz="1200" b="0" i="1" smtClean="0">
                                        <a:latin typeface="Cambria Math" panose="02040503050406030204" pitchFamily="18" charset="0"/>
                                      </a:rPr>
                                    </m:ctrlPr>
                                  </m:sSupPr>
                                  <m:e>
                                    <m:rad>
                                      <m:radPr>
                                        <m:degHide m:val="on"/>
                                        <m:ctrlPr>
                                          <a:rPr lang="en-GB" sz="1200" b="0" i="1" smtClean="0">
                                            <a:latin typeface="Cambria Math" panose="02040503050406030204" pitchFamily="18" charset="0"/>
                                          </a:rPr>
                                        </m:ctrlPr>
                                      </m:radPr>
                                      <m:deg/>
                                      <m:e>
                                        <m:r>
                                          <a:rPr lang="en-GB" sz="1200" b="0" i="1" smtClean="0">
                                            <a:latin typeface="Cambria Math" panose="02040503050406030204" pitchFamily="18" charset="0"/>
                                          </a:rPr>
                                          <m:t>4</m:t>
                                        </m:r>
                                      </m:e>
                                    </m:rad>
                                    <m:r>
                                      <a:rPr lang="en-GB" sz="1200" b="0" i="1" smtClean="0">
                                        <a:latin typeface="Cambria Math" panose="02040503050406030204" pitchFamily="18" charset="0"/>
                                      </a:rPr>
                                      <m:t>+3</m:t>
                                    </m:r>
                                  </m:e>
                                  <m:sup>
                                    <m:r>
                                      <a:rPr lang="en-GB" sz="1200" b="0" i="1" smtClean="0">
                                        <a:latin typeface="Cambria Math" panose="02040503050406030204" pitchFamily="18" charset="0"/>
                                      </a:rPr>
                                      <m:t>3</m:t>
                                    </m:r>
                                  </m:sup>
                                </m:sSup>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2715276"/>
                      </a:ext>
                    </a:extLst>
                  </a:tr>
                  <a:tr h="370840">
                    <a:tc>
                      <a:txBody>
                        <a:bodyPr/>
                        <a:lstStyle/>
                        <a:p>
                          <a:pPr/>
                          <a14:m>
                            <m:oMathPara xmlns:m="http://schemas.openxmlformats.org/officeDocument/2006/math">
                              <m:oMathParaPr>
                                <m:jc m:val="centerGroup"/>
                              </m:oMathParaPr>
                              <m:oMath xmlns:m="http://schemas.openxmlformats.org/officeDocument/2006/math">
                                <m:r>
                                  <a:rPr lang="en-GB" sz="1200" smtClean="0">
                                    <a:latin typeface="Cambria Math" panose="02040503050406030204" pitchFamily="18" charset="0"/>
                                  </a:rPr>
                                  <m:t>2</m:t>
                                </m:r>
                                <m:r>
                                  <a:rPr lang="en-GB" sz="120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5−</m:t>
                                </m:r>
                                <m:rad>
                                  <m:radPr>
                                    <m:degHide m:val="on"/>
                                    <m:ctrlPr>
                                      <a:rPr lang="en-GB" sz="1200" b="0" i="1" smtClean="0">
                                        <a:latin typeface="Cambria Math" panose="02040503050406030204" pitchFamily="18" charset="0"/>
                                        <a:ea typeface="Cambria Math" panose="02040503050406030204" pitchFamily="18" charset="0"/>
                                      </a:rPr>
                                    </m:ctrlPr>
                                  </m:radPr>
                                  <m:deg/>
                                  <m:e>
                                    <m:r>
                                      <a:rPr lang="en-GB" sz="1200" b="0" i="1" smtClean="0">
                                        <a:latin typeface="Cambria Math" panose="02040503050406030204" pitchFamily="18" charset="0"/>
                                        <a:ea typeface="Cambria Math" panose="02040503050406030204" pitchFamily="18" charset="0"/>
                                      </a:rPr>
                                      <m:t>4</m:t>
                                    </m:r>
                                  </m:e>
                                </m:rad>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4136639"/>
                      </a:ext>
                    </a:extLst>
                  </a:tr>
                  <a:tr h="370840">
                    <a:tc>
                      <a:txBody>
                        <a:bodyPr/>
                        <a:lstStyle/>
                        <a:p>
                          <a:pPr/>
                          <a14:m>
                            <m:oMathPara xmlns:m="http://schemas.openxmlformats.org/officeDocument/2006/math">
                              <m:oMathParaPr>
                                <m:jc m:val="centerGroup"/>
                              </m:oMathParaPr>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3</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m:t>
                                </m:r>
                                <m:rad>
                                  <m:radPr>
                                    <m:degHide m:val="on"/>
                                    <m:ctrlPr>
                                      <a:rPr lang="en-GB" sz="1200" b="0" i="1" smtClean="0">
                                        <a:latin typeface="Cambria Math" panose="02040503050406030204" pitchFamily="18" charset="0"/>
                                      </a:rPr>
                                    </m:ctrlPr>
                                  </m:radPr>
                                  <m:deg/>
                                  <m:e>
                                    <m:r>
                                      <a:rPr lang="en-GB" sz="1200" b="0" i="1" smtClean="0">
                                        <a:latin typeface="Cambria Math" panose="02040503050406030204" pitchFamily="18" charset="0"/>
                                      </a:rPr>
                                      <m:t>25</m:t>
                                    </m:r>
                                  </m:e>
                                </m:rad>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8283515"/>
                      </a:ext>
                    </a:extLst>
                  </a:tr>
                  <a:tr h="370840">
                    <a:tc>
                      <a:txBody>
                        <a:bodyPr/>
                        <a:lstStyle/>
                        <a:p>
                          <a:pPr/>
                          <a14:m>
                            <m:oMathPara xmlns:m="http://schemas.openxmlformats.org/officeDocument/2006/math">
                              <m:oMathParaPr>
                                <m:jc m:val="centerGroup"/>
                              </m:oMathParaPr>
                              <m:oMath xmlns:m="http://schemas.openxmlformats.org/officeDocument/2006/math">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19−2</m:t>
                                    </m:r>
                                    <m:r>
                                      <a:rPr lang="en-GB" sz="1200" b="0" i="1" smtClean="0">
                                        <a:latin typeface="Cambria Math" panose="02040503050406030204" pitchFamily="18" charset="0"/>
                                        <a:ea typeface="Cambria Math" panose="02040503050406030204" pitchFamily="18" charset="0"/>
                                      </a:rPr>
                                      <m:t>×5</m:t>
                                    </m:r>
                                  </m:e>
                                </m:rad>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3334416"/>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20−</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2</m:t>
                                    </m:r>
                                  </m:e>
                                  <m:sup>
                                    <m:r>
                                      <a:rPr lang="en-GB" sz="1200" b="0" i="1" smtClean="0">
                                        <a:latin typeface="Cambria Math" panose="02040503050406030204" pitchFamily="18" charset="0"/>
                                      </a:rPr>
                                      <m:t>2</m:t>
                                    </m:r>
                                  </m:sup>
                                </m:sSup>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rPr>
                                  <m:t>3</m:t>
                                </m:r>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4690526"/>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GB" sz="1200" b="0" i="1" smtClean="0">
                                        <a:latin typeface="Cambria Math" panose="02040503050406030204" pitchFamily="18" charset="0"/>
                                        <a:ea typeface="+mn-ea"/>
                                      </a:rPr>
                                    </m:ctrlPr>
                                  </m:sSupPr>
                                  <m:e>
                                    <m:r>
                                      <a:rPr lang="en-GB" sz="1200" b="0" i="1" smtClean="0">
                                        <a:latin typeface="Cambria Math" panose="02040503050406030204" pitchFamily="18" charset="0"/>
                                        <a:ea typeface="+mn-ea"/>
                                      </a:rPr>
                                      <m:t>2</m:t>
                                    </m:r>
                                  </m:e>
                                  <m:sup>
                                    <m:r>
                                      <a:rPr lang="en-GB" sz="1200" b="0" i="1" smtClean="0">
                                        <a:latin typeface="Cambria Math" panose="02040503050406030204" pitchFamily="18" charset="0"/>
                                        <a:ea typeface="+mn-ea"/>
                                      </a:rPr>
                                      <m:t>2</m:t>
                                    </m:r>
                                  </m:sup>
                                </m:sSup>
                                <m:r>
                                  <a:rPr lang="en-GB"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rPr>
                                  <m:t>3 −10</m:t>
                                </m:r>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48326474"/>
                      </a:ext>
                    </a:extLst>
                  </a:tr>
                </a:tbl>
              </a:graphicData>
            </a:graphic>
          </p:graphicFrame>
        </mc:Choice>
        <mc:Fallback xmlns="">
          <p:graphicFrame>
            <p:nvGraphicFramePr>
              <p:cNvPr id="122" name="Table 122">
                <a:extLst>
                  <a:ext uri="{FF2B5EF4-FFF2-40B4-BE49-F238E27FC236}">
                    <a16:creationId xmlns:a16="http://schemas.microsoft.com/office/drawing/2014/main" id="{D0F1C308-A334-EB7B-6B4F-BD81F34A3D54}"/>
                  </a:ext>
                </a:extLst>
              </p:cNvPr>
              <p:cNvGraphicFramePr>
                <a:graphicFrameLocks noGrp="1"/>
              </p:cNvGraphicFramePr>
              <p:nvPr>
                <p:extLst>
                  <p:ext uri="{D42A27DB-BD31-4B8C-83A1-F6EECF244321}">
                    <p14:modId xmlns:p14="http://schemas.microsoft.com/office/powerpoint/2010/main" val="1546606025"/>
                  </p:ext>
                </p:extLst>
              </p:nvPr>
            </p:nvGraphicFramePr>
            <p:xfrm>
              <a:off x="140652" y="3895518"/>
              <a:ext cx="6589323" cy="4724400"/>
            </p:xfrm>
            <a:graphic>
              <a:graphicData uri="http://schemas.openxmlformats.org/drawingml/2006/table">
                <a:tbl>
                  <a:tblPr firstRow="1" bandRow="1">
                    <a:tableStyleId>{5C22544A-7EE6-4342-B048-85BDC9FD1C3A}</a:tableStyleId>
                  </a:tblPr>
                  <a:tblGrid>
                    <a:gridCol w="1523862">
                      <a:extLst>
                        <a:ext uri="{9D8B030D-6E8A-4147-A177-3AD203B41FA5}">
                          <a16:colId xmlns:a16="http://schemas.microsoft.com/office/drawing/2014/main" val="3768416857"/>
                        </a:ext>
                      </a:extLst>
                    </a:gridCol>
                    <a:gridCol w="5065461">
                      <a:extLst>
                        <a:ext uri="{9D8B030D-6E8A-4147-A177-3AD203B41FA5}">
                          <a16:colId xmlns:a16="http://schemas.microsoft.com/office/drawing/2014/main" val="995409048"/>
                        </a:ext>
                      </a:extLst>
                    </a:gridCol>
                  </a:tblGrid>
                  <a:tr h="274320">
                    <a:tc>
                      <a:txBody>
                        <a:bodyPr/>
                        <a:lstStyle/>
                        <a:p>
                          <a:pPr algn="ctr"/>
                          <a:r>
                            <a:rPr lang="en-GB" sz="1200" b="1" dirty="0">
                              <a:solidFill>
                                <a:schemeClr val="tx1"/>
                              </a:solidFill>
                            </a:rPr>
                            <a:t>Question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1" dirty="0">
                              <a:solidFill>
                                <a:schemeClr val="tx1"/>
                              </a:solidFill>
                            </a:rPr>
                            <a:t>Answer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59076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77049" r="-333600" b="-110163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803546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177049" r="-333600" b="-100163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5334531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277049" r="-333600" b="-90163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27983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377049" r="-333600" b="-80163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202508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477049" r="-333600" b="-70163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635252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577049" r="-333600" b="-60163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449443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688333" r="-333600" b="-511667"/>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271527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775410" r="-333600" b="-40327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413663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875410" r="-333600" b="-30327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828351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975410" r="-333600" b="-20327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333441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1075410" r="-333600" b="-10327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469052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 t="-1175410" r="-333600" b="-3279"/>
                          </a:stretch>
                        </a:blipFill>
                      </a:tcPr>
                    </a:tc>
                    <a:tc>
                      <a:txBody>
                        <a:bodyPr/>
                        <a:lstStyle/>
                        <a:p>
                          <a:pPr algn="ct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48326474"/>
                      </a:ext>
                    </a:extLst>
                  </a:tr>
                </a:tbl>
              </a:graphicData>
            </a:graphic>
          </p:graphicFrame>
        </mc:Fallback>
      </mc:AlternateContent>
      <p:sp>
        <p:nvSpPr>
          <p:cNvPr id="123" name="TextBox 122">
            <a:extLst>
              <a:ext uri="{FF2B5EF4-FFF2-40B4-BE49-F238E27FC236}">
                <a16:creationId xmlns:a16="http://schemas.microsoft.com/office/drawing/2014/main" id="{A3C02CCB-2D4A-55A6-F476-D23A77DC3F1B}"/>
              </a:ext>
            </a:extLst>
          </p:cNvPr>
          <p:cNvSpPr txBox="1"/>
          <p:nvPr/>
        </p:nvSpPr>
        <p:spPr>
          <a:xfrm>
            <a:off x="1722119" y="3592719"/>
            <a:ext cx="3230335" cy="276999"/>
          </a:xfrm>
          <a:prstGeom prst="rect">
            <a:avLst/>
          </a:prstGeom>
          <a:noFill/>
        </p:spPr>
        <p:txBody>
          <a:bodyPr wrap="square" rtlCol="0">
            <a:spAutoFit/>
          </a:bodyPr>
          <a:lstStyle/>
          <a:p>
            <a:r>
              <a:rPr lang="en-US" sz="1200" dirty="0"/>
              <a:t>3.  Work out the answers to the following:</a:t>
            </a:r>
          </a:p>
        </p:txBody>
      </p:sp>
      <p:sp>
        <p:nvSpPr>
          <p:cNvPr id="124" name="Rectangle 123">
            <a:extLst>
              <a:ext uri="{FF2B5EF4-FFF2-40B4-BE49-F238E27FC236}">
                <a16:creationId xmlns:a16="http://schemas.microsoft.com/office/drawing/2014/main" id="{0B1421D7-348E-785D-9CD1-FA0F28C9C02D}"/>
              </a:ext>
            </a:extLst>
          </p:cNvPr>
          <p:cNvSpPr/>
          <p:nvPr/>
        </p:nvSpPr>
        <p:spPr>
          <a:xfrm>
            <a:off x="171133" y="109856"/>
            <a:ext cx="3257867" cy="27699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Order of operations </a:t>
            </a:r>
            <a:r>
              <a:rPr lang="en-GB" sz="1200" dirty="0">
                <a:solidFill>
                  <a:schemeClr val="bg1"/>
                </a:solidFill>
              </a:rPr>
              <a:t>involving powers and roots</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83CB0573-6AE6-0122-A186-963F5BB58D77}"/>
                  </a:ext>
                </a:extLst>
              </p:cNvPr>
              <p:cNvGraphicFramePr>
                <a:graphicFrameLocks noGrp="1"/>
              </p:cNvGraphicFramePr>
              <p:nvPr>
                <p:extLst>
                  <p:ext uri="{D42A27DB-BD31-4B8C-83A1-F6EECF244321}">
                    <p14:modId xmlns:p14="http://schemas.microsoft.com/office/powerpoint/2010/main" val="741724073"/>
                  </p:ext>
                </p:extLst>
              </p:nvPr>
            </p:nvGraphicFramePr>
            <p:xfrm>
              <a:off x="142256" y="8612933"/>
              <a:ext cx="6575091" cy="1112520"/>
            </p:xfrm>
            <a:graphic>
              <a:graphicData uri="http://schemas.openxmlformats.org/drawingml/2006/table">
                <a:tbl>
                  <a:tblPr firstRow="1" bandRow="1">
                    <a:tableStyleId>{5C22544A-7EE6-4342-B048-85BDC9FD1C3A}</a:tableStyleId>
                  </a:tblPr>
                  <a:tblGrid>
                    <a:gridCol w="1518904">
                      <a:extLst>
                        <a:ext uri="{9D8B030D-6E8A-4147-A177-3AD203B41FA5}">
                          <a16:colId xmlns:a16="http://schemas.microsoft.com/office/drawing/2014/main" val="2089080895"/>
                        </a:ext>
                      </a:extLst>
                    </a:gridCol>
                    <a:gridCol w="5056187">
                      <a:extLst>
                        <a:ext uri="{9D8B030D-6E8A-4147-A177-3AD203B41FA5}">
                          <a16:colId xmlns:a16="http://schemas.microsoft.com/office/drawing/2014/main" val="3083873200"/>
                        </a:ext>
                      </a:extLst>
                    </a:gridCol>
                  </a:tblGrid>
                  <a:tr h="370840">
                    <a:tc>
                      <a:txBody>
                        <a:bodyPr/>
                        <a:lstStyle/>
                        <a:p>
                          <a:pPr/>
                          <a14:m>
                            <m:oMathPara xmlns:m="http://schemas.openxmlformats.org/officeDocument/2006/math">
                              <m:oMathParaPr>
                                <m:jc m:val="centerGroup"/>
                              </m:oMathParaPr>
                              <m:oMath xmlns:m="http://schemas.openxmlformats.org/officeDocument/2006/math">
                                <m:sSup>
                                  <m:sSupPr>
                                    <m:ctrlPr>
                                      <a:rPr lang="en-GB" sz="1200" b="0" i="1" smtClean="0">
                                        <a:solidFill>
                                          <a:schemeClr val="tx1"/>
                                        </a:solidFill>
                                        <a:latin typeface="Cambria Math" panose="02040503050406030204" pitchFamily="18" charset="0"/>
                                        <a:ea typeface="+mn-ea"/>
                                      </a:rPr>
                                    </m:ctrlPr>
                                  </m:sSupPr>
                                  <m:e>
                                    <m:r>
                                      <a:rPr lang="en-GB" sz="1200" b="0" i="1" smtClean="0">
                                        <a:solidFill>
                                          <a:schemeClr val="tx1"/>
                                        </a:solidFill>
                                        <a:latin typeface="Cambria Math" panose="02040503050406030204" pitchFamily="18" charset="0"/>
                                        <a:ea typeface="+mn-ea"/>
                                      </a:rPr>
                                      <m:t>10</m:t>
                                    </m:r>
                                  </m:e>
                                  <m:sup>
                                    <m:r>
                                      <a:rPr lang="en-GB" sz="1200" b="0" i="1" smtClean="0">
                                        <a:solidFill>
                                          <a:schemeClr val="tx1"/>
                                        </a:solidFill>
                                        <a:latin typeface="Cambria Math" panose="02040503050406030204" pitchFamily="18" charset="0"/>
                                        <a:ea typeface="+mn-ea"/>
                                      </a:rPr>
                                      <m:t>2</m:t>
                                    </m:r>
                                  </m:sup>
                                </m:sSup>
                                <m:r>
                                  <a:rPr lang="en-GB" sz="1200" b="0" i="1" smtClean="0">
                                    <a:solidFill>
                                      <a:schemeClr val="tx1"/>
                                    </a:solidFill>
                                    <a:latin typeface="Cambria Math" panose="02040503050406030204" pitchFamily="18" charset="0"/>
                                    <a:ea typeface="+mn-ea"/>
                                  </a:rPr>
                                  <m:t>− </m:t>
                                </m:r>
                                <m:r>
                                  <a:rPr lang="en-GB" sz="1200" b="0" i="1" smtClean="0">
                                    <a:solidFill>
                                      <a:schemeClr val="tx1"/>
                                    </a:solidFill>
                                    <a:latin typeface="Cambria Math" panose="02040503050406030204" pitchFamily="18" charset="0"/>
                                  </a:rPr>
                                  <m:t>3 </m:t>
                                </m:r>
                                <m:r>
                                  <a:rPr lang="en-GB" sz="1200" b="0" i="1" smtClean="0">
                                    <a:solidFill>
                                      <a:schemeClr val="tx1"/>
                                    </a:solidFill>
                                    <a:latin typeface="Cambria Math" panose="02040503050406030204" pitchFamily="18" charset="0"/>
                                    <a:ea typeface="Cambria Math" panose="02040503050406030204" pitchFamily="18" charset="0"/>
                                  </a:rPr>
                                  <m:t>×2</m:t>
                                </m:r>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5803917"/>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12+</m:t>
                                </m:r>
                                <m:rad>
                                  <m:radPr>
                                    <m:degHide m:val="on"/>
                                    <m:ctrlPr>
                                      <a:rPr lang="en-GB" sz="1200" b="0" i="1" smtClean="0">
                                        <a:latin typeface="Cambria Math" panose="02040503050406030204" pitchFamily="18" charset="0"/>
                                      </a:rPr>
                                    </m:ctrlPr>
                                  </m:radPr>
                                  <m:deg/>
                                  <m:e>
                                    <m:r>
                                      <a:rPr lang="en-GB" sz="1200" b="0" i="1" smtClean="0">
                                        <a:latin typeface="Cambria Math" panose="02040503050406030204" pitchFamily="18" charset="0"/>
                                      </a:rPr>
                                      <m:t>4 </m:t>
                                    </m:r>
                                    <m:r>
                                      <a:rPr lang="en-GB" sz="1200" b="0" i="1" smtClean="0">
                                        <a:latin typeface="Cambria Math" panose="02040503050406030204" pitchFamily="18" charset="0"/>
                                        <a:ea typeface="Cambria Math" panose="02040503050406030204" pitchFamily="18" charset="0"/>
                                      </a:rPr>
                                      <m:t>×9</m:t>
                                    </m:r>
                                  </m:e>
                                </m:rad>
                              </m:oMath>
                            </m:oMathPara>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3560153"/>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e>
                                  <m:sup>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−9 </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ad>
                                  <m:radPr>
                                    <m:degHide m:val="on"/>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m:t>
                                    </m:r>
                                  </m:e>
                                </m:rad>
                              </m:oMath>
                            </m:oMathPara>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5870059"/>
                      </a:ext>
                    </a:extLst>
                  </a:tr>
                </a:tbl>
              </a:graphicData>
            </a:graphic>
          </p:graphicFrame>
        </mc:Choice>
        <mc:Fallback xmlns="">
          <p:graphicFrame>
            <p:nvGraphicFramePr>
              <p:cNvPr id="2" name="Table 1">
                <a:extLst>
                  <a:ext uri="{FF2B5EF4-FFF2-40B4-BE49-F238E27FC236}">
                    <a16:creationId xmlns:a16="http://schemas.microsoft.com/office/drawing/2014/main" id="{83CB0573-6AE6-0122-A186-963F5BB58D77}"/>
                  </a:ext>
                </a:extLst>
              </p:cNvPr>
              <p:cNvGraphicFramePr>
                <a:graphicFrameLocks noGrp="1"/>
              </p:cNvGraphicFramePr>
              <p:nvPr>
                <p:extLst>
                  <p:ext uri="{D42A27DB-BD31-4B8C-83A1-F6EECF244321}">
                    <p14:modId xmlns:p14="http://schemas.microsoft.com/office/powerpoint/2010/main" val="741724073"/>
                  </p:ext>
                </p:extLst>
              </p:nvPr>
            </p:nvGraphicFramePr>
            <p:xfrm>
              <a:off x="142256" y="8612933"/>
              <a:ext cx="6575091" cy="1112520"/>
            </p:xfrm>
            <a:graphic>
              <a:graphicData uri="http://schemas.openxmlformats.org/drawingml/2006/table">
                <a:tbl>
                  <a:tblPr firstRow="1" bandRow="1">
                    <a:tableStyleId>{5C22544A-7EE6-4342-B048-85BDC9FD1C3A}</a:tableStyleId>
                  </a:tblPr>
                  <a:tblGrid>
                    <a:gridCol w="1518904">
                      <a:extLst>
                        <a:ext uri="{9D8B030D-6E8A-4147-A177-3AD203B41FA5}">
                          <a16:colId xmlns:a16="http://schemas.microsoft.com/office/drawing/2014/main" val="2089080895"/>
                        </a:ext>
                      </a:extLst>
                    </a:gridCol>
                    <a:gridCol w="5056187">
                      <a:extLst>
                        <a:ext uri="{9D8B030D-6E8A-4147-A177-3AD203B41FA5}">
                          <a16:colId xmlns:a16="http://schemas.microsoft.com/office/drawing/2014/main" val="3083873200"/>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 t="-1639" r="-334538" b="-204918"/>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580391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 t="-100000" r="-334538" b="-101613"/>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3560153"/>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 t="-203279" r="-334538" b="-3279"/>
                          </a:stretch>
                        </a:blipFill>
                      </a:tcPr>
                    </a:tc>
                    <a:tc>
                      <a:txBody>
                        <a:bodyPr/>
                        <a:lstStyle/>
                        <a:p>
                          <a:pPr algn="ctr"/>
                          <a:endParaRPr lang="en-GB" sz="12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5870059"/>
                      </a:ext>
                    </a:extLst>
                  </a:tr>
                </a:tbl>
              </a:graphicData>
            </a:graphic>
          </p:graphicFrame>
        </mc:Fallback>
      </mc:AlternateContent>
      <p:sp>
        <p:nvSpPr>
          <p:cNvPr id="3" name="Slide Number Placeholder 2"/>
          <p:cNvSpPr>
            <a:spLocks noGrp="1"/>
          </p:cNvSpPr>
          <p:nvPr>
            <p:ph type="sldNum" sz="quarter" idx="12"/>
          </p:nvPr>
        </p:nvSpPr>
        <p:spPr>
          <a:xfrm>
            <a:off x="5114496" y="9323120"/>
            <a:ext cx="1543050" cy="527403"/>
          </a:xfrm>
        </p:spPr>
        <p:txBody>
          <a:bodyPr/>
          <a:lstStyle/>
          <a:p>
            <a:fld id="{19F1D9CC-7119-45EC-A96C-D8C0660F3AAB}" type="slidenum">
              <a:rPr lang="en-GB" smtClean="0"/>
              <a:t>67</a:t>
            </a:fld>
            <a:endParaRPr lang="en-GB"/>
          </a:p>
        </p:txBody>
      </p:sp>
    </p:spTree>
    <p:extLst>
      <p:ext uri="{BB962C8B-B14F-4D97-AF65-F5344CB8AC3E}">
        <p14:creationId xmlns:p14="http://schemas.microsoft.com/office/powerpoint/2010/main" val="37233556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9A308-ED87-E741-1A41-93376F6F595F}"/>
              </a:ext>
            </a:extLst>
          </p:cNvPr>
          <p:cNvSpPr/>
          <p:nvPr/>
        </p:nvSpPr>
        <p:spPr>
          <a:xfrm>
            <a:off x="139152" y="144222"/>
            <a:ext cx="2721749" cy="3179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Order of operations </a:t>
            </a:r>
            <a:r>
              <a:rPr lang="en-GB" sz="1200" dirty="0">
                <a:solidFill>
                  <a:schemeClr val="bg1"/>
                </a:solidFill>
              </a:rPr>
              <a:t>involving brackets</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4D697937-A828-8F2D-D866-9F9004F0E34E}"/>
                  </a:ext>
                </a:extLst>
              </p:cNvPr>
              <p:cNvGraphicFramePr>
                <a:graphicFrameLocks noGrp="1"/>
              </p:cNvGraphicFramePr>
              <p:nvPr/>
            </p:nvGraphicFramePr>
            <p:xfrm>
              <a:off x="139152" y="692341"/>
              <a:ext cx="6572479" cy="3108960"/>
            </p:xfrm>
            <a:graphic>
              <a:graphicData uri="http://schemas.openxmlformats.org/drawingml/2006/table">
                <a:tbl>
                  <a:tblPr firstRow="1" bandRow="1">
                    <a:tableStyleId>{5C22544A-7EE6-4342-B048-85BDC9FD1C3A}</a:tableStyleId>
                  </a:tblPr>
                  <a:tblGrid>
                    <a:gridCol w="1204780">
                      <a:extLst>
                        <a:ext uri="{9D8B030D-6E8A-4147-A177-3AD203B41FA5}">
                          <a16:colId xmlns:a16="http://schemas.microsoft.com/office/drawing/2014/main" val="1568142362"/>
                        </a:ext>
                      </a:extLst>
                    </a:gridCol>
                    <a:gridCol w="1789233">
                      <a:extLst>
                        <a:ext uri="{9D8B030D-6E8A-4147-A177-3AD203B41FA5}">
                          <a16:colId xmlns:a16="http://schemas.microsoft.com/office/drawing/2014/main" val="3551711160"/>
                        </a:ext>
                      </a:extLst>
                    </a:gridCol>
                    <a:gridCol w="1789233">
                      <a:extLst>
                        <a:ext uri="{9D8B030D-6E8A-4147-A177-3AD203B41FA5}">
                          <a16:colId xmlns:a16="http://schemas.microsoft.com/office/drawing/2014/main" val="1712497518"/>
                        </a:ext>
                      </a:extLst>
                    </a:gridCol>
                    <a:gridCol w="1789233">
                      <a:extLst>
                        <a:ext uri="{9D8B030D-6E8A-4147-A177-3AD203B41FA5}">
                          <a16:colId xmlns:a16="http://schemas.microsoft.com/office/drawing/2014/main" val="886122921"/>
                        </a:ext>
                      </a:extLst>
                    </a:gridCol>
                  </a:tblGrid>
                  <a:tr h="199772">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988823">
                    <a:tc>
                      <a:txBody>
                        <a:bodyPr/>
                        <a:lstStyle/>
                        <a:p>
                          <a:pPr marL="0" indent="0">
                            <a:buNone/>
                          </a:pPr>
                          <a:r>
                            <a:rPr lang="en-US" sz="1200" dirty="0">
                              <a:solidFill>
                                <a:schemeClr val="tx1"/>
                              </a:solidFill>
                            </a:rPr>
                            <a:t>1) Determine which operations are in the question</a:t>
                          </a:r>
                          <a:br>
                            <a:rPr lang="en-US" sz="1200" dirty="0">
                              <a:solidFill>
                                <a:schemeClr val="tx1"/>
                              </a:solidFill>
                            </a:rPr>
                          </a:br>
                          <a:endParaRPr lang="en-US" sz="1200" dirty="0">
                            <a:solidFill>
                              <a:schemeClr val="tx1"/>
                            </a:solidFill>
                          </a:endParaRPr>
                        </a:p>
                        <a:p>
                          <a:r>
                            <a:rPr lang="en-GB" sz="1200" dirty="0">
                              <a:solidFill>
                                <a:schemeClr val="tx1"/>
                              </a:solidFill>
                            </a:rPr>
                            <a:t>2) Determine the correct order to perform the calculation  </a:t>
                          </a:r>
                          <a:r>
                            <a:rPr lang="en-US" sz="1200" dirty="0">
                              <a:solidFill>
                                <a:schemeClr val="tx1"/>
                              </a:solidFill>
                            </a:rPr>
                            <a:t>(brackets,</a:t>
                          </a:r>
                          <a:r>
                            <a:rPr lang="en-US" sz="1200" baseline="0" dirty="0">
                              <a:solidFill>
                                <a:schemeClr val="tx1"/>
                              </a:solidFill>
                            </a:rPr>
                            <a:t> then </a:t>
                          </a:r>
                          <a:r>
                            <a:rPr lang="en-US" sz="1200" dirty="0">
                              <a:solidFill>
                                <a:schemeClr val="tx1"/>
                              </a:solidFill>
                            </a:rPr>
                            <a:t>powers and roots, then </a:t>
                          </a:r>
                          <a14:m>
                            <m:oMath xmlns:m="http://schemas.openxmlformats.org/officeDocument/2006/math">
                              <m:r>
                                <a:rPr lang="en-GB" sz="1200" b="0" i="1" smtClean="0">
                                  <a:solidFill>
                                    <a:schemeClr val="tx1"/>
                                  </a:solidFill>
                                  <a:latin typeface="Cambria Math" panose="02040503050406030204" pitchFamily="18" charset="0"/>
                                </a:rPr>
                                <m:t>×</m:t>
                              </m:r>
                            </m:oMath>
                          </a14:m>
                          <a:r>
                            <a:rPr lang="en-US" sz="1200" dirty="0">
                              <a:solidFill>
                                <a:schemeClr val="tx1"/>
                              </a:solidFill>
                            </a:rPr>
                            <a:t> and </a:t>
                          </a:r>
                          <a14:m>
                            <m:oMath xmlns:m="http://schemas.openxmlformats.org/officeDocument/2006/math">
                              <m:r>
                                <a:rPr lang="en-GB" sz="1200" b="0" i="1" smtClean="0">
                                  <a:solidFill>
                                    <a:schemeClr val="tx1"/>
                                  </a:solidFill>
                                  <a:latin typeface="Cambria Math" panose="02040503050406030204" pitchFamily="18" charset="0"/>
                                </a:rPr>
                                <m:t>÷, </m:t>
                              </m:r>
                            </m:oMath>
                          </a14:m>
                          <a:r>
                            <a:rPr lang="en-US" sz="1200" dirty="0">
                              <a:solidFill>
                                <a:schemeClr val="tx1"/>
                              </a:solidFill>
                            </a:rPr>
                            <a:t> </a:t>
                          </a:r>
                          <a:r>
                            <a:rPr lang="en-US" sz="1200" baseline="0" dirty="0">
                              <a:solidFill>
                                <a:schemeClr val="tx1"/>
                              </a:solidFill>
                            </a:rPr>
                            <a:t>then </a:t>
                          </a:r>
                          <a14:m>
                            <m:oMath xmlns:m="http://schemas.openxmlformats.org/officeDocument/2006/math">
                              <m:r>
                                <a:rPr lang="en-US" sz="1200" i="1" baseline="0" dirty="0" smtClean="0">
                                  <a:solidFill>
                                    <a:schemeClr val="tx1"/>
                                  </a:solidFill>
                                  <a:latin typeface="Cambria Math" panose="02040503050406030204" pitchFamily="18" charset="0"/>
                                </a:rPr>
                                <m:t>+</m:t>
                              </m:r>
                            </m:oMath>
                          </a14:m>
                          <a:r>
                            <a:rPr lang="en-US" sz="1200" baseline="0" dirty="0">
                              <a:solidFill>
                                <a:schemeClr val="tx1"/>
                              </a:solidFill>
                            </a:rPr>
                            <a:t> and </a:t>
                          </a:r>
                          <a14:m>
                            <m:oMath xmlns:m="http://schemas.openxmlformats.org/officeDocument/2006/math">
                              <m:r>
                                <a:rPr lang="en-US" sz="1200" i="1" baseline="0" dirty="0" smtClean="0">
                                  <a:solidFill>
                                    <a:schemeClr val="tx1"/>
                                  </a:solidFill>
                                  <a:latin typeface="Cambria Math" panose="02040503050406030204" pitchFamily="18" charset="0"/>
                                </a:rPr>
                                <m:t>−</m:t>
                              </m:r>
                            </m:oMath>
                          </a14:m>
                          <a:r>
                            <a:rPr lang="en-US" sz="1200" baseline="0" dirty="0">
                              <a:solidFill>
                                <a:schemeClr val="tx1"/>
                              </a:solidFill>
                            </a:rPr>
                            <a:t>).</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GB" sz="1200" b="0" i="1" baseline="0" smtClean="0">
                                        <a:solidFill>
                                          <a:schemeClr val="tx1"/>
                                        </a:solidFill>
                                        <a:latin typeface="Cambria Math" panose="02040503050406030204" pitchFamily="18" charset="0"/>
                                      </a:rPr>
                                    </m:ctrlPr>
                                  </m:sSupPr>
                                  <m:e>
                                    <m:d>
                                      <m:dPr>
                                        <m:ctrlPr>
                                          <a:rPr lang="en-GB"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4+3</m:t>
                                        </m:r>
                                      </m:e>
                                    </m:d>
                                  </m:e>
                                  <m:sup>
                                    <m:r>
                                      <a:rPr lang="en-GB" sz="1200" b="0" i="1" baseline="0" smtClean="0">
                                        <a:solidFill>
                                          <a:schemeClr val="tx1"/>
                                        </a:solidFill>
                                        <a:latin typeface="Cambria Math" panose="02040503050406030204" pitchFamily="18" charset="0"/>
                                      </a:rPr>
                                      <m:t>2</m:t>
                                    </m:r>
                                  </m:sup>
                                </m:sSup>
                              </m:oMath>
                            </m:oMathPara>
                          </a14:m>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3 </m:t>
                                </m:r>
                                <m:r>
                                  <a:rPr lang="en-GB" sz="1200" b="0" i="1" baseline="0" smtClean="0">
                                    <a:solidFill>
                                      <a:schemeClr val="tx1"/>
                                    </a:solidFill>
                                    <a:latin typeface="Cambria Math" panose="02040503050406030204" pitchFamily="18" charset="0"/>
                                    <a:ea typeface="Cambria Math" panose="02040503050406030204" pitchFamily="18" charset="0"/>
                                  </a:rPr>
                                  <m:t>×</m:t>
                                </m:r>
                                <m:d>
                                  <m:dPr>
                                    <m:ctrlPr>
                                      <a:rPr lang="en-GB" sz="1200" b="0" i="1" baseline="0" smtClean="0">
                                        <a:solidFill>
                                          <a:schemeClr val="tx1"/>
                                        </a:solidFill>
                                        <a:latin typeface="Cambria Math" panose="02040503050406030204" pitchFamily="18" charset="0"/>
                                        <a:ea typeface="Cambria Math" panose="02040503050406030204" pitchFamily="18" charset="0"/>
                                      </a:rPr>
                                    </m:ctrlPr>
                                  </m:dPr>
                                  <m:e>
                                    <m:r>
                                      <a:rPr lang="en-GB" sz="1200" b="0" i="1" baseline="0" smtClean="0">
                                        <a:solidFill>
                                          <a:schemeClr val="tx1"/>
                                        </a:solidFill>
                                        <a:latin typeface="Cambria Math" panose="02040503050406030204" pitchFamily="18" charset="0"/>
                                        <a:ea typeface="Cambria Math" panose="02040503050406030204" pitchFamily="18" charset="0"/>
                                      </a:rPr>
                                      <m:t>10−2</m:t>
                                    </m:r>
                                  </m:e>
                                </m:d>
                              </m:oMath>
                            </m:oMathPara>
                          </a14:m>
                          <a:endParaRPr lang="en-GB" sz="1200" b="0" baseline="0" dirty="0">
                            <a:solidFill>
                              <a:schemeClr val="tx1"/>
                            </a:solidFill>
                            <a:ea typeface="Cambria Math" panose="02040503050406030204" pitchFamily="18" charset="0"/>
                          </a:endParaRP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GB" sz="1200" b="0" i="1" baseline="0" smtClean="0">
                                        <a:solidFill>
                                          <a:schemeClr val="tx1"/>
                                        </a:solidFill>
                                        <a:latin typeface="Cambria Math" panose="02040503050406030204" pitchFamily="18" charset="0"/>
                                      </a:rPr>
                                    </m:ctrlPr>
                                  </m:sSupPr>
                                  <m:e>
                                    <m:d>
                                      <m:dPr>
                                        <m:ctrlPr>
                                          <a:rPr lang="en-GB"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4−1</m:t>
                                        </m:r>
                                      </m:e>
                                    </m:d>
                                  </m:e>
                                  <m:sup>
                                    <m:r>
                                      <a:rPr lang="en-GB" sz="1200" b="0" i="1" baseline="0" smtClean="0">
                                        <a:solidFill>
                                          <a:schemeClr val="tx1"/>
                                        </a:solidFill>
                                        <a:latin typeface="Cambria Math" panose="02040503050406030204" pitchFamily="18" charset="0"/>
                                      </a:rPr>
                                      <m:t>3</m:t>
                                    </m:r>
                                  </m:sup>
                                </m:sSup>
                              </m:oMath>
                            </m:oMathPara>
                          </a14:m>
                          <a:endParaRPr lang="en-GB" sz="12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20 −3 </m:t>
                                </m:r>
                                <m:r>
                                  <a:rPr lang="en-GB" sz="1200" b="0" i="1" baseline="0" smtClean="0">
                                    <a:solidFill>
                                      <a:schemeClr val="tx1"/>
                                    </a:solidFill>
                                    <a:latin typeface="Cambria Math" panose="02040503050406030204" pitchFamily="18" charset="0"/>
                                    <a:ea typeface="Cambria Math" panose="02040503050406030204" pitchFamily="18" charset="0"/>
                                  </a:rPr>
                                  <m:t>×(2+4)</m:t>
                                </m:r>
                              </m:oMath>
                            </m:oMathPara>
                          </a14:m>
                          <a:endParaRPr lang="en-GB" sz="1200" b="0" i="1" baseline="0" dirty="0">
                            <a:solidFill>
                              <a:schemeClr val="tx1"/>
                            </a:solidFill>
                            <a:latin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GB" sz="1200" b="0" i="1" baseline="0" smtClean="0">
                                        <a:solidFill>
                                          <a:schemeClr val="tx1"/>
                                        </a:solidFill>
                                        <a:latin typeface="Cambria Math" panose="02040503050406030204" pitchFamily="18" charset="0"/>
                                      </a:rPr>
                                    </m:ctrlPr>
                                  </m:sSupPr>
                                  <m:e>
                                    <m:d>
                                      <m:dPr>
                                        <m:ctrlPr>
                                          <a:rPr lang="en-GB"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7−2</m:t>
                                        </m:r>
                                      </m:e>
                                    </m:d>
                                  </m:e>
                                  <m:sup>
                                    <m:r>
                                      <a:rPr lang="en-GB" sz="1200" b="0" i="1" baseline="0" smtClean="0">
                                        <a:solidFill>
                                          <a:schemeClr val="tx1"/>
                                        </a:solidFill>
                                        <a:latin typeface="Cambria Math" panose="02040503050406030204" pitchFamily="18" charset="0"/>
                                      </a:rPr>
                                      <m:t>2</m:t>
                                    </m:r>
                                  </m:sup>
                                </m:sSup>
                              </m:oMath>
                            </m:oMathPara>
                          </a14:m>
                          <a:endParaRPr lang="en-GB" sz="1200" b="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endParaRPr lang="en-US" sz="12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4+ 3 </m:t>
                                </m:r>
                                <m:r>
                                  <a:rPr lang="en-GB" sz="1200" b="0" i="1" baseline="0" smtClean="0">
                                    <a:solidFill>
                                      <a:schemeClr val="tx1"/>
                                    </a:solidFill>
                                    <a:latin typeface="Cambria Math" panose="02040503050406030204" pitchFamily="18" charset="0"/>
                                    <a:ea typeface="Cambria Math" panose="02040503050406030204" pitchFamily="18" charset="0"/>
                                  </a:rPr>
                                  <m:t>×(1+5)</m:t>
                                </m:r>
                              </m:oMath>
                            </m:oMathPara>
                          </a14:m>
                          <a:endParaRPr lang="en-GB" sz="1200" b="0" i="1" baseline="0" dirty="0">
                            <a:solidFill>
                              <a:schemeClr val="tx1"/>
                            </a:solidFill>
                            <a:latin typeface="Cambria Math" panose="02040503050406030204" pitchFamily="18" charset="0"/>
                          </a:endParaRP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4" name="Table 3">
                <a:extLst>
                  <a:ext uri="{FF2B5EF4-FFF2-40B4-BE49-F238E27FC236}">
                    <a16:creationId xmlns:a16="http://schemas.microsoft.com/office/drawing/2014/main" id="{4D697937-A828-8F2D-D866-9F9004F0E34E}"/>
                  </a:ext>
                </a:extLst>
              </p:cNvPr>
              <p:cNvGraphicFramePr>
                <a:graphicFrameLocks noGrp="1"/>
              </p:cNvGraphicFramePr>
              <p:nvPr/>
            </p:nvGraphicFramePr>
            <p:xfrm>
              <a:off x="139152" y="692341"/>
              <a:ext cx="6572479" cy="3108960"/>
            </p:xfrm>
            <a:graphic>
              <a:graphicData uri="http://schemas.openxmlformats.org/drawingml/2006/table">
                <a:tbl>
                  <a:tblPr firstRow="1" bandRow="1">
                    <a:tableStyleId>{5C22544A-7EE6-4342-B048-85BDC9FD1C3A}</a:tableStyleId>
                  </a:tblPr>
                  <a:tblGrid>
                    <a:gridCol w="1204780">
                      <a:extLst>
                        <a:ext uri="{9D8B030D-6E8A-4147-A177-3AD203B41FA5}">
                          <a16:colId xmlns:a16="http://schemas.microsoft.com/office/drawing/2014/main" val="1568142362"/>
                        </a:ext>
                      </a:extLst>
                    </a:gridCol>
                    <a:gridCol w="1789233">
                      <a:extLst>
                        <a:ext uri="{9D8B030D-6E8A-4147-A177-3AD203B41FA5}">
                          <a16:colId xmlns:a16="http://schemas.microsoft.com/office/drawing/2014/main" val="3551711160"/>
                        </a:ext>
                      </a:extLst>
                    </a:gridCol>
                    <a:gridCol w="1789233">
                      <a:extLst>
                        <a:ext uri="{9D8B030D-6E8A-4147-A177-3AD203B41FA5}">
                          <a16:colId xmlns:a16="http://schemas.microsoft.com/office/drawing/2014/main" val="1712497518"/>
                        </a:ext>
                      </a:extLst>
                    </a:gridCol>
                    <a:gridCol w="1789233">
                      <a:extLst>
                        <a:ext uri="{9D8B030D-6E8A-4147-A177-3AD203B41FA5}">
                          <a16:colId xmlns:a16="http://schemas.microsoft.com/office/drawing/2014/main" val="886122921"/>
                        </a:ext>
                      </a:extLst>
                    </a:gridCol>
                  </a:tblGrid>
                  <a:tr h="274320">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8346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05" t="-9871" r="-446465" b="-17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7687" t="-9871" r="-200680" b="-17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8259" t="-9871" r="-101365" b="-17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7347" t="-9871" r="-1020" b="-1717"/>
                          </a:stretch>
                        </a:blipFill>
                      </a:tcPr>
                    </a:tc>
                    <a:extLst>
                      <a:ext uri="{0D108BD9-81ED-4DB2-BD59-A6C34878D82A}">
                        <a16:rowId xmlns:a16="http://schemas.microsoft.com/office/drawing/2014/main" val="3293625240"/>
                      </a:ext>
                    </a:extLst>
                  </a:tr>
                </a:tbl>
              </a:graphicData>
            </a:graphic>
          </p:graphicFrame>
        </mc:Fallback>
      </mc:AlternateContent>
      <p:sp>
        <p:nvSpPr>
          <p:cNvPr id="5" name="TextBox 4">
            <a:extLst>
              <a:ext uri="{FF2B5EF4-FFF2-40B4-BE49-F238E27FC236}">
                <a16:creationId xmlns:a16="http://schemas.microsoft.com/office/drawing/2014/main" id="{2594C021-9454-8F67-D3A7-3F4F6305130B}"/>
              </a:ext>
            </a:extLst>
          </p:cNvPr>
          <p:cNvSpPr txBox="1"/>
          <p:nvPr/>
        </p:nvSpPr>
        <p:spPr>
          <a:xfrm>
            <a:off x="1570142" y="461062"/>
            <a:ext cx="1410704" cy="276999"/>
          </a:xfrm>
          <a:prstGeom prst="rect">
            <a:avLst/>
          </a:prstGeom>
          <a:noFill/>
          <a:ln>
            <a:noFill/>
          </a:ln>
        </p:spPr>
        <p:txBody>
          <a:bodyPr wrap="square" rtlCol="0">
            <a:spAutoFit/>
          </a:bodyPr>
          <a:lstStyle/>
          <a:p>
            <a:r>
              <a:rPr lang="en-GB" sz="1200" b="1" i="1" dirty="0">
                <a:solidFill>
                  <a:srgbClr val="FF0000"/>
                </a:solidFill>
              </a:rPr>
              <a:t>Example 10 - I do…</a:t>
            </a:r>
          </a:p>
        </p:txBody>
      </p:sp>
      <p:sp>
        <p:nvSpPr>
          <p:cNvPr id="6" name="TextBox 5">
            <a:extLst>
              <a:ext uri="{FF2B5EF4-FFF2-40B4-BE49-F238E27FC236}">
                <a16:creationId xmlns:a16="http://schemas.microsoft.com/office/drawing/2014/main" id="{34A205EA-7ECD-0EC2-E9D3-0B192397658B}"/>
              </a:ext>
            </a:extLst>
          </p:cNvPr>
          <p:cNvSpPr txBox="1"/>
          <p:nvPr/>
        </p:nvSpPr>
        <p:spPr>
          <a:xfrm>
            <a:off x="5026519" y="439274"/>
            <a:ext cx="1643405" cy="276999"/>
          </a:xfrm>
          <a:prstGeom prst="rect">
            <a:avLst/>
          </a:prstGeom>
          <a:noFill/>
          <a:ln>
            <a:noFill/>
          </a:ln>
        </p:spPr>
        <p:txBody>
          <a:bodyPr wrap="square" rtlCol="0">
            <a:spAutoFit/>
          </a:bodyPr>
          <a:lstStyle/>
          <a:p>
            <a:r>
              <a:rPr lang="en-GB" sz="1200" b="1" i="1" dirty="0">
                <a:solidFill>
                  <a:srgbClr val="00B050"/>
                </a:solidFill>
              </a:rPr>
              <a:t>Example 12 – You do…</a:t>
            </a:r>
          </a:p>
        </p:txBody>
      </p:sp>
      <p:sp>
        <p:nvSpPr>
          <p:cNvPr id="7" name="TextBox 6">
            <a:extLst>
              <a:ext uri="{FF2B5EF4-FFF2-40B4-BE49-F238E27FC236}">
                <a16:creationId xmlns:a16="http://schemas.microsoft.com/office/drawing/2014/main" id="{375B7AE0-19A7-BD22-B52C-B27143053A37}"/>
              </a:ext>
            </a:extLst>
          </p:cNvPr>
          <p:cNvSpPr txBox="1"/>
          <p:nvPr/>
        </p:nvSpPr>
        <p:spPr>
          <a:xfrm>
            <a:off x="3216953" y="463206"/>
            <a:ext cx="1643405" cy="276999"/>
          </a:xfrm>
          <a:prstGeom prst="rect">
            <a:avLst/>
          </a:prstGeom>
          <a:noFill/>
          <a:ln>
            <a:noFill/>
          </a:ln>
        </p:spPr>
        <p:txBody>
          <a:bodyPr wrap="square" rtlCol="0">
            <a:spAutoFit/>
          </a:bodyPr>
          <a:lstStyle/>
          <a:p>
            <a:r>
              <a:rPr lang="en-GB" sz="1200" b="1" i="1" dirty="0">
                <a:solidFill>
                  <a:schemeClr val="accent2"/>
                </a:solidFill>
              </a:rPr>
              <a:t>Example 11 – We do…</a:t>
            </a:r>
          </a:p>
        </p:txBody>
      </p:sp>
      <p:sp>
        <p:nvSpPr>
          <p:cNvPr id="14" name="Rectangle 13">
            <a:extLst>
              <a:ext uri="{FF2B5EF4-FFF2-40B4-BE49-F238E27FC236}">
                <a16:creationId xmlns:a16="http://schemas.microsoft.com/office/drawing/2014/main" id="{6E53E765-66A0-6212-EFCB-1512C02E8FAB}"/>
              </a:ext>
            </a:extLst>
          </p:cNvPr>
          <p:cNvSpPr/>
          <p:nvPr/>
        </p:nvSpPr>
        <p:spPr>
          <a:xfrm>
            <a:off x="123912" y="3861220"/>
            <a:ext cx="1643928" cy="27699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
        <p:nvSpPr>
          <p:cNvPr id="15" name="TextBox 14">
            <a:extLst>
              <a:ext uri="{FF2B5EF4-FFF2-40B4-BE49-F238E27FC236}">
                <a16:creationId xmlns:a16="http://schemas.microsoft.com/office/drawing/2014/main" id="{FD399713-43D7-9F18-556D-DE275A4F3E68}"/>
              </a:ext>
            </a:extLst>
          </p:cNvPr>
          <p:cNvSpPr txBox="1"/>
          <p:nvPr/>
        </p:nvSpPr>
        <p:spPr>
          <a:xfrm>
            <a:off x="1767465" y="3921139"/>
            <a:ext cx="3230335" cy="276999"/>
          </a:xfrm>
          <a:prstGeom prst="rect">
            <a:avLst/>
          </a:prstGeom>
          <a:noFill/>
        </p:spPr>
        <p:txBody>
          <a:bodyPr wrap="square" rtlCol="0">
            <a:spAutoFit/>
          </a:bodyPr>
          <a:lstStyle/>
          <a:p>
            <a:r>
              <a:rPr lang="en-US" sz="1200" dirty="0"/>
              <a:t>4. Work out the answers to the following:</a:t>
            </a:r>
          </a:p>
        </p:txBody>
      </p:sp>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954FBBF7-5460-5BB4-B52E-A996AA5D2CD2}"/>
                  </a:ext>
                </a:extLst>
              </p:cNvPr>
              <p:cNvGraphicFramePr>
                <a:graphicFrameLocks noGrp="1"/>
              </p:cNvGraphicFramePr>
              <p:nvPr>
                <p:extLst>
                  <p:ext uri="{D42A27DB-BD31-4B8C-83A1-F6EECF244321}">
                    <p14:modId xmlns:p14="http://schemas.microsoft.com/office/powerpoint/2010/main" val="3030017031"/>
                  </p:ext>
                </p:extLst>
              </p:nvPr>
            </p:nvGraphicFramePr>
            <p:xfrm>
              <a:off x="117989" y="4194834"/>
              <a:ext cx="6593639" cy="1082008"/>
            </p:xfrm>
            <a:graphic>
              <a:graphicData uri="http://schemas.openxmlformats.org/drawingml/2006/table">
                <a:tbl>
                  <a:tblPr firstRow="1" bandRow="1">
                    <a:tableStyleId>{5C22544A-7EE6-4342-B048-85BDC9FD1C3A}</a:tableStyleId>
                  </a:tblPr>
                  <a:tblGrid>
                    <a:gridCol w="1911919">
                      <a:extLst>
                        <a:ext uri="{9D8B030D-6E8A-4147-A177-3AD203B41FA5}">
                          <a16:colId xmlns:a16="http://schemas.microsoft.com/office/drawing/2014/main" val="748329969"/>
                        </a:ext>
                      </a:extLst>
                    </a:gridCol>
                    <a:gridCol w="4681720">
                      <a:extLst>
                        <a:ext uri="{9D8B030D-6E8A-4147-A177-3AD203B41FA5}">
                          <a16:colId xmlns:a16="http://schemas.microsoft.com/office/drawing/2014/main" val="2425206989"/>
                        </a:ext>
                      </a:extLst>
                    </a:gridCol>
                  </a:tblGrid>
                  <a:tr h="194286">
                    <a:tc>
                      <a:txBody>
                        <a:bodyPr/>
                        <a:lstStyle/>
                        <a:p>
                          <a:pPr algn="ctr"/>
                          <a:r>
                            <a:rPr lang="en-GB" sz="1200" b="1" dirty="0">
                              <a:solidFill>
                                <a:schemeClr val="tx1"/>
                              </a:solidFill>
                            </a:rPr>
                            <a:t>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1" dirty="0">
                              <a:solidFill>
                                <a:schemeClr val="tx1"/>
                              </a:solidFill>
                            </a:rPr>
                            <a:t>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4743590"/>
                      </a:ext>
                    </a:extLst>
                  </a:tr>
                  <a:tr h="40384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a) </a:t>
                          </a:r>
                          <a14:m>
                            <m:oMath xmlns:m="http://schemas.openxmlformats.org/officeDocument/2006/math">
                              <m:sSup>
                                <m:sSupPr>
                                  <m:ctrlPr>
                                    <a:rPr lang="en-GB" sz="1200" b="0" i="1" smtClean="0">
                                      <a:latin typeface="Cambria Math" panose="02040503050406030204" pitchFamily="18" charset="0"/>
                                    </a:rPr>
                                  </m:ctrlPr>
                                </m:sSupPr>
                                <m:e>
                                  <m:d>
                                    <m:dPr>
                                      <m:ctrlPr>
                                        <a:rPr lang="en-GB" sz="1200" b="0" i="1" smtClean="0">
                                          <a:latin typeface="Cambria Math" panose="02040503050406030204" pitchFamily="18" charset="0"/>
                                        </a:rPr>
                                      </m:ctrlPr>
                                    </m:dPr>
                                    <m:e>
                                      <m:r>
                                        <a:rPr lang="en-GB" sz="1200" b="0" i="1" smtClean="0">
                                          <a:latin typeface="Cambria Math" panose="02040503050406030204" pitchFamily="18" charset="0"/>
                                        </a:rPr>
                                        <m:t>1+2</m:t>
                                      </m:r>
                                    </m:e>
                                  </m:d>
                                </m:e>
                                <m:sup>
                                  <m:r>
                                    <a:rPr lang="en-GB" sz="1200" b="0" i="1" smtClean="0">
                                      <a:latin typeface="Cambria Math" panose="02040503050406030204" pitchFamily="18" charset="0"/>
                                    </a:rPr>
                                    <m:t>2</m:t>
                                  </m:r>
                                </m:sup>
                              </m:sSup>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3914284"/>
                      </a:ext>
                    </a:extLst>
                  </a:tr>
                  <a:tr h="40384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b) </a:t>
                          </a:r>
                          <a14:m>
                            <m:oMath xmlns:m="http://schemas.openxmlformats.org/officeDocument/2006/math">
                              <m:sSup>
                                <m:sSupPr>
                                  <m:ctrlPr>
                                    <a:rPr lang="en-GB" sz="1200" b="0" i="1" smtClean="0">
                                      <a:latin typeface="Cambria Math" panose="02040503050406030204" pitchFamily="18" charset="0"/>
                                      <a:ea typeface="Cambria Math" panose="02040503050406030204" pitchFamily="18" charset="0"/>
                                    </a:rPr>
                                  </m:ctrlPr>
                                </m:sSupPr>
                                <m:e>
                                  <m:d>
                                    <m:dPr>
                                      <m:ctrlPr>
                                        <a:rPr lang="en-GB" sz="1200" b="0" i="1" smtClean="0">
                                          <a:latin typeface="Cambria Math" panose="02040503050406030204" pitchFamily="18" charset="0"/>
                                          <a:ea typeface="Cambria Math" panose="02040503050406030204" pitchFamily="18" charset="0"/>
                                        </a:rPr>
                                      </m:ctrlPr>
                                    </m:dPr>
                                    <m:e>
                                      <m:r>
                                        <a:rPr lang="en-GB" sz="1200" b="0" i="1" smtClean="0">
                                          <a:latin typeface="Cambria Math" panose="02040503050406030204" pitchFamily="18" charset="0"/>
                                          <a:ea typeface="Cambria Math" panose="02040503050406030204" pitchFamily="18" charset="0"/>
                                        </a:rPr>
                                        <m:t>2+8</m:t>
                                      </m:r>
                                    </m:e>
                                  </m:d>
                                </m:e>
                                <m:sup>
                                  <m:r>
                                    <a:rPr lang="en-GB" sz="1200" b="0" i="1" smtClean="0">
                                      <a:latin typeface="Cambria Math" panose="02040503050406030204" pitchFamily="18" charset="0"/>
                                      <a:ea typeface="Cambria Math" panose="02040503050406030204" pitchFamily="18" charset="0"/>
                                    </a:rPr>
                                    <m:t>2</m:t>
                                  </m:r>
                                </m:sup>
                              </m:sSup>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0371972"/>
                      </a:ext>
                    </a:extLst>
                  </a:tr>
                </a:tbl>
              </a:graphicData>
            </a:graphic>
          </p:graphicFrame>
        </mc:Choice>
        <mc:Fallback xmlns="">
          <p:graphicFrame>
            <p:nvGraphicFramePr>
              <p:cNvPr id="16" name="Table 15">
                <a:extLst>
                  <a:ext uri="{FF2B5EF4-FFF2-40B4-BE49-F238E27FC236}">
                    <a16:creationId xmlns:a16="http://schemas.microsoft.com/office/drawing/2014/main" id="{954FBBF7-5460-5BB4-B52E-A996AA5D2CD2}"/>
                  </a:ext>
                </a:extLst>
              </p:cNvPr>
              <p:cNvGraphicFramePr>
                <a:graphicFrameLocks noGrp="1"/>
              </p:cNvGraphicFramePr>
              <p:nvPr>
                <p:extLst>
                  <p:ext uri="{D42A27DB-BD31-4B8C-83A1-F6EECF244321}">
                    <p14:modId xmlns:p14="http://schemas.microsoft.com/office/powerpoint/2010/main" val="3030017031"/>
                  </p:ext>
                </p:extLst>
              </p:nvPr>
            </p:nvGraphicFramePr>
            <p:xfrm>
              <a:off x="117989" y="4194834"/>
              <a:ext cx="6593639" cy="1082008"/>
            </p:xfrm>
            <a:graphic>
              <a:graphicData uri="http://schemas.openxmlformats.org/drawingml/2006/table">
                <a:tbl>
                  <a:tblPr firstRow="1" bandRow="1">
                    <a:tableStyleId>{5C22544A-7EE6-4342-B048-85BDC9FD1C3A}</a:tableStyleId>
                  </a:tblPr>
                  <a:tblGrid>
                    <a:gridCol w="1911919">
                      <a:extLst>
                        <a:ext uri="{9D8B030D-6E8A-4147-A177-3AD203B41FA5}">
                          <a16:colId xmlns:a16="http://schemas.microsoft.com/office/drawing/2014/main" val="748329969"/>
                        </a:ext>
                      </a:extLst>
                    </a:gridCol>
                    <a:gridCol w="4681720">
                      <a:extLst>
                        <a:ext uri="{9D8B030D-6E8A-4147-A177-3AD203B41FA5}">
                          <a16:colId xmlns:a16="http://schemas.microsoft.com/office/drawing/2014/main" val="2425206989"/>
                        </a:ext>
                      </a:extLst>
                    </a:gridCol>
                  </a:tblGrid>
                  <a:tr h="274320">
                    <a:tc>
                      <a:txBody>
                        <a:bodyPr/>
                        <a:lstStyle/>
                        <a:p>
                          <a:pPr algn="ctr"/>
                          <a:r>
                            <a:rPr lang="en-GB" sz="1200" b="1" dirty="0">
                              <a:solidFill>
                                <a:schemeClr val="tx1"/>
                              </a:solidFill>
                            </a:rPr>
                            <a:t>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1" dirty="0">
                              <a:solidFill>
                                <a:schemeClr val="tx1"/>
                              </a:solidFill>
                            </a:rPr>
                            <a:t>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4743590"/>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18" t="-68657" r="-245541" b="-101493"/>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3914284"/>
                      </a:ext>
                    </a:extLst>
                  </a:tr>
                  <a:tr h="40384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18" t="-171212" r="-245541" b="-3030"/>
                          </a:stretch>
                        </a:blipFill>
                      </a:tcPr>
                    </a:tc>
                    <a:tc>
                      <a:txBody>
                        <a:bodyPr/>
                        <a:lstStyle/>
                        <a:p>
                          <a:pPr algn="ct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0371972"/>
                      </a:ext>
                    </a:extLst>
                  </a:tr>
                </a:tbl>
              </a:graphicData>
            </a:graphic>
          </p:graphicFrame>
        </mc:Fallback>
      </mc:AlternateContent>
      <p:sp>
        <p:nvSpPr>
          <p:cNvPr id="17" name="Slide Number Placeholder 16">
            <a:extLst>
              <a:ext uri="{FF2B5EF4-FFF2-40B4-BE49-F238E27FC236}">
                <a16:creationId xmlns:a16="http://schemas.microsoft.com/office/drawing/2014/main" id="{51FCB366-DE32-A56D-16A6-61C97387C2B0}"/>
              </a:ext>
            </a:extLst>
          </p:cNvPr>
          <p:cNvSpPr>
            <a:spLocks noGrp="1"/>
          </p:cNvSpPr>
          <p:nvPr>
            <p:ph type="sldNum" sz="quarter" idx="12"/>
          </p:nvPr>
        </p:nvSpPr>
        <p:spPr>
          <a:xfrm>
            <a:off x="5360670" y="9512753"/>
            <a:ext cx="1543050" cy="527403"/>
          </a:xfrm>
        </p:spPr>
        <p:txBody>
          <a:bodyPr/>
          <a:lstStyle/>
          <a:p>
            <a:fld id="{086C3A38-D272-42AA-9C88-F1FBEAE20D2C}" type="slidenum">
              <a:rPr lang="en-GB" smtClean="0"/>
              <a:t>68</a:t>
            </a:fld>
            <a:endParaRPr lang="en-GB" dirty="0"/>
          </a:p>
        </p:txBody>
      </p:sp>
      <mc:AlternateContent xmlns:mc="http://schemas.openxmlformats.org/markup-compatibility/2006" xmlns:a14="http://schemas.microsoft.com/office/drawing/2010/main">
        <mc:Choice Requires="a14">
          <p:graphicFrame>
            <p:nvGraphicFramePr>
              <p:cNvPr id="30" name="Table 29">
                <a:extLst>
                  <a:ext uri="{FF2B5EF4-FFF2-40B4-BE49-F238E27FC236}">
                    <a16:creationId xmlns:a16="http://schemas.microsoft.com/office/drawing/2014/main" id="{2962F73F-6B08-E28D-91E4-7F287B2AD365}"/>
                  </a:ext>
                </a:extLst>
              </p:cNvPr>
              <p:cNvGraphicFramePr>
                <a:graphicFrameLocks noGrp="1"/>
              </p:cNvGraphicFramePr>
              <p:nvPr>
                <p:extLst>
                  <p:ext uri="{D42A27DB-BD31-4B8C-83A1-F6EECF244321}">
                    <p14:modId xmlns:p14="http://schemas.microsoft.com/office/powerpoint/2010/main" val="4172265099"/>
                  </p:ext>
                </p:extLst>
              </p:nvPr>
            </p:nvGraphicFramePr>
            <p:xfrm>
              <a:off x="117990" y="5276842"/>
              <a:ext cx="6593640" cy="2016000"/>
            </p:xfrm>
            <a:graphic>
              <a:graphicData uri="http://schemas.openxmlformats.org/drawingml/2006/table">
                <a:tbl>
                  <a:tblPr firstRow="1" bandRow="1">
                    <a:tableStyleId>{5C22544A-7EE6-4342-B048-85BDC9FD1C3A}</a:tableStyleId>
                  </a:tblPr>
                  <a:tblGrid>
                    <a:gridCol w="1913068">
                      <a:extLst>
                        <a:ext uri="{9D8B030D-6E8A-4147-A177-3AD203B41FA5}">
                          <a16:colId xmlns:a16="http://schemas.microsoft.com/office/drawing/2014/main" val="577735621"/>
                        </a:ext>
                      </a:extLst>
                    </a:gridCol>
                    <a:gridCol w="4680572">
                      <a:extLst>
                        <a:ext uri="{9D8B030D-6E8A-4147-A177-3AD203B41FA5}">
                          <a16:colId xmlns:a16="http://schemas.microsoft.com/office/drawing/2014/main" val="1734380290"/>
                        </a:ext>
                      </a:extLst>
                    </a:gridCol>
                  </a:tblGrid>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c) </a:t>
                          </a:r>
                          <a14:m>
                            <m:oMath xmlns:m="http://schemas.openxmlformats.org/officeDocument/2006/math">
                              <m:sSup>
                                <m:sSupPr>
                                  <m:ctrlPr>
                                    <a:rPr lang="en-GB" sz="1200" b="0" i="1" smtClean="0">
                                      <a:solidFill>
                                        <a:schemeClr val="tx1"/>
                                      </a:solidFill>
                                      <a:latin typeface="Cambria Math" panose="02040503050406030204" pitchFamily="18" charset="0"/>
                                    </a:rPr>
                                  </m:ctrlPr>
                                </m:sSupPr>
                                <m:e>
                                  <m:d>
                                    <m:dPr>
                                      <m:ctrlPr>
                                        <a:rPr lang="en-GB" sz="1200" b="0" i="1" smtClean="0">
                                          <a:solidFill>
                                            <a:schemeClr val="tx1"/>
                                          </a:solidFill>
                                          <a:latin typeface="Cambria Math" panose="02040503050406030204" pitchFamily="18" charset="0"/>
                                        </a:rPr>
                                      </m:ctrlPr>
                                    </m:dPr>
                                    <m:e>
                                      <m:r>
                                        <a:rPr lang="en-GB" sz="1200" b="0" i="1" smtClean="0">
                                          <a:solidFill>
                                            <a:schemeClr val="tx1"/>
                                          </a:solidFill>
                                          <a:latin typeface="Cambria Math" panose="02040503050406030204" pitchFamily="18" charset="0"/>
                                        </a:rPr>
                                        <m:t>10−7</m:t>
                                      </m:r>
                                    </m:e>
                                  </m:d>
                                </m:e>
                                <m:sup>
                                  <m:r>
                                    <a:rPr lang="en-GB" sz="1200" b="0" i="1" smtClean="0">
                                      <a:solidFill>
                                        <a:schemeClr val="tx1"/>
                                      </a:solidFill>
                                      <a:latin typeface="Cambria Math" panose="02040503050406030204" pitchFamily="18" charset="0"/>
                                    </a:rPr>
                                    <m:t>3</m:t>
                                  </m:r>
                                </m:sup>
                              </m:sSup>
                            </m:oMath>
                          </a14:m>
                          <a:endParaRPr 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1490695"/>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t>d) 15</a:t>
                          </a:r>
                          <a:r>
                            <a:rPr lang="en-US" sz="1200" b="0" baseline="0" dirty="0"/>
                            <a:t> </a:t>
                          </a:r>
                          <a14:m>
                            <m:oMath xmlns:m="http://schemas.openxmlformats.org/officeDocument/2006/math">
                              <m:r>
                                <a:rPr lang="en-GB" sz="1200" b="0" i="1" smtClean="0">
                                  <a:latin typeface="Cambria Math" panose="02040503050406030204" pitchFamily="18" charset="0"/>
                                  <a:ea typeface="Cambria Math" panose="02040503050406030204" pitchFamily="18" charset="0"/>
                                </a:rPr>
                                <m:t>÷(3 −2)</m:t>
                              </m:r>
                            </m:oMath>
                          </a14:m>
                          <a:endParaRPr 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3906694"/>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e) </a:t>
                          </a:r>
                          <a14:m>
                            <m:oMath xmlns:m="http://schemas.openxmlformats.org/officeDocument/2006/math">
                              <m:r>
                                <a:rPr lang="en-GB" sz="1200" b="0" i="0" smtClean="0">
                                  <a:latin typeface="Cambria Math" panose="02040503050406030204" pitchFamily="18" charset="0"/>
                                </a:rPr>
                                <m:t>35 − </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9+3</m:t>
                                  </m:r>
                                </m:e>
                              </m:d>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2654558"/>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f) </a:t>
                          </a:r>
                          <a14:m>
                            <m:oMath xmlns:m="http://schemas.openxmlformats.org/officeDocument/2006/math">
                              <m:r>
                                <a:rPr lang="en-GB" sz="1200" b="0" i="0" smtClean="0">
                                  <a:latin typeface="Cambria Math" panose="02040503050406030204" pitchFamily="18" charset="0"/>
                                </a:rPr>
                                <m:t>9</m:t>
                              </m:r>
                              <m:r>
                                <a:rPr lang="en-GB" sz="1200" b="0" i="1" smtClean="0">
                                  <a:latin typeface="Cambria Math" panose="02040503050406030204" pitchFamily="18" charset="0"/>
                                  <a:ea typeface="Cambria Math" panose="02040503050406030204" pitchFamily="18" charset="0"/>
                                </a:rPr>
                                <m:t>×</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7+4</m:t>
                                  </m:r>
                                </m:e>
                              </m:d>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91488589"/>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g) </a:t>
                          </a:r>
                          <a14:m>
                            <m:oMath xmlns:m="http://schemas.openxmlformats.org/officeDocument/2006/math">
                              <m:rad>
                                <m:radPr>
                                  <m:degHide m:val="on"/>
                                  <m:ctrlPr>
                                    <a:rPr lang="en-US" sz="1200" i="1" smtClean="0">
                                      <a:latin typeface="Cambria Math" panose="02040503050406030204" pitchFamily="18" charset="0"/>
                                    </a:rPr>
                                  </m:ctrlPr>
                                </m:radPr>
                                <m:deg/>
                                <m:e>
                                  <m:r>
                                    <a:rPr lang="en-GB" sz="1200" b="0" i="1" smtClean="0">
                                      <a:latin typeface="Cambria Math" panose="02040503050406030204" pitchFamily="18" charset="0"/>
                                    </a:rPr>
                                    <m:t>(2+14)</m:t>
                                  </m:r>
                                </m:e>
                              </m:rad>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4389880"/>
                      </a:ext>
                    </a:extLst>
                  </a:tr>
                </a:tbl>
              </a:graphicData>
            </a:graphic>
          </p:graphicFrame>
        </mc:Choice>
        <mc:Fallback xmlns="">
          <p:graphicFrame>
            <p:nvGraphicFramePr>
              <p:cNvPr id="30" name="Table 29">
                <a:extLst>
                  <a:ext uri="{FF2B5EF4-FFF2-40B4-BE49-F238E27FC236}">
                    <a16:creationId xmlns:a16="http://schemas.microsoft.com/office/drawing/2014/main" id="{2962F73F-6B08-E28D-91E4-7F287B2AD365}"/>
                  </a:ext>
                </a:extLst>
              </p:cNvPr>
              <p:cNvGraphicFramePr>
                <a:graphicFrameLocks noGrp="1"/>
              </p:cNvGraphicFramePr>
              <p:nvPr>
                <p:extLst>
                  <p:ext uri="{D42A27DB-BD31-4B8C-83A1-F6EECF244321}">
                    <p14:modId xmlns:p14="http://schemas.microsoft.com/office/powerpoint/2010/main" val="4172265099"/>
                  </p:ext>
                </p:extLst>
              </p:nvPr>
            </p:nvGraphicFramePr>
            <p:xfrm>
              <a:off x="117990" y="5276842"/>
              <a:ext cx="6593640" cy="2016000"/>
            </p:xfrm>
            <a:graphic>
              <a:graphicData uri="http://schemas.openxmlformats.org/drawingml/2006/table">
                <a:tbl>
                  <a:tblPr firstRow="1" bandRow="1">
                    <a:tableStyleId>{5C22544A-7EE6-4342-B048-85BDC9FD1C3A}</a:tableStyleId>
                  </a:tblPr>
                  <a:tblGrid>
                    <a:gridCol w="1913068">
                      <a:extLst>
                        <a:ext uri="{9D8B030D-6E8A-4147-A177-3AD203B41FA5}">
                          <a16:colId xmlns:a16="http://schemas.microsoft.com/office/drawing/2014/main" val="577735621"/>
                        </a:ext>
                      </a:extLst>
                    </a:gridCol>
                    <a:gridCol w="4680572">
                      <a:extLst>
                        <a:ext uri="{9D8B030D-6E8A-4147-A177-3AD203B41FA5}">
                          <a16:colId xmlns:a16="http://schemas.microsoft.com/office/drawing/2014/main" val="1734380290"/>
                        </a:ext>
                      </a:extLst>
                    </a:gridCol>
                  </a:tblGrid>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8" t="-1515" r="-245541" b="-406061"/>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1490695"/>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8" t="-100000" r="-245541" b="-300000"/>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3906694"/>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8" t="-203030" r="-245541" b="-204545"/>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2654558"/>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8" t="-298507" r="-245541" b="-101493"/>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91488589"/>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8" t="-404545" r="-245541" b="-3030"/>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438988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3" name="Table 32">
                <a:extLst>
                  <a:ext uri="{FF2B5EF4-FFF2-40B4-BE49-F238E27FC236}">
                    <a16:creationId xmlns:a16="http://schemas.microsoft.com/office/drawing/2014/main" id="{31DA9621-0191-AC63-1A8E-B24CA7EBF1A0}"/>
                  </a:ext>
                </a:extLst>
              </p:cNvPr>
              <p:cNvGraphicFramePr>
                <a:graphicFrameLocks noGrp="1"/>
              </p:cNvGraphicFramePr>
              <p:nvPr>
                <p:extLst>
                  <p:ext uri="{D42A27DB-BD31-4B8C-83A1-F6EECF244321}">
                    <p14:modId xmlns:p14="http://schemas.microsoft.com/office/powerpoint/2010/main" val="1946426573"/>
                  </p:ext>
                </p:extLst>
              </p:nvPr>
            </p:nvGraphicFramePr>
            <p:xfrm>
              <a:off x="117989" y="7292842"/>
              <a:ext cx="6593641" cy="2419200"/>
            </p:xfrm>
            <a:graphic>
              <a:graphicData uri="http://schemas.openxmlformats.org/drawingml/2006/table">
                <a:tbl>
                  <a:tblPr firstRow="1" bandRow="1">
                    <a:tableStyleId>{5C22544A-7EE6-4342-B048-85BDC9FD1C3A}</a:tableStyleId>
                  </a:tblPr>
                  <a:tblGrid>
                    <a:gridCol w="1908740">
                      <a:extLst>
                        <a:ext uri="{9D8B030D-6E8A-4147-A177-3AD203B41FA5}">
                          <a16:colId xmlns:a16="http://schemas.microsoft.com/office/drawing/2014/main" val="1265677492"/>
                        </a:ext>
                      </a:extLst>
                    </a:gridCol>
                    <a:gridCol w="4684901">
                      <a:extLst>
                        <a:ext uri="{9D8B030D-6E8A-4147-A177-3AD203B41FA5}">
                          <a16:colId xmlns:a16="http://schemas.microsoft.com/office/drawing/2014/main" val="397672867"/>
                        </a:ext>
                      </a:extLst>
                    </a:gridCol>
                  </a:tblGrid>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h) </a:t>
                          </a:r>
                          <a14:m>
                            <m:oMath xmlns:m="http://schemas.openxmlformats.org/officeDocument/2006/math">
                              <m:r>
                                <a:rPr lang="en-GB" sz="1200" b="0" i="1" smtClean="0">
                                  <a:solidFill>
                                    <a:schemeClr val="tx1"/>
                                  </a:solidFill>
                                  <a:latin typeface="Cambria Math" panose="02040503050406030204" pitchFamily="18" charset="0"/>
                                </a:rPr>
                                <m:t>5 </m:t>
                              </m:r>
                              <m:r>
                                <a:rPr lang="en-GB" sz="1200" b="0" i="1" smtClean="0">
                                  <a:solidFill>
                                    <a:schemeClr val="tx1"/>
                                  </a:solidFill>
                                  <a:latin typeface="Cambria Math" panose="02040503050406030204" pitchFamily="18" charset="0"/>
                                  <a:ea typeface="Cambria Math" panose="02040503050406030204" pitchFamily="18" charset="0"/>
                                </a:rPr>
                                <m:t>×</m:t>
                              </m:r>
                              <m:d>
                                <m:dPr>
                                  <m:ctrlPr>
                                    <a:rPr lang="en-GB" sz="1200" b="0" i="1" smtClean="0">
                                      <a:solidFill>
                                        <a:schemeClr val="tx1"/>
                                      </a:solidFill>
                                      <a:latin typeface="Cambria Math" panose="02040503050406030204" pitchFamily="18" charset="0"/>
                                      <a:ea typeface="Cambria Math" panose="02040503050406030204" pitchFamily="18" charset="0"/>
                                    </a:rPr>
                                  </m:ctrlPr>
                                </m:dPr>
                                <m:e>
                                  <m:r>
                                    <a:rPr lang="en-GB" sz="1200" b="0" i="0" smtClean="0">
                                      <a:solidFill>
                                        <a:schemeClr val="tx1"/>
                                      </a:solidFill>
                                      <a:latin typeface="Cambria Math" panose="02040503050406030204" pitchFamily="18" charset="0"/>
                                      <a:ea typeface="Cambria Math" panose="02040503050406030204" pitchFamily="18" charset="0"/>
                                    </a:rPr>
                                    <m:t>2+1</m:t>
                                  </m:r>
                                </m:e>
                              </m:d>
                              <m:r>
                                <a:rPr lang="en-GB" sz="1200" b="0" i="0" smtClean="0">
                                  <a:solidFill>
                                    <a:schemeClr val="tx1"/>
                                  </a:solidFill>
                                  <a:latin typeface="Cambria Math" panose="02040503050406030204" pitchFamily="18" charset="0"/>
                                  <a:ea typeface="Cambria Math" panose="02040503050406030204" pitchFamily="18" charset="0"/>
                                </a:rPr>
                                <m:t>+4</m:t>
                              </m:r>
                            </m:oMath>
                          </a14:m>
                          <a:endParaRPr lang="en-GB" sz="1200" b="0" dirty="0">
                            <a:solidFill>
                              <a:schemeClr val="tx1"/>
                            </a:solidFill>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2572457"/>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i) </a:t>
                          </a:r>
                          <a14:m>
                            <m:oMath xmlns:m="http://schemas.openxmlformats.org/officeDocument/2006/math">
                              <m:r>
                                <a:rPr lang="en-GB" sz="1200" b="0" i="1" smtClean="0">
                                  <a:latin typeface="Cambria Math" panose="02040503050406030204" pitchFamily="18" charset="0"/>
                                </a:rPr>
                                <m:t>8+</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5−1</m:t>
                                  </m:r>
                                </m:e>
                              </m:d>
                              <m:r>
                                <a:rPr lang="en-GB" sz="1200" b="0" i="1" smtClean="0">
                                  <a:latin typeface="Cambria Math" panose="02040503050406030204" pitchFamily="18" charset="0"/>
                                  <a:ea typeface="Cambria Math" panose="02040503050406030204" pitchFamily="18" charset="0"/>
                                </a:rPr>
                                <m:t>×</m:t>
                              </m:r>
                            </m:oMath>
                          </a14:m>
                          <a:r>
                            <a:rPr lang="en-US" sz="1200" dirty="0"/>
                            <a:t>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205072"/>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j) </a:t>
                          </a:r>
                          <a14:m>
                            <m:oMath xmlns:m="http://schemas.openxmlformats.org/officeDocument/2006/math">
                              <m:r>
                                <a:rPr lang="en-GB" sz="1200" b="0" i="1" smtClean="0">
                                  <a:latin typeface="Cambria Math" panose="02040503050406030204" pitchFamily="18" charset="0"/>
                                </a:rPr>
                                <m:t>7 </m:t>
                              </m:r>
                              <m:r>
                                <a:rPr lang="en-GB" sz="1200" b="0" i="1" smtClean="0">
                                  <a:latin typeface="Cambria Math" panose="02040503050406030204" pitchFamily="18" charset="0"/>
                                  <a:ea typeface="Cambria Math" panose="02040503050406030204" pitchFamily="18" charset="0"/>
                                </a:rPr>
                                <m:t>×</m:t>
                              </m:r>
                              <m:sSup>
                                <m:sSupPr>
                                  <m:ctrlPr>
                                    <a:rPr lang="en-GB" sz="1200" b="0" i="1" smtClean="0">
                                      <a:latin typeface="Cambria Math" panose="02040503050406030204" pitchFamily="18" charset="0"/>
                                      <a:ea typeface="Cambria Math" panose="02040503050406030204" pitchFamily="18" charset="0"/>
                                    </a:rPr>
                                  </m:ctrlPr>
                                </m:sSupPr>
                                <m:e>
                                  <m:d>
                                    <m:dPr>
                                      <m:ctrlPr>
                                        <a:rPr lang="en-GB" sz="1200" b="0" i="1" smtClean="0">
                                          <a:latin typeface="Cambria Math" panose="02040503050406030204" pitchFamily="18" charset="0"/>
                                          <a:ea typeface="Cambria Math" panose="02040503050406030204" pitchFamily="18" charset="0"/>
                                        </a:rPr>
                                      </m:ctrlPr>
                                    </m:dPr>
                                    <m:e>
                                      <m:r>
                                        <a:rPr lang="en-GB" sz="1200" b="0" i="0" smtClean="0">
                                          <a:latin typeface="Cambria Math" panose="02040503050406030204" pitchFamily="18" charset="0"/>
                                          <a:ea typeface="Cambria Math" panose="02040503050406030204" pitchFamily="18" charset="0"/>
                                        </a:rPr>
                                        <m:t>8</m:t>
                                      </m:r>
                                      <m:r>
                                        <a:rPr lang="en-GB" sz="1200" b="0" i="1" smtClean="0">
                                          <a:latin typeface="Cambria Math" panose="02040503050406030204" pitchFamily="18" charset="0"/>
                                          <a:ea typeface="Cambria Math" panose="02040503050406030204" pitchFamily="18" charset="0"/>
                                        </a:rPr>
                                        <m:t>÷</m:t>
                                      </m:r>
                                      <m:r>
                                        <a:rPr lang="en-GB" sz="1200" b="0" i="0" smtClean="0">
                                          <a:latin typeface="Cambria Math" panose="02040503050406030204" pitchFamily="18" charset="0"/>
                                          <a:ea typeface="Cambria Math" panose="02040503050406030204" pitchFamily="18" charset="0"/>
                                        </a:rPr>
                                        <m:t>4</m:t>
                                      </m:r>
                                    </m:e>
                                  </m:d>
                                </m:e>
                                <m:sup>
                                  <m:r>
                                    <a:rPr lang="en-GB" sz="1200" b="0" i="0" smtClean="0">
                                      <a:latin typeface="Cambria Math" panose="02040503050406030204" pitchFamily="18" charset="0"/>
                                      <a:ea typeface="Cambria Math" panose="02040503050406030204" pitchFamily="18" charset="0"/>
                                    </a:rPr>
                                    <m:t>2</m:t>
                                  </m:r>
                                </m:sup>
                              </m:sSup>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5334972"/>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k) </a:t>
                          </a:r>
                          <a14:m>
                            <m:oMath xmlns:m="http://schemas.openxmlformats.org/officeDocument/2006/math">
                              <m:r>
                                <a:rPr lang="en-GB" sz="1200" i="1" dirty="0" smtClean="0">
                                  <a:latin typeface="Cambria Math" panose="02040503050406030204" pitchFamily="18" charset="0"/>
                                </a:rPr>
                                <m:t>3+9×(7</m:t>
                              </m:r>
                              <m:r>
                                <a:rPr lang="en-GB" sz="1200" b="0" i="1" dirty="0" smtClean="0">
                                  <a:latin typeface="Cambria Math" panose="02040503050406030204" pitchFamily="18" charset="0"/>
                                </a:rPr>
                                <m:t>−</m:t>
                              </m:r>
                              <m:r>
                                <a:rPr lang="en-GB" sz="1200" i="1" dirty="0" smtClean="0">
                                  <a:latin typeface="Cambria Math" panose="02040503050406030204" pitchFamily="18" charset="0"/>
                                </a:rPr>
                                <m:t>2)</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58592816"/>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l) </a:t>
                          </a:r>
                          <a14:m>
                            <m:oMath xmlns:m="http://schemas.openxmlformats.org/officeDocument/2006/math">
                              <m:r>
                                <a:rPr lang="en-GB" sz="1200" i="1" dirty="0" smtClean="0">
                                  <a:latin typeface="Cambria Math" panose="02040503050406030204" pitchFamily="18" charset="0"/>
                                </a:rPr>
                                <m:t>(9+4)×(100÷25)</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8190192"/>
                      </a:ext>
                    </a:extLst>
                  </a:tr>
                  <a:tr h="403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m) </a:t>
                          </a:r>
                          <a14:m>
                            <m:oMath xmlns:m="http://schemas.openxmlformats.org/officeDocument/2006/math">
                              <m:rad>
                                <m:radPr>
                                  <m:degHide m:val="on"/>
                                  <m:ctrlPr>
                                    <a:rPr lang="en-GB" sz="1200" i="1" dirty="0" smtClean="0">
                                      <a:latin typeface="Cambria Math" panose="02040503050406030204" pitchFamily="18" charset="0"/>
                                    </a:rPr>
                                  </m:ctrlPr>
                                </m:radPr>
                                <m:deg/>
                                <m:e>
                                  <m:r>
                                    <a:rPr lang="en-GB" sz="1200" b="0" i="1" dirty="0" smtClean="0">
                                      <a:latin typeface="Cambria Math" panose="02040503050406030204" pitchFamily="18" charset="0"/>
                                    </a:rPr>
                                    <m:t>81</m:t>
                                  </m:r>
                                </m:e>
                              </m:rad>
                              <m:r>
                                <a:rPr lang="en-GB" sz="1200" i="1" dirty="0" smtClean="0">
                                  <a:latin typeface="Cambria Math" panose="02040503050406030204" pitchFamily="18" charset="0"/>
                                </a:rPr>
                                <m:t>−(9−7)×3</m:t>
                              </m:r>
                            </m:oMath>
                          </a14:m>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1352512"/>
                      </a:ext>
                    </a:extLst>
                  </a:tr>
                </a:tbl>
              </a:graphicData>
            </a:graphic>
          </p:graphicFrame>
        </mc:Choice>
        <mc:Fallback xmlns="">
          <p:graphicFrame>
            <p:nvGraphicFramePr>
              <p:cNvPr id="33" name="Table 32">
                <a:extLst>
                  <a:ext uri="{FF2B5EF4-FFF2-40B4-BE49-F238E27FC236}">
                    <a16:creationId xmlns:a16="http://schemas.microsoft.com/office/drawing/2014/main" id="{31DA9621-0191-AC63-1A8E-B24CA7EBF1A0}"/>
                  </a:ext>
                </a:extLst>
              </p:cNvPr>
              <p:cNvGraphicFramePr>
                <a:graphicFrameLocks noGrp="1"/>
              </p:cNvGraphicFramePr>
              <p:nvPr>
                <p:extLst>
                  <p:ext uri="{D42A27DB-BD31-4B8C-83A1-F6EECF244321}">
                    <p14:modId xmlns:p14="http://schemas.microsoft.com/office/powerpoint/2010/main" val="1946426573"/>
                  </p:ext>
                </p:extLst>
              </p:nvPr>
            </p:nvGraphicFramePr>
            <p:xfrm>
              <a:off x="117989" y="7292842"/>
              <a:ext cx="6593641" cy="2419200"/>
            </p:xfrm>
            <a:graphic>
              <a:graphicData uri="http://schemas.openxmlformats.org/drawingml/2006/table">
                <a:tbl>
                  <a:tblPr firstRow="1" bandRow="1">
                    <a:tableStyleId>{5C22544A-7EE6-4342-B048-85BDC9FD1C3A}</a:tableStyleId>
                  </a:tblPr>
                  <a:tblGrid>
                    <a:gridCol w="1908740">
                      <a:extLst>
                        <a:ext uri="{9D8B030D-6E8A-4147-A177-3AD203B41FA5}">
                          <a16:colId xmlns:a16="http://schemas.microsoft.com/office/drawing/2014/main" val="1265677492"/>
                        </a:ext>
                      </a:extLst>
                    </a:gridCol>
                    <a:gridCol w="4684901">
                      <a:extLst>
                        <a:ext uri="{9D8B030D-6E8A-4147-A177-3AD203B41FA5}">
                          <a16:colId xmlns:a16="http://schemas.microsoft.com/office/drawing/2014/main" val="397672867"/>
                        </a:ext>
                      </a:extLst>
                    </a:gridCol>
                  </a:tblGrid>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19" t="-1515" r="-246645" b="-506061"/>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2572457"/>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19" t="-100000" r="-246645" b="-398507"/>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205072"/>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19" t="-203030" r="-246645" b="-304545"/>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5334972"/>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19" t="-303030" r="-246645" b="-204545"/>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58592816"/>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19" t="-397015" r="-246645" b="-101493"/>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8190192"/>
                      </a:ext>
                    </a:extLst>
                  </a:tr>
                  <a:tr h="4032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19" t="-504545" r="-246645" b="-3030"/>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1352512"/>
                      </a:ext>
                    </a:extLst>
                  </a:tr>
                </a:tbl>
              </a:graphicData>
            </a:graphic>
          </p:graphicFrame>
        </mc:Fallback>
      </mc:AlternateContent>
    </p:spTree>
    <p:extLst>
      <p:ext uri="{BB962C8B-B14F-4D97-AF65-F5344CB8AC3E}">
        <p14:creationId xmlns:p14="http://schemas.microsoft.com/office/powerpoint/2010/main" val="20601834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314950" y="9473178"/>
            <a:ext cx="1543050" cy="527403"/>
          </a:xfrm>
        </p:spPr>
        <p:txBody>
          <a:bodyPr/>
          <a:lstStyle/>
          <a:p>
            <a:fld id="{19F1D9CC-7119-45EC-A96C-D8C0660F3AAB}" type="slidenum">
              <a:rPr lang="en-GB" smtClean="0"/>
              <a:t>69</a:t>
            </a:fld>
            <a:endParaRPr lang="en-GB" dirty="0"/>
          </a:p>
        </p:txBody>
      </p:sp>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FE6F5DC9-3A60-57F9-C763-F568DF9DCBAF}"/>
                  </a:ext>
                </a:extLst>
              </p:cNvPr>
              <p:cNvGraphicFramePr>
                <a:graphicFrameLocks noGrp="1"/>
              </p:cNvGraphicFramePr>
              <p:nvPr>
                <p:extLst>
                  <p:ext uri="{D42A27DB-BD31-4B8C-83A1-F6EECF244321}">
                    <p14:modId xmlns:p14="http://schemas.microsoft.com/office/powerpoint/2010/main" val="2409256328"/>
                  </p:ext>
                </p:extLst>
              </p:nvPr>
            </p:nvGraphicFramePr>
            <p:xfrm>
              <a:off x="164101" y="652670"/>
              <a:ext cx="6572477" cy="2224080"/>
            </p:xfrm>
            <a:graphic>
              <a:graphicData uri="http://schemas.openxmlformats.org/drawingml/2006/table">
                <a:tbl>
                  <a:tblPr firstRow="1" bandRow="1">
                    <a:tableStyleId>{5C22544A-7EE6-4342-B048-85BDC9FD1C3A}</a:tableStyleId>
                  </a:tblPr>
                  <a:tblGrid>
                    <a:gridCol w="1344659">
                      <a:extLst>
                        <a:ext uri="{9D8B030D-6E8A-4147-A177-3AD203B41FA5}">
                          <a16:colId xmlns:a16="http://schemas.microsoft.com/office/drawing/2014/main" val="1568142362"/>
                        </a:ext>
                      </a:extLst>
                    </a:gridCol>
                    <a:gridCol w="1742606">
                      <a:extLst>
                        <a:ext uri="{9D8B030D-6E8A-4147-A177-3AD203B41FA5}">
                          <a16:colId xmlns:a16="http://schemas.microsoft.com/office/drawing/2014/main" val="3551711160"/>
                        </a:ext>
                      </a:extLst>
                    </a:gridCol>
                    <a:gridCol w="1742606">
                      <a:extLst>
                        <a:ext uri="{9D8B030D-6E8A-4147-A177-3AD203B41FA5}">
                          <a16:colId xmlns:a16="http://schemas.microsoft.com/office/drawing/2014/main" val="1712497518"/>
                        </a:ext>
                      </a:extLst>
                    </a:gridCol>
                    <a:gridCol w="1742606">
                      <a:extLst>
                        <a:ext uri="{9D8B030D-6E8A-4147-A177-3AD203B41FA5}">
                          <a16:colId xmlns:a16="http://schemas.microsoft.com/office/drawing/2014/main" val="886122921"/>
                        </a:ext>
                      </a:extLst>
                    </a:gridCol>
                  </a:tblGrid>
                  <a:tr h="396336">
                    <a:tc>
                      <a:txBody>
                        <a:bodyPr/>
                        <a:lstStyle/>
                        <a:p>
                          <a:r>
                            <a:rPr lang="en-US" sz="1100" b="1" dirty="0">
                              <a:solidFill>
                                <a:schemeClr val="tx1"/>
                              </a:solidFill>
                            </a:rPr>
                            <a:t>Steps</a:t>
                          </a:r>
                          <a:endParaRPr lang="en-GB"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Insert brackets to make the following calculation correct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Insert brackets to make the following calculation correct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Insert brackets to make the following calculation correct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584000">
                    <a:tc>
                      <a:txBody>
                        <a:bodyPr/>
                        <a:lstStyle/>
                        <a:p>
                          <a:pPr marL="0" indent="0">
                            <a:buNone/>
                          </a:pPr>
                          <a:r>
                            <a:rPr lang="en-US" sz="1200" dirty="0">
                              <a:solidFill>
                                <a:schemeClr val="tx1"/>
                              </a:solidFill>
                            </a:rPr>
                            <a:t>1) Determine the current order of operations.</a:t>
                          </a:r>
                        </a:p>
                        <a:p>
                          <a:pPr marL="0" indent="0">
                            <a:buNone/>
                          </a:pPr>
                          <a:endParaRPr lang="en-US" sz="1200" dirty="0">
                            <a:solidFill>
                              <a:schemeClr val="tx1"/>
                            </a:solidFill>
                          </a:endParaRPr>
                        </a:p>
                        <a:p>
                          <a:r>
                            <a:rPr lang="en-GB" sz="1200" dirty="0">
                              <a:solidFill>
                                <a:schemeClr val="tx1"/>
                              </a:solidFill>
                            </a:rPr>
                            <a:t>2) Insert brackets to change the order of operations.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baseline="0" smtClean="0">
                                    <a:solidFill>
                                      <a:schemeClr val="tx1"/>
                                    </a:solidFill>
                                    <a:latin typeface="Cambria Math" panose="02040503050406030204" pitchFamily="18" charset="0"/>
                                  </a:rPr>
                                  <m:t>10</m:t>
                                </m:r>
                                <m:r>
                                  <a:rPr lang="en-GB" sz="1100" b="0" i="1" baseline="0" smtClean="0">
                                    <a:solidFill>
                                      <a:schemeClr val="tx1"/>
                                    </a:solidFill>
                                    <a:latin typeface="Cambria Math" panose="02040503050406030204" pitchFamily="18" charset="0"/>
                                    <a:ea typeface="Cambria Math" panose="02040503050406030204" pitchFamily="18" charset="0"/>
                                  </a:rPr>
                                  <m:t>×2+6=80</m:t>
                                </m:r>
                              </m:oMath>
                            </m:oMathPara>
                          </a14:m>
                          <a:endParaRPr lang="en-US" sz="11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1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baseline="0" smtClean="0">
                                    <a:solidFill>
                                      <a:schemeClr val="tx1"/>
                                    </a:solidFill>
                                    <a:latin typeface="Cambria Math" panose="02040503050406030204" pitchFamily="18" charset="0"/>
                                  </a:rPr>
                                  <m:t>5+2</m:t>
                                </m:r>
                                <m:r>
                                  <a:rPr lang="en-GB" sz="1100" b="0" i="1" baseline="0" smtClean="0">
                                    <a:solidFill>
                                      <a:schemeClr val="tx1"/>
                                    </a:solidFill>
                                    <a:latin typeface="Cambria Math" panose="02040503050406030204" pitchFamily="18" charset="0"/>
                                    <a:ea typeface="Cambria Math" panose="02040503050406030204" pitchFamily="18" charset="0"/>
                                  </a:rPr>
                                  <m:t>×3+1=13</m:t>
                                </m:r>
                              </m:oMath>
                            </m:oMathPara>
                          </a14:m>
                          <a:endParaRPr lang="en-US" sz="11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100" b="0" i="1" baseline="0" dirty="0">
                            <a:solidFill>
                              <a:schemeClr val="tx1"/>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baseline="0" smtClean="0">
                                    <a:solidFill>
                                      <a:schemeClr val="tx1"/>
                                    </a:solidFill>
                                    <a:latin typeface="Cambria Math" panose="02040503050406030204" pitchFamily="18" charset="0"/>
                                  </a:rPr>
                                  <m:t>5+5</m:t>
                                </m:r>
                                <m:r>
                                  <a:rPr lang="en-GB" sz="1100" b="0" i="1" baseline="0" smtClean="0">
                                    <a:solidFill>
                                      <a:schemeClr val="tx1"/>
                                    </a:solidFill>
                                    <a:latin typeface="Cambria Math" panose="02040503050406030204" pitchFamily="18" charset="0"/>
                                    <a:ea typeface="Cambria Math" panose="02040503050406030204" pitchFamily="18" charset="0"/>
                                  </a:rPr>
                                  <m:t>÷5=2</m:t>
                                </m:r>
                              </m:oMath>
                            </m:oMathPara>
                          </a14:m>
                          <a:endParaRPr lang="en-US" sz="11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17" name="Table 16">
                <a:extLst>
                  <a:ext uri="{FF2B5EF4-FFF2-40B4-BE49-F238E27FC236}">
                    <a16:creationId xmlns:a16="http://schemas.microsoft.com/office/drawing/2014/main" id="{FE6F5DC9-3A60-57F9-C763-F568DF9DCBAF}"/>
                  </a:ext>
                </a:extLst>
              </p:cNvPr>
              <p:cNvGraphicFramePr>
                <a:graphicFrameLocks noGrp="1"/>
              </p:cNvGraphicFramePr>
              <p:nvPr>
                <p:extLst>
                  <p:ext uri="{D42A27DB-BD31-4B8C-83A1-F6EECF244321}">
                    <p14:modId xmlns:p14="http://schemas.microsoft.com/office/powerpoint/2010/main" val="2409256328"/>
                  </p:ext>
                </p:extLst>
              </p:nvPr>
            </p:nvGraphicFramePr>
            <p:xfrm>
              <a:off x="164101" y="652670"/>
              <a:ext cx="6572477" cy="2224080"/>
            </p:xfrm>
            <a:graphic>
              <a:graphicData uri="http://schemas.openxmlformats.org/drawingml/2006/table">
                <a:tbl>
                  <a:tblPr firstRow="1" bandRow="1">
                    <a:tableStyleId>{5C22544A-7EE6-4342-B048-85BDC9FD1C3A}</a:tableStyleId>
                  </a:tblPr>
                  <a:tblGrid>
                    <a:gridCol w="1344659">
                      <a:extLst>
                        <a:ext uri="{9D8B030D-6E8A-4147-A177-3AD203B41FA5}">
                          <a16:colId xmlns:a16="http://schemas.microsoft.com/office/drawing/2014/main" val="1568142362"/>
                        </a:ext>
                      </a:extLst>
                    </a:gridCol>
                    <a:gridCol w="1742606">
                      <a:extLst>
                        <a:ext uri="{9D8B030D-6E8A-4147-A177-3AD203B41FA5}">
                          <a16:colId xmlns:a16="http://schemas.microsoft.com/office/drawing/2014/main" val="3551711160"/>
                        </a:ext>
                      </a:extLst>
                    </a:gridCol>
                    <a:gridCol w="1742606">
                      <a:extLst>
                        <a:ext uri="{9D8B030D-6E8A-4147-A177-3AD203B41FA5}">
                          <a16:colId xmlns:a16="http://schemas.microsoft.com/office/drawing/2014/main" val="1712497518"/>
                        </a:ext>
                      </a:extLst>
                    </a:gridCol>
                    <a:gridCol w="1742606">
                      <a:extLst>
                        <a:ext uri="{9D8B030D-6E8A-4147-A177-3AD203B41FA5}">
                          <a16:colId xmlns:a16="http://schemas.microsoft.com/office/drawing/2014/main" val="886122921"/>
                        </a:ext>
                      </a:extLst>
                    </a:gridCol>
                  </a:tblGrid>
                  <a:tr h="640080">
                    <a:tc>
                      <a:txBody>
                        <a:bodyPr/>
                        <a:lstStyle/>
                        <a:p>
                          <a:r>
                            <a:rPr lang="en-US" sz="1100" b="1" dirty="0">
                              <a:solidFill>
                                <a:schemeClr val="tx1"/>
                              </a:solidFill>
                            </a:rPr>
                            <a:t>Steps</a:t>
                          </a:r>
                          <a:endParaRPr lang="en-GB"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Insert brackets to make the following calculation correct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Insert brackets to make the following calculation correct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Insert brackets to make the following calculation correct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584000">
                    <a:tc>
                      <a:txBody>
                        <a:bodyPr/>
                        <a:lstStyle/>
                        <a:p>
                          <a:pPr marL="0" indent="0">
                            <a:buNone/>
                          </a:pPr>
                          <a:r>
                            <a:rPr lang="en-US" sz="1200" dirty="0">
                              <a:solidFill>
                                <a:schemeClr val="tx1"/>
                              </a:solidFill>
                            </a:rPr>
                            <a:t>1) Determine the current order of operations.</a:t>
                          </a:r>
                        </a:p>
                        <a:p>
                          <a:pPr marL="0" indent="0">
                            <a:buNone/>
                          </a:pPr>
                          <a:endParaRPr lang="en-US" sz="1200" dirty="0">
                            <a:solidFill>
                              <a:schemeClr val="tx1"/>
                            </a:solidFill>
                          </a:endParaRPr>
                        </a:p>
                        <a:p>
                          <a:r>
                            <a:rPr lang="en-GB" sz="1200" dirty="0">
                              <a:solidFill>
                                <a:schemeClr val="tx1"/>
                              </a:solidFill>
                            </a:rPr>
                            <a:t>2) Insert brackets to change the order of operations.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7622" t="-40769" r="-201049" b="-115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7003" t="-40769" r="-100348" b="-115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7972" t="-40769" r="-699" b="-1154"/>
                          </a:stretch>
                        </a:blipFill>
                      </a:tcPr>
                    </a:tc>
                    <a:extLst>
                      <a:ext uri="{0D108BD9-81ED-4DB2-BD59-A6C34878D82A}">
                        <a16:rowId xmlns:a16="http://schemas.microsoft.com/office/drawing/2014/main" val="3293625240"/>
                      </a:ext>
                    </a:extLst>
                  </a:tr>
                </a:tbl>
              </a:graphicData>
            </a:graphic>
          </p:graphicFrame>
        </mc:Fallback>
      </mc:AlternateContent>
      <p:sp>
        <p:nvSpPr>
          <p:cNvPr id="18" name="TextBox 17">
            <a:extLst>
              <a:ext uri="{FF2B5EF4-FFF2-40B4-BE49-F238E27FC236}">
                <a16:creationId xmlns:a16="http://schemas.microsoft.com/office/drawing/2014/main" id="{0C716CC2-D970-F933-BF88-07414E83772A}"/>
              </a:ext>
            </a:extLst>
          </p:cNvPr>
          <p:cNvSpPr txBox="1"/>
          <p:nvPr/>
        </p:nvSpPr>
        <p:spPr>
          <a:xfrm>
            <a:off x="1752805" y="410728"/>
            <a:ext cx="1410704" cy="276999"/>
          </a:xfrm>
          <a:prstGeom prst="rect">
            <a:avLst/>
          </a:prstGeom>
          <a:noFill/>
          <a:ln>
            <a:noFill/>
          </a:ln>
        </p:spPr>
        <p:txBody>
          <a:bodyPr wrap="square" rtlCol="0">
            <a:spAutoFit/>
          </a:bodyPr>
          <a:lstStyle/>
          <a:p>
            <a:r>
              <a:rPr lang="en-GB" sz="1200" b="1" i="1" dirty="0">
                <a:solidFill>
                  <a:srgbClr val="FF0000"/>
                </a:solidFill>
              </a:rPr>
              <a:t>Example 13 - I do…</a:t>
            </a:r>
          </a:p>
        </p:txBody>
      </p:sp>
      <p:sp>
        <p:nvSpPr>
          <p:cNvPr id="19" name="TextBox 18">
            <a:extLst>
              <a:ext uri="{FF2B5EF4-FFF2-40B4-BE49-F238E27FC236}">
                <a16:creationId xmlns:a16="http://schemas.microsoft.com/office/drawing/2014/main" id="{BF3584E7-9FEA-F377-AB53-2BD47B099822}"/>
              </a:ext>
            </a:extLst>
          </p:cNvPr>
          <p:cNvSpPr txBox="1"/>
          <p:nvPr/>
        </p:nvSpPr>
        <p:spPr>
          <a:xfrm>
            <a:off x="5105196" y="402342"/>
            <a:ext cx="1643405" cy="276999"/>
          </a:xfrm>
          <a:prstGeom prst="rect">
            <a:avLst/>
          </a:prstGeom>
          <a:noFill/>
          <a:ln>
            <a:noFill/>
          </a:ln>
        </p:spPr>
        <p:txBody>
          <a:bodyPr wrap="square" rtlCol="0">
            <a:spAutoFit/>
          </a:bodyPr>
          <a:lstStyle/>
          <a:p>
            <a:r>
              <a:rPr lang="en-GB" sz="1200" b="1" i="1" dirty="0">
                <a:solidFill>
                  <a:srgbClr val="00B050"/>
                </a:solidFill>
              </a:rPr>
              <a:t>Example 15 – You do…</a:t>
            </a:r>
          </a:p>
        </p:txBody>
      </p:sp>
      <p:sp>
        <p:nvSpPr>
          <p:cNvPr id="20" name="TextBox 19">
            <a:extLst>
              <a:ext uri="{FF2B5EF4-FFF2-40B4-BE49-F238E27FC236}">
                <a16:creationId xmlns:a16="http://schemas.microsoft.com/office/drawing/2014/main" id="{A7598BD0-F612-DEB4-F75F-B60BA994FC8D}"/>
              </a:ext>
            </a:extLst>
          </p:cNvPr>
          <p:cNvSpPr txBox="1"/>
          <p:nvPr/>
        </p:nvSpPr>
        <p:spPr>
          <a:xfrm>
            <a:off x="3358370" y="389007"/>
            <a:ext cx="1643405" cy="276999"/>
          </a:xfrm>
          <a:prstGeom prst="rect">
            <a:avLst/>
          </a:prstGeom>
          <a:noFill/>
          <a:ln>
            <a:noFill/>
          </a:ln>
        </p:spPr>
        <p:txBody>
          <a:bodyPr wrap="square" rtlCol="0">
            <a:spAutoFit/>
          </a:bodyPr>
          <a:lstStyle/>
          <a:p>
            <a:r>
              <a:rPr lang="en-GB" sz="1200" b="1" i="1" dirty="0">
                <a:solidFill>
                  <a:schemeClr val="accent2"/>
                </a:solidFill>
              </a:rPr>
              <a:t>Example 14 – We do…</a:t>
            </a:r>
          </a:p>
        </p:txBody>
      </p:sp>
      <p:sp>
        <p:nvSpPr>
          <p:cNvPr id="2" name="Rectangle 1">
            <a:extLst>
              <a:ext uri="{FF2B5EF4-FFF2-40B4-BE49-F238E27FC236}">
                <a16:creationId xmlns:a16="http://schemas.microsoft.com/office/drawing/2014/main" id="{D5D96695-E243-24F3-79BC-0C2E178B1EB3}"/>
              </a:ext>
            </a:extLst>
          </p:cNvPr>
          <p:cNvSpPr/>
          <p:nvPr/>
        </p:nvSpPr>
        <p:spPr>
          <a:xfrm>
            <a:off x="148861" y="2957406"/>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
        <p:nvSpPr>
          <p:cNvPr id="3" name="TextBox 2">
            <a:extLst>
              <a:ext uri="{FF2B5EF4-FFF2-40B4-BE49-F238E27FC236}">
                <a16:creationId xmlns:a16="http://schemas.microsoft.com/office/drawing/2014/main" id="{7257B1B4-E2A3-E86F-7542-078AC4FB4510}"/>
              </a:ext>
            </a:extLst>
          </p:cNvPr>
          <p:cNvSpPr txBox="1"/>
          <p:nvPr/>
        </p:nvSpPr>
        <p:spPr>
          <a:xfrm>
            <a:off x="1324315" y="3103452"/>
            <a:ext cx="4209369" cy="276999"/>
          </a:xfrm>
          <a:prstGeom prst="rect">
            <a:avLst/>
          </a:prstGeom>
          <a:noFill/>
        </p:spPr>
        <p:txBody>
          <a:bodyPr wrap="square" rtlCol="0">
            <a:spAutoFit/>
          </a:bodyPr>
          <a:lstStyle/>
          <a:p>
            <a:r>
              <a:rPr lang="en-US" sz="1200" dirty="0"/>
              <a:t>5.  </a:t>
            </a:r>
            <a:r>
              <a:rPr lang="en-GB" sz="1200" b="0" dirty="0">
                <a:solidFill>
                  <a:schemeClr val="tx1"/>
                </a:solidFill>
              </a:rPr>
              <a:t>Insert brackets to make the following calculations correct</a:t>
            </a:r>
            <a:r>
              <a:rPr lang="en-US" sz="1200" b="0" dirty="0">
                <a:solidFill>
                  <a:schemeClr val="tx1"/>
                </a:solidFill>
              </a:rPr>
              <a:t>:</a:t>
            </a:r>
            <a:endParaRPr lang="en-GB" sz="1200" b="0" dirty="0">
              <a:solidFill>
                <a:schemeClr val="tx1"/>
              </a:solidFill>
            </a:endParaRPr>
          </a:p>
        </p:txBody>
      </p:sp>
      <p:sp>
        <p:nvSpPr>
          <p:cNvPr id="4" name="Rectangle 3">
            <a:extLst>
              <a:ext uri="{FF2B5EF4-FFF2-40B4-BE49-F238E27FC236}">
                <a16:creationId xmlns:a16="http://schemas.microsoft.com/office/drawing/2014/main" id="{D7FBF5C1-911B-8AE1-FFD2-130E09A684D2}"/>
              </a:ext>
            </a:extLst>
          </p:cNvPr>
          <p:cNvSpPr/>
          <p:nvPr/>
        </p:nvSpPr>
        <p:spPr>
          <a:xfrm>
            <a:off x="164101" y="130209"/>
            <a:ext cx="1793036" cy="27699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Inserting Brackets</a:t>
            </a:r>
            <a:endParaRPr lang="en-GB" sz="1200" dirty="0">
              <a:solidFill>
                <a:schemeClr val="bg1"/>
              </a:solidFill>
            </a:endParaRPr>
          </a:p>
        </p:txBody>
      </p:sp>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4C15FFC4-1625-4DFF-5BDB-D41514C96927}"/>
                  </a:ext>
                </a:extLst>
              </p:cNvPr>
              <p:cNvGraphicFramePr>
                <a:graphicFrameLocks noGrp="1"/>
              </p:cNvGraphicFramePr>
              <p:nvPr>
                <p:extLst>
                  <p:ext uri="{D42A27DB-BD31-4B8C-83A1-F6EECF244321}">
                    <p14:modId xmlns:p14="http://schemas.microsoft.com/office/powerpoint/2010/main" val="982719182"/>
                  </p:ext>
                </p:extLst>
              </p:nvPr>
            </p:nvGraphicFramePr>
            <p:xfrm>
              <a:off x="148861" y="3378515"/>
              <a:ext cx="6530154" cy="6138482"/>
            </p:xfrm>
            <a:graphic>
              <a:graphicData uri="http://schemas.openxmlformats.org/drawingml/2006/table">
                <a:tbl>
                  <a:tblPr firstRow="1" bandRow="1">
                    <a:tableStyleId>{5C22544A-7EE6-4342-B048-85BDC9FD1C3A}</a:tableStyleId>
                  </a:tblPr>
                  <a:tblGrid>
                    <a:gridCol w="6530154">
                      <a:extLst>
                        <a:ext uri="{9D8B030D-6E8A-4147-A177-3AD203B41FA5}">
                          <a16:colId xmlns:a16="http://schemas.microsoft.com/office/drawing/2014/main" val="1761486243"/>
                        </a:ext>
                      </a:extLst>
                    </a:gridCol>
                  </a:tblGrid>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a)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14+1</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÷3=5</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2695069"/>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b)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18</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÷6+3=2</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4350545"/>
                      </a:ext>
                    </a:extLst>
                  </a:tr>
                  <a:tr h="43846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c) </a:t>
                          </a:r>
                          <a14:m>
                            <m:oMath xmlns:m="http://schemas.openxmlformats.org/officeDocument/2006/math">
                              <m:r>
                                <a:rPr lang="en-GB" sz="1200" i="1" smtClean="0">
                                  <a:latin typeface="Cambria Math" panose="02040503050406030204" pitchFamily="18" charset="0"/>
                                </a:rPr>
                                <m:t>2</m:t>
                              </m:r>
                              <m:r>
                                <a:rPr lang="en-GB" sz="1200" b="0" i="1" smtClean="0">
                                  <a:latin typeface="Cambria Math" panose="02040503050406030204" pitchFamily="18" charset="0"/>
                                </a:rPr>
                                <m:t>0</m:t>
                              </m:r>
                              <m:r>
                                <a:rPr lang="en-GB" sz="1200" b="0" i="1" smtClean="0">
                                  <a:latin typeface="Cambria Math" panose="02040503050406030204" pitchFamily="18" charset="0"/>
                                  <a:ea typeface="Cambria Math" panose="02040503050406030204" pitchFamily="18" charset="0"/>
                                </a:rPr>
                                <m:t>÷4+1=4</m:t>
                              </m:r>
                            </m:oMath>
                          </a14:m>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72399984"/>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d)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16−12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÷4=13</m:t>
                              </m:r>
                            </m:oMath>
                          </a14:m>
                          <a:endParaRPr kumimoji="0" lang="en-US" sz="1200" b="0"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250216"/>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e) </a:t>
                          </a:r>
                          <a14:m>
                            <m:oMath xmlns:m="http://schemas.openxmlformats.org/officeDocument/2006/math">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6</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2=22</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2930134"/>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f) </a:t>
                          </a:r>
                          <a14:m>
                            <m:oMath xmlns:m="http://schemas.openxmlformats.org/officeDocument/2006/math">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2−3</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2=18</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0163867"/>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g) </a:t>
                          </a:r>
                          <a14:m>
                            <m:oMath xmlns:m="http://schemas.openxmlformats.org/officeDocument/2006/math">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7</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×2+3+1=36</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0311527"/>
                      </a:ext>
                    </a:extLst>
                  </a:tr>
                  <a:tr h="43846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h) </a:t>
                          </a:r>
                          <a14:m>
                            <m:oMath xmlns:m="http://schemas.openxmlformats.org/officeDocument/2006/math">
                              <m:r>
                                <a:rPr lang="en-GB" sz="1200" i="1" dirty="0" smtClean="0">
                                  <a:latin typeface="Cambria Math" panose="02040503050406030204" pitchFamily="18" charset="0"/>
                                </a:rPr>
                                <m:t>2</m:t>
                              </m:r>
                              <m:r>
                                <a:rPr lang="en-GB" sz="1200" b="0" i="1" dirty="0" smtClean="0">
                                  <a:latin typeface="Cambria Math" panose="02040503050406030204" pitchFamily="18" charset="0"/>
                                </a:rPr>
                                <m:t>4−4</m:t>
                              </m:r>
                              <m:r>
                                <a:rPr lang="en-GB" sz="1200" i="1">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5−1=3</m:t>
                              </m:r>
                            </m:oMath>
                          </a14:m>
                          <a:r>
                            <a:rPr lang="en-US" sz="12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855018"/>
                      </a:ext>
                    </a:extLst>
                  </a:tr>
                  <a:tr h="43846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i) </a:t>
                          </a:r>
                          <a14:m>
                            <m:oMath xmlns:m="http://schemas.openxmlformats.org/officeDocument/2006/math">
                              <m:r>
                                <a:rPr lang="en-GB" sz="1200" i="1" dirty="0" smtClean="0">
                                  <a:latin typeface="Cambria Math" panose="02040503050406030204" pitchFamily="18" charset="0"/>
                                </a:rPr>
                                <m:t>1</m:t>
                              </m:r>
                              <m:r>
                                <a:rPr lang="en-GB" sz="1200" b="0" i="1" dirty="0" smtClean="0">
                                  <a:latin typeface="Cambria Math" panose="02040503050406030204" pitchFamily="18" charset="0"/>
                                </a:rPr>
                                <m:t>6+4</m:t>
                              </m:r>
                              <m:r>
                                <a:rPr lang="en-GB" sz="1200" i="1">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2÷5=8</m:t>
                              </m:r>
                            </m:oMath>
                          </a14:m>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7849110"/>
                      </a:ext>
                    </a:extLst>
                  </a:tr>
                  <a:tr h="43846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j) </a:t>
                          </a:r>
                          <a14:m>
                            <m:oMath xmlns:m="http://schemas.openxmlformats.org/officeDocument/2006/math">
                              <m:r>
                                <a:rPr lang="en-GB" sz="1200" i="1" dirty="0">
                                  <a:latin typeface="Cambria Math" panose="02040503050406030204" pitchFamily="18" charset="0"/>
                                </a:rPr>
                                <m:t>2</m:t>
                              </m:r>
                              <m:r>
                                <a:rPr lang="en-GB" sz="1200" i="1" dirty="0">
                                  <a:latin typeface="Cambria Math" panose="02040503050406030204" pitchFamily="18" charset="0"/>
                                  <a:ea typeface="Cambria Math" panose="02040503050406030204" pitchFamily="18" charset="0"/>
                                </a:rPr>
                                <m:t>×7+1</m:t>
                              </m:r>
                              <m:r>
                                <a:rPr lang="en-GB" sz="1200" i="1">
                                  <a:latin typeface="Cambria Math" panose="02040503050406030204" pitchFamily="18" charset="0"/>
                                  <a:ea typeface="Cambria Math" panose="02040503050406030204" pitchFamily="18" charset="0"/>
                                </a:rPr>
                                <m:t>×3=48</m:t>
                              </m:r>
                            </m:oMath>
                          </a14:m>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9598414"/>
                      </a:ext>
                    </a:extLst>
                  </a:tr>
                  <a:tr h="43846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k) </a:t>
                          </a:r>
                          <a14:m>
                            <m:oMath xmlns:m="http://schemas.openxmlformats.org/officeDocument/2006/math">
                              <m:r>
                                <a:rPr lang="en-GB" sz="1200" i="1" dirty="0" smtClean="0">
                                  <a:latin typeface="Cambria Math" panose="02040503050406030204" pitchFamily="18" charset="0"/>
                                </a:rPr>
                                <m:t>2</m:t>
                              </m:r>
                              <m:r>
                                <a:rPr lang="en-GB" sz="1200" b="0" i="1" dirty="0" smtClean="0">
                                  <a:latin typeface="Cambria Math" panose="02040503050406030204" pitchFamily="18" charset="0"/>
                                </a:rPr>
                                <m:t>0+1</m:t>
                              </m:r>
                              <m:r>
                                <a:rPr lang="en-GB" sz="1200" b="0" i="1" smtClean="0">
                                  <a:latin typeface="Cambria Math" panose="02040503050406030204" pitchFamily="18" charset="0"/>
                                </a:rPr>
                                <m:t>2</m:t>
                              </m:r>
                              <m:r>
                                <a:rPr lang="en-GB" sz="1200" b="0" i="1" smtClean="0">
                                  <a:latin typeface="Cambria Math" panose="02040503050406030204" pitchFamily="18" charset="0"/>
                                  <a:ea typeface="Cambria Math" panose="02040503050406030204" pitchFamily="18" charset="0"/>
                                </a:rPr>
                                <m:t>÷3+1=23</m:t>
                              </m:r>
                            </m:oMath>
                          </a14:m>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6710107"/>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l) </a:t>
                          </a:r>
                          <a14:m>
                            <m:oMath xmlns:m="http://schemas.openxmlformats.org/officeDocument/2006/math">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÷2+5=4</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18591293"/>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m)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6 </m:t>
                              </m:r>
                              <m:r>
                                <a:rPr kumimoji="0" lang="en-US"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 </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4 </m:t>
                              </m:r>
                            </m:oMath>
                          </a14:m>
                          <a:r>
                            <a:rPr kumimoji="0" lang="en-US" sz="1200" b="0" i="0" u="none" strike="noStrike" kern="1200" cap="none" spc="0" normalizeH="0" baseline="0" noProof="0" dirty="0">
                              <a:ln>
                                <a:noFill/>
                              </a:ln>
                              <a:solidFill>
                                <a:prstClr val="black"/>
                              </a:solidFill>
                              <a:effectLst/>
                              <a:uLnTx/>
                              <a:uFillTx/>
                              <a:latin typeface="+mn-lt"/>
                              <a:ea typeface="+mn-ea"/>
                              <a:cs typeface="+mn-cs"/>
                            </a:rPr>
                            <a:t>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9 </m:t>
                              </m:r>
                              <m:r>
                                <a:rPr kumimoji="0" lang="en-US"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 </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9 </m:t>
                              </m:r>
                            </m:oMath>
                          </a14:m>
                          <a:r>
                            <a:rPr kumimoji="0" lang="en-US" sz="1200" b="0" i="0" u="none" strike="noStrike" kern="1200" cap="none" spc="0" normalizeH="0" baseline="0" noProof="0" dirty="0">
                              <a:ln>
                                <a:noFill/>
                              </a:ln>
                              <a:solidFill>
                                <a:prstClr val="black"/>
                              </a:solidFill>
                              <a:effectLst/>
                              <a:uLnTx/>
                              <a:uFillTx/>
                              <a:latin typeface="+mn-lt"/>
                              <a:ea typeface="+mn-ea"/>
                              <a:cs typeface="+mn-cs"/>
                            </a:rPr>
                            <a:t>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 0</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98185817"/>
                      </a:ext>
                    </a:extLst>
                  </a:tr>
                  <a:tr h="43846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n)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9 </m:t>
                              </m:r>
                              <m:r>
                                <a:rPr kumimoji="0" lang="en-US"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 </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5</m:t>
                              </m:r>
                            </m:oMath>
                          </a14:m>
                          <a:r>
                            <a:rPr kumimoji="0" lang="en-US" sz="1200" b="0" i="0" u="none" strike="noStrike" kern="1200" cap="none" spc="0" normalizeH="0" baseline="0" noProof="0" dirty="0">
                              <a:ln>
                                <a:noFill/>
                              </a:ln>
                              <a:solidFill>
                                <a:prstClr val="black"/>
                              </a:solidFill>
                              <a:effectLst/>
                              <a:uLnTx/>
                              <a:uFillTx/>
                              <a:latin typeface="+mn-lt"/>
                              <a:ea typeface="+mn-ea"/>
                              <a:cs typeface="+mn-cs"/>
                            </a:rPr>
                            <a:t>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1200" b="0" i="0" u="none" strike="noStrike" kern="1200" cap="none" spc="0" normalizeH="0" baseline="0" noProof="0" dirty="0">
                              <a:ln>
                                <a:noFill/>
                              </a:ln>
                              <a:solidFill>
                                <a:prstClr val="black"/>
                              </a:solidFill>
                              <a:effectLst/>
                              <a:uLnTx/>
                              <a:uFillTx/>
                              <a:latin typeface="+mn-lt"/>
                              <a:ea typeface="+mn-ea"/>
                              <a:cs typeface="+mn-cs"/>
                            </a:rPr>
                            <a:t>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4 </m:t>
                              </m:r>
                              <m:r>
                                <a:rPr kumimoji="0" lang="en-US"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 </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3 </m:t>
                              </m:r>
                            </m:oMath>
                          </a14:m>
                          <a:r>
                            <a:rPr kumimoji="0" lang="en-US" sz="1200" b="0" i="0" u="none" strike="noStrike" kern="1200" cap="none" spc="0" normalizeH="0" baseline="0" noProof="0" dirty="0">
                              <a:ln>
                                <a:noFill/>
                              </a:ln>
                              <a:solidFill>
                                <a:prstClr val="black"/>
                              </a:solidFill>
                              <a:effectLst/>
                              <a:uLnTx/>
                              <a:uFillTx/>
                              <a:latin typeface="+mn-lt"/>
                              <a:ea typeface="+mn-ea"/>
                              <a:cs typeface="+mn-cs"/>
                            </a:rPr>
                            <a:t>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 14</m:t>
                              </m:r>
                            </m:oMath>
                          </a14:m>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419075"/>
                      </a:ext>
                    </a:extLst>
                  </a:tr>
                </a:tbl>
              </a:graphicData>
            </a:graphic>
          </p:graphicFrame>
        </mc:Choice>
        <mc:Fallback xmlns="">
          <p:graphicFrame>
            <p:nvGraphicFramePr>
              <p:cNvPr id="6" name="Table 6">
                <a:extLst>
                  <a:ext uri="{FF2B5EF4-FFF2-40B4-BE49-F238E27FC236}">
                    <a16:creationId xmlns:a16="http://schemas.microsoft.com/office/drawing/2014/main" id="{4C15FFC4-1625-4DFF-5BDB-D41514C96927}"/>
                  </a:ext>
                </a:extLst>
              </p:cNvPr>
              <p:cNvGraphicFramePr>
                <a:graphicFrameLocks noGrp="1"/>
              </p:cNvGraphicFramePr>
              <p:nvPr>
                <p:extLst>
                  <p:ext uri="{D42A27DB-BD31-4B8C-83A1-F6EECF244321}">
                    <p14:modId xmlns:p14="http://schemas.microsoft.com/office/powerpoint/2010/main" val="982719182"/>
                  </p:ext>
                </p:extLst>
              </p:nvPr>
            </p:nvGraphicFramePr>
            <p:xfrm>
              <a:off x="148861" y="3378515"/>
              <a:ext cx="6530154" cy="6138482"/>
            </p:xfrm>
            <a:graphic>
              <a:graphicData uri="http://schemas.openxmlformats.org/drawingml/2006/table">
                <a:tbl>
                  <a:tblPr firstRow="1" bandRow="1">
                    <a:tableStyleId>{5C22544A-7EE6-4342-B048-85BDC9FD1C3A}</a:tableStyleId>
                  </a:tblPr>
                  <a:tblGrid>
                    <a:gridCol w="6530154">
                      <a:extLst>
                        <a:ext uri="{9D8B030D-6E8A-4147-A177-3AD203B41FA5}">
                          <a16:colId xmlns:a16="http://schemas.microsoft.com/office/drawing/2014/main" val="1761486243"/>
                        </a:ext>
                      </a:extLst>
                    </a:gridCol>
                  </a:tblGrid>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1389" r="-187" b="-1302778"/>
                          </a:stretch>
                        </a:blipFill>
                      </a:tcPr>
                    </a:tc>
                    <a:extLst>
                      <a:ext uri="{0D108BD9-81ED-4DB2-BD59-A6C34878D82A}">
                        <a16:rowId xmlns:a16="http://schemas.microsoft.com/office/drawing/2014/main" val="4022695069"/>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101389" r="-187" b="-1202778"/>
                          </a:stretch>
                        </a:blipFill>
                      </a:tcPr>
                    </a:tc>
                    <a:extLst>
                      <a:ext uri="{0D108BD9-81ED-4DB2-BD59-A6C34878D82A}">
                        <a16:rowId xmlns:a16="http://schemas.microsoft.com/office/drawing/2014/main" val="1584350545"/>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201389" r="-187" b="-1102778"/>
                          </a:stretch>
                        </a:blipFill>
                      </a:tcPr>
                    </a:tc>
                    <a:extLst>
                      <a:ext uri="{0D108BD9-81ED-4DB2-BD59-A6C34878D82A}">
                        <a16:rowId xmlns:a16="http://schemas.microsoft.com/office/drawing/2014/main" val="1772399984"/>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301389" r="-187" b="-1002778"/>
                          </a:stretch>
                        </a:blipFill>
                      </a:tcPr>
                    </a:tc>
                    <a:extLst>
                      <a:ext uri="{0D108BD9-81ED-4DB2-BD59-A6C34878D82A}">
                        <a16:rowId xmlns:a16="http://schemas.microsoft.com/office/drawing/2014/main" val="72250216"/>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401389" r="-187" b="-902778"/>
                          </a:stretch>
                        </a:blipFill>
                      </a:tcPr>
                    </a:tc>
                    <a:extLst>
                      <a:ext uri="{0D108BD9-81ED-4DB2-BD59-A6C34878D82A}">
                        <a16:rowId xmlns:a16="http://schemas.microsoft.com/office/drawing/2014/main" val="1572930134"/>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501389" r="-187" b="-802778"/>
                          </a:stretch>
                        </a:blipFill>
                      </a:tcPr>
                    </a:tc>
                    <a:extLst>
                      <a:ext uri="{0D108BD9-81ED-4DB2-BD59-A6C34878D82A}">
                        <a16:rowId xmlns:a16="http://schemas.microsoft.com/office/drawing/2014/main" val="3080163867"/>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601389" r="-187" b="-702778"/>
                          </a:stretch>
                        </a:blipFill>
                      </a:tcPr>
                    </a:tc>
                    <a:extLst>
                      <a:ext uri="{0D108BD9-81ED-4DB2-BD59-A6C34878D82A}">
                        <a16:rowId xmlns:a16="http://schemas.microsoft.com/office/drawing/2014/main" val="3160311527"/>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701389" r="-187" b="-602778"/>
                          </a:stretch>
                        </a:blipFill>
                      </a:tcPr>
                    </a:tc>
                    <a:extLst>
                      <a:ext uri="{0D108BD9-81ED-4DB2-BD59-A6C34878D82A}">
                        <a16:rowId xmlns:a16="http://schemas.microsoft.com/office/drawing/2014/main" val="257855018"/>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801389" r="-187" b="-502778"/>
                          </a:stretch>
                        </a:blipFill>
                      </a:tcPr>
                    </a:tc>
                    <a:extLst>
                      <a:ext uri="{0D108BD9-81ED-4DB2-BD59-A6C34878D82A}">
                        <a16:rowId xmlns:a16="http://schemas.microsoft.com/office/drawing/2014/main" val="3057849110"/>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901389" r="-187" b="-402778"/>
                          </a:stretch>
                        </a:blipFill>
                      </a:tcPr>
                    </a:tc>
                    <a:extLst>
                      <a:ext uri="{0D108BD9-81ED-4DB2-BD59-A6C34878D82A}">
                        <a16:rowId xmlns:a16="http://schemas.microsoft.com/office/drawing/2014/main" val="1099598414"/>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1001389" r="-187" b="-302778"/>
                          </a:stretch>
                        </a:blipFill>
                      </a:tcPr>
                    </a:tc>
                    <a:extLst>
                      <a:ext uri="{0D108BD9-81ED-4DB2-BD59-A6C34878D82A}">
                        <a16:rowId xmlns:a16="http://schemas.microsoft.com/office/drawing/2014/main" val="3496710107"/>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1101389" r="-187" b="-202778"/>
                          </a:stretch>
                        </a:blipFill>
                      </a:tcPr>
                    </a:tc>
                    <a:extLst>
                      <a:ext uri="{0D108BD9-81ED-4DB2-BD59-A6C34878D82A}">
                        <a16:rowId xmlns:a16="http://schemas.microsoft.com/office/drawing/2014/main" val="1218591293"/>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1201389" r="-187" b="-102778"/>
                          </a:stretch>
                        </a:blipFill>
                      </a:tcPr>
                    </a:tc>
                    <a:extLst>
                      <a:ext uri="{0D108BD9-81ED-4DB2-BD59-A6C34878D82A}">
                        <a16:rowId xmlns:a16="http://schemas.microsoft.com/office/drawing/2014/main" val="2498185817"/>
                      </a:ext>
                    </a:extLst>
                  </a:tr>
                  <a:tr h="4384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 t="-1301389" r="-187" b="-2778"/>
                          </a:stretch>
                        </a:blipFill>
                      </a:tcPr>
                    </a:tc>
                    <a:extLst>
                      <a:ext uri="{0D108BD9-81ED-4DB2-BD59-A6C34878D82A}">
                        <a16:rowId xmlns:a16="http://schemas.microsoft.com/office/drawing/2014/main" val="337419075"/>
                      </a:ext>
                    </a:extLst>
                  </a:tr>
                </a:tbl>
              </a:graphicData>
            </a:graphic>
          </p:graphicFrame>
        </mc:Fallback>
      </mc:AlternateContent>
    </p:spTree>
    <p:extLst>
      <p:ext uri="{BB962C8B-B14F-4D97-AF65-F5344CB8AC3E}">
        <p14:creationId xmlns:p14="http://schemas.microsoft.com/office/powerpoint/2010/main" val="27819430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628E9C-0F0B-A996-3CA0-4F1054BDA414}"/>
              </a:ext>
            </a:extLst>
          </p:cNvPr>
          <p:cNvSpPr>
            <a:spLocks noGrp="1"/>
          </p:cNvSpPr>
          <p:nvPr>
            <p:ph type="sldNum" sz="quarter" idx="12"/>
          </p:nvPr>
        </p:nvSpPr>
        <p:spPr/>
        <p:txBody>
          <a:bodyPr/>
          <a:lstStyle/>
          <a:p>
            <a:fld id="{19F1D9CC-7119-45EC-A96C-D8C0660F3AAB}" type="slidenum">
              <a:rPr lang="en-GB" smtClean="0"/>
              <a:t>70</a:t>
            </a:fld>
            <a:endParaRPr lang="en-GB"/>
          </a:p>
        </p:txBody>
      </p:sp>
      <p:sp>
        <p:nvSpPr>
          <p:cNvPr id="13" name="TextBox 12">
            <a:extLst>
              <a:ext uri="{FF2B5EF4-FFF2-40B4-BE49-F238E27FC236}">
                <a16:creationId xmlns:a16="http://schemas.microsoft.com/office/drawing/2014/main" id="{27A45E7C-E110-A5F1-BEDD-4DBA9F6D03E8}"/>
              </a:ext>
            </a:extLst>
          </p:cNvPr>
          <p:cNvSpPr txBox="1"/>
          <p:nvPr/>
        </p:nvSpPr>
        <p:spPr>
          <a:xfrm>
            <a:off x="121052" y="44576"/>
            <a:ext cx="4147995" cy="307777"/>
          </a:xfrm>
          <a:prstGeom prst="rect">
            <a:avLst/>
          </a:prstGeom>
          <a:solidFill>
            <a:srgbClr val="0070C0"/>
          </a:solidFill>
        </p:spPr>
        <p:txBody>
          <a:bodyPr wrap="none" rtlCol="0" anchor="ctr">
            <a:spAutoFit/>
          </a:bodyPr>
          <a:lstStyle/>
          <a:p>
            <a:pPr algn="ctr"/>
            <a:r>
              <a:rPr lang="en-GB" sz="1400" b="1" dirty="0">
                <a:solidFill>
                  <a:schemeClr val="bg1"/>
                </a:solidFill>
                <a:latin typeface="Calibri" panose="020F0502020204030204" pitchFamily="34" charset="0"/>
                <a:cs typeface="Calibri" panose="020F0502020204030204" pitchFamily="34" charset="0"/>
              </a:rPr>
              <a:t>GCSE PAST PAPER QUESTIONS – Non Calculator paper</a:t>
            </a:r>
          </a:p>
        </p:txBody>
      </p:sp>
      <p:sp>
        <p:nvSpPr>
          <p:cNvPr id="15" name="Rectangle 14">
            <a:extLst>
              <a:ext uri="{FF2B5EF4-FFF2-40B4-BE49-F238E27FC236}">
                <a16:creationId xmlns:a16="http://schemas.microsoft.com/office/drawing/2014/main" id="{B2D3FBEC-2336-BCA9-1889-97D155B50C98}"/>
              </a:ext>
            </a:extLst>
          </p:cNvPr>
          <p:cNvSpPr/>
          <p:nvPr/>
        </p:nvSpPr>
        <p:spPr>
          <a:xfrm>
            <a:off x="152401" y="2608154"/>
            <a:ext cx="6360160" cy="11132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C7EA67A0-BF03-D11D-B134-DB38F8699485}"/>
              </a:ext>
            </a:extLst>
          </p:cNvPr>
          <p:cNvSpPr/>
          <p:nvPr/>
        </p:nvSpPr>
        <p:spPr>
          <a:xfrm>
            <a:off x="161692" y="5137496"/>
            <a:ext cx="6360160" cy="24118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descr="A picture containing chart&#10;&#10;Description automatically generated">
            <a:extLst>
              <a:ext uri="{FF2B5EF4-FFF2-40B4-BE49-F238E27FC236}">
                <a16:creationId xmlns:a16="http://schemas.microsoft.com/office/drawing/2014/main" id="{F558A1A4-EFF6-B533-D71A-E7B81AE192F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9241" t="26191"/>
          <a:stretch/>
        </p:blipFill>
        <p:spPr>
          <a:xfrm>
            <a:off x="161692" y="2707239"/>
            <a:ext cx="4828545" cy="958431"/>
          </a:xfrm>
          <a:prstGeom prst="rect">
            <a:avLst/>
          </a:prstGeom>
        </p:spPr>
      </p:pic>
      <p:grpSp>
        <p:nvGrpSpPr>
          <p:cNvPr id="29" name="Group 28">
            <a:extLst>
              <a:ext uri="{FF2B5EF4-FFF2-40B4-BE49-F238E27FC236}">
                <a16:creationId xmlns:a16="http://schemas.microsoft.com/office/drawing/2014/main" id="{7973D72C-7B30-FA51-7CFB-D001E7578FF9}"/>
              </a:ext>
            </a:extLst>
          </p:cNvPr>
          <p:cNvGrpSpPr/>
          <p:nvPr/>
        </p:nvGrpSpPr>
        <p:grpSpPr>
          <a:xfrm>
            <a:off x="161692" y="7598091"/>
            <a:ext cx="6360160" cy="2202233"/>
            <a:chOff x="152401" y="321227"/>
            <a:chExt cx="6360160" cy="2202233"/>
          </a:xfrm>
        </p:grpSpPr>
        <p:sp>
          <p:nvSpPr>
            <p:cNvPr id="14" name="Rectangle 13">
              <a:extLst>
                <a:ext uri="{FF2B5EF4-FFF2-40B4-BE49-F238E27FC236}">
                  <a16:creationId xmlns:a16="http://schemas.microsoft.com/office/drawing/2014/main" id="{5466CC10-C62A-00C0-A9DB-B6C6C5D1D3C0}"/>
                </a:ext>
              </a:extLst>
            </p:cNvPr>
            <p:cNvSpPr/>
            <p:nvPr/>
          </p:nvSpPr>
          <p:spPr>
            <a:xfrm>
              <a:off x="152401" y="321227"/>
              <a:ext cx="6360160" cy="22022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descr="Calendar&#10;&#10;Description automatically generated">
              <a:extLst>
                <a:ext uri="{FF2B5EF4-FFF2-40B4-BE49-F238E27FC236}">
                  <a16:creationId xmlns:a16="http://schemas.microsoft.com/office/drawing/2014/main" id="{BE5825F8-9D15-5376-FDA2-440489060AE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0669" t="1272"/>
            <a:stretch/>
          </p:blipFill>
          <p:spPr>
            <a:xfrm>
              <a:off x="345439" y="447499"/>
              <a:ext cx="3212924" cy="1985418"/>
            </a:xfrm>
            <a:prstGeom prst="rect">
              <a:avLst/>
            </a:prstGeom>
          </p:spPr>
        </p:pic>
      </p:grpSp>
      <p:pic>
        <p:nvPicPr>
          <p:cNvPr id="9" name="Picture 8">
            <a:extLst>
              <a:ext uri="{FF2B5EF4-FFF2-40B4-BE49-F238E27FC236}">
                <a16:creationId xmlns:a16="http://schemas.microsoft.com/office/drawing/2014/main" id="{1405FAC3-5DF1-33EF-2068-1DA3CC34ED22}"/>
              </a:ext>
            </a:extLst>
          </p:cNvPr>
          <p:cNvPicPr>
            <a:picLocks noChangeAspect="1"/>
          </p:cNvPicPr>
          <p:nvPr/>
        </p:nvPicPr>
        <p:blipFill>
          <a:blip r:embed="rId5"/>
          <a:stretch>
            <a:fillRect/>
          </a:stretch>
        </p:blipFill>
        <p:spPr>
          <a:xfrm>
            <a:off x="263202" y="5216477"/>
            <a:ext cx="5284896" cy="1877322"/>
          </a:xfrm>
          <a:prstGeom prst="rect">
            <a:avLst/>
          </a:prstGeom>
        </p:spPr>
      </p:pic>
      <p:grpSp>
        <p:nvGrpSpPr>
          <p:cNvPr id="27" name="Group 26">
            <a:extLst>
              <a:ext uri="{FF2B5EF4-FFF2-40B4-BE49-F238E27FC236}">
                <a16:creationId xmlns:a16="http://schemas.microsoft.com/office/drawing/2014/main" id="{EA3267D9-626F-C6AA-B4FF-AF2EDE25B390}"/>
              </a:ext>
            </a:extLst>
          </p:cNvPr>
          <p:cNvGrpSpPr/>
          <p:nvPr/>
        </p:nvGrpSpPr>
        <p:grpSpPr>
          <a:xfrm>
            <a:off x="152401" y="418516"/>
            <a:ext cx="6360160" cy="2033131"/>
            <a:chOff x="1873534" y="5635393"/>
            <a:chExt cx="6360160" cy="2033131"/>
          </a:xfrm>
        </p:grpSpPr>
        <p:sp>
          <p:nvSpPr>
            <p:cNvPr id="17" name="Rectangle 16">
              <a:extLst>
                <a:ext uri="{FF2B5EF4-FFF2-40B4-BE49-F238E27FC236}">
                  <a16:creationId xmlns:a16="http://schemas.microsoft.com/office/drawing/2014/main" id="{8E267D32-6D19-36DE-5104-84270819E214}"/>
                </a:ext>
              </a:extLst>
            </p:cNvPr>
            <p:cNvSpPr/>
            <p:nvPr/>
          </p:nvSpPr>
          <p:spPr>
            <a:xfrm>
              <a:off x="1873534" y="5635393"/>
              <a:ext cx="6360160" cy="20331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0">
              <a:extLst>
                <a:ext uri="{FF2B5EF4-FFF2-40B4-BE49-F238E27FC236}">
                  <a16:creationId xmlns:a16="http://schemas.microsoft.com/office/drawing/2014/main" id="{E47C496A-853C-B226-54E5-DE1B44249BA7}"/>
                </a:ext>
              </a:extLst>
            </p:cNvPr>
            <p:cNvPicPr>
              <a:picLocks noChangeAspect="1"/>
            </p:cNvPicPr>
            <p:nvPr/>
          </p:nvPicPr>
          <p:blipFill>
            <a:blip r:embed="rId6"/>
            <a:stretch>
              <a:fillRect/>
            </a:stretch>
          </p:blipFill>
          <p:spPr>
            <a:xfrm>
              <a:off x="1937063" y="5720087"/>
              <a:ext cx="4936060" cy="1899429"/>
            </a:xfrm>
            <a:prstGeom prst="rect">
              <a:avLst/>
            </a:prstGeom>
          </p:spPr>
        </p:pic>
      </p:grpSp>
      <p:pic>
        <p:nvPicPr>
          <p:cNvPr id="25" name="Picture 24">
            <a:extLst>
              <a:ext uri="{FF2B5EF4-FFF2-40B4-BE49-F238E27FC236}">
                <a16:creationId xmlns:a16="http://schemas.microsoft.com/office/drawing/2014/main" id="{E1034569-C38C-863F-F6AE-1E6A67F12BB1}"/>
              </a:ext>
            </a:extLst>
          </p:cNvPr>
          <p:cNvPicPr>
            <a:picLocks noChangeAspect="1"/>
          </p:cNvPicPr>
          <p:nvPr/>
        </p:nvPicPr>
        <p:blipFill>
          <a:blip r:embed="rId7"/>
          <a:stretch>
            <a:fillRect/>
          </a:stretch>
        </p:blipFill>
        <p:spPr>
          <a:xfrm>
            <a:off x="121052" y="3888769"/>
            <a:ext cx="5494994" cy="683063"/>
          </a:xfrm>
          <a:prstGeom prst="rect">
            <a:avLst/>
          </a:prstGeom>
        </p:spPr>
      </p:pic>
      <p:sp>
        <p:nvSpPr>
          <p:cNvPr id="26" name="Rectangle 25">
            <a:extLst>
              <a:ext uri="{FF2B5EF4-FFF2-40B4-BE49-F238E27FC236}">
                <a16:creationId xmlns:a16="http://schemas.microsoft.com/office/drawing/2014/main" id="{82856E99-1506-23B8-2267-747F9BF5C052}"/>
              </a:ext>
            </a:extLst>
          </p:cNvPr>
          <p:cNvSpPr/>
          <p:nvPr/>
        </p:nvSpPr>
        <p:spPr>
          <a:xfrm>
            <a:off x="152401" y="3791941"/>
            <a:ext cx="6360160" cy="128982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721772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EB31203-9840-BF41-BC21-9BBDC9FD889E}"/>
              </a:ext>
            </a:extLst>
          </p:cNvPr>
          <p:cNvSpPr/>
          <p:nvPr/>
        </p:nvSpPr>
        <p:spPr>
          <a:xfrm>
            <a:off x="62231" y="349311"/>
            <a:ext cx="6728829" cy="13167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1EED420E-C5C3-084E-AD63-09BFD36770FC}"/>
              </a:ext>
            </a:extLst>
          </p:cNvPr>
          <p:cNvSpPr/>
          <p:nvPr/>
        </p:nvSpPr>
        <p:spPr>
          <a:xfrm>
            <a:off x="-2618" y="3326"/>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i="0" u="none" strike="noStrike" kern="1200" cap="none" spc="0" normalizeH="0" baseline="0" noProof="0" dirty="0">
                <a:ln>
                  <a:noFill/>
                </a:ln>
                <a:solidFill>
                  <a:prstClr val="white"/>
                </a:solidFill>
                <a:effectLst/>
                <a:uLnTx/>
                <a:uFillTx/>
                <a:latin typeface="Calibri" panose="020F0502020204030204"/>
                <a:ea typeface="+mn-ea"/>
                <a:cs typeface="+mn-cs"/>
              </a:rPr>
              <a:t>Subtopic 6</a:t>
            </a:r>
            <a:r>
              <a:rPr lang="en-GB" sz="1600" dirty="0">
                <a:solidFill>
                  <a:prstClr val="white"/>
                </a:solidFill>
                <a:latin typeface="Calibri" panose="020F0502020204030204"/>
              </a:rPr>
              <a:t> </a:t>
            </a:r>
            <a:r>
              <a:rPr kumimoji="0" lang="en-GB" sz="1600" i="0" u="none" strike="noStrike" kern="1200" cap="none" spc="0" normalizeH="0" baseline="0" noProof="0" dirty="0">
                <a:ln>
                  <a:noFill/>
                </a:ln>
                <a:solidFill>
                  <a:prstClr val="white"/>
                </a:solidFill>
                <a:effectLst/>
                <a:uLnTx/>
                <a:uFillTx/>
                <a:latin typeface="Calibri" panose="020F0502020204030204"/>
                <a:ea typeface="+mn-ea"/>
                <a:cs typeface="+mn-cs"/>
              </a:rPr>
              <a:t>– Operations with Negative Numbers</a:t>
            </a:r>
          </a:p>
        </p:txBody>
      </p:sp>
      <p:sp>
        <p:nvSpPr>
          <p:cNvPr id="5" name="TextBox 4">
            <a:extLst>
              <a:ext uri="{FF2B5EF4-FFF2-40B4-BE49-F238E27FC236}">
                <a16:creationId xmlns:a16="http://schemas.microsoft.com/office/drawing/2014/main" id="{11A70DB0-E034-5E48-820B-5C1AA0BA9573}"/>
              </a:ext>
            </a:extLst>
          </p:cNvPr>
          <p:cNvSpPr txBox="1"/>
          <p:nvPr/>
        </p:nvSpPr>
        <p:spPr>
          <a:xfrm>
            <a:off x="295089" y="722052"/>
            <a:ext cx="114939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1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7" name="TextBox 6">
            <a:extLst>
              <a:ext uri="{FF2B5EF4-FFF2-40B4-BE49-F238E27FC236}">
                <a16:creationId xmlns:a16="http://schemas.microsoft.com/office/drawing/2014/main" id="{36530E70-874D-7543-8430-2F865F81EB0F}"/>
              </a:ext>
            </a:extLst>
          </p:cNvPr>
          <p:cNvSpPr txBox="1"/>
          <p:nvPr/>
        </p:nvSpPr>
        <p:spPr>
          <a:xfrm>
            <a:off x="682439" y="393031"/>
            <a:ext cx="5593063" cy="261610"/>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black"/>
                </a:solidFill>
                <a:effectLst/>
                <a:uLnTx/>
                <a:uFillTx/>
                <a:latin typeface="Calibri" panose="020F0502020204030204"/>
                <a:ea typeface="+mn-ea"/>
                <a:cs typeface="+mn-cs"/>
              </a:rPr>
              <a:t>LEARNING OUTCOME:</a:t>
            </a:r>
            <a:r>
              <a:rPr kumimoji="0" lang="en-GB" sz="1100" b="0" i="0" u="none" strike="noStrike" kern="1200" cap="none" spc="0" normalizeH="0" baseline="0" noProof="0">
                <a:ln>
                  <a:noFill/>
                </a:ln>
                <a:solidFill>
                  <a:prstClr val="black"/>
                </a:solidFill>
                <a:effectLst/>
                <a:uLnTx/>
                <a:uFillTx/>
                <a:latin typeface="Calibri" panose="020F0502020204030204"/>
                <a:ea typeface="+mn-ea"/>
                <a:cs typeface="+mn-cs"/>
              </a:rPr>
              <a:t> Understand multiply and divide positive and negative numbers.</a:t>
            </a:r>
          </a:p>
        </p:txBody>
      </p:sp>
      <p:sp>
        <p:nvSpPr>
          <p:cNvPr id="8" name="TextBox 7">
            <a:extLst>
              <a:ext uri="{FF2B5EF4-FFF2-40B4-BE49-F238E27FC236}">
                <a16:creationId xmlns:a16="http://schemas.microsoft.com/office/drawing/2014/main" id="{169B8EF0-B913-6D41-A23F-4869CF21BF26}"/>
              </a:ext>
            </a:extLst>
          </p:cNvPr>
          <p:cNvSpPr txBox="1"/>
          <p:nvPr/>
        </p:nvSpPr>
        <p:spPr>
          <a:xfrm>
            <a:off x="4836168" y="967961"/>
            <a:ext cx="1871725" cy="600164"/>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a:ln>
                  <a:noFill/>
                </a:ln>
                <a:solidFill>
                  <a:prstClr val="black"/>
                </a:solidFill>
                <a:effectLst/>
                <a:uLnTx/>
                <a:uFillTx/>
                <a:latin typeface="Calibri" panose="020F0502020204030204"/>
                <a:ea typeface="+mn-ea"/>
                <a:cs typeface="+mn-cs"/>
              </a:rPr>
              <a:t>Keywords: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Number lines</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Negatives numbers</a:t>
            </a:r>
          </a:p>
        </p:txBody>
      </p:sp>
      <p:sp>
        <p:nvSpPr>
          <p:cNvPr id="24" name="TextBox 23">
            <a:extLst>
              <a:ext uri="{FF2B5EF4-FFF2-40B4-BE49-F238E27FC236}">
                <a16:creationId xmlns:a16="http://schemas.microsoft.com/office/drawing/2014/main" id="{8D99EBB3-E635-9B48-A13A-F8FC9E5CF168}"/>
              </a:ext>
            </a:extLst>
          </p:cNvPr>
          <p:cNvSpPr txBox="1"/>
          <p:nvPr/>
        </p:nvSpPr>
        <p:spPr>
          <a:xfrm>
            <a:off x="614827" y="964720"/>
            <a:ext cx="5055338" cy="600164"/>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100" b="0" i="0" u="none" strike="noStrike" kern="1200" cap="none" spc="0" normalizeH="0" baseline="0" noProof="0">
                <a:ln>
                  <a:noFill/>
                </a:ln>
                <a:solidFill>
                  <a:prstClr val="black"/>
                </a:solidFill>
                <a:effectLst/>
                <a:uLnTx/>
                <a:uFillTx/>
                <a:latin typeface="Calibri" panose="020F0502020204030204"/>
                <a:ea typeface="+mn-ea"/>
                <a:cs typeface="+mn-cs"/>
              </a:rPr>
              <a:t>To</a:t>
            </a:r>
            <a:r>
              <a:rPr kumimoji="0" lang="en-GB" sz="1100" b="0" i="0" u="none" strike="noStrike" kern="1200" cap="none" spc="0" normalizeH="0" noProof="0">
                <a:ln>
                  <a:noFill/>
                </a:ln>
                <a:solidFill>
                  <a:prstClr val="black"/>
                </a:solidFill>
                <a:effectLst/>
                <a:uLnTx/>
                <a:uFillTx/>
                <a:latin typeface="Calibri" panose="020F0502020204030204"/>
                <a:ea typeface="+mn-ea"/>
                <a:cs typeface="+mn-cs"/>
              </a:rPr>
              <a:t> add and subtract negative numbers</a:t>
            </a:r>
            <a:r>
              <a:rPr kumimoji="0" lang="en-GB" sz="1100" b="0" i="0" u="none" strike="noStrike" kern="1200" cap="none" spc="0" normalizeH="0" baseline="0" noProof="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100" b="0" i="0" u="none" strike="noStrike" kern="1200" cap="none" spc="0" normalizeH="0" baseline="0" noProof="0">
                <a:ln>
                  <a:noFill/>
                </a:ln>
                <a:solidFill>
                  <a:prstClr val="black"/>
                </a:solidFill>
                <a:effectLst/>
                <a:uLnTx/>
                <a:uFillTx/>
                <a:latin typeface="Calibri" panose="020F0502020204030204"/>
                <a:ea typeface="+mn-ea"/>
                <a:cs typeface="+mn-cs"/>
              </a:rPr>
              <a:t>To multiply and divide negative numbers.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100" b="0" i="0" u="none" strike="noStrike" kern="1200" cap="none" spc="0" normalizeH="0" baseline="0" noProof="0">
                <a:ln>
                  <a:noFill/>
                </a:ln>
                <a:solidFill>
                  <a:prstClr val="black"/>
                </a:solidFill>
                <a:effectLst/>
                <a:uLnTx/>
                <a:uFillTx/>
                <a:latin typeface="Calibri" panose="020F0502020204030204"/>
                <a:ea typeface="+mn-ea"/>
                <a:cs typeface="+mn-cs"/>
              </a:rPr>
              <a:t>To solve problems using different</a:t>
            </a:r>
            <a:r>
              <a:rPr kumimoji="0" lang="en-GB" sz="1100" b="0" i="0" u="none" strike="noStrike" kern="1200" cap="none" spc="0" normalizeH="0" noProof="0">
                <a:ln>
                  <a:noFill/>
                </a:ln>
                <a:solidFill>
                  <a:prstClr val="black"/>
                </a:solidFill>
                <a:effectLst/>
                <a:uLnTx/>
                <a:uFillTx/>
                <a:latin typeface="Calibri" panose="020F0502020204030204"/>
                <a:ea typeface="+mn-ea"/>
                <a:cs typeface="+mn-cs"/>
              </a:rPr>
              <a:t> rules of arithmetic</a:t>
            </a:r>
            <a:r>
              <a:rPr kumimoji="0" lang="en-GB" sz="11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
        <p:nvSpPr>
          <p:cNvPr id="2" name="Slide Number Placeholder 1"/>
          <p:cNvSpPr>
            <a:spLocks noGrp="1"/>
          </p:cNvSpPr>
          <p:nvPr>
            <p:ph type="sldNum" sz="quarter" idx="12"/>
          </p:nvPr>
        </p:nvSpPr>
        <p:spPr>
          <a:xfrm>
            <a:off x="5404748" y="9585957"/>
            <a:ext cx="1543050" cy="527403"/>
          </a:xfrm>
        </p:spPr>
        <p:txBody>
          <a:bodyPr/>
          <a:lstStyle/>
          <a:p>
            <a:fld id="{19F1D9CC-7119-45EC-A96C-D8C0660F3AAB}" type="slidenum">
              <a:rPr lang="en-GB" smtClean="0"/>
              <a:t>71</a:t>
            </a:fld>
            <a:endParaRPr lang="en-GB"/>
          </a:p>
        </p:txBody>
      </p:sp>
      <p:cxnSp>
        <p:nvCxnSpPr>
          <p:cNvPr id="20" name="Straight Connector 19">
            <a:extLst>
              <a:ext uri="{FF2B5EF4-FFF2-40B4-BE49-F238E27FC236}">
                <a16:creationId xmlns:a16="http://schemas.microsoft.com/office/drawing/2014/main" id="{698B296E-0150-1D0F-9E9C-1110C762EAB6}"/>
              </a:ext>
            </a:extLst>
          </p:cNvPr>
          <p:cNvCxnSpPr/>
          <p:nvPr/>
        </p:nvCxnSpPr>
        <p:spPr>
          <a:xfrm flipV="1">
            <a:off x="969105" y="367272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0C3B012-33CC-EA8F-DF0B-8D16D98943EE}"/>
              </a:ext>
            </a:extLst>
          </p:cNvPr>
          <p:cNvSpPr/>
          <p:nvPr/>
        </p:nvSpPr>
        <p:spPr>
          <a:xfrm>
            <a:off x="114424" y="1742133"/>
            <a:ext cx="6699219" cy="349499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Connector 27">
            <a:extLst>
              <a:ext uri="{FF2B5EF4-FFF2-40B4-BE49-F238E27FC236}">
                <a16:creationId xmlns:a16="http://schemas.microsoft.com/office/drawing/2014/main" id="{5AF922F1-407F-3FF7-2674-47B96FA060F5}"/>
              </a:ext>
            </a:extLst>
          </p:cNvPr>
          <p:cNvCxnSpPr>
            <a:cxnSpLocks/>
          </p:cNvCxnSpPr>
          <p:nvPr/>
        </p:nvCxnSpPr>
        <p:spPr>
          <a:xfrm>
            <a:off x="114424" y="3489629"/>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1C7972-2052-F7A1-57B7-6A485EE4A3C0}"/>
              </a:ext>
            </a:extLst>
          </p:cNvPr>
          <p:cNvCxnSpPr>
            <a:cxnSpLocks/>
          </p:cNvCxnSpPr>
          <p:nvPr/>
        </p:nvCxnSpPr>
        <p:spPr>
          <a:xfrm flipV="1">
            <a:off x="3464034" y="1742133"/>
            <a:ext cx="0" cy="3494992"/>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CA69F140-48DC-BC01-DA4F-BBD4DF01F467}"/>
              </a:ext>
            </a:extLst>
          </p:cNvPr>
          <p:cNvSpPr txBox="1"/>
          <p:nvPr/>
        </p:nvSpPr>
        <p:spPr>
          <a:xfrm>
            <a:off x="132179" y="1742132"/>
            <a:ext cx="824713" cy="461665"/>
          </a:xfrm>
          <a:prstGeom prst="rect">
            <a:avLst/>
          </a:prstGeom>
          <a:noFill/>
        </p:spPr>
        <p:txBody>
          <a:bodyPr wrap="none" rtlCol="0">
            <a:spAutoFit/>
          </a:bodyPr>
          <a:lstStyle/>
          <a:p>
            <a:r>
              <a:rPr lang="en-US" sz="1200" b="1"/>
              <a:t>Definition</a:t>
            </a:r>
          </a:p>
          <a:p>
            <a:endParaRPr lang="en-US" sz="1200"/>
          </a:p>
        </p:txBody>
      </p:sp>
      <p:sp>
        <p:nvSpPr>
          <p:cNvPr id="35" name="TextBox 34">
            <a:extLst>
              <a:ext uri="{FF2B5EF4-FFF2-40B4-BE49-F238E27FC236}">
                <a16:creationId xmlns:a16="http://schemas.microsoft.com/office/drawing/2014/main" id="{9D71AF66-F3C8-5694-2DEB-BC917DB82B92}"/>
              </a:ext>
            </a:extLst>
          </p:cNvPr>
          <p:cNvSpPr txBox="1"/>
          <p:nvPr/>
        </p:nvSpPr>
        <p:spPr>
          <a:xfrm>
            <a:off x="5656230" y="1709746"/>
            <a:ext cx="1112228" cy="276999"/>
          </a:xfrm>
          <a:prstGeom prst="rect">
            <a:avLst/>
          </a:prstGeom>
          <a:noFill/>
        </p:spPr>
        <p:txBody>
          <a:bodyPr wrap="none" rtlCol="0">
            <a:spAutoFit/>
          </a:bodyPr>
          <a:lstStyle/>
          <a:p>
            <a:r>
              <a:rPr lang="en-US" sz="1200" b="1"/>
              <a:t>Characteristics</a:t>
            </a:r>
            <a:endParaRPr lang="en-GB" sz="1200" b="1"/>
          </a:p>
        </p:txBody>
      </p:sp>
      <p:sp>
        <p:nvSpPr>
          <p:cNvPr id="11" name="TextBox 10">
            <a:extLst>
              <a:ext uri="{FF2B5EF4-FFF2-40B4-BE49-F238E27FC236}">
                <a16:creationId xmlns:a16="http://schemas.microsoft.com/office/drawing/2014/main" id="{699FC77E-2E9B-D32F-977A-6455F42EA60E}"/>
              </a:ext>
            </a:extLst>
          </p:cNvPr>
          <p:cNvSpPr txBox="1"/>
          <p:nvPr/>
        </p:nvSpPr>
        <p:spPr>
          <a:xfrm>
            <a:off x="132179" y="3501188"/>
            <a:ext cx="788164" cy="276999"/>
          </a:xfrm>
          <a:prstGeom prst="rect">
            <a:avLst/>
          </a:prstGeom>
          <a:noFill/>
        </p:spPr>
        <p:txBody>
          <a:bodyPr wrap="none" rtlCol="0">
            <a:spAutoFit/>
          </a:bodyPr>
          <a:lstStyle/>
          <a:p>
            <a:r>
              <a:rPr lang="en-US" sz="1200" b="1"/>
              <a:t>Examples</a:t>
            </a:r>
            <a:endParaRPr lang="en-GB" sz="1200" b="1"/>
          </a:p>
        </p:txBody>
      </p:sp>
      <p:sp>
        <p:nvSpPr>
          <p:cNvPr id="39" name="TextBox 38">
            <a:extLst>
              <a:ext uri="{FF2B5EF4-FFF2-40B4-BE49-F238E27FC236}">
                <a16:creationId xmlns:a16="http://schemas.microsoft.com/office/drawing/2014/main" id="{DBE3F5BF-FA4C-49FB-007A-F42E73F51C12}"/>
              </a:ext>
            </a:extLst>
          </p:cNvPr>
          <p:cNvSpPr txBox="1"/>
          <p:nvPr/>
        </p:nvSpPr>
        <p:spPr>
          <a:xfrm>
            <a:off x="5625901" y="3494730"/>
            <a:ext cx="1172885" cy="276999"/>
          </a:xfrm>
          <a:prstGeom prst="rect">
            <a:avLst/>
          </a:prstGeom>
          <a:noFill/>
        </p:spPr>
        <p:txBody>
          <a:bodyPr wrap="none" rtlCol="0">
            <a:spAutoFit/>
          </a:bodyPr>
          <a:lstStyle/>
          <a:p>
            <a:r>
              <a:rPr lang="en-US" sz="1200" b="1"/>
              <a:t>Non - Examples</a:t>
            </a:r>
            <a:endParaRPr lang="en-GB" sz="1200" b="1"/>
          </a:p>
        </p:txBody>
      </p:sp>
      <p:sp>
        <p:nvSpPr>
          <p:cNvPr id="41" name="TextBox 40">
            <a:extLst>
              <a:ext uri="{FF2B5EF4-FFF2-40B4-BE49-F238E27FC236}">
                <a16:creationId xmlns:a16="http://schemas.microsoft.com/office/drawing/2014/main" id="{69C06217-D0BA-3754-ECBD-22F603B2A4A9}"/>
              </a:ext>
            </a:extLst>
          </p:cNvPr>
          <p:cNvSpPr txBox="1"/>
          <p:nvPr/>
        </p:nvSpPr>
        <p:spPr>
          <a:xfrm>
            <a:off x="142812" y="2005360"/>
            <a:ext cx="3230335" cy="600164"/>
          </a:xfrm>
          <a:prstGeom prst="rect">
            <a:avLst/>
          </a:prstGeom>
          <a:noFill/>
        </p:spPr>
        <p:txBody>
          <a:bodyPr wrap="square" rtlCol="0">
            <a:spAutoFit/>
          </a:bodyPr>
          <a:lstStyle/>
          <a:p>
            <a:r>
              <a:rPr lang="en-GB" sz="1100"/>
              <a:t>Negative numbers are numbers that represent values that are less than zero. They show things like temperatures below zero, debts and losses.</a:t>
            </a:r>
            <a:endParaRPr lang="en-US" sz="1100"/>
          </a:p>
        </p:txBody>
      </p:sp>
      <p:sp>
        <p:nvSpPr>
          <p:cNvPr id="61" name="TextBox 60">
            <a:extLst>
              <a:ext uri="{FF2B5EF4-FFF2-40B4-BE49-F238E27FC236}">
                <a16:creationId xmlns:a16="http://schemas.microsoft.com/office/drawing/2014/main" id="{485AA5A0-0AFB-3B77-F9EF-5244D58A0929}"/>
              </a:ext>
            </a:extLst>
          </p:cNvPr>
          <p:cNvSpPr txBox="1"/>
          <p:nvPr/>
        </p:nvSpPr>
        <p:spPr>
          <a:xfrm>
            <a:off x="2583396" y="3317297"/>
            <a:ext cx="1835118" cy="369332"/>
          </a:xfrm>
          <a:prstGeom prst="rect">
            <a:avLst/>
          </a:prstGeom>
          <a:solidFill>
            <a:schemeClr val="bg1"/>
          </a:solidFill>
          <a:ln>
            <a:solidFill>
              <a:schemeClr val="tx1"/>
            </a:solidFill>
          </a:ln>
        </p:spPr>
        <p:txBody>
          <a:bodyPr wrap="none" rtlCol="0">
            <a:spAutoFit/>
          </a:bodyPr>
          <a:lstStyle/>
          <a:p>
            <a:r>
              <a:rPr lang="en-US"/>
              <a:t>Negative Number</a:t>
            </a:r>
            <a:endParaRPr lang="en-GB"/>
          </a:p>
        </p:txBody>
      </p:sp>
      <p:sp>
        <p:nvSpPr>
          <p:cNvPr id="63" name="TextBox 62">
            <a:extLst>
              <a:ext uri="{FF2B5EF4-FFF2-40B4-BE49-F238E27FC236}">
                <a16:creationId xmlns:a16="http://schemas.microsoft.com/office/drawing/2014/main" id="{8F1DBEAA-CF43-110E-7EF3-24AB0D941110}"/>
              </a:ext>
            </a:extLst>
          </p:cNvPr>
          <p:cNvSpPr txBox="1"/>
          <p:nvPr/>
        </p:nvSpPr>
        <p:spPr>
          <a:xfrm>
            <a:off x="3523671" y="3607846"/>
            <a:ext cx="3230335" cy="1292662"/>
          </a:xfrm>
          <a:prstGeom prst="rect">
            <a:avLst/>
          </a:prstGeom>
          <a:noFill/>
        </p:spPr>
        <p:txBody>
          <a:bodyPr wrap="square" rtlCol="0">
            <a:spAutoFit/>
          </a:bodyPr>
          <a:lstStyle/>
          <a:p>
            <a:endParaRPr lang="en-US" sz="1100"/>
          </a:p>
          <a:p>
            <a:pPr marL="171450" indent="-171450">
              <a:buFont typeface="Arial" panose="020B0604020202020204" pitchFamily="34" charset="0"/>
              <a:buChar char="•"/>
            </a:pPr>
            <a:r>
              <a:rPr lang="en-GB" sz="1100"/>
              <a:t>Positive Numbers: Positive numbers are greater than zero and are not negative.</a:t>
            </a:r>
          </a:p>
          <a:p>
            <a:pPr marL="171450" indent="-171450">
              <a:buFont typeface="Arial" panose="020B0604020202020204" pitchFamily="34" charset="0"/>
              <a:buChar char="•"/>
            </a:pPr>
            <a:r>
              <a:rPr lang="en-GB" sz="1100"/>
              <a:t>Zero: Zero is not positive or negative.</a:t>
            </a:r>
          </a:p>
          <a:p>
            <a:pPr marL="171450" indent="-171450">
              <a:buFont typeface="Arial" panose="020B0604020202020204" pitchFamily="34" charset="0"/>
              <a:buChar char="•"/>
            </a:pPr>
            <a:endParaRPr lang="en-GB" sz="1100"/>
          </a:p>
          <a:p>
            <a:pPr marL="171450" indent="-171450">
              <a:buFont typeface="Arial" panose="020B0604020202020204" pitchFamily="34" charset="0"/>
              <a:buChar char="•"/>
            </a:pPr>
            <a:endParaRPr lang="en-GB" sz="1100"/>
          </a:p>
          <a:p>
            <a:pPr algn="ctr"/>
            <a:r>
              <a:rPr lang="en-GB" sz="1100" b="0" i="0">
                <a:effectLst/>
                <a:latin typeface="Söhne"/>
              </a:rPr>
              <a:t>5</a:t>
            </a:r>
            <a:r>
              <a:rPr lang="en-GB" sz="1100">
                <a:latin typeface="Söhne"/>
              </a:rPr>
              <a:t>          </a:t>
            </a:r>
            <a:r>
              <a:rPr lang="en-GB" sz="1100" b="0" i="0">
                <a:effectLst/>
                <a:latin typeface="Söhne"/>
              </a:rPr>
              <a:t>0</a:t>
            </a:r>
            <a:r>
              <a:rPr lang="en-GB" sz="1100">
                <a:latin typeface="Söhne"/>
              </a:rPr>
              <a:t>           </a:t>
            </a:r>
            <a:r>
              <a:rPr lang="en-GB" sz="1100" b="0" i="0">
                <a:effectLst/>
                <a:latin typeface="Söhne"/>
              </a:rPr>
              <a:t>2.5          </a:t>
            </a:r>
            <a:r>
              <a:rPr lang="en-GB" sz="1200" b="0" i="0">
                <a:effectLst/>
                <a:latin typeface="Söhne"/>
              </a:rPr>
              <a:t>⅔         </a:t>
            </a:r>
            <a:r>
              <a:rPr lang="en-GB" sz="1100" b="0" i="0">
                <a:effectLst/>
                <a:latin typeface="Söhne"/>
              </a:rPr>
              <a:t>200       45.67</a:t>
            </a:r>
            <a:endParaRPr lang="en-US" sz="1100"/>
          </a:p>
        </p:txBody>
      </p:sp>
      <p:sp>
        <p:nvSpPr>
          <p:cNvPr id="65" name="TextBox 64">
            <a:extLst>
              <a:ext uri="{FF2B5EF4-FFF2-40B4-BE49-F238E27FC236}">
                <a16:creationId xmlns:a16="http://schemas.microsoft.com/office/drawing/2014/main" id="{9F70CD8C-8AEB-C7FC-2E7C-8112DEAE4DEA}"/>
              </a:ext>
            </a:extLst>
          </p:cNvPr>
          <p:cNvSpPr txBox="1"/>
          <p:nvPr/>
        </p:nvSpPr>
        <p:spPr>
          <a:xfrm>
            <a:off x="3450384" y="1884004"/>
            <a:ext cx="3497414" cy="1446550"/>
          </a:xfrm>
          <a:prstGeom prst="rect">
            <a:avLst/>
          </a:prstGeom>
          <a:noFill/>
        </p:spPr>
        <p:txBody>
          <a:bodyPr wrap="square">
            <a:spAutoFit/>
          </a:bodyPr>
          <a:lstStyle/>
          <a:p>
            <a:r>
              <a:rPr lang="en-GB" sz="1100"/>
              <a:t>Negative numbers have a negative sign (-) in front of them, telling us they are less than zero. They are smaller than positive numbers. They are like the opposite of positive numbers. Positive numbers are on the right side of zero, and negative numbers are on the left side.</a:t>
            </a:r>
          </a:p>
          <a:p>
            <a:r>
              <a:rPr lang="en-GB" sz="1100"/>
              <a:t>When comparing negative numbers, the one with the smaller distance from zero is considered greater. For example, -3 is greater than -5 because -3 is closer to zero.</a:t>
            </a:r>
            <a:endParaRPr lang="en-US" sz="1100"/>
          </a:p>
        </p:txBody>
      </p:sp>
      <p:sp>
        <p:nvSpPr>
          <p:cNvPr id="67" name="TextBox 66">
            <a:extLst>
              <a:ext uri="{FF2B5EF4-FFF2-40B4-BE49-F238E27FC236}">
                <a16:creationId xmlns:a16="http://schemas.microsoft.com/office/drawing/2014/main" id="{19D78A38-4B00-A096-AFBE-601DA806698E}"/>
              </a:ext>
            </a:extLst>
          </p:cNvPr>
          <p:cNvSpPr txBox="1"/>
          <p:nvPr/>
        </p:nvSpPr>
        <p:spPr>
          <a:xfrm>
            <a:off x="71760" y="3736463"/>
            <a:ext cx="3473354" cy="1461939"/>
          </a:xfrm>
          <a:prstGeom prst="rect">
            <a:avLst/>
          </a:prstGeom>
          <a:noFill/>
        </p:spPr>
        <p:txBody>
          <a:bodyPr wrap="square">
            <a:spAutoFit/>
          </a:bodyPr>
          <a:lstStyle/>
          <a:p>
            <a:pPr marL="171450" indent="-171450">
              <a:buFont typeface="Arial" panose="020B0604020202020204" pitchFamily="34" charset="0"/>
              <a:buChar char="•"/>
            </a:pPr>
            <a:r>
              <a:rPr lang="en-GB" sz="1100"/>
              <a:t>Temperature: If the temperature drops below zero, like -10 degrees Celsius, it means it's colder than zero degrees.</a:t>
            </a:r>
          </a:p>
          <a:p>
            <a:pPr marL="171450" indent="-171450">
              <a:buFont typeface="Arial" panose="020B0604020202020204" pitchFamily="34" charset="0"/>
              <a:buChar char="•"/>
            </a:pPr>
            <a:r>
              <a:rPr lang="en-GB" sz="1100"/>
              <a:t>Debt: When you owe money, the amount is represented by a negative number. For example, if you owe £100, it can be written as -£100.</a:t>
            </a:r>
          </a:p>
          <a:p>
            <a:pPr marL="171450" indent="-171450">
              <a:buFont typeface="Arial" panose="020B0604020202020204" pitchFamily="34" charset="0"/>
              <a:buChar char="•"/>
            </a:pPr>
            <a:endParaRPr lang="en-GB" sz="1100"/>
          </a:p>
          <a:p>
            <a:pPr algn="ctr"/>
            <a:r>
              <a:rPr lang="en-GB" sz="1100" b="0" i="0">
                <a:effectLst/>
                <a:latin typeface="Söhne"/>
              </a:rPr>
              <a:t>-3         -10            -0.5           -</a:t>
            </a:r>
            <a:r>
              <a:rPr lang="en-GB" sz="1200" b="0" i="0">
                <a:effectLst/>
                <a:latin typeface="Söhne"/>
              </a:rPr>
              <a:t>⅔            </a:t>
            </a:r>
            <a:r>
              <a:rPr lang="en-GB" sz="1100" b="0" i="0">
                <a:effectLst/>
                <a:latin typeface="Söhne"/>
              </a:rPr>
              <a:t>-632.456</a:t>
            </a:r>
            <a:endParaRPr lang="en-GB" sz="1100"/>
          </a:p>
        </p:txBody>
      </p:sp>
      <p:sp>
        <p:nvSpPr>
          <p:cNvPr id="37" name="Rectangle 36">
            <a:extLst>
              <a:ext uri="{FF2B5EF4-FFF2-40B4-BE49-F238E27FC236}">
                <a16:creationId xmlns:a16="http://schemas.microsoft.com/office/drawing/2014/main" id="{F1C728DB-DDA0-D665-54F8-CA179E1E404A}"/>
              </a:ext>
            </a:extLst>
          </p:cNvPr>
          <p:cNvSpPr/>
          <p:nvPr/>
        </p:nvSpPr>
        <p:spPr>
          <a:xfrm>
            <a:off x="90077" y="5746251"/>
            <a:ext cx="3265813" cy="17838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rgbClr val="00B0F0"/>
              </a:solidFill>
            </a:endParaRPr>
          </a:p>
        </p:txBody>
      </p:sp>
      <p:sp>
        <p:nvSpPr>
          <p:cNvPr id="38" name="TextBox 37">
            <a:extLst>
              <a:ext uri="{FF2B5EF4-FFF2-40B4-BE49-F238E27FC236}">
                <a16:creationId xmlns:a16="http://schemas.microsoft.com/office/drawing/2014/main" id="{084A5E28-9ECB-6361-A619-B81FAE4727C6}"/>
              </a:ext>
            </a:extLst>
          </p:cNvPr>
          <p:cNvSpPr txBox="1"/>
          <p:nvPr/>
        </p:nvSpPr>
        <p:spPr>
          <a:xfrm>
            <a:off x="6257" y="5512438"/>
            <a:ext cx="1308500" cy="276999"/>
          </a:xfrm>
          <a:prstGeom prst="rect">
            <a:avLst/>
          </a:prstGeom>
          <a:noFill/>
          <a:ln>
            <a:noFill/>
          </a:ln>
        </p:spPr>
        <p:txBody>
          <a:bodyPr wrap="none" rtlCol="0">
            <a:spAutoFit/>
          </a:bodyPr>
          <a:lstStyle/>
          <a:p>
            <a:r>
              <a:rPr lang="en-GB" sz="1200" b="1" i="1">
                <a:solidFill>
                  <a:srgbClr val="FF0000"/>
                </a:solidFill>
              </a:rPr>
              <a:t>Example 1 - I do…</a:t>
            </a:r>
          </a:p>
        </p:txBody>
      </p:sp>
      <p:sp>
        <p:nvSpPr>
          <p:cNvPr id="40" name="Rectangle 39">
            <a:extLst>
              <a:ext uri="{FF2B5EF4-FFF2-40B4-BE49-F238E27FC236}">
                <a16:creationId xmlns:a16="http://schemas.microsoft.com/office/drawing/2014/main" id="{2F211618-DFFD-2EE8-F7D3-8DF61C90922F}"/>
              </a:ext>
            </a:extLst>
          </p:cNvPr>
          <p:cNvSpPr/>
          <p:nvPr/>
        </p:nvSpPr>
        <p:spPr>
          <a:xfrm>
            <a:off x="3531554" y="5746251"/>
            <a:ext cx="3265813" cy="178383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rgbClr val="00B0F0"/>
              </a:solidFill>
            </a:endParaRPr>
          </a:p>
        </p:txBody>
      </p:sp>
      <p:sp>
        <p:nvSpPr>
          <p:cNvPr id="42" name="TextBox 41">
            <a:extLst>
              <a:ext uri="{FF2B5EF4-FFF2-40B4-BE49-F238E27FC236}">
                <a16:creationId xmlns:a16="http://schemas.microsoft.com/office/drawing/2014/main" id="{C6D672B2-F9DF-84D3-186C-909227B04549}"/>
              </a:ext>
            </a:extLst>
          </p:cNvPr>
          <p:cNvSpPr txBox="1"/>
          <p:nvPr/>
        </p:nvSpPr>
        <p:spPr>
          <a:xfrm>
            <a:off x="3447734" y="5512438"/>
            <a:ext cx="1475789" cy="276999"/>
          </a:xfrm>
          <a:prstGeom prst="rect">
            <a:avLst/>
          </a:prstGeom>
          <a:noFill/>
          <a:ln>
            <a:noFill/>
          </a:ln>
        </p:spPr>
        <p:txBody>
          <a:bodyPr wrap="none" rtlCol="0">
            <a:spAutoFit/>
          </a:bodyPr>
          <a:lstStyle/>
          <a:p>
            <a:r>
              <a:rPr lang="en-GB" sz="1200" b="1" i="1">
                <a:solidFill>
                  <a:schemeClr val="accent2"/>
                </a:solidFill>
              </a:rPr>
              <a:t>Example 2 - We do…</a:t>
            </a:r>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B60B7A29-A096-90D5-A0D6-8ABB7DF3B9EC}"/>
                  </a:ext>
                </a:extLst>
              </p:cNvPr>
              <p:cNvSpPr/>
              <p:nvPr/>
            </p:nvSpPr>
            <p:spPr>
              <a:xfrm>
                <a:off x="102554" y="5772517"/>
                <a:ext cx="3429000" cy="1754326"/>
              </a:xfrm>
              <a:prstGeom prst="rect">
                <a:avLst/>
              </a:prstGeom>
            </p:spPr>
            <p:txBody>
              <a:bodyPr>
                <a:spAutoFit/>
              </a:bodyPr>
              <a:lstStyle/>
              <a:p>
                <a:r>
                  <a:rPr lang="en-US" sz="1200">
                    <a:solidFill>
                      <a:srgbClr val="000000"/>
                    </a:solidFill>
                  </a:rPr>
                  <a:t>Calculate </a:t>
                </a:r>
              </a:p>
              <a:p>
                <a:r>
                  <a:rPr lang="en-US" sz="1200" b="0">
                    <a:solidFill>
                      <a:srgbClr val="000000"/>
                    </a:solidFill>
                  </a:rPr>
                  <a:t>        (a)           </a:t>
                </a:r>
                <a14:m>
                  <m:oMath xmlns:m="http://schemas.openxmlformats.org/officeDocument/2006/math">
                    <m:r>
                      <a:rPr lang="en-US" sz="1200" b="0" i="1" dirty="0" smtClean="0">
                        <a:solidFill>
                          <a:srgbClr val="000000"/>
                        </a:solidFill>
                        <a:latin typeface="Cambria Math" panose="02040503050406030204" pitchFamily="18" charset="0"/>
                      </a:rPr>
                      <m:t>−4+2</m:t>
                    </m:r>
                  </m:oMath>
                </a14:m>
                <a:endParaRPr lang="en-US" sz="1200" b="0" i="0">
                  <a:solidFill>
                    <a:srgbClr val="000000"/>
                  </a:solidFill>
                  <a:effectLst/>
                </a:endParaRPr>
              </a:p>
              <a:p>
                <a:endParaRPr lang="en-US" sz="1200">
                  <a:solidFill>
                    <a:srgbClr val="000000"/>
                  </a:solidFill>
                </a:endParaRPr>
              </a:p>
              <a:p>
                <a:r>
                  <a:rPr lang="en-US" sz="1200" b="0" i="0">
                    <a:solidFill>
                      <a:srgbClr val="000000"/>
                    </a:solidFill>
                    <a:effectLst/>
                  </a:rPr>
                  <a:t>        (b)           </a:t>
                </a:r>
                <a14:m>
                  <m:oMath xmlns:m="http://schemas.openxmlformats.org/officeDocument/2006/math">
                    <m:r>
                      <a:rPr lang="en-US" sz="1200" i="1" dirty="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6 −5 </m:t>
                    </m:r>
                  </m:oMath>
                </a14:m>
                <a:endParaRPr lang="en-US" sz="1200" b="0" i="0">
                  <a:solidFill>
                    <a:srgbClr val="000000"/>
                  </a:solidFill>
                </a:endParaRPr>
              </a:p>
              <a:p>
                <a:endParaRPr lang="en-US" sz="1200">
                  <a:solidFill>
                    <a:srgbClr val="000000"/>
                  </a:solidFill>
                </a:endParaRPr>
              </a:p>
              <a:p>
                <a:r>
                  <a:rPr lang="en-US" sz="1200">
                    <a:solidFill>
                      <a:srgbClr val="000000"/>
                    </a:solidFill>
                  </a:rPr>
                  <a:t>        (c)            </a:t>
                </a:r>
                <a14:m>
                  <m:oMath xmlns:m="http://schemas.openxmlformats.org/officeDocument/2006/math">
                    <m:r>
                      <a:rPr lang="en-US" sz="1200" b="0" i="1" dirty="0" smtClean="0">
                        <a:solidFill>
                          <a:srgbClr val="000000"/>
                        </a:solidFill>
                        <a:latin typeface="Cambria Math" panose="02040503050406030204" pitchFamily="18" charset="0"/>
                      </a:rPr>
                      <m:t>10+(−4)</m:t>
                    </m:r>
                  </m:oMath>
                </a14:m>
                <a:endParaRPr lang="en-US" sz="1200">
                  <a:solidFill>
                    <a:srgbClr val="000000"/>
                  </a:solidFill>
                </a:endParaRPr>
              </a:p>
              <a:p>
                <a:endParaRPr lang="en-US" sz="1200">
                  <a:solidFill>
                    <a:srgbClr val="000000"/>
                  </a:solidFill>
                </a:endParaRPr>
              </a:p>
              <a:p>
                <a:r>
                  <a:rPr lang="en-US" sz="1200">
                    <a:solidFill>
                      <a:srgbClr val="000000"/>
                    </a:solidFill>
                  </a:rPr>
                  <a:t>        (d)             </a:t>
                </a:r>
                <a14:m>
                  <m:oMath xmlns:m="http://schemas.openxmlformats.org/officeDocument/2006/math">
                    <m:r>
                      <a:rPr lang="en-US" sz="1200" b="0" i="0" dirty="0" smtClean="0">
                        <a:solidFill>
                          <a:srgbClr val="000000"/>
                        </a:solidFill>
                        <a:latin typeface="Cambria Math" panose="02040503050406030204" pitchFamily="18" charset="0"/>
                      </a:rPr>
                      <m:t>3−(−1</m:t>
                    </m:r>
                    <m:r>
                      <a:rPr lang="en-US" sz="1200" b="0" i="1" dirty="0" smtClean="0">
                        <a:solidFill>
                          <a:srgbClr val="000000"/>
                        </a:solidFill>
                        <a:latin typeface="Cambria Math" panose="02040503050406030204" pitchFamily="18" charset="0"/>
                      </a:rPr>
                      <m:t>)</m:t>
                    </m:r>
                  </m:oMath>
                </a14:m>
                <a:endParaRPr lang="en-US" sz="1200">
                  <a:solidFill>
                    <a:srgbClr val="000000"/>
                  </a:solidFill>
                </a:endParaRPr>
              </a:p>
              <a:p>
                <a:endParaRPr lang="en-US" sz="1200" b="0" i="0">
                  <a:solidFill>
                    <a:srgbClr val="000000"/>
                  </a:solidFill>
                  <a:effectLst/>
                </a:endParaRPr>
              </a:p>
            </p:txBody>
          </p:sp>
        </mc:Choice>
        <mc:Fallback xmlns="">
          <p:sp>
            <p:nvSpPr>
              <p:cNvPr id="43" name="Rectangle 42">
                <a:extLst>
                  <a:ext uri="{FF2B5EF4-FFF2-40B4-BE49-F238E27FC236}">
                    <a16:creationId xmlns:a16="http://schemas.microsoft.com/office/drawing/2014/main" id="{B60B7A29-A096-90D5-A0D6-8ABB7DF3B9EC}"/>
                  </a:ext>
                </a:extLst>
              </p:cNvPr>
              <p:cNvSpPr>
                <a:spLocks noRot="1" noChangeAspect="1" noMove="1" noResize="1" noEditPoints="1" noAdjustHandles="1" noChangeArrowheads="1" noChangeShapeType="1" noTextEdit="1"/>
              </p:cNvSpPr>
              <p:nvPr/>
            </p:nvSpPr>
            <p:spPr>
              <a:xfrm>
                <a:off x="102554" y="5772517"/>
                <a:ext cx="3429000" cy="1754326"/>
              </a:xfrm>
              <a:prstGeom prst="rect">
                <a:avLst/>
              </a:prstGeom>
              <a:blipFill>
                <a:blip r:embed="rId2"/>
                <a:stretch>
                  <a:fillRect l="-178" t="-347"/>
                </a:stretch>
              </a:blipFill>
            </p:spPr>
            <p:txBody>
              <a:bodyPr/>
              <a:lstStyle/>
              <a:p>
                <a:r>
                  <a:rPr lang="en-US">
                    <a:noFill/>
                  </a:rPr>
                  <a:t> </a:t>
                </a:r>
              </a:p>
            </p:txBody>
          </p:sp>
        </mc:Fallback>
      </mc:AlternateContent>
      <p:sp>
        <p:nvSpPr>
          <p:cNvPr id="44" name="Rectangle 43">
            <a:extLst>
              <a:ext uri="{FF2B5EF4-FFF2-40B4-BE49-F238E27FC236}">
                <a16:creationId xmlns:a16="http://schemas.microsoft.com/office/drawing/2014/main" id="{7AB7CF5A-48E5-A983-FE02-2511CFCDB193}"/>
              </a:ext>
            </a:extLst>
          </p:cNvPr>
          <p:cNvSpPr/>
          <p:nvPr/>
        </p:nvSpPr>
        <p:spPr>
          <a:xfrm>
            <a:off x="1838126" y="5971499"/>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5" name="Rectangle 44">
            <a:extLst>
              <a:ext uri="{FF2B5EF4-FFF2-40B4-BE49-F238E27FC236}">
                <a16:creationId xmlns:a16="http://schemas.microsoft.com/office/drawing/2014/main" id="{45D6F351-3D26-B633-5946-A9D7F1FEC90F}"/>
              </a:ext>
            </a:extLst>
          </p:cNvPr>
          <p:cNvSpPr/>
          <p:nvPr/>
        </p:nvSpPr>
        <p:spPr>
          <a:xfrm>
            <a:off x="1838126" y="6345210"/>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6" name="Rectangle 45">
            <a:extLst>
              <a:ext uri="{FF2B5EF4-FFF2-40B4-BE49-F238E27FC236}">
                <a16:creationId xmlns:a16="http://schemas.microsoft.com/office/drawing/2014/main" id="{0086A79C-C9F0-829D-A546-559C6AE6D5F4}"/>
              </a:ext>
            </a:extLst>
          </p:cNvPr>
          <p:cNvSpPr/>
          <p:nvPr/>
        </p:nvSpPr>
        <p:spPr>
          <a:xfrm>
            <a:off x="1838126" y="6739033"/>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7" name="Rectangle 46">
            <a:extLst>
              <a:ext uri="{FF2B5EF4-FFF2-40B4-BE49-F238E27FC236}">
                <a16:creationId xmlns:a16="http://schemas.microsoft.com/office/drawing/2014/main" id="{D85BC886-DC2C-63A9-C21F-04A960165BF9}"/>
              </a:ext>
            </a:extLst>
          </p:cNvPr>
          <p:cNvSpPr/>
          <p:nvPr/>
        </p:nvSpPr>
        <p:spPr>
          <a:xfrm>
            <a:off x="1838126" y="7118729"/>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D4DB6393-5CEA-AF8F-D8BA-A98A14934E37}"/>
                  </a:ext>
                </a:extLst>
              </p:cNvPr>
              <p:cNvSpPr/>
              <p:nvPr/>
            </p:nvSpPr>
            <p:spPr>
              <a:xfrm>
                <a:off x="3559432" y="5787271"/>
                <a:ext cx="3429000" cy="1754326"/>
              </a:xfrm>
              <a:prstGeom prst="rect">
                <a:avLst/>
              </a:prstGeom>
            </p:spPr>
            <p:txBody>
              <a:bodyPr>
                <a:spAutoFit/>
              </a:bodyPr>
              <a:lstStyle/>
              <a:p>
                <a:r>
                  <a:rPr lang="en-US" sz="1200">
                    <a:solidFill>
                      <a:srgbClr val="000000"/>
                    </a:solidFill>
                  </a:rPr>
                  <a:t>Calculate </a:t>
                </a:r>
              </a:p>
              <a:p>
                <a:r>
                  <a:rPr lang="en-US" sz="1200" b="0">
                    <a:solidFill>
                      <a:srgbClr val="000000"/>
                    </a:solidFill>
                  </a:rPr>
                  <a:t>        (a)           </a:t>
                </a:r>
                <a14:m>
                  <m:oMath xmlns:m="http://schemas.openxmlformats.org/officeDocument/2006/math">
                    <m:r>
                      <a:rPr lang="en-US" sz="1200" b="0" i="1" dirty="0" smtClean="0">
                        <a:solidFill>
                          <a:srgbClr val="000000"/>
                        </a:solidFill>
                        <a:latin typeface="Cambria Math" panose="02040503050406030204" pitchFamily="18" charset="0"/>
                      </a:rPr>
                      <m:t>−8+5</m:t>
                    </m:r>
                  </m:oMath>
                </a14:m>
                <a:endParaRPr lang="en-US" sz="1200">
                  <a:solidFill>
                    <a:srgbClr val="000000"/>
                  </a:solidFill>
                </a:endParaRPr>
              </a:p>
              <a:p>
                <a:endParaRPr lang="en-US" sz="1200">
                  <a:solidFill>
                    <a:srgbClr val="000000"/>
                  </a:solidFill>
                </a:endParaRPr>
              </a:p>
              <a:p>
                <a:r>
                  <a:rPr lang="en-US" sz="1200" b="0" i="0">
                    <a:solidFill>
                      <a:srgbClr val="000000"/>
                    </a:solidFill>
                    <a:effectLst/>
                  </a:rPr>
                  <a:t>        (b)           </a:t>
                </a:r>
                <a14:m>
                  <m:oMath xmlns:m="http://schemas.openxmlformats.org/officeDocument/2006/math">
                    <m:r>
                      <a:rPr lang="en-US" sz="1200" i="1" dirty="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6−9</m:t>
                    </m:r>
                  </m:oMath>
                </a14:m>
                <a:endParaRPr lang="en-US" sz="1200">
                  <a:solidFill>
                    <a:srgbClr val="000000"/>
                  </a:solidFill>
                </a:endParaRPr>
              </a:p>
              <a:p>
                <a:endParaRPr lang="en-US" sz="1200">
                  <a:solidFill>
                    <a:srgbClr val="000000"/>
                  </a:solidFill>
                </a:endParaRPr>
              </a:p>
              <a:p>
                <a:r>
                  <a:rPr lang="en-US" sz="1200">
                    <a:solidFill>
                      <a:srgbClr val="000000"/>
                    </a:solidFill>
                  </a:rPr>
                  <a:t>        (c)            </a:t>
                </a:r>
                <a14:m>
                  <m:oMath xmlns:m="http://schemas.openxmlformats.org/officeDocument/2006/math">
                    <m:r>
                      <a:rPr lang="en-US" sz="1200" i="1" dirty="0" smtClean="0">
                        <a:solidFill>
                          <a:srgbClr val="000000"/>
                        </a:solidFill>
                        <a:latin typeface="Cambria Math" panose="02040503050406030204" pitchFamily="18" charset="0"/>
                      </a:rPr>
                      <m:t>1</m:t>
                    </m:r>
                    <m:r>
                      <a:rPr lang="en-US" sz="1200" b="0" i="1" dirty="0" smtClean="0">
                        <a:solidFill>
                          <a:srgbClr val="000000"/>
                        </a:solidFill>
                        <a:latin typeface="Cambria Math" panose="02040503050406030204" pitchFamily="18" charset="0"/>
                      </a:rPr>
                      <m:t>+(−2)</m:t>
                    </m:r>
                  </m:oMath>
                </a14:m>
                <a:endParaRPr lang="en-US" sz="1200">
                  <a:solidFill>
                    <a:srgbClr val="000000"/>
                  </a:solidFill>
                </a:endParaRPr>
              </a:p>
              <a:p>
                <a:endParaRPr lang="en-US" sz="1200">
                  <a:solidFill>
                    <a:srgbClr val="000000"/>
                  </a:solidFill>
                </a:endParaRPr>
              </a:p>
              <a:p>
                <a:r>
                  <a:rPr lang="en-US" sz="1200">
                    <a:solidFill>
                      <a:srgbClr val="000000"/>
                    </a:solidFill>
                  </a:rPr>
                  <a:t>        (d)             </a:t>
                </a:r>
                <a14:m>
                  <m:oMath xmlns:m="http://schemas.openxmlformats.org/officeDocument/2006/math">
                    <m:r>
                      <a:rPr lang="en-US" sz="1200" b="0" i="0" dirty="0" smtClean="0">
                        <a:solidFill>
                          <a:srgbClr val="000000"/>
                        </a:solidFill>
                        <a:latin typeface="Cambria Math" panose="02040503050406030204" pitchFamily="18" charset="0"/>
                      </a:rPr>
                      <m:t>−</m:t>
                    </m:r>
                    <m:r>
                      <a:rPr lang="en-US" sz="1200" i="1" dirty="0" smtClean="0">
                        <a:solidFill>
                          <a:srgbClr val="000000"/>
                        </a:solidFill>
                        <a:latin typeface="Cambria Math" panose="02040503050406030204" pitchFamily="18" charset="0"/>
                      </a:rPr>
                      <m:t>4</m:t>
                    </m:r>
                    <m:r>
                      <a:rPr lang="en-US" sz="1200" i="1" dirty="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(−3)</m:t>
                    </m:r>
                  </m:oMath>
                </a14:m>
                <a:endParaRPr lang="en-US" sz="1200">
                  <a:solidFill>
                    <a:srgbClr val="000000"/>
                  </a:solidFill>
                </a:endParaRPr>
              </a:p>
              <a:p>
                <a:endParaRPr lang="en-US" sz="1200" b="0" i="0">
                  <a:solidFill>
                    <a:srgbClr val="000000"/>
                  </a:solidFill>
                  <a:effectLst/>
                </a:endParaRPr>
              </a:p>
            </p:txBody>
          </p:sp>
        </mc:Choice>
        <mc:Fallback xmlns="">
          <p:sp>
            <p:nvSpPr>
              <p:cNvPr id="48" name="Rectangle 47">
                <a:extLst>
                  <a:ext uri="{FF2B5EF4-FFF2-40B4-BE49-F238E27FC236}">
                    <a16:creationId xmlns:a16="http://schemas.microsoft.com/office/drawing/2014/main" id="{D4DB6393-5CEA-AF8F-D8BA-A98A14934E37}"/>
                  </a:ext>
                </a:extLst>
              </p:cNvPr>
              <p:cNvSpPr>
                <a:spLocks noRot="1" noChangeAspect="1" noMove="1" noResize="1" noEditPoints="1" noAdjustHandles="1" noChangeArrowheads="1" noChangeShapeType="1" noTextEdit="1"/>
              </p:cNvSpPr>
              <p:nvPr/>
            </p:nvSpPr>
            <p:spPr>
              <a:xfrm>
                <a:off x="3559432" y="5787271"/>
                <a:ext cx="3429000" cy="1754326"/>
              </a:xfrm>
              <a:prstGeom prst="rect">
                <a:avLst/>
              </a:prstGeom>
              <a:blipFill>
                <a:blip r:embed="rId3"/>
                <a:stretch>
                  <a:fillRect l="-178"/>
                </a:stretch>
              </a:blipFill>
            </p:spPr>
            <p:txBody>
              <a:bodyPr/>
              <a:lstStyle/>
              <a:p>
                <a:r>
                  <a:rPr lang="en-US">
                    <a:noFill/>
                  </a:rPr>
                  <a:t> </a:t>
                </a:r>
              </a:p>
            </p:txBody>
          </p:sp>
        </mc:Fallback>
      </mc:AlternateContent>
      <p:sp>
        <p:nvSpPr>
          <p:cNvPr id="49" name="Rectangle 48">
            <a:extLst>
              <a:ext uri="{FF2B5EF4-FFF2-40B4-BE49-F238E27FC236}">
                <a16:creationId xmlns:a16="http://schemas.microsoft.com/office/drawing/2014/main" id="{877A2DDB-21A4-2BD1-13E3-6F70837A4446}"/>
              </a:ext>
            </a:extLst>
          </p:cNvPr>
          <p:cNvSpPr/>
          <p:nvPr/>
        </p:nvSpPr>
        <p:spPr>
          <a:xfrm>
            <a:off x="5409304" y="5986253"/>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0" name="Rectangle 49">
            <a:extLst>
              <a:ext uri="{FF2B5EF4-FFF2-40B4-BE49-F238E27FC236}">
                <a16:creationId xmlns:a16="http://schemas.microsoft.com/office/drawing/2014/main" id="{6F461AE3-2DDB-8A73-E97B-CAB805C712B5}"/>
              </a:ext>
            </a:extLst>
          </p:cNvPr>
          <p:cNvSpPr/>
          <p:nvPr/>
        </p:nvSpPr>
        <p:spPr>
          <a:xfrm>
            <a:off x="5409304" y="6359964"/>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1" name="Rectangle 50">
            <a:extLst>
              <a:ext uri="{FF2B5EF4-FFF2-40B4-BE49-F238E27FC236}">
                <a16:creationId xmlns:a16="http://schemas.microsoft.com/office/drawing/2014/main" id="{D6A442F7-9106-19E8-F88F-87AACDA57E3C}"/>
              </a:ext>
            </a:extLst>
          </p:cNvPr>
          <p:cNvSpPr/>
          <p:nvPr/>
        </p:nvSpPr>
        <p:spPr>
          <a:xfrm>
            <a:off x="5409304" y="6753787"/>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2" name="Rectangle 51">
            <a:extLst>
              <a:ext uri="{FF2B5EF4-FFF2-40B4-BE49-F238E27FC236}">
                <a16:creationId xmlns:a16="http://schemas.microsoft.com/office/drawing/2014/main" id="{157BDAA5-AE0C-D15C-C9DF-3CA6BF3EDB8E}"/>
              </a:ext>
            </a:extLst>
          </p:cNvPr>
          <p:cNvSpPr/>
          <p:nvPr/>
        </p:nvSpPr>
        <p:spPr>
          <a:xfrm>
            <a:off x="5409304" y="7133483"/>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3" name="TextBox 52">
            <a:extLst>
              <a:ext uri="{FF2B5EF4-FFF2-40B4-BE49-F238E27FC236}">
                <a16:creationId xmlns:a16="http://schemas.microsoft.com/office/drawing/2014/main" id="{3A96E1AF-923C-92A7-AB9F-CBEE1B7120E5}"/>
              </a:ext>
            </a:extLst>
          </p:cNvPr>
          <p:cNvSpPr txBox="1"/>
          <p:nvPr/>
        </p:nvSpPr>
        <p:spPr>
          <a:xfrm>
            <a:off x="1890285" y="7650399"/>
            <a:ext cx="1498808" cy="276999"/>
          </a:xfrm>
          <a:prstGeom prst="rect">
            <a:avLst/>
          </a:prstGeom>
          <a:noFill/>
          <a:ln>
            <a:noFill/>
          </a:ln>
        </p:spPr>
        <p:txBody>
          <a:bodyPr wrap="none" lIns="91440" tIns="45720" rIns="91440" bIns="45720" rtlCol="0" anchor="t">
            <a:spAutoFit/>
          </a:bodyPr>
          <a:lstStyle/>
          <a:p>
            <a:r>
              <a:rPr lang="en-GB" sz="1200" b="1" i="1">
                <a:solidFill>
                  <a:srgbClr val="92D050"/>
                </a:solidFill>
              </a:rPr>
              <a:t>Example 3 - You do…</a:t>
            </a:r>
          </a:p>
        </p:txBody>
      </p: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EDA03557-B27C-AED3-9C9A-C8B07D7C3F19}"/>
                  </a:ext>
                </a:extLst>
              </p:cNvPr>
              <p:cNvSpPr/>
              <p:nvPr/>
            </p:nvSpPr>
            <p:spPr>
              <a:xfrm>
                <a:off x="2001983" y="7925232"/>
                <a:ext cx="3429000" cy="1754326"/>
              </a:xfrm>
              <a:prstGeom prst="rect">
                <a:avLst/>
              </a:prstGeom>
            </p:spPr>
            <p:txBody>
              <a:bodyPr>
                <a:spAutoFit/>
              </a:bodyPr>
              <a:lstStyle/>
              <a:p>
                <a:r>
                  <a:rPr lang="en-US" sz="1200">
                    <a:solidFill>
                      <a:srgbClr val="000000"/>
                    </a:solidFill>
                  </a:rPr>
                  <a:t>Calculate </a:t>
                </a:r>
              </a:p>
              <a:p>
                <a:r>
                  <a:rPr lang="en-US" sz="1200" b="0">
                    <a:solidFill>
                      <a:srgbClr val="000000"/>
                    </a:solidFill>
                  </a:rPr>
                  <a:t>        (a)           </a:t>
                </a:r>
                <a14:m>
                  <m:oMath xmlns:m="http://schemas.openxmlformats.org/officeDocument/2006/math">
                    <m:r>
                      <a:rPr lang="en-US" sz="1200" b="0" i="1" dirty="0" smtClean="0">
                        <a:solidFill>
                          <a:srgbClr val="000000"/>
                        </a:solidFill>
                        <a:latin typeface="Cambria Math" panose="02040503050406030204" pitchFamily="18" charset="0"/>
                      </a:rPr>
                      <m:t>−8+5</m:t>
                    </m:r>
                  </m:oMath>
                </a14:m>
                <a:endParaRPr lang="en-US" sz="1200">
                  <a:solidFill>
                    <a:srgbClr val="000000"/>
                  </a:solidFill>
                </a:endParaRPr>
              </a:p>
              <a:p>
                <a:endParaRPr lang="en-US" sz="1200">
                  <a:solidFill>
                    <a:srgbClr val="000000"/>
                  </a:solidFill>
                </a:endParaRPr>
              </a:p>
              <a:p>
                <a:r>
                  <a:rPr lang="en-US" sz="1200" b="0" i="0">
                    <a:solidFill>
                      <a:srgbClr val="000000"/>
                    </a:solidFill>
                    <a:effectLst/>
                  </a:rPr>
                  <a:t>        (b)           </a:t>
                </a:r>
                <a14:m>
                  <m:oMath xmlns:m="http://schemas.openxmlformats.org/officeDocument/2006/math">
                    <m:r>
                      <a:rPr lang="en-US" sz="1200" i="1" dirty="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6−9</m:t>
                    </m:r>
                  </m:oMath>
                </a14:m>
                <a:endParaRPr lang="en-US" sz="1200">
                  <a:solidFill>
                    <a:srgbClr val="000000"/>
                  </a:solidFill>
                </a:endParaRPr>
              </a:p>
              <a:p>
                <a:endParaRPr lang="en-US" sz="1200">
                  <a:solidFill>
                    <a:srgbClr val="000000"/>
                  </a:solidFill>
                </a:endParaRPr>
              </a:p>
              <a:p>
                <a:r>
                  <a:rPr lang="en-US" sz="1200">
                    <a:solidFill>
                      <a:srgbClr val="000000"/>
                    </a:solidFill>
                  </a:rPr>
                  <a:t>        (c)            </a:t>
                </a:r>
                <a14:m>
                  <m:oMath xmlns:m="http://schemas.openxmlformats.org/officeDocument/2006/math">
                    <m:r>
                      <a:rPr lang="en-US" sz="1200" i="1" dirty="0" smtClean="0">
                        <a:solidFill>
                          <a:srgbClr val="000000"/>
                        </a:solidFill>
                        <a:latin typeface="Cambria Math" panose="02040503050406030204" pitchFamily="18" charset="0"/>
                      </a:rPr>
                      <m:t>1</m:t>
                    </m:r>
                    <m:r>
                      <a:rPr lang="en-US" sz="1200" b="0" i="1" dirty="0" smtClean="0">
                        <a:solidFill>
                          <a:srgbClr val="000000"/>
                        </a:solidFill>
                        <a:latin typeface="Cambria Math" panose="02040503050406030204" pitchFamily="18" charset="0"/>
                      </a:rPr>
                      <m:t>+(−2)</m:t>
                    </m:r>
                  </m:oMath>
                </a14:m>
                <a:endParaRPr lang="en-US" sz="1200">
                  <a:solidFill>
                    <a:srgbClr val="000000"/>
                  </a:solidFill>
                </a:endParaRPr>
              </a:p>
              <a:p>
                <a:endParaRPr lang="en-US" sz="1200">
                  <a:solidFill>
                    <a:srgbClr val="000000"/>
                  </a:solidFill>
                </a:endParaRPr>
              </a:p>
              <a:p>
                <a:r>
                  <a:rPr lang="en-US" sz="1200">
                    <a:solidFill>
                      <a:srgbClr val="000000"/>
                    </a:solidFill>
                  </a:rPr>
                  <a:t>        (d)             </a:t>
                </a:r>
                <a14:m>
                  <m:oMath xmlns:m="http://schemas.openxmlformats.org/officeDocument/2006/math">
                    <m:r>
                      <a:rPr lang="en-US" sz="1200" b="0" i="0" dirty="0" smtClean="0">
                        <a:solidFill>
                          <a:srgbClr val="000000"/>
                        </a:solidFill>
                        <a:latin typeface="Cambria Math" panose="02040503050406030204" pitchFamily="18" charset="0"/>
                      </a:rPr>
                      <m:t>−</m:t>
                    </m:r>
                    <m:r>
                      <a:rPr lang="en-US" sz="1200" i="1" dirty="0" smtClean="0">
                        <a:solidFill>
                          <a:srgbClr val="000000"/>
                        </a:solidFill>
                        <a:latin typeface="Cambria Math" panose="02040503050406030204" pitchFamily="18" charset="0"/>
                      </a:rPr>
                      <m:t>4</m:t>
                    </m:r>
                    <m:r>
                      <a:rPr lang="en-US" sz="1200" i="1" dirty="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(−3)</m:t>
                    </m:r>
                  </m:oMath>
                </a14:m>
                <a:endParaRPr lang="en-US" sz="1200">
                  <a:solidFill>
                    <a:srgbClr val="000000"/>
                  </a:solidFill>
                </a:endParaRPr>
              </a:p>
              <a:p>
                <a:endParaRPr lang="en-US" sz="1200" b="0" i="0">
                  <a:solidFill>
                    <a:srgbClr val="000000"/>
                  </a:solidFill>
                  <a:effectLst/>
                </a:endParaRPr>
              </a:p>
            </p:txBody>
          </p:sp>
        </mc:Choice>
        <mc:Fallback xmlns="">
          <p:sp>
            <p:nvSpPr>
              <p:cNvPr id="54" name="Rectangle 53">
                <a:extLst>
                  <a:ext uri="{FF2B5EF4-FFF2-40B4-BE49-F238E27FC236}">
                    <a16:creationId xmlns:a16="http://schemas.microsoft.com/office/drawing/2014/main" id="{EDA03557-B27C-AED3-9C9A-C8B07D7C3F19}"/>
                  </a:ext>
                </a:extLst>
              </p:cNvPr>
              <p:cNvSpPr>
                <a:spLocks noRot="1" noChangeAspect="1" noMove="1" noResize="1" noEditPoints="1" noAdjustHandles="1" noChangeArrowheads="1" noChangeShapeType="1" noTextEdit="1"/>
              </p:cNvSpPr>
              <p:nvPr/>
            </p:nvSpPr>
            <p:spPr>
              <a:xfrm>
                <a:off x="2001983" y="7925232"/>
                <a:ext cx="3429000" cy="1754326"/>
              </a:xfrm>
              <a:prstGeom prst="rect">
                <a:avLst/>
              </a:prstGeom>
              <a:blipFill>
                <a:blip r:embed="rId4"/>
                <a:stretch>
                  <a:fillRect/>
                </a:stretch>
              </a:blipFill>
            </p:spPr>
            <p:txBody>
              <a:bodyPr/>
              <a:lstStyle/>
              <a:p>
                <a:r>
                  <a:rPr lang="en-US">
                    <a:noFill/>
                  </a:rPr>
                  <a:t> </a:t>
                </a:r>
              </a:p>
            </p:txBody>
          </p:sp>
        </mc:Fallback>
      </mc:AlternateContent>
      <p:sp>
        <p:nvSpPr>
          <p:cNvPr id="55" name="Rectangle 54">
            <a:extLst>
              <a:ext uri="{FF2B5EF4-FFF2-40B4-BE49-F238E27FC236}">
                <a16:creationId xmlns:a16="http://schemas.microsoft.com/office/drawing/2014/main" id="{8E584DCE-905E-CDB1-C7E8-BCD8D3E1AC77}"/>
              </a:ext>
            </a:extLst>
          </p:cNvPr>
          <p:cNvSpPr/>
          <p:nvPr/>
        </p:nvSpPr>
        <p:spPr>
          <a:xfrm>
            <a:off x="3851855" y="8124214"/>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6" name="Rectangle 55">
            <a:extLst>
              <a:ext uri="{FF2B5EF4-FFF2-40B4-BE49-F238E27FC236}">
                <a16:creationId xmlns:a16="http://schemas.microsoft.com/office/drawing/2014/main" id="{0BF7F0D7-B4DA-A987-A1D4-C4BFBE091225}"/>
              </a:ext>
            </a:extLst>
          </p:cNvPr>
          <p:cNvSpPr/>
          <p:nvPr/>
        </p:nvSpPr>
        <p:spPr>
          <a:xfrm>
            <a:off x="3851855" y="8497925"/>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7" name="Rectangle 56">
            <a:extLst>
              <a:ext uri="{FF2B5EF4-FFF2-40B4-BE49-F238E27FC236}">
                <a16:creationId xmlns:a16="http://schemas.microsoft.com/office/drawing/2014/main" id="{A1D7BA4B-2178-0D6D-23AE-091396463F16}"/>
              </a:ext>
            </a:extLst>
          </p:cNvPr>
          <p:cNvSpPr/>
          <p:nvPr/>
        </p:nvSpPr>
        <p:spPr>
          <a:xfrm>
            <a:off x="3851855" y="8891748"/>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8" name="Rectangle 57">
            <a:extLst>
              <a:ext uri="{FF2B5EF4-FFF2-40B4-BE49-F238E27FC236}">
                <a16:creationId xmlns:a16="http://schemas.microsoft.com/office/drawing/2014/main" id="{5DDFEE52-2857-D37D-401C-D7992AC91914}"/>
              </a:ext>
            </a:extLst>
          </p:cNvPr>
          <p:cNvSpPr/>
          <p:nvPr/>
        </p:nvSpPr>
        <p:spPr>
          <a:xfrm>
            <a:off x="3851855" y="9271444"/>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59" name="Rectangle 58">
            <a:extLst>
              <a:ext uri="{FF2B5EF4-FFF2-40B4-BE49-F238E27FC236}">
                <a16:creationId xmlns:a16="http://schemas.microsoft.com/office/drawing/2014/main" id="{C8248ECF-B345-8D07-BBAE-9E4D98C6D4A2}"/>
              </a:ext>
            </a:extLst>
          </p:cNvPr>
          <p:cNvSpPr/>
          <p:nvPr/>
        </p:nvSpPr>
        <p:spPr>
          <a:xfrm>
            <a:off x="1722983" y="7674256"/>
            <a:ext cx="3265813" cy="1975655"/>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rgbClr val="00B0F0"/>
              </a:solidFill>
            </a:endParaRPr>
          </a:p>
        </p:txBody>
      </p:sp>
      <p:sp>
        <p:nvSpPr>
          <p:cNvPr id="12" name="Rectangle 11">
            <a:extLst>
              <a:ext uri="{FF2B5EF4-FFF2-40B4-BE49-F238E27FC236}">
                <a16:creationId xmlns:a16="http://schemas.microsoft.com/office/drawing/2014/main" id="{C70662AA-5637-4A1A-0524-C6062A8B49F6}"/>
              </a:ext>
            </a:extLst>
          </p:cNvPr>
          <p:cNvSpPr/>
          <p:nvPr/>
        </p:nvSpPr>
        <p:spPr>
          <a:xfrm>
            <a:off x="90077" y="5302007"/>
            <a:ext cx="2601917" cy="22050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Addition and Subtraction</a:t>
            </a:r>
          </a:p>
        </p:txBody>
      </p:sp>
    </p:spTree>
    <p:extLst>
      <p:ext uri="{BB962C8B-B14F-4D97-AF65-F5344CB8AC3E}">
        <p14:creationId xmlns:p14="http://schemas.microsoft.com/office/powerpoint/2010/main" val="7861387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5AEC07-833B-E2D0-CF38-532E4ACD635E}"/>
              </a:ext>
            </a:extLst>
          </p:cNvPr>
          <p:cNvPicPr>
            <a:picLocks noChangeAspect="1"/>
          </p:cNvPicPr>
          <p:nvPr/>
        </p:nvPicPr>
        <p:blipFill rotWithShape="1">
          <a:blip r:embed="rId2">
            <a:biLevel thresh="75000"/>
          </a:blip>
          <a:srcRect t="64299"/>
          <a:stretch/>
        </p:blipFill>
        <p:spPr>
          <a:xfrm>
            <a:off x="4212906" y="495299"/>
            <a:ext cx="1419225" cy="1407795"/>
          </a:xfrm>
          <a:prstGeom prst="rect">
            <a:avLst/>
          </a:prstGeom>
        </p:spPr>
      </p:pic>
      <p:pic>
        <p:nvPicPr>
          <p:cNvPr id="56" name="Picture 55">
            <a:extLst>
              <a:ext uri="{FF2B5EF4-FFF2-40B4-BE49-F238E27FC236}">
                <a16:creationId xmlns:a16="http://schemas.microsoft.com/office/drawing/2014/main" id="{8CBD0A7E-8753-0EA1-EEE8-29DC4E687A09}"/>
              </a:ext>
            </a:extLst>
          </p:cNvPr>
          <p:cNvPicPr>
            <a:picLocks noChangeAspect="1"/>
          </p:cNvPicPr>
          <p:nvPr/>
        </p:nvPicPr>
        <p:blipFill rotWithShape="1">
          <a:blip r:embed="rId2">
            <a:biLevel thresh="75000"/>
          </a:blip>
          <a:srcRect t="31835" b="34155"/>
          <a:stretch/>
        </p:blipFill>
        <p:spPr>
          <a:xfrm>
            <a:off x="2246946" y="522922"/>
            <a:ext cx="1419225" cy="1341120"/>
          </a:xfrm>
          <a:prstGeom prst="rect">
            <a:avLst/>
          </a:prstGeom>
        </p:spPr>
      </p:pic>
      <p:pic>
        <p:nvPicPr>
          <p:cNvPr id="57" name="Picture 56">
            <a:extLst>
              <a:ext uri="{FF2B5EF4-FFF2-40B4-BE49-F238E27FC236}">
                <a16:creationId xmlns:a16="http://schemas.microsoft.com/office/drawing/2014/main" id="{2E7F965A-957C-DE45-4836-BE717A97F2E0}"/>
              </a:ext>
            </a:extLst>
          </p:cNvPr>
          <p:cNvPicPr>
            <a:picLocks noChangeAspect="1"/>
          </p:cNvPicPr>
          <p:nvPr/>
        </p:nvPicPr>
        <p:blipFill rotWithShape="1">
          <a:blip r:embed="rId2">
            <a:biLevel thresh="75000"/>
          </a:blip>
          <a:srcRect t="-1" b="67392"/>
          <a:stretch/>
        </p:blipFill>
        <p:spPr>
          <a:xfrm>
            <a:off x="280987" y="522922"/>
            <a:ext cx="1419225" cy="1285875"/>
          </a:xfrm>
          <a:prstGeom prst="rect">
            <a:avLst/>
          </a:prstGeom>
        </p:spPr>
      </p:pic>
      <p:grpSp>
        <p:nvGrpSpPr>
          <p:cNvPr id="58" name="Group 57">
            <a:extLst>
              <a:ext uri="{FF2B5EF4-FFF2-40B4-BE49-F238E27FC236}">
                <a16:creationId xmlns:a16="http://schemas.microsoft.com/office/drawing/2014/main" id="{972C71BF-E8F9-9260-99E8-45FB951C99AF}"/>
              </a:ext>
            </a:extLst>
          </p:cNvPr>
          <p:cNvGrpSpPr/>
          <p:nvPr/>
        </p:nvGrpSpPr>
        <p:grpSpPr>
          <a:xfrm>
            <a:off x="1622443" y="556890"/>
            <a:ext cx="490494" cy="1235701"/>
            <a:chOff x="1567272" y="5986149"/>
            <a:chExt cx="490494" cy="1235701"/>
          </a:xfrm>
        </p:grpSpPr>
        <p:sp>
          <p:nvSpPr>
            <p:cNvPr id="59" name="TextBox 58">
              <a:extLst>
                <a:ext uri="{FF2B5EF4-FFF2-40B4-BE49-F238E27FC236}">
                  <a16:creationId xmlns:a16="http://schemas.microsoft.com/office/drawing/2014/main" id="{C93CB31C-817D-EDC3-4881-081CA76F71B3}"/>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0" name="TextBox 59">
              <a:extLst>
                <a:ext uri="{FF2B5EF4-FFF2-40B4-BE49-F238E27FC236}">
                  <a16:creationId xmlns:a16="http://schemas.microsoft.com/office/drawing/2014/main" id="{B81FCEF4-1C1C-3412-91D9-FC6A6184AAC1}"/>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70" name="TextBox 69">
              <a:extLst>
                <a:ext uri="{FF2B5EF4-FFF2-40B4-BE49-F238E27FC236}">
                  <a16:creationId xmlns:a16="http://schemas.microsoft.com/office/drawing/2014/main" id="{49AE3622-D905-E16F-4149-3D9E34430B67}"/>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71" name="TextBox 70">
              <a:extLst>
                <a:ext uri="{FF2B5EF4-FFF2-40B4-BE49-F238E27FC236}">
                  <a16:creationId xmlns:a16="http://schemas.microsoft.com/office/drawing/2014/main" id="{781DCBD3-24E0-2AA2-13FB-F8AA6CBD2009}"/>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72" name="Group 71">
            <a:extLst>
              <a:ext uri="{FF2B5EF4-FFF2-40B4-BE49-F238E27FC236}">
                <a16:creationId xmlns:a16="http://schemas.microsoft.com/office/drawing/2014/main" id="{EA9A0A31-E6DF-3DAB-61B2-A51085041034}"/>
              </a:ext>
            </a:extLst>
          </p:cNvPr>
          <p:cNvGrpSpPr/>
          <p:nvPr/>
        </p:nvGrpSpPr>
        <p:grpSpPr>
          <a:xfrm>
            <a:off x="3554933" y="576841"/>
            <a:ext cx="490494" cy="1235701"/>
            <a:chOff x="1567272" y="5986149"/>
            <a:chExt cx="490494" cy="1235701"/>
          </a:xfrm>
        </p:grpSpPr>
        <p:sp>
          <p:nvSpPr>
            <p:cNvPr id="73" name="TextBox 72">
              <a:extLst>
                <a:ext uri="{FF2B5EF4-FFF2-40B4-BE49-F238E27FC236}">
                  <a16:creationId xmlns:a16="http://schemas.microsoft.com/office/drawing/2014/main" id="{5B748356-966E-27E9-BFDE-5E8728DD3906}"/>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74" name="TextBox 73">
              <a:extLst>
                <a:ext uri="{FF2B5EF4-FFF2-40B4-BE49-F238E27FC236}">
                  <a16:creationId xmlns:a16="http://schemas.microsoft.com/office/drawing/2014/main" id="{9F106030-1DB1-27AF-F52B-6888DC0B3CEF}"/>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75" name="TextBox 74">
              <a:extLst>
                <a:ext uri="{FF2B5EF4-FFF2-40B4-BE49-F238E27FC236}">
                  <a16:creationId xmlns:a16="http://schemas.microsoft.com/office/drawing/2014/main" id="{7F53180B-B3F2-F751-B8DC-039AB9BD85D2}"/>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76" name="TextBox 75">
              <a:extLst>
                <a:ext uri="{FF2B5EF4-FFF2-40B4-BE49-F238E27FC236}">
                  <a16:creationId xmlns:a16="http://schemas.microsoft.com/office/drawing/2014/main" id="{F8F10FAF-8440-ADB3-2DA6-06889B577913}"/>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77" name="Group 76">
            <a:extLst>
              <a:ext uri="{FF2B5EF4-FFF2-40B4-BE49-F238E27FC236}">
                <a16:creationId xmlns:a16="http://schemas.microsoft.com/office/drawing/2014/main" id="{B574807E-4062-AFF7-AC25-1058B502A2EC}"/>
              </a:ext>
            </a:extLst>
          </p:cNvPr>
          <p:cNvGrpSpPr/>
          <p:nvPr/>
        </p:nvGrpSpPr>
        <p:grpSpPr>
          <a:xfrm>
            <a:off x="5632131" y="556890"/>
            <a:ext cx="490494" cy="1235701"/>
            <a:chOff x="1567272" y="5986149"/>
            <a:chExt cx="490494" cy="1235701"/>
          </a:xfrm>
        </p:grpSpPr>
        <p:sp>
          <p:nvSpPr>
            <p:cNvPr id="78" name="TextBox 77">
              <a:extLst>
                <a:ext uri="{FF2B5EF4-FFF2-40B4-BE49-F238E27FC236}">
                  <a16:creationId xmlns:a16="http://schemas.microsoft.com/office/drawing/2014/main" id="{5E8B767A-CE1F-A31A-9D11-1D0B02C93E74}"/>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79" name="TextBox 78">
              <a:extLst>
                <a:ext uri="{FF2B5EF4-FFF2-40B4-BE49-F238E27FC236}">
                  <a16:creationId xmlns:a16="http://schemas.microsoft.com/office/drawing/2014/main" id="{2D7113BD-1246-E5CD-C30A-C1031A4575B5}"/>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0" name="TextBox 89">
              <a:extLst>
                <a:ext uri="{FF2B5EF4-FFF2-40B4-BE49-F238E27FC236}">
                  <a16:creationId xmlns:a16="http://schemas.microsoft.com/office/drawing/2014/main" id="{B9618191-CCA8-1131-7315-89EBB87C46F9}"/>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1" name="TextBox 90">
              <a:extLst>
                <a:ext uri="{FF2B5EF4-FFF2-40B4-BE49-F238E27FC236}">
                  <a16:creationId xmlns:a16="http://schemas.microsoft.com/office/drawing/2014/main" id="{15A9B80C-09C9-453A-DCBE-FA15A3A665BB}"/>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sp>
        <p:nvSpPr>
          <p:cNvPr id="92" name="Rectangle 91">
            <a:extLst>
              <a:ext uri="{FF2B5EF4-FFF2-40B4-BE49-F238E27FC236}">
                <a16:creationId xmlns:a16="http://schemas.microsoft.com/office/drawing/2014/main" id="{4CD0D3D2-1932-F396-10FB-333180D57112}"/>
              </a:ext>
            </a:extLst>
          </p:cNvPr>
          <p:cNvSpPr/>
          <p:nvPr/>
        </p:nvSpPr>
        <p:spPr>
          <a:xfrm>
            <a:off x="5182" y="235190"/>
            <a:ext cx="2207271" cy="276999"/>
          </a:xfrm>
          <a:prstGeom prst="rect">
            <a:avLst/>
          </a:prstGeom>
        </p:spPr>
        <p:txBody>
          <a:bodyPr wrap="none">
            <a:spAutoFit/>
          </a:bodyPr>
          <a:lstStyle/>
          <a:p>
            <a:r>
              <a:rPr lang="en-GB" sz="1200" b="1"/>
              <a:t>1.   </a:t>
            </a:r>
            <a:r>
              <a:rPr lang="en-GB" sz="1200"/>
              <a:t>Complete these calculations.</a:t>
            </a:r>
          </a:p>
        </p:txBody>
      </p:sp>
      <p:pic>
        <p:nvPicPr>
          <p:cNvPr id="93" name="Picture 92">
            <a:extLst>
              <a:ext uri="{FF2B5EF4-FFF2-40B4-BE49-F238E27FC236}">
                <a16:creationId xmlns:a16="http://schemas.microsoft.com/office/drawing/2014/main" id="{125A78E8-3295-C93E-C703-DC40186D7A80}"/>
              </a:ext>
            </a:extLst>
          </p:cNvPr>
          <p:cNvPicPr>
            <a:picLocks noChangeAspect="1"/>
          </p:cNvPicPr>
          <p:nvPr/>
        </p:nvPicPr>
        <p:blipFill rotWithShape="1">
          <a:blip r:embed="rId3">
            <a:biLevel thresh="75000"/>
          </a:blip>
          <a:srcRect b="66588"/>
          <a:stretch/>
        </p:blipFill>
        <p:spPr>
          <a:xfrm>
            <a:off x="361493" y="2257425"/>
            <a:ext cx="1552575" cy="1343025"/>
          </a:xfrm>
          <a:prstGeom prst="rect">
            <a:avLst/>
          </a:prstGeom>
        </p:spPr>
      </p:pic>
      <p:pic>
        <p:nvPicPr>
          <p:cNvPr id="94" name="Picture 93">
            <a:extLst>
              <a:ext uri="{FF2B5EF4-FFF2-40B4-BE49-F238E27FC236}">
                <a16:creationId xmlns:a16="http://schemas.microsoft.com/office/drawing/2014/main" id="{D574D9B8-9779-8FD4-8B2D-BCF7B67F15BC}"/>
              </a:ext>
            </a:extLst>
          </p:cNvPr>
          <p:cNvPicPr>
            <a:picLocks noChangeAspect="1"/>
          </p:cNvPicPr>
          <p:nvPr/>
        </p:nvPicPr>
        <p:blipFill rotWithShape="1">
          <a:blip r:embed="rId3">
            <a:biLevel thresh="75000"/>
          </a:blip>
          <a:srcRect t="32702" b="34241"/>
          <a:stretch/>
        </p:blipFill>
        <p:spPr>
          <a:xfrm>
            <a:off x="2246946" y="2243694"/>
            <a:ext cx="1552575" cy="1328738"/>
          </a:xfrm>
          <a:prstGeom prst="rect">
            <a:avLst/>
          </a:prstGeom>
        </p:spPr>
      </p:pic>
      <p:pic>
        <p:nvPicPr>
          <p:cNvPr id="95" name="Picture 94">
            <a:extLst>
              <a:ext uri="{FF2B5EF4-FFF2-40B4-BE49-F238E27FC236}">
                <a16:creationId xmlns:a16="http://schemas.microsoft.com/office/drawing/2014/main" id="{01EC8264-510A-1122-5DD2-32FDFB3F9EB3}"/>
              </a:ext>
            </a:extLst>
          </p:cNvPr>
          <p:cNvPicPr>
            <a:picLocks noChangeAspect="1"/>
          </p:cNvPicPr>
          <p:nvPr/>
        </p:nvPicPr>
        <p:blipFill rotWithShape="1">
          <a:blip r:embed="rId3">
            <a:biLevel thresh="75000"/>
          </a:blip>
          <a:srcRect t="64218"/>
          <a:stretch/>
        </p:blipFill>
        <p:spPr>
          <a:xfrm>
            <a:off x="4291960" y="2218427"/>
            <a:ext cx="1552575" cy="1438275"/>
          </a:xfrm>
          <a:prstGeom prst="rect">
            <a:avLst/>
          </a:prstGeom>
        </p:spPr>
      </p:pic>
      <p:grpSp>
        <p:nvGrpSpPr>
          <p:cNvPr id="96" name="Group 95">
            <a:extLst>
              <a:ext uri="{FF2B5EF4-FFF2-40B4-BE49-F238E27FC236}">
                <a16:creationId xmlns:a16="http://schemas.microsoft.com/office/drawing/2014/main" id="{A3BBC533-D484-240D-3C4C-7AB4356C4628}"/>
              </a:ext>
            </a:extLst>
          </p:cNvPr>
          <p:cNvGrpSpPr/>
          <p:nvPr/>
        </p:nvGrpSpPr>
        <p:grpSpPr>
          <a:xfrm>
            <a:off x="1622443" y="2265997"/>
            <a:ext cx="490494" cy="1235701"/>
            <a:chOff x="1567272" y="5986149"/>
            <a:chExt cx="490494" cy="1235701"/>
          </a:xfrm>
        </p:grpSpPr>
        <p:sp>
          <p:nvSpPr>
            <p:cNvPr id="97" name="TextBox 96">
              <a:extLst>
                <a:ext uri="{FF2B5EF4-FFF2-40B4-BE49-F238E27FC236}">
                  <a16:creationId xmlns:a16="http://schemas.microsoft.com/office/drawing/2014/main" id="{7CA67846-0428-C53C-C2DC-CB11DC72C7DF}"/>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8" name="TextBox 97">
              <a:extLst>
                <a:ext uri="{FF2B5EF4-FFF2-40B4-BE49-F238E27FC236}">
                  <a16:creationId xmlns:a16="http://schemas.microsoft.com/office/drawing/2014/main" id="{51E3A5F3-B621-5ABD-050C-EC0339D7B613}"/>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9" name="TextBox 98">
              <a:extLst>
                <a:ext uri="{FF2B5EF4-FFF2-40B4-BE49-F238E27FC236}">
                  <a16:creationId xmlns:a16="http://schemas.microsoft.com/office/drawing/2014/main" id="{2B2E1A12-8D5B-6FF2-3050-1B8330B703DF}"/>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0" name="TextBox 99">
              <a:extLst>
                <a:ext uri="{FF2B5EF4-FFF2-40B4-BE49-F238E27FC236}">
                  <a16:creationId xmlns:a16="http://schemas.microsoft.com/office/drawing/2014/main" id="{233B3EAD-22EE-7E06-2D2A-ECF61AB2D83E}"/>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101" name="Group 100">
            <a:extLst>
              <a:ext uri="{FF2B5EF4-FFF2-40B4-BE49-F238E27FC236}">
                <a16:creationId xmlns:a16="http://schemas.microsoft.com/office/drawing/2014/main" id="{C39A69FC-1C5F-3C88-B307-B0E62234788A}"/>
              </a:ext>
            </a:extLst>
          </p:cNvPr>
          <p:cNvGrpSpPr/>
          <p:nvPr/>
        </p:nvGrpSpPr>
        <p:grpSpPr>
          <a:xfrm>
            <a:off x="3641905" y="2292294"/>
            <a:ext cx="490494" cy="1235701"/>
            <a:chOff x="1567272" y="5986149"/>
            <a:chExt cx="490494" cy="1235701"/>
          </a:xfrm>
        </p:grpSpPr>
        <p:sp>
          <p:nvSpPr>
            <p:cNvPr id="102" name="TextBox 101">
              <a:extLst>
                <a:ext uri="{FF2B5EF4-FFF2-40B4-BE49-F238E27FC236}">
                  <a16:creationId xmlns:a16="http://schemas.microsoft.com/office/drawing/2014/main" id="{9CD578E9-C7EC-6249-A561-50C39C95F8D7}"/>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3" name="TextBox 102">
              <a:extLst>
                <a:ext uri="{FF2B5EF4-FFF2-40B4-BE49-F238E27FC236}">
                  <a16:creationId xmlns:a16="http://schemas.microsoft.com/office/drawing/2014/main" id="{87DA8D3E-C4CF-B7A4-6E3C-CAAC923BBAEF}"/>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4" name="TextBox 103">
              <a:extLst>
                <a:ext uri="{FF2B5EF4-FFF2-40B4-BE49-F238E27FC236}">
                  <a16:creationId xmlns:a16="http://schemas.microsoft.com/office/drawing/2014/main" id="{D3000ED1-96A3-786D-AA20-C9BEAEA7A5D2}"/>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5" name="TextBox 104">
              <a:extLst>
                <a:ext uri="{FF2B5EF4-FFF2-40B4-BE49-F238E27FC236}">
                  <a16:creationId xmlns:a16="http://schemas.microsoft.com/office/drawing/2014/main" id="{C0903157-CEB6-5301-88F5-1B1428A4AB0B}"/>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106" name="Group 105">
            <a:extLst>
              <a:ext uri="{FF2B5EF4-FFF2-40B4-BE49-F238E27FC236}">
                <a16:creationId xmlns:a16="http://schemas.microsoft.com/office/drawing/2014/main" id="{CEFB3A92-A7BB-47FB-46C1-A26D0AD941D4}"/>
              </a:ext>
            </a:extLst>
          </p:cNvPr>
          <p:cNvGrpSpPr/>
          <p:nvPr/>
        </p:nvGrpSpPr>
        <p:grpSpPr>
          <a:xfrm>
            <a:off x="5844535" y="2319045"/>
            <a:ext cx="490494" cy="1235701"/>
            <a:chOff x="1567272" y="5986149"/>
            <a:chExt cx="490494" cy="1235701"/>
          </a:xfrm>
        </p:grpSpPr>
        <p:sp>
          <p:nvSpPr>
            <p:cNvPr id="107" name="TextBox 106">
              <a:extLst>
                <a:ext uri="{FF2B5EF4-FFF2-40B4-BE49-F238E27FC236}">
                  <a16:creationId xmlns:a16="http://schemas.microsoft.com/office/drawing/2014/main" id="{404F98CE-4CFF-0AE7-261D-0AEE78FEB681}"/>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8" name="TextBox 107">
              <a:extLst>
                <a:ext uri="{FF2B5EF4-FFF2-40B4-BE49-F238E27FC236}">
                  <a16:creationId xmlns:a16="http://schemas.microsoft.com/office/drawing/2014/main" id="{3DBBC5E5-91E5-7EF8-0144-45F89C4A4165}"/>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id="{708DB29D-7ED3-43C6-EA52-E8227D9F8B22}"/>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ED50214A-08C7-29D3-389F-7F8B2CE34ABC}"/>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sp>
        <p:nvSpPr>
          <p:cNvPr id="111" name="Rectangle 110">
            <a:extLst>
              <a:ext uri="{FF2B5EF4-FFF2-40B4-BE49-F238E27FC236}">
                <a16:creationId xmlns:a16="http://schemas.microsoft.com/office/drawing/2014/main" id="{803F6BB1-76E0-92AC-1DFB-E7F8361DE566}"/>
              </a:ext>
            </a:extLst>
          </p:cNvPr>
          <p:cNvSpPr/>
          <p:nvPr/>
        </p:nvSpPr>
        <p:spPr>
          <a:xfrm>
            <a:off x="5182" y="1994295"/>
            <a:ext cx="2207271" cy="276999"/>
          </a:xfrm>
          <a:prstGeom prst="rect">
            <a:avLst/>
          </a:prstGeom>
        </p:spPr>
        <p:txBody>
          <a:bodyPr wrap="none">
            <a:spAutoFit/>
          </a:bodyPr>
          <a:lstStyle/>
          <a:p>
            <a:r>
              <a:rPr lang="en-GB" sz="1200" b="1"/>
              <a:t>2.   </a:t>
            </a:r>
            <a:r>
              <a:rPr lang="en-GB" sz="1200"/>
              <a:t>Complete these calculations.</a:t>
            </a:r>
          </a:p>
        </p:txBody>
      </p:sp>
      <p:sp>
        <p:nvSpPr>
          <p:cNvPr id="112" name="TextBox 111">
            <a:extLst>
              <a:ext uri="{FF2B5EF4-FFF2-40B4-BE49-F238E27FC236}">
                <a16:creationId xmlns:a16="http://schemas.microsoft.com/office/drawing/2014/main" id="{B76BCA90-0E37-6BEC-C4D6-477815FA5378}"/>
              </a:ext>
            </a:extLst>
          </p:cNvPr>
          <p:cNvSpPr txBox="1"/>
          <p:nvPr/>
        </p:nvSpPr>
        <p:spPr>
          <a:xfrm>
            <a:off x="5182" y="3741641"/>
            <a:ext cx="3230880" cy="276999"/>
          </a:xfrm>
          <a:prstGeom prst="rect">
            <a:avLst/>
          </a:prstGeom>
          <a:noFill/>
        </p:spPr>
        <p:txBody>
          <a:bodyPr wrap="square" rtlCol="0">
            <a:spAutoFit/>
          </a:bodyPr>
          <a:lstStyle/>
          <a:p>
            <a:r>
              <a:rPr lang="en-US" sz="1200" b="1"/>
              <a:t>3.</a:t>
            </a:r>
            <a:r>
              <a:rPr lang="en-GB" sz="1200" b="1"/>
              <a:t> </a:t>
            </a:r>
            <a:r>
              <a:rPr lang="en-GB" sz="1200"/>
              <a:t>  Work these out.</a:t>
            </a:r>
          </a:p>
        </p:txBody>
      </p:sp>
      <p:pic>
        <p:nvPicPr>
          <p:cNvPr id="113" name="Picture 112">
            <a:extLst>
              <a:ext uri="{FF2B5EF4-FFF2-40B4-BE49-F238E27FC236}">
                <a16:creationId xmlns:a16="http://schemas.microsoft.com/office/drawing/2014/main" id="{4D18FC4D-903F-7750-BD72-5468564A1CDD}"/>
              </a:ext>
            </a:extLst>
          </p:cNvPr>
          <p:cNvPicPr>
            <a:picLocks noChangeAspect="1"/>
          </p:cNvPicPr>
          <p:nvPr/>
        </p:nvPicPr>
        <p:blipFill rotWithShape="1">
          <a:blip r:embed="rId4">
            <a:biLevel thresh="75000"/>
          </a:blip>
          <a:srcRect b="64124"/>
          <a:stretch/>
        </p:blipFill>
        <p:spPr>
          <a:xfrm>
            <a:off x="42201" y="4068908"/>
            <a:ext cx="2085975" cy="1407868"/>
          </a:xfrm>
          <a:prstGeom prst="rect">
            <a:avLst/>
          </a:prstGeom>
        </p:spPr>
      </p:pic>
      <p:pic>
        <p:nvPicPr>
          <p:cNvPr id="114" name="Picture 113">
            <a:extLst>
              <a:ext uri="{FF2B5EF4-FFF2-40B4-BE49-F238E27FC236}">
                <a16:creationId xmlns:a16="http://schemas.microsoft.com/office/drawing/2014/main" id="{B8621711-386F-7B8C-0483-36CA250CAC2E}"/>
              </a:ext>
            </a:extLst>
          </p:cNvPr>
          <p:cNvPicPr>
            <a:picLocks noChangeAspect="1"/>
          </p:cNvPicPr>
          <p:nvPr/>
        </p:nvPicPr>
        <p:blipFill rotWithShape="1">
          <a:blip r:embed="rId4">
            <a:biLevel thresh="75000"/>
          </a:blip>
          <a:srcRect t="34610" b="33545"/>
          <a:stretch/>
        </p:blipFill>
        <p:spPr>
          <a:xfrm>
            <a:off x="2167080" y="4140203"/>
            <a:ext cx="2085975" cy="1249680"/>
          </a:xfrm>
          <a:prstGeom prst="rect">
            <a:avLst/>
          </a:prstGeom>
        </p:spPr>
      </p:pic>
      <p:pic>
        <p:nvPicPr>
          <p:cNvPr id="115" name="Picture 114">
            <a:extLst>
              <a:ext uri="{FF2B5EF4-FFF2-40B4-BE49-F238E27FC236}">
                <a16:creationId xmlns:a16="http://schemas.microsoft.com/office/drawing/2014/main" id="{4AE3F97B-11B5-91C8-448E-535D98405C3D}"/>
              </a:ext>
            </a:extLst>
          </p:cNvPr>
          <p:cNvPicPr>
            <a:picLocks noChangeAspect="1"/>
          </p:cNvPicPr>
          <p:nvPr/>
        </p:nvPicPr>
        <p:blipFill rotWithShape="1">
          <a:blip r:embed="rId4">
            <a:biLevel thresh="75000"/>
          </a:blip>
          <a:srcRect t="67476"/>
          <a:stretch/>
        </p:blipFill>
        <p:spPr>
          <a:xfrm>
            <a:off x="4162879" y="4140203"/>
            <a:ext cx="2085975" cy="1276350"/>
          </a:xfrm>
          <a:prstGeom prst="rect">
            <a:avLst/>
          </a:prstGeom>
        </p:spPr>
      </p:pic>
      <p:grpSp>
        <p:nvGrpSpPr>
          <p:cNvPr id="116" name="Group 115">
            <a:extLst>
              <a:ext uri="{FF2B5EF4-FFF2-40B4-BE49-F238E27FC236}">
                <a16:creationId xmlns:a16="http://schemas.microsoft.com/office/drawing/2014/main" id="{07A2527F-6429-7C37-9CA5-92EE3C28420F}"/>
              </a:ext>
            </a:extLst>
          </p:cNvPr>
          <p:cNvGrpSpPr/>
          <p:nvPr/>
        </p:nvGrpSpPr>
        <p:grpSpPr>
          <a:xfrm>
            <a:off x="1622443" y="4174162"/>
            <a:ext cx="490494" cy="1235701"/>
            <a:chOff x="1567272" y="5986149"/>
            <a:chExt cx="490494" cy="1235701"/>
          </a:xfrm>
        </p:grpSpPr>
        <p:sp>
          <p:nvSpPr>
            <p:cNvPr id="117" name="TextBox 116">
              <a:extLst>
                <a:ext uri="{FF2B5EF4-FFF2-40B4-BE49-F238E27FC236}">
                  <a16:creationId xmlns:a16="http://schemas.microsoft.com/office/drawing/2014/main" id="{449D8612-3FD2-D689-0665-E94CC3CF8DDB}"/>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18" name="TextBox 117">
              <a:extLst>
                <a:ext uri="{FF2B5EF4-FFF2-40B4-BE49-F238E27FC236}">
                  <a16:creationId xmlns:a16="http://schemas.microsoft.com/office/drawing/2014/main" id="{F3B129A3-6B22-EE94-D9F8-E0C61858E407}"/>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19" name="TextBox 118">
              <a:extLst>
                <a:ext uri="{FF2B5EF4-FFF2-40B4-BE49-F238E27FC236}">
                  <a16:creationId xmlns:a16="http://schemas.microsoft.com/office/drawing/2014/main" id="{48E7594C-0A75-A66B-5621-D6B2479FB8A8}"/>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20" name="TextBox 119">
              <a:extLst>
                <a:ext uri="{FF2B5EF4-FFF2-40B4-BE49-F238E27FC236}">
                  <a16:creationId xmlns:a16="http://schemas.microsoft.com/office/drawing/2014/main" id="{422C15E7-5E11-2219-03E8-018AEBA0EC8F}"/>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121" name="Group 120">
            <a:extLst>
              <a:ext uri="{FF2B5EF4-FFF2-40B4-BE49-F238E27FC236}">
                <a16:creationId xmlns:a16="http://schemas.microsoft.com/office/drawing/2014/main" id="{EC499718-9F94-9807-00CC-AD5514145C14}"/>
              </a:ext>
            </a:extLst>
          </p:cNvPr>
          <p:cNvGrpSpPr/>
          <p:nvPr/>
        </p:nvGrpSpPr>
        <p:grpSpPr>
          <a:xfrm>
            <a:off x="3708418" y="4174162"/>
            <a:ext cx="490494" cy="1235701"/>
            <a:chOff x="1567272" y="5986149"/>
            <a:chExt cx="490494" cy="1235701"/>
          </a:xfrm>
        </p:grpSpPr>
        <p:sp>
          <p:nvSpPr>
            <p:cNvPr id="122" name="TextBox 121">
              <a:extLst>
                <a:ext uri="{FF2B5EF4-FFF2-40B4-BE49-F238E27FC236}">
                  <a16:creationId xmlns:a16="http://schemas.microsoft.com/office/drawing/2014/main" id="{D1F812E3-DDD3-A691-CBD3-124A1D8BF998}"/>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23" name="TextBox 122">
              <a:extLst>
                <a:ext uri="{FF2B5EF4-FFF2-40B4-BE49-F238E27FC236}">
                  <a16:creationId xmlns:a16="http://schemas.microsoft.com/office/drawing/2014/main" id="{4111DE3B-2C57-18BE-8CE8-F8ED73276CBB}"/>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24" name="TextBox 123">
              <a:extLst>
                <a:ext uri="{FF2B5EF4-FFF2-40B4-BE49-F238E27FC236}">
                  <a16:creationId xmlns:a16="http://schemas.microsoft.com/office/drawing/2014/main" id="{D795EB93-8A8F-1C31-D597-0D1A74DE6C5A}"/>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25" name="TextBox 124">
              <a:extLst>
                <a:ext uri="{FF2B5EF4-FFF2-40B4-BE49-F238E27FC236}">
                  <a16:creationId xmlns:a16="http://schemas.microsoft.com/office/drawing/2014/main" id="{961B311C-4135-8023-A246-FD470B1A57B5}"/>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126" name="Group 125">
            <a:extLst>
              <a:ext uri="{FF2B5EF4-FFF2-40B4-BE49-F238E27FC236}">
                <a16:creationId xmlns:a16="http://schemas.microsoft.com/office/drawing/2014/main" id="{70E61743-21CF-D379-5241-73CB194B7A93}"/>
              </a:ext>
            </a:extLst>
          </p:cNvPr>
          <p:cNvGrpSpPr/>
          <p:nvPr/>
        </p:nvGrpSpPr>
        <p:grpSpPr>
          <a:xfrm>
            <a:off x="6122625" y="4173099"/>
            <a:ext cx="490494" cy="1235701"/>
            <a:chOff x="1567272" y="5986149"/>
            <a:chExt cx="490494" cy="1235701"/>
          </a:xfrm>
        </p:grpSpPr>
        <p:sp>
          <p:nvSpPr>
            <p:cNvPr id="127" name="TextBox 126">
              <a:extLst>
                <a:ext uri="{FF2B5EF4-FFF2-40B4-BE49-F238E27FC236}">
                  <a16:creationId xmlns:a16="http://schemas.microsoft.com/office/drawing/2014/main" id="{406B10CA-7BA7-9CC7-FAE7-090AB1634A25}"/>
                </a:ext>
              </a:extLst>
            </p:cNvPr>
            <p:cNvSpPr txBox="1"/>
            <p:nvPr/>
          </p:nvSpPr>
          <p:spPr>
            <a:xfrm>
              <a:off x="1567272" y="5986149"/>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28" name="TextBox 127">
              <a:extLst>
                <a:ext uri="{FF2B5EF4-FFF2-40B4-BE49-F238E27FC236}">
                  <a16:creationId xmlns:a16="http://schemas.microsoft.com/office/drawing/2014/main" id="{B25DE49D-99F5-7448-E89C-B7C46DCE0373}"/>
                </a:ext>
              </a:extLst>
            </p:cNvPr>
            <p:cNvSpPr txBox="1"/>
            <p:nvPr/>
          </p:nvSpPr>
          <p:spPr>
            <a:xfrm>
              <a:off x="1567272" y="6283106"/>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29" name="TextBox 128">
              <a:extLst>
                <a:ext uri="{FF2B5EF4-FFF2-40B4-BE49-F238E27FC236}">
                  <a16:creationId xmlns:a16="http://schemas.microsoft.com/office/drawing/2014/main" id="{E8EEE666-8CF5-179D-2854-097C3B070F30}"/>
                </a:ext>
              </a:extLst>
            </p:cNvPr>
            <p:cNvSpPr txBox="1"/>
            <p:nvPr/>
          </p:nvSpPr>
          <p:spPr>
            <a:xfrm>
              <a:off x="1567272" y="6631420"/>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30" name="TextBox 129">
              <a:extLst>
                <a:ext uri="{FF2B5EF4-FFF2-40B4-BE49-F238E27FC236}">
                  <a16:creationId xmlns:a16="http://schemas.microsoft.com/office/drawing/2014/main" id="{CCFDA818-F4C7-82BA-38E5-19C306790EBF}"/>
                </a:ext>
              </a:extLst>
            </p:cNvPr>
            <p:cNvSpPr txBox="1"/>
            <p:nvPr/>
          </p:nvSpPr>
          <p:spPr>
            <a:xfrm>
              <a:off x="1567272" y="6944851"/>
              <a:ext cx="490494"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pic>
        <p:nvPicPr>
          <p:cNvPr id="131" name="Picture 130">
            <a:extLst>
              <a:ext uri="{FF2B5EF4-FFF2-40B4-BE49-F238E27FC236}">
                <a16:creationId xmlns:a16="http://schemas.microsoft.com/office/drawing/2014/main" id="{388D4C04-6839-307F-955D-EBF051F57851}"/>
              </a:ext>
            </a:extLst>
          </p:cNvPr>
          <p:cNvPicPr>
            <a:picLocks noChangeAspect="1"/>
          </p:cNvPicPr>
          <p:nvPr/>
        </p:nvPicPr>
        <p:blipFill rotWithShape="1">
          <a:blip r:embed="rId5">
            <a:biLevel thresh="75000"/>
          </a:blip>
          <a:srcRect l="76892" r="6287"/>
          <a:stretch/>
        </p:blipFill>
        <p:spPr>
          <a:xfrm>
            <a:off x="3287611" y="6059675"/>
            <a:ext cx="1557337" cy="1343025"/>
          </a:xfrm>
          <a:prstGeom prst="rect">
            <a:avLst/>
          </a:prstGeom>
        </p:spPr>
      </p:pic>
      <p:sp>
        <p:nvSpPr>
          <p:cNvPr id="132" name="TextBox 131">
            <a:extLst>
              <a:ext uri="{FF2B5EF4-FFF2-40B4-BE49-F238E27FC236}">
                <a16:creationId xmlns:a16="http://schemas.microsoft.com/office/drawing/2014/main" id="{BC415395-89C9-FC12-ACE8-DDBB90AB396A}"/>
              </a:ext>
            </a:extLst>
          </p:cNvPr>
          <p:cNvSpPr txBox="1"/>
          <p:nvPr/>
        </p:nvSpPr>
        <p:spPr>
          <a:xfrm>
            <a:off x="5182" y="5693000"/>
            <a:ext cx="3230880" cy="276999"/>
          </a:xfrm>
          <a:prstGeom prst="rect">
            <a:avLst/>
          </a:prstGeom>
          <a:noFill/>
        </p:spPr>
        <p:txBody>
          <a:bodyPr wrap="square" rtlCol="0">
            <a:spAutoFit/>
          </a:bodyPr>
          <a:lstStyle/>
          <a:p>
            <a:r>
              <a:rPr lang="en-US" sz="1200" b="1"/>
              <a:t>4.</a:t>
            </a:r>
            <a:r>
              <a:rPr lang="en-GB" sz="1200" b="1"/>
              <a:t>   </a:t>
            </a:r>
            <a:r>
              <a:rPr lang="en-GB" sz="1200"/>
              <a:t>Evaluate.</a:t>
            </a:r>
          </a:p>
        </p:txBody>
      </p:sp>
      <p:pic>
        <p:nvPicPr>
          <p:cNvPr id="133" name="Picture 132">
            <a:extLst>
              <a:ext uri="{FF2B5EF4-FFF2-40B4-BE49-F238E27FC236}">
                <a16:creationId xmlns:a16="http://schemas.microsoft.com/office/drawing/2014/main" id="{1D9CC9AD-487B-F003-6E54-206EB9BE9341}"/>
              </a:ext>
            </a:extLst>
          </p:cNvPr>
          <p:cNvPicPr>
            <a:picLocks noChangeAspect="1"/>
          </p:cNvPicPr>
          <p:nvPr/>
        </p:nvPicPr>
        <p:blipFill rotWithShape="1">
          <a:blip r:embed="rId5">
            <a:biLevel thresh="75000"/>
          </a:blip>
          <a:srcRect r="85248"/>
          <a:stretch/>
        </p:blipFill>
        <p:spPr>
          <a:xfrm>
            <a:off x="212759" y="5973032"/>
            <a:ext cx="1365819" cy="1343025"/>
          </a:xfrm>
          <a:prstGeom prst="rect">
            <a:avLst/>
          </a:prstGeom>
        </p:spPr>
      </p:pic>
      <p:pic>
        <p:nvPicPr>
          <p:cNvPr id="134" name="Picture 133">
            <a:extLst>
              <a:ext uri="{FF2B5EF4-FFF2-40B4-BE49-F238E27FC236}">
                <a16:creationId xmlns:a16="http://schemas.microsoft.com/office/drawing/2014/main" id="{60C981D0-4591-F0BD-F6E0-BA63106D27D2}"/>
              </a:ext>
            </a:extLst>
          </p:cNvPr>
          <p:cNvPicPr>
            <a:picLocks noChangeAspect="1"/>
          </p:cNvPicPr>
          <p:nvPr/>
        </p:nvPicPr>
        <p:blipFill rotWithShape="1">
          <a:blip r:embed="rId5">
            <a:biLevel thresh="75000"/>
          </a:blip>
          <a:srcRect l="25864" r="57624"/>
          <a:stretch/>
        </p:blipFill>
        <p:spPr>
          <a:xfrm>
            <a:off x="1698759" y="6040887"/>
            <a:ext cx="1528762" cy="1343025"/>
          </a:xfrm>
          <a:prstGeom prst="rect">
            <a:avLst/>
          </a:prstGeom>
        </p:spPr>
      </p:pic>
      <p:pic>
        <p:nvPicPr>
          <p:cNvPr id="135" name="Picture 134">
            <a:extLst>
              <a:ext uri="{FF2B5EF4-FFF2-40B4-BE49-F238E27FC236}">
                <a16:creationId xmlns:a16="http://schemas.microsoft.com/office/drawing/2014/main" id="{369325B7-E40A-C12B-6E7A-30782B523054}"/>
              </a:ext>
            </a:extLst>
          </p:cNvPr>
          <p:cNvPicPr>
            <a:picLocks noChangeAspect="1"/>
          </p:cNvPicPr>
          <p:nvPr/>
        </p:nvPicPr>
        <p:blipFill rotWithShape="1">
          <a:blip r:embed="rId5">
            <a:biLevel thresh="75000"/>
          </a:blip>
          <a:srcRect l="51172" r="31236"/>
          <a:stretch/>
        </p:blipFill>
        <p:spPr>
          <a:xfrm>
            <a:off x="4965129" y="6101797"/>
            <a:ext cx="1628775" cy="1343025"/>
          </a:xfrm>
          <a:prstGeom prst="rect">
            <a:avLst/>
          </a:prstGeom>
        </p:spPr>
      </p:pic>
      <p:pic>
        <p:nvPicPr>
          <p:cNvPr id="136" name="Picture 135">
            <a:extLst>
              <a:ext uri="{FF2B5EF4-FFF2-40B4-BE49-F238E27FC236}">
                <a16:creationId xmlns:a16="http://schemas.microsoft.com/office/drawing/2014/main" id="{F77B60C5-BF4E-7C6E-0268-2B1D0FBD5DE6}"/>
              </a:ext>
            </a:extLst>
          </p:cNvPr>
          <p:cNvPicPr>
            <a:picLocks noChangeAspect="1"/>
          </p:cNvPicPr>
          <p:nvPr/>
        </p:nvPicPr>
        <p:blipFill rotWithShape="1">
          <a:blip r:embed="rId6">
            <a:biLevel thresh="75000"/>
          </a:blip>
          <a:srcRect r="19296" b="38458"/>
          <a:stretch/>
        </p:blipFill>
        <p:spPr>
          <a:xfrm>
            <a:off x="212759" y="7812313"/>
            <a:ext cx="2377440" cy="1666747"/>
          </a:xfrm>
          <a:prstGeom prst="rect">
            <a:avLst/>
          </a:prstGeom>
        </p:spPr>
      </p:pic>
      <p:pic>
        <p:nvPicPr>
          <p:cNvPr id="137" name="Picture 136">
            <a:extLst>
              <a:ext uri="{FF2B5EF4-FFF2-40B4-BE49-F238E27FC236}">
                <a16:creationId xmlns:a16="http://schemas.microsoft.com/office/drawing/2014/main" id="{03807DAF-6062-77E6-3632-6BCAB88581CB}"/>
              </a:ext>
            </a:extLst>
          </p:cNvPr>
          <p:cNvPicPr>
            <a:picLocks noChangeAspect="1"/>
          </p:cNvPicPr>
          <p:nvPr/>
        </p:nvPicPr>
        <p:blipFill rotWithShape="1">
          <a:blip r:embed="rId6">
            <a:biLevel thresh="75000"/>
          </a:blip>
          <a:srcRect t="64558"/>
          <a:stretch/>
        </p:blipFill>
        <p:spPr>
          <a:xfrm>
            <a:off x="3653167" y="7927577"/>
            <a:ext cx="2830159" cy="922170"/>
          </a:xfrm>
          <a:prstGeom prst="rect">
            <a:avLst/>
          </a:prstGeom>
        </p:spPr>
      </p:pic>
      <p:sp>
        <p:nvSpPr>
          <p:cNvPr id="138" name="TextBox 137">
            <a:extLst>
              <a:ext uri="{FF2B5EF4-FFF2-40B4-BE49-F238E27FC236}">
                <a16:creationId xmlns:a16="http://schemas.microsoft.com/office/drawing/2014/main" id="{5B817479-B40C-FBC7-C09A-8DB6A1804BF0}"/>
              </a:ext>
            </a:extLst>
          </p:cNvPr>
          <p:cNvSpPr txBox="1"/>
          <p:nvPr/>
        </p:nvSpPr>
        <p:spPr>
          <a:xfrm>
            <a:off x="5181" y="7475206"/>
            <a:ext cx="3930467" cy="276999"/>
          </a:xfrm>
          <a:prstGeom prst="rect">
            <a:avLst/>
          </a:prstGeom>
          <a:noFill/>
        </p:spPr>
        <p:txBody>
          <a:bodyPr wrap="square" rtlCol="0">
            <a:spAutoFit/>
          </a:bodyPr>
          <a:lstStyle/>
          <a:p>
            <a:r>
              <a:rPr lang="en-US" sz="1200" b="1"/>
              <a:t>5.    </a:t>
            </a:r>
            <a:r>
              <a:rPr lang="en-US" sz="1200"/>
              <a:t>Write down the calculations shown by these diagrams. </a:t>
            </a:r>
            <a:endParaRPr lang="en-GB" sz="1200"/>
          </a:p>
        </p:txBody>
      </p:sp>
      <p:sp>
        <p:nvSpPr>
          <p:cNvPr id="139" name="TextBox 138">
            <a:extLst>
              <a:ext uri="{FF2B5EF4-FFF2-40B4-BE49-F238E27FC236}">
                <a16:creationId xmlns:a16="http://schemas.microsoft.com/office/drawing/2014/main" id="{16C4E24C-8161-E791-97FF-2355587391B5}"/>
              </a:ext>
            </a:extLst>
          </p:cNvPr>
          <p:cNvSpPr txBox="1"/>
          <p:nvPr/>
        </p:nvSpPr>
        <p:spPr>
          <a:xfrm>
            <a:off x="2435970" y="7901824"/>
            <a:ext cx="982725"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40" name="TextBox 139">
            <a:extLst>
              <a:ext uri="{FF2B5EF4-FFF2-40B4-BE49-F238E27FC236}">
                <a16:creationId xmlns:a16="http://schemas.microsoft.com/office/drawing/2014/main" id="{7861DB01-574C-AAA9-9391-706164E7B002}"/>
              </a:ext>
            </a:extLst>
          </p:cNvPr>
          <p:cNvSpPr txBox="1"/>
          <p:nvPr/>
        </p:nvSpPr>
        <p:spPr>
          <a:xfrm>
            <a:off x="2492380" y="8776344"/>
            <a:ext cx="982725"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41" name="TextBox 140">
            <a:extLst>
              <a:ext uri="{FF2B5EF4-FFF2-40B4-BE49-F238E27FC236}">
                <a16:creationId xmlns:a16="http://schemas.microsoft.com/office/drawing/2014/main" id="{27596CD8-EF6E-D3C0-676C-B5FF967FD3C9}"/>
              </a:ext>
            </a:extLst>
          </p:cNvPr>
          <p:cNvSpPr txBox="1"/>
          <p:nvPr/>
        </p:nvSpPr>
        <p:spPr>
          <a:xfrm>
            <a:off x="4431155" y="8841346"/>
            <a:ext cx="982725"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46" name="Slide Number Placeholder 1">
            <a:extLst>
              <a:ext uri="{FF2B5EF4-FFF2-40B4-BE49-F238E27FC236}">
                <a16:creationId xmlns:a16="http://schemas.microsoft.com/office/drawing/2014/main" id="{6DD816D8-18C6-FB88-63C1-0174DE6B57EF}"/>
              </a:ext>
            </a:extLst>
          </p:cNvPr>
          <p:cNvSpPr>
            <a:spLocks noGrp="1"/>
          </p:cNvSpPr>
          <p:nvPr>
            <p:ph type="sldNum" sz="quarter" idx="12"/>
          </p:nvPr>
        </p:nvSpPr>
        <p:spPr>
          <a:xfrm>
            <a:off x="5381548" y="9559774"/>
            <a:ext cx="1543050" cy="527403"/>
          </a:xfrm>
        </p:spPr>
        <p:txBody>
          <a:bodyPr/>
          <a:lstStyle/>
          <a:p>
            <a:fld id="{19F1D9CC-7119-45EC-A96C-D8C0660F3AAB}" type="slidenum">
              <a:rPr lang="en-GB" smtClean="0"/>
              <a:t>72</a:t>
            </a:fld>
            <a:endParaRPr lang="en-GB"/>
          </a:p>
        </p:txBody>
      </p:sp>
    </p:spTree>
    <p:extLst>
      <p:ext uri="{BB962C8B-B14F-4D97-AF65-F5344CB8AC3E}">
        <p14:creationId xmlns:p14="http://schemas.microsoft.com/office/powerpoint/2010/main" val="26030235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94211" y="9594218"/>
            <a:ext cx="1543050" cy="527403"/>
          </a:xfrm>
        </p:spPr>
        <p:txBody>
          <a:bodyPr/>
          <a:lstStyle/>
          <a:p>
            <a:fld id="{19F1D9CC-7119-45EC-A96C-D8C0660F3AAB}" type="slidenum">
              <a:rPr lang="en-GB" smtClean="0"/>
              <a:t>73</a:t>
            </a:fld>
            <a:endParaRPr lang="en-GB"/>
          </a:p>
        </p:txBody>
      </p:sp>
      <p:sp>
        <p:nvSpPr>
          <p:cNvPr id="9" name="TextBox 8">
            <a:extLst>
              <a:ext uri="{FF2B5EF4-FFF2-40B4-BE49-F238E27FC236}">
                <a16:creationId xmlns:a16="http://schemas.microsoft.com/office/drawing/2014/main" id="{81257132-0C83-528C-EA84-AFF25834E26A}"/>
              </a:ext>
            </a:extLst>
          </p:cNvPr>
          <p:cNvSpPr txBox="1"/>
          <p:nvPr/>
        </p:nvSpPr>
        <p:spPr>
          <a:xfrm>
            <a:off x="851802" y="-43426"/>
            <a:ext cx="5293761" cy="276999"/>
          </a:xfrm>
          <a:prstGeom prst="rect">
            <a:avLst/>
          </a:prstGeom>
          <a:noFill/>
        </p:spPr>
        <p:txBody>
          <a:bodyPr wrap="square" rtlCol="0">
            <a:spAutoFit/>
          </a:bodyPr>
          <a:lstStyle/>
          <a:p>
            <a:r>
              <a:rPr lang="en-GB" sz="1200" b="1">
                <a:solidFill>
                  <a:schemeClr val="bg1"/>
                </a:solidFill>
              </a:rPr>
              <a:t>Arithmetic with negative numbers</a:t>
            </a:r>
          </a:p>
        </p:txBody>
      </p:sp>
      <p:sp>
        <p:nvSpPr>
          <p:cNvPr id="10" name="Rectangle 9">
            <a:extLst>
              <a:ext uri="{FF2B5EF4-FFF2-40B4-BE49-F238E27FC236}">
                <a16:creationId xmlns:a16="http://schemas.microsoft.com/office/drawing/2014/main" id="{E65BE04A-647D-DB6D-B1AD-E9C2887989DB}"/>
              </a:ext>
            </a:extLst>
          </p:cNvPr>
          <p:cNvSpPr/>
          <p:nvPr/>
        </p:nvSpPr>
        <p:spPr>
          <a:xfrm>
            <a:off x="107734" y="735541"/>
            <a:ext cx="3265813" cy="17838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rgbClr val="00B0F0"/>
              </a:solidFill>
            </a:endParaRPr>
          </a:p>
        </p:txBody>
      </p:sp>
      <p:sp>
        <p:nvSpPr>
          <p:cNvPr id="11" name="TextBox 10">
            <a:extLst>
              <a:ext uri="{FF2B5EF4-FFF2-40B4-BE49-F238E27FC236}">
                <a16:creationId xmlns:a16="http://schemas.microsoft.com/office/drawing/2014/main" id="{CCDEDB03-648B-1323-68F3-10CF02B0853D}"/>
              </a:ext>
            </a:extLst>
          </p:cNvPr>
          <p:cNvSpPr txBox="1"/>
          <p:nvPr/>
        </p:nvSpPr>
        <p:spPr>
          <a:xfrm>
            <a:off x="23914" y="501728"/>
            <a:ext cx="1308500" cy="276999"/>
          </a:xfrm>
          <a:prstGeom prst="rect">
            <a:avLst/>
          </a:prstGeom>
          <a:noFill/>
          <a:ln>
            <a:noFill/>
          </a:ln>
        </p:spPr>
        <p:txBody>
          <a:bodyPr wrap="none" lIns="91440" tIns="45720" rIns="91440" bIns="45720" rtlCol="0" anchor="t">
            <a:spAutoFit/>
          </a:bodyPr>
          <a:lstStyle/>
          <a:p>
            <a:r>
              <a:rPr lang="en-GB" sz="1200" b="1" i="1">
                <a:solidFill>
                  <a:srgbClr val="FF0000"/>
                </a:solidFill>
              </a:rPr>
              <a:t>Example 4 - I do…</a:t>
            </a:r>
          </a:p>
        </p:txBody>
      </p:sp>
      <p:sp>
        <p:nvSpPr>
          <p:cNvPr id="12" name="Rectangle 11">
            <a:extLst>
              <a:ext uri="{FF2B5EF4-FFF2-40B4-BE49-F238E27FC236}">
                <a16:creationId xmlns:a16="http://schemas.microsoft.com/office/drawing/2014/main" id="{7BAF054D-308F-7641-F237-767C557CAADD}"/>
              </a:ext>
            </a:extLst>
          </p:cNvPr>
          <p:cNvSpPr/>
          <p:nvPr/>
        </p:nvSpPr>
        <p:spPr>
          <a:xfrm>
            <a:off x="3549211" y="735541"/>
            <a:ext cx="3265813" cy="178383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rgbClr val="00B0F0"/>
              </a:solidFill>
            </a:endParaRPr>
          </a:p>
        </p:txBody>
      </p:sp>
      <p:sp>
        <p:nvSpPr>
          <p:cNvPr id="14" name="TextBox 13">
            <a:extLst>
              <a:ext uri="{FF2B5EF4-FFF2-40B4-BE49-F238E27FC236}">
                <a16:creationId xmlns:a16="http://schemas.microsoft.com/office/drawing/2014/main" id="{C9B05390-D49B-DB35-1D7B-48504A98B05A}"/>
              </a:ext>
            </a:extLst>
          </p:cNvPr>
          <p:cNvSpPr txBox="1"/>
          <p:nvPr/>
        </p:nvSpPr>
        <p:spPr>
          <a:xfrm>
            <a:off x="3465391" y="501728"/>
            <a:ext cx="1475789" cy="276999"/>
          </a:xfrm>
          <a:prstGeom prst="rect">
            <a:avLst/>
          </a:prstGeom>
          <a:noFill/>
          <a:ln>
            <a:noFill/>
          </a:ln>
        </p:spPr>
        <p:txBody>
          <a:bodyPr wrap="none" lIns="91440" tIns="45720" rIns="91440" bIns="45720" rtlCol="0" anchor="t">
            <a:spAutoFit/>
          </a:bodyPr>
          <a:lstStyle/>
          <a:p>
            <a:r>
              <a:rPr lang="en-GB" sz="1200" b="1" i="1">
                <a:solidFill>
                  <a:schemeClr val="accent2"/>
                </a:solidFill>
              </a:rPr>
              <a:t>Example 5 - We do…</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C98DFC27-4FD6-8F84-ACD7-8EC954D99207}"/>
                  </a:ext>
                </a:extLst>
              </p:cNvPr>
              <p:cNvSpPr/>
              <p:nvPr/>
            </p:nvSpPr>
            <p:spPr>
              <a:xfrm>
                <a:off x="155490" y="750295"/>
                <a:ext cx="3429000" cy="1754326"/>
              </a:xfrm>
              <a:prstGeom prst="rect">
                <a:avLst/>
              </a:prstGeom>
            </p:spPr>
            <p:txBody>
              <a:bodyPr>
                <a:spAutoFit/>
              </a:bodyPr>
              <a:lstStyle/>
              <a:p>
                <a:r>
                  <a:rPr lang="en-US" sz="1200">
                    <a:solidFill>
                      <a:srgbClr val="000000"/>
                    </a:solidFill>
                  </a:rPr>
                  <a:t>Work out </a:t>
                </a:r>
              </a:p>
              <a:p>
                <a:r>
                  <a:rPr lang="en-US" sz="1200" b="0">
                    <a:solidFill>
                      <a:srgbClr val="000000"/>
                    </a:solidFill>
                  </a:rPr>
                  <a:t>        (a)           </a:t>
                </a:r>
                <a14:m>
                  <m:oMath xmlns:m="http://schemas.openxmlformats.org/officeDocument/2006/math">
                    <m:r>
                      <a:rPr lang="en-US" sz="1200" b="0" i="1" dirty="0" smtClean="0">
                        <a:solidFill>
                          <a:srgbClr val="000000"/>
                        </a:solidFill>
                        <a:latin typeface="Cambria Math" panose="02040503050406030204" pitchFamily="18" charset="0"/>
                      </a:rPr>
                      <m:t>7×(−3)</m:t>
                    </m:r>
                  </m:oMath>
                </a14:m>
                <a:endParaRPr lang="en-US" sz="1200" b="0" i="0">
                  <a:solidFill>
                    <a:srgbClr val="000000"/>
                  </a:solidFill>
                  <a:effectLst/>
                </a:endParaRPr>
              </a:p>
              <a:p>
                <a:endParaRPr lang="en-US" sz="1200">
                  <a:solidFill>
                    <a:srgbClr val="000000"/>
                  </a:solidFill>
                </a:endParaRPr>
              </a:p>
              <a:p>
                <a:r>
                  <a:rPr lang="en-US" sz="1200" b="0" i="0">
                    <a:solidFill>
                      <a:srgbClr val="000000"/>
                    </a:solidFill>
                    <a:effectLst/>
                  </a:rPr>
                  <a:t>        (b)           </a:t>
                </a:r>
                <a14:m>
                  <m:oMath xmlns:m="http://schemas.openxmlformats.org/officeDocument/2006/math">
                    <m:r>
                      <a:rPr lang="en-US" sz="1200" b="0" i="0" dirty="0" smtClean="0">
                        <a:solidFill>
                          <a:srgbClr val="000000"/>
                        </a:solidFill>
                        <a:latin typeface="Cambria Math" panose="02040503050406030204" pitchFamily="18" charset="0"/>
                      </a:rPr>
                      <m:t>−</m:t>
                    </m:r>
                    <m:r>
                      <a:rPr lang="en-US" sz="1200" i="1" dirty="0">
                        <a:solidFill>
                          <a:srgbClr val="000000"/>
                        </a:solidFill>
                        <a:latin typeface="Cambria Math" panose="02040503050406030204" pitchFamily="18" charset="0"/>
                      </a:rPr>
                      <m:t>1</m:t>
                    </m:r>
                    <m:r>
                      <a:rPr lang="en-US" sz="1200" b="0" i="1" dirty="0" smtClean="0">
                        <a:solidFill>
                          <a:srgbClr val="000000"/>
                        </a:solidFill>
                        <a:latin typeface="Cambria Math" panose="02040503050406030204" pitchFamily="18" charset="0"/>
                      </a:rPr>
                      <m:t>0×(−4)</m:t>
                    </m:r>
                  </m:oMath>
                </a14:m>
                <a:endParaRPr lang="en-US" sz="1200">
                  <a:solidFill>
                    <a:srgbClr val="000000"/>
                  </a:solidFill>
                </a:endParaRPr>
              </a:p>
              <a:p>
                <a:endParaRPr lang="en-US" sz="1200">
                  <a:solidFill>
                    <a:srgbClr val="000000"/>
                  </a:solidFill>
                </a:endParaRPr>
              </a:p>
              <a:p>
                <a:r>
                  <a:rPr lang="en-US" sz="1200">
                    <a:solidFill>
                      <a:srgbClr val="000000"/>
                    </a:solidFill>
                  </a:rPr>
                  <a:t>        (c)            </a:t>
                </a:r>
                <a14:m>
                  <m:oMath xmlns:m="http://schemas.openxmlformats.org/officeDocument/2006/math">
                    <m:r>
                      <a:rPr lang="en-US" sz="1200" b="0" i="0" dirty="0" smtClean="0">
                        <a:solidFill>
                          <a:srgbClr val="000000"/>
                        </a:solidFill>
                        <a:latin typeface="Cambria Math" panose="02040503050406030204" pitchFamily="18" charset="0"/>
                      </a:rPr>
                      <m:t>−25</m:t>
                    </m:r>
                    <m:r>
                      <a:rPr lang="en-US" sz="1200" b="0" i="1" dirty="0" smtClean="0">
                        <a:solidFill>
                          <a:srgbClr val="000000"/>
                        </a:solidFill>
                        <a:latin typeface="Cambria Math" panose="02040503050406030204" pitchFamily="18" charset="0"/>
                      </a:rPr>
                      <m:t>÷5</m:t>
                    </m:r>
                  </m:oMath>
                </a14:m>
                <a:endParaRPr lang="en-US" sz="1200">
                  <a:solidFill>
                    <a:srgbClr val="000000"/>
                  </a:solidFill>
                </a:endParaRPr>
              </a:p>
              <a:p>
                <a:endParaRPr lang="en-US" sz="1200">
                  <a:solidFill>
                    <a:srgbClr val="000000"/>
                  </a:solidFill>
                </a:endParaRPr>
              </a:p>
              <a:p>
                <a:r>
                  <a:rPr lang="en-US" sz="1200">
                    <a:solidFill>
                      <a:srgbClr val="000000"/>
                    </a:solidFill>
                  </a:rPr>
                  <a:t>        (d)             </a:t>
                </a:r>
                <a14:m>
                  <m:oMath xmlns:m="http://schemas.openxmlformats.org/officeDocument/2006/math">
                    <m:r>
                      <a:rPr lang="en-US" sz="1200" b="0" i="0" dirty="0" smtClean="0">
                        <a:solidFill>
                          <a:srgbClr val="000000"/>
                        </a:solidFill>
                        <a:latin typeface="Cambria Math" panose="02040503050406030204" pitchFamily="18" charset="0"/>
                      </a:rPr>
                      <m:t>−</m:t>
                    </m:r>
                    <m:r>
                      <a:rPr lang="en-US" sz="1200" i="1" dirty="0" smtClean="0">
                        <a:solidFill>
                          <a:srgbClr val="000000"/>
                        </a:solidFill>
                        <a:latin typeface="Cambria Math" panose="02040503050406030204" pitchFamily="18" charset="0"/>
                      </a:rPr>
                      <m:t>3</m:t>
                    </m:r>
                    <m:r>
                      <a:rPr lang="en-US" sz="1200" b="0" i="1" dirty="0" smtClean="0">
                        <a:solidFill>
                          <a:srgbClr val="000000"/>
                        </a:solidFill>
                        <a:latin typeface="Cambria Math" panose="02040503050406030204" pitchFamily="18" charset="0"/>
                      </a:rPr>
                      <m:t>÷(−1)</m:t>
                    </m:r>
                  </m:oMath>
                </a14:m>
                <a:endParaRPr lang="en-US" sz="1200">
                  <a:solidFill>
                    <a:srgbClr val="000000"/>
                  </a:solidFill>
                </a:endParaRPr>
              </a:p>
              <a:p>
                <a:endParaRPr lang="en-US" sz="1200" b="0" i="0">
                  <a:solidFill>
                    <a:srgbClr val="000000"/>
                  </a:solidFill>
                  <a:effectLst/>
                </a:endParaRPr>
              </a:p>
            </p:txBody>
          </p:sp>
        </mc:Choice>
        <mc:Fallback xmlns="">
          <p:sp>
            <p:nvSpPr>
              <p:cNvPr id="15" name="Rectangle 14">
                <a:extLst>
                  <a:ext uri="{FF2B5EF4-FFF2-40B4-BE49-F238E27FC236}">
                    <a16:creationId xmlns:a16="http://schemas.microsoft.com/office/drawing/2014/main" id="{C98DFC27-4FD6-8F84-ACD7-8EC954D99207}"/>
                  </a:ext>
                </a:extLst>
              </p:cNvPr>
              <p:cNvSpPr>
                <a:spLocks noRot="1" noChangeAspect="1" noMove="1" noResize="1" noEditPoints="1" noAdjustHandles="1" noChangeArrowheads="1" noChangeShapeType="1" noTextEdit="1"/>
              </p:cNvSpPr>
              <p:nvPr/>
            </p:nvSpPr>
            <p:spPr>
              <a:xfrm>
                <a:off x="155490" y="750295"/>
                <a:ext cx="3429000" cy="1754326"/>
              </a:xfrm>
              <a:prstGeom prst="rect">
                <a:avLst/>
              </a:prstGeom>
              <a:blipFill>
                <a:blip r:embed="rId2"/>
                <a:stretch>
                  <a:fillRect l="-178"/>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35EECD8C-F773-E221-C66F-B9AC33506C39}"/>
              </a:ext>
            </a:extLst>
          </p:cNvPr>
          <p:cNvSpPr/>
          <p:nvPr/>
        </p:nvSpPr>
        <p:spPr>
          <a:xfrm>
            <a:off x="1894247" y="934523"/>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17" name="Rectangle 16">
            <a:extLst>
              <a:ext uri="{FF2B5EF4-FFF2-40B4-BE49-F238E27FC236}">
                <a16:creationId xmlns:a16="http://schemas.microsoft.com/office/drawing/2014/main" id="{490A4D34-06A6-634A-E8C9-BC1A181DD70E}"/>
              </a:ext>
            </a:extLst>
          </p:cNvPr>
          <p:cNvSpPr/>
          <p:nvPr/>
        </p:nvSpPr>
        <p:spPr>
          <a:xfrm>
            <a:off x="1894247" y="1308234"/>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19" name="Rectangle 18">
            <a:extLst>
              <a:ext uri="{FF2B5EF4-FFF2-40B4-BE49-F238E27FC236}">
                <a16:creationId xmlns:a16="http://schemas.microsoft.com/office/drawing/2014/main" id="{062B8887-98D5-3489-9E16-8EEF3C672519}"/>
              </a:ext>
            </a:extLst>
          </p:cNvPr>
          <p:cNvSpPr/>
          <p:nvPr/>
        </p:nvSpPr>
        <p:spPr>
          <a:xfrm>
            <a:off x="1894247" y="1702057"/>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20" name="Rectangle 19">
            <a:extLst>
              <a:ext uri="{FF2B5EF4-FFF2-40B4-BE49-F238E27FC236}">
                <a16:creationId xmlns:a16="http://schemas.microsoft.com/office/drawing/2014/main" id="{029C9804-23DB-B36F-3241-8F466C9116C4}"/>
              </a:ext>
            </a:extLst>
          </p:cNvPr>
          <p:cNvSpPr/>
          <p:nvPr/>
        </p:nvSpPr>
        <p:spPr>
          <a:xfrm>
            <a:off x="1894247" y="2081753"/>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CA5F43AE-1264-CB48-AEB8-C6FE102C084D}"/>
                  </a:ext>
                </a:extLst>
              </p:cNvPr>
              <p:cNvSpPr/>
              <p:nvPr/>
            </p:nvSpPr>
            <p:spPr>
              <a:xfrm>
                <a:off x="3608150" y="735541"/>
                <a:ext cx="3429000" cy="1754326"/>
              </a:xfrm>
              <a:prstGeom prst="rect">
                <a:avLst/>
              </a:prstGeom>
            </p:spPr>
            <p:txBody>
              <a:bodyPr>
                <a:spAutoFit/>
              </a:bodyPr>
              <a:lstStyle/>
              <a:p>
                <a:r>
                  <a:rPr lang="en-US" sz="1200">
                    <a:solidFill>
                      <a:srgbClr val="000000"/>
                    </a:solidFill>
                  </a:rPr>
                  <a:t>Work out  </a:t>
                </a:r>
              </a:p>
              <a:p>
                <a:r>
                  <a:rPr lang="en-US" sz="1200" b="0">
                    <a:solidFill>
                      <a:srgbClr val="000000"/>
                    </a:solidFill>
                  </a:rPr>
                  <a:t>        (a)           </a:t>
                </a:r>
                <a14:m>
                  <m:oMath xmlns:m="http://schemas.openxmlformats.org/officeDocument/2006/math">
                    <m:r>
                      <a:rPr lang="en-US" sz="1200" b="0" i="1" dirty="0" smtClean="0">
                        <a:solidFill>
                          <a:srgbClr val="000000"/>
                        </a:solidFill>
                        <a:latin typeface="Cambria Math" panose="02040503050406030204" pitchFamily="18" charset="0"/>
                      </a:rPr>
                      <m:t>−11×4</m:t>
                    </m:r>
                  </m:oMath>
                </a14:m>
                <a:endParaRPr lang="en-US" sz="1200" b="0">
                  <a:solidFill>
                    <a:srgbClr val="000000"/>
                  </a:solidFill>
                </a:endParaRPr>
              </a:p>
              <a:p>
                <a:endParaRPr lang="en-US" sz="1200">
                  <a:solidFill>
                    <a:srgbClr val="000000"/>
                  </a:solidFill>
                </a:endParaRPr>
              </a:p>
              <a:p>
                <a:r>
                  <a:rPr lang="en-US" sz="1200" b="0" i="0">
                    <a:solidFill>
                      <a:srgbClr val="000000"/>
                    </a:solidFill>
                    <a:effectLst/>
                  </a:rPr>
                  <a:t>        (b)           </a:t>
                </a:r>
                <a14:m>
                  <m:oMath xmlns:m="http://schemas.openxmlformats.org/officeDocument/2006/math">
                    <m:r>
                      <a:rPr lang="en-US" sz="1200" i="1" dirty="0" smtClean="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9×−9</m:t>
                    </m:r>
                  </m:oMath>
                </a14:m>
                <a:endParaRPr lang="en-US" sz="1200">
                  <a:solidFill>
                    <a:srgbClr val="000000"/>
                  </a:solidFill>
                </a:endParaRPr>
              </a:p>
              <a:p>
                <a:endParaRPr lang="en-US" sz="1200">
                  <a:solidFill>
                    <a:srgbClr val="000000"/>
                  </a:solidFill>
                </a:endParaRPr>
              </a:p>
              <a:p>
                <a:r>
                  <a:rPr lang="en-US" sz="1200">
                    <a:solidFill>
                      <a:srgbClr val="000000"/>
                    </a:solidFill>
                  </a:rPr>
                  <a:t>        (c)            </a:t>
                </a:r>
                <a14:m>
                  <m:oMath xmlns:m="http://schemas.openxmlformats.org/officeDocument/2006/math">
                    <m:r>
                      <a:rPr lang="en-US" sz="1200" i="1" dirty="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18÷3</m:t>
                    </m:r>
                  </m:oMath>
                </a14:m>
                <a:endParaRPr lang="en-US" sz="1200">
                  <a:solidFill>
                    <a:srgbClr val="000000"/>
                  </a:solidFill>
                </a:endParaRPr>
              </a:p>
              <a:p>
                <a:endParaRPr lang="en-US" sz="1200">
                  <a:solidFill>
                    <a:srgbClr val="000000"/>
                  </a:solidFill>
                </a:endParaRPr>
              </a:p>
              <a:p>
                <a:r>
                  <a:rPr lang="en-US" sz="1200">
                    <a:solidFill>
                      <a:srgbClr val="000000"/>
                    </a:solidFill>
                  </a:rPr>
                  <a:t>        (d)             </a:t>
                </a:r>
                <a14:m>
                  <m:oMath xmlns:m="http://schemas.openxmlformats.org/officeDocument/2006/math">
                    <m:r>
                      <a:rPr lang="en-GB" sz="1200" b="0" i="0" dirty="0" smtClean="0">
                        <a:solidFill>
                          <a:srgbClr val="000000"/>
                        </a:solidFill>
                        <a:latin typeface="Cambria Math" panose="02040503050406030204" pitchFamily="18" charset="0"/>
                      </a:rPr>
                      <m:t>−</m:t>
                    </m:r>
                    <m:r>
                      <a:rPr lang="en-GB" sz="1200" b="0" i="1" dirty="0" smtClean="0">
                        <a:solidFill>
                          <a:srgbClr val="000000"/>
                        </a:solidFill>
                        <a:latin typeface="Cambria Math" panose="02040503050406030204" pitchFamily="18" charset="0"/>
                      </a:rPr>
                      <m:t>16</m:t>
                    </m:r>
                    <m:r>
                      <a:rPr lang="en-US" sz="1200" b="0" i="1" dirty="0" smtClean="0">
                        <a:solidFill>
                          <a:srgbClr val="000000"/>
                        </a:solidFill>
                        <a:latin typeface="Cambria Math" panose="02040503050406030204" pitchFamily="18" charset="0"/>
                      </a:rPr>
                      <m:t>÷(</m:t>
                    </m:r>
                    <m:r>
                      <a:rPr lang="en-US" sz="1200" i="1" dirty="0">
                        <a:solidFill>
                          <a:srgbClr val="000000"/>
                        </a:solidFill>
                        <a:latin typeface="Cambria Math" panose="02040503050406030204" pitchFamily="18" charset="0"/>
                      </a:rPr>
                      <m:t>−</m:t>
                    </m:r>
                    <m:r>
                      <a:rPr lang="en-GB" sz="1200" b="0" i="1" dirty="0" smtClean="0">
                        <a:solidFill>
                          <a:srgbClr val="000000"/>
                        </a:solidFill>
                        <a:latin typeface="Cambria Math" panose="02040503050406030204" pitchFamily="18" charset="0"/>
                      </a:rPr>
                      <m:t>8</m:t>
                    </m:r>
                    <m:r>
                      <a:rPr lang="en-US" sz="1200" b="0" i="1" dirty="0" smtClean="0">
                        <a:solidFill>
                          <a:srgbClr val="000000"/>
                        </a:solidFill>
                        <a:latin typeface="Cambria Math" panose="02040503050406030204" pitchFamily="18" charset="0"/>
                      </a:rPr>
                      <m:t>)</m:t>
                    </m:r>
                  </m:oMath>
                </a14:m>
                <a:endParaRPr lang="en-US" sz="1200">
                  <a:solidFill>
                    <a:srgbClr val="000000"/>
                  </a:solidFill>
                </a:endParaRPr>
              </a:p>
              <a:p>
                <a:endParaRPr lang="en-US" sz="1200" b="0" i="0">
                  <a:solidFill>
                    <a:srgbClr val="000000"/>
                  </a:solidFill>
                  <a:effectLst/>
                </a:endParaRPr>
              </a:p>
            </p:txBody>
          </p:sp>
        </mc:Choice>
        <mc:Fallback xmlns="">
          <p:sp>
            <p:nvSpPr>
              <p:cNvPr id="21" name="Rectangle 20">
                <a:extLst>
                  <a:ext uri="{FF2B5EF4-FFF2-40B4-BE49-F238E27FC236}">
                    <a16:creationId xmlns:a16="http://schemas.microsoft.com/office/drawing/2014/main" id="{CA5F43AE-1264-CB48-AEB8-C6FE102C084D}"/>
                  </a:ext>
                </a:extLst>
              </p:cNvPr>
              <p:cNvSpPr>
                <a:spLocks noRot="1" noChangeAspect="1" noMove="1" noResize="1" noEditPoints="1" noAdjustHandles="1" noChangeArrowheads="1" noChangeShapeType="1" noTextEdit="1"/>
              </p:cNvSpPr>
              <p:nvPr/>
            </p:nvSpPr>
            <p:spPr>
              <a:xfrm>
                <a:off x="3608150" y="735541"/>
                <a:ext cx="3429000" cy="1754326"/>
              </a:xfrm>
              <a:prstGeom prst="rect">
                <a:avLst/>
              </a:prstGeom>
              <a:blipFill>
                <a:blip r:embed="rId3"/>
                <a:stretch>
                  <a:fillRect l="-178" t="-348"/>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73EE9020-26D4-A7BC-B6FD-CD95D602A1B2}"/>
              </a:ext>
            </a:extLst>
          </p:cNvPr>
          <p:cNvSpPr/>
          <p:nvPr/>
        </p:nvSpPr>
        <p:spPr>
          <a:xfrm>
            <a:off x="5385633" y="927480"/>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23" name="Rectangle 22">
            <a:extLst>
              <a:ext uri="{FF2B5EF4-FFF2-40B4-BE49-F238E27FC236}">
                <a16:creationId xmlns:a16="http://schemas.microsoft.com/office/drawing/2014/main" id="{C85DE9D2-6EF7-3275-FAF4-B590A30D83F0}"/>
              </a:ext>
            </a:extLst>
          </p:cNvPr>
          <p:cNvSpPr/>
          <p:nvPr/>
        </p:nvSpPr>
        <p:spPr>
          <a:xfrm>
            <a:off x="5385633" y="1301191"/>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24" name="Rectangle 23">
            <a:extLst>
              <a:ext uri="{FF2B5EF4-FFF2-40B4-BE49-F238E27FC236}">
                <a16:creationId xmlns:a16="http://schemas.microsoft.com/office/drawing/2014/main" id="{D18BC5AE-4797-B779-2AA7-E0F2A579C5F7}"/>
              </a:ext>
            </a:extLst>
          </p:cNvPr>
          <p:cNvSpPr/>
          <p:nvPr/>
        </p:nvSpPr>
        <p:spPr>
          <a:xfrm>
            <a:off x="5385633" y="1695014"/>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29" name="Rectangle 28">
            <a:extLst>
              <a:ext uri="{FF2B5EF4-FFF2-40B4-BE49-F238E27FC236}">
                <a16:creationId xmlns:a16="http://schemas.microsoft.com/office/drawing/2014/main" id="{A20B23DD-E5D7-6C3C-4A50-DAC1A2F0C148}"/>
              </a:ext>
            </a:extLst>
          </p:cNvPr>
          <p:cNvSpPr/>
          <p:nvPr/>
        </p:nvSpPr>
        <p:spPr>
          <a:xfrm>
            <a:off x="5385633" y="2074710"/>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2" name="TextBox 41">
            <a:extLst>
              <a:ext uri="{FF2B5EF4-FFF2-40B4-BE49-F238E27FC236}">
                <a16:creationId xmlns:a16="http://schemas.microsoft.com/office/drawing/2014/main" id="{2BF9B210-7B5E-11DB-DCEC-827573AD9F33}"/>
              </a:ext>
            </a:extLst>
          </p:cNvPr>
          <p:cNvSpPr txBox="1"/>
          <p:nvPr/>
        </p:nvSpPr>
        <p:spPr>
          <a:xfrm>
            <a:off x="1853513" y="2675573"/>
            <a:ext cx="1498808" cy="276999"/>
          </a:xfrm>
          <a:prstGeom prst="rect">
            <a:avLst/>
          </a:prstGeom>
          <a:noFill/>
          <a:ln>
            <a:noFill/>
          </a:ln>
        </p:spPr>
        <p:txBody>
          <a:bodyPr wrap="none" lIns="91440" tIns="45720" rIns="91440" bIns="45720" rtlCol="0" anchor="t">
            <a:spAutoFit/>
          </a:bodyPr>
          <a:lstStyle/>
          <a:p>
            <a:r>
              <a:rPr lang="en-GB" sz="1200" b="1" i="1">
                <a:solidFill>
                  <a:srgbClr val="92D050"/>
                </a:solidFill>
              </a:rPr>
              <a:t>Example 6 - You do…</a:t>
            </a:r>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2C352189-A7F3-865C-7DE1-3AB171B2F0A5}"/>
                  </a:ext>
                </a:extLst>
              </p:cNvPr>
              <p:cNvSpPr/>
              <p:nvPr/>
            </p:nvSpPr>
            <p:spPr>
              <a:xfrm>
                <a:off x="1965211" y="3236156"/>
                <a:ext cx="3429000" cy="1754326"/>
              </a:xfrm>
              <a:prstGeom prst="rect">
                <a:avLst/>
              </a:prstGeom>
            </p:spPr>
            <p:txBody>
              <a:bodyPr>
                <a:spAutoFit/>
              </a:bodyPr>
              <a:lstStyle/>
              <a:p>
                <a:r>
                  <a:rPr lang="en-US" sz="1200">
                    <a:solidFill>
                      <a:srgbClr val="000000"/>
                    </a:solidFill>
                  </a:rPr>
                  <a:t>Calculate </a:t>
                </a:r>
              </a:p>
              <a:p>
                <a:r>
                  <a:rPr lang="en-US" sz="1200" b="0">
                    <a:solidFill>
                      <a:srgbClr val="000000"/>
                    </a:solidFill>
                  </a:rPr>
                  <a:t>        (a)           </a:t>
                </a:r>
                <a14:m>
                  <m:oMath xmlns:m="http://schemas.openxmlformats.org/officeDocument/2006/math">
                    <m:r>
                      <a:rPr lang="en-GB" sz="1200" b="0" i="1" smtClean="0">
                        <a:solidFill>
                          <a:srgbClr val="000000"/>
                        </a:solidFill>
                        <a:latin typeface="Cambria Math" panose="02040503050406030204" pitchFamily="18" charset="0"/>
                      </a:rPr>
                      <m:t>−4 </m:t>
                    </m:r>
                    <m:r>
                      <a:rPr lang="en-GB" sz="1200" b="0" i="1" smtClean="0">
                        <a:solidFill>
                          <a:srgbClr val="000000"/>
                        </a:solidFill>
                        <a:latin typeface="Cambria Math" panose="02040503050406030204" pitchFamily="18" charset="0"/>
                        <a:ea typeface="Cambria Math" panose="02040503050406030204" pitchFamily="18" charset="0"/>
                      </a:rPr>
                      <m:t>×5</m:t>
                    </m:r>
                  </m:oMath>
                </a14:m>
                <a:endParaRPr lang="en-US" sz="1200">
                  <a:solidFill>
                    <a:srgbClr val="000000"/>
                  </a:solidFill>
                </a:endParaRPr>
              </a:p>
              <a:p>
                <a:endParaRPr lang="en-US" sz="1200">
                  <a:solidFill>
                    <a:srgbClr val="000000"/>
                  </a:solidFill>
                </a:endParaRPr>
              </a:p>
              <a:p>
                <a:r>
                  <a:rPr lang="en-US" sz="1200" b="0" i="0">
                    <a:solidFill>
                      <a:srgbClr val="000000"/>
                    </a:solidFill>
                    <a:effectLst/>
                  </a:rPr>
                  <a:t>        (b)           </a:t>
                </a:r>
                <a14:m>
                  <m:oMath xmlns:m="http://schemas.openxmlformats.org/officeDocument/2006/math">
                    <m:r>
                      <a:rPr lang="en-US" sz="1200" i="1" dirty="0">
                        <a:solidFill>
                          <a:srgbClr val="000000"/>
                        </a:solidFill>
                        <a:latin typeface="Cambria Math" panose="02040503050406030204" pitchFamily="18" charset="0"/>
                      </a:rPr>
                      <m:t>−</m:t>
                    </m:r>
                    <m:r>
                      <a:rPr lang="en-US" sz="1200" b="0" i="1" dirty="0" smtClean="0">
                        <a:solidFill>
                          <a:srgbClr val="000000"/>
                        </a:solidFill>
                        <a:latin typeface="Cambria Math" panose="02040503050406030204" pitchFamily="18" charset="0"/>
                      </a:rPr>
                      <m:t>6</m:t>
                    </m:r>
                    <m:r>
                      <a:rPr lang="en-US" sz="1200" b="0" i="1" dirty="0" smtClean="0">
                        <a:solidFill>
                          <a:srgbClr val="000000"/>
                        </a:solidFill>
                        <a:latin typeface="Cambria Math" panose="02040503050406030204" pitchFamily="18" charset="0"/>
                        <a:ea typeface="Cambria Math" panose="02040503050406030204" pitchFamily="18" charset="0"/>
                      </a:rPr>
                      <m:t>×</m:t>
                    </m:r>
                    <m:r>
                      <a:rPr lang="en-US" sz="1200" b="0" i="1" dirty="0" smtClean="0">
                        <a:solidFill>
                          <a:srgbClr val="000000"/>
                        </a:solidFill>
                        <a:latin typeface="Cambria Math" panose="02040503050406030204" pitchFamily="18" charset="0"/>
                      </a:rPr>
                      <m:t>−</m:t>
                    </m:r>
                  </m:oMath>
                </a14:m>
                <a:r>
                  <a:rPr lang="en-US" sz="1200">
                    <a:solidFill>
                      <a:srgbClr val="000000"/>
                    </a:solidFill>
                  </a:rPr>
                  <a:t>6</a:t>
                </a:r>
              </a:p>
              <a:p>
                <a:endParaRPr lang="en-US" sz="1200">
                  <a:solidFill>
                    <a:srgbClr val="000000"/>
                  </a:solidFill>
                </a:endParaRPr>
              </a:p>
              <a:p>
                <a:r>
                  <a:rPr lang="en-US" sz="1200">
                    <a:solidFill>
                      <a:srgbClr val="000000"/>
                    </a:solidFill>
                  </a:rPr>
                  <a:t>        (c)            </a:t>
                </a:r>
                <a14:m>
                  <m:oMath xmlns:m="http://schemas.openxmlformats.org/officeDocument/2006/math">
                    <m:r>
                      <a:rPr lang="en-GB" sz="1200" b="0" i="1" dirty="0" smtClean="0">
                        <a:solidFill>
                          <a:srgbClr val="000000"/>
                        </a:solidFill>
                        <a:latin typeface="Cambria Math" panose="02040503050406030204" pitchFamily="18" charset="0"/>
                      </a:rPr>
                      <m:t>−28</m:t>
                    </m:r>
                    <m:r>
                      <a:rPr lang="en-US" sz="1200" i="1" dirty="0">
                        <a:solidFill>
                          <a:srgbClr val="000000"/>
                        </a:solidFill>
                        <a:latin typeface="Cambria Math" panose="02040503050406030204" pitchFamily="18" charset="0"/>
                        <a:ea typeface="Cambria Math" panose="02040503050406030204" pitchFamily="18" charset="0"/>
                      </a:rPr>
                      <m:t>÷</m:t>
                    </m:r>
                    <m:r>
                      <a:rPr lang="en-GB" sz="1200" b="0" i="1" dirty="0" smtClean="0">
                        <a:solidFill>
                          <a:srgbClr val="000000"/>
                        </a:solidFill>
                        <a:latin typeface="Cambria Math" panose="02040503050406030204" pitchFamily="18" charset="0"/>
                      </a:rPr>
                      <m:t>4</m:t>
                    </m:r>
                  </m:oMath>
                </a14:m>
                <a:endParaRPr lang="en-US" sz="1200">
                  <a:solidFill>
                    <a:srgbClr val="000000"/>
                  </a:solidFill>
                </a:endParaRPr>
              </a:p>
              <a:p>
                <a:endParaRPr lang="en-US" sz="1200">
                  <a:solidFill>
                    <a:srgbClr val="000000"/>
                  </a:solidFill>
                </a:endParaRPr>
              </a:p>
              <a:p>
                <a:r>
                  <a:rPr lang="en-US" sz="1200">
                    <a:solidFill>
                      <a:srgbClr val="000000"/>
                    </a:solidFill>
                  </a:rPr>
                  <a:t>        (d)             </a:t>
                </a:r>
                <a14:m>
                  <m:oMath xmlns:m="http://schemas.openxmlformats.org/officeDocument/2006/math">
                    <m:r>
                      <a:rPr lang="en-US" sz="1200" b="0" i="0" dirty="0" smtClean="0">
                        <a:solidFill>
                          <a:srgbClr val="000000"/>
                        </a:solidFill>
                        <a:latin typeface="Cambria Math" panose="02040503050406030204" pitchFamily="18" charset="0"/>
                      </a:rPr>
                      <m:t>−</m:t>
                    </m:r>
                    <m:r>
                      <a:rPr lang="en-US" sz="1200" i="1" dirty="0" smtClean="0">
                        <a:solidFill>
                          <a:srgbClr val="000000"/>
                        </a:solidFill>
                        <a:latin typeface="Cambria Math" panose="02040503050406030204" pitchFamily="18" charset="0"/>
                      </a:rPr>
                      <m:t>4</m:t>
                    </m:r>
                    <m:r>
                      <a:rPr lang="en-US" sz="1200" i="1" dirty="0">
                        <a:solidFill>
                          <a:srgbClr val="000000"/>
                        </a:solidFill>
                        <a:latin typeface="Cambria Math" panose="02040503050406030204" pitchFamily="18" charset="0"/>
                        <a:ea typeface="Cambria Math" panose="02040503050406030204" pitchFamily="18" charset="0"/>
                      </a:rPr>
                      <m:t>÷</m:t>
                    </m:r>
                    <m:r>
                      <a:rPr lang="en-US" sz="1200" b="0" i="1" dirty="0" smtClean="0">
                        <a:solidFill>
                          <a:srgbClr val="000000"/>
                        </a:solidFill>
                        <a:latin typeface="Cambria Math" panose="02040503050406030204" pitchFamily="18" charset="0"/>
                      </a:rPr>
                      <m:t>(−</m:t>
                    </m:r>
                    <m:r>
                      <a:rPr lang="en-GB" sz="1200" b="0" i="1" dirty="0" smtClean="0">
                        <a:solidFill>
                          <a:srgbClr val="000000"/>
                        </a:solidFill>
                        <a:latin typeface="Cambria Math" panose="02040503050406030204" pitchFamily="18" charset="0"/>
                      </a:rPr>
                      <m:t>2</m:t>
                    </m:r>
                    <m:r>
                      <a:rPr lang="en-US" sz="1200" b="0" i="1" dirty="0" smtClean="0">
                        <a:solidFill>
                          <a:srgbClr val="000000"/>
                        </a:solidFill>
                        <a:latin typeface="Cambria Math" panose="02040503050406030204" pitchFamily="18" charset="0"/>
                      </a:rPr>
                      <m:t>)</m:t>
                    </m:r>
                  </m:oMath>
                </a14:m>
                <a:endParaRPr lang="en-US" sz="1200">
                  <a:solidFill>
                    <a:srgbClr val="000000"/>
                  </a:solidFill>
                </a:endParaRPr>
              </a:p>
              <a:p>
                <a:endParaRPr lang="en-US" sz="1200" b="0" i="0">
                  <a:solidFill>
                    <a:srgbClr val="000000"/>
                  </a:solidFill>
                  <a:effectLst/>
                </a:endParaRPr>
              </a:p>
            </p:txBody>
          </p:sp>
        </mc:Choice>
        <mc:Fallback xmlns="">
          <p:sp>
            <p:nvSpPr>
              <p:cNvPr id="43" name="Rectangle 42">
                <a:extLst>
                  <a:ext uri="{FF2B5EF4-FFF2-40B4-BE49-F238E27FC236}">
                    <a16:creationId xmlns:a16="http://schemas.microsoft.com/office/drawing/2014/main" id="{2C352189-A7F3-865C-7DE1-3AB171B2F0A5}"/>
                  </a:ext>
                </a:extLst>
              </p:cNvPr>
              <p:cNvSpPr>
                <a:spLocks noRot="1" noChangeAspect="1" noMove="1" noResize="1" noEditPoints="1" noAdjustHandles="1" noChangeArrowheads="1" noChangeShapeType="1" noTextEdit="1"/>
              </p:cNvSpPr>
              <p:nvPr/>
            </p:nvSpPr>
            <p:spPr>
              <a:xfrm>
                <a:off x="1965211" y="3236156"/>
                <a:ext cx="3429000" cy="1754326"/>
              </a:xfrm>
              <a:prstGeom prst="rect">
                <a:avLst/>
              </a:prstGeom>
              <a:blipFill>
                <a:blip r:embed="rId4"/>
                <a:stretch>
                  <a:fillRect t="-347"/>
                </a:stretch>
              </a:blipFill>
            </p:spPr>
            <p:txBody>
              <a:bodyPr/>
              <a:lstStyle/>
              <a:p>
                <a:r>
                  <a:rPr lang="en-US">
                    <a:noFill/>
                  </a:rPr>
                  <a:t> </a:t>
                </a:r>
              </a:p>
            </p:txBody>
          </p:sp>
        </mc:Fallback>
      </mc:AlternateContent>
      <p:sp>
        <p:nvSpPr>
          <p:cNvPr id="44" name="Rectangle 43">
            <a:extLst>
              <a:ext uri="{FF2B5EF4-FFF2-40B4-BE49-F238E27FC236}">
                <a16:creationId xmlns:a16="http://schemas.microsoft.com/office/drawing/2014/main" id="{1ACD5C31-08CA-7BF2-28D8-2C78EFA58230}"/>
              </a:ext>
            </a:extLst>
          </p:cNvPr>
          <p:cNvSpPr/>
          <p:nvPr/>
        </p:nvSpPr>
        <p:spPr>
          <a:xfrm>
            <a:off x="3815083" y="3435138"/>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5" name="Rectangle 44">
            <a:extLst>
              <a:ext uri="{FF2B5EF4-FFF2-40B4-BE49-F238E27FC236}">
                <a16:creationId xmlns:a16="http://schemas.microsoft.com/office/drawing/2014/main" id="{A67FD0B3-2341-3DF5-6789-94CAA65DB494}"/>
              </a:ext>
            </a:extLst>
          </p:cNvPr>
          <p:cNvSpPr/>
          <p:nvPr/>
        </p:nvSpPr>
        <p:spPr>
          <a:xfrm>
            <a:off x="3815083" y="3808849"/>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6" name="Rectangle 45">
            <a:extLst>
              <a:ext uri="{FF2B5EF4-FFF2-40B4-BE49-F238E27FC236}">
                <a16:creationId xmlns:a16="http://schemas.microsoft.com/office/drawing/2014/main" id="{15A4FFB5-1114-E049-9A2B-64DA7761D9FC}"/>
              </a:ext>
            </a:extLst>
          </p:cNvPr>
          <p:cNvSpPr/>
          <p:nvPr/>
        </p:nvSpPr>
        <p:spPr>
          <a:xfrm>
            <a:off x="3815083" y="4202672"/>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7" name="Rectangle 46">
            <a:extLst>
              <a:ext uri="{FF2B5EF4-FFF2-40B4-BE49-F238E27FC236}">
                <a16:creationId xmlns:a16="http://schemas.microsoft.com/office/drawing/2014/main" id="{8BA39864-44EC-3953-5E7C-2D5723507BE5}"/>
              </a:ext>
            </a:extLst>
          </p:cNvPr>
          <p:cNvSpPr/>
          <p:nvPr/>
        </p:nvSpPr>
        <p:spPr>
          <a:xfrm>
            <a:off x="3815083" y="4582368"/>
            <a:ext cx="617214" cy="2687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solidFill>
                <a:srgbClr val="FF0000"/>
              </a:solidFill>
            </a:endParaRPr>
          </a:p>
        </p:txBody>
      </p:sp>
      <p:sp>
        <p:nvSpPr>
          <p:cNvPr id="48" name="Rectangle 47">
            <a:extLst>
              <a:ext uri="{FF2B5EF4-FFF2-40B4-BE49-F238E27FC236}">
                <a16:creationId xmlns:a16="http://schemas.microsoft.com/office/drawing/2014/main" id="{1CF6CCB1-4E1A-B29D-6EB5-5326BBBE38AA}"/>
              </a:ext>
            </a:extLst>
          </p:cNvPr>
          <p:cNvSpPr/>
          <p:nvPr/>
        </p:nvSpPr>
        <p:spPr>
          <a:xfrm>
            <a:off x="1686211" y="2985180"/>
            <a:ext cx="3265813" cy="1975655"/>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rgbClr val="00B0F0"/>
              </a:solidFill>
            </a:endParaRPr>
          </a:p>
        </p:txBody>
      </p:sp>
      <p:sp>
        <p:nvSpPr>
          <p:cNvPr id="49" name="TextBox 48">
            <a:extLst>
              <a:ext uri="{FF2B5EF4-FFF2-40B4-BE49-F238E27FC236}">
                <a16:creationId xmlns:a16="http://schemas.microsoft.com/office/drawing/2014/main" id="{824DEA33-818D-609A-7EFC-8D757CDC7202}"/>
              </a:ext>
            </a:extLst>
          </p:cNvPr>
          <p:cNvSpPr txBox="1"/>
          <p:nvPr/>
        </p:nvSpPr>
        <p:spPr>
          <a:xfrm>
            <a:off x="276417" y="5513959"/>
            <a:ext cx="289835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Write down the answer to each calculation.</a:t>
            </a:r>
          </a:p>
        </p:txBody>
      </p:sp>
      <p:sp>
        <p:nvSpPr>
          <p:cNvPr id="53" name="Oval 52">
            <a:extLst>
              <a:ext uri="{FF2B5EF4-FFF2-40B4-BE49-F238E27FC236}">
                <a16:creationId xmlns:a16="http://schemas.microsoft.com/office/drawing/2014/main" id="{A44259EC-CAD6-A328-5221-CFBD4861A0CF}"/>
              </a:ext>
            </a:extLst>
          </p:cNvPr>
          <p:cNvSpPr>
            <a:spLocks noChangeAspect="1"/>
          </p:cNvSpPr>
          <p:nvPr/>
        </p:nvSpPr>
        <p:spPr>
          <a:xfrm>
            <a:off x="48874" y="5544458"/>
            <a:ext cx="216000" cy="2160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prstClr val="white"/>
                </a:solidFill>
                <a:latin typeface="Calibri" panose="020F0502020204030204"/>
              </a:rPr>
              <a:t>6</a:t>
            </a:r>
            <a:endParaRPr kumimoji="0" lang="en-GB"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4" name="Picture 53">
            <a:extLst>
              <a:ext uri="{FF2B5EF4-FFF2-40B4-BE49-F238E27FC236}">
                <a16:creationId xmlns:a16="http://schemas.microsoft.com/office/drawing/2014/main" id="{FF454A94-9B22-2F1A-3234-01C6C12DA20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79102"/>
          <a:stretch/>
        </p:blipFill>
        <p:spPr>
          <a:xfrm>
            <a:off x="48874" y="5902084"/>
            <a:ext cx="6095573" cy="138222"/>
          </a:xfrm>
          <a:prstGeom prst="rect">
            <a:avLst/>
          </a:prstGeom>
        </p:spPr>
      </p:pic>
      <p:pic>
        <p:nvPicPr>
          <p:cNvPr id="55" name="Picture 54">
            <a:extLst>
              <a:ext uri="{FF2B5EF4-FFF2-40B4-BE49-F238E27FC236}">
                <a16:creationId xmlns:a16="http://schemas.microsoft.com/office/drawing/2014/main" id="{9361ACBA-EDE6-3282-CC41-2177E8F37360}"/>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23581" b="47810"/>
          <a:stretch/>
        </p:blipFill>
        <p:spPr>
          <a:xfrm>
            <a:off x="55006" y="6364297"/>
            <a:ext cx="6095573" cy="189219"/>
          </a:xfrm>
          <a:prstGeom prst="rect">
            <a:avLst/>
          </a:prstGeom>
        </p:spPr>
      </p:pic>
      <p:pic>
        <p:nvPicPr>
          <p:cNvPr id="56" name="Picture 55">
            <a:extLst>
              <a:ext uri="{FF2B5EF4-FFF2-40B4-BE49-F238E27FC236}">
                <a16:creationId xmlns:a16="http://schemas.microsoft.com/office/drawing/2014/main" id="{FDC79C3F-7F5A-7C2F-6E71-6507B25B943B}"/>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46720" b="24671"/>
          <a:stretch/>
        </p:blipFill>
        <p:spPr>
          <a:xfrm>
            <a:off x="73645" y="6871561"/>
            <a:ext cx="6095573" cy="189218"/>
          </a:xfrm>
          <a:prstGeom prst="rect">
            <a:avLst/>
          </a:prstGeom>
        </p:spPr>
      </p:pic>
      <p:pic>
        <p:nvPicPr>
          <p:cNvPr id="57" name="Picture 56">
            <a:extLst>
              <a:ext uri="{FF2B5EF4-FFF2-40B4-BE49-F238E27FC236}">
                <a16:creationId xmlns:a16="http://schemas.microsoft.com/office/drawing/2014/main" id="{789C40E0-7B93-4E90-A3EC-569A563FF804}"/>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76550"/>
          <a:stretch/>
        </p:blipFill>
        <p:spPr>
          <a:xfrm>
            <a:off x="73645" y="7381770"/>
            <a:ext cx="6095573" cy="155100"/>
          </a:xfrm>
          <a:prstGeom prst="rect">
            <a:avLst/>
          </a:prstGeom>
        </p:spPr>
      </p:pic>
      <p:grpSp>
        <p:nvGrpSpPr>
          <p:cNvPr id="58" name="Group 57">
            <a:extLst>
              <a:ext uri="{FF2B5EF4-FFF2-40B4-BE49-F238E27FC236}">
                <a16:creationId xmlns:a16="http://schemas.microsoft.com/office/drawing/2014/main" id="{DB65D188-9AAD-1EC3-215C-17C47C8C8CC6}"/>
              </a:ext>
            </a:extLst>
          </p:cNvPr>
          <p:cNvGrpSpPr/>
          <p:nvPr/>
        </p:nvGrpSpPr>
        <p:grpSpPr>
          <a:xfrm>
            <a:off x="964081" y="5871510"/>
            <a:ext cx="653143" cy="1685715"/>
            <a:chOff x="1265514" y="336949"/>
            <a:chExt cx="653143" cy="1685715"/>
          </a:xfrm>
        </p:grpSpPr>
        <p:sp>
          <p:nvSpPr>
            <p:cNvPr id="59" name="Rectangle 58">
              <a:extLst>
                <a:ext uri="{FF2B5EF4-FFF2-40B4-BE49-F238E27FC236}">
                  <a16:creationId xmlns:a16="http://schemas.microsoft.com/office/drawing/2014/main" id="{A4E866AB-05A8-0966-D0BC-C3651D0E73BE}"/>
                </a:ext>
              </a:extLst>
            </p:cNvPr>
            <p:cNvSpPr/>
            <p:nvPr/>
          </p:nvSpPr>
          <p:spPr>
            <a:xfrm>
              <a:off x="1265514" y="336949"/>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0" name="Rectangle 59">
              <a:extLst>
                <a:ext uri="{FF2B5EF4-FFF2-40B4-BE49-F238E27FC236}">
                  <a16:creationId xmlns:a16="http://schemas.microsoft.com/office/drawing/2014/main" id="{E149727F-358D-E5F5-9096-733F039D3559}"/>
                </a:ext>
              </a:extLst>
            </p:cNvPr>
            <p:cNvSpPr/>
            <p:nvPr/>
          </p:nvSpPr>
          <p:spPr>
            <a:xfrm>
              <a:off x="1265515" y="785056"/>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81" name="Rectangle 80">
              <a:extLst>
                <a:ext uri="{FF2B5EF4-FFF2-40B4-BE49-F238E27FC236}">
                  <a16:creationId xmlns:a16="http://schemas.microsoft.com/office/drawing/2014/main" id="{482136D8-66D0-20A7-780C-DE1AEF67DCB0}"/>
                </a:ext>
              </a:extLst>
            </p:cNvPr>
            <p:cNvSpPr/>
            <p:nvPr/>
          </p:nvSpPr>
          <p:spPr>
            <a:xfrm>
              <a:off x="1265516" y="1267382"/>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2EC2B22F-9FD0-3FDB-429F-B61187A3F8C6}"/>
                </a:ext>
              </a:extLst>
            </p:cNvPr>
            <p:cNvSpPr/>
            <p:nvPr/>
          </p:nvSpPr>
          <p:spPr>
            <a:xfrm>
              <a:off x="1265514" y="1744219"/>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83" name="Group 82">
            <a:extLst>
              <a:ext uri="{FF2B5EF4-FFF2-40B4-BE49-F238E27FC236}">
                <a16:creationId xmlns:a16="http://schemas.microsoft.com/office/drawing/2014/main" id="{8111A303-9690-F6EF-948D-3D72B1B4F167}"/>
              </a:ext>
            </a:extLst>
          </p:cNvPr>
          <p:cNvGrpSpPr/>
          <p:nvPr/>
        </p:nvGrpSpPr>
        <p:grpSpPr>
          <a:xfrm>
            <a:off x="2776223" y="5871510"/>
            <a:ext cx="653143" cy="1685715"/>
            <a:chOff x="1265514" y="336949"/>
            <a:chExt cx="653143" cy="1685715"/>
          </a:xfrm>
        </p:grpSpPr>
        <p:sp>
          <p:nvSpPr>
            <p:cNvPr id="84" name="Rectangle 83">
              <a:extLst>
                <a:ext uri="{FF2B5EF4-FFF2-40B4-BE49-F238E27FC236}">
                  <a16:creationId xmlns:a16="http://schemas.microsoft.com/office/drawing/2014/main" id="{751DE7B2-D011-DAE4-9D7C-C4039ADE316B}"/>
                </a:ext>
              </a:extLst>
            </p:cNvPr>
            <p:cNvSpPr/>
            <p:nvPr/>
          </p:nvSpPr>
          <p:spPr>
            <a:xfrm>
              <a:off x="1265514" y="336949"/>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id="{0A5C5B86-8894-24A1-2FC7-F485A6AEBA5D}"/>
                </a:ext>
              </a:extLst>
            </p:cNvPr>
            <p:cNvSpPr/>
            <p:nvPr/>
          </p:nvSpPr>
          <p:spPr>
            <a:xfrm>
              <a:off x="1265515" y="785056"/>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D5D62D72-266D-C3FA-62DC-7C668A5EDC6C}"/>
                </a:ext>
              </a:extLst>
            </p:cNvPr>
            <p:cNvSpPr/>
            <p:nvPr/>
          </p:nvSpPr>
          <p:spPr>
            <a:xfrm>
              <a:off x="1265516" y="1267382"/>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2DC931E9-2BA4-DD07-A024-59455A50ABA3}"/>
                </a:ext>
              </a:extLst>
            </p:cNvPr>
            <p:cNvSpPr/>
            <p:nvPr/>
          </p:nvSpPr>
          <p:spPr>
            <a:xfrm>
              <a:off x="1265514" y="1744219"/>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88" name="Group 87">
            <a:extLst>
              <a:ext uri="{FF2B5EF4-FFF2-40B4-BE49-F238E27FC236}">
                <a16:creationId xmlns:a16="http://schemas.microsoft.com/office/drawing/2014/main" id="{6B6EFA72-734E-CB21-1D9F-B6D2A542D082}"/>
              </a:ext>
            </a:extLst>
          </p:cNvPr>
          <p:cNvGrpSpPr/>
          <p:nvPr/>
        </p:nvGrpSpPr>
        <p:grpSpPr>
          <a:xfrm>
            <a:off x="4491818" y="5871510"/>
            <a:ext cx="653143" cy="1685715"/>
            <a:chOff x="1265514" y="336949"/>
            <a:chExt cx="653143" cy="1685715"/>
          </a:xfrm>
        </p:grpSpPr>
        <p:sp>
          <p:nvSpPr>
            <p:cNvPr id="89" name="Rectangle 88">
              <a:extLst>
                <a:ext uri="{FF2B5EF4-FFF2-40B4-BE49-F238E27FC236}">
                  <a16:creationId xmlns:a16="http://schemas.microsoft.com/office/drawing/2014/main" id="{E4F7584C-0936-5D71-528A-439C24FDA883}"/>
                </a:ext>
              </a:extLst>
            </p:cNvPr>
            <p:cNvSpPr/>
            <p:nvPr/>
          </p:nvSpPr>
          <p:spPr>
            <a:xfrm>
              <a:off x="1265514" y="336949"/>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0" name="Rectangle 89">
              <a:extLst>
                <a:ext uri="{FF2B5EF4-FFF2-40B4-BE49-F238E27FC236}">
                  <a16:creationId xmlns:a16="http://schemas.microsoft.com/office/drawing/2014/main" id="{BC1DF943-C704-316C-A3F7-ADF66D1DDB4E}"/>
                </a:ext>
              </a:extLst>
            </p:cNvPr>
            <p:cNvSpPr/>
            <p:nvPr/>
          </p:nvSpPr>
          <p:spPr>
            <a:xfrm>
              <a:off x="1265515" y="785056"/>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1" name="Rectangle 90">
              <a:extLst>
                <a:ext uri="{FF2B5EF4-FFF2-40B4-BE49-F238E27FC236}">
                  <a16:creationId xmlns:a16="http://schemas.microsoft.com/office/drawing/2014/main" id="{0B38614A-EAC4-272B-AC0C-F2902276117F}"/>
                </a:ext>
              </a:extLst>
            </p:cNvPr>
            <p:cNvSpPr/>
            <p:nvPr/>
          </p:nvSpPr>
          <p:spPr>
            <a:xfrm>
              <a:off x="1265516" y="1267382"/>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2" name="Rectangle 91">
              <a:extLst>
                <a:ext uri="{FF2B5EF4-FFF2-40B4-BE49-F238E27FC236}">
                  <a16:creationId xmlns:a16="http://schemas.microsoft.com/office/drawing/2014/main" id="{8551FD7F-FA31-E3FA-FBF1-0E041F133343}"/>
                </a:ext>
              </a:extLst>
            </p:cNvPr>
            <p:cNvSpPr/>
            <p:nvPr/>
          </p:nvSpPr>
          <p:spPr>
            <a:xfrm>
              <a:off x="1265514" y="1744219"/>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grpSp>
        <p:nvGrpSpPr>
          <p:cNvPr id="93" name="Group 92">
            <a:extLst>
              <a:ext uri="{FF2B5EF4-FFF2-40B4-BE49-F238E27FC236}">
                <a16:creationId xmlns:a16="http://schemas.microsoft.com/office/drawing/2014/main" id="{E32A65B3-66F0-9F6A-B259-7F4D8E0A24FB}"/>
              </a:ext>
            </a:extLst>
          </p:cNvPr>
          <p:cNvGrpSpPr/>
          <p:nvPr/>
        </p:nvGrpSpPr>
        <p:grpSpPr>
          <a:xfrm>
            <a:off x="6174410" y="5870260"/>
            <a:ext cx="653143" cy="1208878"/>
            <a:chOff x="1265514" y="336949"/>
            <a:chExt cx="653143" cy="1208878"/>
          </a:xfrm>
        </p:grpSpPr>
        <p:sp>
          <p:nvSpPr>
            <p:cNvPr id="94" name="Rectangle 93">
              <a:extLst>
                <a:ext uri="{FF2B5EF4-FFF2-40B4-BE49-F238E27FC236}">
                  <a16:creationId xmlns:a16="http://schemas.microsoft.com/office/drawing/2014/main" id="{47B29961-CC8B-0189-60A9-1F3703D19022}"/>
                </a:ext>
              </a:extLst>
            </p:cNvPr>
            <p:cNvSpPr/>
            <p:nvPr/>
          </p:nvSpPr>
          <p:spPr>
            <a:xfrm>
              <a:off x="1265514" y="336949"/>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5" name="Rectangle 94">
              <a:extLst>
                <a:ext uri="{FF2B5EF4-FFF2-40B4-BE49-F238E27FC236}">
                  <a16:creationId xmlns:a16="http://schemas.microsoft.com/office/drawing/2014/main" id="{48FE7C61-A32B-24ED-8DDF-10C3CFA246E8}"/>
                </a:ext>
              </a:extLst>
            </p:cNvPr>
            <p:cNvSpPr/>
            <p:nvPr/>
          </p:nvSpPr>
          <p:spPr>
            <a:xfrm>
              <a:off x="1265515" y="785056"/>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96" name="Rectangle 95">
              <a:extLst>
                <a:ext uri="{FF2B5EF4-FFF2-40B4-BE49-F238E27FC236}">
                  <a16:creationId xmlns:a16="http://schemas.microsoft.com/office/drawing/2014/main" id="{B067DCC4-07CE-0DF6-E5D3-8E548D400E94}"/>
                </a:ext>
              </a:extLst>
            </p:cNvPr>
            <p:cNvSpPr/>
            <p:nvPr/>
          </p:nvSpPr>
          <p:spPr>
            <a:xfrm>
              <a:off x="1265516" y="1267382"/>
              <a:ext cx="653141" cy="27844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grpSp>
      <p:sp>
        <p:nvSpPr>
          <p:cNvPr id="3" name="Rectangle 2">
            <a:extLst>
              <a:ext uri="{FF2B5EF4-FFF2-40B4-BE49-F238E27FC236}">
                <a16:creationId xmlns:a16="http://schemas.microsoft.com/office/drawing/2014/main" id="{D79D351F-2237-F5CE-2C05-A347AA48B8EF}"/>
              </a:ext>
            </a:extLst>
          </p:cNvPr>
          <p:cNvSpPr/>
          <p:nvPr/>
        </p:nvSpPr>
        <p:spPr>
          <a:xfrm>
            <a:off x="5375" y="56914"/>
            <a:ext cx="2601917" cy="22050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Multiplication and Division</a:t>
            </a:r>
          </a:p>
        </p:txBody>
      </p:sp>
      <p:pic>
        <p:nvPicPr>
          <p:cNvPr id="5" name="Picture 28" descr="A picture containing chart">
            <a:extLst>
              <a:ext uri="{FF2B5EF4-FFF2-40B4-BE49-F238E27FC236}">
                <a16:creationId xmlns:a16="http://schemas.microsoft.com/office/drawing/2014/main" id="{95F57AD7-27C6-3516-8665-A93EE75B81C8}"/>
              </a:ext>
            </a:extLst>
          </p:cNvPr>
          <p:cNvPicPr>
            <a:picLocks noChangeAspect="1"/>
          </p:cNvPicPr>
          <p:nvPr/>
        </p:nvPicPr>
        <p:blipFill rotWithShape="1">
          <a:blip r:embed="rId8"/>
          <a:srcRect l="152" t="60122" r="-152" b="2422"/>
          <a:stretch/>
        </p:blipFill>
        <p:spPr>
          <a:xfrm>
            <a:off x="117566" y="7781210"/>
            <a:ext cx="6585129" cy="2029788"/>
          </a:xfrm>
          <a:prstGeom prst="rect">
            <a:avLst/>
          </a:prstGeom>
        </p:spPr>
      </p:pic>
    </p:spTree>
    <p:extLst>
      <p:ext uri="{BB962C8B-B14F-4D97-AF65-F5344CB8AC3E}">
        <p14:creationId xmlns:p14="http://schemas.microsoft.com/office/powerpoint/2010/main" val="3967362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66563" y="9565783"/>
            <a:ext cx="1543050" cy="527403"/>
          </a:xfrm>
        </p:spPr>
        <p:txBody>
          <a:bodyPr/>
          <a:lstStyle/>
          <a:p>
            <a:fld id="{19F1D9CC-7119-45EC-A96C-D8C0660F3AAB}" type="slidenum">
              <a:rPr lang="en-GB" smtClean="0"/>
              <a:t>74</a:t>
            </a:fld>
            <a:endParaRPr lang="en-GB"/>
          </a:p>
        </p:txBody>
      </p:sp>
      <p:sp>
        <p:nvSpPr>
          <p:cNvPr id="3" name="TextBox 2">
            <a:extLst>
              <a:ext uri="{FF2B5EF4-FFF2-40B4-BE49-F238E27FC236}">
                <a16:creationId xmlns:a16="http://schemas.microsoft.com/office/drawing/2014/main" id="{B17EE47B-04FC-7E49-DF5D-0760D8B4AD0A}"/>
              </a:ext>
            </a:extLst>
          </p:cNvPr>
          <p:cNvSpPr txBox="1"/>
          <p:nvPr/>
        </p:nvSpPr>
        <p:spPr>
          <a:xfrm>
            <a:off x="356108" y="320569"/>
            <a:ext cx="41054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7. Put these calculations in order from lowest result to highest:</a:t>
            </a:r>
          </a:p>
        </p:txBody>
      </p:sp>
      <p:sp>
        <p:nvSpPr>
          <p:cNvPr id="4" name="Oval 3">
            <a:extLst>
              <a:ext uri="{FF2B5EF4-FFF2-40B4-BE49-F238E27FC236}">
                <a16:creationId xmlns:a16="http://schemas.microsoft.com/office/drawing/2014/main" id="{047C8288-938B-E5E8-69CB-8DC5D3CF4C79}"/>
              </a:ext>
            </a:extLst>
          </p:cNvPr>
          <p:cNvSpPr>
            <a:spLocks noChangeAspect="1"/>
          </p:cNvSpPr>
          <p:nvPr/>
        </p:nvSpPr>
        <p:spPr>
          <a:xfrm>
            <a:off x="63400" y="337870"/>
            <a:ext cx="216000" cy="2160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Calibri" panose="020F0502020204030204"/>
                <a:ea typeface="+mn-ea"/>
                <a:cs typeface="+mn-cs"/>
              </a:rPr>
              <a:t>7</a:t>
            </a:r>
          </a:p>
        </p:txBody>
      </p:sp>
      <p:pic>
        <p:nvPicPr>
          <p:cNvPr id="5" name="Picture 4">
            <a:extLst>
              <a:ext uri="{FF2B5EF4-FFF2-40B4-BE49-F238E27FC236}">
                <a16:creationId xmlns:a16="http://schemas.microsoft.com/office/drawing/2014/main" id="{4FAFCFCD-B7B9-DD06-BC2A-300FEF2333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572" y="697281"/>
            <a:ext cx="6556856" cy="232635"/>
          </a:xfrm>
          <a:prstGeom prst="rect">
            <a:avLst/>
          </a:prstGeom>
        </p:spPr>
      </p:pic>
      <p:sp>
        <p:nvSpPr>
          <p:cNvPr id="6" name="TextBox 5">
            <a:extLst>
              <a:ext uri="{FF2B5EF4-FFF2-40B4-BE49-F238E27FC236}">
                <a16:creationId xmlns:a16="http://schemas.microsoft.com/office/drawing/2014/main" id="{ED4E595E-2D69-85F7-EB80-ADEE12F80820}"/>
              </a:ext>
            </a:extLst>
          </p:cNvPr>
          <p:cNvSpPr txBox="1"/>
          <p:nvPr/>
        </p:nvSpPr>
        <p:spPr>
          <a:xfrm>
            <a:off x="356108" y="2187804"/>
            <a:ext cx="484677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8. The rule for converting degrees Celsius (°C) to degrees Fahrenheit (°F) is:</a:t>
            </a:r>
          </a:p>
        </p:txBody>
      </p:sp>
      <p:sp>
        <p:nvSpPr>
          <p:cNvPr id="7" name="Oval 6">
            <a:extLst>
              <a:ext uri="{FF2B5EF4-FFF2-40B4-BE49-F238E27FC236}">
                <a16:creationId xmlns:a16="http://schemas.microsoft.com/office/drawing/2014/main" id="{582C82D1-C67D-5A00-09BA-78105C5607FA}"/>
              </a:ext>
            </a:extLst>
          </p:cNvPr>
          <p:cNvSpPr>
            <a:spLocks noChangeAspect="1"/>
          </p:cNvSpPr>
          <p:nvPr/>
        </p:nvSpPr>
        <p:spPr>
          <a:xfrm>
            <a:off x="63400" y="2218303"/>
            <a:ext cx="216000" cy="2160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Calibri" panose="020F0502020204030204"/>
                <a:ea typeface="+mn-ea"/>
                <a:cs typeface="+mn-cs"/>
              </a:rPr>
              <a:t>8</a:t>
            </a:r>
          </a:p>
        </p:txBody>
      </p:sp>
      <p:sp>
        <p:nvSpPr>
          <p:cNvPr id="8" name="TextBox 7">
            <a:extLst>
              <a:ext uri="{FF2B5EF4-FFF2-40B4-BE49-F238E27FC236}">
                <a16:creationId xmlns:a16="http://schemas.microsoft.com/office/drawing/2014/main" id="{4C4E88FC-53AF-4AEC-E10E-1A0C13BEB84E}"/>
              </a:ext>
            </a:extLst>
          </p:cNvPr>
          <p:cNvSpPr txBox="1"/>
          <p:nvPr/>
        </p:nvSpPr>
        <p:spPr>
          <a:xfrm>
            <a:off x="356108" y="2411899"/>
            <a:ext cx="6351320" cy="646331"/>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lphaLcParenR"/>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Water freezes at 0 °C and boils at 100 °C. Work out the temperatures in degrees Fahrenheit that water freezes and boils at.</a:t>
            </a:r>
          </a:p>
          <a:p>
            <a:pPr marL="342900" marR="0" lvl="0" indent="-342900" algn="l" defTabSz="914400" rtl="0" eaLnBrk="1" fontAlgn="auto" latinLnBrk="0" hangingPunct="1">
              <a:lnSpc>
                <a:spcPct val="100000"/>
              </a:lnSpc>
              <a:spcBef>
                <a:spcPts val="0"/>
              </a:spcBef>
              <a:spcAft>
                <a:spcPts val="0"/>
              </a:spcAft>
              <a:buClrTx/>
              <a:buSzTx/>
              <a:buFont typeface="+mj-lt"/>
              <a:buAutoNum type="alphaLcParenR"/>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Work out the temperature that is the same in °C and °F.</a:t>
            </a:r>
          </a:p>
        </p:txBody>
      </p:sp>
      <p:sp>
        <p:nvSpPr>
          <p:cNvPr id="9" name="Rectangle 8">
            <a:extLst>
              <a:ext uri="{FF2B5EF4-FFF2-40B4-BE49-F238E27FC236}">
                <a16:creationId xmlns:a16="http://schemas.microsoft.com/office/drawing/2014/main" id="{EFB58333-DD83-8552-F1EE-25C47B777E0D}"/>
              </a:ext>
            </a:extLst>
          </p:cNvPr>
          <p:cNvSpPr/>
          <p:nvPr/>
        </p:nvSpPr>
        <p:spPr>
          <a:xfrm>
            <a:off x="462280" y="984201"/>
            <a:ext cx="6185407" cy="1144111"/>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0EAADFA-BE1B-E365-48F0-EF5088B82D60}"/>
              </a:ext>
            </a:extLst>
          </p:cNvPr>
          <p:cNvSpPr/>
          <p:nvPr/>
        </p:nvSpPr>
        <p:spPr>
          <a:xfrm>
            <a:off x="462281" y="3058230"/>
            <a:ext cx="2966720" cy="162528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E6E7933-730F-3AE7-4083-81E81C359DAA}"/>
              </a:ext>
            </a:extLst>
          </p:cNvPr>
          <p:cNvSpPr/>
          <p:nvPr/>
        </p:nvSpPr>
        <p:spPr>
          <a:xfrm>
            <a:off x="3680269" y="3058230"/>
            <a:ext cx="2966720" cy="162528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pic>
        <p:nvPicPr>
          <p:cNvPr id="12" name="Picture 11" descr="A picture containing text&#10;&#10;Description automatically generated">
            <a:extLst>
              <a:ext uri="{FF2B5EF4-FFF2-40B4-BE49-F238E27FC236}">
                <a16:creationId xmlns:a16="http://schemas.microsoft.com/office/drawing/2014/main" id="{A19A7BB8-1DC5-4A51-5ED3-6820E5BB441C}"/>
              </a:ext>
            </a:extLst>
          </p:cNvPr>
          <p:cNvPicPr>
            <a:picLocks noChangeAspect="1"/>
          </p:cNvPicPr>
          <p:nvPr/>
        </p:nvPicPr>
        <p:blipFill>
          <a:blip r:embed="rId3" cstate="print">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5115079" y="2166982"/>
            <a:ext cx="1023009" cy="318642"/>
          </a:xfrm>
          <a:prstGeom prst="rect">
            <a:avLst/>
          </a:prstGeom>
        </p:spPr>
      </p:pic>
      <p:sp>
        <p:nvSpPr>
          <p:cNvPr id="13" name="Rectangle 12">
            <a:extLst>
              <a:ext uri="{FF2B5EF4-FFF2-40B4-BE49-F238E27FC236}">
                <a16:creationId xmlns:a16="http://schemas.microsoft.com/office/drawing/2014/main" id="{BCFB9035-06D6-4FF6-8FFF-FDA0F31E199A}"/>
              </a:ext>
            </a:extLst>
          </p:cNvPr>
          <p:cNvSpPr/>
          <p:nvPr/>
        </p:nvSpPr>
        <p:spPr>
          <a:xfrm>
            <a:off x="6072231" y="4387813"/>
            <a:ext cx="574758" cy="295702"/>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632865C-F733-FD4A-F3DC-3D3E5256CBD9}"/>
              </a:ext>
            </a:extLst>
          </p:cNvPr>
          <p:cNvSpPr/>
          <p:nvPr/>
        </p:nvSpPr>
        <p:spPr>
          <a:xfrm>
            <a:off x="2857401" y="4387813"/>
            <a:ext cx="574758" cy="295702"/>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627CADC5-7C50-DAD4-3F99-7122A332478E}"/>
              </a:ext>
            </a:extLst>
          </p:cNvPr>
          <p:cNvSpPr/>
          <p:nvPr/>
        </p:nvSpPr>
        <p:spPr>
          <a:xfrm>
            <a:off x="2857401" y="1828344"/>
            <a:ext cx="3789588" cy="295702"/>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E8B25C8C-F5B0-38A4-BB87-41C07AFCDF96}"/>
              </a:ext>
            </a:extLst>
          </p:cNvPr>
          <p:cNvSpPr>
            <a:spLocks noChangeAspect="1"/>
          </p:cNvSpPr>
          <p:nvPr/>
        </p:nvSpPr>
        <p:spPr>
          <a:xfrm>
            <a:off x="88567" y="4973152"/>
            <a:ext cx="216000" cy="2160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prstClr val="white"/>
                </a:solidFill>
                <a:latin typeface="Calibri" panose="020F0502020204030204"/>
              </a:rPr>
              <a:t>9</a:t>
            </a:r>
            <a:endParaRPr kumimoji="0" lang="en-GB"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20D6006D-1AA6-31E1-BD4F-09FDC6278DB8}"/>
              </a:ext>
            </a:extLst>
          </p:cNvPr>
          <p:cNvSpPr txBox="1"/>
          <p:nvPr/>
        </p:nvSpPr>
        <p:spPr>
          <a:xfrm>
            <a:off x="304567" y="4982126"/>
            <a:ext cx="3375702"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9. CHALLENGE: Absolute zero is the lowest temperature possible. It is approximately -273.5 </a:t>
            </a:r>
            <a:r>
              <a:rPr kumimoji="0" lang="en-GB" sz="1200" b="0" i="0" u="none" strike="noStrike" kern="1200" cap="none" spc="0" normalizeH="0" baseline="30000" noProof="0" dirty="0" err="1">
                <a:ln>
                  <a:noFill/>
                </a:ln>
                <a:solidFill>
                  <a:prstClr val="black"/>
                </a:solidFill>
                <a:effectLst/>
                <a:uLnTx/>
                <a:uFillTx/>
                <a:latin typeface="Calibri" panose="020F0502020204030204"/>
                <a:ea typeface="+mn-ea"/>
                <a:cs typeface="+mn-cs"/>
              </a:rPr>
              <a:t>o</a:t>
            </a:r>
            <a:r>
              <a:rPr kumimoji="0" lang="en-GB" sz="1200" b="0" i="0" u="none" strike="noStrike" kern="1200" cap="none" spc="0" normalizeH="0" baseline="0" noProof="0" dirty="0" err="1">
                <a:ln>
                  <a:noFill/>
                </a:ln>
                <a:solidFill>
                  <a:prstClr val="black"/>
                </a:solidFill>
                <a:effectLst/>
                <a:uLnTx/>
                <a:uFillTx/>
                <a:latin typeface="Calibri" panose="020F0502020204030204"/>
                <a:ea typeface="+mn-ea"/>
                <a:cs typeface="+mn-cs"/>
              </a:rPr>
              <a:t>C.</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Use the formula in question 11 to work out absolute zero in °F. Give your answer to the nearest degree.</a:t>
            </a:r>
          </a:p>
        </p:txBody>
      </p:sp>
      <p:sp>
        <p:nvSpPr>
          <p:cNvPr id="20" name="Rectangle 19">
            <a:extLst>
              <a:ext uri="{FF2B5EF4-FFF2-40B4-BE49-F238E27FC236}">
                <a16:creationId xmlns:a16="http://schemas.microsoft.com/office/drawing/2014/main" id="{B6A8F0C2-5F79-5DDE-8A85-7779ED8023B5}"/>
              </a:ext>
            </a:extLst>
          </p:cNvPr>
          <p:cNvSpPr/>
          <p:nvPr/>
        </p:nvSpPr>
        <p:spPr>
          <a:xfrm>
            <a:off x="3802713" y="4905926"/>
            <a:ext cx="2966720" cy="162528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F0363301-FAF0-A2C5-6BCA-80937D101729}"/>
              </a:ext>
            </a:extLst>
          </p:cNvPr>
          <p:cNvSpPr/>
          <p:nvPr/>
        </p:nvSpPr>
        <p:spPr>
          <a:xfrm>
            <a:off x="6194675" y="6235509"/>
            <a:ext cx="574758" cy="295702"/>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746930AB-9B5E-5E5C-CCC2-B27BB4AE732E}"/>
              </a:ext>
            </a:extLst>
          </p:cNvPr>
          <p:cNvSpPr/>
          <p:nvPr/>
        </p:nvSpPr>
        <p:spPr>
          <a:xfrm>
            <a:off x="0" y="0"/>
            <a:ext cx="304567" cy="6972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FC95B32-40B5-2943-D278-EBF7F1E3134B}"/>
              </a:ext>
            </a:extLst>
          </p:cNvPr>
          <p:cNvSpPr/>
          <p:nvPr/>
        </p:nvSpPr>
        <p:spPr>
          <a:xfrm>
            <a:off x="13187" y="2098312"/>
            <a:ext cx="304567" cy="6972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6852E8E3-01A3-517F-28CE-ED7E35ED6285}"/>
              </a:ext>
            </a:extLst>
          </p:cNvPr>
          <p:cNvSpPr/>
          <p:nvPr/>
        </p:nvSpPr>
        <p:spPr>
          <a:xfrm>
            <a:off x="72271" y="4633485"/>
            <a:ext cx="304567" cy="6972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8" descr="A picture containing chart">
            <a:extLst>
              <a:ext uri="{FF2B5EF4-FFF2-40B4-BE49-F238E27FC236}">
                <a16:creationId xmlns:a16="http://schemas.microsoft.com/office/drawing/2014/main" id="{A23B44D1-B29A-1AF8-EC6F-48908FE49A1B}"/>
              </a:ext>
            </a:extLst>
          </p:cNvPr>
          <p:cNvPicPr>
            <a:picLocks noChangeAspect="1"/>
          </p:cNvPicPr>
          <p:nvPr/>
        </p:nvPicPr>
        <p:blipFill rotWithShape="1">
          <a:blip r:embed="rId5"/>
          <a:srcRect l="152" t="60122" r="-152" b="2422"/>
          <a:stretch/>
        </p:blipFill>
        <p:spPr>
          <a:xfrm>
            <a:off x="88567" y="7350444"/>
            <a:ext cx="6585129" cy="2029788"/>
          </a:xfrm>
          <a:prstGeom prst="rect">
            <a:avLst/>
          </a:prstGeom>
        </p:spPr>
      </p:pic>
    </p:spTree>
    <p:extLst>
      <p:ext uri="{BB962C8B-B14F-4D97-AF65-F5344CB8AC3E}">
        <p14:creationId xmlns:p14="http://schemas.microsoft.com/office/powerpoint/2010/main" val="30635412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4BFD1EF-DBB4-2249-B998-BA5834451F7D}"/>
              </a:ext>
            </a:extLst>
          </p:cNvPr>
          <p:cNvSpPr/>
          <p:nvPr/>
        </p:nvSpPr>
        <p:spPr>
          <a:xfrm>
            <a:off x="72056" y="414784"/>
            <a:ext cx="6728829" cy="14174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40A63AA0-9785-7842-8746-181CA9DC5483}"/>
              </a:ext>
            </a:extLst>
          </p:cNvPr>
          <p:cNvSpPr txBox="1"/>
          <p:nvPr/>
        </p:nvSpPr>
        <p:spPr>
          <a:xfrm>
            <a:off x="89273" y="762472"/>
            <a:ext cx="114939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4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8D99EBB3-E635-9B48-A13A-F8FC9E5CF168}"/>
              </a:ext>
            </a:extLst>
          </p:cNvPr>
          <p:cNvSpPr txBox="1"/>
          <p:nvPr/>
        </p:nvSpPr>
        <p:spPr>
          <a:xfrm>
            <a:off x="438471" y="997925"/>
            <a:ext cx="631781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1. To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multiply a decimal number by another decimal number</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2. To divide by a decimal by changing the calculation to division by an integer.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3. To answer worded questions on decimal calculations. </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48C742E-559E-184B-B2D4-43B2F774DF10}"/>
              </a:ext>
            </a:extLst>
          </p:cNvPr>
          <p:cNvSpPr txBox="1"/>
          <p:nvPr/>
        </p:nvSpPr>
        <p:spPr>
          <a:xfrm>
            <a:off x="149877" y="472802"/>
            <a:ext cx="6590100"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 </a:t>
            </a:r>
            <a:r>
              <a:rPr kumimoji="0" lang="en-GB" sz="1200" i="0" u="none" strike="noStrike" kern="1200" cap="none" spc="0" normalizeH="0" baseline="0" noProof="0">
                <a:ln>
                  <a:noFill/>
                </a:ln>
                <a:solidFill>
                  <a:prstClr val="black"/>
                </a:solidFill>
                <a:effectLst/>
                <a:uLnTx/>
                <a:uFillTx/>
                <a:latin typeface="Calibri" panose="020F0502020204030204"/>
                <a:ea typeface="+mn-ea"/>
                <a:cs typeface="+mn-cs"/>
              </a:rPr>
              <a:t>To </a:t>
            </a: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multiply and divide with decimals</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F56BA6AD-76E4-264F-9E79-1A6D05899D87}"/>
              </a:ext>
            </a:extLst>
          </p:cNvPr>
          <p:cNvSpPr txBox="1"/>
          <p:nvPr/>
        </p:nvSpPr>
        <p:spPr>
          <a:xfrm>
            <a:off x="5518745" y="894133"/>
            <a:ext cx="1221232" cy="861774"/>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prstClr val="black"/>
                </a:solidFill>
                <a:effectLst/>
                <a:uLnTx/>
                <a:uFillTx/>
                <a:latin typeface="Calibri" panose="020F0502020204030204"/>
                <a:ea typeface="+mn-ea"/>
                <a:cs typeface="+mn-cs"/>
              </a:rPr>
              <a:t>Keywords: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D</a:t>
            </a:r>
            <a:r>
              <a:rPr kumimoji="0" lang="es-ES" sz="1000" b="0" i="0" u="none" strike="noStrike" kern="1200" cap="none" spc="0" normalizeH="0" baseline="0" noProof="0" err="1">
                <a:ln>
                  <a:noFill/>
                </a:ln>
                <a:solidFill>
                  <a:prstClr val="black"/>
                </a:solidFill>
                <a:effectLst/>
                <a:uLnTx/>
                <a:uFillTx/>
                <a:latin typeface="Calibri" panose="020F0502020204030204"/>
                <a:ea typeface="+mn-ea"/>
                <a:cs typeface="+mn-cs"/>
              </a:rPr>
              <a:t>ecimal</a:t>
            </a: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place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D</a:t>
            </a:r>
            <a:r>
              <a:rPr kumimoji="0" lang="es-ES" sz="1000" b="0" i="0" u="none" strike="noStrike" kern="1200" cap="none" spc="0" normalizeH="0" baseline="0" noProof="0" err="1">
                <a:ln>
                  <a:noFill/>
                </a:ln>
                <a:solidFill>
                  <a:prstClr val="black"/>
                </a:solidFill>
                <a:effectLst/>
                <a:uLnTx/>
                <a:uFillTx/>
                <a:latin typeface="Calibri" panose="020F0502020204030204"/>
                <a:ea typeface="+mn-ea"/>
                <a:cs typeface="+mn-cs"/>
              </a:rPr>
              <a:t>ecimal</a:t>
            </a: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s-ES" sz="1000" b="0" i="0" u="none" strike="noStrike" kern="1200" cap="none" spc="0" normalizeH="0" baseline="0" noProof="0" err="1">
                <a:ln>
                  <a:noFill/>
                </a:ln>
                <a:solidFill>
                  <a:prstClr val="black"/>
                </a:solidFill>
                <a:effectLst/>
                <a:uLnTx/>
                <a:uFillTx/>
                <a:latin typeface="Calibri" panose="020F0502020204030204"/>
                <a:ea typeface="+mn-ea"/>
                <a:cs typeface="+mn-cs"/>
              </a:rPr>
              <a:t>point</a:t>
            </a:r>
            <a:endParaRPr kumimoji="0" lang="es-E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s-ES" sz="1000" b="0" i="0" u="none" strike="noStrike" kern="1200" cap="none" spc="0" normalizeH="0" baseline="0" noProof="0" err="1">
                <a:ln>
                  <a:noFill/>
                </a:ln>
                <a:solidFill>
                  <a:prstClr val="black"/>
                </a:solidFill>
                <a:effectLst/>
                <a:uLnTx/>
                <a:uFillTx/>
                <a:latin typeface="Calibri" panose="020F0502020204030204"/>
                <a:ea typeface="+mn-ea"/>
                <a:cs typeface="+mn-cs"/>
              </a:rPr>
              <a:t>Dividing</a:t>
            </a: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s-ES" sz="1000" b="0" i="0" u="none" strike="noStrike" kern="1200" cap="none" spc="0" normalizeH="0" baseline="0" noProof="0" err="1">
                <a:ln>
                  <a:noFill/>
                </a:ln>
                <a:solidFill>
                  <a:prstClr val="black"/>
                </a:solidFill>
                <a:effectLst/>
                <a:uLnTx/>
                <a:uFillTx/>
                <a:latin typeface="Calibri" panose="020F0502020204030204"/>
                <a:ea typeface="+mn-ea"/>
                <a:cs typeface="+mn-cs"/>
              </a:rPr>
              <a:t>Multiplying</a:t>
            </a:r>
            <a:r>
              <a:rPr kumimoji="0" lang="es-ES" sz="1000" b="0" i="0" u="none" strike="noStrike" kern="1200" cap="none" spc="0" normalizeH="0" baseline="0" noProof="0">
                <a:ln>
                  <a:noFill/>
                </a:ln>
                <a:solidFill>
                  <a:prstClr val="black"/>
                </a:solidFill>
                <a:effectLst/>
                <a:uLnTx/>
                <a:uFillTx/>
                <a:latin typeface="Calibri" panose="020F0502020204030204"/>
                <a:ea typeface="+mn-ea"/>
                <a:cs typeface="+mn-cs"/>
              </a:rPr>
              <a:t> </a:t>
            </a:r>
          </a:p>
        </p:txBody>
      </p:sp>
      <p:sp>
        <p:nvSpPr>
          <p:cNvPr id="13" name="Slide Number Placeholder 12"/>
          <p:cNvSpPr>
            <a:spLocks noGrp="1"/>
          </p:cNvSpPr>
          <p:nvPr>
            <p:ph type="sldNum" sz="quarter" idx="12"/>
          </p:nvPr>
        </p:nvSpPr>
        <p:spPr>
          <a:xfrm>
            <a:off x="5357836" y="9577079"/>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812F3D25-AF90-BFA2-DEE6-167627F950DD}"/>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Subtopic 7 – Multiplying and dividing decimals</a:t>
            </a:r>
          </a:p>
        </p:txBody>
      </p:sp>
      <p:graphicFrame>
        <p:nvGraphicFramePr>
          <p:cNvPr id="72" name="Table 71">
            <a:extLst>
              <a:ext uri="{FF2B5EF4-FFF2-40B4-BE49-F238E27FC236}">
                <a16:creationId xmlns:a16="http://schemas.microsoft.com/office/drawing/2014/main" id="{2B3D6E93-4C26-EDDC-58E3-C832485086DF}"/>
              </a:ext>
            </a:extLst>
          </p:cNvPr>
          <p:cNvGraphicFramePr>
            <a:graphicFrameLocks noGrp="1"/>
          </p:cNvGraphicFramePr>
          <p:nvPr/>
        </p:nvGraphicFramePr>
        <p:xfrm>
          <a:off x="1002386" y="4194307"/>
          <a:ext cx="2534231" cy="498474"/>
        </p:xfrm>
        <a:graphic>
          <a:graphicData uri="http://schemas.openxmlformats.org/drawingml/2006/table">
            <a:tbl>
              <a:tblPr/>
              <a:tblGrid>
                <a:gridCol w="687493">
                  <a:extLst>
                    <a:ext uri="{9D8B030D-6E8A-4147-A177-3AD203B41FA5}">
                      <a16:colId xmlns:a16="http://schemas.microsoft.com/office/drawing/2014/main" val="4222988301"/>
                    </a:ext>
                  </a:extLst>
                </a:gridCol>
                <a:gridCol w="1846738">
                  <a:extLst>
                    <a:ext uri="{9D8B030D-6E8A-4147-A177-3AD203B41FA5}">
                      <a16:colId xmlns:a16="http://schemas.microsoft.com/office/drawing/2014/main" val="3473966253"/>
                    </a:ext>
                  </a:extLst>
                </a:gridCol>
              </a:tblGrid>
              <a:tr h="162338">
                <a:tc>
                  <a:txBody>
                    <a:bodyPr/>
                    <a:lstStyle/>
                    <a:p>
                      <a:r>
                        <a:rPr lang="en-GB" sz="1000">
                          <a:solidFill>
                            <a:schemeClr val="bg1"/>
                          </a:solidFill>
                          <a:effectLst/>
                          <a:latin typeface="Calibri" panose="020F0502020204030204" pitchFamily="34" charset="0"/>
                          <a:cs typeface="Calibri" panose="020F0502020204030204" pitchFamily="34" charset="0"/>
                        </a:rPr>
                        <a:t>1 × 20 = 20</a:t>
                      </a:r>
                    </a:p>
                  </a:txBody>
                  <a:tcPr marL="6879" marR="6879" marT="6879" marB="6879" anchor="ctr">
                    <a:lnL>
                      <a:noFill/>
                    </a:lnL>
                    <a:lnR>
                      <a:noFill/>
                    </a:lnR>
                    <a:lnT>
                      <a:noFill/>
                    </a:lnT>
                    <a:lnB>
                      <a:noFill/>
                    </a:lnB>
                    <a:noFill/>
                  </a:tcPr>
                </a:tc>
                <a:tc>
                  <a:txBody>
                    <a:bodyPr/>
                    <a:lstStyle/>
                    <a:p>
                      <a:r>
                        <a:rPr lang="en-GB" sz="1000">
                          <a:solidFill>
                            <a:schemeClr val="bg1"/>
                          </a:solidFill>
                          <a:effectLst/>
                          <a:latin typeface="Calibri" panose="020F0502020204030204" pitchFamily="34" charset="0"/>
                          <a:cs typeface="Calibri" panose="020F0502020204030204" pitchFamily="34" charset="0"/>
                        </a:rPr>
                        <a:t>so 1 and 20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1154864005"/>
                  </a:ext>
                </a:extLst>
              </a:tr>
              <a:tr h="162338">
                <a:tc>
                  <a:txBody>
                    <a:bodyPr/>
                    <a:lstStyle/>
                    <a:p>
                      <a:r>
                        <a:rPr lang="en-GB" sz="1000">
                          <a:solidFill>
                            <a:schemeClr val="bg1"/>
                          </a:solidFill>
                          <a:effectLst/>
                          <a:latin typeface="Calibri" panose="020F0502020204030204" pitchFamily="34" charset="0"/>
                          <a:cs typeface="Calibri" panose="020F0502020204030204" pitchFamily="34" charset="0"/>
                        </a:rPr>
                        <a:t>2 × 10 = 20</a:t>
                      </a:r>
                    </a:p>
                  </a:txBody>
                  <a:tcPr marL="6879" marR="6879" marT="6879" marB="6879" anchor="ctr">
                    <a:lnL>
                      <a:noFill/>
                    </a:lnL>
                    <a:lnR>
                      <a:noFill/>
                    </a:lnR>
                    <a:lnT>
                      <a:noFill/>
                    </a:lnT>
                    <a:lnB>
                      <a:noFill/>
                    </a:lnB>
                    <a:noFill/>
                  </a:tcPr>
                </a:tc>
                <a:tc>
                  <a:txBody>
                    <a:bodyPr/>
                    <a:lstStyle/>
                    <a:p>
                      <a:r>
                        <a:rPr lang="en-GB" sz="1000">
                          <a:solidFill>
                            <a:schemeClr val="bg1"/>
                          </a:solidFill>
                          <a:effectLst/>
                          <a:latin typeface="Calibri" panose="020F0502020204030204" pitchFamily="34" charset="0"/>
                          <a:cs typeface="Calibri" panose="020F0502020204030204" pitchFamily="34" charset="0"/>
                        </a:rPr>
                        <a:t>so 2 and 10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1006170939"/>
                  </a:ext>
                </a:extLst>
              </a:tr>
              <a:tr h="162338">
                <a:tc>
                  <a:txBody>
                    <a:bodyPr/>
                    <a:lstStyle/>
                    <a:p>
                      <a:r>
                        <a:rPr lang="en-GB" sz="1000">
                          <a:solidFill>
                            <a:schemeClr val="bg1"/>
                          </a:solidFill>
                          <a:effectLst/>
                          <a:latin typeface="Calibri" panose="020F0502020204030204" pitchFamily="34" charset="0"/>
                          <a:cs typeface="Calibri" panose="020F0502020204030204" pitchFamily="34" charset="0"/>
                        </a:rPr>
                        <a:t>4 × 5 = 20</a:t>
                      </a:r>
                    </a:p>
                  </a:txBody>
                  <a:tcPr marL="6879" marR="6879" marT="6879" marB="6879" anchor="ctr">
                    <a:lnL>
                      <a:noFill/>
                    </a:lnL>
                    <a:lnR>
                      <a:noFill/>
                    </a:lnR>
                    <a:lnT>
                      <a:noFill/>
                    </a:lnT>
                    <a:lnB>
                      <a:noFill/>
                    </a:lnB>
                    <a:noFill/>
                  </a:tcPr>
                </a:tc>
                <a:tc>
                  <a:txBody>
                    <a:bodyPr/>
                    <a:lstStyle/>
                    <a:p>
                      <a:r>
                        <a:rPr lang="en-GB" sz="1000">
                          <a:solidFill>
                            <a:schemeClr val="bg1"/>
                          </a:solidFill>
                          <a:effectLst/>
                          <a:latin typeface="Calibri" panose="020F0502020204030204" pitchFamily="34" charset="0"/>
                          <a:cs typeface="Calibri" panose="020F0502020204030204" pitchFamily="34" charset="0"/>
                        </a:rPr>
                        <a:t>so 4 and 5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2319069970"/>
                  </a:ext>
                </a:extLst>
              </a:tr>
            </a:tbl>
          </a:graphicData>
        </a:graphic>
      </p:graphicFrame>
      <p:cxnSp>
        <p:nvCxnSpPr>
          <p:cNvPr id="73" name="Straight Connector 72">
            <a:extLst>
              <a:ext uri="{FF2B5EF4-FFF2-40B4-BE49-F238E27FC236}">
                <a16:creationId xmlns:a16="http://schemas.microsoft.com/office/drawing/2014/main" id="{8CCB804D-01E1-75AC-62E3-E614EAE49BCE}"/>
              </a:ext>
            </a:extLst>
          </p:cNvPr>
          <p:cNvCxnSpPr/>
          <p:nvPr/>
        </p:nvCxnSpPr>
        <p:spPr>
          <a:xfrm flipV="1">
            <a:off x="906114" y="4103621"/>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187FFDA2-35BB-648F-63BE-443CAE7E004B}"/>
              </a:ext>
            </a:extLst>
          </p:cNvPr>
          <p:cNvSpPr/>
          <p:nvPr/>
        </p:nvSpPr>
        <p:spPr>
          <a:xfrm>
            <a:off x="89273" y="1915120"/>
            <a:ext cx="6699219" cy="3048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5" name="Straight Connector 74">
            <a:extLst>
              <a:ext uri="{FF2B5EF4-FFF2-40B4-BE49-F238E27FC236}">
                <a16:creationId xmlns:a16="http://schemas.microsoft.com/office/drawing/2014/main" id="{17CE8A2A-F99E-1AB6-2C42-146EDD941E70}"/>
              </a:ext>
            </a:extLst>
          </p:cNvPr>
          <p:cNvCxnSpPr>
            <a:cxnSpLocks/>
          </p:cNvCxnSpPr>
          <p:nvPr/>
        </p:nvCxnSpPr>
        <p:spPr>
          <a:xfrm>
            <a:off x="60106" y="3288768"/>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76" name="Straight Connector 75">
            <a:extLst>
              <a:ext uri="{FF2B5EF4-FFF2-40B4-BE49-F238E27FC236}">
                <a16:creationId xmlns:a16="http://schemas.microsoft.com/office/drawing/2014/main" id="{8617D9CD-9E60-5AF6-E6E3-5F59871F09D0}"/>
              </a:ext>
            </a:extLst>
          </p:cNvPr>
          <p:cNvCxnSpPr>
            <a:cxnSpLocks/>
            <a:stCxn id="74" idx="2"/>
            <a:endCxn id="74" idx="0"/>
          </p:cNvCxnSpPr>
          <p:nvPr/>
        </p:nvCxnSpPr>
        <p:spPr>
          <a:xfrm flipV="1">
            <a:off x="3438883" y="1915120"/>
            <a:ext cx="0" cy="3048000"/>
          </a:xfrm>
          <a:prstGeom prst="line">
            <a:avLst/>
          </a:prstGeom>
        </p:spPr>
        <p:style>
          <a:lnRef idx="1">
            <a:schemeClr val="dk1"/>
          </a:lnRef>
          <a:fillRef idx="0">
            <a:schemeClr val="dk1"/>
          </a:fillRef>
          <a:effectRef idx="0">
            <a:schemeClr val="dk1"/>
          </a:effectRef>
          <a:fontRef idx="minor">
            <a:schemeClr val="tx1"/>
          </a:fontRef>
        </p:style>
      </p:cxnSp>
      <p:sp>
        <p:nvSpPr>
          <p:cNvPr id="77" name="TextBox 76">
            <a:extLst>
              <a:ext uri="{FF2B5EF4-FFF2-40B4-BE49-F238E27FC236}">
                <a16:creationId xmlns:a16="http://schemas.microsoft.com/office/drawing/2014/main" id="{D3ADA8AB-7A59-4961-41B3-F53BD72A9C69}"/>
              </a:ext>
            </a:extLst>
          </p:cNvPr>
          <p:cNvSpPr txBox="1"/>
          <p:nvPr/>
        </p:nvSpPr>
        <p:spPr>
          <a:xfrm>
            <a:off x="98355" y="1890243"/>
            <a:ext cx="824713" cy="461665"/>
          </a:xfrm>
          <a:prstGeom prst="rect">
            <a:avLst/>
          </a:prstGeom>
          <a:noFill/>
        </p:spPr>
        <p:txBody>
          <a:bodyPr wrap="none" rtlCol="0">
            <a:spAutoFit/>
          </a:bodyPr>
          <a:lstStyle/>
          <a:p>
            <a:r>
              <a:rPr lang="en-US" sz="1200" b="1"/>
              <a:t>Definition</a:t>
            </a:r>
          </a:p>
          <a:p>
            <a:endParaRPr lang="en-US" sz="1200"/>
          </a:p>
        </p:txBody>
      </p:sp>
      <p:sp>
        <p:nvSpPr>
          <p:cNvPr id="78" name="TextBox 77">
            <a:extLst>
              <a:ext uri="{FF2B5EF4-FFF2-40B4-BE49-F238E27FC236}">
                <a16:creationId xmlns:a16="http://schemas.microsoft.com/office/drawing/2014/main" id="{E21AC51E-D01F-2E67-DA75-A826BBB22E1D}"/>
              </a:ext>
            </a:extLst>
          </p:cNvPr>
          <p:cNvSpPr txBox="1"/>
          <p:nvPr/>
        </p:nvSpPr>
        <p:spPr>
          <a:xfrm>
            <a:off x="5728650" y="1921693"/>
            <a:ext cx="1112228" cy="276999"/>
          </a:xfrm>
          <a:prstGeom prst="rect">
            <a:avLst/>
          </a:prstGeom>
          <a:noFill/>
        </p:spPr>
        <p:txBody>
          <a:bodyPr wrap="none" rtlCol="0">
            <a:spAutoFit/>
          </a:bodyPr>
          <a:lstStyle/>
          <a:p>
            <a:r>
              <a:rPr lang="en-US" sz="1200" b="1"/>
              <a:t>Characteristics</a:t>
            </a:r>
            <a:endParaRPr lang="en-GB" sz="1200" b="1"/>
          </a:p>
        </p:txBody>
      </p:sp>
      <p:sp>
        <p:nvSpPr>
          <p:cNvPr id="79" name="TextBox 78">
            <a:extLst>
              <a:ext uri="{FF2B5EF4-FFF2-40B4-BE49-F238E27FC236}">
                <a16:creationId xmlns:a16="http://schemas.microsoft.com/office/drawing/2014/main" id="{F4E05FF1-E08A-2954-F5DF-B503C79D8422}"/>
              </a:ext>
            </a:extLst>
          </p:cNvPr>
          <p:cNvSpPr txBox="1"/>
          <p:nvPr/>
        </p:nvSpPr>
        <p:spPr>
          <a:xfrm>
            <a:off x="84972" y="3319361"/>
            <a:ext cx="788164" cy="276999"/>
          </a:xfrm>
          <a:prstGeom prst="rect">
            <a:avLst/>
          </a:prstGeom>
          <a:noFill/>
        </p:spPr>
        <p:txBody>
          <a:bodyPr wrap="none" rtlCol="0">
            <a:spAutoFit/>
          </a:bodyPr>
          <a:lstStyle/>
          <a:p>
            <a:r>
              <a:rPr lang="en-US" sz="1200" b="1"/>
              <a:t>Examples</a:t>
            </a:r>
            <a:endParaRPr lang="en-GB" sz="1200" b="1"/>
          </a:p>
        </p:txBody>
      </p:sp>
      <p:sp>
        <p:nvSpPr>
          <p:cNvPr id="80" name="TextBox 79">
            <a:extLst>
              <a:ext uri="{FF2B5EF4-FFF2-40B4-BE49-F238E27FC236}">
                <a16:creationId xmlns:a16="http://schemas.microsoft.com/office/drawing/2014/main" id="{6A8D3DCD-08AE-CE95-AF69-C5D8C348E351}"/>
              </a:ext>
            </a:extLst>
          </p:cNvPr>
          <p:cNvSpPr txBox="1"/>
          <p:nvPr/>
        </p:nvSpPr>
        <p:spPr>
          <a:xfrm>
            <a:off x="5667993" y="3294436"/>
            <a:ext cx="1172885" cy="276999"/>
          </a:xfrm>
          <a:prstGeom prst="rect">
            <a:avLst/>
          </a:prstGeom>
          <a:noFill/>
        </p:spPr>
        <p:txBody>
          <a:bodyPr wrap="none" rtlCol="0">
            <a:spAutoFit/>
          </a:bodyPr>
          <a:lstStyle/>
          <a:p>
            <a:r>
              <a:rPr lang="en-US" sz="1200" b="1"/>
              <a:t>Non - Examples</a:t>
            </a:r>
            <a:endParaRPr lang="en-GB" sz="1200" b="1"/>
          </a:p>
        </p:txBody>
      </p:sp>
      <p:sp>
        <p:nvSpPr>
          <p:cNvPr id="81" name="TextBox 80">
            <a:extLst>
              <a:ext uri="{FF2B5EF4-FFF2-40B4-BE49-F238E27FC236}">
                <a16:creationId xmlns:a16="http://schemas.microsoft.com/office/drawing/2014/main" id="{159E91EA-3F9E-BEF3-9665-98F75E698FA5}"/>
              </a:ext>
            </a:extLst>
          </p:cNvPr>
          <p:cNvSpPr txBox="1"/>
          <p:nvPr/>
        </p:nvSpPr>
        <p:spPr>
          <a:xfrm>
            <a:off x="199454" y="2189060"/>
            <a:ext cx="3230335" cy="1200329"/>
          </a:xfrm>
          <a:prstGeom prst="rect">
            <a:avLst/>
          </a:prstGeom>
          <a:noFill/>
        </p:spPr>
        <p:txBody>
          <a:bodyPr wrap="square" rtlCol="0">
            <a:spAutoFit/>
          </a:bodyPr>
          <a:lstStyle/>
          <a:p>
            <a:r>
              <a:rPr lang="en-GB" sz="1200"/>
              <a:t>A decimal is a number that is not whole, as it lies between whole numbers.</a:t>
            </a:r>
          </a:p>
          <a:p>
            <a:r>
              <a:rPr lang="en-US" sz="1200"/>
              <a:t>Consists of a whole and a fraction part.</a:t>
            </a:r>
          </a:p>
          <a:p>
            <a:r>
              <a:rPr lang="en-US" sz="1200"/>
              <a:t>The fractional part is written as digits after a point rather than a fraction.</a:t>
            </a:r>
          </a:p>
          <a:p>
            <a:endParaRPr lang="en-US" sz="1200"/>
          </a:p>
        </p:txBody>
      </p:sp>
      <p:sp>
        <p:nvSpPr>
          <p:cNvPr id="82" name="TextBox 81">
            <a:extLst>
              <a:ext uri="{FF2B5EF4-FFF2-40B4-BE49-F238E27FC236}">
                <a16:creationId xmlns:a16="http://schemas.microsoft.com/office/drawing/2014/main" id="{466E6A69-7ED9-EA10-7EA8-771108388EF9}"/>
              </a:ext>
            </a:extLst>
          </p:cNvPr>
          <p:cNvSpPr txBox="1"/>
          <p:nvPr/>
        </p:nvSpPr>
        <p:spPr>
          <a:xfrm>
            <a:off x="3494116" y="2203244"/>
            <a:ext cx="3230335" cy="830997"/>
          </a:xfrm>
          <a:prstGeom prst="rect">
            <a:avLst/>
          </a:prstGeom>
          <a:noFill/>
        </p:spPr>
        <p:txBody>
          <a:bodyPr wrap="square" rtlCol="0">
            <a:spAutoFit/>
          </a:bodyPr>
          <a:lstStyle/>
          <a:p>
            <a:pPr marL="171450" indent="-171450">
              <a:buFont typeface="Arial" panose="020B0604020202020204" pitchFamily="34" charset="0"/>
              <a:buChar char="•"/>
            </a:pPr>
            <a:r>
              <a:rPr lang="en-US" sz="1200"/>
              <a:t>The whole and fraction parts are separated by a point called the decimal point.</a:t>
            </a:r>
          </a:p>
          <a:p>
            <a:pPr marL="171450" indent="-171450">
              <a:buFont typeface="Arial" panose="020B0604020202020204" pitchFamily="34" charset="0"/>
              <a:buChar char="•"/>
            </a:pPr>
            <a:r>
              <a:rPr lang="en-GB" sz="1200">
                <a:effectLst/>
                <a:ea typeface="Calibri" panose="020F0502020204030204" pitchFamily="34" charset="0"/>
                <a:cs typeface="Times New Roman" panose="02020603050405020304" pitchFamily="18" charset="0"/>
              </a:rPr>
              <a:t>Can be terminating or recurring.</a:t>
            </a:r>
          </a:p>
          <a:p>
            <a:pPr marL="171450" indent="-171450">
              <a:buFont typeface="Arial" panose="020B0604020202020204" pitchFamily="34" charset="0"/>
              <a:buChar char="•"/>
            </a:pPr>
            <a:endParaRPr lang="en-US" sz="1200">
              <a:solidFill>
                <a:srgbClr val="FF0000"/>
              </a:solidFill>
            </a:endParaRPr>
          </a:p>
        </p:txBody>
      </p:sp>
      <p:sp>
        <p:nvSpPr>
          <p:cNvPr id="83" name="TextBox 82">
            <a:extLst>
              <a:ext uri="{FF2B5EF4-FFF2-40B4-BE49-F238E27FC236}">
                <a16:creationId xmlns:a16="http://schemas.microsoft.com/office/drawing/2014/main" id="{65BB2CCE-608C-A011-DDC5-07B283891240}"/>
              </a:ext>
            </a:extLst>
          </p:cNvPr>
          <p:cNvSpPr txBox="1"/>
          <p:nvPr/>
        </p:nvSpPr>
        <p:spPr>
          <a:xfrm>
            <a:off x="2928848" y="3139218"/>
            <a:ext cx="1172885" cy="369332"/>
          </a:xfrm>
          <a:prstGeom prst="rect">
            <a:avLst/>
          </a:prstGeom>
          <a:solidFill>
            <a:schemeClr val="bg1"/>
          </a:solidFill>
          <a:ln>
            <a:solidFill>
              <a:schemeClr val="tx1"/>
            </a:solidFill>
          </a:ln>
        </p:spPr>
        <p:txBody>
          <a:bodyPr wrap="square" rtlCol="0">
            <a:spAutoFit/>
          </a:bodyPr>
          <a:lstStyle/>
          <a:p>
            <a:pPr algn="ctr"/>
            <a:r>
              <a:rPr lang="en-US"/>
              <a:t>Decimal</a:t>
            </a:r>
            <a:endParaRPr lang="en-GB"/>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BB91D71A-BE7B-5040-D485-75F492394991}"/>
                  </a:ext>
                </a:extLst>
              </p:cNvPr>
              <p:cNvSpPr txBox="1"/>
              <p:nvPr/>
            </p:nvSpPr>
            <p:spPr>
              <a:xfrm>
                <a:off x="3411823" y="3598466"/>
                <a:ext cx="3230335" cy="856966"/>
              </a:xfrm>
              <a:prstGeom prst="rect">
                <a:avLst/>
              </a:prstGeom>
              <a:noFill/>
            </p:spPr>
            <p:txBody>
              <a:bodyPr wrap="square" rtlCol="0">
                <a:spAutoFit/>
              </a:bodyPr>
              <a:lstStyle/>
              <a:p>
                <a:endParaRPr lang="en-US" sz="1200">
                  <a:solidFill>
                    <a:srgbClr val="FF0000"/>
                  </a:solidFill>
                </a:endParaRPr>
              </a:p>
              <a:p>
                <a:r>
                  <a:rPr lang="en-US" sz="1200"/>
                  <a:t>1.3           </a:t>
                </a:r>
                <a:r>
                  <a:rPr lang="en-GB" sz="1200"/>
                  <a:t>         </a:t>
                </a:r>
                <a14:m>
                  <m:oMath xmlns:m="http://schemas.openxmlformats.org/officeDocument/2006/math">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2</m:t>
                        </m:r>
                      </m:e>
                    </m:rad>
                  </m:oMath>
                </a14:m>
                <a:endParaRPr lang="en-US" sz="1200"/>
              </a:p>
              <a:p>
                <a:r>
                  <a:rPr lang="en-US" sz="1200"/>
                  <a:t> 10</a:t>
                </a:r>
              </a:p>
              <a:p>
                <a:pPr marL="171450" indent="-171450">
                  <a:buFont typeface="Arial" panose="020B0604020202020204" pitchFamily="34" charset="0"/>
                  <a:buChar char="•"/>
                </a:pPr>
                <a:endParaRPr lang="en-US" sz="1200">
                  <a:solidFill>
                    <a:srgbClr val="FF0000"/>
                  </a:solidFill>
                </a:endParaRPr>
              </a:p>
            </p:txBody>
          </p:sp>
        </mc:Choice>
        <mc:Fallback xmlns="">
          <p:sp>
            <p:nvSpPr>
              <p:cNvPr id="84" name="TextBox 83">
                <a:extLst>
                  <a:ext uri="{FF2B5EF4-FFF2-40B4-BE49-F238E27FC236}">
                    <a16:creationId xmlns:a16="http://schemas.microsoft.com/office/drawing/2014/main" id="{BB91D71A-BE7B-5040-D485-75F492394991}"/>
                  </a:ext>
                </a:extLst>
              </p:cNvPr>
              <p:cNvSpPr txBox="1">
                <a:spLocks noRot="1" noChangeAspect="1" noMove="1" noResize="1" noEditPoints="1" noAdjustHandles="1" noChangeArrowheads="1" noChangeShapeType="1" noTextEdit="1"/>
              </p:cNvSpPr>
              <p:nvPr/>
            </p:nvSpPr>
            <p:spPr>
              <a:xfrm>
                <a:off x="3411823" y="3598466"/>
                <a:ext cx="3230335" cy="856966"/>
              </a:xfrm>
              <a:prstGeom prst="rect">
                <a:avLst/>
              </a:prstGeom>
              <a:blipFill>
                <a:blip r:embed="rId3"/>
                <a:stretch>
                  <a:fillRect l="-189"/>
                </a:stretch>
              </a:blipFill>
            </p:spPr>
            <p:txBody>
              <a:bodyPr/>
              <a:lstStyle/>
              <a:p>
                <a:r>
                  <a:rPr lang="en-US">
                    <a:noFill/>
                  </a:rPr>
                  <a:t> </a:t>
                </a:r>
              </a:p>
            </p:txBody>
          </p:sp>
        </mc:Fallback>
      </mc:AlternateContent>
      <p:cxnSp>
        <p:nvCxnSpPr>
          <p:cNvPr id="85" name="Straight Connector 84">
            <a:extLst>
              <a:ext uri="{FF2B5EF4-FFF2-40B4-BE49-F238E27FC236}">
                <a16:creationId xmlns:a16="http://schemas.microsoft.com/office/drawing/2014/main" id="{6E9C56C1-B796-5B0C-3F5F-4A9F5B1911B7}"/>
              </a:ext>
            </a:extLst>
          </p:cNvPr>
          <p:cNvCxnSpPr>
            <a:cxnSpLocks/>
          </p:cNvCxnSpPr>
          <p:nvPr/>
        </p:nvCxnSpPr>
        <p:spPr>
          <a:xfrm flipV="1">
            <a:off x="3425758" y="4010638"/>
            <a:ext cx="337519" cy="3326"/>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222BA28D-1EEF-A4DC-05B8-791F1FDDC4F0}"/>
                  </a:ext>
                </a:extLst>
              </p:cNvPr>
              <p:cNvSpPr txBox="1"/>
              <p:nvPr/>
            </p:nvSpPr>
            <p:spPr>
              <a:xfrm>
                <a:off x="4635789" y="3438807"/>
                <a:ext cx="842456" cy="8085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b="0" i="1" dirty="0" smtClean="0">
                          <a:solidFill>
                            <a:schemeClr val="tx1"/>
                          </a:solidFill>
                          <a:latin typeface="Cambria Math" panose="02040503050406030204" pitchFamily="18" charset="0"/>
                        </a:rPr>
                        <m:t>38</m:t>
                      </m:r>
                    </m:oMath>
                  </m:oMathPara>
                </a14:m>
                <a:endParaRPr lang="en-GB" sz="1200" b="0">
                  <a:solidFill>
                    <a:schemeClr val="tx1"/>
                  </a:solidFill>
                </a:endParaRPr>
              </a:p>
              <a:p>
                <a:endParaRPr lang="en-US" sz="1200">
                  <a:solidFill>
                    <a:schemeClr val="tx1"/>
                  </a:solidFill>
                </a:endParaRPr>
              </a:p>
              <a:p>
                <a:pPr/>
                <a14:m>
                  <m:oMathPara xmlns:m="http://schemas.openxmlformats.org/officeDocument/2006/math">
                    <m:oMathParaPr>
                      <m:jc m:val="centerGroup"/>
                    </m:oMathParaPr>
                    <m:oMath xmlns:m="http://schemas.openxmlformats.org/officeDocument/2006/math">
                      <m:r>
                        <a:rPr lang="en-GB" sz="1200" i="1">
                          <a:solidFill>
                            <a:schemeClr val="tx1"/>
                          </a:solidFill>
                          <a:latin typeface="Cambria Math" panose="02040503050406030204" pitchFamily="18" charset="0"/>
                        </a:rPr>
                        <m:t>1</m:t>
                      </m:r>
                      <m:f>
                        <m:fPr>
                          <m:ctrlPr>
                            <a:rPr lang="en-GB" sz="1200" b="0" i="1" smtClean="0">
                              <a:solidFill>
                                <a:schemeClr val="tx1"/>
                              </a:solidFill>
                              <a:latin typeface="Cambria Math" panose="02040503050406030204" pitchFamily="18" charset="0"/>
                            </a:rPr>
                          </m:ctrlPr>
                        </m:fPr>
                        <m:num>
                          <m:r>
                            <a:rPr lang="en-GB" sz="1200" b="0" i="1" smtClean="0">
                              <a:solidFill>
                                <a:schemeClr val="tx1"/>
                              </a:solidFill>
                              <a:latin typeface="Cambria Math" panose="02040503050406030204" pitchFamily="18" charset="0"/>
                            </a:rPr>
                            <m:t>2</m:t>
                          </m:r>
                        </m:num>
                        <m:den>
                          <m:r>
                            <a:rPr lang="en-GB" sz="1200" b="0" i="1" smtClean="0">
                              <a:solidFill>
                                <a:schemeClr val="tx1"/>
                              </a:solidFill>
                              <a:latin typeface="Cambria Math" panose="02040503050406030204" pitchFamily="18" charset="0"/>
                            </a:rPr>
                            <m:t>3</m:t>
                          </m:r>
                        </m:den>
                      </m:f>
                      <m:r>
                        <a:rPr lang="en-GB" sz="1200" b="0" i="1" smtClean="0">
                          <a:solidFill>
                            <a:schemeClr val="tx1"/>
                          </a:solidFill>
                          <a:latin typeface="Cambria Math" panose="02040503050406030204" pitchFamily="18" charset="0"/>
                        </a:rPr>
                        <m:t>  </m:t>
                      </m:r>
                    </m:oMath>
                  </m:oMathPara>
                </a14:m>
                <a:endParaRPr lang="en-US" sz="1200">
                  <a:solidFill>
                    <a:schemeClr val="tx1"/>
                  </a:solidFill>
                </a:endParaRPr>
              </a:p>
            </p:txBody>
          </p:sp>
        </mc:Choice>
        <mc:Fallback xmlns="">
          <p:sp>
            <p:nvSpPr>
              <p:cNvPr id="86" name="TextBox 85">
                <a:extLst>
                  <a:ext uri="{FF2B5EF4-FFF2-40B4-BE49-F238E27FC236}">
                    <a16:creationId xmlns:a16="http://schemas.microsoft.com/office/drawing/2014/main" id="{222BA28D-1EEF-A4DC-05B8-791F1FDDC4F0}"/>
                  </a:ext>
                </a:extLst>
              </p:cNvPr>
              <p:cNvSpPr txBox="1">
                <a:spLocks noRot="1" noChangeAspect="1" noMove="1" noResize="1" noEditPoints="1" noAdjustHandles="1" noChangeArrowheads="1" noChangeShapeType="1" noTextEdit="1"/>
              </p:cNvSpPr>
              <p:nvPr/>
            </p:nvSpPr>
            <p:spPr>
              <a:xfrm>
                <a:off x="4635789" y="3438807"/>
                <a:ext cx="842456" cy="808555"/>
              </a:xfrm>
              <a:prstGeom prst="rect">
                <a:avLst/>
              </a:prstGeom>
              <a:blipFill>
                <a:blip r:embed="rId4"/>
                <a:stretch>
                  <a:fillRect/>
                </a:stretch>
              </a:blipFill>
            </p:spPr>
            <p:txBody>
              <a:bodyPr/>
              <a:lstStyle/>
              <a:p>
                <a:r>
                  <a:rPr lang="en-US">
                    <a:noFill/>
                  </a:rPr>
                  <a:t> </a:t>
                </a:r>
              </a:p>
            </p:txBody>
          </p:sp>
        </mc:Fallback>
      </mc:AlternateContent>
      <p:sp>
        <p:nvSpPr>
          <p:cNvPr id="87" name="TextBox 86">
            <a:extLst>
              <a:ext uri="{FF2B5EF4-FFF2-40B4-BE49-F238E27FC236}">
                <a16:creationId xmlns:a16="http://schemas.microsoft.com/office/drawing/2014/main" id="{5CF39C44-D9CC-D482-E5E6-A61B47A8DF9D}"/>
              </a:ext>
            </a:extLst>
          </p:cNvPr>
          <p:cNvSpPr txBox="1"/>
          <p:nvPr/>
        </p:nvSpPr>
        <p:spPr>
          <a:xfrm>
            <a:off x="6161549" y="3735114"/>
            <a:ext cx="842456" cy="461665"/>
          </a:xfrm>
          <a:prstGeom prst="rect">
            <a:avLst/>
          </a:prstGeom>
          <a:noFill/>
        </p:spPr>
        <p:txBody>
          <a:bodyPr wrap="square" rtlCol="0">
            <a:spAutoFit/>
          </a:bodyPr>
          <a:lstStyle/>
          <a:p>
            <a:endParaRPr lang="en-US" sz="1200"/>
          </a:p>
          <a:p>
            <a:r>
              <a:rPr lang="en-US" sz="1200"/>
              <a:t>240</a:t>
            </a:r>
          </a:p>
        </p:txBody>
      </p: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4196F47C-F1BD-B59C-044F-54ECCF46F87C}"/>
                  </a:ext>
                </a:extLst>
              </p:cNvPr>
              <p:cNvSpPr txBox="1"/>
              <p:nvPr/>
            </p:nvSpPr>
            <p:spPr>
              <a:xfrm>
                <a:off x="5411980" y="3442696"/>
                <a:ext cx="842456" cy="623248"/>
              </a:xfrm>
              <a:prstGeom prst="rect">
                <a:avLst/>
              </a:prstGeom>
              <a:noFill/>
            </p:spPr>
            <p:txBody>
              <a:bodyPr wrap="square" rtlCol="0">
                <a:spAutoFit/>
              </a:bodyPr>
              <a:lstStyle/>
              <a:p>
                <a:endParaRPr lang="en-US" sz="1200">
                  <a:solidFill>
                    <a:schemeClr val="tx1"/>
                  </a:solidFill>
                </a:endParaRPr>
              </a:p>
              <a:p>
                <a:pPr/>
                <a14:m>
                  <m:oMathPara xmlns:m="http://schemas.openxmlformats.org/officeDocument/2006/math">
                    <m:oMathParaPr>
                      <m:jc m:val="centerGroup"/>
                    </m:oMathParaPr>
                    <m:oMath xmlns:m="http://schemas.openxmlformats.org/officeDocument/2006/math">
                      <m:f>
                        <m:fPr>
                          <m:ctrlPr>
                            <a:rPr lang="en-GB" sz="1200" b="0" i="1" smtClean="0">
                              <a:solidFill>
                                <a:schemeClr val="tx1"/>
                              </a:solidFill>
                              <a:latin typeface="Cambria Math" panose="02040503050406030204" pitchFamily="18" charset="0"/>
                            </a:rPr>
                          </m:ctrlPr>
                        </m:fPr>
                        <m:num>
                          <m:r>
                            <a:rPr lang="en-GB" sz="1200" i="1" smtClean="0">
                              <a:solidFill>
                                <a:schemeClr val="tx1"/>
                              </a:solidFill>
                              <a:latin typeface="Cambria Math" panose="02040503050406030204" pitchFamily="18" charset="0"/>
                            </a:rPr>
                            <m:t>4</m:t>
                          </m:r>
                        </m:num>
                        <m:den>
                          <m:r>
                            <a:rPr lang="en-GB" sz="1200" b="0" i="1" smtClean="0">
                              <a:solidFill>
                                <a:schemeClr val="tx1"/>
                              </a:solidFill>
                              <a:latin typeface="Cambria Math" panose="02040503050406030204" pitchFamily="18" charset="0"/>
                            </a:rPr>
                            <m:t>5</m:t>
                          </m:r>
                        </m:den>
                      </m:f>
                    </m:oMath>
                  </m:oMathPara>
                </a14:m>
                <a:endParaRPr lang="en-US" sz="1200">
                  <a:solidFill>
                    <a:schemeClr val="tx1"/>
                  </a:solidFill>
                </a:endParaRPr>
              </a:p>
            </p:txBody>
          </p:sp>
        </mc:Choice>
        <mc:Fallback xmlns="">
          <p:sp>
            <p:nvSpPr>
              <p:cNvPr id="88" name="TextBox 87">
                <a:extLst>
                  <a:ext uri="{FF2B5EF4-FFF2-40B4-BE49-F238E27FC236}">
                    <a16:creationId xmlns:a16="http://schemas.microsoft.com/office/drawing/2014/main" id="{4196F47C-F1BD-B59C-044F-54ECCF46F87C}"/>
                  </a:ext>
                </a:extLst>
              </p:cNvPr>
              <p:cNvSpPr txBox="1">
                <a:spLocks noRot="1" noChangeAspect="1" noMove="1" noResize="1" noEditPoints="1" noAdjustHandles="1" noChangeArrowheads="1" noChangeShapeType="1" noTextEdit="1"/>
              </p:cNvSpPr>
              <p:nvPr/>
            </p:nvSpPr>
            <p:spPr>
              <a:xfrm>
                <a:off x="5411980" y="3442696"/>
                <a:ext cx="842456" cy="623248"/>
              </a:xfrm>
              <a:prstGeom prst="rect">
                <a:avLst/>
              </a:prstGeom>
              <a:blipFill>
                <a:blip r:embed="rId5"/>
                <a:stretch>
                  <a:fillRect b="-9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0494DBA1-3E5B-2039-5D24-CA99467CE34B}"/>
                  </a:ext>
                </a:extLst>
              </p:cNvPr>
              <p:cNvSpPr txBox="1"/>
              <p:nvPr/>
            </p:nvSpPr>
            <p:spPr>
              <a:xfrm>
                <a:off x="165968" y="3627033"/>
                <a:ext cx="4909650" cy="1302601"/>
              </a:xfrm>
              <a:prstGeom prst="rect">
                <a:avLst/>
              </a:prstGeom>
              <a:noFill/>
            </p:spPr>
            <p:txBody>
              <a:bodyPr wrap="square" rtlCol="0">
                <a:spAutoFit/>
              </a:bodyPr>
              <a:lstStyle/>
              <a:p>
                <a:pPr>
                  <a:lnSpc>
                    <a:spcPct val="150000"/>
                  </a:lnSpc>
                  <a:spcAft>
                    <a:spcPts val="800"/>
                  </a:spcAft>
                </a:pPr>
                <a:r>
                  <a:rPr lang="en-US" sz="1100">
                    <a:effectLst/>
                    <a:ea typeface="Calibri" panose="020F0502020204030204" pitchFamily="34" charset="0"/>
                    <a:cs typeface="Times New Roman" panose="02020603050405020304" pitchFamily="18" charset="0"/>
                  </a:rPr>
                  <a:t>	    0.2      	</a:t>
                </a:r>
                <a:r>
                  <a:rPr lang="en-GB" sz="1100">
                    <a:effectLst/>
                    <a:ea typeface="Calibri" panose="020F0502020204030204" pitchFamily="34" charset="0"/>
                    <a:cs typeface="Times New Roman" panose="02020603050405020304" pitchFamily="18" charset="0"/>
                  </a:rPr>
                  <a:t> 123.43 </a:t>
                </a:r>
                <a:r>
                  <a:rPr lang="en-US" sz="1100">
                    <a:effectLst/>
                    <a:ea typeface="Calibri" panose="020F0502020204030204" pitchFamily="34" charset="0"/>
                    <a:cs typeface="Times New Roman" panose="02020603050405020304" pitchFamily="18" charset="0"/>
                  </a:rPr>
                  <a:t>	      0.278	                   </a:t>
                </a:r>
              </a:p>
              <a:p>
                <a:pPr>
                  <a:lnSpc>
                    <a:spcPct val="150000"/>
                  </a:lnSpc>
                  <a:spcAft>
                    <a:spcPts val="800"/>
                  </a:spcAft>
                </a:pPr>
                <a:r>
                  <a:rPr lang="en-US" sz="1100">
                    <a:effectLst/>
                    <a:ea typeface="Calibri" panose="020F0502020204030204" pitchFamily="34" charset="0"/>
                    <a:cs typeface="Times New Roman" panose="02020603050405020304" pitchFamily="18" charset="0"/>
                  </a:rPr>
                  <a:t>  1.87	        12.76578		10000.1           </a:t>
                </a:r>
                <a14:m>
                  <m:oMath xmlns:m="http://schemas.openxmlformats.org/officeDocument/2006/math">
                    <m:r>
                      <a:rPr lang="en-US" sz="1100" i="1" smtClean="0">
                        <a:effectLst/>
                        <a:latin typeface="Cambria Math" panose="02040503050406030204" pitchFamily="18" charset="0"/>
                        <a:ea typeface="Calibri" panose="020F0502020204030204" pitchFamily="34" charset="0"/>
                        <a:cs typeface="Times New Roman" panose="02020603050405020304" pitchFamily="18" charset="0"/>
                      </a:rPr>
                      <m:t>0.</m:t>
                    </m:r>
                    <m:acc>
                      <m:accPr>
                        <m:chr m:val="̇"/>
                        <m:ctrlPr>
                          <a:rPr lang="en-GB" sz="1100" i="1">
                            <a:effectLst/>
                            <a:latin typeface="Cambria Math" panose="02040503050406030204" pitchFamily="18" charset="0"/>
                            <a:cs typeface="Times New Roman" panose="02020603050405020304" pitchFamily="18" charset="0"/>
                          </a:rPr>
                        </m:ctrlPr>
                      </m:accPr>
                      <m:e>
                        <m:r>
                          <a:rPr lang="en-US" sz="1100" i="1">
                            <a:effectLst/>
                            <a:latin typeface="Cambria Math" panose="02040503050406030204" pitchFamily="18" charset="0"/>
                            <a:ea typeface="Calibri" panose="020F0502020204030204" pitchFamily="34" charset="0"/>
                            <a:cs typeface="Times New Roman" panose="02020603050405020304" pitchFamily="18" charset="0"/>
                          </a:rPr>
                          <m:t>6</m:t>
                        </m:r>
                      </m:e>
                    </m:acc>
                  </m:oMath>
                </a14:m>
                <a:endParaRPr lang="en-GB" sz="1100">
                  <a:effectLst/>
                  <a:ea typeface="Calibri" panose="020F0502020204030204" pitchFamily="34" charset="0"/>
                  <a:cs typeface="Times New Roman" panose="02020603050405020304" pitchFamily="18" charset="0"/>
                </a:endParaRPr>
              </a:p>
              <a:p>
                <a:pPr>
                  <a:lnSpc>
                    <a:spcPct val="150000"/>
                  </a:lnSpc>
                  <a:spcAft>
                    <a:spcPts val="800"/>
                  </a:spcAft>
                </a:pPr>
                <a:r>
                  <a:rPr lang="en-US" sz="1100">
                    <a:effectLst/>
                    <a:ea typeface="Calibri" panose="020F0502020204030204" pitchFamily="34" charset="0"/>
                    <a:cs typeface="Times New Roman" panose="02020603050405020304" pitchFamily="18" charset="0"/>
                  </a:rPr>
                  <a:t>4.0000000001	 	80.987654321                 -3.43  </a:t>
                </a:r>
                <a14:m>
                  <m:oMath xmlns:m="http://schemas.openxmlformats.org/officeDocument/2006/math">
                    <m:r>
                      <a:rPr lang="en-GB" sz="1100" b="0" i="0" smtClean="0">
                        <a:effectLst/>
                        <a:latin typeface="Cambria Math" panose="02040503050406030204" pitchFamily="18" charset="0"/>
                        <a:cs typeface="Times New Roman" panose="02020603050405020304" pitchFamily="18" charset="0"/>
                      </a:rPr>
                      <m:t>                               3</m:t>
                    </m:r>
                    <m:r>
                      <a:rPr lang="en-GB" sz="1100" b="0" i="1" smtClean="0">
                        <a:effectLst/>
                        <a:latin typeface="Cambria Math" panose="02040503050406030204" pitchFamily="18" charset="0"/>
                        <a:cs typeface="Times New Roman" panose="02020603050405020304" pitchFamily="18" charset="0"/>
                      </a:rPr>
                      <m:t>.</m:t>
                    </m:r>
                    <m:acc>
                      <m:accPr>
                        <m:chr m:val="̇"/>
                        <m:ctrlPr>
                          <a:rPr lang="en-US" sz="1100" i="1" smtClean="0">
                            <a:effectLst/>
                            <a:latin typeface="Cambria Math" panose="02040503050406030204" pitchFamily="18" charset="0"/>
                            <a:cs typeface="Times New Roman" panose="02020603050405020304" pitchFamily="18" charset="0"/>
                          </a:rPr>
                        </m:ctrlPr>
                      </m:accPr>
                      <m:e>
                        <m:r>
                          <a:rPr lang="en-GB" sz="1100" b="0" i="1" smtClean="0">
                            <a:effectLst/>
                            <a:latin typeface="Cambria Math" panose="02040503050406030204" pitchFamily="18" charset="0"/>
                            <a:cs typeface="Times New Roman" panose="02020603050405020304" pitchFamily="18" charset="0"/>
                          </a:rPr>
                          <m:t>2</m:t>
                        </m:r>
                      </m:e>
                    </m:acc>
                    <m:r>
                      <a:rPr lang="en-GB" sz="1100" b="0" i="0" smtClean="0">
                        <a:effectLst/>
                        <a:latin typeface="Cambria Math" panose="02040503050406030204" pitchFamily="18" charset="0"/>
                        <a:cs typeface="Times New Roman" panose="02020603050405020304" pitchFamily="18" charset="0"/>
                      </a:rPr>
                      <m:t>                              3</m:t>
                    </m:r>
                    <m:r>
                      <a:rPr lang="en-GB" sz="1100" b="0" i="1" smtClean="0">
                        <a:effectLst/>
                        <a:latin typeface="Cambria Math" panose="02040503050406030204" pitchFamily="18" charset="0"/>
                        <a:cs typeface="Times New Roman" panose="02020603050405020304" pitchFamily="18" charset="0"/>
                      </a:rPr>
                      <m:t>.</m:t>
                    </m:r>
                    <m:acc>
                      <m:accPr>
                        <m:chr m:val="̇"/>
                        <m:ctrlPr>
                          <a:rPr lang="en-US" sz="1100" i="1" smtClean="0">
                            <a:effectLst/>
                            <a:latin typeface="Cambria Math" panose="02040503050406030204" pitchFamily="18" charset="0"/>
                            <a:cs typeface="Times New Roman" panose="02020603050405020304" pitchFamily="18" charset="0"/>
                          </a:rPr>
                        </m:ctrlPr>
                      </m:accPr>
                      <m:e>
                        <m:r>
                          <a:rPr lang="en-GB" sz="1100" b="0" i="1" smtClean="0">
                            <a:effectLst/>
                            <a:latin typeface="Cambria Math" panose="02040503050406030204" pitchFamily="18" charset="0"/>
                            <a:cs typeface="Times New Roman" panose="02020603050405020304" pitchFamily="18" charset="0"/>
                          </a:rPr>
                          <m:t>2</m:t>
                        </m:r>
                      </m:e>
                    </m:acc>
                    <m:r>
                      <a:rPr lang="en-GB" sz="1100" b="0" i="1" smtClean="0">
                        <a:effectLst/>
                        <a:latin typeface="Cambria Math" panose="02040503050406030204" pitchFamily="18" charset="0"/>
                        <a:cs typeface="Times New Roman" panose="02020603050405020304" pitchFamily="18" charset="0"/>
                      </a:rPr>
                      <m:t>746</m:t>
                    </m:r>
                    <m:acc>
                      <m:accPr>
                        <m:chr m:val="̇"/>
                        <m:ctrlPr>
                          <a:rPr lang="en-GB" sz="1100" b="0" i="1" smtClean="0">
                            <a:effectLst/>
                            <a:latin typeface="Cambria Math" panose="02040503050406030204" pitchFamily="18" charset="0"/>
                            <a:cs typeface="Times New Roman" panose="02020603050405020304" pitchFamily="18" charset="0"/>
                          </a:rPr>
                        </m:ctrlPr>
                      </m:accPr>
                      <m:e>
                        <m:r>
                          <a:rPr lang="en-GB" sz="1100" b="0" i="1" smtClean="0">
                            <a:effectLst/>
                            <a:latin typeface="Cambria Math" panose="02040503050406030204" pitchFamily="18" charset="0"/>
                            <a:cs typeface="Times New Roman" panose="02020603050405020304" pitchFamily="18" charset="0"/>
                          </a:rPr>
                          <m:t>4</m:t>
                        </m:r>
                      </m:e>
                    </m:acc>
                  </m:oMath>
                </a14:m>
                <a:r>
                  <a:rPr lang="en-GB" sz="1100">
                    <a:effectLst/>
                    <a:ea typeface="Calibri" panose="020F0502020204030204" pitchFamily="34" charset="0"/>
                    <a:cs typeface="Times New Roman" panose="02020603050405020304" pitchFamily="18" charset="0"/>
                  </a:rPr>
                  <a:t>                 </a:t>
                </a:r>
              </a:p>
            </p:txBody>
          </p:sp>
        </mc:Choice>
        <mc:Fallback xmlns="">
          <p:sp>
            <p:nvSpPr>
              <p:cNvPr id="89" name="TextBox 88">
                <a:extLst>
                  <a:ext uri="{FF2B5EF4-FFF2-40B4-BE49-F238E27FC236}">
                    <a16:creationId xmlns:a16="http://schemas.microsoft.com/office/drawing/2014/main" id="{0494DBA1-3E5B-2039-5D24-CA99467CE34B}"/>
                  </a:ext>
                </a:extLst>
              </p:cNvPr>
              <p:cNvSpPr txBox="1">
                <a:spLocks noRot="1" noChangeAspect="1" noMove="1" noResize="1" noEditPoints="1" noAdjustHandles="1" noChangeArrowheads="1" noChangeShapeType="1" noTextEdit="1"/>
              </p:cNvSpPr>
              <p:nvPr/>
            </p:nvSpPr>
            <p:spPr>
              <a:xfrm>
                <a:off x="165968" y="3627033"/>
                <a:ext cx="4909650" cy="130260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114331DB-F613-2A47-3206-77926AB48299}"/>
                  </a:ext>
                </a:extLst>
              </p:cNvPr>
              <p:cNvSpPr txBox="1"/>
              <p:nvPr/>
            </p:nvSpPr>
            <p:spPr>
              <a:xfrm>
                <a:off x="3446894" y="3987196"/>
                <a:ext cx="3230335" cy="823302"/>
              </a:xfrm>
              <a:prstGeom prst="rect">
                <a:avLst/>
              </a:prstGeom>
              <a:noFill/>
            </p:spPr>
            <p:txBody>
              <a:bodyPr wrap="square" rtlCol="0">
                <a:spAutoFit/>
              </a:bodyPr>
              <a:lstStyle/>
              <a:p>
                <a:endParaRPr lang="en-US" sz="1200">
                  <a:solidFill>
                    <a:schemeClr val="tx1"/>
                  </a:solidFill>
                </a:endParaRPr>
              </a:p>
              <a:p>
                <a:endParaRPr lang="en-US" sz="1200"/>
              </a:p>
              <a:p>
                <a:pPr/>
                <a14:m>
                  <m:oMathPara xmlns:m="http://schemas.openxmlformats.org/officeDocument/2006/math">
                    <m:oMathParaPr>
                      <m:jc m:val="centerGroup"/>
                    </m:oMathParaPr>
                    <m:oMath xmlns:m="http://schemas.openxmlformats.org/officeDocument/2006/math">
                      <m:r>
                        <m:rPr>
                          <m:nor/>
                        </m:rPr>
                        <a:rPr lang="en-US" sz="1200" dirty="0"/>
                        <m:t>0,            −2,             4,             12323,            −19</m:t>
                      </m:r>
                    </m:oMath>
                  </m:oMathPara>
                </a14:m>
                <a:endParaRPr lang="en-US" sz="1200"/>
              </a:p>
              <a:p>
                <a:pPr marL="171450" indent="-171450">
                  <a:buFont typeface="Arial" panose="020B0604020202020204" pitchFamily="34" charset="0"/>
                  <a:buChar char="•"/>
                </a:pPr>
                <a:endParaRPr lang="en-US" sz="1200">
                  <a:solidFill>
                    <a:schemeClr val="tx1"/>
                  </a:solidFill>
                </a:endParaRPr>
              </a:p>
            </p:txBody>
          </p:sp>
        </mc:Choice>
        <mc:Fallback xmlns="">
          <p:sp>
            <p:nvSpPr>
              <p:cNvPr id="90" name="TextBox 89">
                <a:extLst>
                  <a:ext uri="{FF2B5EF4-FFF2-40B4-BE49-F238E27FC236}">
                    <a16:creationId xmlns:a16="http://schemas.microsoft.com/office/drawing/2014/main" id="{114331DB-F613-2A47-3206-77926AB48299}"/>
                  </a:ext>
                </a:extLst>
              </p:cNvPr>
              <p:cNvSpPr txBox="1">
                <a:spLocks noRot="1" noChangeAspect="1" noMove="1" noResize="1" noEditPoints="1" noAdjustHandles="1" noChangeArrowheads="1" noChangeShapeType="1" noTextEdit="1"/>
              </p:cNvSpPr>
              <p:nvPr/>
            </p:nvSpPr>
            <p:spPr>
              <a:xfrm>
                <a:off x="3446894" y="3987196"/>
                <a:ext cx="3230335" cy="823302"/>
              </a:xfrm>
              <a:prstGeom prst="rect">
                <a:avLst/>
              </a:prstGeom>
              <a:blipFill>
                <a:blip r:embed="rId7"/>
                <a:stretch>
                  <a:fillRect/>
                </a:stretch>
              </a:blipFill>
            </p:spPr>
            <p:txBody>
              <a:bodyPr/>
              <a:lstStyle/>
              <a:p>
                <a:r>
                  <a:rPr lang="en-US">
                    <a:noFill/>
                  </a:rPr>
                  <a:t> </a:t>
                </a:r>
              </a:p>
            </p:txBody>
          </p:sp>
        </mc:Fallback>
      </mc:AlternateContent>
      <p:graphicFrame>
        <p:nvGraphicFramePr>
          <p:cNvPr id="91" name="Table 90">
            <a:extLst>
              <a:ext uri="{FF2B5EF4-FFF2-40B4-BE49-F238E27FC236}">
                <a16:creationId xmlns:a16="http://schemas.microsoft.com/office/drawing/2014/main" id="{42B90030-3318-2B4F-2EAC-EC55A583FA0F}"/>
              </a:ext>
            </a:extLst>
          </p:cNvPr>
          <p:cNvGraphicFramePr>
            <a:graphicFrameLocks noGrp="1"/>
          </p:cNvGraphicFramePr>
          <p:nvPr>
            <p:extLst>
              <p:ext uri="{D42A27DB-BD31-4B8C-83A1-F6EECF244321}">
                <p14:modId xmlns:p14="http://schemas.microsoft.com/office/powerpoint/2010/main" val="1350240936"/>
              </p:ext>
            </p:extLst>
          </p:nvPr>
        </p:nvGraphicFramePr>
        <p:xfrm>
          <a:off x="72056" y="5778399"/>
          <a:ext cx="6717494" cy="3374917"/>
        </p:xfrm>
        <a:graphic>
          <a:graphicData uri="http://schemas.openxmlformats.org/drawingml/2006/table">
            <a:tbl>
              <a:tblPr firstRow="1" bandRow="1">
                <a:tableStyleId>{5C22544A-7EE6-4342-B048-85BDC9FD1C3A}</a:tableStyleId>
              </a:tblPr>
              <a:tblGrid>
                <a:gridCol w="837095">
                  <a:extLst>
                    <a:ext uri="{9D8B030D-6E8A-4147-A177-3AD203B41FA5}">
                      <a16:colId xmlns:a16="http://schemas.microsoft.com/office/drawing/2014/main" val="1568142362"/>
                    </a:ext>
                  </a:extLst>
                </a:gridCol>
                <a:gridCol w="1960133">
                  <a:extLst>
                    <a:ext uri="{9D8B030D-6E8A-4147-A177-3AD203B41FA5}">
                      <a16:colId xmlns:a16="http://schemas.microsoft.com/office/drawing/2014/main" val="3551711160"/>
                    </a:ext>
                  </a:extLst>
                </a:gridCol>
                <a:gridCol w="1960133">
                  <a:extLst>
                    <a:ext uri="{9D8B030D-6E8A-4147-A177-3AD203B41FA5}">
                      <a16:colId xmlns:a16="http://schemas.microsoft.com/office/drawing/2014/main" val="1712497518"/>
                    </a:ext>
                  </a:extLst>
                </a:gridCol>
                <a:gridCol w="1960133">
                  <a:extLst>
                    <a:ext uri="{9D8B030D-6E8A-4147-A177-3AD203B41FA5}">
                      <a16:colId xmlns:a16="http://schemas.microsoft.com/office/drawing/2014/main" val="886122921"/>
                    </a:ext>
                  </a:extLst>
                </a:gridCol>
              </a:tblGrid>
              <a:tr h="241153">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Evaluate: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Find the value 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Work out: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65093">
                <a:tc>
                  <a:txBody>
                    <a:bodyPr/>
                    <a:lstStyle/>
                    <a:p>
                      <a:pPr marL="0" indent="0">
                        <a:buNone/>
                      </a:pPr>
                      <a:r>
                        <a:rPr lang="en-US" sz="1050">
                          <a:solidFill>
                            <a:schemeClr val="tx1"/>
                          </a:solidFill>
                        </a:rPr>
                        <a:t>1) Multiply each decimal by a power of 10 so that they are integers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r>
                        <a:rPr lang="en-US" sz="1100" baseline="0">
                          <a:solidFill>
                            <a:schemeClr val="tx1"/>
                          </a:solidFill>
                        </a:rPr>
                        <a:t>4.3 x 2 = </a:t>
                      </a:r>
                    </a:p>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r>
                        <a:rPr lang="en-US" sz="1100" baseline="0">
                          <a:solidFill>
                            <a:schemeClr val="tx1"/>
                          </a:solidFill>
                        </a:rPr>
                        <a:t>0.25 x 3 =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r>
                        <a:rPr lang="en-US" sz="1100" baseline="0" dirty="0">
                          <a:solidFill>
                            <a:schemeClr val="tx1"/>
                          </a:solidFill>
                        </a:rPr>
                        <a:t>2.3 x 3 =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43075">
                <a:tc>
                  <a:txBody>
                    <a:bodyPr/>
                    <a:lstStyle/>
                    <a:p>
                      <a:r>
                        <a:rPr lang="en-GB" sz="1050">
                          <a:solidFill>
                            <a:schemeClr val="tx1"/>
                          </a:solidFill>
                        </a:rPr>
                        <a:t>2) Multiply the two numbers together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1157497">
                <a:tc>
                  <a:txBody>
                    <a:bodyPr/>
                    <a:lstStyle/>
                    <a:p>
                      <a:r>
                        <a:rPr lang="en-GB" sz="1050" dirty="0">
                          <a:solidFill>
                            <a:schemeClr val="tx1"/>
                          </a:solidFill>
                        </a:rPr>
                        <a:t>Divide your answer by the powers of 10 you multiplied by originally</a:t>
                      </a: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0286120"/>
                  </a:ext>
                </a:extLst>
              </a:tr>
            </a:tbl>
          </a:graphicData>
        </a:graphic>
      </p:graphicFrame>
      <p:sp>
        <p:nvSpPr>
          <p:cNvPr id="92" name="TextBox 91">
            <a:extLst>
              <a:ext uri="{FF2B5EF4-FFF2-40B4-BE49-F238E27FC236}">
                <a16:creationId xmlns:a16="http://schemas.microsoft.com/office/drawing/2014/main" id="{8FB3DB43-EA78-D97A-9B3C-23B87D1E5CCD}"/>
              </a:ext>
            </a:extLst>
          </p:cNvPr>
          <p:cNvSpPr txBox="1"/>
          <p:nvPr/>
        </p:nvSpPr>
        <p:spPr>
          <a:xfrm>
            <a:off x="1284532" y="5489171"/>
            <a:ext cx="1410704" cy="276999"/>
          </a:xfrm>
          <a:prstGeom prst="rect">
            <a:avLst/>
          </a:prstGeom>
          <a:noFill/>
          <a:ln>
            <a:noFill/>
          </a:ln>
        </p:spPr>
        <p:txBody>
          <a:bodyPr wrap="square" rtlCol="0">
            <a:spAutoFit/>
          </a:bodyPr>
          <a:lstStyle/>
          <a:p>
            <a:r>
              <a:rPr lang="en-GB" sz="1200" b="1" i="1">
                <a:solidFill>
                  <a:srgbClr val="FF0000"/>
                </a:solidFill>
              </a:rPr>
              <a:t>Example 1 - I do…</a:t>
            </a:r>
          </a:p>
        </p:txBody>
      </p:sp>
      <p:sp>
        <p:nvSpPr>
          <p:cNvPr id="93" name="TextBox 92">
            <a:extLst>
              <a:ext uri="{FF2B5EF4-FFF2-40B4-BE49-F238E27FC236}">
                <a16:creationId xmlns:a16="http://schemas.microsoft.com/office/drawing/2014/main" id="{7F716947-0C9C-0D20-9BA0-E6CEF4947B33}"/>
              </a:ext>
            </a:extLst>
          </p:cNvPr>
          <p:cNvSpPr txBox="1"/>
          <p:nvPr/>
        </p:nvSpPr>
        <p:spPr>
          <a:xfrm>
            <a:off x="5203888" y="5482350"/>
            <a:ext cx="1643405" cy="276999"/>
          </a:xfrm>
          <a:prstGeom prst="rect">
            <a:avLst/>
          </a:prstGeom>
          <a:noFill/>
          <a:ln>
            <a:noFill/>
          </a:ln>
        </p:spPr>
        <p:txBody>
          <a:bodyPr wrap="square" rtlCol="0">
            <a:spAutoFit/>
          </a:bodyPr>
          <a:lstStyle/>
          <a:p>
            <a:r>
              <a:rPr lang="en-GB" sz="1200" b="1" i="1">
                <a:solidFill>
                  <a:srgbClr val="00B050"/>
                </a:solidFill>
              </a:rPr>
              <a:t>Example 3 – You do…</a:t>
            </a:r>
          </a:p>
        </p:txBody>
      </p:sp>
      <p:sp>
        <p:nvSpPr>
          <p:cNvPr id="94" name="TextBox 93">
            <a:extLst>
              <a:ext uri="{FF2B5EF4-FFF2-40B4-BE49-F238E27FC236}">
                <a16:creationId xmlns:a16="http://schemas.microsoft.com/office/drawing/2014/main" id="{70813841-9DEC-EFB9-32B5-7A5B9955DDC7}"/>
              </a:ext>
            </a:extLst>
          </p:cNvPr>
          <p:cNvSpPr txBox="1"/>
          <p:nvPr/>
        </p:nvSpPr>
        <p:spPr>
          <a:xfrm>
            <a:off x="3245810" y="5469777"/>
            <a:ext cx="1643405" cy="276999"/>
          </a:xfrm>
          <a:prstGeom prst="rect">
            <a:avLst/>
          </a:prstGeom>
          <a:noFill/>
          <a:ln>
            <a:noFill/>
          </a:ln>
        </p:spPr>
        <p:txBody>
          <a:bodyPr wrap="square" rtlCol="0">
            <a:spAutoFit/>
          </a:bodyPr>
          <a:lstStyle/>
          <a:p>
            <a:r>
              <a:rPr lang="en-GB" sz="1200" b="1" i="1">
                <a:solidFill>
                  <a:schemeClr val="accent2"/>
                </a:solidFill>
              </a:rPr>
              <a:t>Example 2  – We do…</a:t>
            </a:r>
          </a:p>
        </p:txBody>
      </p:sp>
      <p:sp>
        <p:nvSpPr>
          <p:cNvPr id="95" name="Rectangle 94">
            <a:extLst>
              <a:ext uri="{FF2B5EF4-FFF2-40B4-BE49-F238E27FC236}">
                <a16:creationId xmlns:a16="http://schemas.microsoft.com/office/drawing/2014/main" id="{DD8600D9-868E-FC56-665D-36DE27722555}"/>
              </a:ext>
            </a:extLst>
          </p:cNvPr>
          <p:cNvSpPr/>
          <p:nvPr/>
        </p:nvSpPr>
        <p:spPr>
          <a:xfrm>
            <a:off x="98413" y="5251304"/>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Multiplying decimals by integers</a:t>
            </a:r>
            <a:endParaRPr lang="en-GB" sz="1200">
              <a:solidFill>
                <a:schemeClr val="bg1"/>
              </a:solidFill>
            </a:endParaRPr>
          </a:p>
        </p:txBody>
      </p:sp>
      <p:pic>
        <p:nvPicPr>
          <p:cNvPr id="96" name="Picture 95" descr="A screenshot of a computer&#10;&#10;Description automatically generated">
            <a:extLst>
              <a:ext uri="{FF2B5EF4-FFF2-40B4-BE49-F238E27FC236}">
                <a16:creationId xmlns:a16="http://schemas.microsoft.com/office/drawing/2014/main" id="{504413D6-6036-1E92-B2D3-49678EC4C4D9}"/>
              </a:ext>
            </a:extLst>
          </p:cNvPr>
          <p:cNvPicPr>
            <a:picLocks noChangeAspect="1"/>
          </p:cNvPicPr>
          <p:nvPr/>
        </p:nvPicPr>
        <p:blipFill rotWithShape="1">
          <a:blip r:embed="rId8"/>
          <a:srcRect l="37224" t="34284" r="49991" b="46867"/>
          <a:stretch/>
        </p:blipFill>
        <p:spPr bwMode="auto">
          <a:xfrm>
            <a:off x="990468" y="6386240"/>
            <a:ext cx="1838834" cy="1194969"/>
          </a:xfrm>
          <a:prstGeom prst="rect">
            <a:avLst/>
          </a:prstGeom>
          <a:ln>
            <a:noFill/>
          </a:ln>
          <a:extLst>
            <a:ext uri="{53640926-AAD7-44D8-BBD7-CCE9431645EC}">
              <a14:shadowObscured xmlns:a14="http://schemas.microsoft.com/office/drawing/2010/main"/>
            </a:ext>
          </a:extLst>
        </p:spPr>
      </p:pic>
      <p:pic>
        <p:nvPicPr>
          <p:cNvPr id="97" name="Picture 96" descr="A screenshot of a computer&#10;&#10;Description automatically generated">
            <a:extLst>
              <a:ext uri="{FF2B5EF4-FFF2-40B4-BE49-F238E27FC236}">
                <a16:creationId xmlns:a16="http://schemas.microsoft.com/office/drawing/2014/main" id="{638064D4-5319-FA8C-7691-C70C94485591}"/>
              </a:ext>
            </a:extLst>
          </p:cNvPr>
          <p:cNvPicPr>
            <a:picLocks noChangeAspect="1"/>
          </p:cNvPicPr>
          <p:nvPr/>
        </p:nvPicPr>
        <p:blipFill rotWithShape="1">
          <a:blip r:embed="rId8"/>
          <a:srcRect l="37224" t="34284" r="49991" b="46867"/>
          <a:stretch/>
        </p:blipFill>
        <p:spPr bwMode="auto">
          <a:xfrm>
            <a:off x="2930830" y="6378443"/>
            <a:ext cx="1838834" cy="1194969"/>
          </a:xfrm>
          <a:prstGeom prst="rect">
            <a:avLst/>
          </a:prstGeom>
          <a:ln>
            <a:noFill/>
          </a:ln>
          <a:extLst>
            <a:ext uri="{53640926-AAD7-44D8-BBD7-CCE9431645EC}">
              <a14:shadowObscured xmlns:a14="http://schemas.microsoft.com/office/drawing/2010/main"/>
            </a:ext>
          </a:extLst>
        </p:spPr>
      </p:pic>
      <p:pic>
        <p:nvPicPr>
          <p:cNvPr id="98" name="Picture 97" descr="A screenshot of a computer&#10;&#10;Description automatically generated">
            <a:extLst>
              <a:ext uri="{FF2B5EF4-FFF2-40B4-BE49-F238E27FC236}">
                <a16:creationId xmlns:a16="http://schemas.microsoft.com/office/drawing/2014/main" id="{1F3ACB8E-DBDA-9466-0ED1-77F2AE620E44}"/>
              </a:ext>
            </a:extLst>
          </p:cNvPr>
          <p:cNvPicPr>
            <a:picLocks noChangeAspect="1"/>
          </p:cNvPicPr>
          <p:nvPr/>
        </p:nvPicPr>
        <p:blipFill rotWithShape="1">
          <a:blip r:embed="rId8"/>
          <a:srcRect l="37224" t="34284" r="49991" b="46867"/>
          <a:stretch/>
        </p:blipFill>
        <p:spPr bwMode="auto">
          <a:xfrm>
            <a:off x="4913791" y="6395052"/>
            <a:ext cx="1838834" cy="119496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624258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extBox 149"/>
          <p:cNvSpPr txBox="1"/>
          <p:nvPr/>
        </p:nvSpPr>
        <p:spPr>
          <a:xfrm>
            <a:off x="136166" y="376235"/>
            <a:ext cx="40862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1.</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Work out.</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 name="Group 2"/>
          <p:cNvGrpSpPr/>
          <p:nvPr/>
        </p:nvGrpSpPr>
        <p:grpSpPr>
          <a:xfrm>
            <a:off x="311516" y="883938"/>
            <a:ext cx="6180564" cy="1440910"/>
            <a:chOff x="192696" y="5576866"/>
            <a:chExt cx="6180564" cy="1301908"/>
          </a:xfrm>
        </p:grpSpPr>
        <p:grpSp>
          <p:nvGrpSpPr>
            <p:cNvPr id="231" name="Group 230">
              <a:extLst>
                <a:ext uri="{FF2B5EF4-FFF2-40B4-BE49-F238E27FC236}">
                  <a16:creationId xmlns:a16="http://schemas.microsoft.com/office/drawing/2014/main" id="{682AB411-2149-0840-9D51-C54448E6DD46}"/>
                </a:ext>
              </a:extLst>
            </p:cNvPr>
            <p:cNvGrpSpPr/>
            <p:nvPr/>
          </p:nvGrpSpPr>
          <p:grpSpPr>
            <a:xfrm>
              <a:off x="192696" y="5595866"/>
              <a:ext cx="3038184" cy="1282908"/>
              <a:chOff x="966421" y="1476661"/>
              <a:chExt cx="3318365" cy="1451411"/>
            </a:xfrm>
          </p:grpSpPr>
          <p:grpSp>
            <p:nvGrpSpPr>
              <p:cNvPr id="232" name="Group 231">
                <a:extLst>
                  <a:ext uri="{FF2B5EF4-FFF2-40B4-BE49-F238E27FC236}">
                    <a16:creationId xmlns:a16="http://schemas.microsoft.com/office/drawing/2014/main" id="{4D0679EF-84C5-7A4F-AB20-E9BE4CA4169D}"/>
                  </a:ext>
                </a:extLst>
              </p:cNvPr>
              <p:cNvGrpSpPr/>
              <p:nvPr/>
            </p:nvGrpSpPr>
            <p:grpSpPr>
              <a:xfrm>
                <a:off x="966421" y="1476661"/>
                <a:ext cx="3318365" cy="1451411"/>
                <a:chOff x="272927" y="1555735"/>
                <a:chExt cx="3318365" cy="2264425"/>
              </a:xfrm>
            </p:grpSpPr>
            <p:sp>
              <p:nvSpPr>
                <p:cNvPr id="234" name="Rectangle 233">
                  <a:extLst>
                    <a:ext uri="{FF2B5EF4-FFF2-40B4-BE49-F238E27FC236}">
                      <a16:creationId xmlns:a16="http://schemas.microsoft.com/office/drawing/2014/main" id="{E7D43067-3992-3A4F-9499-D8C470B79030}"/>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5" name="Rectangle 234">
                  <a:extLst>
                    <a:ext uri="{FF2B5EF4-FFF2-40B4-BE49-F238E27FC236}">
                      <a16:creationId xmlns:a16="http://schemas.microsoft.com/office/drawing/2014/main" id="{0EA06E7E-A8C7-3C40-95D0-A8A0BC212120}"/>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6" name="Rectangle 235">
                  <a:extLst>
                    <a:ext uri="{FF2B5EF4-FFF2-40B4-BE49-F238E27FC236}">
                      <a16:creationId xmlns:a16="http://schemas.microsoft.com/office/drawing/2014/main" id="{E9283DA5-AC6E-8146-A240-CBC210C66CCA}"/>
                    </a:ext>
                  </a:extLst>
                </p:cNvPr>
                <p:cNvSpPr/>
                <p:nvPr/>
              </p:nvSpPr>
              <p:spPr>
                <a:xfrm>
                  <a:off x="949960" y="3188555"/>
                  <a:ext cx="903282" cy="63160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33" name="Rectangle 232">
                <a:extLst>
                  <a:ext uri="{FF2B5EF4-FFF2-40B4-BE49-F238E27FC236}">
                    <a16:creationId xmlns:a16="http://schemas.microsoft.com/office/drawing/2014/main" id="{E4854F53-53E7-4B48-89EF-D7EFA909E3BD}"/>
                  </a:ext>
                </a:extLst>
              </p:cNvPr>
              <p:cNvSpPr/>
              <p:nvPr/>
            </p:nvSpPr>
            <p:spPr>
              <a:xfrm>
                <a:off x="3381504" y="2518844"/>
                <a:ext cx="903282" cy="40904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37" name="Group 236">
              <a:extLst>
                <a:ext uri="{FF2B5EF4-FFF2-40B4-BE49-F238E27FC236}">
                  <a16:creationId xmlns:a16="http://schemas.microsoft.com/office/drawing/2014/main" id="{682AB411-2149-0840-9D51-C54448E6DD46}"/>
                </a:ext>
              </a:extLst>
            </p:cNvPr>
            <p:cNvGrpSpPr/>
            <p:nvPr/>
          </p:nvGrpSpPr>
          <p:grpSpPr>
            <a:xfrm>
              <a:off x="3335076" y="5576866"/>
              <a:ext cx="3038184" cy="1282908"/>
              <a:chOff x="966421" y="1476661"/>
              <a:chExt cx="3318365" cy="1451411"/>
            </a:xfrm>
          </p:grpSpPr>
          <p:grpSp>
            <p:nvGrpSpPr>
              <p:cNvPr id="238" name="Group 237">
                <a:extLst>
                  <a:ext uri="{FF2B5EF4-FFF2-40B4-BE49-F238E27FC236}">
                    <a16:creationId xmlns:a16="http://schemas.microsoft.com/office/drawing/2014/main" id="{4D0679EF-84C5-7A4F-AB20-E9BE4CA4169D}"/>
                  </a:ext>
                </a:extLst>
              </p:cNvPr>
              <p:cNvGrpSpPr/>
              <p:nvPr/>
            </p:nvGrpSpPr>
            <p:grpSpPr>
              <a:xfrm>
                <a:off x="966421" y="1476661"/>
                <a:ext cx="3318365" cy="1451411"/>
                <a:chOff x="272927" y="1555735"/>
                <a:chExt cx="3318365" cy="2264425"/>
              </a:xfrm>
            </p:grpSpPr>
            <p:sp>
              <p:nvSpPr>
                <p:cNvPr id="240" name="Rectangle 239">
                  <a:extLst>
                    <a:ext uri="{FF2B5EF4-FFF2-40B4-BE49-F238E27FC236}">
                      <a16:creationId xmlns:a16="http://schemas.microsoft.com/office/drawing/2014/main" id="{E7D43067-3992-3A4F-9499-D8C470B79030}"/>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1" name="Rectangle 240">
                  <a:extLst>
                    <a:ext uri="{FF2B5EF4-FFF2-40B4-BE49-F238E27FC236}">
                      <a16:creationId xmlns:a16="http://schemas.microsoft.com/office/drawing/2014/main" id="{0EA06E7E-A8C7-3C40-95D0-A8A0BC212120}"/>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2" name="Rectangle 241">
                  <a:extLst>
                    <a:ext uri="{FF2B5EF4-FFF2-40B4-BE49-F238E27FC236}">
                      <a16:creationId xmlns:a16="http://schemas.microsoft.com/office/drawing/2014/main" id="{E9283DA5-AC6E-8146-A240-CBC210C66CCA}"/>
                    </a:ext>
                  </a:extLst>
                </p:cNvPr>
                <p:cNvSpPr/>
                <p:nvPr/>
              </p:nvSpPr>
              <p:spPr>
                <a:xfrm>
                  <a:off x="949960" y="3206557"/>
                  <a:ext cx="903282" cy="61360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39" name="Rectangle 238">
                <a:extLst>
                  <a:ext uri="{FF2B5EF4-FFF2-40B4-BE49-F238E27FC236}">
                    <a16:creationId xmlns:a16="http://schemas.microsoft.com/office/drawing/2014/main" id="{E4854F53-53E7-4B48-89EF-D7EFA909E3BD}"/>
                  </a:ext>
                </a:extLst>
              </p:cNvPr>
              <p:cNvSpPr/>
              <p:nvPr/>
            </p:nvSpPr>
            <p:spPr>
              <a:xfrm>
                <a:off x="3381504" y="2532418"/>
                <a:ext cx="903282" cy="39547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 name="Slide Number Placeholder 1"/>
          <p:cNvSpPr>
            <a:spLocks noGrp="1"/>
          </p:cNvSpPr>
          <p:nvPr>
            <p:ph type="sldNum" sz="quarter" idx="12"/>
          </p:nvPr>
        </p:nvSpPr>
        <p:spPr>
          <a:xfrm>
            <a:off x="5361250" y="9556498"/>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6AF86AB7-B9E5-61AE-4E54-804994F7BBB6}"/>
              </a:ext>
            </a:extLst>
          </p:cNvPr>
          <p:cNvSpPr/>
          <p:nvPr/>
        </p:nvSpPr>
        <p:spPr>
          <a:xfrm>
            <a:off x="136166" y="92324"/>
            <a:ext cx="1766650" cy="24138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4" name="TextBox 3">
            <a:extLst>
              <a:ext uri="{FF2B5EF4-FFF2-40B4-BE49-F238E27FC236}">
                <a16:creationId xmlns:a16="http://schemas.microsoft.com/office/drawing/2014/main" id="{A806DEC8-A6DD-D0F6-10D4-5CC29CF6A099}"/>
              </a:ext>
            </a:extLst>
          </p:cNvPr>
          <p:cNvSpPr txBox="1"/>
          <p:nvPr/>
        </p:nvSpPr>
        <p:spPr>
          <a:xfrm>
            <a:off x="311516" y="602037"/>
            <a:ext cx="761747" cy="276999"/>
          </a:xfrm>
          <a:prstGeom prst="rect">
            <a:avLst/>
          </a:prstGeom>
          <a:noFill/>
        </p:spPr>
        <p:txBody>
          <a:bodyPr wrap="none" rtlCol="0">
            <a:spAutoFit/>
          </a:bodyPr>
          <a:lstStyle/>
          <a:p>
            <a:r>
              <a:rPr lang="en-US" sz="1200"/>
              <a:t>a) 2.4 </a:t>
            </a:r>
            <a:r>
              <a:rPr lang="en-GB" sz="1200"/>
              <a:t>× 2</a:t>
            </a:r>
          </a:p>
        </p:txBody>
      </p:sp>
      <p:sp>
        <p:nvSpPr>
          <p:cNvPr id="5" name="TextBox 4">
            <a:extLst>
              <a:ext uri="{FF2B5EF4-FFF2-40B4-BE49-F238E27FC236}">
                <a16:creationId xmlns:a16="http://schemas.microsoft.com/office/drawing/2014/main" id="{22A87A83-BB9A-06D1-5D15-19E53F2878F6}"/>
              </a:ext>
            </a:extLst>
          </p:cNvPr>
          <p:cNvSpPr txBox="1"/>
          <p:nvPr/>
        </p:nvSpPr>
        <p:spPr>
          <a:xfrm>
            <a:off x="1998677" y="602037"/>
            <a:ext cx="768159" cy="276999"/>
          </a:xfrm>
          <a:prstGeom prst="rect">
            <a:avLst/>
          </a:prstGeom>
          <a:noFill/>
        </p:spPr>
        <p:txBody>
          <a:bodyPr wrap="none" rtlCol="0">
            <a:spAutoFit/>
          </a:bodyPr>
          <a:lstStyle/>
          <a:p>
            <a:r>
              <a:rPr lang="en-US" sz="1200"/>
              <a:t>b) 2.4 </a:t>
            </a:r>
            <a:r>
              <a:rPr lang="en-GB" sz="1200"/>
              <a:t>× 3</a:t>
            </a:r>
          </a:p>
        </p:txBody>
      </p:sp>
      <p:sp>
        <p:nvSpPr>
          <p:cNvPr id="6" name="TextBox 5">
            <a:extLst>
              <a:ext uri="{FF2B5EF4-FFF2-40B4-BE49-F238E27FC236}">
                <a16:creationId xmlns:a16="http://schemas.microsoft.com/office/drawing/2014/main" id="{428283B3-82AF-0EDE-DE5F-2B6F6F2C5D26}"/>
              </a:ext>
            </a:extLst>
          </p:cNvPr>
          <p:cNvSpPr txBox="1"/>
          <p:nvPr/>
        </p:nvSpPr>
        <p:spPr>
          <a:xfrm>
            <a:off x="3572303" y="606939"/>
            <a:ext cx="753732" cy="276999"/>
          </a:xfrm>
          <a:prstGeom prst="rect">
            <a:avLst/>
          </a:prstGeom>
          <a:noFill/>
        </p:spPr>
        <p:txBody>
          <a:bodyPr wrap="none" rtlCol="0">
            <a:spAutoFit/>
          </a:bodyPr>
          <a:lstStyle/>
          <a:p>
            <a:r>
              <a:rPr lang="en-US" sz="1200"/>
              <a:t>c) 1.6 </a:t>
            </a:r>
            <a:r>
              <a:rPr lang="en-GB" sz="1200"/>
              <a:t>× 2</a:t>
            </a:r>
          </a:p>
        </p:txBody>
      </p:sp>
      <p:sp>
        <p:nvSpPr>
          <p:cNvPr id="7" name="TextBox 6">
            <a:extLst>
              <a:ext uri="{FF2B5EF4-FFF2-40B4-BE49-F238E27FC236}">
                <a16:creationId xmlns:a16="http://schemas.microsoft.com/office/drawing/2014/main" id="{2F7335EF-7BEC-7BFE-EB02-277A1003D92A}"/>
              </a:ext>
            </a:extLst>
          </p:cNvPr>
          <p:cNvSpPr txBox="1"/>
          <p:nvPr/>
        </p:nvSpPr>
        <p:spPr>
          <a:xfrm>
            <a:off x="5196418" y="600500"/>
            <a:ext cx="768159" cy="276999"/>
          </a:xfrm>
          <a:prstGeom prst="rect">
            <a:avLst/>
          </a:prstGeom>
          <a:noFill/>
        </p:spPr>
        <p:txBody>
          <a:bodyPr wrap="none" rtlCol="0">
            <a:spAutoFit/>
          </a:bodyPr>
          <a:lstStyle/>
          <a:p>
            <a:r>
              <a:rPr lang="en-US" sz="1200"/>
              <a:t>d) 1.6 </a:t>
            </a:r>
            <a:r>
              <a:rPr lang="en-GB" sz="1200"/>
              <a:t>× 4</a:t>
            </a:r>
          </a:p>
        </p:txBody>
      </p:sp>
      <p:sp>
        <p:nvSpPr>
          <p:cNvPr id="8" name="TextBox 7">
            <a:extLst>
              <a:ext uri="{FF2B5EF4-FFF2-40B4-BE49-F238E27FC236}">
                <a16:creationId xmlns:a16="http://schemas.microsoft.com/office/drawing/2014/main" id="{63D3D048-3D01-7349-F2B8-F6C7A89440B0}"/>
              </a:ext>
            </a:extLst>
          </p:cNvPr>
          <p:cNvSpPr txBox="1"/>
          <p:nvPr/>
        </p:nvSpPr>
        <p:spPr>
          <a:xfrm>
            <a:off x="337406" y="2305044"/>
            <a:ext cx="764953" cy="276999"/>
          </a:xfrm>
          <a:prstGeom prst="rect">
            <a:avLst/>
          </a:prstGeom>
          <a:noFill/>
        </p:spPr>
        <p:txBody>
          <a:bodyPr wrap="none" rtlCol="0">
            <a:spAutoFit/>
          </a:bodyPr>
          <a:lstStyle/>
          <a:p>
            <a:r>
              <a:rPr lang="en-US" sz="1200"/>
              <a:t>e) 1.6 </a:t>
            </a:r>
            <a:r>
              <a:rPr lang="en-GB" sz="1200"/>
              <a:t>× 7</a:t>
            </a:r>
          </a:p>
        </p:txBody>
      </p:sp>
      <p:sp>
        <p:nvSpPr>
          <p:cNvPr id="9" name="TextBox 8">
            <a:extLst>
              <a:ext uri="{FF2B5EF4-FFF2-40B4-BE49-F238E27FC236}">
                <a16:creationId xmlns:a16="http://schemas.microsoft.com/office/drawing/2014/main" id="{23F5F4FF-D063-A37D-DA27-15A6C9F4677D}"/>
              </a:ext>
            </a:extLst>
          </p:cNvPr>
          <p:cNvSpPr txBox="1"/>
          <p:nvPr/>
        </p:nvSpPr>
        <p:spPr>
          <a:xfrm>
            <a:off x="1998677" y="2305043"/>
            <a:ext cx="736740" cy="276999"/>
          </a:xfrm>
          <a:prstGeom prst="rect">
            <a:avLst/>
          </a:prstGeom>
          <a:noFill/>
        </p:spPr>
        <p:txBody>
          <a:bodyPr wrap="none" rtlCol="0">
            <a:spAutoFit/>
          </a:bodyPr>
          <a:lstStyle/>
          <a:p>
            <a:r>
              <a:rPr lang="en-US" sz="1200"/>
              <a:t>f) 2 </a:t>
            </a:r>
            <a:r>
              <a:rPr lang="en-GB" sz="1200"/>
              <a:t>× 1.6</a:t>
            </a:r>
          </a:p>
        </p:txBody>
      </p:sp>
      <p:sp>
        <p:nvSpPr>
          <p:cNvPr id="10" name="TextBox 9">
            <a:extLst>
              <a:ext uri="{FF2B5EF4-FFF2-40B4-BE49-F238E27FC236}">
                <a16:creationId xmlns:a16="http://schemas.microsoft.com/office/drawing/2014/main" id="{0EC583D8-2F2D-74B0-FCFA-4BA578850808}"/>
              </a:ext>
            </a:extLst>
          </p:cNvPr>
          <p:cNvSpPr txBox="1"/>
          <p:nvPr/>
        </p:nvSpPr>
        <p:spPr>
          <a:xfrm>
            <a:off x="3572303" y="2305043"/>
            <a:ext cx="760144" cy="276999"/>
          </a:xfrm>
          <a:prstGeom prst="rect">
            <a:avLst/>
          </a:prstGeom>
          <a:noFill/>
        </p:spPr>
        <p:txBody>
          <a:bodyPr wrap="none" rtlCol="0">
            <a:spAutoFit/>
          </a:bodyPr>
          <a:lstStyle/>
          <a:p>
            <a:r>
              <a:rPr lang="en-US" sz="1200"/>
              <a:t>g) 5 </a:t>
            </a:r>
            <a:r>
              <a:rPr lang="en-GB" sz="1200"/>
              <a:t>× 0.4</a:t>
            </a:r>
          </a:p>
        </p:txBody>
      </p:sp>
      <p:sp>
        <p:nvSpPr>
          <p:cNvPr id="13" name="TextBox 12">
            <a:extLst>
              <a:ext uri="{FF2B5EF4-FFF2-40B4-BE49-F238E27FC236}">
                <a16:creationId xmlns:a16="http://schemas.microsoft.com/office/drawing/2014/main" id="{BE8B0A81-418B-C504-5120-EC70E958FFB6}"/>
              </a:ext>
            </a:extLst>
          </p:cNvPr>
          <p:cNvSpPr txBox="1"/>
          <p:nvPr/>
        </p:nvSpPr>
        <p:spPr>
          <a:xfrm>
            <a:off x="5196418" y="2305043"/>
            <a:ext cx="881973" cy="276999"/>
          </a:xfrm>
          <a:prstGeom prst="rect">
            <a:avLst/>
          </a:prstGeom>
          <a:noFill/>
        </p:spPr>
        <p:txBody>
          <a:bodyPr wrap="none" rtlCol="0">
            <a:spAutoFit/>
          </a:bodyPr>
          <a:lstStyle/>
          <a:p>
            <a:r>
              <a:rPr lang="en-US" sz="1200"/>
              <a:t>h) </a:t>
            </a:r>
            <a:r>
              <a:rPr lang="en-GB" sz="1200"/>
              <a:t>0.21 × 4 </a:t>
            </a:r>
            <a:endParaRPr lang="en-GB" sz="1200" baseline="30000"/>
          </a:p>
        </p:txBody>
      </p:sp>
      <p:grpSp>
        <p:nvGrpSpPr>
          <p:cNvPr id="14" name="Group 13">
            <a:extLst>
              <a:ext uri="{FF2B5EF4-FFF2-40B4-BE49-F238E27FC236}">
                <a16:creationId xmlns:a16="http://schemas.microsoft.com/office/drawing/2014/main" id="{B61F6726-A923-A4CE-B208-8E106A16F4A1}"/>
              </a:ext>
            </a:extLst>
          </p:cNvPr>
          <p:cNvGrpSpPr/>
          <p:nvPr/>
        </p:nvGrpSpPr>
        <p:grpSpPr>
          <a:xfrm>
            <a:off x="337406" y="2582042"/>
            <a:ext cx="6180564" cy="1440910"/>
            <a:chOff x="192696" y="5576866"/>
            <a:chExt cx="6180564" cy="1301908"/>
          </a:xfrm>
        </p:grpSpPr>
        <p:grpSp>
          <p:nvGrpSpPr>
            <p:cNvPr id="15" name="Group 14">
              <a:extLst>
                <a:ext uri="{FF2B5EF4-FFF2-40B4-BE49-F238E27FC236}">
                  <a16:creationId xmlns:a16="http://schemas.microsoft.com/office/drawing/2014/main" id="{F9089DB3-AC7F-0A6E-3C2E-FAA24E0E0478}"/>
                </a:ext>
              </a:extLst>
            </p:cNvPr>
            <p:cNvGrpSpPr/>
            <p:nvPr/>
          </p:nvGrpSpPr>
          <p:grpSpPr>
            <a:xfrm>
              <a:off x="192696" y="5595866"/>
              <a:ext cx="3038184" cy="1282908"/>
              <a:chOff x="966421" y="1476661"/>
              <a:chExt cx="3318365" cy="1451411"/>
            </a:xfrm>
          </p:grpSpPr>
          <p:grpSp>
            <p:nvGrpSpPr>
              <p:cNvPr id="27" name="Group 26">
                <a:extLst>
                  <a:ext uri="{FF2B5EF4-FFF2-40B4-BE49-F238E27FC236}">
                    <a16:creationId xmlns:a16="http://schemas.microsoft.com/office/drawing/2014/main" id="{A29DC40A-72AC-48A1-09E2-384A23F4C8C7}"/>
                  </a:ext>
                </a:extLst>
              </p:cNvPr>
              <p:cNvGrpSpPr/>
              <p:nvPr/>
            </p:nvGrpSpPr>
            <p:grpSpPr>
              <a:xfrm>
                <a:off x="966421" y="1476661"/>
                <a:ext cx="3318365" cy="1451411"/>
                <a:chOff x="272927" y="1555735"/>
                <a:chExt cx="3318365" cy="2264425"/>
              </a:xfrm>
            </p:grpSpPr>
            <p:sp>
              <p:nvSpPr>
                <p:cNvPr id="29" name="Rectangle 28">
                  <a:extLst>
                    <a:ext uri="{FF2B5EF4-FFF2-40B4-BE49-F238E27FC236}">
                      <a16:creationId xmlns:a16="http://schemas.microsoft.com/office/drawing/2014/main" id="{0E6CBE5F-A1A6-B400-B07C-1E4CE2A2B5BA}"/>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781F16CD-9EAF-CB1F-7930-5FC95847C6BC}"/>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2FCAEF17-7594-F1EE-EF43-129FBE20A3F1}"/>
                    </a:ext>
                  </a:extLst>
                </p:cNvPr>
                <p:cNvSpPr/>
                <p:nvPr/>
              </p:nvSpPr>
              <p:spPr>
                <a:xfrm>
                  <a:off x="949960" y="3188555"/>
                  <a:ext cx="903282" cy="63160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8" name="Rectangle 27">
                <a:extLst>
                  <a:ext uri="{FF2B5EF4-FFF2-40B4-BE49-F238E27FC236}">
                    <a16:creationId xmlns:a16="http://schemas.microsoft.com/office/drawing/2014/main" id="{A1EFC73E-1579-B334-316D-01862E9E4C6E}"/>
                  </a:ext>
                </a:extLst>
              </p:cNvPr>
              <p:cNvSpPr/>
              <p:nvPr/>
            </p:nvSpPr>
            <p:spPr>
              <a:xfrm>
                <a:off x="3381504" y="2518844"/>
                <a:ext cx="903282" cy="40904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 name="Group 15">
              <a:extLst>
                <a:ext uri="{FF2B5EF4-FFF2-40B4-BE49-F238E27FC236}">
                  <a16:creationId xmlns:a16="http://schemas.microsoft.com/office/drawing/2014/main" id="{36014386-8CCA-E694-894F-806790470C77}"/>
                </a:ext>
              </a:extLst>
            </p:cNvPr>
            <p:cNvGrpSpPr/>
            <p:nvPr/>
          </p:nvGrpSpPr>
          <p:grpSpPr>
            <a:xfrm>
              <a:off x="3335076" y="5576866"/>
              <a:ext cx="3038184" cy="1282908"/>
              <a:chOff x="966421" y="1476661"/>
              <a:chExt cx="3318365" cy="1451411"/>
            </a:xfrm>
          </p:grpSpPr>
          <p:grpSp>
            <p:nvGrpSpPr>
              <p:cNvPr id="17" name="Group 16">
                <a:extLst>
                  <a:ext uri="{FF2B5EF4-FFF2-40B4-BE49-F238E27FC236}">
                    <a16:creationId xmlns:a16="http://schemas.microsoft.com/office/drawing/2014/main" id="{9359F9DE-13B1-9C93-1901-F582A83B2A67}"/>
                  </a:ext>
                </a:extLst>
              </p:cNvPr>
              <p:cNvGrpSpPr/>
              <p:nvPr/>
            </p:nvGrpSpPr>
            <p:grpSpPr>
              <a:xfrm>
                <a:off x="966421" y="1476661"/>
                <a:ext cx="3318365" cy="1451411"/>
                <a:chOff x="272927" y="1555735"/>
                <a:chExt cx="3318365" cy="2264425"/>
              </a:xfrm>
            </p:grpSpPr>
            <p:sp>
              <p:nvSpPr>
                <p:cNvPr id="21" name="Rectangle 20">
                  <a:extLst>
                    <a:ext uri="{FF2B5EF4-FFF2-40B4-BE49-F238E27FC236}">
                      <a16:creationId xmlns:a16="http://schemas.microsoft.com/office/drawing/2014/main" id="{275B5791-14EC-FAF4-A4FF-0C2E3B90E0F5}"/>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0F189115-F084-05AC-17A3-712EAE6E5C5D}"/>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625E6506-0C5A-BA1E-BB47-CCA24D437EA5}"/>
                    </a:ext>
                  </a:extLst>
                </p:cNvPr>
                <p:cNvSpPr/>
                <p:nvPr/>
              </p:nvSpPr>
              <p:spPr>
                <a:xfrm>
                  <a:off x="949960" y="3206557"/>
                  <a:ext cx="903282" cy="61360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0" name="Rectangle 19">
                <a:extLst>
                  <a:ext uri="{FF2B5EF4-FFF2-40B4-BE49-F238E27FC236}">
                    <a16:creationId xmlns:a16="http://schemas.microsoft.com/office/drawing/2014/main" id="{0EACC0E7-6866-FBB2-17B9-E6AF8FBA5895}"/>
                  </a:ext>
                </a:extLst>
              </p:cNvPr>
              <p:cNvSpPr/>
              <p:nvPr/>
            </p:nvSpPr>
            <p:spPr>
              <a:xfrm>
                <a:off x="3381504" y="2532418"/>
                <a:ext cx="903282" cy="39547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64" name="TextBox 63">
            <a:extLst>
              <a:ext uri="{FF2B5EF4-FFF2-40B4-BE49-F238E27FC236}">
                <a16:creationId xmlns:a16="http://schemas.microsoft.com/office/drawing/2014/main" id="{7EED54AF-3C15-9FF2-FB10-AFD5B8210511}"/>
              </a:ext>
            </a:extLst>
          </p:cNvPr>
          <p:cNvSpPr txBox="1"/>
          <p:nvPr/>
        </p:nvSpPr>
        <p:spPr>
          <a:xfrm>
            <a:off x="337406" y="3976478"/>
            <a:ext cx="801823" cy="276999"/>
          </a:xfrm>
          <a:prstGeom prst="rect">
            <a:avLst/>
          </a:prstGeom>
          <a:noFill/>
        </p:spPr>
        <p:txBody>
          <a:bodyPr wrap="none" rtlCol="0">
            <a:spAutoFit/>
          </a:bodyPr>
          <a:lstStyle/>
          <a:p>
            <a:r>
              <a:rPr lang="en-US" sz="1200"/>
              <a:t>i) 0.65 </a:t>
            </a:r>
            <a:r>
              <a:rPr lang="en-GB" sz="1200"/>
              <a:t>× 7</a:t>
            </a:r>
          </a:p>
        </p:txBody>
      </p:sp>
      <p:sp>
        <p:nvSpPr>
          <p:cNvPr id="65" name="TextBox 64">
            <a:extLst>
              <a:ext uri="{FF2B5EF4-FFF2-40B4-BE49-F238E27FC236}">
                <a16:creationId xmlns:a16="http://schemas.microsoft.com/office/drawing/2014/main" id="{14A23D25-229D-10DF-2DA7-D7CC6087AFE8}"/>
              </a:ext>
            </a:extLst>
          </p:cNvPr>
          <p:cNvSpPr txBox="1"/>
          <p:nvPr/>
        </p:nvSpPr>
        <p:spPr>
          <a:xfrm>
            <a:off x="1998677" y="3976477"/>
            <a:ext cx="803425" cy="276999"/>
          </a:xfrm>
          <a:prstGeom prst="rect">
            <a:avLst/>
          </a:prstGeom>
          <a:noFill/>
        </p:spPr>
        <p:txBody>
          <a:bodyPr wrap="none" rtlCol="0">
            <a:spAutoFit/>
          </a:bodyPr>
          <a:lstStyle/>
          <a:p>
            <a:r>
              <a:rPr lang="en-US" sz="1200"/>
              <a:t>j) 4.16 </a:t>
            </a:r>
            <a:r>
              <a:rPr lang="en-GB" sz="1200"/>
              <a:t>× 6</a:t>
            </a:r>
          </a:p>
        </p:txBody>
      </p:sp>
      <p:sp>
        <p:nvSpPr>
          <p:cNvPr id="66" name="TextBox 65">
            <a:extLst>
              <a:ext uri="{FF2B5EF4-FFF2-40B4-BE49-F238E27FC236}">
                <a16:creationId xmlns:a16="http://schemas.microsoft.com/office/drawing/2014/main" id="{7700E7FF-FB07-92DB-B70E-8A8320C35878}"/>
              </a:ext>
            </a:extLst>
          </p:cNvPr>
          <p:cNvSpPr txBox="1"/>
          <p:nvPr/>
        </p:nvSpPr>
        <p:spPr>
          <a:xfrm>
            <a:off x="3572303" y="3976477"/>
            <a:ext cx="837089" cy="276999"/>
          </a:xfrm>
          <a:prstGeom prst="rect">
            <a:avLst/>
          </a:prstGeom>
          <a:noFill/>
        </p:spPr>
        <p:txBody>
          <a:bodyPr wrap="none" rtlCol="0">
            <a:spAutoFit/>
          </a:bodyPr>
          <a:lstStyle/>
          <a:p>
            <a:r>
              <a:rPr lang="en-US" sz="1200"/>
              <a:t>k) 6.34 </a:t>
            </a:r>
            <a:r>
              <a:rPr lang="en-GB" sz="1200"/>
              <a:t>× 9</a:t>
            </a:r>
          </a:p>
        </p:txBody>
      </p:sp>
      <p:sp>
        <p:nvSpPr>
          <p:cNvPr id="67" name="TextBox 66">
            <a:extLst>
              <a:ext uri="{FF2B5EF4-FFF2-40B4-BE49-F238E27FC236}">
                <a16:creationId xmlns:a16="http://schemas.microsoft.com/office/drawing/2014/main" id="{37263652-6212-196B-BAD5-8685DF425921}"/>
              </a:ext>
            </a:extLst>
          </p:cNvPr>
          <p:cNvSpPr txBox="1"/>
          <p:nvPr/>
        </p:nvSpPr>
        <p:spPr>
          <a:xfrm>
            <a:off x="5196418" y="3976477"/>
            <a:ext cx="801823" cy="276999"/>
          </a:xfrm>
          <a:prstGeom prst="rect">
            <a:avLst/>
          </a:prstGeom>
          <a:noFill/>
        </p:spPr>
        <p:txBody>
          <a:bodyPr wrap="none" rtlCol="0">
            <a:spAutoFit/>
          </a:bodyPr>
          <a:lstStyle/>
          <a:p>
            <a:r>
              <a:rPr lang="en-US" sz="1200"/>
              <a:t>l) 7.32 </a:t>
            </a:r>
            <a:r>
              <a:rPr lang="en-GB" sz="1200"/>
              <a:t>× 8</a:t>
            </a:r>
            <a:endParaRPr lang="en-GB" sz="1200" baseline="30000"/>
          </a:p>
        </p:txBody>
      </p:sp>
      <p:grpSp>
        <p:nvGrpSpPr>
          <p:cNvPr id="68" name="Group 67">
            <a:extLst>
              <a:ext uri="{FF2B5EF4-FFF2-40B4-BE49-F238E27FC236}">
                <a16:creationId xmlns:a16="http://schemas.microsoft.com/office/drawing/2014/main" id="{0CCA3003-EA0A-BCD3-93C5-8E8307A7C039}"/>
              </a:ext>
            </a:extLst>
          </p:cNvPr>
          <p:cNvGrpSpPr/>
          <p:nvPr/>
        </p:nvGrpSpPr>
        <p:grpSpPr>
          <a:xfrm>
            <a:off x="337406" y="4253476"/>
            <a:ext cx="6180564" cy="1440910"/>
            <a:chOff x="192696" y="5576866"/>
            <a:chExt cx="6180564" cy="1301908"/>
          </a:xfrm>
        </p:grpSpPr>
        <p:grpSp>
          <p:nvGrpSpPr>
            <p:cNvPr id="69" name="Group 68">
              <a:extLst>
                <a:ext uri="{FF2B5EF4-FFF2-40B4-BE49-F238E27FC236}">
                  <a16:creationId xmlns:a16="http://schemas.microsoft.com/office/drawing/2014/main" id="{6A9216D3-23DD-702F-0F95-F1507CD919FC}"/>
                </a:ext>
              </a:extLst>
            </p:cNvPr>
            <p:cNvGrpSpPr/>
            <p:nvPr/>
          </p:nvGrpSpPr>
          <p:grpSpPr>
            <a:xfrm>
              <a:off x="192696" y="5595866"/>
              <a:ext cx="3038184" cy="1282908"/>
              <a:chOff x="966421" y="1476661"/>
              <a:chExt cx="3318365" cy="1451411"/>
            </a:xfrm>
          </p:grpSpPr>
          <p:grpSp>
            <p:nvGrpSpPr>
              <p:cNvPr id="76" name="Group 75">
                <a:extLst>
                  <a:ext uri="{FF2B5EF4-FFF2-40B4-BE49-F238E27FC236}">
                    <a16:creationId xmlns:a16="http://schemas.microsoft.com/office/drawing/2014/main" id="{81D23700-B26D-28DB-3CB3-0CA823F7FC17}"/>
                  </a:ext>
                </a:extLst>
              </p:cNvPr>
              <p:cNvGrpSpPr/>
              <p:nvPr/>
            </p:nvGrpSpPr>
            <p:grpSpPr>
              <a:xfrm>
                <a:off x="966421" y="1476661"/>
                <a:ext cx="3318365" cy="1451411"/>
                <a:chOff x="272927" y="1555735"/>
                <a:chExt cx="3318365" cy="2264425"/>
              </a:xfrm>
            </p:grpSpPr>
            <p:sp>
              <p:nvSpPr>
                <p:cNvPr id="78" name="Rectangle 77">
                  <a:extLst>
                    <a:ext uri="{FF2B5EF4-FFF2-40B4-BE49-F238E27FC236}">
                      <a16:creationId xmlns:a16="http://schemas.microsoft.com/office/drawing/2014/main" id="{735C5187-D5F5-ED2E-4EA1-D75894025366}"/>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F0252ED1-D929-E6E2-86F1-F6A72C07402A}"/>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1E62AB8C-BFF8-8A27-B0AD-F0DF63225001}"/>
                    </a:ext>
                  </a:extLst>
                </p:cNvPr>
                <p:cNvSpPr/>
                <p:nvPr/>
              </p:nvSpPr>
              <p:spPr>
                <a:xfrm>
                  <a:off x="949960" y="3188555"/>
                  <a:ext cx="903282" cy="63160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77" name="Rectangle 76">
                <a:extLst>
                  <a:ext uri="{FF2B5EF4-FFF2-40B4-BE49-F238E27FC236}">
                    <a16:creationId xmlns:a16="http://schemas.microsoft.com/office/drawing/2014/main" id="{DDBF97B6-4899-0E1F-32C1-814FEEF97DFF}"/>
                  </a:ext>
                </a:extLst>
              </p:cNvPr>
              <p:cNvSpPr/>
              <p:nvPr/>
            </p:nvSpPr>
            <p:spPr>
              <a:xfrm>
                <a:off x="3381504" y="2518844"/>
                <a:ext cx="903282" cy="40904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70" name="Group 69">
              <a:extLst>
                <a:ext uri="{FF2B5EF4-FFF2-40B4-BE49-F238E27FC236}">
                  <a16:creationId xmlns:a16="http://schemas.microsoft.com/office/drawing/2014/main" id="{FBB0804D-4586-77AE-CDA7-9DDD7278F1FC}"/>
                </a:ext>
              </a:extLst>
            </p:cNvPr>
            <p:cNvGrpSpPr/>
            <p:nvPr/>
          </p:nvGrpSpPr>
          <p:grpSpPr>
            <a:xfrm>
              <a:off x="3335076" y="5576866"/>
              <a:ext cx="3038184" cy="1282908"/>
              <a:chOff x="966421" y="1476661"/>
              <a:chExt cx="3318365" cy="1451411"/>
            </a:xfrm>
          </p:grpSpPr>
          <p:grpSp>
            <p:nvGrpSpPr>
              <p:cNvPr id="71" name="Group 70">
                <a:extLst>
                  <a:ext uri="{FF2B5EF4-FFF2-40B4-BE49-F238E27FC236}">
                    <a16:creationId xmlns:a16="http://schemas.microsoft.com/office/drawing/2014/main" id="{0244237E-B1F6-2347-5468-49E88D7237D0}"/>
                  </a:ext>
                </a:extLst>
              </p:cNvPr>
              <p:cNvGrpSpPr/>
              <p:nvPr/>
            </p:nvGrpSpPr>
            <p:grpSpPr>
              <a:xfrm>
                <a:off x="966421" y="1476661"/>
                <a:ext cx="3318365" cy="1451411"/>
                <a:chOff x="272927" y="1555735"/>
                <a:chExt cx="3318365" cy="2264425"/>
              </a:xfrm>
            </p:grpSpPr>
            <p:sp>
              <p:nvSpPr>
                <p:cNvPr id="73" name="Rectangle 72">
                  <a:extLst>
                    <a:ext uri="{FF2B5EF4-FFF2-40B4-BE49-F238E27FC236}">
                      <a16:creationId xmlns:a16="http://schemas.microsoft.com/office/drawing/2014/main" id="{75E1523C-48BA-1781-4D4A-9ACB7612B625}"/>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0A4BACDC-A2C1-5106-1649-28F5C1A8062F}"/>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7A237F78-AFBE-AA86-4A4D-961E63B3D4F3}"/>
                    </a:ext>
                  </a:extLst>
                </p:cNvPr>
                <p:cNvSpPr/>
                <p:nvPr/>
              </p:nvSpPr>
              <p:spPr>
                <a:xfrm>
                  <a:off x="949960" y="3206557"/>
                  <a:ext cx="903282" cy="61360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72" name="Rectangle 71">
                <a:extLst>
                  <a:ext uri="{FF2B5EF4-FFF2-40B4-BE49-F238E27FC236}">
                    <a16:creationId xmlns:a16="http://schemas.microsoft.com/office/drawing/2014/main" id="{C7AD7470-A69B-5004-3055-849F60A0D30A}"/>
                  </a:ext>
                </a:extLst>
              </p:cNvPr>
              <p:cNvSpPr/>
              <p:nvPr/>
            </p:nvSpPr>
            <p:spPr>
              <a:xfrm>
                <a:off x="3381504" y="2532418"/>
                <a:ext cx="903282" cy="39547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82" name="TextBox 81">
            <a:extLst>
              <a:ext uri="{FF2B5EF4-FFF2-40B4-BE49-F238E27FC236}">
                <a16:creationId xmlns:a16="http://schemas.microsoft.com/office/drawing/2014/main" id="{612E4882-06F6-D27A-871A-7A8B895B7574}"/>
              </a:ext>
            </a:extLst>
          </p:cNvPr>
          <p:cNvSpPr txBox="1"/>
          <p:nvPr/>
        </p:nvSpPr>
        <p:spPr>
          <a:xfrm>
            <a:off x="1188611" y="5953281"/>
            <a:ext cx="1410704" cy="276999"/>
          </a:xfrm>
          <a:prstGeom prst="rect">
            <a:avLst/>
          </a:prstGeom>
          <a:noFill/>
          <a:ln>
            <a:noFill/>
          </a:ln>
        </p:spPr>
        <p:txBody>
          <a:bodyPr wrap="square" rtlCol="0">
            <a:spAutoFit/>
          </a:bodyPr>
          <a:lstStyle/>
          <a:p>
            <a:r>
              <a:rPr lang="en-GB" sz="1200" b="1" i="1">
                <a:solidFill>
                  <a:srgbClr val="FF0000"/>
                </a:solidFill>
              </a:rPr>
              <a:t>Example 4 - I do…</a:t>
            </a:r>
          </a:p>
        </p:txBody>
      </p:sp>
      <p:sp>
        <p:nvSpPr>
          <p:cNvPr id="83" name="TextBox 82">
            <a:extLst>
              <a:ext uri="{FF2B5EF4-FFF2-40B4-BE49-F238E27FC236}">
                <a16:creationId xmlns:a16="http://schemas.microsoft.com/office/drawing/2014/main" id="{29119F47-15E4-C087-C0F7-C90985B6F94D}"/>
              </a:ext>
            </a:extLst>
          </p:cNvPr>
          <p:cNvSpPr txBox="1"/>
          <p:nvPr/>
        </p:nvSpPr>
        <p:spPr>
          <a:xfrm>
            <a:off x="5107967" y="5946460"/>
            <a:ext cx="1643405" cy="276999"/>
          </a:xfrm>
          <a:prstGeom prst="rect">
            <a:avLst/>
          </a:prstGeom>
          <a:noFill/>
          <a:ln>
            <a:noFill/>
          </a:ln>
        </p:spPr>
        <p:txBody>
          <a:bodyPr wrap="square" rtlCol="0">
            <a:spAutoFit/>
          </a:bodyPr>
          <a:lstStyle/>
          <a:p>
            <a:r>
              <a:rPr lang="en-GB" sz="1200" b="1" i="1">
                <a:solidFill>
                  <a:srgbClr val="00B050"/>
                </a:solidFill>
              </a:rPr>
              <a:t>Example 6 – You do…</a:t>
            </a:r>
          </a:p>
        </p:txBody>
      </p:sp>
      <p:sp>
        <p:nvSpPr>
          <p:cNvPr id="84" name="TextBox 83">
            <a:extLst>
              <a:ext uri="{FF2B5EF4-FFF2-40B4-BE49-F238E27FC236}">
                <a16:creationId xmlns:a16="http://schemas.microsoft.com/office/drawing/2014/main" id="{7BBE5B46-C7BC-F4D7-F351-2C12985D3BDC}"/>
              </a:ext>
            </a:extLst>
          </p:cNvPr>
          <p:cNvSpPr txBox="1"/>
          <p:nvPr/>
        </p:nvSpPr>
        <p:spPr>
          <a:xfrm>
            <a:off x="3149889" y="5933887"/>
            <a:ext cx="1643405" cy="276999"/>
          </a:xfrm>
          <a:prstGeom prst="rect">
            <a:avLst/>
          </a:prstGeom>
          <a:noFill/>
          <a:ln>
            <a:noFill/>
          </a:ln>
        </p:spPr>
        <p:txBody>
          <a:bodyPr wrap="square" rtlCol="0">
            <a:spAutoFit/>
          </a:bodyPr>
          <a:lstStyle/>
          <a:p>
            <a:r>
              <a:rPr lang="en-GB" sz="1200" b="1" i="1">
                <a:solidFill>
                  <a:schemeClr val="accent2"/>
                </a:solidFill>
              </a:rPr>
              <a:t>Example 5  – We do…</a:t>
            </a:r>
          </a:p>
        </p:txBody>
      </p:sp>
      <p:sp>
        <p:nvSpPr>
          <p:cNvPr id="85" name="Rectangle 84">
            <a:extLst>
              <a:ext uri="{FF2B5EF4-FFF2-40B4-BE49-F238E27FC236}">
                <a16:creationId xmlns:a16="http://schemas.microsoft.com/office/drawing/2014/main" id="{DA19BD99-0630-3318-CFCF-572350A8E08C}"/>
              </a:ext>
            </a:extLst>
          </p:cNvPr>
          <p:cNvSpPr/>
          <p:nvPr/>
        </p:nvSpPr>
        <p:spPr>
          <a:xfrm>
            <a:off x="2492" y="5715413"/>
            <a:ext cx="3015426" cy="27699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Multiplying decimals by decimals</a:t>
            </a:r>
            <a:endParaRPr lang="en-GB" sz="1200">
              <a:solidFill>
                <a:schemeClr val="bg1"/>
              </a:solidFill>
            </a:endParaRPr>
          </a:p>
        </p:txBody>
      </p:sp>
      <mc:AlternateContent xmlns:mc="http://schemas.openxmlformats.org/markup-compatibility/2006" xmlns:a14="http://schemas.microsoft.com/office/drawing/2010/main">
        <mc:Choice Requires="a14">
          <p:graphicFrame>
            <p:nvGraphicFramePr>
              <p:cNvPr id="89" name="Table 88">
                <a:extLst>
                  <a:ext uri="{FF2B5EF4-FFF2-40B4-BE49-F238E27FC236}">
                    <a16:creationId xmlns:a16="http://schemas.microsoft.com/office/drawing/2014/main" id="{C26BDD8F-EC70-B3A7-7E7B-D5B14796C749}"/>
                  </a:ext>
                </a:extLst>
              </p:cNvPr>
              <p:cNvGraphicFramePr>
                <a:graphicFrameLocks noGrp="1"/>
              </p:cNvGraphicFramePr>
              <p:nvPr/>
            </p:nvGraphicFramePr>
            <p:xfrm>
              <a:off x="142761" y="6271811"/>
              <a:ext cx="6572478" cy="3344460"/>
            </p:xfrm>
            <a:graphic>
              <a:graphicData uri="http://schemas.openxmlformats.org/drawingml/2006/table">
                <a:tbl>
                  <a:tblPr firstRow="1" bandRow="1">
                    <a:tableStyleId>{5C22544A-7EE6-4342-B048-85BDC9FD1C3A}</a:tableStyleId>
                  </a:tblPr>
                  <a:tblGrid>
                    <a:gridCol w="1118880">
                      <a:extLst>
                        <a:ext uri="{9D8B030D-6E8A-4147-A177-3AD203B41FA5}">
                          <a16:colId xmlns:a16="http://schemas.microsoft.com/office/drawing/2014/main" val="1568142362"/>
                        </a:ext>
                      </a:extLst>
                    </a:gridCol>
                    <a:gridCol w="1817866">
                      <a:extLst>
                        <a:ext uri="{9D8B030D-6E8A-4147-A177-3AD203B41FA5}">
                          <a16:colId xmlns:a16="http://schemas.microsoft.com/office/drawing/2014/main" val="3551711160"/>
                        </a:ext>
                      </a:extLst>
                    </a:gridCol>
                    <a:gridCol w="1817866">
                      <a:extLst>
                        <a:ext uri="{9D8B030D-6E8A-4147-A177-3AD203B41FA5}">
                          <a16:colId xmlns:a16="http://schemas.microsoft.com/office/drawing/2014/main" val="1712497518"/>
                        </a:ext>
                      </a:extLst>
                    </a:gridCol>
                    <a:gridCol w="1817866">
                      <a:extLst>
                        <a:ext uri="{9D8B030D-6E8A-4147-A177-3AD203B41FA5}">
                          <a16:colId xmlns:a16="http://schemas.microsoft.com/office/drawing/2014/main" val="886122921"/>
                        </a:ext>
                      </a:extLst>
                    </a:gridCol>
                  </a:tblGrid>
                  <a:tr h="38437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2.4</m:t>
                                </m:r>
                                <m:r>
                                  <a:rPr lang="en-GB" sz="1200" b="0" i="1" smtClean="0">
                                    <a:solidFill>
                                      <a:schemeClr val="tx1"/>
                                    </a:solidFill>
                                    <a:latin typeface="Cambria Math" panose="02040503050406030204" pitchFamily="18" charset="0"/>
                                    <a:ea typeface="Cambria Math" panose="02040503050406030204" pitchFamily="18" charset="0"/>
                                  </a:rPr>
                                  <m:t>×0.5</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ea typeface="Cambria Math" panose="02040503050406030204" pitchFamily="18" charset="0"/>
                                  </a:rPr>
                                  <m:t>0.2×3.4</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1.7</m:t>
                                </m:r>
                                <m:r>
                                  <a:rPr lang="en-GB" sz="1200" b="0" i="1" smtClean="0">
                                    <a:solidFill>
                                      <a:schemeClr val="tx1"/>
                                    </a:solidFill>
                                    <a:latin typeface="Cambria Math" panose="02040503050406030204" pitchFamily="18" charset="0"/>
                                    <a:ea typeface="Cambria Math" panose="02040503050406030204" pitchFamily="18" charset="0"/>
                                  </a:rPr>
                                  <m:t>×0.3</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20202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Multiply the numbers to make them integers </a:t>
                          </a:r>
                          <a:r>
                            <a:rPr lang="en-US" sz="1100" b="0" baseline="0">
                              <a:solidFill>
                                <a:schemeClr val="tx1"/>
                              </a:solidFill>
                            </a:rPr>
                            <a:t>(</a:t>
                          </a:r>
                          <a14:m>
                            <m:oMath xmlns:m="http://schemas.openxmlformats.org/officeDocument/2006/math">
                              <m:r>
                                <a:rPr lang="en-GB" sz="1100" b="0" i="1" baseline="0" dirty="0" smtClean="0">
                                  <a:solidFill>
                                    <a:schemeClr val="tx1"/>
                                  </a:solidFill>
                                  <a:latin typeface="Cambria Math" panose="02040503050406030204" pitchFamily="18" charset="0"/>
                                </a:rPr>
                                <m:t>×</m:t>
                              </m:r>
                              <m:r>
                                <a:rPr lang="en-US" sz="1100" i="1" baseline="0" dirty="0" smtClean="0">
                                  <a:solidFill>
                                    <a:schemeClr val="tx1"/>
                                  </a:solidFill>
                                  <a:latin typeface="Cambria Math" panose="02040503050406030204" pitchFamily="18" charset="0"/>
                                </a:rPr>
                                <m:t>10, 100 </m:t>
                              </m:r>
                              <m:r>
                                <a:rPr lang="en-US" sz="1100" i="1" baseline="0" dirty="0" smtClean="0">
                                  <a:solidFill>
                                    <a:schemeClr val="tx1"/>
                                  </a:solidFill>
                                  <a:latin typeface="Cambria Math" panose="02040503050406030204" pitchFamily="18" charset="0"/>
                                </a:rPr>
                                <m:t>𝑜𝑟</m:t>
                              </m:r>
                              <m:r>
                                <a:rPr lang="en-US" sz="1100" i="1" baseline="0" dirty="0" smtClean="0">
                                  <a:solidFill>
                                    <a:schemeClr val="tx1"/>
                                  </a:solidFill>
                                  <a:latin typeface="Cambria Math" panose="02040503050406030204" pitchFamily="18" charset="0"/>
                                </a:rPr>
                                <m:t> 1000</m:t>
                              </m:r>
                            </m:oMath>
                          </a14:m>
                          <a:r>
                            <a:rPr lang="en-GB" sz="1100">
                              <a:solidFill>
                                <a:schemeClr val="tx1"/>
                              </a:solidFill>
                            </a:rPr>
                            <a:t>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3899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Carry out the multiplication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5697834"/>
                      </a:ext>
                    </a:extLst>
                  </a:tr>
                  <a:tr h="131906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Divide the answer by the amount you multiplied each number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992553"/>
                      </a:ext>
                    </a:extLst>
                  </a:tr>
                </a:tbl>
              </a:graphicData>
            </a:graphic>
          </p:graphicFrame>
        </mc:Choice>
        <mc:Fallback xmlns="">
          <p:graphicFrame>
            <p:nvGraphicFramePr>
              <p:cNvPr id="89" name="Table 88">
                <a:extLst>
                  <a:ext uri="{FF2B5EF4-FFF2-40B4-BE49-F238E27FC236}">
                    <a16:creationId xmlns:a16="http://schemas.microsoft.com/office/drawing/2014/main" id="{C26BDD8F-EC70-B3A7-7E7B-D5B14796C749}"/>
                  </a:ext>
                </a:extLst>
              </p:cNvPr>
              <p:cNvGraphicFramePr>
                <a:graphicFrameLocks noGrp="1"/>
              </p:cNvGraphicFramePr>
              <p:nvPr/>
            </p:nvGraphicFramePr>
            <p:xfrm>
              <a:off x="142761" y="6271811"/>
              <a:ext cx="6572478" cy="3344460"/>
            </p:xfrm>
            <a:graphic>
              <a:graphicData uri="http://schemas.openxmlformats.org/drawingml/2006/table">
                <a:tbl>
                  <a:tblPr firstRow="1" bandRow="1">
                    <a:tableStyleId>{5C22544A-7EE6-4342-B048-85BDC9FD1C3A}</a:tableStyleId>
                  </a:tblPr>
                  <a:tblGrid>
                    <a:gridCol w="1118880">
                      <a:extLst>
                        <a:ext uri="{9D8B030D-6E8A-4147-A177-3AD203B41FA5}">
                          <a16:colId xmlns:a16="http://schemas.microsoft.com/office/drawing/2014/main" val="1568142362"/>
                        </a:ext>
                      </a:extLst>
                    </a:gridCol>
                    <a:gridCol w="1817866">
                      <a:extLst>
                        <a:ext uri="{9D8B030D-6E8A-4147-A177-3AD203B41FA5}">
                          <a16:colId xmlns:a16="http://schemas.microsoft.com/office/drawing/2014/main" val="3551711160"/>
                        </a:ext>
                      </a:extLst>
                    </a:gridCol>
                    <a:gridCol w="1817866">
                      <a:extLst>
                        <a:ext uri="{9D8B030D-6E8A-4147-A177-3AD203B41FA5}">
                          <a16:colId xmlns:a16="http://schemas.microsoft.com/office/drawing/2014/main" val="1712497518"/>
                        </a:ext>
                      </a:extLst>
                    </a:gridCol>
                    <a:gridCol w="1817866">
                      <a:extLst>
                        <a:ext uri="{9D8B030D-6E8A-4147-A177-3AD203B41FA5}">
                          <a16:colId xmlns:a16="http://schemas.microsoft.com/office/drawing/2014/main" val="886122921"/>
                        </a:ext>
                      </a:extLst>
                    </a:gridCol>
                  </a:tblGrid>
                  <a:tr h="38437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2081" t="-1587" r="-201007" b="-77619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1538" t="-1587" r="-100334" b="-77619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2416" t="-1587" r="-671" b="-776190"/>
                          </a:stretch>
                        </a:blipFill>
                      </a:tcPr>
                    </a:tc>
                    <a:extLst>
                      <a:ext uri="{0D108BD9-81ED-4DB2-BD59-A6C34878D82A}">
                        <a16:rowId xmlns:a16="http://schemas.microsoft.com/office/drawing/2014/main" val="2357201933"/>
                      </a:ext>
                    </a:extLst>
                  </a:tr>
                  <a:tr h="120202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43" t="-32323" r="-487500" b="-146970"/>
                          </a:stretch>
                        </a:blip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3899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Carry out the multiplication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5697834"/>
                      </a:ext>
                    </a:extLst>
                  </a:tr>
                  <a:tr h="131906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Divide the answer by the amount you multiplied each number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992553"/>
                      </a:ext>
                    </a:extLst>
                  </a:tr>
                </a:tbl>
              </a:graphicData>
            </a:graphic>
          </p:graphicFrame>
        </mc:Fallback>
      </mc:AlternateContent>
      <p:grpSp>
        <p:nvGrpSpPr>
          <p:cNvPr id="90" name="Group 89">
            <a:extLst>
              <a:ext uri="{FF2B5EF4-FFF2-40B4-BE49-F238E27FC236}">
                <a16:creationId xmlns:a16="http://schemas.microsoft.com/office/drawing/2014/main" id="{CFA8105F-070B-C30C-FD71-0F21379D009D}"/>
              </a:ext>
            </a:extLst>
          </p:cNvPr>
          <p:cNvGrpSpPr/>
          <p:nvPr/>
        </p:nvGrpSpPr>
        <p:grpSpPr>
          <a:xfrm>
            <a:off x="1325205" y="7389793"/>
            <a:ext cx="5320583" cy="1194969"/>
            <a:chOff x="280324" y="4331428"/>
            <a:chExt cx="5779876" cy="1194969"/>
          </a:xfrm>
        </p:grpSpPr>
        <p:pic>
          <p:nvPicPr>
            <p:cNvPr id="91" name="Picture 90" descr="A screenshot of a computer&#10;&#10;Description automatically generated">
              <a:extLst>
                <a:ext uri="{FF2B5EF4-FFF2-40B4-BE49-F238E27FC236}">
                  <a16:creationId xmlns:a16="http://schemas.microsoft.com/office/drawing/2014/main" id="{CA7D40FE-1649-5A82-BBC6-4D098195F62A}"/>
                </a:ext>
              </a:extLst>
            </p:cNvPr>
            <p:cNvPicPr>
              <a:picLocks noChangeAspect="1"/>
            </p:cNvPicPr>
            <p:nvPr/>
          </p:nvPicPr>
          <p:blipFill rotWithShape="1">
            <a:blip r:embed="rId4"/>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92" name="Picture 91" descr="A screenshot of a computer&#10;&#10;Description automatically generated">
              <a:extLst>
                <a:ext uri="{FF2B5EF4-FFF2-40B4-BE49-F238E27FC236}">
                  <a16:creationId xmlns:a16="http://schemas.microsoft.com/office/drawing/2014/main" id="{A3A5922B-CD97-7281-9D8D-8F7862A8CDA5}"/>
                </a:ext>
              </a:extLst>
            </p:cNvPr>
            <p:cNvPicPr>
              <a:picLocks noChangeAspect="1"/>
            </p:cNvPicPr>
            <p:nvPr/>
          </p:nvPicPr>
          <p:blipFill rotWithShape="1">
            <a:blip r:embed="rId4"/>
            <a:srcRect l="37224" t="34284" r="49991" b="46867"/>
            <a:stretch/>
          </p:blipFill>
          <p:spPr bwMode="auto">
            <a:xfrm>
              <a:off x="2287891" y="4331428"/>
              <a:ext cx="1801789" cy="1194969"/>
            </a:xfrm>
            <a:prstGeom prst="rect">
              <a:avLst/>
            </a:prstGeom>
            <a:ln>
              <a:noFill/>
            </a:ln>
            <a:extLst>
              <a:ext uri="{53640926-AAD7-44D8-BBD7-CCE9431645EC}">
                <a14:shadowObscured xmlns:a14="http://schemas.microsoft.com/office/drawing/2010/main"/>
              </a:ext>
            </a:extLst>
          </p:spPr>
        </p:pic>
        <p:pic>
          <p:nvPicPr>
            <p:cNvPr id="93" name="Picture 92" descr="A screenshot of a computer&#10;&#10;Description automatically generated">
              <a:extLst>
                <a:ext uri="{FF2B5EF4-FFF2-40B4-BE49-F238E27FC236}">
                  <a16:creationId xmlns:a16="http://schemas.microsoft.com/office/drawing/2014/main" id="{CA661BBD-CD44-20BF-CEBD-06B64EA17A1D}"/>
                </a:ext>
              </a:extLst>
            </p:cNvPr>
            <p:cNvPicPr>
              <a:picLocks noChangeAspect="1"/>
            </p:cNvPicPr>
            <p:nvPr/>
          </p:nvPicPr>
          <p:blipFill rotWithShape="1">
            <a:blip r:embed="rId4"/>
            <a:srcRect l="37224" t="34284" r="49991" b="46867"/>
            <a:stretch/>
          </p:blipFill>
          <p:spPr bwMode="auto">
            <a:xfrm>
              <a:off x="4258411" y="4331428"/>
              <a:ext cx="1801789" cy="1194969"/>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18000714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A5520D70-FEDF-C3A1-0595-C97FEBD5AD7B}"/>
                  </a:ext>
                </a:extLst>
              </p:cNvPr>
              <p:cNvGraphicFramePr>
                <a:graphicFrameLocks noGrp="1"/>
              </p:cNvGraphicFramePr>
              <p:nvPr/>
            </p:nvGraphicFramePr>
            <p:xfrm>
              <a:off x="142761" y="3934792"/>
              <a:ext cx="6572478" cy="3162277"/>
            </p:xfrm>
            <a:graphic>
              <a:graphicData uri="http://schemas.openxmlformats.org/drawingml/2006/table">
                <a:tbl>
                  <a:tblPr firstRow="1" bandRow="1">
                    <a:tableStyleId>{5C22544A-7EE6-4342-B048-85BDC9FD1C3A}</a:tableStyleId>
                  </a:tblPr>
                  <a:tblGrid>
                    <a:gridCol w="1072581">
                      <a:extLst>
                        <a:ext uri="{9D8B030D-6E8A-4147-A177-3AD203B41FA5}">
                          <a16:colId xmlns:a16="http://schemas.microsoft.com/office/drawing/2014/main" val="1568142362"/>
                        </a:ext>
                      </a:extLst>
                    </a:gridCol>
                    <a:gridCol w="1833299">
                      <a:extLst>
                        <a:ext uri="{9D8B030D-6E8A-4147-A177-3AD203B41FA5}">
                          <a16:colId xmlns:a16="http://schemas.microsoft.com/office/drawing/2014/main" val="3551711160"/>
                        </a:ext>
                      </a:extLst>
                    </a:gridCol>
                    <a:gridCol w="1833299">
                      <a:extLst>
                        <a:ext uri="{9D8B030D-6E8A-4147-A177-3AD203B41FA5}">
                          <a16:colId xmlns:a16="http://schemas.microsoft.com/office/drawing/2014/main" val="1712497518"/>
                        </a:ext>
                      </a:extLst>
                    </a:gridCol>
                    <a:gridCol w="1833299">
                      <a:extLst>
                        <a:ext uri="{9D8B030D-6E8A-4147-A177-3AD203B41FA5}">
                          <a16:colId xmlns:a16="http://schemas.microsoft.com/office/drawing/2014/main" val="886122921"/>
                        </a:ext>
                      </a:extLst>
                    </a:gridCol>
                  </a:tblGrid>
                  <a:tr h="36967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21.4</m:t>
                                </m:r>
                                <m:r>
                                  <a:rPr lang="en-GB" sz="1200" b="0" i="1" smtClean="0">
                                    <a:solidFill>
                                      <a:schemeClr val="tx1"/>
                                    </a:solidFill>
                                    <a:latin typeface="Cambria Math" panose="02040503050406030204" pitchFamily="18" charset="0"/>
                                    <a:ea typeface="Cambria Math" panose="02040503050406030204" pitchFamily="18" charset="0"/>
                                  </a:rPr>
                                  <m:t>×3.5</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ea typeface="Cambria Math" panose="02040503050406030204" pitchFamily="18" charset="0"/>
                                  </a:rPr>
                                  <m:t>3.24×7.2</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1.17</m:t>
                                </m:r>
                                <m:r>
                                  <a:rPr lang="en-GB" sz="1200" b="0" i="1" smtClean="0">
                                    <a:solidFill>
                                      <a:schemeClr val="tx1"/>
                                    </a:solidFill>
                                    <a:latin typeface="Cambria Math" panose="02040503050406030204" pitchFamily="18" charset="0"/>
                                    <a:ea typeface="Cambria Math" panose="02040503050406030204" pitchFamily="18" charset="0"/>
                                  </a:rPr>
                                  <m:t>×2.3</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3492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Multiply the numbers to make them integers </a:t>
                          </a:r>
                          <a:r>
                            <a:rPr lang="en-US" sz="1100" b="0" baseline="0">
                              <a:solidFill>
                                <a:schemeClr val="tx1"/>
                              </a:solidFill>
                            </a:rPr>
                            <a:t>(</a:t>
                          </a:r>
                          <a14:m>
                            <m:oMath xmlns:m="http://schemas.openxmlformats.org/officeDocument/2006/math">
                              <m:r>
                                <a:rPr lang="en-GB" sz="1100" b="0" i="1" baseline="0" dirty="0" smtClean="0">
                                  <a:solidFill>
                                    <a:schemeClr val="tx1"/>
                                  </a:solidFill>
                                  <a:latin typeface="Cambria Math" panose="02040503050406030204" pitchFamily="18" charset="0"/>
                                </a:rPr>
                                <m:t>×</m:t>
                              </m:r>
                              <m:r>
                                <a:rPr lang="en-US" sz="1100" i="1" baseline="0" dirty="0" smtClean="0">
                                  <a:solidFill>
                                    <a:schemeClr val="tx1"/>
                                  </a:solidFill>
                                  <a:latin typeface="Cambria Math" panose="02040503050406030204" pitchFamily="18" charset="0"/>
                                </a:rPr>
                                <m:t>10, 100 </m:t>
                              </m:r>
                              <m:r>
                                <a:rPr lang="en-US" sz="1100" i="1" baseline="0" dirty="0" smtClean="0">
                                  <a:solidFill>
                                    <a:schemeClr val="tx1"/>
                                  </a:solidFill>
                                  <a:latin typeface="Cambria Math" panose="02040503050406030204" pitchFamily="18" charset="0"/>
                                </a:rPr>
                                <m:t>𝑜𝑟</m:t>
                              </m:r>
                              <m:r>
                                <a:rPr lang="en-US" sz="1100" i="1" baseline="0" dirty="0" smtClean="0">
                                  <a:solidFill>
                                    <a:schemeClr val="tx1"/>
                                  </a:solidFill>
                                  <a:latin typeface="Cambria Math" panose="02040503050406030204" pitchFamily="18" charset="0"/>
                                </a:rPr>
                                <m:t> 1000</m:t>
                              </m:r>
                            </m:oMath>
                          </a14:m>
                          <a:r>
                            <a:rPr lang="en-GB" sz="1100">
                              <a:solidFill>
                                <a:schemeClr val="tx1"/>
                              </a:solidFill>
                            </a:rPr>
                            <a:t>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37716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Carry out the multiplication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467726"/>
                      </a:ext>
                    </a:extLst>
                  </a:tr>
                  <a:tr h="126860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Divide the answer by the amount you multiplied each number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481789"/>
                      </a:ext>
                    </a:extLst>
                  </a:tr>
                </a:tbl>
              </a:graphicData>
            </a:graphic>
          </p:graphicFrame>
        </mc:Choice>
        <mc:Fallback xmlns="">
          <p:graphicFrame>
            <p:nvGraphicFramePr>
              <p:cNvPr id="3" name="Table 2">
                <a:extLst>
                  <a:ext uri="{FF2B5EF4-FFF2-40B4-BE49-F238E27FC236}">
                    <a16:creationId xmlns:a16="http://schemas.microsoft.com/office/drawing/2014/main" id="{A5520D70-FEDF-C3A1-0595-C97FEBD5AD7B}"/>
                  </a:ext>
                </a:extLst>
              </p:cNvPr>
              <p:cNvGraphicFramePr>
                <a:graphicFrameLocks noGrp="1"/>
              </p:cNvGraphicFramePr>
              <p:nvPr/>
            </p:nvGraphicFramePr>
            <p:xfrm>
              <a:off x="142761" y="3934792"/>
              <a:ext cx="6572478" cy="3162277"/>
            </p:xfrm>
            <a:graphic>
              <a:graphicData uri="http://schemas.openxmlformats.org/drawingml/2006/table">
                <a:tbl>
                  <a:tblPr firstRow="1" bandRow="1">
                    <a:tableStyleId>{5C22544A-7EE6-4342-B048-85BDC9FD1C3A}</a:tableStyleId>
                  </a:tblPr>
                  <a:tblGrid>
                    <a:gridCol w="1072581">
                      <a:extLst>
                        <a:ext uri="{9D8B030D-6E8A-4147-A177-3AD203B41FA5}">
                          <a16:colId xmlns:a16="http://schemas.microsoft.com/office/drawing/2014/main" val="1568142362"/>
                        </a:ext>
                      </a:extLst>
                    </a:gridCol>
                    <a:gridCol w="1833299">
                      <a:extLst>
                        <a:ext uri="{9D8B030D-6E8A-4147-A177-3AD203B41FA5}">
                          <a16:colId xmlns:a16="http://schemas.microsoft.com/office/drawing/2014/main" val="3551711160"/>
                        </a:ext>
                      </a:extLst>
                    </a:gridCol>
                    <a:gridCol w="1833299">
                      <a:extLst>
                        <a:ext uri="{9D8B030D-6E8A-4147-A177-3AD203B41FA5}">
                          <a16:colId xmlns:a16="http://schemas.microsoft.com/office/drawing/2014/main" val="1712497518"/>
                        </a:ext>
                      </a:extLst>
                    </a:gridCol>
                    <a:gridCol w="1833299">
                      <a:extLst>
                        <a:ext uri="{9D8B030D-6E8A-4147-A177-3AD203B41FA5}">
                          <a16:colId xmlns:a16="http://schemas.microsoft.com/office/drawing/2014/main" val="886122921"/>
                        </a:ext>
                      </a:extLst>
                    </a:gridCol>
                  </a:tblGrid>
                  <a:tr h="36967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8804" t="-1639" r="-200664" b="-75573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58804" t="-1639" r="-100664" b="-75573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58804" t="-1639" r="-664" b="-755738"/>
                          </a:stretch>
                        </a:blipFill>
                      </a:tcPr>
                    </a:tc>
                    <a:extLst>
                      <a:ext uri="{0D108BD9-81ED-4DB2-BD59-A6C34878D82A}">
                        <a16:rowId xmlns:a16="http://schemas.microsoft.com/office/drawing/2014/main" val="2357201933"/>
                      </a:ext>
                    </a:extLst>
                  </a:tr>
                  <a:tr h="1097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68" t="-34444" r="-514205" b="-156111"/>
                          </a:stretch>
                        </a:blip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267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Carry out the multiplication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467726"/>
                      </a:ext>
                    </a:extLst>
                  </a:tr>
                  <a:tr h="126860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Divide the answer by the amount you multiplied each number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481789"/>
                      </a:ext>
                    </a:extLst>
                  </a:tr>
                </a:tbl>
              </a:graphicData>
            </a:graphic>
          </p:graphicFrame>
        </mc:Fallback>
      </mc:AlternateContent>
      <p:grpSp>
        <p:nvGrpSpPr>
          <p:cNvPr id="38" name="Group 37">
            <a:extLst>
              <a:ext uri="{FF2B5EF4-FFF2-40B4-BE49-F238E27FC236}">
                <a16:creationId xmlns:a16="http://schemas.microsoft.com/office/drawing/2014/main" id="{F54C8FF0-B58D-30A6-B585-01E3F1B2F13A}"/>
              </a:ext>
            </a:extLst>
          </p:cNvPr>
          <p:cNvGrpSpPr/>
          <p:nvPr/>
        </p:nvGrpSpPr>
        <p:grpSpPr>
          <a:xfrm>
            <a:off x="415884" y="8270418"/>
            <a:ext cx="6142542" cy="1199195"/>
            <a:chOff x="280324" y="4331428"/>
            <a:chExt cx="6142542" cy="1199195"/>
          </a:xfrm>
        </p:grpSpPr>
        <p:pic>
          <p:nvPicPr>
            <p:cNvPr id="39" name="Picture 38" descr="A screenshot of a computer&#10;&#10;Description automatically generated">
              <a:extLst>
                <a:ext uri="{FF2B5EF4-FFF2-40B4-BE49-F238E27FC236}">
                  <a16:creationId xmlns:a16="http://schemas.microsoft.com/office/drawing/2014/main" id="{DA93EB11-4675-D08C-907D-7A71525AF1A4}"/>
                </a:ext>
              </a:extLst>
            </p:cNvPr>
            <p:cNvPicPr>
              <a:picLocks noChangeAspect="1"/>
            </p:cNvPicPr>
            <p:nvPr/>
          </p:nvPicPr>
          <p:blipFill rotWithShape="1">
            <a:blip r:embed="rId4"/>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40" name="Picture 39" descr="A screenshot of a computer&#10;&#10;Description automatically generated">
              <a:extLst>
                <a:ext uri="{FF2B5EF4-FFF2-40B4-BE49-F238E27FC236}">
                  <a16:creationId xmlns:a16="http://schemas.microsoft.com/office/drawing/2014/main" id="{51CE793F-0AB4-A65B-C58F-E65FA086E0A4}"/>
                </a:ext>
              </a:extLst>
            </p:cNvPr>
            <p:cNvPicPr>
              <a:picLocks noChangeAspect="1"/>
            </p:cNvPicPr>
            <p:nvPr/>
          </p:nvPicPr>
          <p:blipFill rotWithShape="1">
            <a:blip r:embed="rId4"/>
            <a:srcRect l="37224" t="34284" r="49991" b="46867"/>
            <a:stretch/>
          </p:blipFill>
          <p:spPr bwMode="auto">
            <a:xfrm>
              <a:off x="2479979" y="4335654"/>
              <a:ext cx="1801789" cy="1194969"/>
            </a:xfrm>
            <a:prstGeom prst="rect">
              <a:avLst/>
            </a:prstGeom>
            <a:ln>
              <a:noFill/>
            </a:ln>
            <a:extLst>
              <a:ext uri="{53640926-AAD7-44D8-BBD7-CCE9431645EC}">
                <a14:shadowObscured xmlns:a14="http://schemas.microsoft.com/office/drawing/2010/main"/>
              </a:ext>
            </a:extLst>
          </p:spPr>
        </p:pic>
        <p:pic>
          <p:nvPicPr>
            <p:cNvPr id="41" name="Picture 40" descr="A screenshot of a computer&#10;&#10;Description automatically generated">
              <a:extLst>
                <a:ext uri="{FF2B5EF4-FFF2-40B4-BE49-F238E27FC236}">
                  <a16:creationId xmlns:a16="http://schemas.microsoft.com/office/drawing/2014/main" id="{6A4EDF21-2B17-2E07-83C8-457953BAAB54}"/>
                </a:ext>
              </a:extLst>
            </p:cNvPr>
            <p:cNvPicPr>
              <a:picLocks noChangeAspect="1"/>
            </p:cNvPicPr>
            <p:nvPr/>
          </p:nvPicPr>
          <p:blipFill rotWithShape="1">
            <a:blip r:embed="rId4"/>
            <a:srcRect l="37224" t="34284" r="49991" b="46867"/>
            <a:stretch/>
          </p:blipFill>
          <p:spPr bwMode="auto">
            <a:xfrm>
              <a:off x="4621077" y="4331429"/>
              <a:ext cx="1801789" cy="1194969"/>
            </a:xfrm>
            <a:prstGeom prst="rect">
              <a:avLst/>
            </a:prstGeom>
            <a:ln>
              <a:noFill/>
            </a:ln>
            <a:extLst>
              <a:ext uri="{53640926-AAD7-44D8-BBD7-CCE9431645EC}">
                <a14:shadowObscured xmlns:a14="http://schemas.microsoft.com/office/drawing/2010/main"/>
              </a:ext>
            </a:extLst>
          </p:spPr>
        </p:pic>
      </p:gr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86761B85-5108-7321-0AB8-98A472253EAD}"/>
                  </a:ext>
                </a:extLst>
              </p:cNvPr>
              <p:cNvGraphicFramePr>
                <a:graphicFrameLocks noGrp="1"/>
              </p:cNvGraphicFramePr>
              <p:nvPr/>
            </p:nvGraphicFramePr>
            <p:xfrm>
              <a:off x="200916" y="7562151"/>
              <a:ext cx="6572478" cy="2050290"/>
            </p:xfrm>
            <a:graphic>
              <a:graphicData uri="http://schemas.openxmlformats.org/drawingml/2006/table">
                <a:tbl>
                  <a:tblPr firstRow="1" bandRow="1">
                    <a:tableStyleId>{5C22544A-7EE6-4342-B048-85BDC9FD1C3A}</a:tableStyleId>
                  </a:tblPr>
                  <a:tblGrid>
                    <a:gridCol w="2190826">
                      <a:extLst>
                        <a:ext uri="{9D8B030D-6E8A-4147-A177-3AD203B41FA5}">
                          <a16:colId xmlns:a16="http://schemas.microsoft.com/office/drawing/2014/main" val="1568142362"/>
                        </a:ext>
                      </a:extLst>
                    </a:gridCol>
                    <a:gridCol w="2190826">
                      <a:extLst>
                        <a:ext uri="{9D8B030D-6E8A-4147-A177-3AD203B41FA5}">
                          <a16:colId xmlns:a16="http://schemas.microsoft.com/office/drawing/2014/main" val="4037115703"/>
                        </a:ext>
                      </a:extLst>
                    </a:gridCol>
                    <a:gridCol w="2190826">
                      <a:extLst>
                        <a:ext uri="{9D8B030D-6E8A-4147-A177-3AD203B41FA5}">
                          <a16:colId xmlns:a16="http://schemas.microsoft.com/office/drawing/2014/main" val="410766759"/>
                        </a:ext>
                      </a:extLst>
                    </a:gridCol>
                  </a:tblGrid>
                  <a:tr h="273910">
                    <a:tc gridSpan="3">
                      <a:txBody>
                        <a:bodyPr/>
                        <a:lstStyle/>
                        <a:p>
                          <a:r>
                            <a:rPr lang="en-US" sz="1200" b="0" baseline="0">
                              <a:solidFill>
                                <a:schemeClr val="tx1"/>
                              </a:solidFill>
                              <a:latin typeface="+mn-lt"/>
                            </a:rPr>
                            <a:t>Question 2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469213032"/>
                      </a:ext>
                    </a:extLst>
                  </a:tr>
                  <a:tr h="335970">
                    <a:tc>
                      <a:txBody>
                        <a:bodyPr/>
                        <a:lstStyle/>
                        <a:p>
                          <a:pPr algn="l"/>
                          <a:r>
                            <a:rPr lang="en-US" sz="1200" baseline="0">
                              <a:solidFill>
                                <a:schemeClr val="tx1"/>
                              </a:solidFill>
                              <a:latin typeface="+mn-lt"/>
                            </a:rPr>
                            <a:t>a)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3.1</m:t>
                              </m:r>
                              <m:r>
                                <a:rPr lang="en-GB" sz="1200" b="0" i="1" baseline="0" smtClean="0">
                                  <a:solidFill>
                                    <a:schemeClr val="tx1"/>
                                  </a:solidFill>
                                  <a:latin typeface="Cambria Math" panose="02040503050406030204" pitchFamily="18" charset="0"/>
                                  <a:ea typeface="Cambria Math" panose="02040503050406030204" pitchFamily="18" charset="0"/>
                                </a:rPr>
                                <m:t>×0.5</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b)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6.3</m:t>
                              </m:r>
                              <m:r>
                                <a:rPr lang="en-GB" sz="1200" b="0" i="1" baseline="0" smtClean="0">
                                  <a:solidFill>
                                    <a:schemeClr val="tx1"/>
                                  </a:solidFill>
                                  <a:latin typeface="Cambria Math" panose="02040503050406030204" pitchFamily="18" charset="0"/>
                                  <a:ea typeface="Cambria Math" panose="02040503050406030204" pitchFamily="18" charset="0"/>
                                </a:rPr>
                                <m:t>×0.3</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c)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5.4</m:t>
                              </m:r>
                              <m:r>
                                <a:rPr lang="en-GB" sz="1200" b="0" i="1" baseline="0" smtClean="0">
                                  <a:solidFill>
                                    <a:schemeClr val="tx1"/>
                                  </a:solidFill>
                                  <a:latin typeface="Cambria Math" panose="02040503050406030204" pitchFamily="18" charset="0"/>
                                  <a:ea typeface="Cambria Math" panose="02040503050406030204" pitchFamily="18" charset="0"/>
                                </a:rPr>
                                <m:t>×0.7</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2838357"/>
                      </a:ext>
                    </a:extLst>
                  </a:tr>
                  <a:tr h="1440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7428327"/>
                      </a:ext>
                    </a:extLst>
                  </a:tr>
                </a:tbl>
              </a:graphicData>
            </a:graphic>
          </p:graphicFrame>
        </mc:Choice>
        <mc:Fallback xmlns="">
          <p:graphicFrame>
            <p:nvGraphicFramePr>
              <p:cNvPr id="2" name="Table 1">
                <a:extLst>
                  <a:ext uri="{FF2B5EF4-FFF2-40B4-BE49-F238E27FC236}">
                    <a16:creationId xmlns:a16="http://schemas.microsoft.com/office/drawing/2014/main" id="{86761B85-5108-7321-0AB8-98A472253EAD}"/>
                  </a:ext>
                </a:extLst>
              </p:cNvPr>
              <p:cNvGraphicFramePr>
                <a:graphicFrameLocks noGrp="1"/>
              </p:cNvGraphicFramePr>
              <p:nvPr/>
            </p:nvGraphicFramePr>
            <p:xfrm>
              <a:off x="200916" y="7562151"/>
              <a:ext cx="6572478" cy="2050290"/>
            </p:xfrm>
            <a:graphic>
              <a:graphicData uri="http://schemas.openxmlformats.org/drawingml/2006/table">
                <a:tbl>
                  <a:tblPr firstRow="1" bandRow="1">
                    <a:tableStyleId>{5C22544A-7EE6-4342-B048-85BDC9FD1C3A}</a:tableStyleId>
                  </a:tblPr>
                  <a:tblGrid>
                    <a:gridCol w="2190826">
                      <a:extLst>
                        <a:ext uri="{9D8B030D-6E8A-4147-A177-3AD203B41FA5}">
                          <a16:colId xmlns:a16="http://schemas.microsoft.com/office/drawing/2014/main" val="1568142362"/>
                        </a:ext>
                      </a:extLst>
                    </a:gridCol>
                    <a:gridCol w="2190826">
                      <a:extLst>
                        <a:ext uri="{9D8B030D-6E8A-4147-A177-3AD203B41FA5}">
                          <a16:colId xmlns:a16="http://schemas.microsoft.com/office/drawing/2014/main" val="4037115703"/>
                        </a:ext>
                      </a:extLst>
                    </a:gridCol>
                    <a:gridCol w="2190826">
                      <a:extLst>
                        <a:ext uri="{9D8B030D-6E8A-4147-A177-3AD203B41FA5}">
                          <a16:colId xmlns:a16="http://schemas.microsoft.com/office/drawing/2014/main" val="410766759"/>
                        </a:ext>
                      </a:extLst>
                    </a:gridCol>
                  </a:tblGrid>
                  <a:tr h="274320">
                    <a:tc gridSpan="3">
                      <a:txBody>
                        <a:bodyPr/>
                        <a:lstStyle/>
                        <a:p>
                          <a:r>
                            <a:rPr lang="en-US" sz="1200" b="0" baseline="0">
                              <a:solidFill>
                                <a:schemeClr val="tx1"/>
                              </a:solidFill>
                              <a:latin typeface="+mn-lt"/>
                            </a:rPr>
                            <a:t>Question 2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469213032"/>
                      </a:ext>
                    </a:extLst>
                  </a:tr>
                  <a:tr h="33597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8" t="-81818" r="-200556" b="-43454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278" t="-81818" r="-100556" b="-43454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278" t="-81818" r="-556" b="-434545"/>
                          </a:stretch>
                        </a:blipFill>
                      </a:tcPr>
                    </a:tc>
                    <a:extLst>
                      <a:ext uri="{0D108BD9-81ED-4DB2-BD59-A6C34878D82A}">
                        <a16:rowId xmlns:a16="http://schemas.microsoft.com/office/drawing/2014/main" val="472838357"/>
                      </a:ext>
                    </a:extLst>
                  </a:tr>
                  <a:tr h="1440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7428327"/>
                      </a:ext>
                    </a:extLst>
                  </a:tr>
                </a:tbl>
              </a:graphicData>
            </a:graphic>
          </p:graphicFrame>
        </mc:Fallback>
      </mc:AlternateContent>
      <p:sp>
        <p:nvSpPr>
          <p:cNvPr id="4" name="Rectangle 3">
            <a:extLst>
              <a:ext uri="{FF2B5EF4-FFF2-40B4-BE49-F238E27FC236}">
                <a16:creationId xmlns:a16="http://schemas.microsoft.com/office/drawing/2014/main" id="{7DBF73F1-BFD9-BB3F-E643-13AC18CB97C9}"/>
              </a:ext>
            </a:extLst>
          </p:cNvPr>
          <p:cNvSpPr/>
          <p:nvPr/>
        </p:nvSpPr>
        <p:spPr>
          <a:xfrm>
            <a:off x="156628" y="7207169"/>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12" name="Slide Number Placeholder 5">
            <a:extLst>
              <a:ext uri="{FF2B5EF4-FFF2-40B4-BE49-F238E27FC236}">
                <a16:creationId xmlns:a16="http://schemas.microsoft.com/office/drawing/2014/main" id="{3FA0C9F8-1EBF-3585-964A-9E6C0D929BE6}"/>
              </a:ext>
            </a:extLst>
          </p:cNvPr>
          <p:cNvSpPr>
            <a:spLocks noGrp="1"/>
          </p:cNvSpPr>
          <p:nvPr>
            <p:ph type="sldNum" sz="quarter" idx="12"/>
          </p:nvPr>
        </p:nvSpPr>
        <p:spPr>
          <a:xfrm>
            <a:off x="5317040" y="9484142"/>
            <a:ext cx="1543050" cy="527403"/>
          </a:xfrm>
        </p:spPr>
        <p:txBody>
          <a:bodyPr/>
          <a:lstStyle/>
          <a:p>
            <a:fld id="{19F1D9CC-7119-45EC-A96C-D8C0660F3AAB}" type="slidenum">
              <a:rPr lang="en-GB" smtClean="0">
                <a:solidFill>
                  <a:schemeClr val="tx1"/>
                </a:solidFill>
              </a:rPr>
              <a:t>77</a:t>
            </a:fld>
            <a:endParaRPr lang="en-GB">
              <a:solidFill>
                <a:schemeClr val="tx1"/>
              </a:solidFill>
            </a:endParaRPr>
          </a:p>
        </p:txBody>
      </p:sp>
      <mc:AlternateContent xmlns:mc="http://schemas.openxmlformats.org/markup-compatibility/2006" xmlns:a14="http://schemas.microsoft.com/office/drawing/2010/main">
        <mc:Choice Requires="a14">
          <p:graphicFrame>
            <p:nvGraphicFramePr>
              <p:cNvPr id="28" name="Table 27">
                <a:extLst>
                  <a:ext uri="{FF2B5EF4-FFF2-40B4-BE49-F238E27FC236}">
                    <a16:creationId xmlns:a16="http://schemas.microsoft.com/office/drawing/2014/main" id="{232BD9B9-D067-A9C6-1B7A-01E6727DD038}"/>
                  </a:ext>
                </a:extLst>
              </p:cNvPr>
              <p:cNvGraphicFramePr>
                <a:graphicFrameLocks noGrp="1"/>
              </p:cNvGraphicFramePr>
              <p:nvPr/>
            </p:nvGraphicFramePr>
            <p:xfrm>
              <a:off x="142761" y="383144"/>
              <a:ext cx="6572478" cy="3162277"/>
            </p:xfrm>
            <a:graphic>
              <a:graphicData uri="http://schemas.openxmlformats.org/drawingml/2006/table">
                <a:tbl>
                  <a:tblPr firstRow="1" bandRow="1">
                    <a:tableStyleId>{5C22544A-7EE6-4342-B048-85BDC9FD1C3A}</a:tableStyleId>
                  </a:tblPr>
                  <a:tblGrid>
                    <a:gridCol w="1072581">
                      <a:extLst>
                        <a:ext uri="{9D8B030D-6E8A-4147-A177-3AD203B41FA5}">
                          <a16:colId xmlns:a16="http://schemas.microsoft.com/office/drawing/2014/main" val="1568142362"/>
                        </a:ext>
                      </a:extLst>
                    </a:gridCol>
                    <a:gridCol w="1833299">
                      <a:extLst>
                        <a:ext uri="{9D8B030D-6E8A-4147-A177-3AD203B41FA5}">
                          <a16:colId xmlns:a16="http://schemas.microsoft.com/office/drawing/2014/main" val="3551711160"/>
                        </a:ext>
                      </a:extLst>
                    </a:gridCol>
                    <a:gridCol w="1833299">
                      <a:extLst>
                        <a:ext uri="{9D8B030D-6E8A-4147-A177-3AD203B41FA5}">
                          <a16:colId xmlns:a16="http://schemas.microsoft.com/office/drawing/2014/main" val="1712497518"/>
                        </a:ext>
                      </a:extLst>
                    </a:gridCol>
                    <a:gridCol w="1833299">
                      <a:extLst>
                        <a:ext uri="{9D8B030D-6E8A-4147-A177-3AD203B41FA5}">
                          <a16:colId xmlns:a16="http://schemas.microsoft.com/office/drawing/2014/main" val="886122921"/>
                        </a:ext>
                      </a:extLst>
                    </a:gridCol>
                  </a:tblGrid>
                  <a:tr h="36967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2.4</m:t>
                                </m:r>
                                <m:r>
                                  <a:rPr lang="en-GB" sz="1200" b="0" i="1" smtClean="0">
                                    <a:solidFill>
                                      <a:schemeClr val="tx1"/>
                                    </a:solidFill>
                                    <a:latin typeface="Cambria Math" panose="02040503050406030204" pitchFamily="18" charset="0"/>
                                    <a:ea typeface="Cambria Math" panose="02040503050406030204" pitchFamily="18" charset="0"/>
                                  </a:rPr>
                                  <m:t>×3.5</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ea typeface="Cambria Math" panose="02040503050406030204" pitchFamily="18" charset="0"/>
                                  </a:rPr>
                                  <m:t>3.4×7.2</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1.7</m:t>
                                </m:r>
                                <m:r>
                                  <a:rPr lang="en-GB" sz="1200" b="0" i="1" smtClean="0">
                                    <a:solidFill>
                                      <a:schemeClr val="tx1"/>
                                    </a:solidFill>
                                    <a:latin typeface="Cambria Math" panose="02040503050406030204" pitchFamily="18" charset="0"/>
                                    <a:ea typeface="Cambria Math" panose="02040503050406030204" pitchFamily="18" charset="0"/>
                                  </a:rPr>
                                  <m:t>×2.3</m:t>
                                </m:r>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3492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Multiply the numbers to make them integers </a:t>
                          </a:r>
                          <a:r>
                            <a:rPr lang="en-US" sz="1100" b="0" baseline="0">
                              <a:solidFill>
                                <a:schemeClr val="tx1"/>
                              </a:solidFill>
                            </a:rPr>
                            <a:t>(</a:t>
                          </a:r>
                          <a14:m>
                            <m:oMath xmlns:m="http://schemas.openxmlformats.org/officeDocument/2006/math">
                              <m:r>
                                <a:rPr lang="en-GB" sz="1100" b="0" i="1" baseline="0" dirty="0" smtClean="0">
                                  <a:solidFill>
                                    <a:schemeClr val="tx1"/>
                                  </a:solidFill>
                                  <a:latin typeface="Cambria Math" panose="02040503050406030204" pitchFamily="18" charset="0"/>
                                </a:rPr>
                                <m:t>×</m:t>
                              </m:r>
                              <m:r>
                                <a:rPr lang="en-US" sz="1100" i="1" baseline="0" dirty="0" smtClean="0">
                                  <a:solidFill>
                                    <a:schemeClr val="tx1"/>
                                  </a:solidFill>
                                  <a:latin typeface="Cambria Math" panose="02040503050406030204" pitchFamily="18" charset="0"/>
                                </a:rPr>
                                <m:t>10, 100 </m:t>
                              </m:r>
                              <m:r>
                                <a:rPr lang="en-US" sz="1100" i="1" baseline="0" dirty="0" smtClean="0">
                                  <a:solidFill>
                                    <a:schemeClr val="tx1"/>
                                  </a:solidFill>
                                  <a:latin typeface="Cambria Math" panose="02040503050406030204" pitchFamily="18" charset="0"/>
                                </a:rPr>
                                <m:t>𝑜𝑟</m:t>
                              </m:r>
                              <m:r>
                                <a:rPr lang="en-US" sz="1100" i="1" baseline="0" dirty="0" smtClean="0">
                                  <a:solidFill>
                                    <a:schemeClr val="tx1"/>
                                  </a:solidFill>
                                  <a:latin typeface="Cambria Math" panose="02040503050406030204" pitchFamily="18" charset="0"/>
                                </a:rPr>
                                <m:t> 1000</m:t>
                              </m:r>
                            </m:oMath>
                          </a14:m>
                          <a:r>
                            <a:rPr lang="en-GB" sz="1100">
                              <a:solidFill>
                                <a:schemeClr val="tx1"/>
                              </a:solidFill>
                            </a:rPr>
                            <a:t>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37716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Carry out the multiplication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467726"/>
                      </a:ext>
                    </a:extLst>
                  </a:tr>
                  <a:tr h="126860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Divide the answer by the amount you multiplied each number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481789"/>
                      </a:ext>
                    </a:extLst>
                  </a:tr>
                </a:tbl>
              </a:graphicData>
            </a:graphic>
          </p:graphicFrame>
        </mc:Choice>
        <mc:Fallback xmlns="">
          <p:graphicFrame>
            <p:nvGraphicFramePr>
              <p:cNvPr id="28" name="Table 27">
                <a:extLst>
                  <a:ext uri="{FF2B5EF4-FFF2-40B4-BE49-F238E27FC236}">
                    <a16:creationId xmlns:a16="http://schemas.microsoft.com/office/drawing/2014/main" id="{232BD9B9-D067-A9C6-1B7A-01E6727DD038}"/>
                  </a:ext>
                </a:extLst>
              </p:cNvPr>
              <p:cNvGraphicFramePr>
                <a:graphicFrameLocks noGrp="1"/>
              </p:cNvGraphicFramePr>
              <p:nvPr/>
            </p:nvGraphicFramePr>
            <p:xfrm>
              <a:off x="142761" y="383144"/>
              <a:ext cx="6572478" cy="3162277"/>
            </p:xfrm>
            <a:graphic>
              <a:graphicData uri="http://schemas.openxmlformats.org/drawingml/2006/table">
                <a:tbl>
                  <a:tblPr firstRow="1" bandRow="1">
                    <a:tableStyleId>{5C22544A-7EE6-4342-B048-85BDC9FD1C3A}</a:tableStyleId>
                  </a:tblPr>
                  <a:tblGrid>
                    <a:gridCol w="1072581">
                      <a:extLst>
                        <a:ext uri="{9D8B030D-6E8A-4147-A177-3AD203B41FA5}">
                          <a16:colId xmlns:a16="http://schemas.microsoft.com/office/drawing/2014/main" val="1568142362"/>
                        </a:ext>
                      </a:extLst>
                    </a:gridCol>
                    <a:gridCol w="1833299">
                      <a:extLst>
                        <a:ext uri="{9D8B030D-6E8A-4147-A177-3AD203B41FA5}">
                          <a16:colId xmlns:a16="http://schemas.microsoft.com/office/drawing/2014/main" val="3551711160"/>
                        </a:ext>
                      </a:extLst>
                    </a:gridCol>
                    <a:gridCol w="1833299">
                      <a:extLst>
                        <a:ext uri="{9D8B030D-6E8A-4147-A177-3AD203B41FA5}">
                          <a16:colId xmlns:a16="http://schemas.microsoft.com/office/drawing/2014/main" val="1712497518"/>
                        </a:ext>
                      </a:extLst>
                    </a:gridCol>
                    <a:gridCol w="1833299">
                      <a:extLst>
                        <a:ext uri="{9D8B030D-6E8A-4147-A177-3AD203B41FA5}">
                          <a16:colId xmlns:a16="http://schemas.microsoft.com/office/drawing/2014/main" val="886122921"/>
                        </a:ext>
                      </a:extLst>
                    </a:gridCol>
                  </a:tblGrid>
                  <a:tr h="36967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8804" t="-1639" r="-200664" b="-75573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58804" t="-1639" r="-100664" b="-75573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58804" t="-1639" r="-664" b="-755738"/>
                          </a:stretch>
                        </a:blipFill>
                      </a:tcPr>
                    </a:tc>
                    <a:extLst>
                      <a:ext uri="{0D108BD9-81ED-4DB2-BD59-A6C34878D82A}">
                        <a16:rowId xmlns:a16="http://schemas.microsoft.com/office/drawing/2014/main" val="2357201933"/>
                      </a:ext>
                    </a:extLst>
                  </a:tr>
                  <a:tr h="1097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68" t="-34444" r="-514205" b="-156111"/>
                          </a:stretch>
                        </a:blip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267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Carry out the multiplication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467726"/>
                      </a:ext>
                    </a:extLst>
                  </a:tr>
                  <a:tr h="126860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solidFill>
                                <a:schemeClr val="tx1"/>
                              </a:solidFill>
                            </a:rPr>
                            <a:t>Divide the answer by the amount you multiplied each number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481789"/>
                      </a:ext>
                    </a:extLst>
                  </a:tr>
                </a:tbl>
              </a:graphicData>
            </a:graphic>
          </p:graphicFrame>
        </mc:Fallback>
      </mc:AlternateContent>
      <p:sp>
        <p:nvSpPr>
          <p:cNvPr id="30" name="TextBox 29">
            <a:extLst>
              <a:ext uri="{FF2B5EF4-FFF2-40B4-BE49-F238E27FC236}">
                <a16:creationId xmlns:a16="http://schemas.microsoft.com/office/drawing/2014/main" id="{F90E7447-E8E3-CC3E-B76B-F14547472CE0}"/>
              </a:ext>
            </a:extLst>
          </p:cNvPr>
          <p:cNvSpPr txBox="1"/>
          <p:nvPr/>
        </p:nvSpPr>
        <p:spPr>
          <a:xfrm>
            <a:off x="1262156" y="109205"/>
            <a:ext cx="1410704" cy="276999"/>
          </a:xfrm>
          <a:prstGeom prst="rect">
            <a:avLst/>
          </a:prstGeom>
          <a:noFill/>
          <a:ln>
            <a:noFill/>
          </a:ln>
        </p:spPr>
        <p:txBody>
          <a:bodyPr wrap="square" rtlCol="0">
            <a:spAutoFit/>
          </a:bodyPr>
          <a:lstStyle/>
          <a:p>
            <a:r>
              <a:rPr lang="en-GB" sz="1200" b="1" i="1">
                <a:solidFill>
                  <a:srgbClr val="FF0000"/>
                </a:solidFill>
              </a:rPr>
              <a:t>Example 7 – I do…</a:t>
            </a:r>
          </a:p>
        </p:txBody>
      </p:sp>
      <p:sp>
        <p:nvSpPr>
          <p:cNvPr id="32" name="TextBox 31">
            <a:extLst>
              <a:ext uri="{FF2B5EF4-FFF2-40B4-BE49-F238E27FC236}">
                <a16:creationId xmlns:a16="http://schemas.microsoft.com/office/drawing/2014/main" id="{2ECF2F92-6597-E0A6-C516-4ABF64350EBB}"/>
              </a:ext>
            </a:extLst>
          </p:cNvPr>
          <p:cNvSpPr txBox="1"/>
          <p:nvPr/>
        </p:nvSpPr>
        <p:spPr>
          <a:xfrm>
            <a:off x="5036761" y="111038"/>
            <a:ext cx="1643405" cy="276999"/>
          </a:xfrm>
          <a:prstGeom prst="rect">
            <a:avLst/>
          </a:prstGeom>
          <a:noFill/>
          <a:ln>
            <a:noFill/>
          </a:ln>
        </p:spPr>
        <p:txBody>
          <a:bodyPr wrap="square" rtlCol="0">
            <a:spAutoFit/>
          </a:bodyPr>
          <a:lstStyle/>
          <a:p>
            <a:r>
              <a:rPr lang="en-GB" sz="1200" b="1" i="1">
                <a:solidFill>
                  <a:srgbClr val="00B050"/>
                </a:solidFill>
              </a:rPr>
              <a:t>Example 9 – You do…</a:t>
            </a:r>
          </a:p>
        </p:txBody>
      </p:sp>
      <p:sp>
        <p:nvSpPr>
          <p:cNvPr id="33" name="TextBox 32">
            <a:extLst>
              <a:ext uri="{FF2B5EF4-FFF2-40B4-BE49-F238E27FC236}">
                <a16:creationId xmlns:a16="http://schemas.microsoft.com/office/drawing/2014/main" id="{3E4045B9-CE59-F59C-52D3-5AC8F49CC038}"/>
              </a:ext>
            </a:extLst>
          </p:cNvPr>
          <p:cNvSpPr txBox="1"/>
          <p:nvPr/>
        </p:nvSpPr>
        <p:spPr>
          <a:xfrm>
            <a:off x="3098517" y="106146"/>
            <a:ext cx="1643405" cy="276999"/>
          </a:xfrm>
          <a:prstGeom prst="rect">
            <a:avLst/>
          </a:prstGeom>
          <a:noFill/>
          <a:ln>
            <a:noFill/>
          </a:ln>
        </p:spPr>
        <p:txBody>
          <a:bodyPr wrap="square" rtlCol="0">
            <a:spAutoFit/>
          </a:bodyPr>
          <a:lstStyle/>
          <a:p>
            <a:r>
              <a:rPr lang="en-GB" sz="1200" b="1" i="1">
                <a:solidFill>
                  <a:schemeClr val="accent2"/>
                </a:solidFill>
              </a:rPr>
              <a:t>Example 8 – We do…</a:t>
            </a:r>
          </a:p>
        </p:txBody>
      </p:sp>
      <p:grpSp>
        <p:nvGrpSpPr>
          <p:cNvPr id="34" name="Group 33">
            <a:extLst>
              <a:ext uri="{FF2B5EF4-FFF2-40B4-BE49-F238E27FC236}">
                <a16:creationId xmlns:a16="http://schemas.microsoft.com/office/drawing/2014/main" id="{2DBEEEDC-F17D-6924-3915-2A8D675FDBB0}"/>
              </a:ext>
            </a:extLst>
          </p:cNvPr>
          <p:cNvGrpSpPr/>
          <p:nvPr/>
        </p:nvGrpSpPr>
        <p:grpSpPr>
          <a:xfrm>
            <a:off x="1298486" y="1287658"/>
            <a:ext cx="5336703" cy="1194969"/>
            <a:chOff x="280324" y="4331428"/>
            <a:chExt cx="5797387" cy="1194969"/>
          </a:xfrm>
        </p:grpSpPr>
        <p:pic>
          <p:nvPicPr>
            <p:cNvPr id="35" name="Picture 34" descr="A screenshot of a computer&#10;&#10;Description automatically generated">
              <a:extLst>
                <a:ext uri="{FF2B5EF4-FFF2-40B4-BE49-F238E27FC236}">
                  <a16:creationId xmlns:a16="http://schemas.microsoft.com/office/drawing/2014/main" id="{E8BD88F2-ACF5-3C02-7313-9A89BA436E85}"/>
                </a:ext>
              </a:extLst>
            </p:cNvPr>
            <p:cNvPicPr>
              <a:picLocks noChangeAspect="1"/>
            </p:cNvPicPr>
            <p:nvPr/>
          </p:nvPicPr>
          <p:blipFill rotWithShape="1">
            <a:blip r:embed="rId4"/>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36" name="Picture 35" descr="A screenshot of a computer&#10;&#10;Description automatically generated">
              <a:extLst>
                <a:ext uri="{FF2B5EF4-FFF2-40B4-BE49-F238E27FC236}">
                  <a16:creationId xmlns:a16="http://schemas.microsoft.com/office/drawing/2014/main" id="{928DAEB3-ABA6-ACA7-62A5-A5948518A759}"/>
                </a:ext>
              </a:extLst>
            </p:cNvPr>
            <p:cNvPicPr>
              <a:picLocks noChangeAspect="1"/>
            </p:cNvPicPr>
            <p:nvPr/>
          </p:nvPicPr>
          <p:blipFill rotWithShape="1">
            <a:blip r:embed="rId4"/>
            <a:srcRect l="37224" t="34284" r="49991" b="46867"/>
            <a:stretch/>
          </p:blipFill>
          <p:spPr bwMode="auto">
            <a:xfrm>
              <a:off x="2284071" y="4331428"/>
              <a:ext cx="1801789" cy="1194969"/>
            </a:xfrm>
            <a:prstGeom prst="rect">
              <a:avLst/>
            </a:prstGeom>
            <a:ln>
              <a:noFill/>
            </a:ln>
            <a:extLst>
              <a:ext uri="{53640926-AAD7-44D8-BBD7-CCE9431645EC}">
                <a14:shadowObscured xmlns:a14="http://schemas.microsoft.com/office/drawing/2010/main"/>
              </a:ext>
            </a:extLst>
          </p:spPr>
        </p:pic>
        <p:pic>
          <p:nvPicPr>
            <p:cNvPr id="37" name="Picture 36" descr="A screenshot of a computer&#10;&#10;Description automatically generated">
              <a:extLst>
                <a:ext uri="{FF2B5EF4-FFF2-40B4-BE49-F238E27FC236}">
                  <a16:creationId xmlns:a16="http://schemas.microsoft.com/office/drawing/2014/main" id="{ACB79326-342C-8C12-6F97-7E9146E03E34}"/>
                </a:ext>
              </a:extLst>
            </p:cNvPr>
            <p:cNvPicPr>
              <a:picLocks noChangeAspect="1"/>
            </p:cNvPicPr>
            <p:nvPr/>
          </p:nvPicPr>
          <p:blipFill rotWithShape="1">
            <a:blip r:embed="rId4"/>
            <a:srcRect l="37224" t="34284" r="49991" b="46867"/>
            <a:stretch/>
          </p:blipFill>
          <p:spPr bwMode="auto">
            <a:xfrm>
              <a:off x="4275922" y="4331428"/>
              <a:ext cx="1801789" cy="1194969"/>
            </a:xfrm>
            <a:prstGeom prst="rect">
              <a:avLst/>
            </a:prstGeom>
            <a:ln>
              <a:noFill/>
            </a:ln>
            <a:extLst>
              <a:ext uri="{53640926-AAD7-44D8-BBD7-CCE9431645EC}">
                <a14:shadowObscured xmlns:a14="http://schemas.microsoft.com/office/drawing/2010/main"/>
              </a:ext>
            </a:extLst>
          </p:spPr>
        </p:pic>
      </p:grpSp>
      <p:sp>
        <p:nvSpPr>
          <p:cNvPr id="31" name="TextBox 30">
            <a:extLst>
              <a:ext uri="{FF2B5EF4-FFF2-40B4-BE49-F238E27FC236}">
                <a16:creationId xmlns:a16="http://schemas.microsoft.com/office/drawing/2014/main" id="{6F543351-3ECB-0998-ABCB-B155BB70CCBF}"/>
              </a:ext>
            </a:extLst>
          </p:cNvPr>
          <p:cNvSpPr txBox="1"/>
          <p:nvPr/>
        </p:nvSpPr>
        <p:spPr>
          <a:xfrm>
            <a:off x="1362857" y="3646323"/>
            <a:ext cx="1410704" cy="276999"/>
          </a:xfrm>
          <a:prstGeom prst="rect">
            <a:avLst/>
          </a:prstGeom>
          <a:noFill/>
          <a:ln>
            <a:noFill/>
          </a:ln>
        </p:spPr>
        <p:txBody>
          <a:bodyPr wrap="square" rtlCol="0">
            <a:spAutoFit/>
          </a:bodyPr>
          <a:lstStyle/>
          <a:p>
            <a:r>
              <a:rPr lang="en-GB" sz="1200" b="1" i="1">
                <a:solidFill>
                  <a:srgbClr val="FF0000"/>
                </a:solidFill>
              </a:rPr>
              <a:t>Example 10 – I do…</a:t>
            </a:r>
          </a:p>
        </p:txBody>
      </p:sp>
      <p:sp>
        <p:nvSpPr>
          <p:cNvPr id="54" name="TextBox 53">
            <a:extLst>
              <a:ext uri="{FF2B5EF4-FFF2-40B4-BE49-F238E27FC236}">
                <a16:creationId xmlns:a16="http://schemas.microsoft.com/office/drawing/2014/main" id="{E43A7A05-51AC-CA64-9108-4B4DF77669FB}"/>
              </a:ext>
            </a:extLst>
          </p:cNvPr>
          <p:cNvSpPr txBox="1"/>
          <p:nvPr/>
        </p:nvSpPr>
        <p:spPr>
          <a:xfrm>
            <a:off x="5137462" y="3648156"/>
            <a:ext cx="1643405" cy="276999"/>
          </a:xfrm>
          <a:prstGeom prst="rect">
            <a:avLst/>
          </a:prstGeom>
          <a:noFill/>
          <a:ln>
            <a:noFill/>
          </a:ln>
        </p:spPr>
        <p:txBody>
          <a:bodyPr wrap="square" rtlCol="0">
            <a:spAutoFit/>
          </a:bodyPr>
          <a:lstStyle/>
          <a:p>
            <a:r>
              <a:rPr lang="en-GB" sz="1200" b="1" i="1">
                <a:solidFill>
                  <a:srgbClr val="00B050"/>
                </a:solidFill>
              </a:rPr>
              <a:t>Example 12 – You do…</a:t>
            </a:r>
          </a:p>
        </p:txBody>
      </p:sp>
      <p:sp>
        <p:nvSpPr>
          <p:cNvPr id="55" name="TextBox 54">
            <a:extLst>
              <a:ext uri="{FF2B5EF4-FFF2-40B4-BE49-F238E27FC236}">
                <a16:creationId xmlns:a16="http://schemas.microsoft.com/office/drawing/2014/main" id="{1B62A96D-DEC0-B89C-94F0-D0FF9A8D3907}"/>
              </a:ext>
            </a:extLst>
          </p:cNvPr>
          <p:cNvSpPr txBox="1"/>
          <p:nvPr/>
        </p:nvSpPr>
        <p:spPr>
          <a:xfrm>
            <a:off x="3199218" y="3643264"/>
            <a:ext cx="1643405" cy="276999"/>
          </a:xfrm>
          <a:prstGeom prst="rect">
            <a:avLst/>
          </a:prstGeom>
          <a:noFill/>
          <a:ln>
            <a:noFill/>
          </a:ln>
        </p:spPr>
        <p:txBody>
          <a:bodyPr wrap="square" rtlCol="0">
            <a:spAutoFit/>
          </a:bodyPr>
          <a:lstStyle/>
          <a:p>
            <a:r>
              <a:rPr lang="en-GB" sz="1200" b="1" i="1">
                <a:solidFill>
                  <a:schemeClr val="accent2"/>
                </a:solidFill>
              </a:rPr>
              <a:t>Example 11 – We do…</a:t>
            </a:r>
          </a:p>
        </p:txBody>
      </p:sp>
      <p:grpSp>
        <p:nvGrpSpPr>
          <p:cNvPr id="56" name="Group 55">
            <a:extLst>
              <a:ext uri="{FF2B5EF4-FFF2-40B4-BE49-F238E27FC236}">
                <a16:creationId xmlns:a16="http://schemas.microsoft.com/office/drawing/2014/main" id="{E846ADB5-07E3-41B8-AD95-AAD299AF6097}"/>
              </a:ext>
            </a:extLst>
          </p:cNvPr>
          <p:cNvGrpSpPr/>
          <p:nvPr/>
        </p:nvGrpSpPr>
        <p:grpSpPr>
          <a:xfrm>
            <a:off x="1298486" y="4858097"/>
            <a:ext cx="5336703" cy="1203373"/>
            <a:chOff x="280324" y="4331428"/>
            <a:chExt cx="5797388" cy="1203373"/>
          </a:xfrm>
        </p:grpSpPr>
        <p:pic>
          <p:nvPicPr>
            <p:cNvPr id="57" name="Picture 56" descr="A screenshot of a computer&#10;&#10;Description automatically generated">
              <a:extLst>
                <a:ext uri="{FF2B5EF4-FFF2-40B4-BE49-F238E27FC236}">
                  <a16:creationId xmlns:a16="http://schemas.microsoft.com/office/drawing/2014/main" id="{B8D11AA7-8651-74C4-D1DA-E8584B78B2FD}"/>
                </a:ext>
              </a:extLst>
            </p:cNvPr>
            <p:cNvPicPr>
              <a:picLocks noChangeAspect="1"/>
            </p:cNvPicPr>
            <p:nvPr/>
          </p:nvPicPr>
          <p:blipFill rotWithShape="1">
            <a:blip r:embed="rId4"/>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58" name="Picture 57" descr="A screenshot of a computer&#10;&#10;Description automatically generated">
              <a:extLst>
                <a:ext uri="{FF2B5EF4-FFF2-40B4-BE49-F238E27FC236}">
                  <a16:creationId xmlns:a16="http://schemas.microsoft.com/office/drawing/2014/main" id="{49412BF9-B8BF-8726-63EE-7E45C0675C47}"/>
                </a:ext>
              </a:extLst>
            </p:cNvPr>
            <p:cNvPicPr>
              <a:picLocks noChangeAspect="1"/>
            </p:cNvPicPr>
            <p:nvPr/>
          </p:nvPicPr>
          <p:blipFill rotWithShape="1">
            <a:blip r:embed="rId4"/>
            <a:srcRect l="37224" t="34284" r="49991" b="46867"/>
            <a:stretch/>
          </p:blipFill>
          <p:spPr bwMode="auto">
            <a:xfrm>
              <a:off x="2291774" y="4339832"/>
              <a:ext cx="1801789" cy="1194969"/>
            </a:xfrm>
            <a:prstGeom prst="rect">
              <a:avLst/>
            </a:prstGeom>
            <a:ln>
              <a:noFill/>
            </a:ln>
            <a:extLst>
              <a:ext uri="{53640926-AAD7-44D8-BBD7-CCE9431645EC}">
                <a14:shadowObscured xmlns:a14="http://schemas.microsoft.com/office/drawing/2010/main"/>
              </a:ext>
            </a:extLst>
          </p:spPr>
        </p:pic>
        <p:pic>
          <p:nvPicPr>
            <p:cNvPr id="59" name="Picture 58" descr="A screenshot of a computer&#10;&#10;Description automatically generated">
              <a:extLst>
                <a:ext uri="{FF2B5EF4-FFF2-40B4-BE49-F238E27FC236}">
                  <a16:creationId xmlns:a16="http://schemas.microsoft.com/office/drawing/2014/main" id="{D8A188D6-687F-94C5-63FF-4FB611E9F687}"/>
                </a:ext>
              </a:extLst>
            </p:cNvPr>
            <p:cNvPicPr>
              <a:picLocks noChangeAspect="1"/>
            </p:cNvPicPr>
            <p:nvPr/>
          </p:nvPicPr>
          <p:blipFill rotWithShape="1">
            <a:blip r:embed="rId4"/>
            <a:srcRect l="37224" t="34284" r="49991" b="46867"/>
            <a:stretch/>
          </p:blipFill>
          <p:spPr bwMode="auto">
            <a:xfrm>
              <a:off x="4275923" y="4331428"/>
              <a:ext cx="1801789" cy="1194969"/>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4716051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848662D8-3C2D-B9B0-110F-B3442D2E26D9}"/>
                  </a:ext>
                </a:extLst>
              </p:cNvPr>
              <p:cNvGraphicFramePr>
                <a:graphicFrameLocks noGrp="1"/>
              </p:cNvGraphicFramePr>
              <p:nvPr/>
            </p:nvGraphicFramePr>
            <p:xfrm>
              <a:off x="164101" y="461415"/>
              <a:ext cx="6572478" cy="8863983"/>
            </p:xfrm>
            <a:graphic>
              <a:graphicData uri="http://schemas.openxmlformats.org/drawingml/2006/table">
                <a:tbl>
                  <a:tblPr firstRow="1" bandRow="1">
                    <a:tableStyleId>{5C22544A-7EE6-4342-B048-85BDC9FD1C3A}</a:tableStyleId>
                  </a:tblPr>
                  <a:tblGrid>
                    <a:gridCol w="2190826">
                      <a:extLst>
                        <a:ext uri="{9D8B030D-6E8A-4147-A177-3AD203B41FA5}">
                          <a16:colId xmlns:a16="http://schemas.microsoft.com/office/drawing/2014/main" val="1568142362"/>
                        </a:ext>
                      </a:extLst>
                    </a:gridCol>
                    <a:gridCol w="2190826">
                      <a:extLst>
                        <a:ext uri="{9D8B030D-6E8A-4147-A177-3AD203B41FA5}">
                          <a16:colId xmlns:a16="http://schemas.microsoft.com/office/drawing/2014/main" val="4037115703"/>
                        </a:ext>
                      </a:extLst>
                    </a:gridCol>
                    <a:gridCol w="2190826">
                      <a:extLst>
                        <a:ext uri="{9D8B030D-6E8A-4147-A177-3AD203B41FA5}">
                          <a16:colId xmlns:a16="http://schemas.microsoft.com/office/drawing/2014/main" val="410766759"/>
                        </a:ext>
                      </a:extLst>
                    </a:gridCol>
                  </a:tblGrid>
                  <a:tr h="348813">
                    <a:tc gridSpan="3">
                      <a:txBody>
                        <a:bodyPr/>
                        <a:lstStyle/>
                        <a:p>
                          <a:r>
                            <a:rPr lang="en-US" sz="1200" b="0" baseline="0">
                              <a:solidFill>
                                <a:schemeClr val="tx1"/>
                              </a:solidFill>
                              <a:latin typeface="+mn-lt"/>
                            </a:rPr>
                            <a:t>Question 2 continued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469213032"/>
                      </a:ext>
                    </a:extLst>
                  </a:tr>
                  <a:tr h="335970">
                    <a:tc>
                      <a:txBody>
                        <a:bodyPr/>
                        <a:lstStyle/>
                        <a:p>
                          <a:pPr algn="l"/>
                          <a:r>
                            <a:rPr lang="en-US" sz="1200" baseline="0">
                              <a:solidFill>
                                <a:schemeClr val="tx1"/>
                              </a:solidFill>
                              <a:latin typeface="+mn-lt"/>
                            </a:rPr>
                            <a:t>d)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9.2</m:t>
                              </m:r>
                              <m:r>
                                <a:rPr lang="en-GB" sz="1200" b="0" i="1" baseline="0" smtClean="0">
                                  <a:solidFill>
                                    <a:schemeClr val="tx1"/>
                                  </a:solidFill>
                                  <a:latin typeface="Cambria Math" panose="02040503050406030204" pitchFamily="18" charset="0"/>
                                  <a:ea typeface="Cambria Math" panose="02040503050406030204" pitchFamily="18" charset="0"/>
                                </a:rPr>
                                <m:t>×0.6</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aseline="0">
                              <a:solidFill>
                                <a:schemeClr val="tx1"/>
                              </a:solidFill>
                              <a:latin typeface="+mn-lt"/>
                            </a:rPr>
                            <a:t>e)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4.8</m:t>
                              </m:r>
                              <m:r>
                                <a:rPr lang="en-GB" sz="1200" b="0" i="1" baseline="0" smtClean="0">
                                  <a:solidFill>
                                    <a:schemeClr val="tx1"/>
                                  </a:solidFill>
                                  <a:latin typeface="Cambria Math" panose="02040503050406030204" pitchFamily="18" charset="0"/>
                                  <a:ea typeface="Cambria Math" panose="02040503050406030204" pitchFamily="18" charset="0"/>
                                </a:rPr>
                                <m:t>×0.9</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aseline="0">
                              <a:solidFill>
                                <a:schemeClr val="tx1"/>
                              </a:solidFill>
                              <a:latin typeface="+mn-lt"/>
                            </a:rPr>
                            <a:t>f)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2.4</m:t>
                              </m:r>
                              <m:r>
                                <a:rPr lang="en-GB" sz="1200" b="0" i="1" baseline="0" smtClean="0">
                                  <a:solidFill>
                                    <a:schemeClr val="tx1"/>
                                  </a:solidFill>
                                  <a:latin typeface="Cambria Math" panose="02040503050406030204" pitchFamily="18" charset="0"/>
                                  <a:ea typeface="Cambria Math" panose="02040503050406030204" pitchFamily="18" charset="0"/>
                                </a:rPr>
                                <m:t>×3.2</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838357"/>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7428327"/>
                      </a:ext>
                    </a:extLst>
                  </a:tr>
                  <a:tr h="334800">
                    <a:tc>
                      <a:txBody>
                        <a:bodyPr/>
                        <a:lstStyle/>
                        <a:p>
                          <a:r>
                            <a:rPr lang="en-US" sz="1200" baseline="0">
                              <a:solidFill>
                                <a:schemeClr val="tx1"/>
                              </a:solidFill>
                              <a:latin typeface="+mn-lt"/>
                            </a:rPr>
                            <a:t>g)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9.1</m:t>
                              </m:r>
                              <m:r>
                                <a:rPr lang="en-GB" sz="1200" b="0" i="1" baseline="0" smtClean="0">
                                  <a:solidFill>
                                    <a:schemeClr val="tx1"/>
                                  </a:solidFill>
                                  <a:latin typeface="Cambria Math" panose="02040503050406030204" pitchFamily="18" charset="0"/>
                                  <a:ea typeface="Cambria Math" panose="02040503050406030204" pitchFamily="18" charset="0"/>
                                </a:rPr>
                                <m:t>×1.3</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h)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5.5</m:t>
                              </m:r>
                              <m:r>
                                <a:rPr lang="en-GB" sz="1200" b="0" i="1" baseline="0" smtClean="0">
                                  <a:solidFill>
                                    <a:schemeClr val="tx1"/>
                                  </a:solidFill>
                                  <a:latin typeface="Cambria Math" panose="02040503050406030204" pitchFamily="18" charset="0"/>
                                  <a:ea typeface="Cambria Math" panose="02040503050406030204" pitchFamily="18" charset="0"/>
                                </a:rPr>
                                <m:t>×7.7</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i)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1.7</m:t>
                              </m:r>
                              <m:r>
                                <a:rPr lang="en-GB" sz="1200" b="0" i="1" baseline="0" smtClean="0">
                                  <a:solidFill>
                                    <a:schemeClr val="tx1"/>
                                  </a:solidFill>
                                  <a:latin typeface="Cambria Math" panose="02040503050406030204" pitchFamily="18" charset="0"/>
                                  <a:ea typeface="Cambria Math" panose="02040503050406030204" pitchFamily="18" charset="0"/>
                                </a:rPr>
                                <m:t>×4.3</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012216"/>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1103812"/>
                      </a:ext>
                    </a:extLst>
                  </a:tr>
                  <a:tr h="334800">
                    <a:tc>
                      <a:txBody>
                        <a:bodyPr/>
                        <a:lstStyle/>
                        <a:p>
                          <a:r>
                            <a:rPr lang="en-US" sz="1200" baseline="0">
                              <a:solidFill>
                                <a:schemeClr val="tx1"/>
                              </a:solidFill>
                              <a:latin typeface="+mn-lt"/>
                            </a:rPr>
                            <a:t>j)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9.4</m:t>
                              </m:r>
                              <m:r>
                                <a:rPr lang="en-GB" sz="1200" b="0" i="1" baseline="0" smtClean="0">
                                  <a:solidFill>
                                    <a:schemeClr val="tx1"/>
                                  </a:solidFill>
                                  <a:latin typeface="Cambria Math" panose="02040503050406030204" pitchFamily="18" charset="0"/>
                                  <a:ea typeface="Cambria Math" panose="02040503050406030204" pitchFamily="18" charset="0"/>
                                </a:rPr>
                                <m:t>×</m:t>
                              </m:r>
                              <m:r>
                                <a:rPr lang="en-GB" sz="1200" b="0" i="0" baseline="0" smtClean="0">
                                  <a:solidFill>
                                    <a:schemeClr val="tx1"/>
                                  </a:solidFill>
                                  <a:latin typeface="Cambria Math" panose="02040503050406030204" pitchFamily="18" charset="0"/>
                                  <a:ea typeface="Cambria Math" panose="02040503050406030204" pitchFamily="18" charset="0"/>
                                </a:rPr>
                                <m:t>4.9</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k)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0.13</m:t>
                              </m:r>
                              <m:r>
                                <a:rPr lang="en-GB" sz="1200" b="0" i="1" baseline="0" smtClean="0">
                                  <a:solidFill>
                                    <a:schemeClr val="tx1"/>
                                  </a:solidFill>
                                  <a:latin typeface="Cambria Math" panose="02040503050406030204" pitchFamily="18" charset="0"/>
                                  <a:ea typeface="Cambria Math" panose="02040503050406030204" pitchFamily="18" charset="0"/>
                                </a:rPr>
                                <m:t>×0.7</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l)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0.48</m:t>
                              </m:r>
                              <m:r>
                                <a:rPr lang="en-GB" sz="1200" b="0" i="1" baseline="0" smtClean="0">
                                  <a:solidFill>
                                    <a:schemeClr val="tx1"/>
                                  </a:solidFill>
                                  <a:latin typeface="Cambria Math" panose="02040503050406030204" pitchFamily="18" charset="0"/>
                                  <a:ea typeface="Cambria Math" panose="02040503050406030204" pitchFamily="18" charset="0"/>
                                </a:rPr>
                                <m:t>×0.3</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2214509"/>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56150"/>
                      </a:ext>
                    </a:extLst>
                  </a:tr>
                  <a:tr h="334800">
                    <a:tc>
                      <a:txBody>
                        <a:bodyPr/>
                        <a:lstStyle/>
                        <a:p>
                          <a:r>
                            <a:rPr lang="en-US" sz="1200" baseline="0">
                              <a:solidFill>
                                <a:schemeClr val="tx1"/>
                              </a:solidFill>
                              <a:latin typeface="+mn-lt"/>
                            </a:rPr>
                            <a:t>m)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0.54</m:t>
                              </m:r>
                              <m:r>
                                <a:rPr lang="en-GB" sz="1200" b="0" i="1" baseline="0" smtClean="0">
                                  <a:solidFill>
                                    <a:schemeClr val="tx1"/>
                                  </a:solidFill>
                                  <a:latin typeface="Cambria Math" panose="02040503050406030204" pitchFamily="18" charset="0"/>
                                  <a:ea typeface="Cambria Math" panose="02040503050406030204" pitchFamily="18" charset="0"/>
                                </a:rPr>
                                <m:t>×0.9</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n)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0.</m:t>
                              </m:r>
                              <m:r>
                                <a:rPr lang="en-GB" sz="1200" b="0" i="1" baseline="0" smtClean="0">
                                  <a:solidFill>
                                    <a:schemeClr val="tx1"/>
                                  </a:solidFill>
                                  <a:latin typeface="Cambria Math" panose="02040503050406030204" pitchFamily="18" charset="0"/>
                                  <a:ea typeface="Cambria Math" panose="02040503050406030204" pitchFamily="18" charset="0"/>
                                </a:rPr>
                                <m:t>18×0.17</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o) </a:t>
                          </a:r>
                          <a14:m>
                            <m:oMath xmlns:m="http://schemas.openxmlformats.org/officeDocument/2006/math">
                              <m:r>
                                <a:rPr lang="en-GB" sz="1200" b="0" i="0" baseline="0" smtClean="0">
                                  <a:solidFill>
                                    <a:schemeClr val="tx1"/>
                                  </a:solidFill>
                                  <a:latin typeface="Cambria Math" panose="02040503050406030204" pitchFamily="18" charset="0"/>
                                  <a:ea typeface="Cambria Math" panose="02040503050406030204" pitchFamily="18" charset="0"/>
                                </a:rPr>
                                <m:t>8.3</m:t>
                              </m:r>
                              <m:r>
                                <a:rPr lang="en-GB" sz="1200" b="0" i="1" baseline="0" smtClean="0">
                                  <a:solidFill>
                                    <a:schemeClr val="tx1"/>
                                  </a:solidFill>
                                  <a:latin typeface="Cambria Math" panose="02040503050406030204" pitchFamily="18" charset="0"/>
                                  <a:ea typeface="Cambria Math" panose="02040503050406030204" pitchFamily="18" charset="0"/>
                                </a:rPr>
                                <m:t>×0.37</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9207704"/>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663228"/>
                      </a:ext>
                    </a:extLst>
                  </a:tr>
                  <a:tr h="334800">
                    <a:tc>
                      <a:txBody>
                        <a:bodyPr/>
                        <a:lstStyle/>
                        <a:p>
                          <a:r>
                            <a:rPr lang="en-US" sz="1200" baseline="0">
                              <a:solidFill>
                                <a:schemeClr val="tx1"/>
                              </a:solidFill>
                              <a:latin typeface="+mn-lt"/>
                            </a:rPr>
                            <a:t>p) </a:t>
                          </a:r>
                          <a14:m>
                            <m:oMath xmlns:m="http://schemas.openxmlformats.org/officeDocument/2006/math">
                              <m:r>
                                <a:rPr lang="en-GB" sz="1200" b="0" i="1" baseline="0" smtClean="0">
                                  <a:solidFill>
                                    <a:schemeClr val="tx1"/>
                                  </a:solidFill>
                                  <a:latin typeface="Cambria Math" panose="02040503050406030204" pitchFamily="18" charset="0"/>
                                </a:rPr>
                                <m:t>3.5</m:t>
                              </m:r>
                              <m:r>
                                <a:rPr lang="en-GB" sz="1200" b="0" i="1" baseline="0" smtClean="0">
                                  <a:solidFill>
                                    <a:schemeClr val="tx1"/>
                                  </a:solidFill>
                                  <a:latin typeface="Cambria Math" panose="02040503050406030204" pitchFamily="18" charset="0"/>
                                  <a:ea typeface="Cambria Math" panose="02040503050406030204" pitchFamily="18" charset="0"/>
                                </a:rPr>
                                <m:t>×0.74</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q) </a:t>
                          </a:r>
                          <a14:m>
                            <m:oMath xmlns:m="http://schemas.openxmlformats.org/officeDocument/2006/math">
                              <m:r>
                                <a:rPr lang="en-GB" sz="1200" b="0" i="1" baseline="0" smtClean="0">
                                  <a:solidFill>
                                    <a:schemeClr val="tx1"/>
                                  </a:solidFill>
                                  <a:latin typeface="Cambria Math" panose="02040503050406030204" pitchFamily="18" charset="0"/>
                                </a:rPr>
                                <m:t>0.94</m:t>
                              </m:r>
                              <m:r>
                                <a:rPr lang="en-GB" sz="1200" b="0" i="1" baseline="0" smtClean="0">
                                  <a:solidFill>
                                    <a:schemeClr val="tx1"/>
                                  </a:solidFill>
                                  <a:latin typeface="Cambria Math" panose="02040503050406030204" pitchFamily="18" charset="0"/>
                                  <a:ea typeface="Cambria Math" panose="02040503050406030204" pitchFamily="18" charset="0"/>
                                </a:rPr>
                                <m:t>×0.02</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r) </a:t>
                          </a:r>
                          <a14:m>
                            <m:oMath xmlns:m="http://schemas.openxmlformats.org/officeDocument/2006/math">
                              <m:r>
                                <a:rPr lang="en-GB" sz="1200" b="0" i="1" baseline="0" smtClean="0">
                                  <a:solidFill>
                                    <a:schemeClr val="tx1"/>
                                  </a:solidFill>
                                  <a:latin typeface="Cambria Math" panose="02040503050406030204" pitchFamily="18" charset="0"/>
                                </a:rPr>
                                <m:t>0.38</m:t>
                              </m:r>
                              <m:r>
                                <a:rPr lang="en-GB" sz="1200" b="0" i="1" baseline="0" smtClean="0">
                                  <a:solidFill>
                                    <a:schemeClr val="tx1"/>
                                  </a:solidFill>
                                  <a:latin typeface="Cambria Math" panose="02040503050406030204" pitchFamily="18" charset="0"/>
                                  <a:ea typeface="Cambria Math" panose="02040503050406030204" pitchFamily="18" charset="0"/>
                                </a:rPr>
                                <m:t>×0.06</m:t>
                              </m:r>
                            </m:oMath>
                          </a14:m>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761933"/>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7088326"/>
                      </a:ext>
                    </a:extLst>
                  </a:tr>
                </a:tbl>
              </a:graphicData>
            </a:graphic>
          </p:graphicFrame>
        </mc:Choice>
        <mc:Fallback xmlns="">
          <p:graphicFrame>
            <p:nvGraphicFramePr>
              <p:cNvPr id="17" name="Table 16">
                <a:extLst>
                  <a:ext uri="{FF2B5EF4-FFF2-40B4-BE49-F238E27FC236}">
                    <a16:creationId xmlns:a16="http://schemas.microsoft.com/office/drawing/2014/main" id="{848662D8-3C2D-B9B0-110F-B3442D2E26D9}"/>
                  </a:ext>
                </a:extLst>
              </p:cNvPr>
              <p:cNvGraphicFramePr>
                <a:graphicFrameLocks noGrp="1"/>
              </p:cNvGraphicFramePr>
              <p:nvPr/>
            </p:nvGraphicFramePr>
            <p:xfrm>
              <a:off x="164101" y="461415"/>
              <a:ext cx="6572478" cy="8863983"/>
            </p:xfrm>
            <a:graphic>
              <a:graphicData uri="http://schemas.openxmlformats.org/drawingml/2006/table">
                <a:tbl>
                  <a:tblPr firstRow="1" bandRow="1">
                    <a:tableStyleId>{5C22544A-7EE6-4342-B048-85BDC9FD1C3A}</a:tableStyleId>
                  </a:tblPr>
                  <a:tblGrid>
                    <a:gridCol w="2190826">
                      <a:extLst>
                        <a:ext uri="{9D8B030D-6E8A-4147-A177-3AD203B41FA5}">
                          <a16:colId xmlns:a16="http://schemas.microsoft.com/office/drawing/2014/main" val="1568142362"/>
                        </a:ext>
                      </a:extLst>
                    </a:gridCol>
                    <a:gridCol w="2190826">
                      <a:extLst>
                        <a:ext uri="{9D8B030D-6E8A-4147-A177-3AD203B41FA5}">
                          <a16:colId xmlns:a16="http://schemas.microsoft.com/office/drawing/2014/main" val="4037115703"/>
                        </a:ext>
                      </a:extLst>
                    </a:gridCol>
                    <a:gridCol w="2190826">
                      <a:extLst>
                        <a:ext uri="{9D8B030D-6E8A-4147-A177-3AD203B41FA5}">
                          <a16:colId xmlns:a16="http://schemas.microsoft.com/office/drawing/2014/main" val="410766759"/>
                        </a:ext>
                      </a:extLst>
                    </a:gridCol>
                  </a:tblGrid>
                  <a:tr h="348813">
                    <a:tc gridSpan="3">
                      <a:txBody>
                        <a:bodyPr/>
                        <a:lstStyle/>
                        <a:p>
                          <a:r>
                            <a:rPr lang="en-US" sz="1200" b="0" baseline="0">
                              <a:solidFill>
                                <a:schemeClr val="tx1"/>
                              </a:solidFill>
                              <a:latin typeface="+mn-lt"/>
                            </a:rPr>
                            <a:t>Question 2 continued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469213032"/>
                      </a:ext>
                    </a:extLst>
                  </a:tr>
                  <a:tr h="33597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8" t="-103636" r="-200556" b="-244545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8" t="-103636" r="-100556" b="-244545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8" t="-103636" r="-556" b="-2445455"/>
                          </a:stretch>
                        </a:blipFill>
                      </a:tcPr>
                    </a:tc>
                    <a:extLst>
                      <a:ext uri="{0D108BD9-81ED-4DB2-BD59-A6C34878D82A}">
                        <a16:rowId xmlns:a16="http://schemas.microsoft.com/office/drawing/2014/main" val="472838357"/>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7428327"/>
                      </a:ext>
                    </a:extLst>
                  </a:tr>
                  <a:tr h="3348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8" t="-612727" r="-200556" b="-193636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8" t="-612727" r="-100556" b="-193636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8" t="-612727" r="-556" b="-1936364"/>
                          </a:stretch>
                        </a:blipFill>
                      </a:tcPr>
                    </a:tc>
                    <a:extLst>
                      <a:ext uri="{0D108BD9-81ED-4DB2-BD59-A6C34878D82A}">
                        <a16:rowId xmlns:a16="http://schemas.microsoft.com/office/drawing/2014/main" val="3612012216"/>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1103812"/>
                      </a:ext>
                    </a:extLst>
                  </a:tr>
                  <a:tr h="3348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8" t="-1120000" r="-200556" b="-142909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8" t="-1120000" r="-100556" b="-142909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8" t="-1120000" r="-556" b="-1429091"/>
                          </a:stretch>
                        </a:blipFill>
                      </a:tcPr>
                    </a:tc>
                    <a:extLst>
                      <a:ext uri="{0D108BD9-81ED-4DB2-BD59-A6C34878D82A}">
                        <a16:rowId xmlns:a16="http://schemas.microsoft.com/office/drawing/2014/main" val="3422214509"/>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56150"/>
                      </a:ext>
                    </a:extLst>
                  </a:tr>
                  <a:tr h="3348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8" t="-1629091" r="-200556" b="-92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8" t="-1629091" r="-100556" b="-92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8" t="-1629091" r="-556" b="-920000"/>
                          </a:stretch>
                        </a:blipFill>
                      </a:tcPr>
                    </a:tc>
                    <a:extLst>
                      <a:ext uri="{0D108BD9-81ED-4DB2-BD59-A6C34878D82A}">
                        <a16:rowId xmlns:a16="http://schemas.microsoft.com/office/drawing/2014/main" val="769207704"/>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663228"/>
                      </a:ext>
                    </a:extLst>
                  </a:tr>
                  <a:tr h="3348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8" t="-2136364" r="-200556" b="-41272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278" t="-2136364" r="-100556" b="-41272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8" t="-2136364" r="-556" b="-412727"/>
                          </a:stretch>
                        </a:blipFill>
                      </a:tcPr>
                    </a:tc>
                    <a:extLst>
                      <a:ext uri="{0D108BD9-81ED-4DB2-BD59-A6C34878D82A}">
                        <a16:rowId xmlns:a16="http://schemas.microsoft.com/office/drawing/2014/main" val="1040761933"/>
                      </a:ext>
                    </a:extLst>
                  </a:tr>
                  <a:tr h="1368000">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7088326"/>
                      </a:ext>
                    </a:extLst>
                  </a:tr>
                </a:tbl>
              </a:graphicData>
            </a:graphic>
          </p:graphicFrame>
        </mc:Fallback>
      </mc:AlternateContent>
      <p:grpSp>
        <p:nvGrpSpPr>
          <p:cNvPr id="19" name="Group 18">
            <a:extLst>
              <a:ext uri="{FF2B5EF4-FFF2-40B4-BE49-F238E27FC236}">
                <a16:creationId xmlns:a16="http://schemas.microsoft.com/office/drawing/2014/main" id="{0FBE95EF-71ED-9FAE-1FEA-E58D7FCFF2FE}"/>
              </a:ext>
            </a:extLst>
          </p:cNvPr>
          <p:cNvGrpSpPr/>
          <p:nvPr/>
        </p:nvGrpSpPr>
        <p:grpSpPr>
          <a:xfrm>
            <a:off x="392454" y="1183962"/>
            <a:ext cx="6142542" cy="1199195"/>
            <a:chOff x="280324" y="4331428"/>
            <a:chExt cx="6142542" cy="1199195"/>
          </a:xfrm>
        </p:grpSpPr>
        <p:pic>
          <p:nvPicPr>
            <p:cNvPr id="21" name="Picture 20" descr="A screenshot of a computer&#10;&#10;Description automatically generated">
              <a:extLst>
                <a:ext uri="{FF2B5EF4-FFF2-40B4-BE49-F238E27FC236}">
                  <a16:creationId xmlns:a16="http://schemas.microsoft.com/office/drawing/2014/main" id="{E79299E4-63C1-55EF-DEDD-44CCD0CA80FD}"/>
                </a:ext>
              </a:extLst>
            </p:cNvPr>
            <p:cNvPicPr>
              <a:picLocks noChangeAspect="1"/>
            </p:cNvPicPr>
            <p:nvPr/>
          </p:nvPicPr>
          <p:blipFill rotWithShape="1">
            <a:blip r:embed="rId3"/>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22" name="Picture 21" descr="A screenshot of a computer&#10;&#10;Description automatically generated">
              <a:extLst>
                <a:ext uri="{FF2B5EF4-FFF2-40B4-BE49-F238E27FC236}">
                  <a16:creationId xmlns:a16="http://schemas.microsoft.com/office/drawing/2014/main" id="{1537AD96-DFE1-EEFD-6C28-EC6F00AAC36C}"/>
                </a:ext>
              </a:extLst>
            </p:cNvPr>
            <p:cNvPicPr>
              <a:picLocks noChangeAspect="1"/>
            </p:cNvPicPr>
            <p:nvPr/>
          </p:nvPicPr>
          <p:blipFill rotWithShape="1">
            <a:blip r:embed="rId3"/>
            <a:srcRect l="37224" t="34284" r="49991" b="46867"/>
            <a:stretch/>
          </p:blipFill>
          <p:spPr bwMode="auto">
            <a:xfrm>
              <a:off x="2479979" y="4335654"/>
              <a:ext cx="1801789" cy="1194969"/>
            </a:xfrm>
            <a:prstGeom prst="rect">
              <a:avLst/>
            </a:prstGeom>
            <a:ln>
              <a:noFill/>
            </a:ln>
            <a:extLst>
              <a:ext uri="{53640926-AAD7-44D8-BBD7-CCE9431645EC}">
                <a14:shadowObscured xmlns:a14="http://schemas.microsoft.com/office/drawing/2010/main"/>
              </a:ext>
            </a:extLst>
          </p:spPr>
        </p:pic>
        <p:pic>
          <p:nvPicPr>
            <p:cNvPr id="23" name="Picture 22" descr="A screenshot of a computer&#10;&#10;Description automatically generated">
              <a:extLst>
                <a:ext uri="{FF2B5EF4-FFF2-40B4-BE49-F238E27FC236}">
                  <a16:creationId xmlns:a16="http://schemas.microsoft.com/office/drawing/2014/main" id="{F95B5F8B-E5CF-6E3C-18FC-04B1A9B2065C}"/>
                </a:ext>
              </a:extLst>
            </p:cNvPr>
            <p:cNvPicPr>
              <a:picLocks noChangeAspect="1"/>
            </p:cNvPicPr>
            <p:nvPr/>
          </p:nvPicPr>
          <p:blipFill rotWithShape="1">
            <a:blip r:embed="rId3"/>
            <a:srcRect l="37224" t="34284" r="49991" b="46867"/>
            <a:stretch/>
          </p:blipFill>
          <p:spPr bwMode="auto">
            <a:xfrm>
              <a:off x="4621077" y="4331429"/>
              <a:ext cx="1801789" cy="1194969"/>
            </a:xfrm>
            <a:prstGeom prst="rect">
              <a:avLst/>
            </a:prstGeom>
            <a:ln>
              <a:noFill/>
            </a:ln>
            <a:extLst>
              <a:ext uri="{53640926-AAD7-44D8-BBD7-CCE9431645EC}">
                <a14:shadowObscured xmlns:a14="http://schemas.microsoft.com/office/drawing/2010/main"/>
              </a:ext>
            </a:extLst>
          </p:spPr>
        </p:pic>
      </p:grpSp>
      <p:grpSp>
        <p:nvGrpSpPr>
          <p:cNvPr id="24" name="Group 23">
            <a:extLst>
              <a:ext uri="{FF2B5EF4-FFF2-40B4-BE49-F238E27FC236}">
                <a16:creationId xmlns:a16="http://schemas.microsoft.com/office/drawing/2014/main" id="{8EC64200-B48E-1759-C5E2-E2907484E264}"/>
              </a:ext>
            </a:extLst>
          </p:cNvPr>
          <p:cNvGrpSpPr/>
          <p:nvPr/>
        </p:nvGrpSpPr>
        <p:grpSpPr>
          <a:xfrm>
            <a:off x="392454" y="2933592"/>
            <a:ext cx="6142542" cy="1199195"/>
            <a:chOff x="280324" y="4331428"/>
            <a:chExt cx="6142542" cy="1199195"/>
          </a:xfrm>
        </p:grpSpPr>
        <p:pic>
          <p:nvPicPr>
            <p:cNvPr id="25" name="Picture 24" descr="A screenshot of a computer&#10;&#10;Description automatically generated">
              <a:extLst>
                <a:ext uri="{FF2B5EF4-FFF2-40B4-BE49-F238E27FC236}">
                  <a16:creationId xmlns:a16="http://schemas.microsoft.com/office/drawing/2014/main" id="{C998F912-CF78-306D-E7DD-B9A5C59A7294}"/>
                </a:ext>
              </a:extLst>
            </p:cNvPr>
            <p:cNvPicPr>
              <a:picLocks noChangeAspect="1"/>
            </p:cNvPicPr>
            <p:nvPr/>
          </p:nvPicPr>
          <p:blipFill rotWithShape="1">
            <a:blip r:embed="rId3"/>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26" name="Picture 25" descr="A screenshot of a computer&#10;&#10;Description automatically generated">
              <a:extLst>
                <a:ext uri="{FF2B5EF4-FFF2-40B4-BE49-F238E27FC236}">
                  <a16:creationId xmlns:a16="http://schemas.microsoft.com/office/drawing/2014/main" id="{4AFF7047-29CA-1A4D-985E-3885877629F0}"/>
                </a:ext>
              </a:extLst>
            </p:cNvPr>
            <p:cNvPicPr>
              <a:picLocks noChangeAspect="1"/>
            </p:cNvPicPr>
            <p:nvPr/>
          </p:nvPicPr>
          <p:blipFill rotWithShape="1">
            <a:blip r:embed="rId3"/>
            <a:srcRect l="37224" t="34284" r="49991" b="46867"/>
            <a:stretch/>
          </p:blipFill>
          <p:spPr bwMode="auto">
            <a:xfrm>
              <a:off x="2479979" y="4335654"/>
              <a:ext cx="1801789" cy="1194969"/>
            </a:xfrm>
            <a:prstGeom prst="rect">
              <a:avLst/>
            </a:prstGeom>
            <a:ln>
              <a:noFill/>
            </a:ln>
            <a:extLst>
              <a:ext uri="{53640926-AAD7-44D8-BBD7-CCE9431645EC}">
                <a14:shadowObscured xmlns:a14="http://schemas.microsoft.com/office/drawing/2010/main"/>
              </a:ext>
            </a:extLst>
          </p:spPr>
        </p:pic>
        <p:pic>
          <p:nvPicPr>
            <p:cNvPr id="27" name="Picture 26" descr="A screenshot of a computer&#10;&#10;Description automatically generated">
              <a:extLst>
                <a:ext uri="{FF2B5EF4-FFF2-40B4-BE49-F238E27FC236}">
                  <a16:creationId xmlns:a16="http://schemas.microsoft.com/office/drawing/2014/main" id="{3BDE17BF-EAB6-20E7-189D-ABD4A08CA50D}"/>
                </a:ext>
              </a:extLst>
            </p:cNvPr>
            <p:cNvPicPr>
              <a:picLocks noChangeAspect="1"/>
            </p:cNvPicPr>
            <p:nvPr/>
          </p:nvPicPr>
          <p:blipFill rotWithShape="1">
            <a:blip r:embed="rId3"/>
            <a:srcRect l="37224" t="34284" r="49991" b="46867"/>
            <a:stretch/>
          </p:blipFill>
          <p:spPr bwMode="auto">
            <a:xfrm>
              <a:off x="4621077" y="4331429"/>
              <a:ext cx="1801789" cy="1194969"/>
            </a:xfrm>
            <a:prstGeom prst="rect">
              <a:avLst/>
            </a:prstGeom>
            <a:ln>
              <a:noFill/>
            </a:ln>
            <a:extLst>
              <a:ext uri="{53640926-AAD7-44D8-BBD7-CCE9431645EC}">
                <a14:shadowObscured xmlns:a14="http://schemas.microsoft.com/office/drawing/2010/main"/>
              </a:ext>
            </a:extLst>
          </p:spPr>
        </p:pic>
      </p:grpSp>
      <p:grpSp>
        <p:nvGrpSpPr>
          <p:cNvPr id="28" name="Group 27">
            <a:extLst>
              <a:ext uri="{FF2B5EF4-FFF2-40B4-BE49-F238E27FC236}">
                <a16:creationId xmlns:a16="http://schemas.microsoft.com/office/drawing/2014/main" id="{5500CA63-DFEB-6024-4CD3-A7DADD0D31D5}"/>
              </a:ext>
            </a:extLst>
          </p:cNvPr>
          <p:cNvGrpSpPr/>
          <p:nvPr/>
        </p:nvGrpSpPr>
        <p:grpSpPr>
          <a:xfrm>
            <a:off x="392454" y="4683222"/>
            <a:ext cx="6142542" cy="1199195"/>
            <a:chOff x="280324" y="4331428"/>
            <a:chExt cx="6142542" cy="1199195"/>
          </a:xfrm>
        </p:grpSpPr>
        <p:pic>
          <p:nvPicPr>
            <p:cNvPr id="29" name="Picture 28" descr="A screenshot of a computer&#10;&#10;Description automatically generated">
              <a:extLst>
                <a:ext uri="{FF2B5EF4-FFF2-40B4-BE49-F238E27FC236}">
                  <a16:creationId xmlns:a16="http://schemas.microsoft.com/office/drawing/2014/main" id="{51D523E4-47DC-DBB4-2C3A-3E7FDE486051}"/>
                </a:ext>
              </a:extLst>
            </p:cNvPr>
            <p:cNvPicPr>
              <a:picLocks noChangeAspect="1"/>
            </p:cNvPicPr>
            <p:nvPr/>
          </p:nvPicPr>
          <p:blipFill rotWithShape="1">
            <a:blip r:embed="rId3"/>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30" name="Picture 29" descr="A screenshot of a computer&#10;&#10;Description automatically generated">
              <a:extLst>
                <a:ext uri="{FF2B5EF4-FFF2-40B4-BE49-F238E27FC236}">
                  <a16:creationId xmlns:a16="http://schemas.microsoft.com/office/drawing/2014/main" id="{15B3DCC2-46C0-8884-5389-5F2F1B488C98}"/>
                </a:ext>
              </a:extLst>
            </p:cNvPr>
            <p:cNvPicPr>
              <a:picLocks noChangeAspect="1"/>
            </p:cNvPicPr>
            <p:nvPr/>
          </p:nvPicPr>
          <p:blipFill rotWithShape="1">
            <a:blip r:embed="rId3"/>
            <a:srcRect l="37224" t="34284" r="49991" b="46867"/>
            <a:stretch/>
          </p:blipFill>
          <p:spPr bwMode="auto">
            <a:xfrm>
              <a:off x="2479979" y="4335654"/>
              <a:ext cx="1801789" cy="1194969"/>
            </a:xfrm>
            <a:prstGeom prst="rect">
              <a:avLst/>
            </a:prstGeom>
            <a:ln>
              <a:noFill/>
            </a:ln>
            <a:extLst>
              <a:ext uri="{53640926-AAD7-44D8-BBD7-CCE9431645EC}">
                <a14:shadowObscured xmlns:a14="http://schemas.microsoft.com/office/drawing/2010/main"/>
              </a:ext>
            </a:extLst>
          </p:spPr>
        </p:pic>
        <p:pic>
          <p:nvPicPr>
            <p:cNvPr id="31" name="Picture 30" descr="A screenshot of a computer&#10;&#10;Description automatically generated">
              <a:extLst>
                <a:ext uri="{FF2B5EF4-FFF2-40B4-BE49-F238E27FC236}">
                  <a16:creationId xmlns:a16="http://schemas.microsoft.com/office/drawing/2014/main" id="{CF41991B-57A5-E1C6-8C88-89EC4D2D9D50}"/>
                </a:ext>
              </a:extLst>
            </p:cNvPr>
            <p:cNvPicPr>
              <a:picLocks noChangeAspect="1"/>
            </p:cNvPicPr>
            <p:nvPr/>
          </p:nvPicPr>
          <p:blipFill rotWithShape="1">
            <a:blip r:embed="rId3"/>
            <a:srcRect l="37224" t="34284" r="49991" b="46867"/>
            <a:stretch/>
          </p:blipFill>
          <p:spPr bwMode="auto">
            <a:xfrm>
              <a:off x="4621077" y="4331429"/>
              <a:ext cx="1801789" cy="1194969"/>
            </a:xfrm>
            <a:prstGeom prst="rect">
              <a:avLst/>
            </a:prstGeom>
            <a:ln>
              <a:noFill/>
            </a:ln>
            <a:extLst>
              <a:ext uri="{53640926-AAD7-44D8-BBD7-CCE9431645EC}">
                <a14:shadowObscured xmlns:a14="http://schemas.microsoft.com/office/drawing/2010/main"/>
              </a:ext>
            </a:extLst>
          </p:spPr>
        </p:pic>
      </p:grpSp>
      <p:grpSp>
        <p:nvGrpSpPr>
          <p:cNvPr id="32" name="Group 31">
            <a:extLst>
              <a:ext uri="{FF2B5EF4-FFF2-40B4-BE49-F238E27FC236}">
                <a16:creationId xmlns:a16="http://schemas.microsoft.com/office/drawing/2014/main" id="{44E572E3-A80D-0A86-900F-DE61897E0A3D}"/>
              </a:ext>
            </a:extLst>
          </p:cNvPr>
          <p:cNvGrpSpPr/>
          <p:nvPr/>
        </p:nvGrpSpPr>
        <p:grpSpPr>
          <a:xfrm>
            <a:off x="392454" y="6356652"/>
            <a:ext cx="6142542" cy="1199195"/>
            <a:chOff x="280324" y="4331428"/>
            <a:chExt cx="6142542" cy="1199195"/>
          </a:xfrm>
        </p:grpSpPr>
        <p:pic>
          <p:nvPicPr>
            <p:cNvPr id="33" name="Picture 32" descr="A screenshot of a computer&#10;&#10;Description automatically generated">
              <a:extLst>
                <a:ext uri="{FF2B5EF4-FFF2-40B4-BE49-F238E27FC236}">
                  <a16:creationId xmlns:a16="http://schemas.microsoft.com/office/drawing/2014/main" id="{ACB0BF1C-0050-6181-CF22-869D9F437444}"/>
                </a:ext>
              </a:extLst>
            </p:cNvPr>
            <p:cNvPicPr>
              <a:picLocks noChangeAspect="1"/>
            </p:cNvPicPr>
            <p:nvPr/>
          </p:nvPicPr>
          <p:blipFill rotWithShape="1">
            <a:blip r:embed="rId3"/>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34" name="Picture 33" descr="A screenshot of a computer&#10;&#10;Description automatically generated">
              <a:extLst>
                <a:ext uri="{FF2B5EF4-FFF2-40B4-BE49-F238E27FC236}">
                  <a16:creationId xmlns:a16="http://schemas.microsoft.com/office/drawing/2014/main" id="{00BA5963-F926-6F2D-824B-A744559C8B7F}"/>
                </a:ext>
              </a:extLst>
            </p:cNvPr>
            <p:cNvPicPr>
              <a:picLocks noChangeAspect="1"/>
            </p:cNvPicPr>
            <p:nvPr/>
          </p:nvPicPr>
          <p:blipFill rotWithShape="1">
            <a:blip r:embed="rId3"/>
            <a:srcRect l="37224" t="34284" r="49991" b="46867"/>
            <a:stretch/>
          </p:blipFill>
          <p:spPr bwMode="auto">
            <a:xfrm>
              <a:off x="2479979" y="4335654"/>
              <a:ext cx="1801789" cy="1194969"/>
            </a:xfrm>
            <a:prstGeom prst="rect">
              <a:avLst/>
            </a:prstGeom>
            <a:ln>
              <a:noFill/>
            </a:ln>
            <a:extLst>
              <a:ext uri="{53640926-AAD7-44D8-BBD7-CCE9431645EC}">
                <a14:shadowObscured xmlns:a14="http://schemas.microsoft.com/office/drawing/2010/main"/>
              </a:ext>
            </a:extLst>
          </p:spPr>
        </p:pic>
        <p:pic>
          <p:nvPicPr>
            <p:cNvPr id="35" name="Picture 34" descr="A screenshot of a computer&#10;&#10;Description automatically generated">
              <a:extLst>
                <a:ext uri="{FF2B5EF4-FFF2-40B4-BE49-F238E27FC236}">
                  <a16:creationId xmlns:a16="http://schemas.microsoft.com/office/drawing/2014/main" id="{8D323649-7D99-7343-F8A0-BA5AA8A9C7F0}"/>
                </a:ext>
              </a:extLst>
            </p:cNvPr>
            <p:cNvPicPr>
              <a:picLocks noChangeAspect="1"/>
            </p:cNvPicPr>
            <p:nvPr/>
          </p:nvPicPr>
          <p:blipFill rotWithShape="1">
            <a:blip r:embed="rId3"/>
            <a:srcRect l="37224" t="34284" r="49991" b="46867"/>
            <a:stretch/>
          </p:blipFill>
          <p:spPr bwMode="auto">
            <a:xfrm>
              <a:off x="4621077" y="4331429"/>
              <a:ext cx="1801789" cy="1194969"/>
            </a:xfrm>
            <a:prstGeom prst="rect">
              <a:avLst/>
            </a:prstGeom>
            <a:ln>
              <a:noFill/>
            </a:ln>
            <a:extLst>
              <a:ext uri="{53640926-AAD7-44D8-BBD7-CCE9431645EC}">
                <a14:shadowObscured xmlns:a14="http://schemas.microsoft.com/office/drawing/2010/main"/>
              </a:ext>
            </a:extLst>
          </p:spPr>
        </p:pic>
      </p:grpSp>
      <p:sp>
        <p:nvSpPr>
          <p:cNvPr id="4" name="Rectangle 3">
            <a:extLst>
              <a:ext uri="{FF2B5EF4-FFF2-40B4-BE49-F238E27FC236}">
                <a16:creationId xmlns:a16="http://schemas.microsoft.com/office/drawing/2014/main" id="{7DBF73F1-BFD9-BB3F-E643-13AC18CB97C9}"/>
              </a:ext>
            </a:extLst>
          </p:cNvPr>
          <p:cNvSpPr/>
          <p:nvPr/>
        </p:nvSpPr>
        <p:spPr>
          <a:xfrm>
            <a:off x="164101" y="16258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15" name="Slide Number Placeholder 5">
            <a:extLst>
              <a:ext uri="{FF2B5EF4-FFF2-40B4-BE49-F238E27FC236}">
                <a16:creationId xmlns:a16="http://schemas.microsoft.com/office/drawing/2014/main" id="{37862C12-AFB4-D6A2-3440-EDA0DBEAD58F}"/>
              </a:ext>
            </a:extLst>
          </p:cNvPr>
          <p:cNvSpPr>
            <a:spLocks noGrp="1"/>
          </p:cNvSpPr>
          <p:nvPr>
            <p:ph type="sldNum" sz="quarter" idx="12"/>
          </p:nvPr>
        </p:nvSpPr>
        <p:spPr>
          <a:xfrm>
            <a:off x="5317040" y="9484142"/>
            <a:ext cx="1543050" cy="527403"/>
          </a:xfrm>
        </p:spPr>
        <p:txBody>
          <a:bodyPr/>
          <a:lstStyle/>
          <a:p>
            <a:fld id="{19F1D9CC-7119-45EC-A96C-D8C0660F3AAB}" type="slidenum">
              <a:rPr lang="en-GB" smtClean="0">
                <a:solidFill>
                  <a:schemeClr val="tx1"/>
                </a:solidFill>
              </a:rPr>
              <a:t>78</a:t>
            </a:fld>
            <a:endParaRPr lang="en-GB">
              <a:solidFill>
                <a:schemeClr val="tx1"/>
              </a:solidFill>
            </a:endParaRPr>
          </a:p>
        </p:txBody>
      </p:sp>
      <p:grpSp>
        <p:nvGrpSpPr>
          <p:cNvPr id="36" name="Group 35">
            <a:extLst>
              <a:ext uri="{FF2B5EF4-FFF2-40B4-BE49-F238E27FC236}">
                <a16:creationId xmlns:a16="http://schemas.microsoft.com/office/drawing/2014/main" id="{0475BA26-6A10-F6C5-7069-DA55CAEFBC2A}"/>
              </a:ext>
            </a:extLst>
          </p:cNvPr>
          <p:cNvGrpSpPr/>
          <p:nvPr/>
        </p:nvGrpSpPr>
        <p:grpSpPr>
          <a:xfrm>
            <a:off x="392454" y="8029411"/>
            <a:ext cx="6142542" cy="1199195"/>
            <a:chOff x="280324" y="4331428"/>
            <a:chExt cx="6142542" cy="1199195"/>
          </a:xfrm>
        </p:grpSpPr>
        <p:pic>
          <p:nvPicPr>
            <p:cNvPr id="37" name="Picture 36" descr="A screenshot of a computer&#10;&#10;Description automatically generated">
              <a:extLst>
                <a:ext uri="{FF2B5EF4-FFF2-40B4-BE49-F238E27FC236}">
                  <a16:creationId xmlns:a16="http://schemas.microsoft.com/office/drawing/2014/main" id="{FD777564-67AC-F249-BAC5-A920DA9C1503}"/>
                </a:ext>
              </a:extLst>
            </p:cNvPr>
            <p:cNvPicPr>
              <a:picLocks noChangeAspect="1"/>
            </p:cNvPicPr>
            <p:nvPr/>
          </p:nvPicPr>
          <p:blipFill rotWithShape="1">
            <a:blip r:embed="rId3"/>
            <a:srcRect l="37224" t="34284" r="49991" b="46867"/>
            <a:stretch/>
          </p:blipFill>
          <p:spPr bwMode="auto">
            <a:xfrm>
              <a:off x="280324" y="4331428"/>
              <a:ext cx="1838834" cy="1194969"/>
            </a:xfrm>
            <a:prstGeom prst="rect">
              <a:avLst/>
            </a:prstGeom>
            <a:ln>
              <a:noFill/>
            </a:ln>
            <a:extLst>
              <a:ext uri="{53640926-AAD7-44D8-BBD7-CCE9431645EC}">
                <a14:shadowObscured xmlns:a14="http://schemas.microsoft.com/office/drawing/2010/main"/>
              </a:ext>
            </a:extLst>
          </p:spPr>
        </p:pic>
        <p:pic>
          <p:nvPicPr>
            <p:cNvPr id="38" name="Picture 37" descr="A screenshot of a computer&#10;&#10;Description automatically generated">
              <a:extLst>
                <a:ext uri="{FF2B5EF4-FFF2-40B4-BE49-F238E27FC236}">
                  <a16:creationId xmlns:a16="http://schemas.microsoft.com/office/drawing/2014/main" id="{DA3FD9A0-7EC8-088A-134B-2FB11AE25F88}"/>
                </a:ext>
              </a:extLst>
            </p:cNvPr>
            <p:cNvPicPr>
              <a:picLocks noChangeAspect="1"/>
            </p:cNvPicPr>
            <p:nvPr/>
          </p:nvPicPr>
          <p:blipFill rotWithShape="1">
            <a:blip r:embed="rId3"/>
            <a:srcRect l="37224" t="34284" r="49991" b="46867"/>
            <a:stretch/>
          </p:blipFill>
          <p:spPr bwMode="auto">
            <a:xfrm>
              <a:off x="2479979" y="4335654"/>
              <a:ext cx="1801789" cy="1194969"/>
            </a:xfrm>
            <a:prstGeom prst="rect">
              <a:avLst/>
            </a:prstGeom>
            <a:ln>
              <a:noFill/>
            </a:ln>
            <a:extLst>
              <a:ext uri="{53640926-AAD7-44D8-BBD7-CCE9431645EC}">
                <a14:shadowObscured xmlns:a14="http://schemas.microsoft.com/office/drawing/2010/main"/>
              </a:ext>
            </a:extLst>
          </p:spPr>
        </p:pic>
        <p:pic>
          <p:nvPicPr>
            <p:cNvPr id="39" name="Picture 38" descr="A screenshot of a computer&#10;&#10;Description automatically generated">
              <a:extLst>
                <a:ext uri="{FF2B5EF4-FFF2-40B4-BE49-F238E27FC236}">
                  <a16:creationId xmlns:a16="http://schemas.microsoft.com/office/drawing/2014/main" id="{D8112BCC-6FF8-C2D3-4816-FEE1F6D7493E}"/>
                </a:ext>
              </a:extLst>
            </p:cNvPr>
            <p:cNvPicPr>
              <a:picLocks noChangeAspect="1"/>
            </p:cNvPicPr>
            <p:nvPr/>
          </p:nvPicPr>
          <p:blipFill rotWithShape="1">
            <a:blip r:embed="rId3"/>
            <a:srcRect l="37224" t="34284" r="49991" b="46867"/>
            <a:stretch/>
          </p:blipFill>
          <p:spPr bwMode="auto">
            <a:xfrm>
              <a:off x="4621077" y="4331429"/>
              <a:ext cx="1801789" cy="1194969"/>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376426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15CCEFD-4450-9D10-6E98-DC46B37A2D7A}"/>
              </a:ext>
            </a:extLst>
          </p:cNvPr>
          <p:cNvGraphicFramePr>
            <a:graphicFrameLocks noGrp="1"/>
          </p:cNvGraphicFramePr>
          <p:nvPr/>
        </p:nvGraphicFramePr>
        <p:xfrm>
          <a:off x="164101" y="632054"/>
          <a:ext cx="6572478" cy="8949600"/>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1568142362"/>
                    </a:ext>
                  </a:extLst>
                </a:gridCol>
                <a:gridCol w="3286239">
                  <a:extLst>
                    <a:ext uri="{9D8B030D-6E8A-4147-A177-3AD203B41FA5}">
                      <a16:colId xmlns:a16="http://schemas.microsoft.com/office/drawing/2014/main" val="144583556"/>
                    </a:ext>
                  </a:extLst>
                </a:gridCol>
              </a:tblGrid>
              <a:tr h="360000">
                <a:tc>
                  <a:txBody>
                    <a:bodyPr/>
                    <a:lstStyle/>
                    <a:p>
                      <a:r>
                        <a:rPr lang="en-US" sz="1200" b="0" baseline="0">
                          <a:solidFill>
                            <a:schemeClr val="tx1"/>
                          </a:solidFill>
                          <a:latin typeface="+mn-lt"/>
                        </a:rPr>
                        <a:t>Question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baseline="0">
                          <a:solidFill>
                            <a:schemeClr val="tx1"/>
                          </a:solidFill>
                          <a:latin typeface="+mn-lt"/>
                        </a:rPr>
                        <a:t>Question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2214509"/>
                  </a:ext>
                </a:extLst>
              </a:tr>
              <a:tr h="1332000">
                <a:tc>
                  <a:txBody>
                    <a:bodyPr/>
                    <a:lstStyle/>
                    <a:p>
                      <a:r>
                        <a:rPr lang="en-GB" sz="1200" err="1"/>
                        <a:t>Mr.Jenkins</a:t>
                      </a:r>
                      <a:r>
                        <a:rPr lang="en-GB" sz="1200"/>
                        <a:t> is building a fence for his garden. </a:t>
                      </a:r>
                    </a:p>
                    <a:p>
                      <a:endParaRPr lang="en-GB" sz="1200"/>
                    </a:p>
                    <a:p>
                      <a:r>
                        <a:rPr lang="en-GB" sz="1200"/>
                        <a:t>The fence costs £12.60 per metre to build. </a:t>
                      </a:r>
                    </a:p>
                    <a:p>
                      <a:endParaRPr lang="en-GB" sz="1200"/>
                    </a:p>
                    <a:p>
                      <a:r>
                        <a:rPr lang="en-GB" sz="1200"/>
                        <a:t>The fence is 5.3 metres long. </a:t>
                      </a:r>
                    </a:p>
                    <a:p>
                      <a:endParaRPr lang="en-GB" sz="1200"/>
                    </a:p>
                    <a:p>
                      <a:r>
                        <a:rPr lang="en-GB" sz="1200"/>
                        <a:t>Work out the total cost of building the fence. </a:t>
                      </a:r>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a:t>Joanne is baking some cupcakes for a party. The recipe states she needs 84.5g sugar to make 6 cupcakes. She wants to multiply each ingredient by 4.5 to make 27 cupcakes. How much sugar does she need?</a:t>
                      </a:r>
                      <a:endParaRPr lang="en-GB" sz="1200" baseline="0">
                        <a:solidFill>
                          <a:schemeClr val="tx1"/>
                        </a:solidFill>
                        <a:latin typeface="+mn-lt"/>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56150"/>
                  </a:ext>
                </a:extLst>
              </a:tr>
              <a:tr h="360000">
                <a:tc>
                  <a:txBody>
                    <a:bodyPr/>
                    <a:lstStyle/>
                    <a:p>
                      <a:r>
                        <a:rPr lang="en-US" sz="1200" baseline="0">
                          <a:solidFill>
                            <a:schemeClr val="tx1"/>
                          </a:solidFill>
                          <a:latin typeface="+mn-lt"/>
                        </a:rPr>
                        <a:t>Question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aseline="0">
                          <a:solidFill>
                            <a:schemeClr val="tx1"/>
                          </a:solidFill>
                          <a:latin typeface="+mn-lt"/>
                        </a:rPr>
                        <a:t>Question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5602317"/>
                  </a:ext>
                </a:extLst>
              </a:tr>
              <a:tr h="360000">
                <a:tc>
                  <a:txBody>
                    <a:bodyPr/>
                    <a:lstStyle/>
                    <a:p>
                      <a:r>
                        <a:rPr lang="en-GB" sz="1200"/>
                        <a:t>Here are the prices of some fruit in a shop.</a:t>
                      </a:r>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r>
                        <a:rPr lang="en-GB" sz="1200"/>
                        <a:t>Find the total cost of 1.2kg of apples, 3.5kg of oranges and 1.9kg of bananas. </a:t>
                      </a: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GB"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a:t>The area of a field is 94.8m</a:t>
                      </a:r>
                      <a:r>
                        <a:rPr lang="en-GB" sz="1200" baseline="30000"/>
                        <a:t>2</a:t>
                      </a:r>
                      <a:r>
                        <a:rPr lang="en-GB" sz="1200"/>
                        <a:t>?</a:t>
                      </a:r>
                    </a:p>
                    <a:p>
                      <a:endParaRPr lang="en-GB" sz="1200"/>
                    </a:p>
                    <a:p>
                      <a:r>
                        <a:rPr lang="en-GB" sz="1200"/>
                        <a:t>Grass seed costs £2.50 per m</a:t>
                      </a:r>
                      <a:r>
                        <a:rPr lang="en-GB" sz="1200" baseline="30000"/>
                        <a:t>2</a:t>
                      </a:r>
                      <a:r>
                        <a:rPr lang="en-GB" sz="1200"/>
                        <a:t>.</a:t>
                      </a:r>
                    </a:p>
                    <a:p>
                      <a:endParaRPr lang="en-GB" sz="1200"/>
                    </a:p>
                    <a:p>
                      <a:r>
                        <a:rPr lang="en-GB" sz="1200"/>
                        <a:t>How much is the total cost? </a:t>
                      </a:r>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6849333"/>
                  </a:ext>
                </a:extLst>
              </a:tr>
            </a:tbl>
          </a:graphicData>
        </a:graphic>
      </p:graphicFrame>
      <p:sp>
        <p:nvSpPr>
          <p:cNvPr id="3" name="Rectangle 2">
            <a:extLst>
              <a:ext uri="{FF2B5EF4-FFF2-40B4-BE49-F238E27FC236}">
                <a16:creationId xmlns:a16="http://schemas.microsoft.com/office/drawing/2014/main" id="{7D6F3C51-5A35-AAEC-5FB6-ABCB3167FE7B}"/>
              </a:ext>
            </a:extLst>
          </p:cNvPr>
          <p:cNvSpPr/>
          <p:nvPr/>
        </p:nvSpPr>
        <p:spPr>
          <a:xfrm>
            <a:off x="164101" y="16258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6" name="Slide Number Placeholder 5">
            <a:extLst>
              <a:ext uri="{FF2B5EF4-FFF2-40B4-BE49-F238E27FC236}">
                <a16:creationId xmlns:a16="http://schemas.microsoft.com/office/drawing/2014/main" id="{93B56F03-F6E4-3178-51A2-E38B0E8D7163}"/>
              </a:ext>
            </a:extLst>
          </p:cNvPr>
          <p:cNvSpPr>
            <a:spLocks noGrp="1"/>
          </p:cNvSpPr>
          <p:nvPr>
            <p:ph type="sldNum" sz="quarter" idx="12"/>
          </p:nvPr>
        </p:nvSpPr>
        <p:spPr>
          <a:xfrm>
            <a:off x="5317040" y="9484142"/>
            <a:ext cx="1543050" cy="527403"/>
          </a:xfrm>
        </p:spPr>
        <p:txBody>
          <a:bodyPr/>
          <a:lstStyle/>
          <a:p>
            <a:fld id="{19F1D9CC-7119-45EC-A96C-D8C0660F3AAB}" type="slidenum">
              <a:rPr lang="en-GB" smtClean="0">
                <a:solidFill>
                  <a:schemeClr val="tx1"/>
                </a:solidFill>
              </a:rPr>
              <a:t>79</a:t>
            </a:fld>
            <a:endParaRPr lang="en-GB">
              <a:solidFill>
                <a:schemeClr val="tx1"/>
              </a:solidFill>
            </a:endParaRPr>
          </a:p>
        </p:txBody>
      </p:sp>
      <p:sp>
        <p:nvSpPr>
          <p:cNvPr id="7" name="Rectangle 6">
            <a:extLst>
              <a:ext uri="{FF2B5EF4-FFF2-40B4-BE49-F238E27FC236}">
                <a16:creationId xmlns:a16="http://schemas.microsoft.com/office/drawing/2014/main" id="{FEF6F6A2-A1E2-1B5E-D2DF-360ACE1CBB34}"/>
              </a:ext>
            </a:extLst>
          </p:cNvPr>
          <p:cNvSpPr/>
          <p:nvPr/>
        </p:nvSpPr>
        <p:spPr>
          <a:xfrm>
            <a:off x="2139588" y="3857453"/>
            <a:ext cx="1257300" cy="46672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EB44ADCF-BE23-18F0-CD96-B4F013566677}"/>
              </a:ext>
            </a:extLst>
          </p:cNvPr>
          <p:cNvSpPr/>
          <p:nvPr/>
        </p:nvSpPr>
        <p:spPr>
          <a:xfrm>
            <a:off x="5436599" y="3857452"/>
            <a:ext cx="1257300" cy="46672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DD21B63D-901C-6432-EF59-906B3A1B00F8}"/>
              </a:ext>
            </a:extLst>
          </p:cNvPr>
          <p:cNvSpPr/>
          <p:nvPr/>
        </p:nvSpPr>
        <p:spPr>
          <a:xfrm>
            <a:off x="2136279" y="9069158"/>
            <a:ext cx="1257300" cy="46672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75229DA7-4CF6-8C1A-8385-F703F629FE5A}"/>
              </a:ext>
            </a:extLst>
          </p:cNvPr>
          <p:cNvSpPr/>
          <p:nvPr/>
        </p:nvSpPr>
        <p:spPr>
          <a:xfrm>
            <a:off x="5436599" y="9069158"/>
            <a:ext cx="1257300" cy="46672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8C2256D2-E3C4-56A3-4B31-928709ABEC06}"/>
              </a:ext>
            </a:extLst>
          </p:cNvPr>
          <p:cNvPicPr>
            <a:picLocks noChangeAspect="1"/>
          </p:cNvPicPr>
          <p:nvPr/>
        </p:nvPicPr>
        <p:blipFill>
          <a:blip r:embed="rId2"/>
          <a:stretch>
            <a:fillRect/>
          </a:stretch>
        </p:blipFill>
        <p:spPr>
          <a:xfrm>
            <a:off x="631374" y="5009728"/>
            <a:ext cx="1936705" cy="1068330"/>
          </a:xfrm>
          <a:prstGeom prst="rect">
            <a:avLst/>
          </a:prstGeom>
        </p:spPr>
      </p:pic>
      <p:sp>
        <p:nvSpPr>
          <p:cNvPr id="16" name="TextBox 15">
            <a:extLst>
              <a:ext uri="{FF2B5EF4-FFF2-40B4-BE49-F238E27FC236}">
                <a16:creationId xmlns:a16="http://schemas.microsoft.com/office/drawing/2014/main" id="{F1A33B0E-0A34-4DD6-10C4-E4E0D29CBE95}"/>
              </a:ext>
            </a:extLst>
          </p:cNvPr>
          <p:cNvSpPr txBox="1"/>
          <p:nvPr/>
        </p:nvSpPr>
        <p:spPr>
          <a:xfrm>
            <a:off x="1302055" y="5073479"/>
            <a:ext cx="399423" cy="971204"/>
          </a:xfrm>
          <a:prstGeom prst="rect">
            <a:avLst/>
          </a:prstGeom>
          <a:solidFill>
            <a:schemeClr val="bg1"/>
          </a:solidFill>
          <a:ln>
            <a:solidFill>
              <a:schemeClr val="bg1"/>
            </a:solidFill>
          </a:ln>
        </p:spPr>
        <p:txBody>
          <a:bodyPr wrap="square" rtlCol="0">
            <a:spAutoFit/>
          </a:bodyPr>
          <a:lstStyle/>
          <a:p>
            <a:endParaRPr lang="en-GB"/>
          </a:p>
        </p:txBody>
      </p:sp>
      <p:sp>
        <p:nvSpPr>
          <p:cNvPr id="18" name="TextBox 17">
            <a:extLst>
              <a:ext uri="{FF2B5EF4-FFF2-40B4-BE49-F238E27FC236}">
                <a16:creationId xmlns:a16="http://schemas.microsoft.com/office/drawing/2014/main" id="{E118465C-B5B8-3137-704B-39232DAEB9C0}"/>
              </a:ext>
            </a:extLst>
          </p:cNvPr>
          <p:cNvSpPr txBox="1"/>
          <p:nvPr/>
        </p:nvSpPr>
        <p:spPr>
          <a:xfrm>
            <a:off x="1106443" y="5083704"/>
            <a:ext cx="595035" cy="1015663"/>
          </a:xfrm>
          <a:prstGeom prst="rect">
            <a:avLst/>
          </a:prstGeom>
          <a:noFill/>
        </p:spPr>
        <p:txBody>
          <a:bodyPr wrap="none" rtlCol="0">
            <a:spAutoFit/>
          </a:bodyPr>
          <a:lstStyle/>
          <a:p>
            <a:r>
              <a:rPr lang="en-GB" sz="1400"/>
              <a:t>£0.90</a:t>
            </a:r>
          </a:p>
          <a:p>
            <a:endParaRPr lang="en-GB" sz="700"/>
          </a:p>
          <a:p>
            <a:r>
              <a:rPr lang="en-GB" sz="1400"/>
              <a:t>£1.70</a:t>
            </a:r>
          </a:p>
          <a:p>
            <a:endParaRPr lang="en-GB" sz="1050"/>
          </a:p>
          <a:p>
            <a:r>
              <a:rPr lang="en-GB" sz="1400"/>
              <a:t>£1.40</a:t>
            </a:r>
          </a:p>
        </p:txBody>
      </p:sp>
    </p:spTree>
    <p:extLst>
      <p:ext uri="{BB962C8B-B14F-4D97-AF65-F5344CB8AC3E}">
        <p14:creationId xmlns:p14="http://schemas.microsoft.com/office/powerpoint/2010/main" val="283602421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82270" y="9590154"/>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3" name="Table 2">
            <a:extLst>
              <a:ext uri="{FF2B5EF4-FFF2-40B4-BE49-F238E27FC236}">
                <a16:creationId xmlns:a16="http://schemas.microsoft.com/office/drawing/2014/main" id="{57C92196-68B8-BFEF-C652-56AECC9235FF}"/>
              </a:ext>
            </a:extLst>
          </p:cNvPr>
          <p:cNvGraphicFramePr>
            <a:graphicFrameLocks noGrp="1"/>
          </p:cNvGraphicFramePr>
          <p:nvPr>
            <p:extLst>
              <p:ext uri="{D42A27DB-BD31-4B8C-83A1-F6EECF244321}">
                <p14:modId xmlns:p14="http://schemas.microsoft.com/office/powerpoint/2010/main" val="460327751"/>
              </p:ext>
            </p:extLst>
          </p:nvPr>
        </p:nvGraphicFramePr>
        <p:xfrm>
          <a:off x="115492" y="595487"/>
          <a:ext cx="6572478" cy="5196936"/>
        </p:xfrm>
        <a:graphic>
          <a:graphicData uri="http://schemas.openxmlformats.org/drawingml/2006/table">
            <a:tbl>
              <a:tblPr firstRow="1" bandRow="1">
                <a:tableStyleId>{5C22544A-7EE6-4342-B048-85BDC9FD1C3A}</a:tableStyleId>
              </a:tblPr>
              <a:tblGrid>
                <a:gridCol w="819024">
                  <a:extLst>
                    <a:ext uri="{9D8B030D-6E8A-4147-A177-3AD203B41FA5}">
                      <a16:colId xmlns:a16="http://schemas.microsoft.com/office/drawing/2014/main" val="1568142362"/>
                    </a:ext>
                  </a:extLst>
                </a:gridCol>
                <a:gridCol w="1917818">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3963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cs typeface="+mn-cs"/>
                        </a:rPr>
                        <a:t>Work out:</a:t>
                      </a:r>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cs typeface="+mn-cs"/>
                        </a:rPr>
                        <a:t>Evaluate:</a:t>
                      </a: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cs typeface="+mn-cs"/>
                        </a:rPr>
                        <a:t>What is: </a:t>
                      </a: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165694">
                <a:tc>
                  <a:txBody>
                    <a:bodyPr/>
                    <a:lstStyle/>
                    <a:p>
                      <a:pPr marL="0" indent="0">
                        <a:buNone/>
                      </a:pPr>
                      <a:r>
                        <a:rPr lang="en-US" sz="1100">
                          <a:solidFill>
                            <a:schemeClr val="tx1"/>
                          </a:solidFill>
                        </a:rPr>
                        <a:t>Multiply each decimal by THE SAME power of 10 so that they are both integers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a:solidFill>
                          <a:schemeClr val="tx1"/>
                        </a:solidFill>
                      </a:endParaRPr>
                    </a:p>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49713">
                <a:tc rowSpan="2">
                  <a:txBody>
                    <a:bodyPr/>
                    <a:lstStyle/>
                    <a:p>
                      <a:r>
                        <a:rPr lang="en-GB" sz="1100">
                          <a:solidFill>
                            <a:schemeClr val="tx1"/>
                          </a:solidFill>
                        </a:rPr>
                        <a:t>Divide the two numbers using bus stop division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r h="750487">
                <a:tc vMerge="1">
                  <a:txBody>
                    <a:bodyPr/>
                    <a:lstStyle/>
                    <a:p>
                      <a:endParaRPr lang="en-GB"/>
                    </a:p>
                  </a:txBody>
                  <a:tcPr/>
                </a:tc>
                <a:tc rowSpan="2">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0286120"/>
                  </a:ext>
                </a:extLst>
              </a:tr>
              <a:tr h="1165694">
                <a:tc>
                  <a:txBody>
                    <a:bodyPr/>
                    <a:lstStyle/>
                    <a:p>
                      <a:r>
                        <a:rPr lang="en-GB" sz="1100" b="0" dirty="0">
                          <a:solidFill>
                            <a:schemeClr val="tx1"/>
                          </a:solidFill>
                        </a:rPr>
                        <a:t>This is your final answer because it is in proportion to the original question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5888523"/>
                  </a:ext>
                </a:extLst>
              </a:tr>
            </a:tbl>
          </a:graphicData>
        </a:graphic>
      </p:graphicFrame>
      <p:sp>
        <p:nvSpPr>
          <p:cNvPr id="9" name="TextBox 8">
            <a:extLst>
              <a:ext uri="{FF2B5EF4-FFF2-40B4-BE49-F238E27FC236}">
                <a16:creationId xmlns:a16="http://schemas.microsoft.com/office/drawing/2014/main" id="{86CD0014-0A1B-08F3-525C-D5EA1B95B36C}"/>
              </a:ext>
            </a:extLst>
          </p:cNvPr>
          <p:cNvSpPr txBox="1"/>
          <p:nvPr/>
        </p:nvSpPr>
        <p:spPr>
          <a:xfrm>
            <a:off x="1210220" y="315388"/>
            <a:ext cx="1410704" cy="276999"/>
          </a:xfrm>
          <a:prstGeom prst="rect">
            <a:avLst/>
          </a:prstGeom>
          <a:noFill/>
          <a:ln>
            <a:noFill/>
          </a:ln>
        </p:spPr>
        <p:txBody>
          <a:bodyPr wrap="square" rtlCol="0">
            <a:spAutoFit/>
          </a:bodyPr>
          <a:lstStyle/>
          <a:p>
            <a:r>
              <a:rPr lang="en-GB" sz="1200" b="1" i="1">
                <a:solidFill>
                  <a:srgbClr val="FF0000"/>
                </a:solidFill>
              </a:rPr>
              <a:t>Example 13 - I do…</a:t>
            </a:r>
          </a:p>
        </p:txBody>
      </p:sp>
      <p:sp>
        <p:nvSpPr>
          <p:cNvPr id="20" name="TextBox 19">
            <a:extLst>
              <a:ext uri="{FF2B5EF4-FFF2-40B4-BE49-F238E27FC236}">
                <a16:creationId xmlns:a16="http://schemas.microsoft.com/office/drawing/2014/main" id="{B70B1ABC-BF14-DB5E-2112-F25D6CDCEE4E}"/>
              </a:ext>
            </a:extLst>
          </p:cNvPr>
          <p:cNvSpPr txBox="1"/>
          <p:nvPr/>
        </p:nvSpPr>
        <p:spPr>
          <a:xfrm>
            <a:off x="5129576" y="308567"/>
            <a:ext cx="1643405" cy="276999"/>
          </a:xfrm>
          <a:prstGeom prst="rect">
            <a:avLst/>
          </a:prstGeom>
          <a:noFill/>
          <a:ln>
            <a:noFill/>
          </a:ln>
        </p:spPr>
        <p:txBody>
          <a:bodyPr wrap="square" rtlCol="0">
            <a:spAutoFit/>
          </a:bodyPr>
          <a:lstStyle/>
          <a:p>
            <a:r>
              <a:rPr lang="en-GB" sz="1200" b="1" i="1">
                <a:solidFill>
                  <a:srgbClr val="00B050"/>
                </a:solidFill>
              </a:rPr>
              <a:t>Example 15 – You do…</a:t>
            </a:r>
          </a:p>
        </p:txBody>
      </p:sp>
      <p:sp>
        <p:nvSpPr>
          <p:cNvPr id="21" name="TextBox 20">
            <a:extLst>
              <a:ext uri="{FF2B5EF4-FFF2-40B4-BE49-F238E27FC236}">
                <a16:creationId xmlns:a16="http://schemas.microsoft.com/office/drawing/2014/main" id="{E49C7B63-0210-E386-B299-143AC9BF5A19}"/>
              </a:ext>
            </a:extLst>
          </p:cNvPr>
          <p:cNvSpPr txBox="1"/>
          <p:nvPr/>
        </p:nvSpPr>
        <p:spPr>
          <a:xfrm>
            <a:off x="3171498" y="295994"/>
            <a:ext cx="1643405" cy="276999"/>
          </a:xfrm>
          <a:prstGeom prst="rect">
            <a:avLst/>
          </a:prstGeom>
          <a:noFill/>
          <a:ln>
            <a:noFill/>
          </a:ln>
        </p:spPr>
        <p:txBody>
          <a:bodyPr wrap="square" rtlCol="0">
            <a:spAutoFit/>
          </a:bodyPr>
          <a:lstStyle/>
          <a:p>
            <a:r>
              <a:rPr lang="en-GB" sz="1200" b="1" i="1">
                <a:solidFill>
                  <a:schemeClr val="accent2"/>
                </a:solidFill>
              </a:rPr>
              <a:t>Example 14  – We do…</a:t>
            </a:r>
          </a:p>
        </p:txBody>
      </p:sp>
      <p:sp>
        <p:nvSpPr>
          <p:cNvPr id="25" name="Rectangle 24">
            <a:extLst>
              <a:ext uri="{FF2B5EF4-FFF2-40B4-BE49-F238E27FC236}">
                <a16:creationId xmlns:a16="http://schemas.microsoft.com/office/drawing/2014/main" id="{0B4FD38C-F9AB-68B4-1301-D2355889983A}"/>
              </a:ext>
            </a:extLst>
          </p:cNvPr>
          <p:cNvSpPr/>
          <p:nvPr/>
        </p:nvSpPr>
        <p:spPr>
          <a:xfrm>
            <a:off x="24101" y="77521"/>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Dividing decimals with different number of decimal places.</a:t>
            </a:r>
            <a:endParaRPr lang="en-GB" sz="1200">
              <a:solidFill>
                <a:schemeClr val="bg1"/>
              </a:solidFill>
            </a:endParaRPr>
          </a:p>
        </p:txBody>
      </p:sp>
      <p:sp>
        <p:nvSpPr>
          <p:cNvPr id="26" name="Rectangle 25">
            <a:extLst>
              <a:ext uri="{FF2B5EF4-FFF2-40B4-BE49-F238E27FC236}">
                <a16:creationId xmlns:a16="http://schemas.microsoft.com/office/drawing/2014/main" id="{A34606A4-D9E4-E170-9E5C-09B6C0322D65}"/>
              </a:ext>
            </a:extLst>
          </p:cNvPr>
          <p:cNvSpPr/>
          <p:nvPr/>
        </p:nvSpPr>
        <p:spPr>
          <a:xfrm>
            <a:off x="99090" y="5872775"/>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mc:AlternateContent xmlns:mc="http://schemas.openxmlformats.org/markup-compatibility/2006" xmlns:a14="http://schemas.microsoft.com/office/drawing/2010/main">
        <mc:Choice Requires="a14">
          <p:sp>
            <p:nvSpPr>
              <p:cNvPr id="106" name="TextBox 105"/>
              <p:cNvSpPr txBox="1"/>
              <p:nvPr/>
            </p:nvSpPr>
            <p:spPr>
              <a:xfrm>
                <a:off x="964486" y="1000041"/>
                <a:ext cx="13898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cs typeface="+mn-cs"/>
                  </a:rPr>
                  <a:t>4.2 </a:t>
                </a:r>
                <a14:m>
                  <m:oMath xmlns:m="http://schemas.openxmlformats.org/officeDocument/2006/math">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1200" b="0" i="0" u="none" strike="noStrike" kern="1200" cap="none" spc="0" normalizeH="0" baseline="0" noProof="0">
                    <a:ln>
                      <a:noFill/>
                    </a:ln>
                    <a:solidFill>
                      <a:prstClr val="black"/>
                    </a:solidFill>
                    <a:effectLst/>
                    <a:uLnTx/>
                    <a:uFillTx/>
                    <a:latin typeface="Calibri" panose="020F0502020204030204"/>
                    <a:cs typeface="+mn-cs"/>
                  </a:rPr>
                  <a:t> 0.02</a:t>
                </a:r>
              </a:p>
            </p:txBody>
          </p:sp>
        </mc:Choice>
        <mc:Fallback xmlns="">
          <p:sp>
            <p:nvSpPr>
              <p:cNvPr id="106" name="TextBox 105"/>
              <p:cNvSpPr txBox="1">
                <a:spLocks noRot="1" noChangeAspect="1" noMove="1" noResize="1" noEditPoints="1" noAdjustHandles="1" noChangeArrowheads="1" noChangeShapeType="1" noTextEdit="1"/>
              </p:cNvSpPr>
              <p:nvPr/>
            </p:nvSpPr>
            <p:spPr>
              <a:xfrm>
                <a:off x="964486" y="1000041"/>
                <a:ext cx="1389847" cy="276999"/>
              </a:xfrm>
              <a:prstGeom prst="rect">
                <a:avLst/>
              </a:prstGeom>
              <a:blipFill>
                <a:blip r:embed="rId3"/>
                <a:stretch>
                  <a:fillRect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46AF2CC-5392-9EF2-3078-4D9D18336F8C}"/>
                  </a:ext>
                </a:extLst>
              </p:cNvPr>
              <p:cNvSpPr txBox="1"/>
              <p:nvPr/>
            </p:nvSpPr>
            <p:spPr>
              <a:xfrm>
                <a:off x="1056156" y="3462207"/>
                <a:ext cx="13898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cs typeface="+mn-cs"/>
                  </a:rPr>
                  <a:t>0.75 </a:t>
                </a:r>
                <a14:m>
                  <m:oMath xmlns:m="http://schemas.openxmlformats.org/officeDocument/2006/math">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1200" b="0" i="0" u="none" strike="noStrike" kern="1200" cap="none" spc="0" normalizeH="0" baseline="0" noProof="0">
                    <a:ln>
                      <a:noFill/>
                    </a:ln>
                    <a:solidFill>
                      <a:prstClr val="black"/>
                    </a:solidFill>
                    <a:effectLst/>
                    <a:uLnTx/>
                    <a:uFillTx/>
                    <a:latin typeface="Calibri" panose="020F0502020204030204"/>
                    <a:cs typeface="+mn-cs"/>
                  </a:rPr>
                  <a:t> 0.5</a:t>
                </a:r>
              </a:p>
            </p:txBody>
          </p:sp>
        </mc:Choice>
        <mc:Fallback xmlns="">
          <p:sp>
            <p:nvSpPr>
              <p:cNvPr id="22" name="TextBox 21">
                <a:extLst>
                  <a:ext uri="{FF2B5EF4-FFF2-40B4-BE49-F238E27FC236}">
                    <a16:creationId xmlns:a16="http://schemas.microsoft.com/office/drawing/2014/main" id="{D46AF2CC-5392-9EF2-3078-4D9D18336F8C}"/>
                  </a:ext>
                </a:extLst>
              </p:cNvPr>
              <p:cNvSpPr txBox="1">
                <a:spLocks noRot="1" noChangeAspect="1" noMove="1" noResize="1" noEditPoints="1" noAdjustHandles="1" noChangeArrowheads="1" noChangeShapeType="1" noTextEdit="1"/>
              </p:cNvSpPr>
              <p:nvPr/>
            </p:nvSpPr>
            <p:spPr>
              <a:xfrm>
                <a:off x="1056156" y="3462207"/>
                <a:ext cx="1389847" cy="276999"/>
              </a:xfrm>
              <a:prstGeom prst="rect">
                <a:avLst/>
              </a:prstGeom>
              <a:blipFill>
                <a:blip r:embed="rId4"/>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CD1A9B6-A1E8-10FE-1C5F-792F91EC3EA7}"/>
                  </a:ext>
                </a:extLst>
              </p:cNvPr>
              <p:cNvSpPr txBox="1"/>
              <p:nvPr/>
            </p:nvSpPr>
            <p:spPr>
              <a:xfrm>
                <a:off x="2878487" y="1000041"/>
                <a:ext cx="13898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cs typeface="+mn-cs"/>
                  </a:rPr>
                  <a:t>12 </a:t>
                </a:r>
                <a14:m>
                  <m:oMath xmlns:m="http://schemas.openxmlformats.org/officeDocument/2006/math">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1200" b="0" i="0" u="none" strike="noStrike" kern="1200" cap="none" spc="0" normalizeH="0" baseline="0" noProof="0">
                    <a:ln>
                      <a:noFill/>
                    </a:ln>
                    <a:solidFill>
                      <a:prstClr val="black"/>
                    </a:solidFill>
                    <a:effectLst/>
                    <a:uLnTx/>
                    <a:uFillTx/>
                    <a:latin typeface="Calibri" panose="020F0502020204030204"/>
                    <a:cs typeface="+mn-cs"/>
                  </a:rPr>
                  <a:t> 0.3</a:t>
                </a:r>
              </a:p>
            </p:txBody>
          </p:sp>
        </mc:Choice>
        <mc:Fallback xmlns="">
          <p:sp>
            <p:nvSpPr>
              <p:cNvPr id="24" name="TextBox 23">
                <a:extLst>
                  <a:ext uri="{FF2B5EF4-FFF2-40B4-BE49-F238E27FC236}">
                    <a16:creationId xmlns:a16="http://schemas.microsoft.com/office/drawing/2014/main" id="{3CD1A9B6-A1E8-10FE-1C5F-792F91EC3EA7}"/>
                  </a:ext>
                </a:extLst>
              </p:cNvPr>
              <p:cNvSpPr txBox="1">
                <a:spLocks noRot="1" noChangeAspect="1" noMove="1" noResize="1" noEditPoints="1" noAdjustHandles="1" noChangeArrowheads="1" noChangeShapeType="1" noTextEdit="1"/>
              </p:cNvSpPr>
              <p:nvPr/>
            </p:nvSpPr>
            <p:spPr>
              <a:xfrm>
                <a:off x="2878487" y="1000041"/>
                <a:ext cx="1389847" cy="276999"/>
              </a:xfrm>
              <a:prstGeom prst="rect">
                <a:avLst/>
              </a:prstGeom>
              <a:blipFill>
                <a:blip r:embed="rId5"/>
                <a:stretch>
                  <a:fillRect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00D706C-2510-61AF-1EE0-C581543CCE3F}"/>
                  </a:ext>
                </a:extLst>
              </p:cNvPr>
              <p:cNvSpPr txBox="1"/>
              <p:nvPr/>
            </p:nvSpPr>
            <p:spPr>
              <a:xfrm>
                <a:off x="4913490" y="1000041"/>
                <a:ext cx="13898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cs typeface="+mn-cs"/>
                  </a:rPr>
                  <a:t>1.2 </a:t>
                </a:r>
                <a14:m>
                  <m:oMath xmlns:m="http://schemas.openxmlformats.org/officeDocument/2006/math">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1200" b="0" i="0" u="none" strike="noStrike" kern="1200" cap="none" spc="0" normalizeH="0" baseline="0" noProof="0">
                    <a:ln>
                      <a:noFill/>
                    </a:ln>
                    <a:solidFill>
                      <a:prstClr val="black"/>
                    </a:solidFill>
                    <a:effectLst/>
                    <a:uLnTx/>
                    <a:uFillTx/>
                    <a:latin typeface="Calibri" panose="020F0502020204030204"/>
                    <a:cs typeface="+mn-cs"/>
                  </a:rPr>
                  <a:t> 0.04</a:t>
                </a:r>
              </a:p>
            </p:txBody>
          </p:sp>
        </mc:Choice>
        <mc:Fallback xmlns="">
          <p:sp>
            <p:nvSpPr>
              <p:cNvPr id="27" name="TextBox 26">
                <a:extLst>
                  <a:ext uri="{FF2B5EF4-FFF2-40B4-BE49-F238E27FC236}">
                    <a16:creationId xmlns:a16="http://schemas.microsoft.com/office/drawing/2014/main" id="{400D706C-2510-61AF-1EE0-C581543CCE3F}"/>
                  </a:ext>
                </a:extLst>
              </p:cNvPr>
              <p:cNvSpPr txBox="1">
                <a:spLocks noRot="1" noChangeAspect="1" noMove="1" noResize="1" noEditPoints="1" noAdjustHandles="1" noChangeArrowheads="1" noChangeShapeType="1" noTextEdit="1"/>
              </p:cNvSpPr>
              <p:nvPr/>
            </p:nvSpPr>
            <p:spPr>
              <a:xfrm>
                <a:off x="4913490" y="1000041"/>
                <a:ext cx="1389847" cy="276999"/>
              </a:xfrm>
              <a:prstGeom prst="rect">
                <a:avLst/>
              </a:prstGeom>
              <a:blipFill>
                <a:blip r:embed="rId6"/>
                <a:stretch>
                  <a:fillRect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F811A94-D65F-52DB-A1B1-53F099C6C65D}"/>
                  </a:ext>
                </a:extLst>
              </p:cNvPr>
              <p:cNvSpPr txBox="1"/>
              <p:nvPr/>
            </p:nvSpPr>
            <p:spPr>
              <a:xfrm>
                <a:off x="3007978" y="3463964"/>
                <a:ext cx="13898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cs typeface="+mn-cs"/>
                  </a:rPr>
                  <a:t>25.2 </a:t>
                </a:r>
                <a14:m>
                  <m:oMath xmlns:m="http://schemas.openxmlformats.org/officeDocument/2006/math">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1200" b="0" i="0" u="none" strike="noStrike" kern="1200" cap="none" spc="0" normalizeH="0" baseline="0" noProof="0">
                    <a:ln>
                      <a:noFill/>
                    </a:ln>
                    <a:solidFill>
                      <a:prstClr val="black"/>
                    </a:solidFill>
                    <a:effectLst/>
                    <a:uLnTx/>
                    <a:uFillTx/>
                    <a:latin typeface="Calibri" panose="020F0502020204030204"/>
                    <a:cs typeface="+mn-cs"/>
                  </a:rPr>
                  <a:t> 0.03</a:t>
                </a:r>
              </a:p>
            </p:txBody>
          </p:sp>
        </mc:Choice>
        <mc:Fallback xmlns="">
          <p:sp>
            <p:nvSpPr>
              <p:cNvPr id="28" name="TextBox 27">
                <a:extLst>
                  <a:ext uri="{FF2B5EF4-FFF2-40B4-BE49-F238E27FC236}">
                    <a16:creationId xmlns:a16="http://schemas.microsoft.com/office/drawing/2014/main" id="{5F811A94-D65F-52DB-A1B1-53F099C6C65D}"/>
                  </a:ext>
                </a:extLst>
              </p:cNvPr>
              <p:cNvSpPr txBox="1">
                <a:spLocks noRot="1" noChangeAspect="1" noMove="1" noResize="1" noEditPoints="1" noAdjustHandles="1" noChangeArrowheads="1" noChangeShapeType="1" noTextEdit="1"/>
              </p:cNvSpPr>
              <p:nvPr/>
            </p:nvSpPr>
            <p:spPr>
              <a:xfrm>
                <a:off x="3007978" y="3463964"/>
                <a:ext cx="1389847" cy="276999"/>
              </a:xfrm>
              <a:prstGeom prst="rect">
                <a:avLst/>
              </a:prstGeom>
              <a:blipFill>
                <a:blip r:embed="rId7"/>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7DA79BB-3D0C-2862-F93B-7C99FD9FE788}"/>
                  </a:ext>
                </a:extLst>
              </p:cNvPr>
              <p:cNvSpPr txBox="1"/>
              <p:nvPr/>
            </p:nvSpPr>
            <p:spPr>
              <a:xfrm>
                <a:off x="4959800" y="3462206"/>
                <a:ext cx="13898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cs typeface="+mn-cs"/>
                  </a:rPr>
                  <a:t>1.47 </a:t>
                </a:r>
                <a14:m>
                  <m:oMath xmlns:m="http://schemas.openxmlformats.org/officeDocument/2006/math">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1200" b="0" i="0" u="none" strike="noStrike" kern="1200" cap="none" spc="0" normalizeH="0" baseline="0" noProof="0">
                    <a:ln>
                      <a:noFill/>
                    </a:ln>
                    <a:solidFill>
                      <a:prstClr val="black"/>
                    </a:solidFill>
                    <a:effectLst/>
                    <a:uLnTx/>
                    <a:uFillTx/>
                    <a:latin typeface="Calibri" panose="020F0502020204030204"/>
                    <a:cs typeface="+mn-cs"/>
                  </a:rPr>
                  <a:t> 0.07</a:t>
                </a:r>
              </a:p>
            </p:txBody>
          </p:sp>
        </mc:Choice>
        <mc:Fallback xmlns="">
          <p:sp>
            <p:nvSpPr>
              <p:cNvPr id="29" name="TextBox 28">
                <a:extLst>
                  <a:ext uri="{FF2B5EF4-FFF2-40B4-BE49-F238E27FC236}">
                    <a16:creationId xmlns:a16="http://schemas.microsoft.com/office/drawing/2014/main" id="{F7DA79BB-3D0C-2862-F93B-7C99FD9FE788}"/>
                  </a:ext>
                </a:extLst>
              </p:cNvPr>
              <p:cNvSpPr txBox="1">
                <a:spLocks noRot="1" noChangeAspect="1" noMove="1" noResize="1" noEditPoints="1" noAdjustHandles="1" noChangeArrowheads="1" noChangeShapeType="1" noTextEdit="1"/>
              </p:cNvSpPr>
              <p:nvPr/>
            </p:nvSpPr>
            <p:spPr>
              <a:xfrm>
                <a:off x="4959800" y="3462206"/>
                <a:ext cx="1389847" cy="276999"/>
              </a:xfrm>
              <a:prstGeom prst="rect">
                <a:avLst/>
              </a:prstGeom>
              <a:blipFill>
                <a:blip r:embed="rId8"/>
                <a:stretch>
                  <a:fillRect l="-439" t="-2222" b="-17778"/>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4780847F-2388-FEAD-1AD1-7C0CBC3EA76E}"/>
              </a:ext>
            </a:extLst>
          </p:cNvPr>
          <p:cNvSpPr txBox="1"/>
          <p:nvPr/>
        </p:nvSpPr>
        <p:spPr>
          <a:xfrm>
            <a:off x="1799039" y="5918241"/>
            <a:ext cx="40862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Calibri" panose="020F0502020204030204"/>
              </a:rPr>
              <a:t>8</a:t>
            </a: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Evaluate each of the following.</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1" name="Group 30">
            <a:extLst>
              <a:ext uri="{FF2B5EF4-FFF2-40B4-BE49-F238E27FC236}">
                <a16:creationId xmlns:a16="http://schemas.microsoft.com/office/drawing/2014/main" id="{2957B4D2-FA1D-F67E-8A89-E82888922094}"/>
              </a:ext>
            </a:extLst>
          </p:cNvPr>
          <p:cNvGrpSpPr/>
          <p:nvPr/>
        </p:nvGrpSpPr>
        <p:grpSpPr>
          <a:xfrm>
            <a:off x="298816" y="6494163"/>
            <a:ext cx="6180564" cy="1440910"/>
            <a:chOff x="192696" y="5576866"/>
            <a:chExt cx="6180564" cy="1301908"/>
          </a:xfrm>
        </p:grpSpPr>
        <p:grpSp>
          <p:nvGrpSpPr>
            <p:cNvPr id="32" name="Group 31">
              <a:extLst>
                <a:ext uri="{FF2B5EF4-FFF2-40B4-BE49-F238E27FC236}">
                  <a16:creationId xmlns:a16="http://schemas.microsoft.com/office/drawing/2014/main" id="{B752B25D-2C62-909C-01CA-7026E6BAA58E}"/>
                </a:ext>
              </a:extLst>
            </p:cNvPr>
            <p:cNvGrpSpPr/>
            <p:nvPr/>
          </p:nvGrpSpPr>
          <p:grpSpPr>
            <a:xfrm>
              <a:off x="192696" y="5595866"/>
              <a:ext cx="3038184" cy="1282908"/>
              <a:chOff x="966421" y="1476661"/>
              <a:chExt cx="3318365" cy="1451411"/>
            </a:xfrm>
          </p:grpSpPr>
          <p:grpSp>
            <p:nvGrpSpPr>
              <p:cNvPr id="39" name="Group 38">
                <a:extLst>
                  <a:ext uri="{FF2B5EF4-FFF2-40B4-BE49-F238E27FC236}">
                    <a16:creationId xmlns:a16="http://schemas.microsoft.com/office/drawing/2014/main" id="{8979845E-86F3-9915-5EAC-97DF8A3A3E6B}"/>
                  </a:ext>
                </a:extLst>
              </p:cNvPr>
              <p:cNvGrpSpPr/>
              <p:nvPr/>
            </p:nvGrpSpPr>
            <p:grpSpPr>
              <a:xfrm>
                <a:off x="966421" y="1476661"/>
                <a:ext cx="3318365" cy="1451411"/>
                <a:chOff x="272927" y="1555735"/>
                <a:chExt cx="3318365" cy="2264425"/>
              </a:xfrm>
            </p:grpSpPr>
            <p:sp>
              <p:nvSpPr>
                <p:cNvPr id="41" name="Rectangle 40">
                  <a:extLst>
                    <a:ext uri="{FF2B5EF4-FFF2-40B4-BE49-F238E27FC236}">
                      <a16:creationId xmlns:a16="http://schemas.microsoft.com/office/drawing/2014/main" id="{80F6D488-2D26-2C51-D9B4-79BBD009493C}"/>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6A4EFD2D-ADE3-9C3F-92A1-860103793CB0}"/>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958FF425-7C89-30E5-7AC6-17F1E336B7A1}"/>
                    </a:ext>
                  </a:extLst>
                </p:cNvPr>
                <p:cNvSpPr/>
                <p:nvPr/>
              </p:nvSpPr>
              <p:spPr>
                <a:xfrm>
                  <a:off x="949960" y="3188555"/>
                  <a:ext cx="903282" cy="63160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40" name="Rectangle 39">
                <a:extLst>
                  <a:ext uri="{FF2B5EF4-FFF2-40B4-BE49-F238E27FC236}">
                    <a16:creationId xmlns:a16="http://schemas.microsoft.com/office/drawing/2014/main" id="{5127A83F-9C4C-B1BB-6FB9-5A870AC960F8}"/>
                  </a:ext>
                </a:extLst>
              </p:cNvPr>
              <p:cNvSpPr/>
              <p:nvPr/>
            </p:nvSpPr>
            <p:spPr>
              <a:xfrm>
                <a:off x="3381504" y="2518844"/>
                <a:ext cx="903282" cy="40904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3" name="Group 32">
              <a:extLst>
                <a:ext uri="{FF2B5EF4-FFF2-40B4-BE49-F238E27FC236}">
                  <a16:creationId xmlns:a16="http://schemas.microsoft.com/office/drawing/2014/main" id="{6A8AFD80-35B0-A2D6-482C-4E9CCD96B515}"/>
                </a:ext>
              </a:extLst>
            </p:cNvPr>
            <p:cNvGrpSpPr/>
            <p:nvPr/>
          </p:nvGrpSpPr>
          <p:grpSpPr>
            <a:xfrm>
              <a:off x="3335076" y="5576866"/>
              <a:ext cx="3038184" cy="1282908"/>
              <a:chOff x="966421" y="1476661"/>
              <a:chExt cx="3318365" cy="1451411"/>
            </a:xfrm>
          </p:grpSpPr>
          <p:grpSp>
            <p:nvGrpSpPr>
              <p:cNvPr id="34" name="Group 33">
                <a:extLst>
                  <a:ext uri="{FF2B5EF4-FFF2-40B4-BE49-F238E27FC236}">
                    <a16:creationId xmlns:a16="http://schemas.microsoft.com/office/drawing/2014/main" id="{CDB6542B-6425-F05F-AE02-A49FC1524703}"/>
                  </a:ext>
                </a:extLst>
              </p:cNvPr>
              <p:cNvGrpSpPr/>
              <p:nvPr/>
            </p:nvGrpSpPr>
            <p:grpSpPr>
              <a:xfrm>
                <a:off x="966421" y="1476661"/>
                <a:ext cx="3318365" cy="1451411"/>
                <a:chOff x="272927" y="1555735"/>
                <a:chExt cx="3318365" cy="2264425"/>
              </a:xfrm>
            </p:grpSpPr>
            <p:sp>
              <p:nvSpPr>
                <p:cNvPr id="36" name="Rectangle 35">
                  <a:extLst>
                    <a:ext uri="{FF2B5EF4-FFF2-40B4-BE49-F238E27FC236}">
                      <a16:creationId xmlns:a16="http://schemas.microsoft.com/office/drawing/2014/main" id="{3189E910-C98C-F4D2-7794-1BA174861937}"/>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B340399-209C-4D16-8F9E-6BB23E3CC8E2}"/>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233BEA6B-B593-2D4E-59EA-610D3CB4D445}"/>
                    </a:ext>
                  </a:extLst>
                </p:cNvPr>
                <p:cNvSpPr/>
                <p:nvPr/>
              </p:nvSpPr>
              <p:spPr>
                <a:xfrm>
                  <a:off x="949960" y="3206557"/>
                  <a:ext cx="903282" cy="61360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5" name="Rectangle 34">
                <a:extLst>
                  <a:ext uri="{FF2B5EF4-FFF2-40B4-BE49-F238E27FC236}">
                    <a16:creationId xmlns:a16="http://schemas.microsoft.com/office/drawing/2014/main" id="{632C1DD0-F7B4-C96C-8B88-F99401E841B8}"/>
                  </a:ext>
                </a:extLst>
              </p:cNvPr>
              <p:cNvSpPr/>
              <p:nvPr/>
            </p:nvSpPr>
            <p:spPr>
              <a:xfrm>
                <a:off x="3381504" y="2532418"/>
                <a:ext cx="903282" cy="39547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44" name="TextBox 43">
            <a:extLst>
              <a:ext uri="{FF2B5EF4-FFF2-40B4-BE49-F238E27FC236}">
                <a16:creationId xmlns:a16="http://schemas.microsoft.com/office/drawing/2014/main" id="{B6D58646-85A6-0AB8-2E27-B8D1D6742638}"/>
              </a:ext>
            </a:extLst>
          </p:cNvPr>
          <p:cNvSpPr txBox="1"/>
          <p:nvPr/>
        </p:nvSpPr>
        <p:spPr>
          <a:xfrm>
            <a:off x="298816" y="6212262"/>
            <a:ext cx="840295" cy="276999"/>
          </a:xfrm>
          <a:prstGeom prst="rect">
            <a:avLst/>
          </a:prstGeom>
          <a:noFill/>
        </p:spPr>
        <p:txBody>
          <a:bodyPr wrap="none" rtlCol="0">
            <a:spAutoFit/>
          </a:bodyPr>
          <a:lstStyle/>
          <a:p>
            <a:r>
              <a:rPr lang="en-US" sz="1200"/>
              <a:t>a) 50 </a:t>
            </a:r>
            <a:r>
              <a:rPr lang="en-GB" sz="1200"/>
              <a:t>÷ 0.2</a:t>
            </a:r>
          </a:p>
        </p:txBody>
      </p:sp>
      <p:sp>
        <p:nvSpPr>
          <p:cNvPr id="45" name="TextBox 44">
            <a:extLst>
              <a:ext uri="{FF2B5EF4-FFF2-40B4-BE49-F238E27FC236}">
                <a16:creationId xmlns:a16="http://schemas.microsoft.com/office/drawing/2014/main" id="{B333BDEB-03B8-AD4C-E159-AA78F69BDDCC}"/>
              </a:ext>
            </a:extLst>
          </p:cNvPr>
          <p:cNvSpPr txBox="1"/>
          <p:nvPr/>
        </p:nvSpPr>
        <p:spPr>
          <a:xfrm>
            <a:off x="1985977" y="6212262"/>
            <a:ext cx="768159" cy="276999"/>
          </a:xfrm>
          <a:prstGeom prst="rect">
            <a:avLst/>
          </a:prstGeom>
          <a:noFill/>
        </p:spPr>
        <p:txBody>
          <a:bodyPr wrap="none" rtlCol="0">
            <a:spAutoFit/>
          </a:bodyPr>
          <a:lstStyle/>
          <a:p>
            <a:r>
              <a:rPr lang="en-US" sz="1200"/>
              <a:t>b) 5 </a:t>
            </a:r>
            <a:r>
              <a:rPr lang="en-GB" sz="1200"/>
              <a:t>÷ 0.2</a:t>
            </a:r>
          </a:p>
        </p:txBody>
      </p:sp>
      <p:sp>
        <p:nvSpPr>
          <p:cNvPr id="46" name="TextBox 45">
            <a:extLst>
              <a:ext uri="{FF2B5EF4-FFF2-40B4-BE49-F238E27FC236}">
                <a16:creationId xmlns:a16="http://schemas.microsoft.com/office/drawing/2014/main" id="{4D526C16-2705-C469-292D-2F4E0FD2AC4D}"/>
              </a:ext>
            </a:extLst>
          </p:cNvPr>
          <p:cNvSpPr txBox="1"/>
          <p:nvPr/>
        </p:nvSpPr>
        <p:spPr>
          <a:xfrm>
            <a:off x="3559603" y="6217164"/>
            <a:ext cx="753732" cy="276999"/>
          </a:xfrm>
          <a:prstGeom prst="rect">
            <a:avLst/>
          </a:prstGeom>
          <a:noFill/>
        </p:spPr>
        <p:txBody>
          <a:bodyPr wrap="none" rtlCol="0">
            <a:spAutoFit/>
          </a:bodyPr>
          <a:lstStyle/>
          <a:p>
            <a:r>
              <a:rPr lang="en-US" sz="1200"/>
              <a:t>c) 5 </a:t>
            </a:r>
            <a:r>
              <a:rPr lang="en-GB" sz="1200"/>
              <a:t>÷ 0.1</a:t>
            </a:r>
          </a:p>
        </p:txBody>
      </p:sp>
      <p:sp>
        <p:nvSpPr>
          <p:cNvPr id="47" name="TextBox 46">
            <a:extLst>
              <a:ext uri="{FF2B5EF4-FFF2-40B4-BE49-F238E27FC236}">
                <a16:creationId xmlns:a16="http://schemas.microsoft.com/office/drawing/2014/main" id="{4217DDDF-2FE4-6B48-CAAE-4E82F86F8E9F}"/>
              </a:ext>
            </a:extLst>
          </p:cNvPr>
          <p:cNvSpPr txBox="1"/>
          <p:nvPr/>
        </p:nvSpPr>
        <p:spPr>
          <a:xfrm>
            <a:off x="5183718" y="6210725"/>
            <a:ext cx="768159" cy="276999"/>
          </a:xfrm>
          <a:prstGeom prst="rect">
            <a:avLst/>
          </a:prstGeom>
          <a:noFill/>
        </p:spPr>
        <p:txBody>
          <a:bodyPr wrap="none" rtlCol="0">
            <a:spAutoFit/>
          </a:bodyPr>
          <a:lstStyle/>
          <a:p>
            <a:r>
              <a:rPr lang="en-US" sz="1200"/>
              <a:t>d) </a:t>
            </a:r>
            <a:r>
              <a:rPr lang="en-GB" sz="1200"/>
              <a:t>0.1 ÷ 5</a:t>
            </a:r>
          </a:p>
        </p:txBody>
      </p:sp>
      <p:sp>
        <p:nvSpPr>
          <p:cNvPr id="48" name="TextBox 47">
            <a:extLst>
              <a:ext uri="{FF2B5EF4-FFF2-40B4-BE49-F238E27FC236}">
                <a16:creationId xmlns:a16="http://schemas.microsoft.com/office/drawing/2014/main" id="{16E35A14-ECE5-960E-C6C9-EA976E1B723D}"/>
              </a:ext>
            </a:extLst>
          </p:cNvPr>
          <p:cNvSpPr txBox="1"/>
          <p:nvPr/>
        </p:nvSpPr>
        <p:spPr>
          <a:xfrm>
            <a:off x="324706" y="7991469"/>
            <a:ext cx="960519" cy="276999"/>
          </a:xfrm>
          <a:prstGeom prst="rect">
            <a:avLst/>
          </a:prstGeom>
          <a:noFill/>
        </p:spPr>
        <p:txBody>
          <a:bodyPr wrap="none" rtlCol="0">
            <a:spAutoFit/>
          </a:bodyPr>
          <a:lstStyle/>
          <a:p>
            <a:r>
              <a:rPr lang="en-US" sz="1200"/>
              <a:t>e) 0.1 </a:t>
            </a:r>
            <a:r>
              <a:rPr lang="en-GB" sz="1200"/>
              <a:t>÷ 0.05</a:t>
            </a:r>
          </a:p>
        </p:txBody>
      </p:sp>
      <p:sp>
        <p:nvSpPr>
          <p:cNvPr id="49" name="TextBox 48">
            <a:extLst>
              <a:ext uri="{FF2B5EF4-FFF2-40B4-BE49-F238E27FC236}">
                <a16:creationId xmlns:a16="http://schemas.microsoft.com/office/drawing/2014/main" id="{4513359F-B3E5-E788-92FA-4ECAC583827C}"/>
              </a:ext>
            </a:extLst>
          </p:cNvPr>
          <p:cNvSpPr txBox="1"/>
          <p:nvPr/>
        </p:nvSpPr>
        <p:spPr>
          <a:xfrm>
            <a:off x="1985977" y="7991468"/>
            <a:ext cx="932307" cy="276999"/>
          </a:xfrm>
          <a:prstGeom prst="rect">
            <a:avLst/>
          </a:prstGeom>
          <a:noFill/>
        </p:spPr>
        <p:txBody>
          <a:bodyPr wrap="none" rtlCol="0">
            <a:spAutoFit/>
          </a:bodyPr>
          <a:lstStyle/>
          <a:p>
            <a:r>
              <a:rPr lang="en-US" sz="1200"/>
              <a:t>f) 0.2 </a:t>
            </a:r>
            <a:r>
              <a:rPr lang="en-GB" sz="1200"/>
              <a:t>÷ 0.05</a:t>
            </a:r>
          </a:p>
        </p:txBody>
      </p:sp>
      <p:sp>
        <p:nvSpPr>
          <p:cNvPr id="50" name="TextBox 49">
            <a:extLst>
              <a:ext uri="{FF2B5EF4-FFF2-40B4-BE49-F238E27FC236}">
                <a16:creationId xmlns:a16="http://schemas.microsoft.com/office/drawing/2014/main" id="{ED3EC7CA-79EA-5DEE-F9DE-76B3D984AD4A}"/>
              </a:ext>
            </a:extLst>
          </p:cNvPr>
          <p:cNvSpPr txBox="1"/>
          <p:nvPr/>
        </p:nvSpPr>
        <p:spPr>
          <a:xfrm>
            <a:off x="3559603" y="7991468"/>
            <a:ext cx="1034257" cy="276999"/>
          </a:xfrm>
          <a:prstGeom prst="rect">
            <a:avLst/>
          </a:prstGeom>
          <a:noFill/>
        </p:spPr>
        <p:txBody>
          <a:bodyPr wrap="none" rtlCol="0">
            <a:spAutoFit/>
          </a:bodyPr>
          <a:lstStyle/>
          <a:p>
            <a:r>
              <a:rPr lang="en-US" sz="1200"/>
              <a:t>g) 84.7 </a:t>
            </a:r>
            <a:r>
              <a:rPr lang="en-GB" sz="1200"/>
              <a:t>÷ 0.07</a:t>
            </a:r>
          </a:p>
        </p:txBody>
      </p:sp>
      <p:sp>
        <p:nvSpPr>
          <p:cNvPr id="51" name="TextBox 50">
            <a:extLst>
              <a:ext uri="{FF2B5EF4-FFF2-40B4-BE49-F238E27FC236}">
                <a16:creationId xmlns:a16="http://schemas.microsoft.com/office/drawing/2014/main" id="{7A40671B-19B3-F38C-E436-562F22902406}"/>
              </a:ext>
            </a:extLst>
          </p:cNvPr>
          <p:cNvSpPr txBox="1"/>
          <p:nvPr/>
        </p:nvSpPr>
        <p:spPr>
          <a:xfrm>
            <a:off x="5183718" y="7991468"/>
            <a:ext cx="1042273" cy="276999"/>
          </a:xfrm>
          <a:prstGeom prst="rect">
            <a:avLst/>
          </a:prstGeom>
          <a:noFill/>
        </p:spPr>
        <p:txBody>
          <a:bodyPr wrap="none" rtlCol="0">
            <a:spAutoFit/>
          </a:bodyPr>
          <a:lstStyle/>
          <a:p>
            <a:r>
              <a:rPr lang="en-US" sz="1200"/>
              <a:t>h) </a:t>
            </a:r>
            <a:r>
              <a:rPr lang="en-GB" sz="1200"/>
              <a:t>58.2 ÷ 0.06</a:t>
            </a:r>
            <a:endParaRPr lang="en-GB" sz="1200" baseline="30000"/>
          </a:p>
        </p:txBody>
      </p:sp>
      <p:grpSp>
        <p:nvGrpSpPr>
          <p:cNvPr id="52" name="Group 51">
            <a:extLst>
              <a:ext uri="{FF2B5EF4-FFF2-40B4-BE49-F238E27FC236}">
                <a16:creationId xmlns:a16="http://schemas.microsoft.com/office/drawing/2014/main" id="{E24E33C2-C7B2-4486-9AB9-E135BE0D6ED9}"/>
              </a:ext>
            </a:extLst>
          </p:cNvPr>
          <p:cNvGrpSpPr/>
          <p:nvPr/>
        </p:nvGrpSpPr>
        <p:grpSpPr>
          <a:xfrm>
            <a:off x="324706" y="8268467"/>
            <a:ext cx="6180564" cy="1440910"/>
            <a:chOff x="192696" y="5576866"/>
            <a:chExt cx="6180564" cy="1301908"/>
          </a:xfrm>
        </p:grpSpPr>
        <p:grpSp>
          <p:nvGrpSpPr>
            <p:cNvPr id="53" name="Group 52">
              <a:extLst>
                <a:ext uri="{FF2B5EF4-FFF2-40B4-BE49-F238E27FC236}">
                  <a16:creationId xmlns:a16="http://schemas.microsoft.com/office/drawing/2014/main" id="{41842C1A-E748-E553-407B-7BA281FA66F8}"/>
                </a:ext>
              </a:extLst>
            </p:cNvPr>
            <p:cNvGrpSpPr/>
            <p:nvPr/>
          </p:nvGrpSpPr>
          <p:grpSpPr>
            <a:xfrm>
              <a:off x="192696" y="5595866"/>
              <a:ext cx="3038184" cy="1282908"/>
              <a:chOff x="966421" y="1476661"/>
              <a:chExt cx="3318365" cy="1451411"/>
            </a:xfrm>
          </p:grpSpPr>
          <p:grpSp>
            <p:nvGrpSpPr>
              <p:cNvPr id="89" name="Group 88">
                <a:extLst>
                  <a:ext uri="{FF2B5EF4-FFF2-40B4-BE49-F238E27FC236}">
                    <a16:creationId xmlns:a16="http://schemas.microsoft.com/office/drawing/2014/main" id="{6914FE30-0FCA-DA6C-D70C-91BE500C07E9}"/>
                  </a:ext>
                </a:extLst>
              </p:cNvPr>
              <p:cNvGrpSpPr/>
              <p:nvPr/>
            </p:nvGrpSpPr>
            <p:grpSpPr>
              <a:xfrm>
                <a:off x="966421" y="1476661"/>
                <a:ext cx="3318365" cy="1451411"/>
                <a:chOff x="272927" y="1555735"/>
                <a:chExt cx="3318365" cy="2264425"/>
              </a:xfrm>
            </p:grpSpPr>
            <p:sp>
              <p:nvSpPr>
                <p:cNvPr id="91" name="Rectangle 90">
                  <a:extLst>
                    <a:ext uri="{FF2B5EF4-FFF2-40B4-BE49-F238E27FC236}">
                      <a16:creationId xmlns:a16="http://schemas.microsoft.com/office/drawing/2014/main" id="{C339AAF1-01C0-87F7-AF19-5922EDC2F7BA}"/>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Rectangle 91">
                  <a:extLst>
                    <a:ext uri="{FF2B5EF4-FFF2-40B4-BE49-F238E27FC236}">
                      <a16:creationId xmlns:a16="http://schemas.microsoft.com/office/drawing/2014/main" id="{F7B223FE-5A32-1A50-E677-AB6380B4BCAD}"/>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Rectangle 92">
                  <a:extLst>
                    <a:ext uri="{FF2B5EF4-FFF2-40B4-BE49-F238E27FC236}">
                      <a16:creationId xmlns:a16="http://schemas.microsoft.com/office/drawing/2014/main" id="{F6B9F7A8-1C34-E224-8C05-403E0945CB98}"/>
                    </a:ext>
                  </a:extLst>
                </p:cNvPr>
                <p:cNvSpPr/>
                <p:nvPr/>
              </p:nvSpPr>
              <p:spPr>
                <a:xfrm>
                  <a:off x="949960" y="3188555"/>
                  <a:ext cx="903282" cy="63160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90" name="Rectangle 89">
                <a:extLst>
                  <a:ext uri="{FF2B5EF4-FFF2-40B4-BE49-F238E27FC236}">
                    <a16:creationId xmlns:a16="http://schemas.microsoft.com/office/drawing/2014/main" id="{18241C9E-C31C-01D8-7BE6-029D5ABDA1AD}"/>
                  </a:ext>
                </a:extLst>
              </p:cNvPr>
              <p:cNvSpPr/>
              <p:nvPr/>
            </p:nvSpPr>
            <p:spPr>
              <a:xfrm>
                <a:off x="3381504" y="2518844"/>
                <a:ext cx="903282" cy="40904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4" name="Group 53">
              <a:extLst>
                <a:ext uri="{FF2B5EF4-FFF2-40B4-BE49-F238E27FC236}">
                  <a16:creationId xmlns:a16="http://schemas.microsoft.com/office/drawing/2014/main" id="{8FF235E4-8EB5-5FC7-66FD-DDD38393E336}"/>
                </a:ext>
              </a:extLst>
            </p:cNvPr>
            <p:cNvGrpSpPr/>
            <p:nvPr/>
          </p:nvGrpSpPr>
          <p:grpSpPr>
            <a:xfrm>
              <a:off x="3335076" y="5576866"/>
              <a:ext cx="3038184" cy="1282908"/>
              <a:chOff x="966421" y="1476661"/>
              <a:chExt cx="3318365" cy="1451411"/>
            </a:xfrm>
          </p:grpSpPr>
          <p:grpSp>
            <p:nvGrpSpPr>
              <p:cNvPr id="84" name="Group 83">
                <a:extLst>
                  <a:ext uri="{FF2B5EF4-FFF2-40B4-BE49-F238E27FC236}">
                    <a16:creationId xmlns:a16="http://schemas.microsoft.com/office/drawing/2014/main" id="{58FA4E98-5563-2BEB-2F6A-31A27265656E}"/>
                  </a:ext>
                </a:extLst>
              </p:cNvPr>
              <p:cNvGrpSpPr/>
              <p:nvPr/>
            </p:nvGrpSpPr>
            <p:grpSpPr>
              <a:xfrm>
                <a:off x="966421" y="1476661"/>
                <a:ext cx="3318365" cy="1451411"/>
                <a:chOff x="272927" y="1555735"/>
                <a:chExt cx="3318365" cy="2264425"/>
              </a:xfrm>
            </p:grpSpPr>
            <p:sp>
              <p:nvSpPr>
                <p:cNvPr id="86" name="Rectangle 85">
                  <a:extLst>
                    <a:ext uri="{FF2B5EF4-FFF2-40B4-BE49-F238E27FC236}">
                      <a16:creationId xmlns:a16="http://schemas.microsoft.com/office/drawing/2014/main" id="{99A28517-B471-301E-CC33-8544DE5C3F1B}"/>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47A25FD7-0279-DB50-760F-0E51D08E7CD7}"/>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Rectangle 87">
                  <a:extLst>
                    <a:ext uri="{FF2B5EF4-FFF2-40B4-BE49-F238E27FC236}">
                      <a16:creationId xmlns:a16="http://schemas.microsoft.com/office/drawing/2014/main" id="{FA1E764C-7342-26D1-C5F5-39337D5D7E63}"/>
                    </a:ext>
                  </a:extLst>
                </p:cNvPr>
                <p:cNvSpPr/>
                <p:nvPr/>
              </p:nvSpPr>
              <p:spPr>
                <a:xfrm>
                  <a:off x="949960" y="3206557"/>
                  <a:ext cx="903282" cy="61360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5" name="Rectangle 84">
                <a:extLst>
                  <a:ext uri="{FF2B5EF4-FFF2-40B4-BE49-F238E27FC236}">
                    <a16:creationId xmlns:a16="http://schemas.microsoft.com/office/drawing/2014/main" id="{71435DE2-BBCB-C9AA-45C5-3164EA9B9831}"/>
                  </a:ext>
                </a:extLst>
              </p:cNvPr>
              <p:cNvSpPr/>
              <p:nvPr/>
            </p:nvSpPr>
            <p:spPr>
              <a:xfrm>
                <a:off x="3381504" y="2532418"/>
                <a:ext cx="903282" cy="39547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Tree>
    <p:extLst>
      <p:ext uri="{BB962C8B-B14F-4D97-AF65-F5344CB8AC3E}">
        <p14:creationId xmlns:p14="http://schemas.microsoft.com/office/powerpoint/2010/main" val="16065628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9" name="Group 128">
            <a:extLst>
              <a:ext uri="{FF2B5EF4-FFF2-40B4-BE49-F238E27FC236}">
                <a16:creationId xmlns:a16="http://schemas.microsoft.com/office/drawing/2014/main" id="{37DF37BF-6AB6-6C47-B309-8BF11E51454D}"/>
              </a:ext>
            </a:extLst>
          </p:cNvPr>
          <p:cNvGrpSpPr/>
          <p:nvPr/>
        </p:nvGrpSpPr>
        <p:grpSpPr>
          <a:xfrm>
            <a:off x="237857" y="4761585"/>
            <a:ext cx="6195625" cy="1243142"/>
            <a:chOff x="3583295" y="197993"/>
            <a:chExt cx="3154879" cy="2545209"/>
          </a:xfrm>
        </p:grpSpPr>
        <p:sp>
          <p:nvSpPr>
            <p:cNvPr id="130" name="Rectangle 129">
              <a:extLst>
                <a:ext uri="{FF2B5EF4-FFF2-40B4-BE49-F238E27FC236}">
                  <a16:creationId xmlns:a16="http://schemas.microsoft.com/office/drawing/2014/main" id="{EAF11235-D4E9-B140-9CD2-AD5D1FE015BC}"/>
                </a:ext>
              </a:extLst>
            </p:cNvPr>
            <p:cNvSpPr/>
            <p:nvPr/>
          </p:nvSpPr>
          <p:spPr>
            <a:xfrm>
              <a:off x="3583295" y="197993"/>
              <a:ext cx="3154879" cy="2545209"/>
            </a:xfrm>
            <a:prstGeom prst="rect">
              <a:avLst/>
            </a:prstGeom>
            <a:no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Rectangle 130">
              <a:extLst>
                <a:ext uri="{FF2B5EF4-FFF2-40B4-BE49-F238E27FC236}">
                  <a16:creationId xmlns:a16="http://schemas.microsoft.com/office/drawing/2014/main" id="{CC802164-877B-794B-B6F2-28318E9422F6}"/>
                </a:ext>
              </a:extLst>
            </p:cNvPr>
            <p:cNvSpPr/>
            <p:nvPr/>
          </p:nvSpPr>
          <p:spPr>
            <a:xfrm>
              <a:off x="6355282" y="2053175"/>
              <a:ext cx="382892" cy="690025"/>
            </a:xfrm>
            <a:prstGeom prst="rect">
              <a:avLst/>
            </a:prstGeom>
            <a:no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 name="TextBox 14"/>
          <p:cNvSpPr txBox="1"/>
          <p:nvPr/>
        </p:nvSpPr>
        <p:spPr>
          <a:xfrm>
            <a:off x="106801" y="4268023"/>
            <a:ext cx="5767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10.</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 carpenter needs some wood cut into 0.7-metre lengths.</a:t>
            </a:r>
          </a:p>
          <a:p>
            <a:pPr marL="266700" marR="0" lvl="0" indent="-26670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How many 0.7-metre lengths can she cut from nine 2.4-metre lengths?</a:t>
            </a:r>
          </a:p>
        </p:txBody>
      </p:sp>
      <p:sp>
        <p:nvSpPr>
          <p:cNvPr id="17" name="TextBox 16"/>
          <p:cNvSpPr txBox="1"/>
          <p:nvPr/>
        </p:nvSpPr>
        <p:spPr>
          <a:xfrm>
            <a:off x="106801" y="5985860"/>
            <a:ext cx="540925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11.</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You are given that 6.96 ÷ 0.24 = 29.</a:t>
            </a:r>
          </a:p>
          <a:p>
            <a:pPr marL="531813" marR="0" lvl="1" indent="-26670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Use this information to work out the answers to these divisions.</a:t>
            </a:r>
          </a:p>
        </p:txBody>
      </p:sp>
      <p:sp>
        <p:nvSpPr>
          <p:cNvPr id="19" name="TextBox 18"/>
          <p:cNvSpPr txBox="1"/>
          <p:nvPr/>
        </p:nvSpPr>
        <p:spPr>
          <a:xfrm>
            <a:off x="143197" y="8089189"/>
            <a:ext cx="6531922" cy="430887"/>
          </a:xfrm>
          <a:prstGeom prst="rect">
            <a:avLst/>
          </a:prstGeom>
          <a:noFill/>
        </p:spPr>
        <p:txBody>
          <a:bodyPr wrap="square" rtlCol="0">
            <a:spAutoFit/>
          </a:bodyPr>
          <a:lstStyle/>
          <a:p>
            <a:pPr marL="182563" marR="0" lvl="0" indent="-182563"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prstClr val="black"/>
                </a:solidFill>
                <a:effectLst/>
                <a:uLnTx/>
                <a:uFillTx/>
                <a:latin typeface="Calibri" panose="020F0502020204030204"/>
                <a:ea typeface="+mn-ea"/>
                <a:cs typeface="+mn-cs"/>
              </a:rPr>
              <a:t>12.</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Doris buys a big bag of safety pins. The bag weighs 180 g. Each safety pin weighs 0.6 g. How many safety     pins are in the bag?</a:t>
            </a: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lide Number Placeholder 2"/>
          <p:cNvSpPr>
            <a:spLocks noGrp="1"/>
          </p:cNvSpPr>
          <p:nvPr>
            <p:ph type="sldNum" sz="quarter" idx="12"/>
          </p:nvPr>
        </p:nvSpPr>
        <p:spPr>
          <a:xfrm>
            <a:off x="5368272" y="9555638"/>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148" name="Group 147"/>
          <p:cNvGrpSpPr/>
          <p:nvPr/>
        </p:nvGrpSpPr>
        <p:grpSpPr>
          <a:xfrm>
            <a:off x="338718" y="6691063"/>
            <a:ext cx="6180564" cy="1301908"/>
            <a:chOff x="192696" y="5576866"/>
            <a:chExt cx="6180564" cy="1301908"/>
          </a:xfrm>
          <a:noFill/>
        </p:grpSpPr>
        <p:grpSp>
          <p:nvGrpSpPr>
            <p:cNvPr id="149" name="Group 148">
              <a:extLst>
                <a:ext uri="{FF2B5EF4-FFF2-40B4-BE49-F238E27FC236}">
                  <a16:creationId xmlns:a16="http://schemas.microsoft.com/office/drawing/2014/main" id="{682AB411-2149-0840-9D51-C54448E6DD46}"/>
                </a:ext>
              </a:extLst>
            </p:cNvPr>
            <p:cNvGrpSpPr/>
            <p:nvPr/>
          </p:nvGrpSpPr>
          <p:grpSpPr>
            <a:xfrm>
              <a:off x="192696" y="5595866"/>
              <a:ext cx="3038184" cy="1282908"/>
              <a:chOff x="966421" y="1476661"/>
              <a:chExt cx="3318365" cy="1451411"/>
            </a:xfrm>
            <a:grpFill/>
          </p:grpSpPr>
          <p:grpSp>
            <p:nvGrpSpPr>
              <p:cNvPr id="156" name="Group 155">
                <a:extLst>
                  <a:ext uri="{FF2B5EF4-FFF2-40B4-BE49-F238E27FC236}">
                    <a16:creationId xmlns:a16="http://schemas.microsoft.com/office/drawing/2014/main" id="{4D0679EF-84C5-7A4F-AB20-E9BE4CA4169D}"/>
                  </a:ext>
                </a:extLst>
              </p:cNvPr>
              <p:cNvGrpSpPr/>
              <p:nvPr/>
            </p:nvGrpSpPr>
            <p:grpSpPr>
              <a:xfrm>
                <a:off x="966421" y="1476661"/>
                <a:ext cx="3318365" cy="1451411"/>
                <a:chOff x="272927" y="1555735"/>
                <a:chExt cx="3318365" cy="2264425"/>
              </a:xfrm>
              <a:grpFill/>
            </p:grpSpPr>
            <p:sp>
              <p:nvSpPr>
                <p:cNvPr id="158" name="Rectangle 157">
                  <a:extLst>
                    <a:ext uri="{FF2B5EF4-FFF2-40B4-BE49-F238E27FC236}">
                      <a16:creationId xmlns:a16="http://schemas.microsoft.com/office/drawing/2014/main" id="{E7D43067-3992-3A4F-9499-D8C470B79030}"/>
                    </a:ext>
                  </a:extLst>
                </p:cNvPr>
                <p:cNvSpPr/>
                <p:nvPr/>
              </p:nvSpPr>
              <p:spPr>
                <a:xfrm>
                  <a:off x="272927" y="1555735"/>
                  <a:ext cx="1580315" cy="2264425"/>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Rectangle 158">
                  <a:extLst>
                    <a:ext uri="{FF2B5EF4-FFF2-40B4-BE49-F238E27FC236}">
                      <a16:creationId xmlns:a16="http://schemas.microsoft.com/office/drawing/2014/main" id="{0EA06E7E-A8C7-3C40-95D0-A8A0BC212120}"/>
                    </a:ext>
                  </a:extLst>
                </p:cNvPr>
                <p:cNvSpPr/>
                <p:nvPr/>
              </p:nvSpPr>
              <p:spPr>
                <a:xfrm>
                  <a:off x="2010977" y="1555737"/>
                  <a:ext cx="1580315" cy="2264423"/>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Rectangle 159">
                  <a:extLst>
                    <a:ext uri="{FF2B5EF4-FFF2-40B4-BE49-F238E27FC236}">
                      <a16:creationId xmlns:a16="http://schemas.microsoft.com/office/drawing/2014/main" id="{E9283DA5-AC6E-8146-A240-CBC210C66CCA}"/>
                    </a:ext>
                  </a:extLst>
                </p:cNvPr>
                <p:cNvSpPr/>
                <p:nvPr/>
              </p:nvSpPr>
              <p:spPr>
                <a:xfrm>
                  <a:off x="949960" y="3188555"/>
                  <a:ext cx="903282" cy="631605"/>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7" name="Rectangle 156">
                <a:extLst>
                  <a:ext uri="{FF2B5EF4-FFF2-40B4-BE49-F238E27FC236}">
                    <a16:creationId xmlns:a16="http://schemas.microsoft.com/office/drawing/2014/main" id="{E4854F53-53E7-4B48-89EF-D7EFA909E3BD}"/>
                  </a:ext>
                </a:extLst>
              </p:cNvPr>
              <p:cNvSpPr/>
              <p:nvPr/>
            </p:nvSpPr>
            <p:spPr>
              <a:xfrm>
                <a:off x="3381504" y="2518844"/>
                <a:ext cx="903282" cy="409044"/>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0" name="Group 149">
              <a:extLst>
                <a:ext uri="{FF2B5EF4-FFF2-40B4-BE49-F238E27FC236}">
                  <a16:creationId xmlns:a16="http://schemas.microsoft.com/office/drawing/2014/main" id="{682AB411-2149-0840-9D51-C54448E6DD46}"/>
                </a:ext>
              </a:extLst>
            </p:cNvPr>
            <p:cNvGrpSpPr/>
            <p:nvPr/>
          </p:nvGrpSpPr>
          <p:grpSpPr>
            <a:xfrm>
              <a:off x="3335076" y="5576866"/>
              <a:ext cx="3038184" cy="1282908"/>
              <a:chOff x="966421" y="1476661"/>
              <a:chExt cx="3318365" cy="1451411"/>
            </a:xfrm>
            <a:grpFill/>
          </p:grpSpPr>
          <p:grpSp>
            <p:nvGrpSpPr>
              <p:cNvPr id="151" name="Group 150">
                <a:extLst>
                  <a:ext uri="{FF2B5EF4-FFF2-40B4-BE49-F238E27FC236}">
                    <a16:creationId xmlns:a16="http://schemas.microsoft.com/office/drawing/2014/main" id="{4D0679EF-84C5-7A4F-AB20-E9BE4CA4169D}"/>
                  </a:ext>
                </a:extLst>
              </p:cNvPr>
              <p:cNvGrpSpPr/>
              <p:nvPr/>
            </p:nvGrpSpPr>
            <p:grpSpPr>
              <a:xfrm>
                <a:off x="966421" y="1476661"/>
                <a:ext cx="3318365" cy="1451411"/>
                <a:chOff x="272927" y="1555735"/>
                <a:chExt cx="3318365" cy="2264425"/>
              </a:xfrm>
              <a:grpFill/>
            </p:grpSpPr>
            <p:sp>
              <p:nvSpPr>
                <p:cNvPr id="153" name="Rectangle 152">
                  <a:extLst>
                    <a:ext uri="{FF2B5EF4-FFF2-40B4-BE49-F238E27FC236}">
                      <a16:creationId xmlns:a16="http://schemas.microsoft.com/office/drawing/2014/main" id="{E7D43067-3992-3A4F-9499-D8C470B79030}"/>
                    </a:ext>
                  </a:extLst>
                </p:cNvPr>
                <p:cNvSpPr/>
                <p:nvPr/>
              </p:nvSpPr>
              <p:spPr>
                <a:xfrm>
                  <a:off x="272927" y="1555735"/>
                  <a:ext cx="1580315" cy="2264425"/>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4" name="Rectangle 153">
                  <a:extLst>
                    <a:ext uri="{FF2B5EF4-FFF2-40B4-BE49-F238E27FC236}">
                      <a16:creationId xmlns:a16="http://schemas.microsoft.com/office/drawing/2014/main" id="{0EA06E7E-A8C7-3C40-95D0-A8A0BC212120}"/>
                    </a:ext>
                  </a:extLst>
                </p:cNvPr>
                <p:cNvSpPr/>
                <p:nvPr/>
              </p:nvSpPr>
              <p:spPr>
                <a:xfrm>
                  <a:off x="2010977" y="1555737"/>
                  <a:ext cx="1580315" cy="2264423"/>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 name="Rectangle 154">
                  <a:extLst>
                    <a:ext uri="{FF2B5EF4-FFF2-40B4-BE49-F238E27FC236}">
                      <a16:creationId xmlns:a16="http://schemas.microsoft.com/office/drawing/2014/main" id="{E9283DA5-AC6E-8146-A240-CBC210C66CCA}"/>
                    </a:ext>
                  </a:extLst>
                </p:cNvPr>
                <p:cNvSpPr/>
                <p:nvPr/>
              </p:nvSpPr>
              <p:spPr>
                <a:xfrm>
                  <a:off x="949960" y="3206557"/>
                  <a:ext cx="903282" cy="613603"/>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2" name="Rectangle 151">
                <a:extLst>
                  <a:ext uri="{FF2B5EF4-FFF2-40B4-BE49-F238E27FC236}">
                    <a16:creationId xmlns:a16="http://schemas.microsoft.com/office/drawing/2014/main" id="{E4854F53-53E7-4B48-89EF-D7EFA909E3BD}"/>
                  </a:ext>
                </a:extLst>
              </p:cNvPr>
              <p:cNvSpPr/>
              <p:nvPr/>
            </p:nvSpPr>
            <p:spPr>
              <a:xfrm>
                <a:off x="3381504" y="2532418"/>
                <a:ext cx="903282" cy="395471"/>
              </a:xfrm>
              <a:prstGeom prst="rect">
                <a:avLst/>
              </a:prstGeom>
              <a:grp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 name="Rectangle 4"/>
          <p:cNvSpPr/>
          <p:nvPr/>
        </p:nvSpPr>
        <p:spPr>
          <a:xfrm>
            <a:off x="-31954" y="6412957"/>
            <a:ext cx="6707073" cy="276999"/>
          </a:xfrm>
          <a:prstGeom prst="rect">
            <a:avLst/>
          </a:prstGeom>
        </p:spPr>
        <p:txBody>
          <a:bodyPr wrap="square">
            <a:spAutoFit/>
          </a:bodyPr>
          <a:lstStyle/>
          <a:p>
            <a:pPr marL="531813" lvl="1" indent="-266700" defTabSz="838200">
              <a:defRPr/>
            </a:pPr>
            <a:r>
              <a:rPr lang="en-US" sz="1200">
                <a:solidFill>
                  <a:prstClr val="black"/>
                </a:solidFill>
              </a:rPr>
              <a:t>(a) 69.6 ÷ 2.4 	     (b) 6.96 ÷ 0.29 	  (c) 6.96 ÷ 58 	(d) 2.32 ÷ 29</a:t>
            </a:r>
          </a:p>
        </p:txBody>
      </p:sp>
      <p:grpSp>
        <p:nvGrpSpPr>
          <p:cNvPr id="161" name="Group 160">
            <a:extLst>
              <a:ext uri="{FF2B5EF4-FFF2-40B4-BE49-F238E27FC236}">
                <a16:creationId xmlns:a16="http://schemas.microsoft.com/office/drawing/2014/main" id="{37DF37BF-6AB6-6C47-B309-8BF11E51454D}"/>
              </a:ext>
            </a:extLst>
          </p:cNvPr>
          <p:cNvGrpSpPr/>
          <p:nvPr/>
        </p:nvGrpSpPr>
        <p:grpSpPr>
          <a:xfrm>
            <a:off x="252918" y="8536895"/>
            <a:ext cx="6195625" cy="1243142"/>
            <a:chOff x="3583295" y="197993"/>
            <a:chExt cx="3154879" cy="2545209"/>
          </a:xfrm>
        </p:grpSpPr>
        <p:sp>
          <p:nvSpPr>
            <p:cNvPr id="162" name="Rectangle 161">
              <a:extLst>
                <a:ext uri="{FF2B5EF4-FFF2-40B4-BE49-F238E27FC236}">
                  <a16:creationId xmlns:a16="http://schemas.microsoft.com/office/drawing/2014/main" id="{EAF11235-D4E9-B140-9CD2-AD5D1FE015BC}"/>
                </a:ext>
              </a:extLst>
            </p:cNvPr>
            <p:cNvSpPr/>
            <p:nvPr/>
          </p:nvSpPr>
          <p:spPr>
            <a:xfrm>
              <a:off x="3583295" y="197993"/>
              <a:ext cx="3154879" cy="2545209"/>
            </a:xfrm>
            <a:prstGeom prst="rect">
              <a:avLst/>
            </a:prstGeom>
            <a:no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Rectangle 162">
              <a:extLst>
                <a:ext uri="{FF2B5EF4-FFF2-40B4-BE49-F238E27FC236}">
                  <a16:creationId xmlns:a16="http://schemas.microsoft.com/office/drawing/2014/main" id="{CC802164-877B-794B-B6F2-28318E9422F6}"/>
                </a:ext>
              </a:extLst>
            </p:cNvPr>
            <p:cNvSpPr/>
            <p:nvPr/>
          </p:nvSpPr>
          <p:spPr>
            <a:xfrm>
              <a:off x="6355282" y="2053175"/>
              <a:ext cx="382892" cy="690025"/>
            </a:xfrm>
            <a:prstGeom prst="rect">
              <a:avLst/>
            </a:prstGeom>
            <a:no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7" name="TextBox 6">
            <a:extLst>
              <a:ext uri="{FF2B5EF4-FFF2-40B4-BE49-F238E27FC236}">
                <a16:creationId xmlns:a16="http://schemas.microsoft.com/office/drawing/2014/main" id="{E601D73A-0E4D-CE2C-18A4-8E717187688F}"/>
              </a:ext>
            </a:extLst>
          </p:cNvPr>
          <p:cNvSpPr txBox="1"/>
          <p:nvPr/>
        </p:nvSpPr>
        <p:spPr>
          <a:xfrm>
            <a:off x="227028" y="66882"/>
            <a:ext cx="40862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Calibri" panose="020F0502020204030204"/>
              </a:rPr>
              <a:t>9</a:t>
            </a: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Work out.</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3614EBF9-0E6A-46EF-634F-5D76CCAEF669}"/>
              </a:ext>
            </a:extLst>
          </p:cNvPr>
          <p:cNvGrpSpPr/>
          <p:nvPr/>
        </p:nvGrpSpPr>
        <p:grpSpPr>
          <a:xfrm>
            <a:off x="227028" y="626852"/>
            <a:ext cx="6180564" cy="1440910"/>
            <a:chOff x="192696" y="5576866"/>
            <a:chExt cx="6180564" cy="1301908"/>
          </a:xfrm>
        </p:grpSpPr>
        <p:grpSp>
          <p:nvGrpSpPr>
            <p:cNvPr id="9" name="Group 8">
              <a:extLst>
                <a:ext uri="{FF2B5EF4-FFF2-40B4-BE49-F238E27FC236}">
                  <a16:creationId xmlns:a16="http://schemas.microsoft.com/office/drawing/2014/main" id="{7E569DB1-D447-3253-BB39-025EC9F29C0E}"/>
                </a:ext>
              </a:extLst>
            </p:cNvPr>
            <p:cNvGrpSpPr/>
            <p:nvPr/>
          </p:nvGrpSpPr>
          <p:grpSpPr>
            <a:xfrm>
              <a:off x="192696" y="5595866"/>
              <a:ext cx="3038184" cy="1282908"/>
              <a:chOff x="966421" y="1476661"/>
              <a:chExt cx="3318365" cy="1451411"/>
            </a:xfrm>
          </p:grpSpPr>
          <p:grpSp>
            <p:nvGrpSpPr>
              <p:cNvPr id="24" name="Group 23">
                <a:extLst>
                  <a:ext uri="{FF2B5EF4-FFF2-40B4-BE49-F238E27FC236}">
                    <a16:creationId xmlns:a16="http://schemas.microsoft.com/office/drawing/2014/main" id="{D52CEDE7-EDC6-BE5D-497A-0ABC6DA25AF3}"/>
                  </a:ext>
                </a:extLst>
              </p:cNvPr>
              <p:cNvGrpSpPr/>
              <p:nvPr/>
            </p:nvGrpSpPr>
            <p:grpSpPr>
              <a:xfrm>
                <a:off x="966421" y="1476661"/>
                <a:ext cx="3318365" cy="1451411"/>
                <a:chOff x="272927" y="1555735"/>
                <a:chExt cx="3318365" cy="2264425"/>
              </a:xfrm>
            </p:grpSpPr>
            <p:sp>
              <p:nvSpPr>
                <p:cNvPr id="26" name="Rectangle 25">
                  <a:extLst>
                    <a:ext uri="{FF2B5EF4-FFF2-40B4-BE49-F238E27FC236}">
                      <a16:creationId xmlns:a16="http://schemas.microsoft.com/office/drawing/2014/main" id="{1AB27EA1-CA08-977A-C081-824EEA235826}"/>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756054C1-F110-1CEC-DBCC-6A102DC739C6}"/>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00F7B3E1-8E82-7FFB-9CC3-7147217205FF}"/>
                    </a:ext>
                  </a:extLst>
                </p:cNvPr>
                <p:cNvSpPr/>
                <p:nvPr/>
              </p:nvSpPr>
              <p:spPr>
                <a:xfrm>
                  <a:off x="949960" y="3188555"/>
                  <a:ext cx="903282" cy="63160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5" name="Rectangle 24">
                <a:extLst>
                  <a:ext uri="{FF2B5EF4-FFF2-40B4-BE49-F238E27FC236}">
                    <a16:creationId xmlns:a16="http://schemas.microsoft.com/office/drawing/2014/main" id="{4F44A9A1-B83D-DA2F-A3E2-576C5E3C269D}"/>
                  </a:ext>
                </a:extLst>
              </p:cNvPr>
              <p:cNvSpPr/>
              <p:nvPr/>
            </p:nvSpPr>
            <p:spPr>
              <a:xfrm>
                <a:off x="3381504" y="2518844"/>
                <a:ext cx="903282" cy="40904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0" name="Group 9">
              <a:extLst>
                <a:ext uri="{FF2B5EF4-FFF2-40B4-BE49-F238E27FC236}">
                  <a16:creationId xmlns:a16="http://schemas.microsoft.com/office/drawing/2014/main" id="{63CB92B5-F9B5-A441-2F0B-91A1E99EB0C5}"/>
                </a:ext>
              </a:extLst>
            </p:cNvPr>
            <p:cNvGrpSpPr/>
            <p:nvPr/>
          </p:nvGrpSpPr>
          <p:grpSpPr>
            <a:xfrm>
              <a:off x="3335076" y="5576866"/>
              <a:ext cx="3038184" cy="1282908"/>
              <a:chOff x="966421" y="1476661"/>
              <a:chExt cx="3318365" cy="1451411"/>
            </a:xfrm>
          </p:grpSpPr>
          <p:grpSp>
            <p:nvGrpSpPr>
              <p:cNvPr id="11" name="Group 10">
                <a:extLst>
                  <a:ext uri="{FF2B5EF4-FFF2-40B4-BE49-F238E27FC236}">
                    <a16:creationId xmlns:a16="http://schemas.microsoft.com/office/drawing/2014/main" id="{C1DCCBBE-22CE-EBB6-6F90-B494EB027B1F}"/>
                  </a:ext>
                </a:extLst>
              </p:cNvPr>
              <p:cNvGrpSpPr/>
              <p:nvPr/>
            </p:nvGrpSpPr>
            <p:grpSpPr>
              <a:xfrm>
                <a:off x="966421" y="1476661"/>
                <a:ext cx="3318365" cy="1451411"/>
                <a:chOff x="272927" y="1555735"/>
                <a:chExt cx="3318365" cy="2264425"/>
              </a:xfrm>
            </p:grpSpPr>
            <p:sp>
              <p:nvSpPr>
                <p:cNvPr id="21" name="Rectangle 20">
                  <a:extLst>
                    <a:ext uri="{FF2B5EF4-FFF2-40B4-BE49-F238E27FC236}">
                      <a16:creationId xmlns:a16="http://schemas.microsoft.com/office/drawing/2014/main" id="{2E1832E3-5F01-540B-F5D8-9BD88AAFE0EC}"/>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12712A56-5B66-DC2B-6619-5498A219BC83}"/>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F56698E6-D590-6E6A-1FEB-7D3091B8A6A9}"/>
                    </a:ext>
                  </a:extLst>
                </p:cNvPr>
                <p:cNvSpPr/>
                <p:nvPr/>
              </p:nvSpPr>
              <p:spPr>
                <a:xfrm>
                  <a:off x="949960" y="3206557"/>
                  <a:ext cx="903282" cy="61360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2" name="Rectangle 11">
                <a:extLst>
                  <a:ext uri="{FF2B5EF4-FFF2-40B4-BE49-F238E27FC236}">
                    <a16:creationId xmlns:a16="http://schemas.microsoft.com/office/drawing/2014/main" id="{CEC2C038-7632-2A62-5FE6-6C38B7571D13}"/>
                  </a:ext>
                </a:extLst>
              </p:cNvPr>
              <p:cNvSpPr/>
              <p:nvPr/>
            </p:nvSpPr>
            <p:spPr>
              <a:xfrm>
                <a:off x="3381504" y="2532418"/>
                <a:ext cx="903282" cy="39547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9" name="TextBox 28">
            <a:extLst>
              <a:ext uri="{FF2B5EF4-FFF2-40B4-BE49-F238E27FC236}">
                <a16:creationId xmlns:a16="http://schemas.microsoft.com/office/drawing/2014/main" id="{F0A67FB0-F0FE-8B1D-A06D-CD8FFCF53502}"/>
              </a:ext>
            </a:extLst>
          </p:cNvPr>
          <p:cNvSpPr txBox="1"/>
          <p:nvPr/>
        </p:nvSpPr>
        <p:spPr>
          <a:xfrm>
            <a:off x="227028" y="344951"/>
            <a:ext cx="840295" cy="276999"/>
          </a:xfrm>
          <a:prstGeom prst="rect">
            <a:avLst/>
          </a:prstGeom>
          <a:noFill/>
        </p:spPr>
        <p:txBody>
          <a:bodyPr wrap="none" rtlCol="0">
            <a:spAutoFit/>
          </a:bodyPr>
          <a:lstStyle/>
          <a:p>
            <a:r>
              <a:rPr lang="en-US" sz="1200"/>
              <a:t>a) 12.4 </a:t>
            </a:r>
            <a:r>
              <a:rPr lang="en-GB" sz="1200"/>
              <a:t>÷ 2</a:t>
            </a:r>
          </a:p>
        </p:txBody>
      </p:sp>
      <p:sp>
        <p:nvSpPr>
          <p:cNvPr id="30" name="TextBox 29">
            <a:extLst>
              <a:ext uri="{FF2B5EF4-FFF2-40B4-BE49-F238E27FC236}">
                <a16:creationId xmlns:a16="http://schemas.microsoft.com/office/drawing/2014/main" id="{98903115-9E57-4C28-B45C-542C1F3B2245}"/>
              </a:ext>
            </a:extLst>
          </p:cNvPr>
          <p:cNvSpPr txBox="1"/>
          <p:nvPr/>
        </p:nvSpPr>
        <p:spPr>
          <a:xfrm>
            <a:off x="1914189" y="344951"/>
            <a:ext cx="963725" cy="276999"/>
          </a:xfrm>
          <a:prstGeom prst="rect">
            <a:avLst/>
          </a:prstGeom>
          <a:noFill/>
        </p:spPr>
        <p:txBody>
          <a:bodyPr wrap="none" rtlCol="0">
            <a:spAutoFit/>
          </a:bodyPr>
          <a:lstStyle/>
          <a:p>
            <a:r>
              <a:rPr lang="en-US" sz="1200"/>
              <a:t>b) 1.24 </a:t>
            </a:r>
            <a:r>
              <a:rPr lang="en-GB" sz="1200"/>
              <a:t>÷ 0.2</a:t>
            </a:r>
          </a:p>
        </p:txBody>
      </p:sp>
      <p:sp>
        <p:nvSpPr>
          <p:cNvPr id="31" name="TextBox 30">
            <a:extLst>
              <a:ext uri="{FF2B5EF4-FFF2-40B4-BE49-F238E27FC236}">
                <a16:creationId xmlns:a16="http://schemas.microsoft.com/office/drawing/2014/main" id="{A93B4238-A5E2-95C8-27A6-7053504F7E95}"/>
              </a:ext>
            </a:extLst>
          </p:cNvPr>
          <p:cNvSpPr txBox="1"/>
          <p:nvPr/>
        </p:nvSpPr>
        <p:spPr>
          <a:xfrm>
            <a:off x="3487815" y="349853"/>
            <a:ext cx="949299" cy="276999"/>
          </a:xfrm>
          <a:prstGeom prst="rect">
            <a:avLst/>
          </a:prstGeom>
          <a:noFill/>
        </p:spPr>
        <p:txBody>
          <a:bodyPr wrap="none" rtlCol="0">
            <a:spAutoFit/>
          </a:bodyPr>
          <a:lstStyle/>
          <a:p>
            <a:r>
              <a:rPr lang="en-US" sz="1200"/>
              <a:t>c) 0.15 </a:t>
            </a:r>
            <a:r>
              <a:rPr lang="en-GB" sz="1200"/>
              <a:t>÷ 0.5</a:t>
            </a:r>
          </a:p>
        </p:txBody>
      </p:sp>
      <p:sp>
        <p:nvSpPr>
          <p:cNvPr id="32" name="TextBox 31">
            <a:extLst>
              <a:ext uri="{FF2B5EF4-FFF2-40B4-BE49-F238E27FC236}">
                <a16:creationId xmlns:a16="http://schemas.microsoft.com/office/drawing/2014/main" id="{368A2C16-9300-2A10-47FE-11BFABB814D4}"/>
              </a:ext>
            </a:extLst>
          </p:cNvPr>
          <p:cNvSpPr txBox="1"/>
          <p:nvPr/>
        </p:nvSpPr>
        <p:spPr>
          <a:xfrm>
            <a:off x="5111930" y="343414"/>
            <a:ext cx="963725" cy="276999"/>
          </a:xfrm>
          <a:prstGeom prst="rect">
            <a:avLst/>
          </a:prstGeom>
          <a:noFill/>
        </p:spPr>
        <p:txBody>
          <a:bodyPr wrap="none" rtlCol="0">
            <a:spAutoFit/>
          </a:bodyPr>
          <a:lstStyle/>
          <a:p>
            <a:r>
              <a:rPr lang="en-US" sz="1200"/>
              <a:t>d) </a:t>
            </a:r>
            <a:r>
              <a:rPr lang="en-GB" sz="1200"/>
              <a:t>0.72 ÷ 0.2</a:t>
            </a:r>
          </a:p>
        </p:txBody>
      </p:sp>
      <p:sp>
        <p:nvSpPr>
          <p:cNvPr id="33" name="TextBox 32">
            <a:extLst>
              <a:ext uri="{FF2B5EF4-FFF2-40B4-BE49-F238E27FC236}">
                <a16:creationId xmlns:a16="http://schemas.microsoft.com/office/drawing/2014/main" id="{6AD6AC44-1933-3ADC-A68F-5D3E0D047BCF}"/>
              </a:ext>
            </a:extLst>
          </p:cNvPr>
          <p:cNvSpPr txBox="1"/>
          <p:nvPr/>
        </p:nvSpPr>
        <p:spPr>
          <a:xfrm>
            <a:off x="252918" y="2124158"/>
            <a:ext cx="960519" cy="276999"/>
          </a:xfrm>
          <a:prstGeom prst="rect">
            <a:avLst/>
          </a:prstGeom>
          <a:noFill/>
        </p:spPr>
        <p:txBody>
          <a:bodyPr wrap="none" rtlCol="0">
            <a:spAutoFit/>
          </a:bodyPr>
          <a:lstStyle/>
          <a:p>
            <a:r>
              <a:rPr lang="en-US" sz="1200"/>
              <a:t>e) 0.48 </a:t>
            </a:r>
            <a:r>
              <a:rPr lang="en-GB" sz="1200"/>
              <a:t>÷ 0.3</a:t>
            </a:r>
          </a:p>
        </p:txBody>
      </p:sp>
      <p:sp>
        <p:nvSpPr>
          <p:cNvPr id="34" name="TextBox 33">
            <a:extLst>
              <a:ext uri="{FF2B5EF4-FFF2-40B4-BE49-F238E27FC236}">
                <a16:creationId xmlns:a16="http://schemas.microsoft.com/office/drawing/2014/main" id="{A11CC8A9-9938-CDB9-D368-96EEAC769299}"/>
              </a:ext>
            </a:extLst>
          </p:cNvPr>
          <p:cNvSpPr txBox="1"/>
          <p:nvPr/>
        </p:nvSpPr>
        <p:spPr>
          <a:xfrm>
            <a:off x="1914189" y="2124157"/>
            <a:ext cx="1010854" cy="276999"/>
          </a:xfrm>
          <a:prstGeom prst="rect">
            <a:avLst/>
          </a:prstGeom>
          <a:noFill/>
        </p:spPr>
        <p:txBody>
          <a:bodyPr wrap="none" rtlCol="0">
            <a:spAutoFit/>
          </a:bodyPr>
          <a:lstStyle/>
          <a:p>
            <a:r>
              <a:rPr lang="en-US" sz="1200"/>
              <a:t>f) 0.048 </a:t>
            </a:r>
            <a:r>
              <a:rPr lang="en-GB" sz="1200"/>
              <a:t>÷ 0.2</a:t>
            </a:r>
          </a:p>
        </p:txBody>
      </p:sp>
      <p:sp>
        <p:nvSpPr>
          <p:cNvPr id="35" name="TextBox 34">
            <a:extLst>
              <a:ext uri="{FF2B5EF4-FFF2-40B4-BE49-F238E27FC236}">
                <a16:creationId xmlns:a16="http://schemas.microsoft.com/office/drawing/2014/main" id="{1BC8ECEA-C127-4D3E-694E-195BAD176EE1}"/>
              </a:ext>
            </a:extLst>
          </p:cNvPr>
          <p:cNvSpPr txBox="1"/>
          <p:nvPr/>
        </p:nvSpPr>
        <p:spPr>
          <a:xfrm>
            <a:off x="3487815" y="2124157"/>
            <a:ext cx="1034257" cy="276999"/>
          </a:xfrm>
          <a:prstGeom prst="rect">
            <a:avLst/>
          </a:prstGeom>
          <a:noFill/>
        </p:spPr>
        <p:txBody>
          <a:bodyPr wrap="none" rtlCol="0">
            <a:spAutoFit/>
          </a:bodyPr>
          <a:lstStyle/>
          <a:p>
            <a:r>
              <a:rPr lang="en-US" sz="1200"/>
              <a:t>g) 0.095 </a:t>
            </a:r>
            <a:r>
              <a:rPr lang="en-GB" sz="1200"/>
              <a:t>÷ 0.5</a:t>
            </a:r>
          </a:p>
        </p:txBody>
      </p:sp>
      <p:sp>
        <p:nvSpPr>
          <p:cNvPr id="36" name="TextBox 35">
            <a:extLst>
              <a:ext uri="{FF2B5EF4-FFF2-40B4-BE49-F238E27FC236}">
                <a16:creationId xmlns:a16="http://schemas.microsoft.com/office/drawing/2014/main" id="{B6C6F39A-ED45-7057-5B99-50B7583FB14A}"/>
              </a:ext>
            </a:extLst>
          </p:cNvPr>
          <p:cNvSpPr txBox="1"/>
          <p:nvPr/>
        </p:nvSpPr>
        <p:spPr>
          <a:xfrm>
            <a:off x="5111930" y="2124157"/>
            <a:ext cx="1077539" cy="276999"/>
          </a:xfrm>
          <a:prstGeom prst="rect">
            <a:avLst/>
          </a:prstGeom>
          <a:noFill/>
        </p:spPr>
        <p:txBody>
          <a:bodyPr wrap="none" rtlCol="0">
            <a:spAutoFit/>
          </a:bodyPr>
          <a:lstStyle/>
          <a:p>
            <a:r>
              <a:rPr lang="en-US" sz="1200"/>
              <a:t>h) </a:t>
            </a:r>
            <a:r>
              <a:rPr lang="en-GB" sz="1200"/>
              <a:t>0.072 ÷ 0. 6</a:t>
            </a:r>
            <a:endParaRPr lang="en-GB" sz="1200" baseline="30000"/>
          </a:p>
        </p:txBody>
      </p:sp>
      <p:grpSp>
        <p:nvGrpSpPr>
          <p:cNvPr id="37" name="Group 36">
            <a:extLst>
              <a:ext uri="{FF2B5EF4-FFF2-40B4-BE49-F238E27FC236}">
                <a16:creationId xmlns:a16="http://schemas.microsoft.com/office/drawing/2014/main" id="{E179A86C-7097-390F-A6C5-25FB36BFFC4C}"/>
              </a:ext>
            </a:extLst>
          </p:cNvPr>
          <p:cNvGrpSpPr/>
          <p:nvPr/>
        </p:nvGrpSpPr>
        <p:grpSpPr>
          <a:xfrm>
            <a:off x="252918" y="2401156"/>
            <a:ext cx="6180564" cy="1440910"/>
            <a:chOff x="192696" y="5576866"/>
            <a:chExt cx="6180564" cy="1301908"/>
          </a:xfrm>
        </p:grpSpPr>
        <p:grpSp>
          <p:nvGrpSpPr>
            <p:cNvPr id="38" name="Group 37">
              <a:extLst>
                <a:ext uri="{FF2B5EF4-FFF2-40B4-BE49-F238E27FC236}">
                  <a16:creationId xmlns:a16="http://schemas.microsoft.com/office/drawing/2014/main" id="{EEE4D148-4B4F-B35F-BD4A-125958DAB506}"/>
                </a:ext>
              </a:extLst>
            </p:cNvPr>
            <p:cNvGrpSpPr/>
            <p:nvPr/>
          </p:nvGrpSpPr>
          <p:grpSpPr>
            <a:xfrm>
              <a:off x="192696" y="5595866"/>
              <a:ext cx="3038184" cy="1282908"/>
              <a:chOff x="966421" y="1476661"/>
              <a:chExt cx="3318365" cy="1451411"/>
            </a:xfrm>
          </p:grpSpPr>
          <p:grpSp>
            <p:nvGrpSpPr>
              <p:cNvPr id="45" name="Group 44">
                <a:extLst>
                  <a:ext uri="{FF2B5EF4-FFF2-40B4-BE49-F238E27FC236}">
                    <a16:creationId xmlns:a16="http://schemas.microsoft.com/office/drawing/2014/main" id="{109033C9-8326-640E-3344-BC35FEA4DCF0}"/>
                  </a:ext>
                </a:extLst>
              </p:cNvPr>
              <p:cNvGrpSpPr/>
              <p:nvPr/>
            </p:nvGrpSpPr>
            <p:grpSpPr>
              <a:xfrm>
                <a:off x="966421" y="1476661"/>
                <a:ext cx="3318365" cy="1451411"/>
                <a:chOff x="272927" y="1555735"/>
                <a:chExt cx="3318365" cy="2264425"/>
              </a:xfrm>
            </p:grpSpPr>
            <p:sp>
              <p:nvSpPr>
                <p:cNvPr id="47" name="Rectangle 46">
                  <a:extLst>
                    <a:ext uri="{FF2B5EF4-FFF2-40B4-BE49-F238E27FC236}">
                      <a16:creationId xmlns:a16="http://schemas.microsoft.com/office/drawing/2014/main" id="{9ACF4BCA-C84D-35B7-451B-6A6C53DE1315}"/>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A232FE69-2FA6-F80E-8EDA-5BEA3CFFC3C9}"/>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611C5025-F8DC-C2B2-25D4-6E275344893D}"/>
                    </a:ext>
                  </a:extLst>
                </p:cNvPr>
                <p:cNvSpPr/>
                <p:nvPr/>
              </p:nvSpPr>
              <p:spPr>
                <a:xfrm>
                  <a:off x="949960" y="3188555"/>
                  <a:ext cx="903282" cy="63160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46" name="Rectangle 45">
                <a:extLst>
                  <a:ext uri="{FF2B5EF4-FFF2-40B4-BE49-F238E27FC236}">
                    <a16:creationId xmlns:a16="http://schemas.microsoft.com/office/drawing/2014/main" id="{A9AF0D51-657D-ABC4-0C76-281630387089}"/>
                  </a:ext>
                </a:extLst>
              </p:cNvPr>
              <p:cNvSpPr/>
              <p:nvPr/>
            </p:nvSpPr>
            <p:spPr>
              <a:xfrm>
                <a:off x="3381504" y="2518844"/>
                <a:ext cx="903282" cy="40904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9" name="Group 38">
              <a:extLst>
                <a:ext uri="{FF2B5EF4-FFF2-40B4-BE49-F238E27FC236}">
                  <a16:creationId xmlns:a16="http://schemas.microsoft.com/office/drawing/2014/main" id="{A8E92CB6-7390-2F8D-81BD-697783C061CC}"/>
                </a:ext>
              </a:extLst>
            </p:cNvPr>
            <p:cNvGrpSpPr/>
            <p:nvPr/>
          </p:nvGrpSpPr>
          <p:grpSpPr>
            <a:xfrm>
              <a:off x="3335076" y="5576866"/>
              <a:ext cx="3038184" cy="1282908"/>
              <a:chOff x="966421" y="1476661"/>
              <a:chExt cx="3318365" cy="1451411"/>
            </a:xfrm>
          </p:grpSpPr>
          <p:grpSp>
            <p:nvGrpSpPr>
              <p:cNvPr id="40" name="Group 39">
                <a:extLst>
                  <a:ext uri="{FF2B5EF4-FFF2-40B4-BE49-F238E27FC236}">
                    <a16:creationId xmlns:a16="http://schemas.microsoft.com/office/drawing/2014/main" id="{1FF884BE-3F92-D13F-D1F9-BDE5429F231F}"/>
                  </a:ext>
                </a:extLst>
              </p:cNvPr>
              <p:cNvGrpSpPr/>
              <p:nvPr/>
            </p:nvGrpSpPr>
            <p:grpSpPr>
              <a:xfrm>
                <a:off x="966421" y="1476661"/>
                <a:ext cx="3318365" cy="1451411"/>
                <a:chOff x="272927" y="1555735"/>
                <a:chExt cx="3318365" cy="2264425"/>
              </a:xfrm>
            </p:grpSpPr>
            <p:sp>
              <p:nvSpPr>
                <p:cNvPr id="42" name="Rectangle 41">
                  <a:extLst>
                    <a:ext uri="{FF2B5EF4-FFF2-40B4-BE49-F238E27FC236}">
                      <a16:creationId xmlns:a16="http://schemas.microsoft.com/office/drawing/2014/main" id="{15665A43-50D1-062B-A9E5-3B814D41C746}"/>
                    </a:ext>
                  </a:extLst>
                </p:cNvPr>
                <p:cNvSpPr/>
                <p:nvPr/>
              </p:nvSpPr>
              <p:spPr>
                <a:xfrm>
                  <a:off x="272927" y="1555735"/>
                  <a:ext cx="1580315" cy="2264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6A200A22-BDF8-FDAD-C57E-BF096F40126E}"/>
                    </a:ext>
                  </a:extLst>
                </p:cNvPr>
                <p:cNvSpPr/>
                <p:nvPr/>
              </p:nvSpPr>
              <p:spPr>
                <a:xfrm>
                  <a:off x="2010977" y="1555737"/>
                  <a:ext cx="1580315" cy="226442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E254F478-8368-C9D1-4758-60890BB6F53B}"/>
                    </a:ext>
                  </a:extLst>
                </p:cNvPr>
                <p:cNvSpPr/>
                <p:nvPr/>
              </p:nvSpPr>
              <p:spPr>
                <a:xfrm>
                  <a:off x="949960" y="3206557"/>
                  <a:ext cx="903282" cy="61360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41" name="Rectangle 40">
                <a:extLst>
                  <a:ext uri="{FF2B5EF4-FFF2-40B4-BE49-F238E27FC236}">
                    <a16:creationId xmlns:a16="http://schemas.microsoft.com/office/drawing/2014/main" id="{B5A65D8D-34E2-1106-56A8-E7F4F5536A1C}"/>
                  </a:ext>
                </a:extLst>
              </p:cNvPr>
              <p:cNvSpPr/>
              <p:nvPr/>
            </p:nvSpPr>
            <p:spPr>
              <a:xfrm>
                <a:off x="3381504" y="2532418"/>
                <a:ext cx="903282" cy="39547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Tree>
    <p:extLst>
      <p:ext uri="{BB962C8B-B14F-4D97-AF65-F5344CB8AC3E}">
        <p14:creationId xmlns:p14="http://schemas.microsoft.com/office/powerpoint/2010/main" val="18961140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2D4984-85B7-1B4B-363F-E99EEAFA6CD2}"/>
              </a:ext>
            </a:extLst>
          </p:cNvPr>
          <p:cNvSpPr/>
          <p:nvPr/>
        </p:nvSpPr>
        <p:spPr>
          <a:xfrm>
            <a:off x="0" y="-27421"/>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t>Subtopic 8  – </a:t>
            </a:r>
            <a:r>
              <a:rPr lang="en-GB" dirty="0">
                <a:latin typeface="Calibri"/>
                <a:ea typeface="Calibri"/>
                <a:cs typeface="Calibri"/>
              </a:rPr>
              <a:t>Using a Calculator</a:t>
            </a:r>
            <a:endParaRPr lang="en-GB" b="1" dirty="0">
              <a:latin typeface="Calibri" panose="020F0502020204030204" pitchFamily="34" charset="0"/>
              <a:cs typeface="Calibri" panose="020F0502020204030204" pitchFamily="34" charset="0"/>
            </a:endParaRPr>
          </a:p>
        </p:txBody>
      </p:sp>
      <p:sp>
        <p:nvSpPr>
          <p:cNvPr id="26" name="Slide Number Placeholder 2">
            <a:extLst>
              <a:ext uri="{FF2B5EF4-FFF2-40B4-BE49-F238E27FC236}">
                <a16:creationId xmlns:a16="http://schemas.microsoft.com/office/drawing/2014/main" id="{EF177BC2-27B6-6AD8-3F59-C9BB92CAB815}"/>
              </a:ext>
            </a:extLst>
          </p:cNvPr>
          <p:cNvSpPr>
            <a:spLocks noGrp="1"/>
          </p:cNvSpPr>
          <p:nvPr>
            <p:ph type="sldNum" sz="quarter" idx="12"/>
          </p:nvPr>
        </p:nvSpPr>
        <p:spPr>
          <a:xfrm>
            <a:off x="5362240" y="9525997"/>
            <a:ext cx="1543050" cy="527403"/>
          </a:xfrm>
        </p:spPr>
        <p:txBody>
          <a:bodyPr/>
          <a:lstStyle/>
          <a:p>
            <a:fld id="{FBAE39DB-50DA-415B-9DF6-5539075545AD}" type="slidenum">
              <a:rPr lang="en-GB" smtClean="0"/>
              <a:t>82</a:t>
            </a:fld>
            <a:endParaRPr lang="en-GB" dirty="0"/>
          </a:p>
        </p:txBody>
      </p:sp>
      <p:sp>
        <p:nvSpPr>
          <p:cNvPr id="3" name="Rectangle 2">
            <a:extLst>
              <a:ext uri="{FF2B5EF4-FFF2-40B4-BE49-F238E27FC236}">
                <a16:creationId xmlns:a16="http://schemas.microsoft.com/office/drawing/2014/main" id="{EDA81BD0-6F25-41AB-6C8B-C5247B86CFBB}"/>
              </a:ext>
            </a:extLst>
          </p:cNvPr>
          <p:cNvSpPr/>
          <p:nvPr/>
        </p:nvSpPr>
        <p:spPr>
          <a:xfrm>
            <a:off x="139860" y="349311"/>
            <a:ext cx="6560980" cy="182121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AA39915C-FDD1-F55E-7FF6-D097D53A157A}"/>
              </a:ext>
            </a:extLst>
          </p:cNvPr>
          <p:cNvSpPr txBox="1"/>
          <p:nvPr/>
        </p:nvSpPr>
        <p:spPr>
          <a:xfrm>
            <a:off x="198097" y="416831"/>
            <a:ext cx="6453689"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Understand how to carry out basic skills on a calculator</a:t>
            </a:r>
          </a:p>
        </p:txBody>
      </p:sp>
      <p:sp>
        <p:nvSpPr>
          <p:cNvPr id="11" name="TextBox 10">
            <a:extLst>
              <a:ext uri="{FF2B5EF4-FFF2-40B4-BE49-F238E27FC236}">
                <a16:creationId xmlns:a16="http://schemas.microsoft.com/office/drawing/2014/main" id="{0CB1E809-17C4-00A1-F7DA-8B2B1A4533C8}"/>
              </a:ext>
            </a:extLst>
          </p:cNvPr>
          <p:cNvSpPr txBox="1"/>
          <p:nvPr/>
        </p:nvSpPr>
        <p:spPr>
          <a:xfrm>
            <a:off x="5350026" y="791250"/>
            <a:ext cx="1301760" cy="646331"/>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Calibri" panose="020F0502020204030204"/>
                <a:ea typeface="+mn-ea"/>
                <a:cs typeface="+mn-cs"/>
              </a:rPr>
              <a:t>Keywords: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function key </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shift key</a:t>
            </a:r>
          </a:p>
        </p:txBody>
      </p:sp>
      <p:pic>
        <p:nvPicPr>
          <p:cNvPr id="12" name="Picture 2" descr="calculator.png">
            <a:extLst>
              <a:ext uri="{FF2B5EF4-FFF2-40B4-BE49-F238E27FC236}">
                <a16:creationId xmlns:a16="http://schemas.microsoft.com/office/drawing/2014/main" id="{5402940D-9169-4B03-8A10-49E1563CB8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9987" y="1544201"/>
            <a:ext cx="327464" cy="43661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203BE7D-A481-2F24-D07B-4CABEA2A8254}"/>
              </a:ext>
            </a:extLst>
          </p:cNvPr>
          <p:cNvSpPr txBox="1"/>
          <p:nvPr/>
        </p:nvSpPr>
        <p:spPr>
          <a:xfrm>
            <a:off x="133308" y="739234"/>
            <a:ext cx="114939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Objectives</a:t>
            </a:r>
            <a:r>
              <a:rPr kumimoji="0" lang="en-GB" sz="14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4" name="TextBox 13">
            <a:extLst>
              <a:ext uri="{FF2B5EF4-FFF2-40B4-BE49-F238E27FC236}">
                <a16:creationId xmlns:a16="http://schemas.microsoft.com/office/drawing/2014/main" id="{86F22B02-7260-5D54-853A-3CCE1E1AEEEA}"/>
              </a:ext>
            </a:extLst>
          </p:cNvPr>
          <p:cNvSpPr txBox="1"/>
          <p:nvPr/>
        </p:nvSpPr>
        <p:spPr>
          <a:xfrm>
            <a:off x="163574" y="1030876"/>
            <a:ext cx="5059012" cy="646331"/>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Use some of the important keys when working on a calculator.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Look at some key functions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Use a calculator to solve questions.</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F34C6E8E-FEBE-4043-4636-E61A92BF8E48}"/>
              </a:ext>
            </a:extLst>
          </p:cNvPr>
          <p:cNvSpPr txBox="1"/>
          <p:nvPr/>
        </p:nvSpPr>
        <p:spPr>
          <a:xfrm>
            <a:off x="1920287" y="5035012"/>
            <a:ext cx="1410704" cy="276999"/>
          </a:xfrm>
          <a:prstGeom prst="rect">
            <a:avLst/>
          </a:prstGeom>
          <a:noFill/>
          <a:ln>
            <a:noFill/>
          </a:ln>
        </p:spPr>
        <p:txBody>
          <a:bodyPr wrap="square" rtlCol="0">
            <a:spAutoFit/>
          </a:bodyPr>
          <a:lstStyle/>
          <a:p>
            <a:r>
              <a:rPr lang="en-GB" sz="1200" b="1" i="1" dirty="0">
                <a:solidFill>
                  <a:srgbClr val="FF0000"/>
                </a:solidFill>
              </a:rPr>
              <a:t>Example 1 - I do…</a:t>
            </a:r>
          </a:p>
        </p:txBody>
      </p:sp>
      <p:sp>
        <p:nvSpPr>
          <p:cNvPr id="16" name="TextBox 15">
            <a:extLst>
              <a:ext uri="{FF2B5EF4-FFF2-40B4-BE49-F238E27FC236}">
                <a16:creationId xmlns:a16="http://schemas.microsoft.com/office/drawing/2014/main" id="{CD4E8F39-3F0C-D474-180F-C5C8CD2A65B9}"/>
              </a:ext>
            </a:extLst>
          </p:cNvPr>
          <p:cNvSpPr txBox="1"/>
          <p:nvPr/>
        </p:nvSpPr>
        <p:spPr>
          <a:xfrm>
            <a:off x="5139716" y="5011064"/>
            <a:ext cx="1643405" cy="276999"/>
          </a:xfrm>
          <a:prstGeom prst="rect">
            <a:avLst/>
          </a:prstGeom>
          <a:noFill/>
          <a:ln>
            <a:noFill/>
          </a:ln>
        </p:spPr>
        <p:txBody>
          <a:bodyPr wrap="square" rtlCol="0">
            <a:spAutoFit/>
          </a:bodyPr>
          <a:lstStyle/>
          <a:p>
            <a:r>
              <a:rPr lang="en-GB" sz="1200" b="1" i="1" dirty="0">
                <a:solidFill>
                  <a:srgbClr val="00B050"/>
                </a:solidFill>
              </a:rPr>
              <a:t>Example 3 – You do…</a:t>
            </a:r>
          </a:p>
        </p:txBody>
      </p:sp>
      <p:sp>
        <p:nvSpPr>
          <p:cNvPr id="17" name="TextBox 16">
            <a:extLst>
              <a:ext uri="{FF2B5EF4-FFF2-40B4-BE49-F238E27FC236}">
                <a16:creationId xmlns:a16="http://schemas.microsoft.com/office/drawing/2014/main" id="{2907FD3B-1C1B-49B4-C470-118F3BFA7EFD}"/>
              </a:ext>
            </a:extLst>
          </p:cNvPr>
          <p:cNvSpPr txBox="1"/>
          <p:nvPr/>
        </p:nvSpPr>
        <p:spPr>
          <a:xfrm>
            <a:off x="3472111" y="5024691"/>
            <a:ext cx="1667605" cy="276999"/>
          </a:xfrm>
          <a:prstGeom prst="rect">
            <a:avLst/>
          </a:prstGeom>
          <a:noFill/>
          <a:ln>
            <a:noFill/>
          </a:ln>
        </p:spPr>
        <p:txBody>
          <a:bodyPr wrap="square" rtlCol="0">
            <a:spAutoFit/>
          </a:bodyPr>
          <a:lstStyle/>
          <a:p>
            <a:r>
              <a:rPr lang="en-GB" sz="1200" b="1" i="1" dirty="0">
                <a:solidFill>
                  <a:schemeClr val="accent2"/>
                </a:solidFill>
              </a:rPr>
              <a:t>Example 2 - We do…</a:t>
            </a:r>
          </a:p>
        </p:txBody>
      </p:sp>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BEA1E516-7E3B-6EFC-BDF4-7F8EA7779118}"/>
                  </a:ext>
                </a:extLst>
              </p:cNvPr>
              <p:cNvGraphicFramePr>
                <a:graphicFrameLocks noGrp="1"/>
              </p:cNvGraphicFramePr>
              <p:nvPr/>
            </p:nvGraphicFramePr>
            <p:xfrm>
              <a:off x="180874" y="5357415"/>
              <a:ext cx="6543680" cy="1904809"/>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112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1) Press the fraction button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Write </a:t>
                          </a:r>
                          <a14:m>
                            <m:oMath xmlns:m="http://schemas.openxmlformats.org/officeDocument/2006/math">
                              <m:f>
                                <m:fPr>
                                  <m:ctrlP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num>
                                <m:den>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5</m:t>
                                  </m:r>
                                </m:den>
                              </m:f>
                            </m:oMath>
                          </a14:m>
                          <a:r>
                            <a:rPr kumimoji="0" lang="en-GB" sz="1200" b="0" i="0" u="none" strike="noStrike" kern="1200" cap="none" spc="0" normalizeH="0" baseline="0" noProof="0" dirty="0">
                              <a:ln>
                                <a:noFill/>
                              </a:ln>
                              <a:solidFill>
                                <a:prstClr val="black"/>
                              </a:solidFill>
                              <a:effectLst/>
                              <a:uLnTx/>
                              <a:uFillTx/>
                              <a:latin typeface="+mn-lt"/>
                              <a:ea typeface="+mn-ea"/>
                              <a:cs typeface="+mn-cs"/>
                            </a:rPr>
                            <a:t> as a decimal.</a:t>
                          </a:r>
                          <a:endParaRPr kumimoji="0" lang="en-GB" sz="1000" b="0" i="0" u="none" strike="noStrike" kern="1200" cap="none" spc="0" normalizeH="0" baseline="30000" noProof="0" dirty="0">
                            <a:ln>
                              <a:noFill/>
                            </a:ln>
                            <a:solidFill>
                              <a:prstClr val="black"/>
                            </a:solidFill>
                            <a:effectLst/>
                            <a:uLnTx/>
                            <a:uFillTx/>
                            <a:latin typeface="+mn-lt"/>
                            <a:ea typeface="+mn-ea"/>
                            <a:cs typeface="+mn-cs"/>
                          </a:endParaRPr>
                        </a:p>
                        <a:p>
                          <a:pPr marL="0" indent="0" algn="ctr">
                            <a:buNone/>
                          </a:pP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Write </a:t>
                          </a:r>
                          <a14:m>
                            <m:oMath xmlns:m="http://schemas.openxmlformats.org/officeDocument/2006/math">
                              <m:f>
                                <m:fPr>
                                  <m:ctrlP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7</m:t>
                                  </m:r>
                                </m:num>
                                <m:den>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m:t>
                                  </m:r>
                                </m:den>
                              </m:f>
                            </m:oMath>
                          </a14:m>
                          <a:r>
                            <a:rPr kumimoji="0" lang="en-GB" sz="1200" b="0" i="0" u="none" strike="noStrike" kern="1200" cap="none" spc="0" normalizeH="0" baseline="0" noProof="0" dirty="0">
                              <a:ln>
                                <a:noFill/>
                              </a:ln>
                              <a:solidFill>
                                <a:prstClr val="black"/>
                              </a:solidFill>
                              <a:effectLst/>
                              <a:uLnTx/>
                              <a:uFillTx/>
                              <a:latin typeface="+mn-lt"/>
                              <a:ea typeface="+mn-ea"/>
                              <a:cs typeface="+mn-cs"/>
                            </a:rPr>
                            <a:t> as a decimal.</a:t>
                          </a:r>
                          <a:endParaRPr kumimoji="0" lang="en-GB" sz="1000" b="0" i="0" u="none" strike="noStrike" kern="1200" cap="none" spc="0" normalizeH="0" baseline="30000" noProof="0" dirty="0">
                            <a:ln>
                              <a:noFill/>
                            </a:ln>
                            <a:solidFill>
                              <a:prstClr val="black"/>
                            </a:solidFill>
                            <a:effectLst/>
                            <a:uLnTx/>
                            <a:uFillTx/>
                            <a:latin typeface="+mn-lt"/>
                            <a:ea typeface="+mn-ea"/>
                            <a:cs typeface="+mn-cs"/>
                          </a:endParaRPr>
                        </a:p>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Write </a:t>
                          </a:r>
                          <a14:m>
                            <m:oMath xmlns:m="http://schemas.openxmlformats.org/officeDocument/2006/math">
                              <m:f>
                                <m:fPr>
                                  <m:ctrlP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num>
                                <m:den>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8</m:t>
                                  </m:r>
                                </m:den>
                              </m:f>
                            </m:oMath>
                          </a14:m>
                          <a:r>
                            <a:rPr kumimoji="0" lang="en-GB" sz="1200" b="0" i="0" u="none" strike="noStrike" kern="1200" cap="none" spc="0" normalizeH="0" baseline="0" noProof="0" dirty="0">
                              <a:ln>
                                <a:noFill/>
                              </a:ln>
                              <a:solidFill>
                                <a:prstClr val="black"/>
                              </a:solidFill>
                              <a:effectLst/>
                              <a:uLnTx/>
                              <a:uFillTx/>
                              <a:latin typeface="+mn-lt"/>
                              <a:ea typeface="+mn-ea"/>
                              <a:cs typeface="+mn-cs"/>
                            </a:rPr>
                            <a:t> as a decimal.</a:t>
                          </a:r>
                          <a:endParaRPr kumimoji="0" lang="en-GB" sz="1000" b="0" i="0" u="none" strike="noStrike" kern="1200" cap="none" spc="0" normalizeH="0" baseline="30000" noProof="0" dirty="0">
                            <a:ln>
                              <a:noFill/>
                            </a:ln>
                            <a:solidFill>
                              <a:prstClr val="black"/>
                            </a:solidFill>
                            <a:effectLst/>
                            <a:uLnTx/>
                            <a:uFillTx/>
                            <a:latin typeface="+mn-lt"/>
                            <a:ea typeface="+mn-ea"/>
                            <a:cs typeface="+mn-cs"/>
                          </a:endParaRPr>
                        </a:p>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4806297"/>
                      </a:ext>
                    </a:extLst>
                  </a:tr>
                  <a:tr h="57573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Insert the digits into the correct places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8075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3)</a:t>
                          </a:r>
                          <a:r>
                            <a:rPr lang="en-US" sz="1200" baseline="0" dirty="0">
                              <a:solidFill>
                                <a:schemeClr val="tx1"/>
                              </a:solidFill>
                            </a:rPr>
                            <a:t> Press “=” then change the answer to decimal.</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Choice>
        <mc:Fallback xmlns="">
          <p:graphicFrame>
            <p:nvGraphicFramePr>
              <p:cNvPr id="18" name="Table 17">
                <a:extLst>
                  <a:ext uri="{FF2B5EF4-FFF2-40B4-BE49-F238E27FC236}">
                    <a16:creationId xmlns:a16="http://schemas.microsoft.com/office/drawing/2014/main" id="{BEA1E516-7E3B-6EFC-BDF4-7F8EA7779118}"/>
                  </a:ext>
                </a:extLst>
              </p:cNvPr>
              <p:cNvGraphicFramePr>
                <a:graphicFrameLocks noGrp="1"/>
              </p:cNvGraphicFramePr>
              <p:nvPr>
                <p:extLst>
                  <p:ext uri="{D42A27DB-BD31-4B8C-83A1-F6EECF244321}">
                    <p14:modId xmlns:p14="http://schemas.microsoft.com/office/powerpoint/2010/main" val="2702529683"/>
                  </p:ext>
                </p:extLst>
              </p:nvPr>
            </p:nvGraphicFramePr>
            <p:xfrm>
              <a:off x="180874" y="5357415"/>
              <a:ext cx="6543680" cy="1904809"/>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57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1) Press the fraction button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7931" t="-662" r="-179310" b="-1325"/>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8462" t="-662" r="-100000" b="-1325"/>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75" t="-662" r="-775" b="-1325"/>
                          </a:stretch>
                        </a:blipFill>
                      </a:tcPr>
                    </a:tc>
                    <a:extLst>
                      <a:ext uri="{0D108BD9-81ED-4DB2-BD59-A6C34878D82A}">
                        <a16:rowId xmlns:a16="http://schemas.microsoft.com/office/drawing/2014/main" val="2524806297"/>
                      </a:ext>
                    </a:extLst>
                  </a:tr>
                  <a:tr h="6400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Insert the digits into the correct places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8075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3)</a:t>
                          </a:r>
                          <a:r>
                            <a:rPr lang="en-US" sz="1200" baseline="0" dirty="0">
                              <a:solidFill>
                                <a:schemeClr val="tx1"/>
                              </a:solidFill>
                            </a:rPr>
                            <a:t> Press “=” then change the answer to decimal.</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Fallback>
      </mc:AlternateContent>
      <p:pic>
        <p:nvPicPr>
          <p:cNvPr id="23" name="Picture 22" descr="A grid of graph paper&#10;&#10;Description automatically generated">
            <a:extLst>
              <a:ext uri="{FF2B5EF4-FFF2-40B4-BE49-F238E27FC236}">
                <a16:creationId xmlns:a16="http://schemas.microsoft.com/office/drawing/2014/main" id="{E2646349-7CC4-57D5-7FDB-350DA464D237}"/>
              </a:ext>
            </a:extLst>
          </p:cNvPr>
          <p:cNvPicPr>
            <a:picLocks noChangeAspect="1"/>
          </p:cNvPicPr>
          <p:nvPr/>
        </p:nvPicPr>
        <p:blipFill rotWithShape="1">
          <a:blip r:embed="rId4"/>
          <a:srcRect l="3926" t="12898" r="3568" b="48277"/>
          <a:stretch/>
        </p:blipFill>
        <p:spPr>
          <a:xfrm>
            <a:off x="67551" y="2304976"/>
            <a:ext cx="4966135" cy="2693745"/>
          </a:xfrm>
          <a:prstGeom prst="rect">
            <a:avLst/>
          </a:prstGeom>
        </p:spPr>
      </p:pic>
      <p:pic>
        <p:nvPicPr>
          <p:cNvPr id="24" name="Picture 23" descr="A grid of white squares&#10;&#10;Description automatically generated">
            <a:extLst>
              <a:ext uri="{FF2B5EF4-FFF2-40B4-BE49-F238E27FC236}">
                <a16:creationId xmlns:a16="http://schemas.microsoft.com/office/drawing/2014/main" id="{10DDE690-B499-A7B4-DABD-4055D897E95A}"/>
              </a:ext>
            </a:extLst>
          </p:cNvPr>
          <p:cNvPicPr>
            <a:picLocks noChangeAspect="1"/>
          </p:cNvPicPr>
          <p:nvPr/>
        </p:nvPicPr>
        <p:blipFill rotWithShape="1">
          <a:blip r:embed="rId4"/>
          <a:srcRect l="8371" t="12830" r="57358" b="48069"/>
          <a:stretch/>
        </p:blipFill>
        <p:spPr>
          <a:xfrm>
            <a:off x="5017817" y="2301746"/>
            <a:ext cx="1839773" cy="2712942"/>
          </a:xfrm>
          <a:prstGeom prst="rect">
            <a:avLst/>
          </a:prstGeom>
        </p:spPr>
      </p:pic>
      <p:sp>
        <p:nvSpPr>
          <p:cNvPr id="25" name="TextBox 24">
            <a:extLst>
              <a:ext uri="{FF2B5EF4-FFF2-40B4-BE49-F238E27FC236}">
                <a16:creationId xmlns:a16="http://schemas.microsoft.com/office/drawing/2014/main" id="{4BAE709C-9979-67B1-E53B-3C8C511F9D89}"/>
              </a:ext>
            </a:extLst>
          </p:cNvPr>
          <p:cNvSpPr txBox="1"/>
          <p:nvPr/>
        </p:nvSpPr>
        <p:spPr>
          <a:xfrm>
            <a:off x="138585" y="2208294"/>
            <a:ext cx="6541777" cy="276999"/>
          </a:xfrm>
          <a:prstGeom prst="rect">
            <a:avLst/>
          </a:prstGeom>
          <a:noFill/>
        </p:spPr>
        <p:txBody>
          <a:bodyPr wrap="square" lIns="91440" tIns="45720" rIns="91440" bIns="45720" rtlCol="0" anchor="t">
            <a:spAutoFit/>
          </a:bodyPr>
          <a:lstStyle/>
          <a:p>
            <a:r>
              <a:rPr lang="en-US" sz="1200" b="1" dirty="0">
                <a:ea typeface="Calibri"/>
                <a:cs typeface="Calibri"/>
              </a:rPr>
              <a:t>Notes</a:t>
            </a:r>
            <a:r>
              <a:rPr lang="en-US" sz="1200" dirty="0">
                <a:ea typeface="Calibri"/>
                <a:cs typeface="Calibri"/>
              </a:rPr>
              <a:t>: Use this space to note down any useful buttons your teacher tells you</a:t>
            </a:r>
          </a:p>
        </p:txBody>
      </p:sp>
      <p:sp>
        <p:nvSpPr>
          <p:cNvPr id="27" name="TextBox 26">
            <a:extLst>
              <a:ext uri="{FF2B5EF4-FFF2-40B4-BE49-F238E27FC236}">
                <a16:creationId xmlns:a16="http://schemas.microsoft.com/office/drawing/2014/main" id="{E2F36B28-1142-DB95-2CBC-674F9F0C11C9}"/>
              </a:ext>
            </a:extLst>
          </p:cNvPr>
          <p:cNvSpPr txBox="1"/>
          <p:nvPr/>
        </p:nvSpPr>
        <p:spPr>
          <a:xfrm>
            <a:off x="1920287" y="7277433"/>
            <a:ext cx="1410704" cy="276999"/>
          </a:xfrm>
          <a:prstGeom prst="rect">
            <a:avLst/>
          </a:prstGeom>
          <a:noFill/>
          <a:ln>
            <a:noFill/>
          </a:ln>
        </p:spPr>
        <p:txBody>
          <a:bodyPr wrap="square" rtlCol="0">
            <a:spAutoFit/>
          </a:bodyPr>
          <a:lstStyle/>
          <a:p>
            <a:r>
              <a:rPr lang="en-GB" sz="1200" b="1" i="1" dirty="0">
                <a:solidFill>
                  <a:srgbClr val="FF0000"/>
                </a:solidFill>
              </a:rPr>
              <a:t>Example 4 - I do…</a:t>
            </a:r>
          </a:p>
        </p:txBody>
      </p:sp>
      <p:sp>
        <p:nvSpPr>
          <p:cNvPr id="28" name="TextBox 27">
            <a:extLst>
              <a:ext uri="{FF2B5EF4-FFF2-40B4-BE49-F238E27FC236}">
                <a16:creationId xmlns:a16="http://schemas.microsoft.com/office/drawing/2014/main" id="{F0625C0C-154C-EF48-48D7-36C101FA7DC2}"/>
              </a:ext>
            </a:extLst>
          </p:cNvPr>
          <p:cNvSpPr txBox="1"/>
          <p:nvPr/>
        </p:nvSpPr>
        <p:spPr>
          <a:xfrm>
            <a:off x="5122416" y="7265455"/>
            <a:ext cx="1643405" cy="276999"/>
          </a:xfrm>
          <a:prstGeom prst="rect">
            <a:avLst/>
          </a:prstGeom>
          <a:noFill/>
          <a:ln>
            <a:noFill/>
          </a:ln>
        </p:spPr>
        <p:txBody>
          <a:bodyPr wrap="square" rtlCol="0">
            <a:spAutoFit/>
          </a:bodyPr>
          <a:lstStyle/>
          <a:p>
            <a:r>
              <a:rPr lang="en-GB" sz="1200" b="1" i="1" dirty="0">
                <a:solidFill>
                  <a:srgbClr val="00B050"/>
                </a:solidFill>
              </a:rPr>
              <a:t>Example 6 – You do…</a:t>
            </a:r>
          </a:p>
        </p:txBody>
      </p:sp>
      <p:sp>
        <p:nvSpPr>
          <p:cNvPr id="29" name="TextBox 28">
            <a:extLst>
              <a:ext uri="{FF2B5EF4-FFF2-40B4-BE49-F238E27FC236}">
                <a16:creationId xmlns:a16="http://schemas.microsoft.com/office/drawing/2014/main" id="{620F4770-BDEA-8B2D-25FF-7F2F2D66CFAA}"/>
              </a:ext>
            </a:extLst>
          </p:cNvPr>
          <p:cNvSpPr txBox="1"/>
          <p:nvPr/>
        </p:nvSpPr>
        <p:spPr>
          <a:xfrm>
            <a:off x="3454811" y="7279082"/>
            <a:ext cx="1667605" cy="276999"/>
          </a:xfrm>
          <a:prstGeom prst="rect">
            <a:avLst/>
          </a:prstGeom>
          <a:noFill/>
          <a:ln>
            <a:noFill/>
          </a:ln>
        </p:spPr>
        <p:txBody>
          <a:bodyPr wrap="square" rtlCol="0">
            <a:spAutoFit/>
          </a:bodyPr>
          <a:lstStyle/>
          <a:p>
            <a:r>
              <a:rPr lang="en-GB" sz="1200" b="1" i="1" dirty="0">
                <a:solidFill>
                  <a:schemeClr val="accent2"/>
                </a:solidFill>
              </a:rPr>
              <a:t>Example 5 - We do…</a:t>
            </a:r>
          </a:p>
        </p:txBody>
      </p:sp>
      <mc:AlternateContent xmlns:mc="http://schemas.openxmlformats.org/markup-compatibility/2006" xmlns:a14="http://schemas.microsoft.com/office/drawing/2010/main">
        <mc:Choice Requires="a14">
          <p:graphicFrame>
            <p:nvGraphicFramePr>
              <p:cNvPr id="30" name="Table 29">
                <a:extLst>
                  <a:ext uri="{FF2B5EF4-FFF2-40B4-BE49-F238E27FC236}">
                    <a16:creationId xmlns:a16="http://schemas.microsoft.com/office/drawing/2014/main" id="{6568BEE1-43F6-0093-7392-95B9AFDCA055}"/>
                  </a:ext>
                </a:extLst>
              </p:cNvPr>
              <p:cNvGraphicFramePr>
                <a:graphicFrameLocks noGrp="1"/>
              </p:cNvGraphicFramePr>
              <p:nvPr/>
            </p:nvGraphicFramePr>
            <p:xfrm>
              <a:off x="163574" y="7611806"/>
              <a:ext cx="6543680" cy="1904809"/>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112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1) Press ‘shift’ then the  fraction button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indent="0" algn="ctr">
                            <a:buNone/>
                          </a:pPr>
                          <a:r>
                            <a:rPr lang="en-GB" sz="1200" b="0" dirty="0">
                              <a:solidFill>
                                <a:schemeClr val="tx1"/>
                              </a:solidFill>
                            </a:rPr>
                            <a:t>Write </a:t>
                          </a:r>
                          <a14:m>
                            <m:oMath xmlns:m="http://schemas.openxmlformats.org/officeDocument/2006/math">
                              <m:r>
                                <a:rPr lang="en-GB" sz="1200" b="0" i="1" smtClean="0">
                                  <a:solidFill>
                                    <a:schemeClr val="tx1"/>
                                  </a:solidFill>
                                  <a:latin typeface="Cambria Math" panose="02040503050406030204" pitchFamily="18" charset="0"/>
                                </a:rPr>
                                <m:t>4</m:t>
                              </m:r>
                              <m:f>
                                <m:fPr>
                                  <m:ctrlPr>
                                    <a:rPr lang="en-GB" sz="1200" b="0" i="1" smtClean="0">
                                      <a:solidFill>
                                        <a:schemeClr val="tx1"/>
                                      </a:solidFill>
                                      <a:latin typeface="Cambria Math" panose="02040503050406030204" pitchFamily="18" charset="0"/>
                                    </a:rPr>
                                  </m:ctrlPr>
                                </m:fPr>
                                <m:num>
                                  <m:r>
                                    <a:rPr lang="en-GB" sz="1200" b="0" i="1" smtClean="0">
                                      <a:solidFill>
                                        <a:schemeClr val="tx1"/>
                                      </a:solidFill>
                                      <a:latin typeface="Cambria Math" panose="02040503050406030204" pitchFamily="18" charset="0"/>
                                    </a:rPr>
                                    <m:t>7</m:t>
                                  </m:r>
                                </m:num>
                                <m:den>
                                  <m:r>
                                    <a:rPr lang="en-GB" sz="1200" b="0" i="1" smtClean="0">
                                      <a:solidFill>
                                        <a:schemeClr val="tx1"/>
                                      </a:solidFill>
                                      <a:latin typeface="Cambria Math" panose="02040503050406030204" pitchFamily="18" charset="0"/>
                                    </a:rPr>
                                    <m:t>11</m:t>
                                  </m:r>
                                </m:den>
                              </m:f>
                            </m:oMath>
                          </a14:m>
                          <a:r>
                            <a:rPr lang="en-GB" sz="1200" b="0" dirty="0">
                              <a:solidFill>
                                <a:schemeClr val="tx1"/>
                              </a:solidFill>
                            </a:rPr>
                            <a:t> as a decimal </a:t>
                          </a:r>
                          <a:r>
                            <a:rPr lang="en-GB" sz="1200" b="1" dirty="0">
                              <a:solidFill>
                                <a:schemeClr val="tx1"/>
                              </a:solidFill>
                            </a:rPr>
                            <a:t>and</a:t>
                          </a:r>
                          <a:r>
                            <a:rPr lang="en-GB" sz="1200" b="0" dirty="0">
                              <a:solidFill>
                                <a:schemeClr val="tx1"/>
                              </a:solidFill>
                            </a:rPr>
                            <a:t> as an</a:t>
                          </a:r>
                          <a:r>
                            <a:rPr lang="en-GB" sz="1200" b="0" baseline="0" dirty="0">
                              <a:solidFill>
                                <a:schemeClr val="tx1"/>
                              </a:solidFill>
                            </a:rPr>
                            <a:t> improper fraction. </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mn-lt"/>
                              <a:ea typeface="+mn-ea"/>
                              <a:cs typeface="+mn-cs"/>
                            </a:rPr>
                            <a:t>Evaluate </a:t>
                          </a:r>
                          <a14:m>
                            <m:oMath xmlns:m="http://schemas.openxmlformats.org/officeDocument/2006/math">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m:t>
                              </m:r>
                              <m:f>
                                <m:fPr>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num>
                                <m:den>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7</m:t>
                                  </m:r>
                                </m:den>
                              </m:f>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+11</m:t>
                              </m:r>
                              <m:f>
                                <m:fPr>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num>
                                <m:den>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den>
                              </m:f>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endParaRPr kumimoji="0" lang="en-GB" sz="1100" b="0" i="0" u="none" strike="noStrike" kern="1200" cap="none" spc="0" normalizeH="0" baseline="0" noProof="0" dirty="0">
                            <a:ln>
                              <a:noFill/>
                            </a:ln>
                            <a:solidFill>
                              <a:prstClr val="black"/>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Give your answer as a decimal and a fraction</a:t>
                          </a:r>
                        </a:p>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mn-lt"/>
                              <a:ea typeface="+mn-ea"/>
                              <a:cs typeface="+mn-cs"/>
                            </a:rPr>
                            <a:t>Evaluate </a:t>
                          </a:r>
                          <a14:m>
                            <m:oMath xmlns:m="http://schemas.openxmlformats.org/officeDocument/2006/math">
                              <m:r>
                                <a:rPr kumimoji="0" lang="en-GB" sz="11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f>
                                <m:fPr>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m:t>
                                  </m:r>
                                </m:num>
                                <m:den>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14</m:t>
                                  </m:r>
                                </m:den>
                              </m:f>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f>
                                <m:fPr>
                                  <m:ctrlP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GB"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den>
                              </m:f>
                            </m:oMath>
                          </a14:m>
                          <a:endParaRPr lang="en-GB" sz="120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Give your answer as a decimal and a fraction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4806297"/>
                      </a:ext>
                    </a:extLst>
                  </a:tr>
                  <a:tr h="57573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Insert the digits into the correct places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8075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3)</a:t>
                          </a:r>
                          <a:r>
                            <a:rPr lang="en-US" sz="1200" baseline="0" dirty="0">
                              <a:solidFill>
                                <a:schemeClr val="tx1"/>
                              </a:solidFill>
                            </a:rPr>
                            <a:t> Press “=” then change the answer to decimal.</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Choice>
        <mc:Fallback xmlns="">
          <p:graphicFrame>
            <p:nvGraphicFramePr>
              <p:cNvPr id="30" name="Table 29">
                <a:extLst>
                  <a:ext uri="{FF2B5EF4-FFF2-40B4-BE49-F238E27FC236}">
                    <a16:creationId xmlns:a16="http://schemas.microsoft.com/office/drawing/2014/main" id="{6568BEE1-43F6-0093-7392-95B9AFDCA055}"/>
                  </a:ext>
                </a:extLst>
              </p:cNvPr>
              <p:cNvGraphicFramePr>
                <a:graphicFrameLocks noGrp="1"/>
              </p:cNvGraphicFramePr>
              <p:nvPr>
                <p:extLst>
                  <p:ext uri="{D42A27DB-BD31-4B8C-83A1-F6EECF244321}">
                    <p14:modId xmlns:p14="http://schemas.microsoft.com/office/powerpoint/2010/main" val="2042972095"/>
                  </p:ext>
                </p:extLst>
              </p:nvPr>
            </p:nvGraphicFramePr>
            <p:xfrm>
              <a:off x="163574" y="7611806"/>
              <a:ext cx="6543680" cy="1904809"/>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57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1) Press ‘shift’ then the  fraction button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6712" t="-662" r="-178082" b="-662"/>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8462" t="-662" r="-100000" b="-662"/>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0775" t="-662" r="-775" b="-662"/>
                          </a:stretch>
                        </a:blipFill>
                      </a:tcPr>
                    </a:tc>
                    <a:extLst>
                      <a:ext uri="{0D108BD9-81ED-4DB2-BD59-A6C34878D82A}">
                        <a16:rowId xmlns:a16="http://schemas.microsoft.com/office/drawing/2014/main" val="2524806297"/>
                      </a:ext>
                    </a:extLst>
                  </a:tr>
                  <a:tr h="6400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Insert the digits into the correct places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8075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3)</a:t>
                          </a:r>
                          <a:r>
                            <a:rPr lang="en-US" sz="1200" baseline="0" dirty="0">
                              <a:solidFill>
                                <a:schemeClr val="tx1"/>
                              </a:solidFill>
                            </a:rPr>
                            <a:t> Press “=” then change the answer to decimal.</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Fallback>
      </mc:AlternateContent>
    </p:spTree>
    <p:extLst>
      <p:ext uri="{BB962C8B-B14F-4D97-AF65-F5344CB8AC3E}">
        <p14:creationId xmlns:p14="http://schemas.microsoft.com/office/powerpoint/2010/main" val="25927917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127ADE-D0B5-90DA-DF6B-D111A6D18F9D}"/>
              </a:ext>
            </a:extLst>
          </p:cNvPr>
          <p:cNvSpPr>
            <a:spLocks noGrp="1"/>
          </p:cNvSpPr>
          <p:nvPr>
            <p:ph type="sldNum" sz="quarter" idx="12"/>
          </p:nvPr>
        </p:nvSpPr>
        <p:spPr/>
        <p:txBody>
          <a:bodyPr/>
          <a:lstStyle/>
          <a:p>
            <a:fld id="{FBAE39DB-50DA-415B-9DF6-5539075545AD}" type="slidenum">
              <a:rPr lang="en-GB" smtClean="0"/>
              <a:t>83</a:t>
            </a:fld>
            <a:endParaRPr lang="en-GB"/>
          </a:p>
        </p:txBody>
      </p:sp>
      <p:pic>
        <p:nvPicPr>
          <p:cNvPr id="3" name="Picture 2" descr="A grid of graph paper&#10;&#10;Description automatically generated">
            <a:extLst>
              <a:ext uri="{FF2B5EF4-FFF2-40B4-BE49-F238E27FC236}">
                <a16:creationId xmlns:a16="http://schemas.microsoft.com/office/drawing/2014/main" id="{97D0AEDB-D782-475A-6A24-CAB327427A78}"/>
              </a:ext>
            </a:extLst>
          </p:cNvPr>
          <p:cNvPicPr>
            <a:picLocks noChangeAspect="1"/>
          </p:cNvPicPr>
          <p:nvPr/>
        </p:nvPicPr>
        <p:blipFill rotWithShape="1">
          <a:blip r:embed="rId2"/>
          <a:srcRect l="3926" t="12899" r="3568" b="73427"/>
          <a:stretch/>
        </p:blipFill>
        <p:spPr>
          <a:xfrm>
            <a:off x="33236" y="81451"/>
            <a:ext cx="4966135" cy="948696"/>
          </a:xfrm>
          <a:prstGeom prst="rect">
            <a:avLst/>
          </a:prstGeom>
        </p:spPr>
      </p:pic>
      <p:pic>
        <p:nvPicPr>
          <p:cNvPr id="4" name="Picture 3" descr="A grid of white squares&#10;&#10;Description automatically generated">
            <a:extLst>
              <a:ext uri="{FF2B5EF4-FFF2-40B4-BE49-F238E27FC236}">
                <a16:creationId xmlns:a16="http://schemas.microsoft.com/office/drawing/2014/main" id="{EEC5A212-45DB-D844-BE5B-F80F55E909E1}"/>
              </a:ext>
            </a:extLst>
          </p:cNvPr>
          <p:cNvPicPr>
            <a:picLocks noChangeAspect="1"/>
          </p:cNvPicPr>
          <p:nvPr/>
        </p:nvPicPr>
        <p:blipFill rotWithShape="1">
          <a:blip r:embed="rId2"/>
          <a:srcRect l="8371" t="12830" r="57358" b="73497"/>
          <a:stretch/>
        </p:blipFill>
        <p:spPr>
          <a:xfrm>
            <a:off x="4983502" y="78219"/>
            <a:ext cx="1839773" cy="948695"/>
          </a:xfrm>
          <a:prstGeom prst="rect">
            <a:avLst/>
          </a:prstGeom>
        </p:spPr>
      </p:pic>
      <p:sp>
        <p:nvSpPr>
          <p:cNvPr id="6" name="TextBox 5">
            <a:extLst>
              <a:ext uri="{FF2B5EF4-FFF2-40B4-BE49-F238E27FC236}">
                <a16:creationId xmlns:a16="http://schemas.microsoft.com/office/drawing/2014/main" id="{A28F46F2-DC12-B339-A653-21128A83F109}"/>
              </a:ext>
            </a:extLst>
          </p:cNvPr>
          <p:cNvSpPr txBox="1"/>
          <p:nvPr/>
        </p:nvSpPr>
        <p:spPr>
          <a:xfrm>
            <a:off x="1913873" y="1030549"/>
            <a:ext cx="1410704" cy="276999"/>
          </a:xfrm>
          <a:prstGeom prst="rect">
            <a:avLst/>
          </a:prstGeom>
          <a:noFill/>
          <a:ln>
            <a:noFill/>
          </a:ln>
        </p:spPr>
        <p:txBody>
          <a:bodyPr wrap="square" rtlCol="0">
            <a:spAutoFit/>
          </a:bodyPr>
          <a:lstStyle/>
          <a:p>
            <a:r>
              <a:rPr lang="en-GB" sz="1200" b="1" i="1" dirty="0">
                <a:solidFill>
                  <a:srgbClr val="FF0000"/>
                </a:solidFill>
              </a:rPr>
              <a:t>Example 7 - I do…</a:t>
            </a:r>
          </a:p>
        </p:txBody>
      </p:sp>
      <p:sp>
        <p:nvSpPr>
          <p:cNvPr id="7" name="TextBox 6">
            <a:extLst>
              <a:ext uri="{FF2B5EF4-FFF2-40B4-BE49-F238E27FC236}">
                <a16:creationId xmlns:a16="http://schemas.microsoft.com/office/drawing/2014/main" id="{0C84C3AE-4612-9987-8386-48C65F1858D5}"/>
              </a:ext>
            </a:extLst>
          </p:cNvPr>
          <p:cNvSpPr txBox="1"/>
          <p:nvPr/>
        </p:nvSpPr>
        <p:spPr>
          <a:xfrm>
            <a:off x="5116002" y="1018571"/>
            <a:ext cx="1643405" cy="276999"/>
          </a:xfrm>
          <a:prstGeom prst="rect">
            <a:avLst/>
          </a:prstGeom>
          <a:noFill/>
          <a:ln>
            <a:noFill/>
          </a:ln>
        </p:spPr>
        <p:txBody>
          <a:bodyPr wrap="square" rtlCol="0">
            <a:spAutoFit/>
          </a:bodyPr>
          <a:lstStyle/>
          <a:p>
            <a:r>
              <a:rPr lang="en-GB" sz="1200" b="1" i="1" dirty="0">
                <a:solidFill>
                  <a:srgbClr val="00B050"/>
                </a:solidFill>
              </a:rPr>
              <a:t>Example 9 – You do…</a:t>
            </a:r>
          </a:p>
        </p:txBody>
      </p:sp>
      <p:sp>
        <p:nvSpPr>
          <p:cNvPr id="8" name="TextBox 7">
            <a:extLst>
              <a:ext uri="{FF2B5EF4-FFF2-40B4-BE49-F238E27FC236}">
                <a16:creationId xmlns:a16="http://schemas.microsoft.com/office/drawing/2014/main" id="{D63F68C4-DED8-955C-29B5-EACF80DBE6D1}"/>
              </a:ext>
            </a:extLst>
          </p:cNvPr>
          <p:cNvSpPr txBox="1"/>
          <p:nvPr/>
        </p:nvSpPr>
        <p:spPr>
          <a:xfrm>
            <a:off x="3448397" y="1032198"/>
            <a:ext cx="1667605" cy="276999"/>
          </a:xfrm>
          <a:prstGeom prst="rect">
            <a:avLst/>
          </a:prstGeom>
          <a:noFill/>
          <a:ln>
            <a:noFill/>
          </a:ln>
        </p:spPr>
        <p:txBody>
          <a:bodyPr wrap="square" rtlCol="0">
            <a:spAutoFit/>
          </a:bodyPr>
          <a:lstStyle/>
          <a:p>
            <a:r>
              <a:rPr lang="en-GB" sz="1200" b="1" i="1" dirty="0">
                <a:solidFill>
                  <a:schemeClr val="accent2"/>
                </a:solidFill>
              </a:rPr>
              <a:t>Example 8 - We do…</a:t>
            </a: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641B58D3-5627-E958-E74A-0468AC79600D}"/>
                  </a:ext>
                </a:extLst>
              </p:cNvPr>
              <p:cNvGraphicFramePr>
                <a:graphicFrameLocks noGrp="1"/>
              </p:cNvGraphicFramePr>
              <p:nvPr/>
            </p:nvGraphicFramePr>
            <p:xfrm>
              <a:off x="157160" y="1364922"/>
              <a:ext cx="6543680" cy="1904809"/>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112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1) Press the square root button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Find </a:t>
                          </a:r>
                          <a14:m>
                            <m:oMath xmlns:m="http://schemas.openxmlformats.org/officeDocument/2006/math">
                              <m:rad>
                                <m:radPr>
                                  <m:degHide m:val="on"/>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49</m:t>
                                  </m:r>
                                </m:e>
                              </m:rad>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Find </a:t>
                          </a:r>
                          <a14:m>
                            <m:oMath xmlns:m="http://schemas.openxmlformats.org/officeDocument/2006/math">
                              <m:rad>
                                <m:radPr>
                                  <m:degHide m:val="on"/>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81</m:t>
                                  </m:r>
                                </m:e>
                              </m:rad>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Find </a:t>
                          </a:r>
                          <a14:m>
                            <m:oMath xmlns:m="http://schemas.openxmlformats.org/officeDocument/2006/math">
                              <m:rad>
                                <m:radPr>
                                  <m:degHide m:val="on"/>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144</m:t>
                                  </m:r>
                                </m:e>
                              </m:rad>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4806297"/>
                      </a:ext>
                    </a:extLst>
                  </a:tr>
                  <a:tr h="57573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Insert the digits into the correct places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8075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3)</a:t>
                          </a:r>
                          <a:r>
                            <a:rPr lang="en-US" sz="1200" baseline="0" dirty="0">
                              <a:solidFill>
                                <a:schemeClr val="tx1"/>
                              </a:solidFill>
                            </a:rPr>
                            <a:t> Press “=”.</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Choice>
        <mc:Fallback xmlns="">
          <p:graphicFrame>
            <p:nvGraphicFramePr>
              <p:cNvPr id="9" name="Table 8">
                <a:extLst>
                  <a:ext uri="{FF2B5EF4-FFF2-40B4-BE49-F238E27FC236}">
                    <a16:creationId xmlns:a16="http://schemas.microsoft.com/office/drawing/2014/main" id="{641B58D3-5627-E958-E74A-0468AC79600D}"/>
                  </a:ext>
                </a:extLst>
              </p:cNvPr>
              <p:cNvGraphicFramePr>
                <a:graphicFrameLocks noGrp="1"/>
              </p:cNvGraphicFramePr>
              <p:nvPr>
                <p:extLst>
                  <p:ext uri="{D42A27DB-BD31-4B8C-83A1-F6EECF244321}">
                    <p14:modId xmlns:p14="http://schemas.microsoft.com/office/powerpoint/2010/main" val="3715481352"/>
                  </p:ext>
                </p:extLst>
              </p:nvPr>
            </p:nvGraphicFramePr>
            <p:xfrm>
              <a:off x="157160" y="1364922"/>
              <a:ext cx="6543680" cy="1904809"/>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57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1) Press the square root button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7931" t="-662" r="-179310" b="-662"/>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8462" t="-662" r="-100000" b="-662"/>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75" t="-662" r="-775" b="-662"/>
                          </a:stretch>
                        </a:blipFill>
                      </a:tcPr>
                    </a:tc>
                    <a:extLst>
                      <a:ext uri="{0D108BD9-81ED-4DB2-BD59-A6C34878D82A}">
                        <a16:rowId xmlns:a16="http://schemas.microsoft.com/office/drawing/2014/main" val="2524806297"/>
                      </a:ext>
                    </a:extLst>
                  </a:tr>
                  <a:tr h="6400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Insert the digits into the correct places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8075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3)</a:t>
                          </a:r>
                          <a:r>
                            <a:rPr lang="en-US" sz="1200" baseline="0" dirty="0">
                              <a:solidFill>
                                <a:schemeClr val="tx1"/>
                              </a:solidFill>
                            </a:rPr>
                            <a:t> Press “=”.</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Fallback>
      </mc:AlternateContent>
      <p:pic>
        <p:nvPicPr>
          <p:cNvPr id="10" name="Picture 9" descr="A grid of graph paper&#10;&#10;Description automatically generated">
            <a:extLst>
              <a:ext uri="{FF2B5EF4-FFF2-40B4-BE49-F238E27FC236}">
                <a16:creationId xmlns:a16="http://schemas.microsoft.com/office/drawing/2014/main" id="{6D2CE0B7-9252-5ADD-EFE3-0D02D82D097F}"/>
              </a:ext>
            </a:extLst>
          </p:cNvPr>
          <p:cNvPicPr>
            <a:picLocks noChangeAspect="1"/>
          </p:cNvPicPr>
          <p:nvPr/>
        </p:nvPicPr>
        <p:blipFill rotWithShape="1">
          <a:blip r:embed="rId2"/>
          <a:srcRect l="3926" t="12899" r="3568" b="73427"/>
          <a:stretch/>
        </p:blipFill>
        <p:spPr>
          <a:xfrm>
            <a:off x="0" y="3373670"/>
            <a:ext cx="4966135" cy="948696"/>
          </a:xfrm>
          <a:prstGeom prst="rect">
            <a:avLst/>
          </a:prstGeom>
        </p:spPr>
      </p:pic>
      <p:pic>
        <p:nvPicPr>
          <p:cNvPr id="11" name="Picture 10" descr="A grid of white squares&#10;&#10;Description automatically generated">
            <a:extLst>
              <a:ext uri="{FF2B5EF4-FFF2-40B4-BE49-F238E27FC236}">
                <a16:creationId xmlns:a16="http://schemas.microsoft.com/office/drawing/2014/main" id="{C31ECFC3-58C8-2C55-A9C4-6D06261D2907}"/>
              </a:ext>
            </a:extLst>
          </p:cNvPr>
          <p:cNvPicPr>
            <a:picLocks noChangeAspect="1"/>
          </p:cNvPicPr>
          <p:nvPr/>
        </p:nvPicPr>
        <p:blipFill rotWithShape="1">
          <a:blip r:embed="rId2"/>
          <a:srcRect l="8371" t="12830" r="57358" b="73497"/>
          <a:stretch/>
        </p:blipFill>
        <p:spPr>
          <a:xfrm>
            <a:off x="4950266" y="3370438"/>
            <a:ext cx="1839773" cy="948695"/>
          </a:xfrm>
          <a:prstGeom prst="rect">
            <a:avLst/>
          </a:prstGeom>
        </p:spPr>
      </p:pic>
      <p:sp>
        <p:nvSpPr>
          <p:cNvPr id="12" name="TextBox 11">
            <a:extLst>
              <a:ext uri="{FF2B5EF4-FFF2-40B4-BE49-F238E27FC236}">
                <a16:creationId xmlns:a16="http://schemas.microsoft.com/office/drawing/2014/main" id="{952F22A7-FD87-1BF8-7436-E09D57E90F33}"/>
              </a:ext>
            </a:extLst>
          </p:cNvPr>
          <p:cNvSpPr txBox="1"/>
          <p:nvPr/>
        </p:nvSpPr>
        <p:spPr>
          <a:xfrm>
            <a:off x="1913873" y="4372776"/>
            <a:ext cx="1410704" cy="276999"/>
          </a:xfrm>
          <a:prstGeom prst="rect">
            <a:avLst/>
          </a:prstGeom>
          <a:noFill/>
          <a:ln>
            <a:noFill/>
          </a:ln>
        </p:spPr>
        <p:txBody>
          <a:bodyPr wrap="square" rtlCol="0">
            <a:spAutoFit/>
          </a:bodyPr>
          <a:lstStyle/>
          <a:p>
            <a:r>
              <a:rPr lang="en-GB" sz="1200" b="1" i="1" dirty="0">
                <a:solidFill>
                  <a:srgbClr val="FF0000"/>
                </a:solidFill>
              </a:rPr>
              <a:t>Example 10- I do…</a:t>
            </a:r>
          </a:p>
        </p:txBody>
      </p:sp>
      <p:sp>
        <p:nvSpPr>
          <p:cNvPr id="13" name="TextBox 12">
            <a:extLst>
              <a:ext uri="{FF2B5EF4-FFF2-40B4-BE49-F238E27FC236}">
                <a16:creationId xmlns:a16="http://schemas.microsoft.com/office/drawing/2014/main" id="{63B9B105-F68F-FD61-E501-2C7E015D5519}"/>
              </a:ext>
            </a:extLst>
          </p:cNvPr>
          <p:cNvSpPr txBox="1"/>
          <p:nvPr/>
        </p:nvSpPr>
        <p:spPr>
          <a:xfrm>
            <a:off x="5116002" y="4360798"/>
            <a:ext cx="1643405" cy="276999"/>
          </a:xfrm>
          <a:prstGeom prst="rect">
            <a:avLst/>
          </a:prstGeom>
          <a:noFill/>
          <a:ln>
            <a:noFill/>
          </a:ln>
        </p:spPr>
        <p:txBody>
          <a:bodyPr wrap="square" rtlCol="0">
            <a:spAutoFit/>
          </a:bodyPr>
          <a:lstStyle/>
          <a:p>
            <a:r>
              <a:rPr lang="en-GB" sz="1200" b="1" i="1" dirty="0">
                <a:solidFill>
                  <a:srgbClr val="00B050"/>
                </a:solidFill>
              </a:rPr>
              <a:t>Example 12 – You do…</a:t>
            </a:r>
          </a:p>
        </p:txBody>
      </p:sp>
      <p:sp>
        <p:nvSpPr>
          <p:cNvPr id="14" name="TextBox 13">
            <a:extLst>
              <a:ext uri="{FF2B5EF4-FFF2-40B4-BE49-F238E27FC236}">
                <a16:creationId xmlns:a16="http://schemas.microsoft.com/office/drawing/2014/main" id="{DE5B9FCF-6C74-1455-C92E-EC2C767E46B8}"/>
              </a:ext>
            </a:extLst>
          </p:cNvPr>
          <p:cNvSpPr txBox="1"/>
          <p:nvPr/>
        </p:nvSpPr>
        <p:spPr>
          <a:xfrm>
            <a:off x="3448397" y="4374425"/>
            <a:ext cx="1667605" cy="276999"/>
          </a:xfrm>
          <a:prstGeom prst="rect">
            <a:avLst/>
          </a:prstGeom>
          <a:noFill/>
          <a:ln>
            <a:noFill/>
          </a:ln>
        </p:spPr>
        <p:txBody>
          <a:bodyPr wrap="square" rtlCol="0">
            <a:spAutoFit/>
          </a:bodyPr>
          <a:lstStyle/>
          <a:p>
            <a:r>
              <a:rPr lang="en-GB" sz="1200" b="1" i="1" dirty="0">
                <a:solidFill>
                  <a:schemeClr val="accent2"/>
                </a:solidFill>
              </a:rPr>
              <a:t>Example 11 - We do…</a:t>
            </a:r>
          </a:p>
        </p:txBody>
      </p:sp>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84D2C907-3873-D8DA-2CAC-565101025A3B}"/>
                  </a:ext>
                </a:extLst>
              </p:cNvPr>
              <p:cNvGraphicFramePr>
                <a:graphicFrameLocks noGrp="1"/>
              </p:cNvGraphicFramePr>
              <p:nvPr/>
            </p:nvGraphicFramePr>
            <p:xfrm>
              <a:off x="157160" y="4707149"/>
              <a:ext cx="6543680" cy="1904809"/>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112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1) Press the “indices” button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Find </a:t>
                          </a:r>
                          <a14:m>
                            <m:oMath xmlns:m="http://schemas.openxmlformats.org/officeDocument/2006/math">
                              <m:sSup>
                                <m:sSup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14</m:t>
                                  </m:r>
                                </m:e>
                                <m:sup>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Find </a:t>
                          </a:r>
                          <a14:m>
                            <m:oMath xmlns:m="http://schemas.openxmlformats.org/officeDocument/2006/math">
                              <m:sSup>
                                <m:sSup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m:t>
                                  </m:r>
                                </m:e>
                                <m:sup>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p>
                              </m:sSup>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r>
                            <a:rPr kumimoji="0" lang="en-GB" sz="1200" b="0" i="0" u="none" strike="noStrike" kern="1200" cap="none" spc="0" normalizeH="0" baseline="0" noProof="0" dirty="0">
                              <a:ln>
                                <a:noFill/>
                              </a:ln>
                              <a:solidFill>
                                <a:prstClr val="black"/>
                              </a:solidFill>
                              <a:effectLst/>
                              <a:uLnTx/>
                              <a:uFillTx/>
                              <a:latin typeface="+mn-lt"/>
                              <a:ea typeface="+mn-ea"/>
                              <a:cs typeface="+mn-cs"/>
                            </a:rPr>
                            <a:t>Find </a:t>
                          </a:r>
                          <a14:m>
                            <m:oMath xmlns:m="http://schemas.openxmlformats.org/officeDocument/2006/math">
                              <m:sSup>
                                <m:sSup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16</m:t>
                                  </m:r>
                                </m:e>
                                <m:sup>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4806297"/>
                      </a:ext>
                    </a:extLst>
                  </a:tr>
                  <a:tr h="57573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Insert the digits into the correct places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8075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3)</a:t>
                          </a:r>
                          <a:r>
                            <a:rPr lang="en-US" sz="1200" baseline="0" dirty="0">
                              <a:solidFill>
                                <a:schemeClr val="tx1"/>
                              </a:solidFill>
                            </a:rPr>
                            <a:t> Press “=”.</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Choice>
        <mc:Fallback xmlns="">
          <p:graphicFrame>
            <p:nvGraphicFramePr>
              <p:cNvPr id="15" name="Table 14">
                <a:extLst>
                  <a:ext uri="{FF2B5EF4-FFF2-40B4-BE49-F238E27FC236}">
                    <a16:creationId xmlns:a16="http://schemas.microsoft.com/office/drawing/2014/main" id="{84D2C907-3873-D8DA-2CAC-565101025A3B}"/>
                  </a:ext>
                </a:extLst>
              </p:cNvPr>
              <p:cNvGraphicFramePr>
                <a:graphicFrameLocks noGrp="1"/>
              </p:cNvGraphicFramePr>
              <p:nvPr>
                <p:extLst>
                  <p:ext uri="{D42A27DB-BD31-4B8C-83A1-F6EECF244321}">
                    <p14:modId xmlns:p14="http://schemas.microsoft.com/office/powerpoint/2010/main" val="1358429321"/>
                  </p:ext>
                </p:extLst>
              </p:nvPr>
            </p:nvGraphicFramePr>
            <p:xfrm>
              <a:off x="157160" y="4707149"/>
              <a:ext cx="6543680" cy="1904809"/>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57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1) Press the “indices” button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7931" r="-179310" b="-662"/>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8462" r="-100000" b="-662"/>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775" r="-775" b="-662"/>
                          </a:stretch>
                        </a:blipFill>
                      </a:tcPr>
                    </a:tc>
                    <a:extLst>
                      <a:ext uri="{0D108BD9-81ED-4DB2-BD59-A6C34878D82A}">
                        <a16:rowId xmlns:a16="http://schemas.microsoft.com/office/drawing/2014/main" val="2524806297"/>
                      </a:ext>
                    </a:extLst>
                  </a:tr>
                  <a:tr h="6400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Insert the digits into the correct places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8075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3)</a:t>
                          </a:r>
                          <a:r>
                            <a:rPr lang="en-US" sz="1200" baseline="0" dirty="0">
                              <a:solidFill>
                                <a:schemeClr val="tx1"/>
                              </a:solidFill>
                            </a:rPr>
                            <a:t> Press “=”.</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Fallback>
      </mc:AlternateContent>
      <p:pic>
        <p:nvPicPr>
          <p:cNvPr id="16" name="Picture 15" descr="A grid of graph paper&#10;&#10;Description automatically generated">
            <a:extLst>
              <a:ext uri="{FF2B5EF4-FFF2-40B4-BE49-F238E27FC236}">
                <a16:creationId xmlns:a16="http://schemas.microsoft.com/office/drawing/2014/main" id="{08E4F912-21CD-5251-A1BA-0E88F858DF3A}"/>
              </a:ext>
            </a:extLst>
          </p:cNvPr>
          <p:cNvPicPr>
            <a:picLocks noChangeAspect="1"/>
          </p:cNvPicPr>
          <p:nvPr/>
        </p:nvPicPr>
        <p:blipFill rotWithShape="1">
          <a:blip r:embed="rId2"/>
          <a:srcRect l="3926" t="12899" r="3568" b="73427"/>
          <a:stretch/>
        </p:blipFill>
        <p:spPr>
          <a:xfrm>
            <a:off x="33236" y="6674961"/>
            <a:ext cx="4966135" cy="948696"/>
          </a:xfrm>
          <a:prstGeom prst="rect">
            <a:avLst/>
          </a:prstGeom>
        </p:spPr>
      </p:pic>
      <p:pic>
        <p:nvPicPr>
          <p:cNvPr id="17" name="Picture 16" descr="A grid of white squares&#10;&#10;Description automatically generated">
            <a:extLst>
              <a:ext uri="{FF2B5EF4-FFF2-40B4-BE49-F238E27FC236}">
                <a16:creationId xmlns:a16="http://schemas.microsoft.com/office/drawing/2014/main" id="{0065940B-1C72-7191-28EA-2FD4DF086CE1}"/>
              </a:ext>
            </a:extLst>
          </p:cNvPr>
          <p:cNvPicPr>
            <a:picLocks noChangeAspect="1"/>
          </p:cNvPicPr>
          <p:nvPr/>
        </p:nvPicPr>
        <p:blipFill rotWithShape="1">
          <a:blip r:embed="rId2"/>
          <a:srcRect l="8371" t="12830" r="57358" b="73497"/>
          <a:stretch/>
        </p:blipFill>
        <p:spPr>
          <a:xfrm>
            <a:off x="4983502" y="6671729"/>
            <a:ext cx="1839773" cy="948695"/>
          </a:xfrm>
          <a:prstGeom prst="rect">
            <a:avLst/>
          </a:prstGeom>
        </p:spPr>
      </p:pic>
      <p:sp>
        <p:nvSpPr>
          <p:cNvPr id="18" name="TextBox 17">
            <a:extLst>
              <a:ext uri="{FF2B5EF4-FFF2-40B4-BE49-F238E27FC236}">
                <a16:creationId xmlns:a16="http://schemas.microsoft.com/office/drawing/2014/main" id="{357BF349-7176-0716-565E-EE382C29637F}"/>
              </a:ext>
            </a:extLst>
          </p:cNvPr>
          <p:cNvSpPr txBox="1"/>
          <p:nvPr/>
        </p:nvSpPr>
        <p:spPr>
          <a:xfrm>
            <a:off x="1933270" y="7622559"/>
            <a:ext cx="1410704" cy="276999"/>
          </a:xfrm>
          <a:prstGeom prst="rect">
            <a:avLst/>
          </a:prstGeom>
          <a:noFill/>
          <a:ln>
            <a:noFill/>
          </a:ln>
        </p:spPr>
        <p:txBody>
          <a:bodyPr wrap="square" rtlCol="0">
            <a:spAutoFit/>
          </a:bodyPr>
          <a:lstStyle/>
          <a:p>
            <a:r>
              <a:rPr lang="en-GB" sz="1200" b="1" i="1" dirty="0">
                <a:solidFill>
                  <a:srgbClr val="FF0000"/>
                </a:solidFill>
              </a:rPr>
              <a:t>Example 13 - I do…</a:t>
            </a:r>
          </a:p>
        </p:txBody>
      </p:sp>
      <p:sp>
        <p:nvSpPr>
          <p:cNvPr id="19" name="TextBox 18">
            <a:extLst>
              <a:ext uri="{FF2B5EF4-FFF2-40B4-BE49-F238E27FC236}">
                <a16:creationId xmlns:a16="http://schemas.microsoft.com/office/drawing/2014/main" id="{1301305F-FA44-1243-44D1-8EB71AE2C0BE}"/>
              </a:ext>
            </a:extLst>
          </p:cNvPr>
          <p:cNvSpPr txBox="1"/>
          <p:nvPr/>
        </p:nvSpPr>
        <p:spPr>
          <a:xfrm>
            <a:off x="5135399" y="7610581"/>
            <a:ext cx="1643405" cy="276999"/>
          </a:xfrm>
          <a:prstGeom prst="rect">
            <a:avLst/>
          </a:prstGeom>
          <a:noFill/>
          <a:ln>
            <a:noFill/>
          </a:ln>
        </p:spPr>
        <p:txBody>
          <a:bodyPr wrap="square" rtlCol="0">
            <a:spAutoFit/>
          </a:bodyPr>
          <a:lstStyle/>
          <a:p>
            <a:r>
              <a:rPr lang="en-GB" sz="1200" b="1" i="1" dirty="0">
                <a:solidFill>
                  <a:srgbClr val="00B050"/>
                </a:solidFill>
              </a:rPr>
              <a:t>Example 15 – You do…</a:t>
            </a:r>
          </a:p>
        </p:txBody>
      </p:sp>
      <p:sp>
        <p:nvSpPr>
          <p:cNvPr id="20" name="TextBox 19">
            <a:extLst>
              <a:ext uri="{FF2B5EF4-FFF2-40B4-BE49-F238E27FC236}">
                <a16:creationId xmlns:a16="http://schemas.microsoft.com/office/drawing/2014/main" id="{DB133B3E-D140-7B7B-59F0-88E2511BF894}"/>
              </a:ext>
            </a:extLst>
          </p:cNvPr>
          <p:cNvSpPr txBox="1"/>
          <p:nvPr/>
        </p:nvSpPr>
        <p:spPr>
          <a:xfrm>
            <a:off x="3467794" y="7624208"/>
            <a:ext cx="1667605" cy="276999"/>
          </a:xfrm>
          <a:prstGeom prst="rect">
            <a:avLst/>
          </a:prstGeom>
          <a:noFill/>
          <a:ln>
            <a:noFill/>
          </a:ln>
        </p:spPr>
        <p:txBody>
          <a:bodyPr wrap="square" rtlCol="0">
            <a:spAutoFit/>
          </a:bodyPr>
          <a:lstStyle/>
          <a:p>
            <a:r>
              <a:rPr lang="en-GB" sz="1200" b="1" i="1" dirty="0">
                <a:solidFill>
                  <a:schemeClr val="accent2"/>
                </a:solidFill>
              </a:rPr>
              <a:t>Example 14 - We do…</a:t>
            </a:r>
          </a:p>
        </p:txBody>
      </p:sp>
      <mc:AlternateContent xmlns:mc="http://schemas.openxmlformats.org/markup-compatibility/2006" xmlns:a14="http://schemas.microsoft.com/office/drawing/2010/main">
        <mc:Choice Requires="a14">
          <p:graphicFrame>
            <p:nvGraphicFramePr>
              <p:cNvPr id="21" name="Table 20">
                <a:extLst>
                  <a:ext uri="{FF2B5EF4-FFF2-40B4-BE49-F238E27FC236}">
                    <a16:creationId xmlns:a16="http://schemas.microsoft.com/office/drawing/2014/main" id="{0E0EF7AC-F4F0-8B22-B94C-47727CCAE313}"/>
                  </a:ext>
                </a:extLst>
              </p:cNvPr>
              <p:cNvGraphicFramePr>
                <a:graphicFrameLocks noGrp="1"/>
              </p:cNvGraphicFramePr>
              <p:nvPr/>
            </p:nvGraphicFramePr>
            <p:xfrm>
              <a:off x="176557" y="7910632"/>
              <a:ext cx="6543680" cy="1904809"/>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112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1) Press ‘shift’ then the ‘root’ button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Find </a:t>
                          </a:r>
                          <a14:m>
                            <m:oMath xmlns:m="http://schemas.openxmlformats.org/officeDocument/2006/math">
                              <m:rad>
                                <m:rad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r>
                                    <m:rPr>
                                      <m:brk m:alnAt="7"/>
                                    </m:r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deg>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27</m:t>
                                  </m:r>
                                </m:e>
                              </m:rad>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Find </a:t>
                          </a:r>
                          <a14:m>
                            <m:oMath xmlns:m="http://schemas.openxmlformats.org/officeDocument/2006/math">
                              <m:rad>
                                <m:rad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r>
                                    <m:rPr>
                                      <m:brk m:alnAt="7"/>
                                    </m:r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m:t>
                                  </m:r>
                                </m:deg>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4096</m:t>
                                  </m:r>
                                </m:e>
                              </m:rad>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Find </a:t>
                          </a:r>
                          <a14:m>
                            <m:oMath xmlns:m="http://schemas.openxmlformats.org/officeDocument/2006/math">
                              <m:rad>
                                <m:rad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r>
                                    <m:rPr>
                                      <m:brk m:alnAt="7"/>
                                    </m:r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deg>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1024</m:t>
                                  </m:r>
                                </m:e>
                              </m:rad>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4806297"/>
                      </a:ext>
                    </a:extLst>
                  </a:tr>
                  <a:tr h="57573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Insert the digits into the correct places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8075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3)</a:t>
                          </a:r>
                          <a:r>
                            <a:rPr lang="en-US" sz="1200" baseline="0" dirty="0">
                              <a:solidFill>
                                <a:schemeClr val="tx1"/>
                              </a:solidFill>
                            </a:rPr>
                            <a:t> Press “=”.</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Choice>
        <mc:Fallback xmlns="">
          <p:graphicFrame>
            <p:nvGraphicFramePr>
              <p:cNvPr id="21" name="Table 20">
                <a:extLst>
                  <a:ext uri="{FF2B5EF4-FFF2-40B4-BE49-F238E27FC236}">
                    <a16:creationId xmlns:a16="http://schemas.microsoft.com/office/drawing/2014/main" id="{0E0EF7AC-F4F0-8B22-B94C-47727CCAE313}"/>
                  </a:ext>
                </a:extLst>
              </p:cNvPr>
              <p:cNvGraphicFramePr>
                <a:graphicFrameLocks noGrp="1"/>
              </p:cNvGraphicFramePr>
              <p:nvPr>
                <p:extLst>
                  <p:ext uri="{D42A27DB-BD31-4B8C-83A1-F6EECF244321}">
                    <p14:modId xmlns:p14="http://schemas.microsoft.com/office/powerpoint/2010/main" val="1542907618"/>
                  </p:ext>
                </p:extLst>
              </p:nvPr>
            </p:nvGraphicFramePr>
            <p:xfrm>
              <a:off x="176557" y="7910632"/>
              <a:ext cx="6543680" cy="1904809"/>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57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1) Press ‘shift’ then the ‘root’ button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7397" r="-178082" b="-1325"/>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9231" r="-100000" b="-1325"/>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1550" r="-775" b="-1325"/>
                          </a:stretch>
                        </a:blipFill>
                      </a:tcPr>
                    </a:tc>
                    <a:extLst>
                      <a:ext uri="{0D108BD9-81ED-4DB2-BD59-A6C34878D82A}">
                        <a16:rowId xmlns:a16="http://schemas.microsoft.com/office/drawing/2014/main" val="2524806297"/>
                      </a:ext>
                    </a:extLst>
                  </a:tr>
                  <a:tr h="6400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Insert the digits into the correct places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8075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3)</a:t>
                          </a:r>
                          <a:r>
                            <a:rPr lang="en-US" sz="1200" baseline="0" dirty="0">
                              <a:solidFill>
                                <a:schemeClr val="tx1"/>
                              </a:solidFill>
                            </a:rPr>
                            <a:t> Press “=”.</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Fallback>
      </mc:AlternateContent>
      <p:sp>
        <p:nvSpPr>
          <p:cNvPr id="22" name="TextBox 21">
            <a:extLst>
              <a:ext uri="{FF2B5EF4-FFF2-40B4-BE49-F238E27FC236}">
                <a16:creationId xmlns:a16="http://schemas.microsoft.com/office/drawing/2014/main" id="{6B2F22C3-0401-230D-58AB-9F72C193FAB5}"/>
              </a:ext>
            </a:extLst>
          </p:cNvPr>
          <p:cNvSpPr txBox="1"/>
          <p:nvPr/>
        </p:nvSpPr>
        <p:spPr>
          <a:xfrm>
            <a:off x="248344" y="50125"/>
            <a:ext cx="618431" cy="276999"/>
          </a:xfrm>
          <a:prstGeom prst="rect">
            <a:avLst/>
          </a:prstGeom>
          <a:noFill/>
        </p:spPr>
        <p:txBody>
          <a:bodyPr wrap="square">
            <a:spAutoFit/>
          </a:bodyPr>
          <a:lstStyle/>
          <a:p>
            <a:r>
              <a:rPr lang="en-US" sz="1200" b="1" dirty="0">
                <a:ea typeface="Calibri"/>
                <a:cs typeface="Calibri"/>
              </a:rPr>
              <a:t>Notes</a:t>
            </a:r>
            <a:r>
              <a:rPr lang="en-US" sz="1200" dirty="0">
                <a:ea typeface="Calibri"/>
                <a:cs typeface="Calibri"/>
              </a:rPr>
              <a:t>:</a:t>
            </a:r>
            <a:endParaRPr lang="en-US" sz="1200" dirty="0"/>
          </a:p>
        </p:txBody>
      </p:sp>
      <p:sp>
        <p:nvSpPr>
          <p:cNvPr id="23" name="TextBox 22">
            <a:extLst>
              <a:ext uri="{FF2B5EF4-FFF2-40B4-BE49-F238E27FC236}">
                <a16:creationId xmlns:a16="http://schemas.microsoft.com/office/drawing/2014/main" id="{DAC37FD8-87AA-0ECE-53C7-C133D5992F80}"/>
              </a:ext>
            </a:extLst>
          </p:cNvPr>
          <p:cNvSpPr txBox="1"/>
          <p:nvPr/>
        </p:nvSpPr>
        <p:spPr>
          <a:xfrm>
            <a:off x="182003" y="3327507"/>
            <a:ext cx="618431" cy="276999"/>
          </a:xfrm>
          <a:prstGeom prst="rect">
            <a:avLst/>
          </a:prstGeom>
          <a:noFill/>
        </p:spPr>
        <p:txBody>
          <a:bodyPr wrap="square">
            <a:spAutoFit/>
          </a:bodyPr>
          <a:lstStyle/>
          <a:p>
            <a:r>
              <a:rPr lang="en-US" sz="1200" b="1" dirty="0">
                <a:ea typeface="Calibri"/>
                <a:cs typeface="Calibri"/>
              </a:rPr>
              <a:t>Notes</a:t>
            </a:r>
            <a:r>
              <a:rPr lang="en-US" sz="1200" dirty="0">
                <a:ea typeface="Calibri"/>
                <a:cs typeface="Calibri"/>
              </a:rPr>
              <a:t>:</a:t>
            </a:r>
            <a:endParaRPr lang="en-US" sz="1200" dirty="0"/>
          </a:p>
        </p:txBody>
      </p:sp>
      <p:sp>
        <p:nvSpPr>
          <p:cNvPr id="24" name="TextBox 23">
            <a:extLst>
              <a:ext uri="{FF2B5EF4-FFF2-40B4-BE49-F238E27FC236}">
                <a16:creationId xmlns:a16="http://schemas.microsoft.com/office/drawing/2014/main" id="{73C8DF91-FE58-8F8D-F799-C74AD30D9E7A}"/>
              </a:ext>
            </a:extLst>
          </p:cNvPr>
          <p:cNvSpPr txBox="1"/>
          <p:nvPr/>
        </p:nvSpPr>
        <p:spPr>
          <a:xfrm>
            <a:off x="248344" y="6637133"/>
            <a:ext cx="618431" cy="276999"/>
          </a:xfrm>
          <a:prstGeom prst="rect">
            <a:avLst/>
          </a:prstGeom>
          <a:noFill/>
        </p:spPr>
        <p:txBody>
          <a:bodyPr wrap="square">
            <a:spAutoFit/>
          </a:bodyPr>
          <a:lstStyle/>
          <a:p>
            <a:r>
              <a:rPr lang="en-US" sz="1200" b="1" dirty="0">
                <a:ea typeface="Calibri"/>
                <a:cs typeface="Calibri"/>
              </a:rPr>
              <a:t>Notes</a:t>
            </a:r>
            <a:r>
              <a:rPr lang="en-US" sz="1200" dirty="0">
                <a:ea typeface="Calibri"/>
                <a:cs typeface="Calibri"/>
              </a:rPr>
              <a:t>:</a:t>
            </a:r>
            <a:endParaRPr lang="en-US" sz="1200" dirty="0"/>
          </a:p>
        </p:txBody>
      </p:sp>
    </p:spTree>
    <p:extLst>
      <p:ext uri="{BB962C8B-B14F-4D97-AF65-F5344CB8AC3E}">
        <p14:creationId xmlns:p14="http://schemas.microsoft.com/office/powerpoint/2010/main" val="8381150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C5DB0-B3EC-BBF0-F8E8-08873E869C43}"/>
            </a:ext>
          </a:extLst>
        </p:cNvPr>
        <p:cNvGrpSpPr/>
        <p:nvPr/>
      </p:nvGrpSpPr>
      <p:grpSpPr>
        <a:xfrm>
          <a:off x="0" y="0"/>
          <a:ext cx="0" cy="0"/>
          <a:chOff x="0" y="0"/>
          <a:chExt cx="0" cy="0"/>
        </a:xfrm>
      </p:grpSpPr>
      <p:pic>
        <p:nvPicPr>
          <p:cNvPr id="3" name="Picture 2" descr="A grid of graph paper&#10;&#10;Description automatically generated">
            <a:extLst>
              <a:ext uri="{FF2B5EF4-FFF2-40B4-BE49-F238E27FC236}">
                <a16:creationId xmlns:a16="http://schemas.microsoft.com/office/drawing/2014/main" id="{CD6E8C31-6CCA-BD68-49CC-A630A4C022CA}"/>
              </a:ext>
            </a:extLst>
          </p:cNvPr>
          <p:cNvPicPr>
            <a:picLocks noChangeAspect="1"/>
          </p:cNvPicPr>
          <p:nvPr/>
        </p:nvPicPr>
        <p:blipFill rotWithShape="1">
          <a:blip r:embed="rId2"/>
          <a:srcRect l="3926" t="12899" r="3568" b="73427"/>
          <a:stretch/>
        </p:blipFill>
        <p:spPr>
          <a:xfrm>
            <a:off x="33236" y="81451"/>
            <a:ext cx="4966135" cy="948696"/>
          </a:xfrm>
          <a:prstGeom prst="rect">
            <a:avLst/>
          </a:prstGeom>
        </p:spPr>
      </p:pic>
      <p:pic>
        <p:nvPicPr>
          <p:cNvPr id="4" name="Picture 3" descr="A grid of white squares&#10;&#10;Description automatically generated">
            <a:extLst>
              <a:ext uri="{FF2B5EF4-FFF2-40B4-BE49-F238E27FC236}">
                <a16:creationId xmlns:a16="http://schemas.microsoft.com/office/drawing/2014/main" id="{888CD0B4-6DB5-AD06-848E-57ED623DFAE8}"/>
              </a:ext>
            </a:extLst>
          </p:cNvPr>
          <p:cNvPicPr>
            <a:picLocks noChangeAspect="1"/>
          </p:cNvPicPr>
          <p:nvPr/>
        </p:nvPicPr>
        <p:blipFill rotWithShape="1">
          <a:blip r:embed="rId2"/>
          <a:srcRect l="8371" t="12830" r="57358" b="73497"/>
          <a:stretch/>
        </p:blipFill>
        <p:spPr>
          <a:xfrm>
            <a:off x="4983502" y="78219"/>
            <a:ext cx="1839773" cy="948695"/>
          </a:xfrm>
          <a:prstGeom prst="rect">
            <a:avLst/>
          </a:prstGeom>
        </p:spPr>
      </p:pic>
      <p:pic>
        <p:nvPicPr>
          <p:cNvPr id="10" name="Picture 9" descr="A grid of graph paper&#10;&#10;Description automatically generated">
            <a:extLst>
              <a:ext uri="{FF2B5EF4-FFF2-40B4-BE49-F238E27FC236}">
                <a16:creationId xmlns:a16="http://schemas.microsoft.com/office/drawing/2014/main" id="{CF58E686-6698-0135-CB4A-FE1D502B35CF}"/>
              </a:ext>
            </a:extLst>
          </p:cNvPr>
          <p:cNvPicPr>
            <a:picLocks noChangeAspect="1"/>
          </p:cNvPicPr>
          <p:nvPr/>
        </p:nvPicPr>
        <p:blipFill rotWithShape="1">
          <a:blip r:embed="rId2"/>
          <a:srcRect l="3926" t="12899" r="3568" b="73427"/>
          <a:stretch/>
        </p:blipFill>
        <p:spPr>
          <a:xfrm>
            <a:off x="0" y="3269495"/>
            <a:ext cx="4966135" cy="948696"/>
          </a:xfrm>
          <a:prstGeom prst="rect">
            <a:avLst/>
          </a:prstGeom>
        </p:spPr>
      </p:pic>
      <p:pic>
        <p:nvPicPr>
          <p:cNvPr id="11" name="Picture 10" descr="A grid of white squares&#10;&#10;Description automatically generated">
            <a:extLst>
              <a:ext uri="{FF2B5EF4-FFF2-40B4-BE49-F238E27FC236}">
                <a16:creationId xmlns:a16="http://schemas.microsoft.com/office/drawing/2014/main" id="{F8F0A854-8A7D-A947-953A-79B37DAB6A1D}"/>
              </a:ext>
            </a:extLst>
          </p:cNvPr>
          <p:cNvPicPr>
            <a:picLocks noChangeAspect="1"/>
          </p:cNvPicPr>
          <p:nvPr/>
        </p:nvPicPr>
        <p:blipFill rotWithShape="1">
          <a:blip r:embed="rId2"/>
          <a:srcRect l="8371" t="12830" r="57358" b="73497"/>
          <a:stretch/>
        </p:blipFill>
        <p:spPr>
          <a:xfrm>
            <a:off x="4950266" y="3266263"/>
            <a:ext cx="1839773" cy="948695"/>
          </a:xfrm>
          <a:prstGeom prst="rect">
            <a:avLst/>
          </a:prstGeom>
        </p:spPr>
      </p:pic>
      <p:pic>
        <p:nvPicPr>
          <p:cNvPr id="40" name="Picture 39" descr="A grid of graph paper&#10;&#10;Description automatically generated">
            <a:extLst>
              <a:ext uri="{FF2B5EF4-FFF2-40B4-BE49-F238E27FC236}">
                <a16:creationId xmlns:a16="http://schemas.microsoft.com/office/drawing/2014/main" id="{A389B906-DF9B-40F7-88D8-B78F8C91623C}"/>
              </a:ext>
            </a:extLst>
          </p:cNvPr>
          <p:cNvPicPr>
            <a:picLocks noChangeAspect="1"/>
          </p:cNvPicPr>
          <p:nvPr/>
        </p:nvPicPr>
        <p:blipFill rotWithShape="1">
          <a:blip r:embed="rId2"/>
          <a:srcRect l="3926" t="12899" r="3568" b="73427"/>
          <a:stretch/>
        </p:blipFill>
        <p:spPr>
          <a:xfrm>
            <a:off x="67961" y="6480336"/>
            <a:ext cx="4966135" cy="948696"/>
          </a:xfrm>
          <a:prstGeom prst="rect">
            <a:avLst/>
          </a:prstGeom>
        </p:spPr>
      </p:pic>
      <p:pic>
        <p:nvPicPr>
          <p:cNvPr id="41" name="Picture 40" descr="A grid of white squares&#10;&#10;Description automatically generated">
            <a:extLst>
              <a:ext uri="{FF2B5EF4-FFF2-40B4-BE49-F238E27FC236}">
                <a16:creationId xmlns:a16="http://schemas.microsoft.com/office/drawing/2014/main" id="{FAB13E71-4262-4D00-27E8-195D9E271B28}"/>
              </a:ext>
            </a:extLst>
          </p:cNvPr>
          <p:cNvPicPr>
            <a:picLocks noChangeAspect="1"/>
          </p:cNvPicPr>
          <p:nvPr/>
        </p:nvPicPr>
        <p:blipFill rotWithShape="1">
          <a:blip r:embed="rId2"/>
          <a:srcRect l="8371" t="12830" r="57358" b="73497"/>
          <a:stretch/>
        </p:blipFill>
        <p:spPr>
          <a:xfrm>
            <a:off x="5018227" y="6477104"/>
            <a:ext cx="1839773" cy="948695"/>
          </a:xfrm>
          <a:prstGeom prst="rect">
            <a:avLst/>
          </a:prstGeom>
        </p:spPr>
      </p:pic>
      <p:sp>
        <p:nvSpPr>
          <p:cNvPr id="2" name="TextBox 1">
            <a:extLst>
              <a:ext uri="{FF2B5EF4-FFF2-40B4-BE49-F238E27FC236}">
                <a16:creationId xmlns:a16="http://schemas.microsoft.com/office/drawing/2014/main" id="{62D36204-5719-BC90-6A93-A3E70B51A7E9}"/>
              </a:ext>
            </a:extLst>
          </p:cNvPr>
          <p:cNvSpPr txBox="1"/>
          <p:nvPr/>
        </p:nvSpPr>
        <p:spPr>
          <a:xfrm>
            <a:off x="248344" y="50125"/>
            <a:ext cx="618431" cy="276999"/>
          </a:xfrm>
          <a:prstGeom prst="rect">
            <a:avLst/>
          </a:prstGeom>
          <a:noFill/>
        </p:spPr>
        <p:txBody>
          <a:bodyPr wrap="square">
            <a:spAutoFit/>
          </a:bodyPr>
          <a:lstStyle/>
          <a:p>
            <a:r>
              <a:rPr lang="en-US" sz="1200" b="1" dirty="0">
                <a:ea typeface="Calibri"/>
                <a:cs typeface="Calibri"/>
              </a:rPr>
              <a:t>Notes</a:t>
            </a:r>
            <a:r>
              <a:rPr lang="en-US" sz="1200" dirty="0">
                <a:ea typeface="Calibri"/>
                <a:cs typeface="Calibri"/>
              </a:rPr>
              <a:t>:</a:t>
            </a:r>
            <a:endParaRPr lang="en-US" sz="1200" dirty="0"/>
          </a:p>
        </p:txBody>
      </p:sp>
      <p:sp>
        <p:nvSpPr>
          <p:cNvPr id="6" name="TextBox 5">
            <a:extLst>
              <a:ext uri="{FF2B5EF4-FFF2-40B4-BE49-F238E27FC236}">
                <a16:creationId xmlns:a16="http://schemas.microsoft.com/office/drawing/2014/main" id="{2A461A9A-CF4C-9F52-6562-B61C40A6BE6F}"/>
              </a:ext>
            </a:extLst>
          </p:cNvPr>
          <p:cNvSpPr txBox="1"/>
          <p:nvPr/>
        </p:nvSpPr>
        <p:spPr>
          <a:xfrm>
            <a:off x="191194" y="3249447"/>
            <a:ext cx="618431" cy="276999"/>
          </a:xfrm>
          <a:prstGeom prst="rect">
            <a:avLst/>
          </a:prstGeom>
          <a:noFill/>
        </p:spPr>
        <p:txBody>
          <a:bodyPr wrap="square">
            <a:spAutoFit/>
          </a:bodyPr>
          <a:lstStyle/>
          <a:p>
            <a:r>
              <a:rPr lang="en-US" sz="1200" b="1" dirty="0">
                <a:ea typeface="Calibri"/>
                <a:cs typeface="Calibri"/>
              </a:rPr>
              <a:t>Notes</a:t>
            </a:r>
            <a:r>
              <a:rPr lang="en-US" sz="1200" dirty="0">
                <a:ea typeface="Calibri"/>
                <a:cs typeface="Calibri"/>
              </a:rPr>
              <a:t>:</a:t>
            </a:r>
            <a:endParaRPr lang="en-US" sz="1200" dirty="0"/>
          </a:p>
        </p:txBody>
      </p:sp>
      <p:sp>
        <p:nvSpPr>
          <p:cNvPr id="7" name="TextBox 6">
            <a:extLst>
              <a:ext uri="{FF2B5EF4-FFF2-40B4-BE49-F238E27FC236}">
                <a16:creationId xmlns:a16="http://schemas.microsoft.com/office/drawing/2014/main" id="{0188F0E5-D5F6-909B-B8AC-89C4E2EC6CCA}"/>
              </a:ext>
            </a:extLst>
          </p:cNvPr>
          <p:cNvSpPr txBox="1"/>
          <p:nvPr/>
        </p:nvSpPr>
        <p:spPr>
          <a:xfrm>
            <a:off x="272503" y="6454048"/>
            <a:ext cx="618431" cy="276999"/>
          </a:xfrm>
          <a:prstGeom prst="rect">
            <a:avLst/>
          </a:prstGeom>
          <a:noFill/>
        </p:spPr>
        <p:txBody>
          <a:bodyPr wrap="square">
            <a:spAutoFit/>
          </a:bodyPr>
          <a:lstStyle/>
          <a:p>
            <a:r>
              <a:rPr lang="en-US" sz="1200" b="1" dirty="0">
                <a:ea typeface="Calibri"/>
                <a:cs typeface="Calibri"/>
              </a:rPr>
              <a:t>Notes</a:t>
            </a:r>
            <a:r>
              <a:rPr lang="en-US" sz="1200" dirty="0">
                <a:ea typeface="Calibri"/>
                <a:cs typeface="Calibri"/>
              </a:rPr>
              <a:t>:</a:t>
            </a:r>
            <a:endParaRPr lang="en-US" sz="1200" dirty="0"/>
          </a:p>
        </p:txBody>
      </p:sp>
      <p:sp>
        <p:nvSpPr>
          <p:cNvPr id="17" name="TextBox 16">
            <a:extLst>
              <a:ext uri="{FF2B5EF4-FFF2-40B4-BE49-F238E27FC236}">
                <a16:creationId xmlns:a16="http://schemas.microsoft.com/office/drawing/2014/main" id="{ACE537B6-6B60-3734-1F7A-157C299A934C}"/>
              </a:ext>
            </a:extLst>
          </p:cNvPr>
          <p:cNvSpPr txBox="1"/>
          <p:nvPr/>
        </p:nvSpPr>
        <p:spPr>
          <a:xfrm>
            <a:off x="1913873" y="946804"/>
            <a:ext cx="1410704" cy="276999"/>
          </a:xfrm>
          <a:prstGeom prst="rect">
            <a:avLst/>
          </a:prstGeom>
          <a:noFill/>
          <a:ln>
            <a:noFill/>
          </a:ln>
        </p:spPr>
        <p:txBody>
          <a:bodyPr wrap="square" rtlCol="0">
            <a:spAutoFit/>
          </a:bodyPr>
          <a:lstStyle/>
          <a:p>
            <a:r>
              <a:rPr lang="en-GB" sz="1200" b="1" i="1" dirty="0">
                <a:solidFill>
                  <a:srgbClr val="FF0000"/>
                </a:solidFill>
              </a:rPr>
              <a:t>Example 16 - I do…</a:t>
            </a:r>
          </a:p>
        </p:txBody>
      </p:sp>
      <p:sp>
        <p:nvSpPr>
          <p:cNvPr id="18" name="TextBox 17">
            <a:extLst>
              <a:ext uri="{FF2B5EF4-FFF2-40B4-BE49-F238E27FC236}">
                <a16:creationId xmlns:a16="http://schemas.microsoft.com/office/drawing/2014/main" id="{4BE323A1-3CD7-AE54-D528-BC56CF0297DA}"/>
              </a:ext>
            </a:extLst>
          </p:cNvPr>
          <p:cNvSpPr txBox="1"/>
          <p:nvPr/>
        </p:nvSpPr>
        <p:spPr>
          <a:xfrm>
            <a:off x="5116002" y="934826"/>
            <a:ext cx="1643405" cy="276999"/>
          </a:xfrm>
          <a:prstGeom prst="rect">
            <a:avLst/>
          </a:prstGeom>
          <a:noFill/>
          <a:ln>
            <a:noFill/>
          </a:ln>
        </p:spPr>
        <p:txBody>
          <a:bodyPr wrap="square" rtlCol="0">
            <a:spAutoFit/>
          </a:bodyPr>
          <a:lstStyle/>
          <a:p>
            <a:r>
              <a:rPr lang="en-GB" sz="1200" b="1" i="1" dirty="0">
                <a:solidFill>
                  <a:srgbClr val="00B050"/>
                </a:solidFill>
              </a:rPr>
              <a:t>Example 18 – You do…</a:t>
            </a:r>
          </a:p>
        </p:txBody>
      </p:sp>
      <p:sp>
        <p:nvSpPr>
          <p:cNvPr id="19" name="TextBox 18">
            <a:extLst>
              <a:ext uri="{FF2B5EF4-FFF2-40B4-BE49-F238E27FC236}">
                <a16:creationId xmlns:a16="http://schemas.microsoft.com/office/drawing/2014/main" id="{72EBA788-6DD6-20ED-2F8A-29EEE8B66A95}"/>
              </a:ext>
            </a:extLst>
          </p:cNvPr>
          <p:cNvSpPr txBox="1"/>
          <p:nvPr/>
        </p:nvSpPr>
        <p:spPr>
          <a:xfrm>
            <a:off x="3448397" y="948453"/>
            <a:ext cx="1667605" cy="276999"/>
          </a:xfrm>
          <a:prstGeom prst="rect">
            <a:avLst/>
          </a:prstGeom>
          <a:noFill/>
          <a:ln>
            <a:noFill/>
          </a:ln>
        </p:spPr>
        <p:txBody>
          <a:bodyPr wrap="square" rtlCol="0">
            <a:spAutoFit/>
          </a:bodyPr>
          <a:lstStyle/>
          <a:p>
            <a:r>
              <a:rPr lang="en-GB" sz="1200" b="1" i="1" dirty="0">
                <a:solidFill>
                  <a:schemeClr val="accent2"/>
                </a:solidFill>
              </a:rPr>
              <a:t>Example 17 - We do…</a:t>
            </a:r>
          </a:p>
        </p:txBody>
      </p:sp>
      <mc:AlternateContent xmlns:mc="http://schemas.openxmlformats.org/markup-compatibility/2006" xmlns:a14="http://schemas.microsoft.com/office/drawing/2010/main">
        <mc:Choice Requires="a14">
          <p:graphicFrame>
            <p:nvGraphicFramePr>
              <p:cNvPr id="20" name="Table 19">
                <a:extLst>
                  <a:ext uri="{FF2B5EF4-FFF2-40B4-BE49-F238E27FC236}">
                    <a16:creationId xmlns:a16="http://schemas.microsoft.com/office/drawing/2014/main" id="{C8DE53A4-D8CB-A54C-CD72-538117028A08}"/>
                  </a:ext>
                </a:extLst>
              </p:cNvPr>
              <p:cNvGraphicFramePr>
                <a:graphicFrameLocks noGrp="1"/>
              </p:cNvGraphicFramePr>
              <p:nvPr/>
            </p:nvGraphicFramePr>
            <p:xfrm>
              <a:off x="157160" y="1177002"/>
              <a:ext cx="6543680" cy="2023345"/>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112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1) Input the question exactly as it looks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4.2+3.2</m:t>
                                    </m:r>
                                  </m:e>
                                </m:d>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74</m:t>
                                </m:r>
                              </m:oMath>
                            </m:oMathPara>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14:m>
                            <m:oMathPara xmlns:m="http://schemas.openxmlformats.org/officeDocument/2006/math">
                              <m:oMathParaPr>
                                <m:jc m:val="centerGroup"/>
                              </m:oMathParaPr>
                              <m:oMath xmlns:m="http://schemas.openxmlformats.org/officeDocument/2006/math">
                                <m:d>
                                  <m:dPr>
                                    <m:ctrlPr>
                                      <a:rPr lang="en-GB" sz="1200" b="0" i="1" smtClean="0">
                                        <a:solidFill>
                                          <a:schemeClr val="tx1"/>
                                        </a:solidFill>
                                        <a:latin typeface="Cambria Math" panose="02040503050406030204" pitchFamily="18" charset="0"/>
                                      </a:rPr>
                                    </m:ctrlPr>
                                  </m:dPr>
                                  <m:e>
                                    <m:r>
                                      <a:rPr lang="en-GB" sz="1200" b="0" i="1" smtClean="0">
                                        <a:solidFill>
                                          <a:schemeClr val="tx1"/>
                                        </a:solidFill>
                                        <a:latin typeface="Cambria Math" panose="02040503050406030204" pitchFamily="18" charset="0"/>
                                      </a:rPr>
                                      <m:t>4.5+3.2</m:t>
                                    </m:r>
                                  </m:e>
                                </m:d>
                                <m:r>
                                  <a:rPr lang="en-GB" sz="1200" b="0" i="1" smtClean="0">
                                    <a:solidFill>
                                      <a:schemeClr val="tx1"/>
                                    </a:solidFill>
                                    <a:latin typeface="Cambria Math" panose="02040503050406030204" pitchFamily="18" charset="0"/>
                                  </a:rPr>
                                  <m:t> × 74 </m:t>
                                </m:r>
                              </m:oMath>
                            </m:oMathPara>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14:m>
                            <m:oMathPara xmlns:m="http://schemas.openxmlformats.org/officeDocument/2006/math">
                              <m:oMathParaPr>
                                <m:jc m:val="centerGroup"/>
                              </m:oMathParaPr>
                              <m:oMath xmlns:m="http://schemas.openxmlformats.org/officeDocument/2006/math">
                                <m:d>
                                  <m:dPr>
                                    <m:ctrlPr>
                                      <a:rPr lang="en-GB" sz="1200" b="0" i="1" smtClean="0">
                                        <a:solidFill>
                                          <a:schemeClr val="tx1"/>
                                        </a:solidFill>
                                        <a:latin typeface="Cambria Math" panose="02040503050406030204" pitchFamily="18" charset="0"/>
                                      </a:rPr>
                                    </m:ctrlPr>
                                  </m:dPr>
                                  <m:e>
                                    <m:r>
                                      <a:rPr lang="en-GB" sz="1200" b="0" i="1" smtClean="0">
                                        <a:solidFill>
                                          <a:schemeClr val="tx1"/>
                                        </a:solidFill>
                                        <a:latin typeface="Cambria Math" panose="02040503050406030204" pitchFamily="18" charset="0"/>
                                      </a:rPr>
                                      <m:t>4.5−3.2</m:t>
                                    </m:r>
                                  </m:e>
                                </m:d>
                                <m:r>
                                  <a:rPr lang="en-GB" sz="1200" b="0" i="1" smtClean="0">
                                    <a:solidFill>
                                      <a:schemeClr val="tx1"/>
                                    </a:solidFill>
                                    <a:latin typeface="Cambria Math" panose="02040503050406030204" pitchFamily="18" charset="0"/>
                                  </a:rPr>
                                  <m:t> × 74</m:t>
                                </m:r>
                              </m:oMath>
                            </m:oMathPara>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4806297"/>
                      </a:ext>
                    </a:extLst>
                  </a:tr>
                  <a:tr h="138326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Press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bl>
              </a:graphicData>
            </a:graphic>
          </p:graphicFrame>
        </mc:Choice>
        <mc:Fallback xmlns="">
          <p:graphicFrame>
            <p:nvGraphicFramePr>
              <p:cNvPr id="20" name="Table 19">
                <a:extLst>
                  <a:ext uri="{FF2B5EF4-FFF2-40B4-BE49-F238E27FC236}">
                    <a16:creationId xmlns:a16="http://schemas.microsoft.com/office/drawing/2014/main" id="{C8DE53A4-D8CB-A54C-CD72-538117028A08}"/>
                  </a:ext>
                </a:extLst>
              </p:cNvPr>
              <p:cNvGraphicFramePr>
                <a:graphicFrameLocks noGrp="1"/>
              </p:cNvGraphicFramePr>
              <p:nvPr>
                <p:extLst>
                  <p:ext uri="{D42A27DB-BD31-4B8C-83A1-F6EECF244321}">
                    <p14:modId xmlns:p14="http://schemas.microsoft.com/office/powerpoint/2010/main" val="3007387121"/>
                  </p:ext>
                </p:extLst>
              </p:nvPr>
            </p:nvGraphicFramePr>
            <p:xfrm>
              <a:off x="157160" y="1177002"/>
              <a:ext cx="6543680" cy="2023345"/>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6400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1) Input the question exactly as it looks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7931" r="-179310" b="-1250"/>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8462" r="-100000" b="-1250"/>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75" r="-775" b="-1250"/>
                          </a:stretch>
                        </a:blipFill>
                      </a:tcPr>
                    </a:tc>
                    <a:extLst>
                      <a:ext uri="{0D108BD9-81ED-4DB2-BD59-A6C34878D82A}">
                        <a16:rowId xmlns:a16="http://schemas.microsoft.com/office/drawing/2014/main" val="2524806297"/>
                      </a:ext>
                    </a:extLst>
                  </a:tr>
                  <a:tr h="138326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Press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bl>
              </a:graphicData>
            </a:graphic>
          </p:graphicFrame>
        </mc:Fallback>
      </mc:AlternateContent>
      <p:sp>
        <p:nvSpPr>
          <p:cNvPr id="21" name="TextBox 20">
            <a:extLst>
              <a:ext uri="{FF2B5EF4-FFF2-40B4-BE49-F238E27FC236}">
                <a16:creationId xmlns:a16="http://schemas.microsoft.com/office/drawing/2014/main" id="{E632C35C-0226-F047-2DE5-D78AC9CB5AA9}"/>
              </a:ext>
            </a:extLst>
          </p:cNvPr>
          <p:cNvSpPr txBox="1"/>
          <p:nvPr/>
        </p:nvSpPr>
        <p:spPr>
          <a:xfrm>
            <a:off x="1913873" y="4133137"/>
            <a:ext cx="1410704" cy="276999"/>
          </a:xfrm>
          <a:prstGeom prst="rect">
            <a:avLst/>
          </a:prstGeom>
          <a:noFill/>
          <a:ln>
            <a:noFill/>
          </a:ln>
        </p:spPr>
        <p:txBody>
          <a:bodyPr wrap="square" rtlCol="0">
            <a:spAutoFit/>
          </a:bodyPr>
          <a:lstStyle/>
          <a:p>
            <a:r>
              <a:rPr lang="en-GB" sz="1200" b="1" i="1" dirty="0">
                <a:solidFill>
                  <a:srgbClr val="FF0000"/>
                </a:solidFill>
              </a:rPr>
              <a:t>Example 19 - I do…</a:t>
            </a:r>
          </a:p>
        </p:txBody>
      </p:sp>
      <p:sp>
        <p:nvSpPr>
          <p:cNvPr id="25" name="TextBox 24">
            <a:extLst>
              <a:ext uri="{FF2B5EF4-FFF2-40B4-BE49-F238E27FC236}">
                <a16:creationId xmlns:a16="http://schemas.microsoft.com/office/drawing/2014/main" id="{F3E4757C-78D0-FA37-9147-61D6CD420493}"/>
              </a:ext>
            </a:extLst>
          </p:cNvPr>
          <p:cNvSpPr txBox="1"/>
          <p:nvPr/>
        </p:nvSpPr>
        <p:spPr>
          <a:xfrm>
            <a:off x="5116002" y="4121159"/>
            <a:ext cx="1643405" cy="276999"/>
          </a:xfrm>
          <a:prstGeom prst="rect">
            <a:avLst/>
          </a:prstGeom>
          <a:noFill/>
          <a:ln>
            <a:noFill/>
          </a:ln>
        </p:spPr>
        <p:txBody>
          <a:bodyPr wrap="square" rtlCol="0">
            <a:spAutoFit/>
          </a:bodyPr>
          <a:lstStyle/>
          <a:p>
            <a:r>
              <a:rPr lang="en-GB" sz="1200" b="1" i="1" dirty="0">
                <a:solidFill>
                  <a:srgbClr val="00B050"/>
                </a:solidFill>
              </a:rPr>
              <a:t>Example 21 – You do…</a:t>
            </a:r>
          </a:p>
        </p:txBody>
      </p:sp>
      <p:sp>
        <p:nvSpPr>
          <p:cNvPr id="26" name="TextBox 25">
            <a:extLst>
              <a:ext uri="{FF2B5EF4-FFF2-40B4-BE49-F238E27FC236}">
                <a16:creationId xmlns:a16="http://schemas.microsoft.com/office/drawing/2014/main" id="{E89D143B-8F3B-78FF-1374-3CE088AA7F3B}"/>
              </a:ext>
            </a:extLst>
          </p:cNvPr>
          <p:cNvSpPr txBox="1"/>
          <p:nvPr/>
        </p:nvSpPr>
        <p:spPr>
          <a:xfrm>
            <a:off x="3448397" y="4134786"/>
            <a:ext cx="1667605" cy="276999"/>
          </a:xfrm>
          <a:prstGeom prst="rect">
            <a:avLst/>
          </a:prstGeom>
          <a:noFill/>
          <a:ln>
            <a:noFill/>
          </a:ln>
        </p:spPr>
        <p:txBody>
          <a:bodyPr wrap="square" rtlCol="0">
            <a:spAutoFit/>
          </a:bodyPr>
          <a:lstStyle/>
          <a:p>
            <a:r>
              <a:rPr lang="en-GB" sz="1200" b="1" i="1" dirty="0">
                <a:solidFill>
                  <a:schemeClr val="accent2"/>
                </a:solidFill>
              </a:rPr>
              <a:t>Example 20 - We do…</a:t>
            </a:r>
          </a:p>
        </p:txBody>
      </p:sp>
      <mc:AlternateContent xmlns:mc="http://schemas.openxmlformats.org/markup-compatibility/2006" xmlns:a14="http://schemas.microsoft.com/office/drawing/2010/main">
        <mc:Choice Requires="a14">
          <p:graphicFrame>
            <p:nvGraphicFramePr>
              <p:cNvPr id="27" name="Table 26">
                <a:extLst>
                  <a:ext uri="{FF2B5EF4-FFF2-40B4-BE49-F238E27FC236}">
                    <a16:creationId xmlns:a16="http://schemas.microsoft.com/office/drawing/2014/main" id="{29A3F458-7D24-0D29-A737-BA69612B7C0D}"/>
                  </a:ext>
                </a:extLst>
              </p:cNvPr>
              <p:cNvGraphicFramePr>
                <a:graphicFrameLocks noGrp="1"/>
              </p:cNvGraphicFramePr>
              <p:nvPr/>
            </p:nvGraphicFramePr>
            <p:xfrm>
              <a:off x="157160" y="4385693"/>
              <a:ext cx="6543680" cy="1794505"/>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1794505">
                    <a:tc>
                      <a:txBody>
                        <a:bodyPr/>
                        <a:lstStyle/>
                        <a:p>
                          <a:pPr marL="228600" marR="0" lvl="0" indent="-228600" algn="l" defTabSz="685800" rtl="0" eaLnBrk="1" fontAlgn="auto" latinLnBrk="0" hangingPunct="1">
                            <a:lnSpc>
                              <a:spcPct val="100000"/>
                            </a:lnSpc>
                            <a:spcBef>
                              <a:spcPts val="0"/>
                            </a:spcBef>
                            <a:spcAft>
                              <a:spcPts val="0"/>
                            </a:spcAft>
                            <a:buClrTx/>
                            <a:buSzTx/>
                            <a:buFontTx/>
                            <a:buAutoNum type="arabicParenR"/>
                            <a:tabLst/>
                            <a:defRPr/>
                          </a:pPr>
                          <a:r>
                            <a:rPr lang="en-US" sz="1200" b="0" dirty="0">
                              <a:solidFill>
                                <a:schemeClr val="tx1"/>
                              </a:solidFill>
                            </a:rPr>
                            <a:t>Input the question exactly as it looks</a:t>
                          </a:r>
                        </a:p>
                        <a:p>
                          <a:pPr marL="228600" marR="0" lvl="0" indent="-228600" algn="l" defTabSz="685800" rtl="0" eaLnBrk="1" fontAlgn="auto" latinLnBrk="0" hangingPunct="1">
                            <a:lnSpc>
                              <a:spcPct val="100000"/>
                            </a:lnSpc>
                            <a:spcBef>
                              <a:spcPts val="0"/>
                            </a:spcBef>
                            <a:spcAft>
                              <a:spcPts val="0"/>
                            </a:spcAft>
                            <a:buClrTx/>
                            <a:buSzTx/>
                            <a:buFontTx/>
                            <a:buAutoNum type="arabicParenR"/>
                            <a:tabLst/>
                            <a:defRPr/>
                          </a:pPr>
                          <a:r>
                            <a:rPr lang="en-US" sz="1200" b="0" dirty="0">
                              <a:solidFill>
                                <a:schemeClr val="tx1"/>
                              </a:solidFill>
                            </a:rPr>
                            <a:t>Use the arrows to navigate to different parts of the fraction</a:t>
                          </a:r>
                        </a:p>
                        <a:p>
                          <a:pPr marL="228600" marR="0" lvl="0" indent="-228600" algn="l" defTabSz="685800" rtl="0" eaLnBrk="1" fontAlgn="auto" latinLnBrk="0" hangingPunct="1">
                            <a:lnSpc>
                              <a:spcPct val="100000"/>
                            </a:lnSpc>
                            <a:spcBef>
                              <a:spcPts val="0"/>
                            </a:spcBef>
                            <a:spcAft>
                              <a:spcPts val="0"/>
                            </a:spcAft>
                            <a:buClrTx/>
                            <a:buSzTx/>
                            <a:buFontTx/>
                            <a:buAutoNum type="arabicParenR"/>
                            <a:tabLst/>
                            <a:defRPr/>
                          </a:pPr>
                          <a:r>
                            <a:rPr lang="en-US" sz="1200" b="0" dirty="0">
                              <a:solidFill>
                                <a:schemeClr val="tx1"/>
                              </a:solidFill>
                            </a:rPr>
                            <a:t>Press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p>
                                      <m:sSup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22</m:t>
                                        </m:r>
                                      </m:e>
                                      <m:sup>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num>
                                  <m:den>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ad>
                                      <m:radPr>
                                        <m:degHide m:val="on"/>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9.4−5.3</m:t>
                                        </m:r>
                                      </m:e>
                                    </m:rad>
                                  </m:den>
                                </m:f>
                              </m:oMath>
                            </m:oMathPara>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GB" sz="1200" b="0" i="1" smtClean="0">
                                        <a:solidFill>
                                          <a:schemeClr val="tx1"/>
                                        </a:solidFill>
                                        <a:latin typeface="Cambria Math" panose="02040503050406030204" pitchFamily="18" charset="0"/>
                                      </a:rPr>
                                    </m:ctrlPr>
                                  </m:fPr>
                                  <m:num>
                                    <m:r>
                                      <a:rPr lang="en-GB" sz="1200" b="0" i="1" smtClean="0">
                                        <a:solidFill>
                                          <a:schemeClr val="tx1"/>
                                        </a:solidFill>
                                        <a:latin typeface="Cambria Math" panose="02040503050406030204" pitchFamily="18" charset="0"/>
                                      </a:rPr>
                                      <m:t>18.2+7.4</m:t>
                                    </m:r>
                                  </m:num>
                                  <m:den>
                                    <m:rad>
                                      <m:radPr>
                                        <m:degHide m:val="on"/>
                                        <m:ctrlPr>
                                          <a:rPr lang="en-GB" sz="1200" b="0" i="1" smtClean="0">
                                            <a:solidFill>
                                              <a:schemeClr val="tx1"/>
                                            </a:solidFill>
                                            <a:latin typeface="Cambria Math" panose="02040503050406030204" pitchFamily="18" charset="0"/>
                                          </a:rPr>
                                        </m:ctrlPr>
                                      </m:radPr>
                                      <m:deg/>
                                      <m:e>
                                        <m:r>
                                          <a:rPr lang="en-GB" sz="1200" b="0" i="1" smtClean="0">
                                            <a:solidFill>
                                              <a:schemeClr val="tx1"/>
                                            </a:solidFill>
                                            <a:latin typeface="Cambria Math" panose="02040503050406030204" pitchFamily="18" charset="0"/>
                                          </a:rPr>
                                          <m:t>9.22</m:t>
                                        </m:r>
                                      </m:e>
                                    </m:rad>
                                    <m:r>
                                      <a:rPr lang="en-GB" sz="1200" b="0" i="1" smtClean="0">
                                        <a:solidFill>
                                          <a:schemeClr val="tx1"/>
                                        </a:solidFill>
                                        <a:latin typeface="Cambria Math" panose="02040503050406030204" pitchFamily="18" charset="0"/>
                                      </a:rPr>
                                      <m:t> −</m:t>
                                    </m:r>
                                    <m:sSup>
                                      <m:sSupPr>
                                        <m:ctrlPr>
                                          <a:rPr lang="en-GB" sz="1200" b="0" i="1" smtClean="0">
                                            <a:solidFill>
                                              <a:schemeClr val="tx1"/>
                                            </a:solidFill>
                                            <a:latin typeface="Cambria Math" panose="02040503050406030204" pitchFamily="18" charset="0"/>
                                          </a:rPr>
                                        </m:ctrlPr>
                                      </m:sSupPr>
                                      <m:e>
                                        <m:r>
                                          <a:rPr lang="en-GB" sz="1200" b="0" i="1" smtClean="0">
                                            <a:solidFill>
                                              <a:schemeClr val="tx1"/>
                                            </a:solidFill>
                                            <a:latin typeface="Cambria Math" panose="02040503050406030204" pitchFamily="18" charset="0"/>
                                          </a:rPr>
                                          <m:t>1.2</m:t>
                                        </m:r>
                                      </m:e>
                                      <m:sup>
                                        <m:r>
                                          <a:rPr lang="en-GB" sz="1200" b="0" i="1" smtClean="0">
                                            <a:solidFill>
                                              <a:schemeClr val="tx1"/>
                                            </a:solidFill>
                                            <a:latin typeface="Cambria Math" panose="02040503050406030204" pitchFamily="18" charset="0"/>
                                          </a:rPr>
                                          <m:t>2</m:t>
                                        </m:r>
                                      </m:sup>
                                    </m:sSup>
                                  </m:den>
                                </m:f>
                              </m:oMath>
                            </m:oMathPara>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GB" sz="1200" b="0" i="1" smtClean="0">
                                        <a:solidFill>
                                          <a:schemeClr val="tx1"/>
                                        </a:solidFill>
                                        <a:latin typeface="Cambria Math" panose="02040503050406030204" pitchFamily="18" charset="0"/>
                                      </a:rPr>
                                    </m:ctrlPr>
                                  </m:fPr>
                                  <m:num>
                                    <m:rad>
                                      <m:radPr>
                                        <m:degHide m:val="on"/>
                                        <m:ctrlPr>
                                          <a:rPr lang="en-GB" sz="1200" b="0" i="1" smtClean="0">
                                            <a:solidFill>
                                              <a:schemeClr val="tx1"/>
                                            </a:solidFill>
                                            <a:latin typeface="Cambria Math" panose="02040503050406030204" pitchFamily="18" charset="0"/>
                                          </a:rPr>
                                        </m:ctrlPr>
                                      </m:radPr>
                                      <m:deg/>
                                      <m:e>
                                        <m:r>
                                          <a:rPr lang="en-GB" sz="1200" b="0" i="1" smtClean="0">
                                            <a:solidFill>
                                              <a:schemeClr val="tx1"/>
                                            </a:solidFill>
                                            <a:latin typeface="Cambria Math" panose="02040503050406030204" pitchFamily="18" charset="0"/>
                                          </a:rPr>
                                          <m:t>17.8+</m:t>
                                        </m:r>
                                        <m:sSup>
                                          <m:sSupPr>
                                            <m:ctrlPr>
                                              <a:rPr lang="en-GB" sz="1200" b="0" i="1" smtClean="0">
                                                <a:solidFill>
                                                  <a:schemeClr val="tx1"/>
                                                </a:solidFill>
                                                <a:latin typeface="Cambria Math" panose="02040503050406030204" pitchFamily="18" charset="0"/>
                                              </a:rPr>
                                            </m:ctrlPr>
                                          </m:sSupPr>
                                          <m:e>
                                            <m:r>
                                              <a:rPr lang="en-GB" sz="1200" b="0" i="1" smtClean="0">
                                                <a:solidFill>
                                                  <a:schemeClr val="tx1"/>
                                                </a:solidFill>
                                                <a:latin typeface="Cambria Math" panose="02040503050406030204" pitchFamily="18" charset="0"/>
                                              </a:rPr>
                                              <m:t>9.93</m:t>
                                            </m:r>
                                          </m:e>
                                          <m:sup>
                                            <m:r>
                                              <a:rPr lang="en-GB" sz="1200" b="0" i="1" smtClean="0">
                                                <a:solidFill>
                                                  <a:schemeClr val="tx1"/>
                                                </a:solidFill>
                                                <a:latin typeface="Cambria Math" panose="02040503050406030204" pitchFamily="18" charset="0"/>
                                              </a:rPr>
                                              <m:t>2</m:t>
                                            </m:r>
                                          </m:sup>
                                        </m:sSup>
                                      </m:e>
                                    </m:rad>
                                  </m:num>
                                  <m:den>
                                    <m:r>
                                      <a:rPr lang="en-GB" sz="1200" b="0" i="1" smtClean="0">
                                        <a:solidFill>
                                          <a:schemeClr val="tx1"/>
                                        </a:solidFill>
                                        <a:latin typeface="Cambria Math" panose="02040503050406030204" pitchFamily="18" charset="0"/>
                                      </a:rPr>
                                      <m:t>1.25−5.9</m:t>
                                    </m:r>
                                  </m:den>
                                </m:f>
                              </m:oMath>
                            </m:oMathPara>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4806297"/>
                      </a:ext>
                    </a:extLst>
                  </a:tr>
                </a:tbl>
              </a:graphicData>
            </a:graphic>
          </p:graphicFrame>
        </mc:Choice>
        <mc:Fallback xmlns="">
          <p:graphicFrame>
            <p:nvGraphicFramePr>
              <p:cNvPr id="27" name="Table 26">
                <a:extLst>
                  <a:ext uri="{FF2B5EF4-FFF2-40B4-BE49-F238E27FC236}">
                    <a16:creationId xmlns:a16="http://schemas.microsoft.com/office/drawing/2014/main" id="{29A3F458-7D24-0D29-A737-BA69612B7C0D}"/>
                  </a:ext>
                </a:extLst>
              </p:cNvPr>
              <p:cNvGraphicFramePr>
                <a:graphicFrameLocks noGrp="1"/>
              </p:cNvGraphicFramePr>
              <p:nvPr/>
            </p:nvGraphicFramePr>
            <p:xfrm>
              <a:off x="157160" y="4385693"/>
              <a:ext cx="6543680" cy="1794505"/>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1794505">
                    <a:tc>
                      <a:txBody>
                        <a:bodyPr/>
                        <a:lstStyle/>
                        <a:p>
                          <a:pPr marL="228600" marR="0" lvl="0" indent="-228600" algn="l" defTabSz="685800" rtl="0" eaLnBrk="1" fontAlgn="auto" latinLnBrk="0" hangingPunct="1">
                            <a:lnSpc>
                              <a:spcPct val="100000"/>
                            </a:lnSpc>
                            <a:spcBef>
                              <a:spcPts val="0"/>
                            </a:spcBef>
                            <a:spcAft>
                              <a:spcPts val="0"/>
                            </a:spcAft>
                            <a:buClrTx/>
                            <a:buSzTx/>
                            <a:buFontTx/>
                            <a:buAutoNum type="arabicParenR"/>
                            <a:tabLst/>
                            <a:defRPr/>
                          </a:pPr>
                          <a:r>
                            <a:rPr lang="en-US" sz="1200" b="0" dirty="0">
                              <a:solidFill>
                                <a:schemeClr val="tx1"/>
                              </a:solidFill>
                            </a:rPr>
                            <a:t>Input the question exactly as it looks</a:t>
                          </a:r>
                        </a:p>
                        <a:p>
                          <a:pPr marL="228600" marR="0" lvl="0" indent="-228600" algn="l" defTabSz="685800" rtl="0" eaLnBrk="1" fontAlgn="auto" latinLnBrk="0" hangingPunct="1">
                            <a:lnSpc>
                              <a:spcPct val="100000"/>
                            </a:lnSpc>
                            <a:spcBef>
                              <a:spcPts val="0"/>
                            </a:spcBef>
                            <a:spcAft>
                              <a:spcPts val="0"/>
                            </a:spcAft>
                            <a:buClrTx/>
                            <a:buSzTx/>
                            <a:buFontTx/>
                            <a:buAutoNum type="arabicParenR"/>
                            <a:tabLst/>
                            <a:defRPr/>
                          </a:pPr>
                          <a:r>
                            <a:rPr lang="en-US" sz="1200" b="0" dirty="0">
                              <a:solidFill>
                                <a:schemeClr val="tx1"/>
                              </a:solidFill>
                            </a:rPr>
                            <a:t>Use the arrows to navigate to different parts of the fraction</a:t>
                          </a:r>
                        </a:p>
                        <a:p>
                          <a:pPr marL="228600" marR="0" lvl="0" indent="-228600" algn="l" defTabSz="685800" rtl="0" eaLnBrk="1" fontAlgn="auto" latinLnBrk="0" hangingPunct="1">
                            <a:lnSpc>
                              <a:spcPct val="100000"/>
                            </a:lnSpc>
                            <a:spcBef>
                              <a:spcPts val="0"/>
                            </a:spcBef>
                            <a:spcAft>
                              <a:spcPts val="0"/>
                            </a:spcAft>
                            <a:buClrTx/>
                            <a:buSzTx/>
                            <a:buFontTx/>
                            <a:buAutoNum type="arabicParenR"/>
                            <a:tabLst/>
                            <a:defRPr/>
                          </a:pPr>
                          <a:r>
                            <a:rPr lang="en-US" sz="1200" b="0" dirty="0">
                              <a:solidFill>
                                <a:schemeClr val="tx1"/>
                              </a:solidFill>
                            </a:rPr>
                            <a:t>Press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6645" t="-339" r="-177961" b="-6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8889" t="-339" r="-100370" b="-6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000" t="-339" r="-743" b="-678"/>
                          </a:stretch>
                        </a:blipFill>
                      </a:tcPr>
                    </a:tc>
                    <a:extLst>
                      <a:ext uri="{0D108BD9-81ED-4DB2-BD59-A6C34878D82A}">
                        <a16:rowId xmlns:a16="http://schemas.microsoft.com/office/drawing/2014/main" val="2524806297"/>
                      </a:ext>
                    </a:extLst>
                  </a:tr>
                </a:tbl>
              </a:graphicData>
            </a:graphic>
          </p:graphicFrame>
        </mc:Fallback>
      </mc:AlternateContent>
      <p:sp>
        <p:nvSpPr>
          <p:cNvPr id="38" name="TextBox 37">
            <a:extLst>
              <a:ext uri="{FF2B5EF4-FFF2-40B4-BE49-F238E27FC236}">
                <a16:creationId xmlns:a16="http://schemas.microsoft.com/office/drawing/2014/main" id="{2AF77158-C0AA-69E7-19DA-D77DB332797E}"/>
              </a:ext>
            </a:extLst>
          </p:cNvPr>
          <p:cNvSpPr txBox="1"/>
          <p:nvPr/>
        </p:nvSpPr>
        <p:spPr>
          <a:xfrm>
            <a:off x="1944505" y="7378695"/>
            <a:ext cx="1410704" cy="276999"/>
          </a:xfrm>
          <a:prstGeom prst="rect">
            <a:avLst/>
          </a:prstGeom>
          <a:noFill/>
          <a:ln>
            <a:noFill/>
          </a:ln>
        </p:spPr>
        <p:txBody>
          <a:bodyPr wrap="square" rtlCol="0">
            <a:spAutoFit/>
          </a:bodyPr>
          <a:lstStyle/>
          <a:p>
            <a:r>
              <a:rPr lang="en-GB" sz="1200" b="1" i="1" dirty="0">
                <a:solidFill>
                  <a:srgbClr val="FF0000"/>
                </a:solidFill>
              </a:rPr>
              <a:t>Example 22 - I do…</a:t>
            </a:r>
          </a:p>
        </p:txBody>
      </p:sp>
      <p:sp>
        <p:nvSpPr>
          <p:cNvPr id="39" name="TextBox 38">
            <a:extLst>
              <a:ext uri="{FF2B5EF4-FFF2-40B4-BE49-F238E27FC236}">
                <a16:creationId xmlns:a16="http://schemas.microsoft.com/office/drawing/2014/main" id="{A1BA2606-9435-AF39-1CD4-8AFE290D10D2}"/>
              </a:ext>
            </a:extLst>
          </p:cNvPr>
          <p:cNvSpPr txBox="1"/>
          <p:nvPr/>
        </p:nvSpPr>
        <p:spPr>
          <a:xfrm>
            <a:off x="5146634" y="7366717"/>
            <a:ext cx="1643405" cy="276999"/>
          </a:xfrm>
          <a:prstGeom prst="rect">
            <a:avLst/>
          </a:prstGeom>
          <a:noFill/>
          <a:ln>
            <a:noFill/>
          </a:ln>
        </p:spPr>
        <p:txBody>
          <a:bodyPr wrap="square" rtlCol="0">
            <a:spAutoFit/>
          </a:bodyPr>
          <a:lstStyle/>
          <a:p>
            <a:r>
              <a:rPr lang="en-GB" sz="1200" b="1" i="1" dirty="0">
                <a:solidFill>
                  <a:srgbClr val="00B050"/>
                </a:solidFill>
              </a:rPr>
              <a:t>Example 24 – You do…</a:t>
            </a:r>
          </a:p>
        </p:txBody>
      </p:sp>
      <p:sp>
        <p:nvSpPr>
          <p:cNvPr id="42" name="TextBox 41">
            <a:extLst>
              <a:ext uri="{FF2B5EF4-FFF2-40B4-BE49-F238E27FC236}">
                <a16:creationId xmlns:a16="http://schemas.microsoft.com/office/drawing/2014/main" id="{0C4F72E2-AB8D-6621-2697-03D00A97D67C}"/>
              </a:ext>
            </a:extLst>
          </p:cNvPr>
          <p:cNvSpPr txBox="1"/>
          <p:nvPr/>
        </p:nvSpPr>
        <p:spPr>
          <a:xfrm>
            <a:off x="3479029" y="7380344"/>
            <a:ext cx="1667605" cy="276999"/>
          </a:xfrm>
          <a:prstGeom prst="rect">
            <a:avLst/>
          </a:prstGeom>
          <a:noFill/>
          <a:ln>
            <a:noFill/>
          </a:ln>
        </p:spPr>
        <p:txBody>
          <a:bodyPr wrap="square" rtlCol="0">
            <a:spAutoFit/>
          </a:bodyPr>
          <a:lstStyle/>
          <a:p>
            <a:r>
              <a:rPr lang="en-GB" sz="1200" b="1" i="1" dirty="0">
                <a:solidFill>
                  <a:schemeClr val="accent2"/>
                </a:solidFill>
              </a:rPr>
              <a:t>Example 23 - We do…</a:t>
            </a:r>
          </a:p>
        </p:txBody>
      </p:sp>
      <mc:AlternateContent xmlns:mc="http://schemas.openxmlformats.org/markup-compatibility/2006" xmlns:a14="http://schemas.microsoft.com/office/drawing/2010/main">
        <mc:Choice Requires="a14">
          <p:graphicFrame>
            <p:nvGraphicFramePr>
              <p:cNvPr id="43" name="Table 42">
                <a:extLst>
                  <a:ext uri="{FF2B5EF4-FFF2-40B4-BE49-F238E27FC236}">
                    <a16:creationId xmlns:a16="http://schemas.microsoft.com/office/drawing/2014/main" id="{E87D931A-89C1-80ED-B84E-803330CDC83E}"/>
                  </a:ext>
                </a:extLst>
              </p:cNvPr>
              <p:cNvGraphicFramePr>
                <a:graphicFrameLocks noGrp="1"/>
              </p:cNvGraphicFramePr>
              <p:nvPr/>
            </p:nvGraphicFramePr>
            <p:xfrm>
              <a:off x="187792" y="7646262"/>
              <a:ext cx="6543680" cy="2023345"/>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112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1) Input the question exactly as it looks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𝜋</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e>
                                  <m:sup>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m:oMathPara>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12</m:t>
                                </m:r>
                                <m:r>
                                  <m:rPr>
                                    <m:sty m:val="p"/>
                                  </m:rPr>
                                  <a:rPr lang="en-GB" sz="1200" b="0" i="0" smtClean="0">
                                    <a:solidFill>
                                      <a:schemeClr val="tx1"/>
                                    </a:solidFill>
                                    <a:latin typeface="Cambria Math" panose="02040503050406030204" pitchFamily="18" charset="0"/>
                                  </a:rPr>
                                  <m:t>cos</m:t>
                                </m:r>
                                <m:r>
                                  <a:rPr lang="en-GB" sz="1200" b="0" i="1" smtClean="0">
                                    <a:solidFill>
                                      <a:schemeClr val="tx1"/>
                                    </a:solidFill>
                                    <a:latin typeface="Cambria Math" panose="02040503050406030204" pitchFamily="18" charset="0"/>
                                  </a:rPr>
                                  <m:t>⁡(45)</m:t>
                                </m:r>
                              </m:oMath>
                            </m:oMathPara>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smtClean="0">
                                        <a:solidFill>
                                          <a:schemeClr val="tx1"/>
                                        </a:solidFill>
                                        <a:latin typeface="Cambria Math" panose="02040503050406030204" pitchFamily="18" charset="0"/>
                                      </a:rPr>
                                    </m:ctrlPr>
                                  </m:fPr>
                                  <m:num>
                                    <m:r>
                                      <a:rPr lang="en-GB" sz="1200" b="0" i="1" smtClean="0">
                                        <a:solidFill>
                                          <a:schemeClr val="tx1"/>
                                        </a:solidFill>
                                        <a:latin typeface="Cambria Math" panose="02040503050406030204" pitchFamily="18" charset="0"/>
                                      </a:rPr>
                                      <m:t>12</m:t>
                                    </m:r>
                                  </m:num>
                                  <m:den>
                                    <m:r>
                                      <m:rPr>
                                        <m:sty m:val="p"/>
                                      </m:rPr>
                                      <a:rPr lang="en-GB" sz="1200" b="0" i="0" smtClean="0">
                                        <a:solidFill>
                                          <a:schemeClr val="tx1"/>
                                        </a:solidFill>
                                        <a:latin typeface="Cambria Math" panose="02040503050406030204" pitchFamily="18" charset="0"/>
                                      </a:rPr>
                                      <m:t>sin</m:t>
                                    </m:r>
                                    <m:r>
                                      <a:rPr lang="en-GB" sz="1200" b="0" i="1" smtClean="0">
                                        <a:solidFill>
                                          <a:schemeClr val="tx1"/>
                                        </a:solidFill>
                                        <a:latin typeface="Cambria Math" panose="02040503050406030204" pitchFamily="18" charset="0"/>
                                      </a:rPr>
                                      <m:t>⁡(35)</m:t>
                                    </m:r>
                                  </m:den>
                                </m:f>
                              </m:oMath>
                            </m:oMathPara>
                          </a14:m>
                          <a:endParaRPr lang="en-GB" sz="1200" b="0" dirty="0">
                            <a:solidFill>
                              <a:schemeClr val="tx1"/>
                            </a:solidFill>
                          </a:endParaRPr>
                        </a:p>
                        <a:p>
                          <a:pPr algn="ct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4806297"/>
                      </a:ext>
                    </a:extLst>
                  </a:tr>
                  <a:tr h="138326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Press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bl>
              </a:graphicData>
            </a:graphic>
          </p:graphicFrame>
        </mc:Choice>
        <mc:Fallback xmlns="">
          <p:graphicFrame>
            <p:nvGraphicFramePr>
              <p:cNvPr id="43" name="Table 42">
                <a:extLst>
                  <a:ext uri="{FF2B5EF4-FFF2-40B4-BE49-F238E27FC236}">
                    <a16:creationId xmlns:a16="http://schemas.microsoft.com/office/drawing/2014/main" id="{E87D931A-89C1-80ED-B84E-803330CDC83E}"/>
                  </a:ext>
                </a:extLst>
              </p:cNvPr>
              <p:cNvGraphicFramePr>
                <a:graphicFrameLocks noGrp="1"/>
              </p:cNvGraphicFramePr>
              <p:nvPr>
                <p:extLst>
                  <p:ext uri="{D42A27DB-BD31-4B8C-83A1-F6EECF244321}">
                    <p14:modId xmlns:p14="http://schemas.microsoft.com/office/powerpoint/2010/main" val="2883590078"/>
                  </p:ext>
                </p:extLst>
              </p:nvPr>
            </p:nvGraphicFramePr>
            <p:xfrm>
              <a:off x="187792" y="7646262"/>
              <a:ext cx="6543680" cy="2023345"/>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6400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1) Input the question exactly as it looks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7397" t="-625" r="-178082" b="-625"/>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9231" t="-625" r="-100000" b="-625"/>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1550" t="-625" r="-775" b="-625"/>
                          </a:stretch>
                        </a:blipFill>
                      </a:tcPr>
                    </a:tc>
                    <a:extLst>
                      <a:ext uri="{0D108BD9-81ED-4DB2-BD59-A6C34878D82A}">
                        <a16:rowId xmlns:a16="http://schemas.microsoft.com/office/drawing/2014/main" val="2524806297"/>
                      </a:ext>
                    </a:extLst>
                  </a:tr>
                  <a:tr h="138326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Press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bl>
              </a:graphicData>
            </a:graphic>
          </p:graphicFrame>
        </mc:Fallback>
      </mc:AlternateContent>
    </p:spTree>
    <p:extLst>
      <p:ext uri="{BB962C8B-B14F-4D97-AF65-F5344CB8AC3E}">
        <p14:creationId xmlns:p14="http://schemas.microsoft.com/office/powerpoint/2010/main" val="183327914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405399" y="9566250"/>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1F123EF7-5F93-CB22-702E-5F4BECADFD32}"/>
                  </a:ext>
                </a:extLst>
              </p:cNvPr>
              <p:cNvGraphicFramePr>
                <a:graphicFrameLocks noGrp="1"/>
              </p:cNvGraphicFramePr>
              <p:nvPr/>
            </p:nvGraphicFramePr>
            <p:xfrm>
              <a:off x="400050" y="609600"/>
              <a:ext cx="6057900" cy="8901663"/>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1918993816"/>
                        </a:ext>
                      </a:extLst>
                    </a:gridCol>
                    <a:gridCol w="2019300">
                      <a:extLst>
                        <a:ext uri="{9D8B030D-6E8A-4147-A177-3AD203B41FA5}">
                          <a16:colId xmlns:a16="http://schemas.microsoft.com/office/drawing/2014/main" val="3829285730"/>
                        </a:ext>
                      </a:extLst>
                    </a:gridCol>
                    <a:gridCol w="2019300">
                      <a:extLst>
                        <a:ext uri="{9D8B030D-6E8A-4147-A177-3AD203B41FA5}">
                          <a16:colId xmlns:a16="http://schemas.microsoft.com/office/drawing/2014/main" val="1370427825"/>
                        </a:ext>
                      </a:extLst>
                    </a:gridCol>
                  </a:tblGrid>
                  <a:tr h="370840">
                    <a:tc gridSpan="3">
                      <a:txBody>
                        <a:bodyPr/>
                        <a:lstStyle/>
                        <a:p>
                          <a:r>
                            <a:rPr lang="en-GB" sz="1200" b="0" dirty="0">
                              <a:solidFill>
                                <a:schemeClr val="tx1"/>
                              </a:solidFill>
                            </a:rPr>
                            <a:t>Question 1</a:t>
                          </a:r>
                        </a:p>
                        <a:p>
                          <a:endParaRPr lang="en-GB" sz="1200" b="0" dirty="0">
                            <a:solidFill>
                              <a:schemeClr val="tx1"/>
                            </a:solidFill>
                          </a:endParaRPr>
                        </a:p>
                        <a:p>
                          <a:r>
                            <a:rPr lang="en-GB" sz="1200" b="0" dirty="0">
                              <a:solidFill>
                                <a:schemeClr val="tx1"/>
                              </a:solidFill>
                            </a:rPr>
                            <a:t>Use a calculator to work out each of the following.</a:t>
                          </a:r>
                        </a:p>
                        <a:p>
                          <a:endParaRPr lang="en-GB" sz="1200" b="0" dirty="0">
                            <a:solidFill>
                              <a:schemeClr val="tx1"/>
                            </a:solidFill>
                          </a:endParaRPr>
                        </a:p>
                        <a:p>
                          <a:r>
                            <a:rPr lang="en-GB" sz="1200" b="0" dirty="0">
                              <a:solidFill>
                                <a:schemeClr val="tx1"/>
                              </a:solidFill>
                            </a:rPr>
                            <a:t>Write down all of the figures on your display.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8747301"/>
                      </a:ext>
                    </a:extLst>
                  </a:tr>
                  <a:tr h="370840">
                    <a:tc>
                      <a:txBody>
                        <a:bodyPr/>
                        <a:lstStyle/>
                        <a:p>
                          <a:r>
                            <a:rPr lang="en-GB" sz="1200" dirty="0"/>
                            <a:t>a) </a:t>
                          </a:r>
                          <a14:m>
                            <m:oMath xmlns:m="http://schemas.openxmlformats.org/officeDocument/2006/math">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1.69</m:t>
                                  </m:r>
                                </m:e>
                              </m:rad>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t>b) </a:t>
                          </a:r>
                          <a14:m>
                            <m:oMath xmlns:m="http://schemas.openxmlformats.org/officeDocument/2006/math">
                              <m:sSup>
                                <m:sSupPr>
                                  <m:ctrlPr>
                                    <a:rPr lang="en-GB" sz="1200" i="1" smtClean="0">
                                      <a:latin typeface="Cambria Math" panose="02040503050406030204" pitchFamily="18" charset="0"/>
                                    </a:rPr>
                                  </m:ctrlPr>
                                </m:sSupPr>
                                <m:e>
                                  <m:r>
                                    <a:rPr lang="en-GB" sz="1200" b="0" i="1" smtClean="0">
                                      <a:latin typeface="Cambria Math" panose="02040503050406030204" pitchFamily="18" charset="0"/>
                                    </a:rPr>
                                    <m:t>1.25</m:t>
                                  </m:r>
                                </m:e>
                                <m:sup>
                                  <m:r>
                                    <a:rPr lang="en-GB" sz="1200" b="0" i="1" smtClean="0">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t>c) </a:t>
                          </a:r>
                          <a14:m>
                            <m:oMath xmlns:m="http://schemas.openxmlformats.org/officeDocument/2006/math">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1.96×2.25</m:t>
                                  </m:r>
                                </m:e>
                              </m:rad>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4197693"/>
                      </a:ext>
                    </a:extLst>
                  </a:tr>
                  <a:tr h="370840">
                    <a:tc>
                      <a:txBody>
                        <a:bodyPr/>
                        <a:lstStyle/>
                        <a:p>
                          <a:endParaRPr lang="en-GB" sz="1200" dirty="0"/>
                        </a:p>
                        <a:p>
                          <a:endParaRPr lang="en-GB" sz="1200" dirty="0"/>
                        </a:p>
                        <a:p>
                          <a:endParaRPr lang="en-GB" sz="1200" dirty="0"/>
                        </a:p>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0371551"/>
                      </a:ext>
                    </a:extLst>
                  </a:tr>
                  <a:tr h="370840">
                    <a:tc>
                      <a:txBody>
                        <a:bodyPr/>
                        <a:lstStyle/>
                        <a:p>
                          <a:r>
                            <a:rPr lang="en-GB" sz="1200" dirty="0"/>
                            <a:t>d) </a:t>
                          </a:r>
                          <a14:m>
                            <m:oMath xmlns:m="http://schemas.openxmlformats.org/officeDocument/2006/math">
                              <m:sSup>
                                <m:sSupPr>
                                  <m:ctrlPr>
                                    <a:rPr lang="en-GB" sz="1200" i="1" smtClean="0">
                                      <a:latin typeface="Cambria Math" panose="02040503050406030204" pitchFamily="18" charset="0"/>
                                    </a:rPr>
                                  </m:ctrlPr>
                                </m:sSupPr>
                                <m:e>
                                  <m:r>
                                    <a:rPr lang="en-GB" sz="1200" b="0" i="1" smtClean="0">
                                      <a:latin typeface="Cambria Math" panose="02040503050406030204" pitchFamily="18" charset="0"/>
                                    </a:rPr>
                                    <m:t>1.3</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1.4</m:t>
                                  </m:r>
                                </m:e>
                                <m:sup>
                                  <m:r>
                                    <a:rPr lang="en-GB" sz="1200" b="0" i="1" smtClean="0">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t>e)</a:t>
                          </a:r>
                          <a:r>
                            <a:rPr lang="en-GB" sz="1200" baseline="0" dirty="0"/>
                            <a:t> </a:t>
                          </a:r>
                          <a14:m>
                            <m:oMath xmlns:m="http://schemas.openxmlformats.org/officeDocument/2006/math">
                              <m:sSup>
                                <m:sSupPr>
                                  <m:ctrlPr>
                                    <a:rPr lang="en-GB" sz="1200" b="0" i="1" baseline="0" smtClean="0">
                                      <a:latin typeface="Cambria Math" panose="02040503050406030204" pitchFamily="18" charset="0"/>
                                    </a:rPr>
                                  </m:ctrlPr>
                                </m:sSupPr>
                                <m:e>
                                  <m:r>
                                    <a:rPr lang="en-GB" sz="1200" b="0" i="1" baseline="0" smtClean="0">
                                      <a:latin typeface="Cambria Math" panose="02040503050406030204" pitchFamily="18" charset="0"/>
                                    </a:rPr>
                                    <m:t>3.1</m:t>
                                  </m:r>
                                </m:e>
                                <m:sup>
                                  <m:r>
                                    <a:rPr lang="en-GB" sz="1200" b="0" i="1" baseline="0" smtClean="0">
                                      <a:latin typeface="Cambria Math" panose="02040503050406030204" pitchFamily="18" charset="0"/>
                                    </a:rPr>
                                    <m:t>4</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t>f)</a:t>
                          </a:r>
                          <a:r>
                            <a:rPr lang="en-GB" sz="1200" baseline="0" dirty="0"/>
                            <a:t> </a:t>
                          </a:r>
                          <a14:m>
                            <m:oMath xmlns:m="http://schemas.openxmlformats.org/officeDocument/2006/math">
                              <m:rad>
                                <m:radPr>
                                  <m:ctrlPr>
                                    <a:rPr lang="en-GB" sz="1200" i="1" baseline="0" smtClean="0">
                                      <a:latin typeface="Cambria Math" panose="02040503050406030204" pitchFamily="18" charset="0"/>
                                    </a:rPr>
                                  </m:ctrlPr>
                                </m:radPr>
                                <m:deg>
                                  <m:r>
                                    <m:rPr>
                                      <m:brk m:alnAt="7"/>
                                    </m:rPr>
                                    <a:rPr lang="en-GB" sz="1200" b="0" i="1" baseline="0" smtClean="0">
                                      <a:latin typeface="Cambria Math" panose="02040503050406030204" pitchFamily="18" charset="0"/>
                                    </a:rPr>
                                    <m:t>6</m:t>
                                  </m:r>
                                </m:deg>
                                <m:e>
                                  <m:r>
                                    <a:rPr lang="en-GB" sz="1200" b="0" i="1" baseline="0" smtClean="0">
                                      <a:latin typeface="Cambria Math" panose="02040503050406030204" pitchFamily="18" charset="0"/>
                                    </a:rPr>
                                    <m:t>84</m:t>
                                  </m:r>
                                </m:e>
                              </m:rad>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0676457"/>
                      </a:ext>
                    </a:extLst>
                  </a:tr>
                  <a:tr h="658457">
                    <a:tc>
                      <a:txBody>
                        <a:bodyPr/>
                        <a:lstStyle/>
                        <a:p>
                          <a:endParaRPr lang="en-GB" sz="1200" dirty="0"/>
                        </a:p>
                        <a:p>
                          <a:endParaRPr lang="en-GB" sz="1200" dirty="0"/>
                        </a:p>
                        <a:p>
                          <a:endParaRPr lang="en-GB" sz="1200" dirty="0"/>
                        </a:p>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0082422"/>
                      </a:ext>
                    </a:extLst>
                  </a:tr>
                  <a:tr h="370840">
                    <a:tc>
                      <a:txBody>
                        <a:bodyPr/>
                        <a:lstStyle/>
                        <a:p>
                          <a:r>
                            <a:rPr lang="en-GB" sz="1200" dirty="0"/>
                            <a:t>d) </a:t>
                          </a:r>
                          <a14:m>
                            <m:oMath xmlns:m="http://schemas.openxmlformats.org/officeDocument/2006/math">
                              <m:sSup>
                                <m:sSupPr>
                                  <m:ctrlPr>
                                    <a:rPr lang="en-GB" sz="1200" i="1" smtClean="0">
                                      <a:latin typeface="Cambria Math" panose="02040503050406030204" pitchFamily="18" charset="0"/>
                                    </a:rPr>
                                  </m:ctrlPr>
                                </m:sSupPr>
                                <m:e>
                                  <m:r>
                                    <a:rPr lang="en-GB" sz="1200" b="0" i="1" smtClean="0">
                                      <a:latin typeface="Cambria Math" panose="02040503050406030204" pitchFamily="18" charset="0"/>
                                    </a:rPr>
                                    <m:t>1.3</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1.4</m:t>
                                  </m:r>
                                </m:e>
                                <m:sup>
                                  <m:r>
                                    <a:rPr lang="en-GB" sz="1200" b="0" i="1" smtClean="0">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t>e) </a:t>
                          </a:r>
                          <a14:m>
                            <m:oMath xmlns:m="http://schemas.openxmlformats.org/officeDocument/2006/math">
                              <m:f>
                                <m:fPr>
                                  <m:ctrlPr>
                                    <a:rPr lang="en-GB" sz="1200" b="0" i="1" smtClean="0">
                                      <a:latin typeface="Cambria Math" panose="02040503050406030204" pitchFamily="18" charset="0"/>
                                    </a:rPr>
                                  </m:ctrlPr>
                                </m:fPr>
                                <m:num>
                                  <m:rad>
                                    <m:radPr>
                                      <m:degHide m:val="on"/>
                                      <m:ctrlPr>
                                        <a:rPr lang="en-GB" sz="1200" b="0" i="1" smtClean="0">
                                          <a:latin typeface="Cambria Math" panose="02040503050406030204" pitchFamily="18" charset="0"/>
                                        </a:rPr>
                                      </m:ctrlPr>
                                    </m:radPr>
                                    <m:deg/>
                                    <m:e>
                                      <m:r>
                                        <a:rPr lang="en-GB" sz="1200" b="0" i="1" smtClean="0">
                                          <a:latin typeface="Cambria Math" panose="02040503050406030204" pitchFamily="18" charset="0"/>
                                        </a:rPr>
                                        <m:t>8.6</m:t>
                                      </m:r>
                                    </m:e>
                                  </m:rad>
                                </m:num>
                                <m:den>
                                  <m:r>
                                    <a:rPr lang="en-GB" sz="1200" b="0" i="1" smtClean="0">
                                      <a:latin typeface="Cambria Math" panose="02040503050406030204" pitchFamily="18" charset="0"/>
                                    </a:rPr>
                                    <m:t>2</m:t>
                                  </m:r>
                                </m:den>
                              </m:f>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t>f)</a:t>
                          </a:r>
                          <a:r>
                            <a:rPr lang="en-GB" sz="1200" baseline="0" dirty="0"/>
                            <a:t> </a:t>
                          </a:r>
                          <a14:m>
                            <m:oMath xmlns:m="http://schemas.openxmlformats.org/officeDocument/2006/math">
                              <m:rad>
                                <m:radPr>
                                  <m:degHide m:val="on"/>
                                  <m:ctrlPr>
                                    <a:rPr lang="en-GB" sz="1200" b="0" i="1" baseline="0" smtClean="0">
                                      <a:latin typeface="Cambria Math" panose="02040503050406030204" pitchFamily="18" charset="0"/>
                                    </a:rPr>
                                  </m:ctrlPr>
                                </m:radPr>
                                <m:deg/>
                                <m:e>
                                  <m:f>
                                    <m:fPr>
                                      <m:ctrlPr>
                                        <a:rPr lang="en-GB" sz="1200" b="0" i="1" baseline="0" smtClean="0">
                                          <a:latin typeface="Cambria Math" panose="02040503050406030204" pitchFamily="18" charset="0"/>
                                        </a:rPr>
                                      </m:ctrlPr>
                                    </m:fPr>
                                    <m:num>
                                      <m:r>
                                        <a:rPr lang="en-GB" sz="1200" b="0" i="1" baseline="0" smtClean="0">
                                          <a:latin typeface="Cambria Math" panose="02040503050406030204" pitchFamily="18" charset="0"/>
                                        </a:rPr>
                                        <m:t>8.6</m:t>
                                      </m:r>
                                    </m:num>
                                    <m:den>
                                      <m:r>
                                        <a:rPr lang="en-GB" sz="1200" b="0" i="1" baseline="0" smtClean="0">
                                          <a:latin typeface="Cambria Math" panose="02040503050406030204" pitchFamily="18" charset="0"/>
                                        </a:rPr>
                                        <m:t>2</m:t>
                                      </m:r>
                                    </m:den>
                                  </m:f>
                                </m:e>
                              </m:rad>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6948748"/>
                      </a:ext>
                    </a:extLst>
                  </a:tr>
                  <a:tr h="370840">
                    <a:tc>
                      <a:txBody>
                        <a:bodyPr/>
                        <a:lstStyle/>
                        <a:p>
                          <a:endParaRPr lang="en-GB" sz="1200" dirty="0"/>
                        </a:p>
                        <a:p>
                          <a:endParaRPr lang="en-GB" sz="1200" dirty="0"/>
                        </a:p>
                        <a:p>
                          <a:endParaRPr lang="en-GB" sz="1200" dirty="0"/>
                        </a:p>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3597252"/>
                      </a:ext>
                    </a:extLst>
                  </a:tr>
                  <a:tr h="370840">
                    <a:tc>
                      <a:txBody>
                        <a:bodyPr/>
                        <a:lstStyle/>
                        <a:p>
                          <a:r>
                            <a:rPr lang="en-GB" sz="1200" dirty="0"/>
                            <a:t>g) </a:t>
                          </a:r>
                          <a14:m>
                            <m:oMath xmlns:m="http://schemas.openxmlformats.org/officeDocument/2006/math">
                              <m:r>
                                <a:rPr lang="en-GB" sz="1200" b="0" i="1" smtClean="0">
                                  <a:latin typeface="Cambria Math" panose="02040503050406030204" pitchFamily="18" charset="0"/>
                                </a:rPr>
                                <m:t>𝜋</m:t>
                              </m:r>
                              <m:r>
                                <a:rPr lang="en-GB" sz="1200" b="0" i="1" smtClean="0">
                                  <a:latin typeface="Cambria Math" panose="02040503050406030204" pitchFamily="18" charset="0"/>
                                </a:rPr>
                                <m:t>+5</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t>h) </a:t>
                          </a:r>
                          <a14:m>
                            <m:oMath xmlns:m="http://schemas.openxmlformats.org/officeDocument/2006/math">
                              <m:r>
                                <a:rPr lang="en-GB" sz="1200" b="0" i="0" smtClean="0">
                                  <a:latin typeface="Cambria Math" panose="02040503050406030204" pitchFamily="18" charset="0"/>
                                </a:rPr>
                                <m:t>4</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4</m:t>
                                  </m:r>
                                </m:num>
                                <m:den>
                                  <m:r>
                                    <a:rPr lang="en-GB" sz="1200" b="0" i="1" smtClean="0">
                                      <a:latin typeface="Cambria Math" panose="02040503050406030204" pitchFamily="18" charset="0"/>
                                    </a:rPr>
                                    <m:t>17</m:t>
                                  </m:r>
                                </m:den>
                              </m:f>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err="1"/>
                            <a:t>i</a:t>
                          </a:r>
                          <a:r>
                            <a:rPr lang="en-GB" sz="1200" dirty="0"/>
                            <a:t>) </a:t>
                          </a:r>
                          <a14:m>
                            <m:oMath xmlns:m="http://schemas.openxmlformats.org/officeDocument/2006/math">
                              <m:r>
                                <a:rPr lang="en-GB" sz="1200" b="0" i="1" smtClean="0">
                                  <a:latin typeface="Cambria Math" panose="02040503050406030204" pitchFamily="18" charset="0"/>
                                </a:rPr>
                                <m:t>5</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2</m:t>
                                  </m:r>
                                </m:num>
                                <m:den>
                                  <m:r>
                                    <a:rPr lang="en-GB" sz="1200" b="0" i="1" smtClean="0">
                                      <a:latin typeface="Cambria Math" panose="02040503050406030204" pitchFamily="18" charset="0"/>
                                    </a:rPr>
                                    <m:t>21</m:t>
                                  </m:r>
                                </m:den>
                              </m:f>
                              <m:r>
                                <a:rPr lang="en-GB" sz="1200" b="0" i="1" smtClean="0">
                                  <a:latin typeface="Cambria Math" panose="02040503050406030204" pitchFamily="18" charset="0"/>
                                </a:rPr>
                                <m:t>−3</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15</m:t>
                                  </m:r>
                                </m:den>
                              </m:f>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0425862"/>
                      </a:ext>
                    </a:extLst>
                  </a:tr>
                  <a:tr h="370840">
                    <a:tc>
                      <a:txBody>
                        <a:bodyPr/>
                        <a:lstStyle/>
                        <a:p>
                          <a:endParaRPr lang="en-GB" sz="1200" dirty="0"/>
                        </a:p>
                        <a:p>
                          <a:endParaRPr lang="en-GB" sz="1200" dirty="0"/>
                        </a:p>
                        <a:p>
                          <a:endParaRPr lang="en-GB" sz="1200" dirty="0"/>
                        </a:p>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923056"/>
                      </a:ext>
                    </a:extLst>
                  </a:tr>
                  <a:tr h="370840">
                    <a:tc>
                      <a:txBody>
                        <a:bodyPr/>
                        <a:lstStyle/>
                        <a:p>
                          <a:r>
                            <a:rPr lang="en-GB" sz="1200" dirty="0"/>
                            <a:t>j) </a:t>
                          </a:r>
                          <a14:m>
                            <m:oMath xmlns:m="http://schemas.openxmlformats.org/officeDocument/2006/math">
                              <m:d>
                                <m:dPr>
                                  <m:ctrlPr>
                                    <a:rPr lang="en-GB" sz="1200" b="0" i="1" smtClean="0">
                                      <a:latin typeface="Cambria Math" panose="02040503050406030204" pitchFamily="18" charset="0"/>
                                    </a:rPr>
                                  </m:ctrlPr>
                                </m:dPr>
                                <m:e>
                                  <m:r>
                                    <a:rPr lang="en-GB" sz="1200" b="0" i="1" smtClean="0">
                                      <a:latin typeface="Cambria Math" panose="02040503050406030204" pitchFamily="18" charset="0"/>
                                    </a:rPr>
                                    <m:t>8.2−1.2</m:t>
                                  </m:r>
                                </m:e>
                              </m:d>
                              <m:r>
                                <a:rPr lang="en-GB" sz="1200" b="0" i="1" smtClean="0">
                                  <a:latin typeface="Cambria Math" panose="02040503050406030204" pitchFamily="18" charset="0"/>
                                </a:rPr>
                                <m:t> × 31</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t>k) </a:t>
                          </a:r>
                          <a14:m>
                            <m:oMath xmlns:m="http://schemas.openxmlformats.org/officeDocument/2006/math">
                              <m:d>
                                <m:dPr>
                                  <m:ctrlPr>
                                    <a:rPr lang="en-GB" sz="1200" b="0" i="1" smtClean="0">
                                      <a:latin typeface="Cambria Math" panose="02040503050406030204" pitchFamily="18" charset="0"/>
                                    </a:rPr>
                                  </m:ctrlPr>
                                </m:dPr>
                                <m:e>
                                  <m:r>
                                    <a:rPr lang="en-GB" sz="1200" b="0" i="1" smtClean="0">
                                      <a:latin typeface="Cambria Math" panose="02040503050406030204" pitchFamily="18" charset="0"/>
                                    </a:rPr>
                                    <m:t>8.2−</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1.2</m:t>
                                      </m:r>
                                    </m:e>
                                    <m:sup>
                                      <m:r>
                                        <a:rPr lang="en-GB" sz="1200" b="0" i="1" smtClean="0">
                                          <a:latin typeface="Cambria Math" panose="02040503050406030204" pitchFamily="18" charset="0"/>
                                        </a:rPr>
                                        <m:t>2</m:t>
                                      </m:r>
                                    </m:sup>
                                  </m:sSup>
                                </m:e>
                              </m:d>
                              <m:r>
                                <a:rPr lang="en-GB" sz="1200" b="0" i="1" smtClean="0">
                                  <a:latin typeface="Cambria Math" panose="02040503050406030204" pitchFamily="18" charset="0"/>
                                </a:rPr>
                                <m:t>× 31 </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t>l) </a:t>
                          </a:r>
                          <a14:m>
                            <m:oMath xmlns:m="http://schemas.openxmlformats.org/officeDocument/2006/math">
                              <m:f>
                                <m:fPr>
                                  <m:ctrlPr>
                                    <a:rPr lang="en-GB" sz="1200" i="1" smtClean="0">
                                      <a:latin typeface="Cambria Math" panose="02040503050406030204" pitchFamily="18" charset="0"/>
                                    </a:rPr>
                                  </m:ctrlPr>
                                </m:fPr>
                                <m:num>
                                  <m:r>
                                    <a:rPr lang="en-GB" sz="1200" b="0" i="1" smtClean="0">
                                      <a:latin typeface="Cambria Math" panose="02040503050406030204" pitchFamily="18" charset="0"/>
                                    </a:rPr>
                                    <m:t>25.4+</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1.9</m:t>
                                      </m:r>
                                    </m:e>
                                    <m:sup>
                                      <m:r>
                                        <a:rPr lang="en-GB" sz="1200" b="0" i="1" smtClean="0">
                                          <a:latin typeface="Cambria Math" panose="02040503050406030204" pitchFamily="18" charset="0"/>
                                        </a:rPr>
                                        <m:t>3</m:t>
                                      </m:r>
                                    </m:sup>
                                  </m:sSup>
                                </m:num>
                                <m:den>
                                  <m:r>
                                    <a:rPr lang="en-GB" sz="1200" b="0" i="1" smtClean="0">
                                      <a:latin typeface="Cambria Math" panose="02040503050406030204" pitchFamily="18" charset="0"/>
                                    </a:rPr>
                                    <m:t>6.5</m:t>
                                  </m:r>
                                </m:den>
                              </m:f>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0679863"/>
                      </a:ext>
                    </a:extLst>
                  </a:tr>
                  <a:tr h="1188000">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4929014"/>
                      </a:ext>
                    </a:extLst>
                  </a:tr>
                </a:tbl>
              </a:graphicData>
            </a:graphic>
          </p:graphicFrame>
        </mc:Choice>
        <mc:Fallback xmlns="">
          <p:graphicFrame>
            <p:nvGraphicFramePr>
              <p:cNvPr id="3" name="Table 3">
                <a:extLst>
                  <a:ext uri="{FF2B5EF4-FFF2-40B4-BE49-F238E27FC236}">
                    <a16:creationId xmlns:a16="http://schemas.microsoft.com/office/drawing/2014/main" id="{1F123EF7-5F93-CB22-702E-5F4BECADFD32}"/>
                  </a:ext>
                </a:extLst>
              </p:cNvPr>
              <p:cNvGraphicFramePr>
                <a:graphicFrameLocks noGrp="1"/>
              </p:cNvGraphicFramePr>
              <p:nvPr>
                <p:extLst>
                  <p:ext uri="{D42A27DB-BD31-4B8C-83A1-F6EECF244321}">
                    <p14:modId xmlns:p14="http://schemas.microsoft.com/office/powerpoint/2010/main" val="2621205119"/>
                  </p:ext>
                </p:extLst>
              </p:nvPr>
            </p:nvGraphicFramePr>
            <p:xfrm>
              <a:off x="400050" y="609600"/>
              <a:ext cx="6057900" cy="8901663"/>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1918993816"/>
                        </a:ext>
                      </a:extLst>
                    </a:gridCol>
                    <a:gridCol w="2019300">
                      <a:extLst>
                        <a:ext uri="{9D8B030D-6E8A-4147-A177-3AD203B41FA5}">
                          <a16:colId xmlns:a16="http://schemas.microsoft.com/office/drawing/2014/main" val="3829285730"/>
                        </a:ext>
                      </a:extLst>
                    </a:gridCol>
                    <a:gridCol w="2019300">
                      <a:extLst>
                        <a:ext uri="{9D8B030D-6E8A-4147-A177-3AD203B41FA5}">
                          <a16:colId xmlns:a16="http://schemas.microsoft.com/office/drawing/2014/main" val="1370427825"/>
                        </a:ext>
                      </a:extLst>
                    </a:gridCol>
                  </a:tblGrid>
                  <a:tr h="1005840">
                    <a:tc gridSpan="3">
                      <a:txBody>
                        <a:bodyPr/>
                        <a:lstStyle/>
                        <a:p>
                          <a:r>
                            <a:rPr lang="en-GB" sz="1200" b="0" dirty="0">
                              <a:solidFill>
                                <a:schemeClr val="tx1"/>
                              </a:solidFill>
                            </a:rPr>
                            <a:t>Question 1</a:t>
                          </a:r>
                        </a:p>
                        <a:p>
                          <a:endParaRPr lang="en-GB" sz="1200" b="0" dirty="0">
                            <a:solidFill>
                              <a:schemeClr val="tx1"/>
                            </a:solidFill>
                          </a:endParaRPr>
                        </a:p>
                        <a:p>
                          <a:r>
                            <a:rPr lang="en-GB" sz="1200" b="0" dirty="0">
                              <a:solidFill>
                                <a:schemeClr val="tx1"/>
                              </a:solidFill>
                            </a:rPr>
                            <a:t>Use a calculator to work out each of the following.</a:t>
                          </a:r>
                        </a:p>
                        <a:p>
                          <a:endParaRPr lang="en-GB" sz="1200" b="0" dirty="0">
                            <a:solidFill>
                              <a:schemeClr val="tx1"/>
                            </a:solidFill>
                          </a:endParaRPr>
                        </a:p>
                        <a:p>
                          <a:r>
                            <a:rPr lang="en-GB" sz="1200" b="0" dirty="0">
                              <a:solidFill>
                                <a:schemeClr val="tx1"/>
                              </a:solidFill>
                            </a:rPr>
                            <a:t>Write down all of the figures on your display.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874730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629" t="-272414" r="-201258" b="-205172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0000" t="-272414" r="-100000" b="-205172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1258" t="-272414" r="-629" b="-2051724"/>
                          </a:stretch>
                        </a:blipFill>
                      </a:tcPr>
                    </a:tc>
                    <a:extLst>
                      <a:ext uri="{0D108BD9-81ED-4DB2-BD59-A6C34878D82A}">
                        <a16:rowId xmlns:a16="http://schemas.microsoft.com/office/drawing/2014/main" val="1174197693"/>
                      </a:ext>
                    </a:extLst>
                  </a:tr>
                  <a:tr h="1188720">
                    <a:tc>
                      <a:txBody>
                        <a:bodyPr/>
                        <a:lstStyle/>
                        <a:p>
                          <a:endParaRPr lang="en-GB" sz="1200" dirty="0"/>
                        </a:p>
                        <a:p>
                          <a:endParaRPr lang="en-GB" sz="1200" dirty="0"/>
                        </a:p>
                        <a:p>
                          <a:endParaRPr lang="en-GB" sz="1200" dirty="0"/>
                        </a:p>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037155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629" t="-696552" r="-201258" b="-162758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0000" t="-696552" r="-100000" b="-162758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1258" t="-696552" r="-629" b="-1627586"/>
                          </a:stretch>
                        </a:blipFill>
                      </a:tcPr>
                    </a:tc>
                    <a:extLst>
                      <a:ext uri="{0D108BD9-81ED-4DB2-BD59-A6C34878D82A}">
                        <a16:rowId xmlns:a16="http://schemas.microsoft.com/office/drawing/2014/main" val="3110676457"/>
                      </a:ext>
                    </a:extLst>
                  </a:tr>
                  <a:tr h="1188720">
                    <a:tc>
                      <a:txBody>
                        <a:bodyPr/>
                        <a:lstStyle/>
                        <a:p>
                          <a:endParaRPr lang="en-GB" sz="1200" dirty="0"/>
                        </a:p>
                        <a:p>
                          <a:endParaRPr lang="en-GB" sz="1200" dirty="0"/>
                        </a:p>
                        <a:p>
                          <a:endParaRPr lang="en-GB" sz="1200" dirty="0"/>
                        </a:p>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0082422"/>
                      </a:ext>
                    </a:extLst>
                  </a:tr>
                  <a:tr h="46361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629" t="-902778" r="-201258" b="-95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0000" t="-902778" r="-100000" b="-95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1258" t="-902778" r="-629" b="-950000"/>
                          </a:stretch>
                        </a:blipFill>
                      </a:tcPr>
                    </a:tc>
                    <a:extLst>
                      <a:ext uri="{0D108BD9-81ED-4DB2-BD59-A6C34878D82A}">
                        <a16:rowId xmlns:a16="http://schemas.microsoft.com/office/drawing/2014/main" val="1876948748"/>
                      </a:ext>
                    </a:extLst>
                  </a:tr>
                  <a:tr h="1188720">
                    <a:tc>
                      <a:txBody>
                        <a:bodyPr/>
                        <a:lstStyle/>
                        <a:p>
                          <a:endParaRPr lang="en-GB" sz="1200" dirty="0"/>
                        </a:p>
                        <a:p>
                          <a:endParaRPr lang="en-GB" sz="1200" dirty="0"/>
                        </a:p>
                        <a:p>
                          <a:endParaRPr lang="en-GB" sz="1200" dirty="0"/>
                        </a:p>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359725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629" t="-1568966" r="-201258" b="-75517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0000" t="-1568966" r="-100000" b="-75517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1258" t="-1568966" r="-629" b="-755172"/>
                          </a:stretch>
                        </a:blipFill>
                      </a:tcPr>
                    </a:tc>
                    <a:extLst>
                      <a:ext uri="{0D108BD9-81ED-4DB2-BD59-A6C34878D82A}">
                        <a16:rowId xmlns:a16="http://schemas.microsoft.com/office/drawing/2014/main" val="2920425862"/>
                      </a:ext>
                    </a:extLst>
                  </a:tr>
                  <a:tr h="1188720">
                    <a:tc>
                      <a:txBody>
                        <a:bodyPr/>
                        <a:lstStyle/>
                        <a:p>
                          <a:endParaRPr lang="en-GB" sz="1200" dirty="0"/>
                        </a:p>
                        <a:p>
                          <a:endParaRPr lang="en-GB" sz="1200" dirty="0"/>
                        </a:p>
                        <a:p>
                          <a:endParaRPr lang="en-GB" sz="1200" dirty="0"/>
                        </a:p>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923056"/>
                      </a:ext>
                    </a:extLst>
                  </a:tr>
                  <a:tr h="37680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629" t="-1993103" r="-201258" b="-33103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0000" t="-1993103" r="-100000" b="-33103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1258" t="-1993103" r="-629" b="-331034"/>
                          </a:stretch>
                        </a:blipFill>
                      </a:tcPr>
                    </a:tc>
                    <a:extLst>
                      <a:ext uri="{0D108BD9-81ED-4DB2-BD59-A6C34878D82A}">
                        <a16:rowId xmlns:a16="http://schemas.microsoft.com/office/drawing/2014/main" val="2340679863"/>
                      </a:ext>
                    </a:extLst>
                  </a:tr>
                  <a:tr h="1188000">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4929014"/>
                      </a:ext>
                    </a:extLst>
                  </a:tr>
                </a:tbl>
              </a:graphicData>
            </a:graphic>
          </p:graphicFrame>
        </mc:Fallback>
      </mc:AlternateContent>
      <p:sp>
        <p:nvSpPr>
          <p:cNvPr id="20" name="Rectangle 19">
            <a:extLst>
              <a:ext uri="{FF2B5EF4-FFF2-40B4-BE49-F238E27FC236}">
                <a16:creationId xmlns:a16="http://schemas.microsoft.com/office/drawing/2014/main" id="{7B379B86-48D6-355E-8465-5F18001E029C}"/>
              </a:ext>
            </a:extLst>
          </p:cNvPr>
          <p:cNvSpPr/>
          <p:nvPr/>
        </p:nvSpPr>
        <p:spPr>
          <a:xfrm>
            <a:off x="400050" y="269147"/>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99376947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C11E2-93A1-900F-7B2B-469DFEF6DE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D5AAA2-A692-FA9B-1FBE-EFDF55F86D9D}"/>
              </a:ext>
            </a:extLst>
          </p:cNvPr>
          <p:cNvSpPr>
            <a:spLocks noGrp="1"/>
          </p:cNvSpPr>
          <p:nvPr>
            <p:ph type="sldNum" sz="quarter" idx="12"/>
          </p:nvPr>
        </p:nvSpPr>
        <p:spPr>
          <a:xfrm>
            <a:off x="5405399" y="9566250"/>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8E124832-FF99-EACA-8EDB-57C97D37DEBB}"/>
                  </a:ext>
                </a:extLst>
              </p:cNvPr>
              <p:cNvGraphicFramePr>
                <a:graphicFrameLocks noGrp="1"/>
              </p:cNvGraphicFramePr>
              <p:nvPr/>
            </p:nvGraphicFramePr>
            <p:xfrm>
              <a:off x="400050" y="609600"/>
              <a:ext cx="6057900" cy="8715178"/>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1918993816"/>
                        </a:ext>
                      </a:extLst>
                    </a:gridCol>
                    <a:gridCol w="1009650">
                      <a:extLst>
                        <a:ext uri="{9D8B030D-6E8A-4147-A177-3AD203B41FA5}">
                          <a16:colId xmlns:a16="http://schemas.microsoft.com/office/drawing/2014/main" val="3829285730"/>
                        </a:ext>
                      </a:extLst>
                    </a:gridCol>
                    <a:gridCol w="1009650">
                      <a:extLst>
                        <a:ext uri="{9D8B030D-6E8A-4147-A177-3AD203B41FA5}">
                          <a16:colId xmlns:a16="http://schemas.microsoft.com/office/drawing/2014/main" val="3537255873"/>
                        </a:ext>
                      </a:extLst>
                    </a:gridCol>
                    <a:gridCol w="2019300">
                      <a:extLst>
                        <a:ext uri="{9D8B030D-6E8A-4147-A177-3AD203B41FA5}">
                          <a16:colId xmlns:a16="http://schemas.microsoft.com/office/drawing/2014/main" val="1370427825"/>
                        </a:ext>
                      </a:extLst>
                    </a:gridCol>
                  </a:tblGrid>
                  <a:tr h="613229">
                    <a:tc gridSpan="4">
                      <a:txBody>
                        <a:bodyPr/>
                        <a:lstStyle/>
                        <a:p>
                          <a:r>
                            <a:rPr lang="en-GB" sz="1200" b="0" dirty="0">
                              <a:solidFill>
                                <a:schemeClr val="tx1"/>
                              </a:solidFill>
                            </a:rPr>
                            <a:t>Question 1</a:t>
                          </a:r>
                        </a:p>
                        <a:p>
                          <a:endParaRPr lang="en-GB" sz="1200" b="0" dirty="0">
                            <a:solidFill>
                              <a:schemeClr val="tx1"/>
                            </a:solidFill>
                          </a:endParaRPr>
                        </a:p>
                        <a:p>
                          <a:r>
                            <a:rPr lang="en-GB" sz="1200" b="0" dirty="0">
                              <a:solidFill>
                                <a:schemeClr val="tx1"/>
                              </a:solidFill>
                            </a:rPr>
                            <a:t>Use a calculator to work out each of the following.</a:t>
                          </a:r>
                        </a:p>
                        <a:p>
                          <a:endParaRPr lang="en-GB" sz="1200" b="0" dirty="0">
                            <a:solidFill>
                              <a:schemeClr val="tx1"/>
                            </a:solidFill>
                          </a:endParaRPr>
                        </a:p>
                        <a:p>
                          <a:r>
                            <a:rPr lang="en-GB" sz="1200" b="0" dirty="0">
                              <a:solidFill>
                                <a:schemeClr val="tx1"/>
                              </a:solidFill>
                            </a:rPr>
                            <a:t>Write down all of the figures on your display.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8747301"/>
                      </a:ext>
                    </a:extLst>
                  </a:tr>
                  <a:tr h="370840">
                    <a:tc>
                      <a:txBody>
                        <a:bodyPr/>
                        <a:lstStyle/>
                        <a:p>
                          <a:r>
                            <a:rPr lang="en-GB" sz="1200" dirty="0"/>
                            <a:t>m)</a:t>
                          </a:r>
                          <a:r>
                            <a:rPr lang="en-GB" sz="1200" baseline="0" dirty="0"/>
                            <a:t> </a:t>
                          </a:r>
                          <a14:m>
                            <m:oMath xmlns:m="http://schemas.openxmlformats.org/officeDocument/2006/math">
                              <m:f>
                                <m:fPr>
                                  <m:ctrlPr>
                                    <a:rPr lang="en-GB" sz="1200" i="1" smtClean="0">
                                      <a:latin typeface="Cambria Math" panose="02040503050406030204" pitchFamily="18" charset="0"/>
                                    </a:rPr>
                                  </m:ctrlPr>
                                </m:fPr>
                                <m:num>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12.36−5.12</m:t>
                                      </m:r>
                                    </m:e>
                                  </m:rad>
                                </m:num>
                                <m:den>
                                  <m:sSup>
                                    <m:sSupPr>
                                      <m:ctrlPr>
                                        <a:rPr lang="en-GB" sz="1200" i="1" smtClean="0">
                                          <a:latin typeface="Cambria Math" panose="02040503050406030204" pitchFamily="18" charset="0"/>
                                        </a:rPr>
                                      </m:ctrlPr>
                                    </m:sSupPr>
                                    <m:e>
                                      <m:r>
                                        <a:rPr lang="en-GB" sz="1200" b="0" i="1" smtClean="0">
                                          <a:latin typeface="Cambria Math" panose="02040503050406030204" pitchFamily="18" charset="0"/>
                                        </a:rPr>
                                        <m:t>2.97</m:t>
                                      </m:r>
                                    </m:e>
                                    <m:sup>
                                      <m:r>
                                        <a:rPr lang="en-GB" sz="1200" b="0" i="1" smtClean="0">
                                          <a:latin typeface="Cambria Math" panose="02040503050406030204" pitchFamily="18" charset="0"/>
                                        </a:rPr>
                                        <m:t>2</m:t>
                                      </m:r>
                                    </m:sup>
                                  </m:sSup>
                                </m:den>
                              </m:f>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GB" sz="1200" dirty="0"/>
                            <a:t>n) </a:t>
                          </a:r>
                          <a14:m>
                            <m:oMath xmlns:m="http://schemas.openxmlformats.org/officeDocument/2006/math">
                              <m:rad>
                                <m:radPr>
                                  <m:degHide m:val="on"/>
                                  <m:ctrlPr>
                                    <a:rPr lang="en-GB" sz="1200" i="1" baseline="0" smtClean="0">
                                      <a:latin typeface="Cambria Math" panose="02040503050406030204" pitchFamily="18" charset="0"/>
                                    </a:rPr>
                                  </m:ctrlPr>
                                </m:radPr>
                                <m:deg/>
                                <m:e>
                                  <m:f>
                                    <m:fPr>
                                      <m:ctrlPr>
                                        <a:rPr lang="en-GB" sz="1200" i="1" baseline="0" smtClean="0">
                                          <a:latin typeface="Cambria Math" panose="02040503050406030204" pitchFamily="18" charset="0"/>
                                        </a:rPr>
                                      </m:ctrlPr>
                                    </m:fPr>
                                    <m:num>
                                      <m:r>
                                        <a:rPr lang="en-GB" sz="1200" b="0" i="1" baseline="0" smtClean="0">
                                          <a:latin typeface="Cambria Math" panose="02040503050406030204" pitchFamily="18" charset="0"/>
                                        </a:rPr>
                                        <m:t>25.1−3.87</m:t>
                                      </m:r>
                                    </m:num>
                                    <m:den>
                                      <m:r>
                                        <a:rPr lang="en-GB" sz="1200" b="0" i="1" baseline="0" smtClean="0">
                                          <a:latin typeface="Cambria Math" panose="02040503050406030204" pitchFamily="18" charset="0"/>
                                        </a:rPr>
                                        <m:t>5.23+2.04</m:t>
                                      </m:r>
                                    </m:den>
                                  </m:f>
                                </m:e>
                              </m:rad>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r>
                            <a:rPr lang="en-GB" sz="1200" dirty="0"/>
                            <a:t>o) </a:t>
                          </a:r>
                          <a14:m>
                            <m:oMath xmlns:m="http://schemas.openxmlformats.org/officeDocument/2006/math">
                              <m:rad>
                                <m:radPr>
                                  <m:ctrlPr>
                                    <a:rPr lang="en-GB" sz="1200" i="1" baseline="0" smtClean="0">
                                      <a:latin typeface="Cambria Math" panose="02040503050406030204" pitchFamily="18" charset="0"/>
                                    </a:rPr>
                                  </m:ctrlPr>
                                </m:radPr>
                                <m:deg>
                                  <m:r>
                                    <m:rPr>
                                      <m:brk m:alnAt="7"/>
                                    </m:rPr>
                                    <a:rPr lang="en-GB" sz="1200" b="0" i="1" baseline="0" smtClean="0">
                                      <a:latin typeface="Cambria Math" panose="02040503050406030204" pitchFamily="18" charset="0"/>
                                    </a:rPr>
                                    <m:t>3</m:t>
                                  </m:r>
                                </m:deg>
                                <m:e>
                                  <m:sSup>
                                    <m:sSupPr>
                                      <m:ctrlPr>
                                        <a:rPr lang="en-GB" sz="1200" b="0" i="1" baseline="0" smtClean="0">
                                          <a:latin typeface="Cambria Math" panose="02040503050406030204" pitchFamily="18" charset="0"/>
                                        </a:rPr>
                                      </m:ctrlPr>
                                    </m:sSupPr>
                                    <m:e>
                                      <m:r>
                                        <a:rPr lang="en-GB" sz="1200" b="0" i="1" baseline="0" smtClean="0">
                                          <a:latin typeface="Cambria Math" panose="02040503050406030204" pitchFamily="18" charset="0"/>
                                        </a:rPr>
                                        <m:t>7</m:t>
                                      </m:r>
                                    </m:e>
                                    <m:sup>
                                      <m:r>
                                        <a:rPr lang="en-GB" sz="1200" b="0" i="1" baseline="0" smtClean="0">
                                          <a:latin typeface="Cambria Math" panose="02040503050406030204" pitchFamily="18" charset="0"/>
                                        </a:rPr>
                                        <m:t>2</m:t>
                                      </m:r>
                                    </m:sup>
                                  </m:sSup>
                                  <m:r>
                                    <a:rPr lang="en-GB" sz="1200" b="0" i="1" baseline="0" smtClean="0">
                                      <a:latin typeface="Cambria Math" panose="02040503050406030204" pitchFamily="18" charset="0"/>
                                    </a:rPr>
                                    <m:t>+1</m:t>
                                  </m:r>
                                </m:e>
                              </m:rad>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0371551"/>
                      </a:ext>
                    </a:extLst>
                  </a:tr>
                  <a:tr h="370840">
                    <a:tc>
                      <a:txBody>
                        <a:bodyPr/>
                        <a:lstStyle/>
                        <a:p>
                          <a:endParaRPr lang="en-GB" sz="1200" dirty="0"/>
                        </a:p>
                        <a:p>
                          <a:endParaRPr lang="en-GB" sz="1200" dirty="0"/>
                        </a:p>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0676457"/>
                      </a:ext>
                    </a:extLst>
                  </a:tr>
                  <a:tr h="370840">
                    <a:tc>
                      <a:txBody>
                        <a:bodyPr/>
                        <a:lstStyle/>
                        <a:p>
                          <a:r>
                            <a:rPr lang="en-GB" sz="1200" dirty="0"/>
                            <a:t>p)</a:t>
                          </a:r>
                          <a:r>
                            <a:rPr lang="en-GB" sz="1200" baseline="0" dirty="0"/>
                            <a:t> </a:t>
                          </a:r>
                          <a14:m>
                            <m:oMath xmlns:m="http://schemas.openxmlformats.org/officeDocument/2006/math">
                              <m:rad>
                                <m:radPr>
                                  <m:ctrlPr>
                                    <a:rPr lang="en-GB" sz="1200" i="1" baseline="0" smtClean="0">
                                      <a:latin typeface="Cambria Math" panose="02040503050406030204" pitchFamily="18" charset="0"/>
                                    </a:rPr>
                                  </m:ctrlPr>
                                </m:radPr>
                                <m:deg>
                                  <m:r>
                                    <m:rPr>
                                      <m:brk m:alnAt="7"/>
                                    </m:rPr>
                                    <a:rPr lang="en-GB" sz="1200" b="0" i="1" baseline="0" smtClean="0">
                                      <a:latin typeface="Cambria Math" panose="02040503050406030204" pitchFamily="18" charset="0"/>
                                    </a:rPr>
                                    <m:t>3</m:t>
                                  </m:r>
                                </m:deg>
                                <m:e>
                                  <m:sSup>
                                    <m:sSupPr>
                                      <m:ctrlPr>
                                        <a:rPr lang="en-GB" sz="1200" b="0" i="1" baseline="0" smtClean="0">
                                          <a:latin typeface="Cambria Math" panose="02040503050406030204" pitchFamily="18" charset="0"/>
                                        </a:rPr>
                                      </m:ctrlPr>
                                    </m:sSupPr>
                                    <m:e>
                                      <m:r>
                                        <a:rPr lang="en-GB" sz="1200" b="0" i="1" baseline="0" smtClean="0">
                                          <a:latin typeface="Cambria Math" panose="02040503050406030204" pitchFamily="18" charset="0"/>
                                        </a:rPr>
                                        <m:t>𝜋</m:t>
                                      </m:r>
                                    </m:e>
                                    <m:sup>
                                      <m:r>
                                        <a:rPr lang="en-GB" sz="1200" b="0" i="1" baseline="0" smtClean="0">
                                          <a:latin typeface="Cambria Math" panose="02040503050406030204" pitchFamily="18" charset="0"/>
                                        </a:rPr>
                                        <m:t>5</m:t>
                                      </m:r>
                                    </m:sup>
                                  </m:sSup>
                                </m:e>
                              </m:rad>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GB" sz="1200" dirty="0"/>
                            <a:t>q) </a:t>
                          </a:r>
                          <a14:m>
                            <m:oMath xmlns:m="http://schemas.openxmlformats.org/officeDocument/2006/math">
                              <m:rad>
                                <m:radPr>
                                  <m:degHide m:val="on"/>
                                  <m:ctrlPr>
                                    <a:rPr lang="en-GB" sz="1200" i="1" smtClean="0">
                                      <a:latin typeface="Cambria Math" panose="02040503050406030204" pitchFamily="18" charset="0"/>
                                    </a:rPr>
                                  </m:ctrlPr>
                                </m:radPr>
                                <m:deg/>
                                <m:e>
                                  <m:sSup>
                                    <m:sSupPr>
                                      <m:ctrlPr>
                                        <a:rPr lang="en-GB" sz="1200" i="1" smtClean="0">
                                          <a:latin typeface="Cambria Math" panose="02040503050406030204" pitchFamily="18" charset="0"/>
                                        </a:rPr>
                                      </m:ctrlPr>
                                    </m:sSupPr>
                                    <m:e>
                                      <m:r>
                                        <a:rPr lang="en-GB" sz="1200" b="0" i="1" smtClean="0">
                                          <a:latin typeface="Cambria Math" panose="02040503050406030204" pitchFamily="18" charset="0"/>
                                        </a:rPr>
                                        <m:t>12</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15</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−54</m:t>
                                  </m:r>
                                  <m:r>
                                    <m:rPr>
                                      <m:sty m:val="p"/>
                                    </m:rPr>
                                    <a:rPr lang="en-GB" sz="1200" b="0" i="0" smtClean="0">
                                      <a:latin typeface="Cambria Math" panose="02040503050406030204" pitchFamily="18" charset="0"/>
                                    </a:rPr>
                                    <m:t>cos</m:t>
                                  </m:r>
                                  <m:r>
                                    <a:rPr lang="en-GB" sz="1200" b="0" i="1" smtClean="0">
                                      <a:latin typeface="Cambria Math" panose="02040503050406030204" pitchFamily="18" charset="0"/>
                                    </a:rPr>
                                    <m:t>⁡(80)</m:t>
                                  </m:r>
                                </m:e>
                              </m:rad>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r>
                            <a:rPr lang="en-GB" sz="1200" dirty="0"/>
                            <a:t>r) </a:t>
                          </a:r>
                          <a14:m>
                            <m:oMath xmlns:m="http://schemas.openxmlformats.org/officeDocument/2006/math">
                              <m:sSup>
                                <m:sSupPr>
                                  <m:ctrlPr>
                                    <a:rPr lang="en-GB" sz="1200" i="1" smtClean="0">
                                      <a:latin typeface="Cambria Math" panose="02040503050406030204" pitchFamily="18" charset="0"/>
                                    </a:rPr>
                                  </m:ctrlPr>
                                </m:sSupPr>
                                <m:e>
                                  <m:r>
                                    <a:rPr lang="en-GB" sz="1200" b="0" i="1" smtClean="0">
                                      <a:latin typeface="Cambria Math" panose="02040503050406030204" pitchFamily="18" charset="0"/>
                                    </a:rPr>
                                    <m:t>(3.15−0.28)</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−4.076</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0082422"/>
                      </a:ext>
                    </a:extLst>
                  </a:tr>
                  <a:tr h="370840">
                    <a:tc>
                      <a:txBody>
                        <a:bodyPr/>
                        <a:lstStyle/>
                        <a:p>
                          <a:endParaRPr lang="en-GB" sz="1200" dirty="0"/>
                        </a:p>
                        <a:p>
                          <a:endParaRPr lang="en-GB" sz="1200" dirty="0"/>
                        </a:p>
                        <a:p>
                          <a:endParaRPr lang="en-GB" sz="1200" dirty="0"/>
                        </a:p>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3597252"/>
                      </a:ext>
                    </a:extLst>
                  </a:tr>
                  <a:tr h="370840">
                    <a:tc>
                      <a:txBody>
                        <a:bodyPr/>
                        <a:lstStyle/>
                        <a:p>
                          <a:r>
                            <a:rPr lang="en-GB" sz="1200" dirty="0"/>
                            <a:t>s)</a:t>
                          </a:r>
                          <a:r>
                            <a:rPr lang="en-GB" sz="1200" baseline="0" dirty="0"/>
                            <a:t> </a:t>
                          </a:r>
                          <a14:m>
                            <m:oMath xmlns:m="http://schemas.openxmlformats.org/officeDocument/2006/math">
                              <m:f>
                                <m:fPr>
                                  <m:ctrlPr>
                                    <a:rPr lang="en-GB" sz="1200" i="1" smtClean="0">
                                      <a:latin typeface="Cambria Math" panose="02040503050406030204" pitchFamily="18" charset="0"/>
                                    </a:rPr>
                                  </m:ctrlPr>
                                </m:fPr>
                                <m:num>
                                  <m:func>
                                    <m:funcPr>
                                      <m:ctrlPr>
                                        <a:rPr lang="en-GB" sz="1200" b="0" i="1" smtClean="0">
                                          <a:latin typeface="Cambria Math" panose="02040503050406030204" pitchFamily="18" charset="0"/>
                                        </a:rPr>
                                      </m:ctrlPr>
                                    </m:funcPr>
                                    <m:fName>
                                      <m:r>
                                        <m:rPr>
                                          <m:sty m:val="p"/>
                                        </m:rPr>
                                        <a:rPr lang="en-GB" sz="1200" b="0" i="0" smtClean="0">
                                          <a:latin typeface="Cambria Math" panose="02040503050406030204" pitchFamily="18" charset="0"/>
                                        </a:rPr>
                                        <m:t>sin</m:t>
                                      </m:r>
                                    </m:fName>
                                    <m:e>
                                      <m:d>
                                        <m:dPr>
                                          <m:ctrlPr>
                                            <a:rPr lang="en-GB" sz="1200" b="0" i="1" smtClean="0">
                                              <a:latin typeface="Cambria Math" panose="02040503050406030204" pitchFamily="18" charset="0"/>
                                            </a:rPr>
                                          </m:ctrlPr>
                                        </m:dPr>
                                        <m:e>
                                          <m:r>
                                            <a:rPr lang="en-GB" sz="1200" b="0" i="1" smtClean="0">
                                              <a:latin typeface="Cambria Math" panose="02040503050406030204" pitchFamily="18" charset="0"/>
                                            </a:rPr>
                                            <m:t>25</m:t>
                                          </m:r>
                                        </m:e>
                                      </m:d>
                                    </m:e>
                                  </m:func>
                                  <m:r>
                                    <a:rPr lang="en-GB" sz="1200" b="0" i="1" smtClean="0">
                                      <a:latin typeface="Cambria Math" panose="02040503050406030204" pitchFamily="18" charset="0"/>
                                    </a:rPr>
                                    <m:t>+</m:t>
                                  </m:r>
                                  <m:r>
                                    <m:rPr>
                                      <m:sty m:val="p"/>
                                    </m:rPr>
                                    <a:rPr lang="en-GB" sz="1200" b="0" i="0" smtClean="0">
                                      <a:latin typeface="Cambria Math" panose="02040503050406030204" pitchFamily="18" charset="0"/>
                                    </a:rPr>
                                    <m:t>cos</m:t>
                                  </m:r>
                                  <m:r>
                                    <a:rPr lang="en-GB" sz="1200" b="0" i="1" smtClean="0">
                                      <a:latin typeface="Cambria Math" panose="02040503050406030204" pitchFamily="18" charset="0"/>
                                    </a:rPr>
                                    <m:t>⁡(40)</m:t>
                                  </m:r>
                                </m:num>
                                <m:den>
                                  <m:func>
                                    <m:funcPr>
                                      <m:ctrlPr>
                                        <a:rPr lang="en-GB" sz="1200" b="0" i="1" smtClean="0">
                                          <a:latin typeface="Cambria Math" panose="02040503050406030204" pitchFamily="18" charset="0"/>
                                        </a:rPr>
                                      </m:ctrlPr>
                                    </m:funcPr>
                                    <m:fName>
                                      <m:r>
                                        <m:rPr>
                                          <m:sty m:val="p"/>
                                        </m:rPr>
                                        <a:rPr lang="en-GB" sz="1200" b="0" i="0" smtClean="0">
                                          <a:latin typeface="Cambria Math" panose="02040503050406030204" pitchFamily="18" charset="0"/>
                                        </a:rPr>
                                        <m:t>cos</m:t>
                                      </m:r>
                                    </m:fName>
                                    <m:e>
                                      <m:d>
                                        <m:dPr>
                                          <m:ctrlPr>
                                            <a:rPr lang="en-GB" sz="1200" b="0" i="1" smtClean="0">
                                              <a:latin typeface="Cambria Math" panose="02040503050406030204" pitchFamily="18" charset="0"/>
                                            </a:rPr>
                                          </m:ctrlPr>
                                        </m:dPr>
                                        <m:e>
                                          <m:r>
                                            <a:rPr lang="en-GB" sz="1200" b="0" i="1" smtClean="0">
                                              <a:latin typeface="Cambria Math" panose="02040503050406030204" pitchFamily="18" charset="0"/>
                                            </a:rPr>
                                            <m:t>25</m:t>
                                          </m:r>
                                        </m:e>
                                      </m:d>
                                    </m:e>
                                  </m:func>
                                  <m:r>
                                    <a:rPr lang="en-GB" sz="1200" b="0" i="1" smtClean="0">
                                      <a:latin typeface="Cambria Math" panose="02040503050406030204" pitchFamily="18" charset="0"/>
                                    </a:rPr>
                                    <m:t>−</m:t>
                                  </m:r>
                                  <m:r>
                                    <m:rPr>
                                      <m:sty m:val="p"/>
                                    </m:rPr>
                                    <a:rPr lang="en-GB" sz="1200" b="0" i="0" smtClean="0">
                                      <a:latin typeface="Cambria Math" panose="02040503050406030204" pitchFamily="18" charset="0"/>
                                    </a:rPr>
                                    <m:t>sin</m:t>
                                  </m:r>
                                  <m:r>
                                    <a:rPr lang="en-GB" sz="1200" b="0" i="1" smtClean="0">
                                      <a:latin typeface="Cambria Math" panose="02040503050406030204" pitchFamily="18" charset="0"/>
                                    </a:rPr>
                                    <m:t>⁡(40)</m:t>
                                  </m:r>
                                </m:den>
                              </m:f>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GB" sz="1200" dirty="0"/>
                            <a:t>t) </a:t>
                          </a:r>
                          <a14:m>
                            <m:oMath xmlns:m="http://schemas.openxmlformats.org/officeDocument/2006/math">
                              <m:f>
                                <m:fPr>
                                  <m:ctrlPr>
                                    <a:rPr lang="en-GB" sz="1200" b="0" i="1" smtClean="0">
                                      <a:latin typeface="Cambria Math" panose="02040503050406030204" pitchFamily="18" charset="0"/>
                                    </a:rPr>
                                  </m:ctrlPr>
                                </m:fPr>
                                <m:num>
                                  <m:rad>
                                    <m:radPr>
                                      <m:degHide m:val="on"/>
                                      <m:ctrlPr>
                                        <a:rPr lang="en-GB" sz="1200" b="0" i="1" smtClean="0">
                                          <a:latin typeface="Cambria Math" panose="02040503050406030204" pitchFamily="18" charset="0"/>
                                        </a:rPr>
                                      </m:ctrlPr>
                                    </m:radPr>
                                    <m:deg/>
                                    <m:e>
                                      <m:r>
                                        <a:rPr lang="en-GB" sz="1200" b="0" i="1" smtClean="0">
                                          <a:latin typeface="Cambria Math" panose="02040503050406030204" pitchFamily="18" charset="0"/>
                                        </a:rPr>
                                        <m:t>90</m:t>
                                      </m:r>
                                    </m:e>
                                  </m:rad>
                                  <m:r>
                                    <a:rPr lang="en-GB" sz="1200" b="0" i="1" smtClean="0">
                                      <a:latin typeface="Cambria Math" panose="02040503050406030204" pitchFamily="18" charset="0"/>
                                    </a:rPr>
                                    <m:t>−</m:t>
                                  </m:r>
                                  <m:rad>
                                    <m:radPr>
                                      <m:ctrlPr>
                                        <a:rPr lang="en-GB" sz="1200" b="0" i="1" smtClean="0">
                                          <a:latin typeface="Cambria Math" panose="02040503050406030204" pitchFamily="18" charset="0"/>
                                        </a:rPr>
                                      </m:ctrlPr>
                                    </m:radPr>
                                    <m:deg>
                                      <m:r>
                                        <m:rPr>
                                          <m:brk m:alnAt="7"/>
                                        </m:rPr>
                                        <a:rPr lang="en-GB" sz="1200" b="0" i="1" smtClean="0">
                                          <a:latin typeface="Cambria Math" panose="02040503050406030204" pitchFamily="18" charset="0"/>
                                        </a:rPr>
                                        <m:t>3</m:t>
                                      </m:r>
                                    </m:deg>
                                    <m:e>
                                      <m:r>
                                        <a:rPr lang="en-GB" sz="1200" b="0" i="1" smtClean="0">
                                          <a:latin typeface="Cambria Math" panose="02040503050406030204" pitchFamily="18" charset="0"/>
                                        </a:rPr>
                                        <m:t>10</m:t>
                                      </m:r>
                                    </m:e>
                                  </m:rad>
                                </m:num>
                                <m:den>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1.1</m:t>
                                          </m:r>
                                        </m:e>
                                        <m:sup>
                                          <m:r>
                                            <a:rPr lang="en-GB" sz="1200" b="0" i="1" smtClean="0">
                                              <a:latin typeface="Cambria Math" panose="02040503050406030204" pitchFamily="18" charset="0"/>
                                            </a:rPr>
                                            <m:t>5</m:t>
                                          </m:r>
                                        </m:sup>
                                      </m:sSup>
                                      <m:r>
                                        <a:rPr lang="en-GB" sz="1200" b="0" i="1" smtClean="0">
                                          <a:latin typeface="Cambria Math" panose="02040503050406030204" pitchFamily="18" charset="0"/>
                                        </a:rPr>
                                        <m:t>+</m:t>
                                      </m:r>
                                      <m:rad>
                                        <m:radPr>
                                          <m:degHide m:val="on"/>
                                          <m:ctrlPr>
                                            <a:rPr lang="en-GB" sz="1200" b="0" i="1" smtClean="0">
                                              <a:latin typeface="Cambria Math" panose="02040503050406030204" pitchFamily="18" charset="0"/>
                                            </a:rPr>
                                          </m:ctrlPr>
                                        </m:radPr>
                                        <m:deg/>
                                        <m:e>
                                          <m:r>
                                            <a:rPr lang="en-GB" sz="1200" b="0" i="1" smtClean="0">
                                              <a:latin typeface="Cambria Math" panose="02040503050406030204" pitchFamily="18" charset="0"/>
                                            </a:rPr>
                                            <m:t>3</m:t>
                                          </m:r>
                                        </m:e>
                                      </m:rad>
                                      <m:r>
                                        <a:rPr lang="en-GB" sz="1200" b="0" i="1" smtClean="0">
                                          <a:latin typeface="Cambria Math" panose="02040503050406030204" pitchFamily="18" charset="0"/>
                                        </a:rPr>
                                        <m:t>)</m:t>
                                      </m:r>
                                    </m:e>
                                    <m:sup>
                                      <m:r>
                                        <a:rPr lang="en-GB" sz="1200" b="0" i="1" smtClean="0">
                                          <a:latin typeface="Cambria Math" panose="02040503050406030204" pitchFamily="18" charset="0"/>
                                        </a:rPr>
                                        <m:t>2</m:t>
                                      </m:r>
                                    </m:sup>
                                  </m:sSup>
                                </m:den>
                              </m:f>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r>
                            <a:rPr lang="en-GB" sz="1200" dirty="0"/>
                            <a:t>u) </a:t>
                          </a:r>
                          <a14:m>
                            <m:oMath xmlns:m="http://schemas.openxmlformats.org/officeDocument/2006/math">
                              <m:rad>
                                <m:radPr>
                                  <m:degHide m:val="on"/>
                                  <m:ctrlPr>
                                    <a:rPr lang="en-GB" sz="1200" b="0" i="1" baseline="0" smtClean="0">
                                      <a:latin typeface="Cambria Math" panose="02040503050406030204" pitchFamily="18" charset="0"/>
                                    </a:rPr>
                                  </m:ctrlPr>
                                </m:radPr>
                                <m:deg/>
                                <m:e>
                                  <m:f>
                                    <m:fPr>
                                      <m:ctrlPr>
                                        <a:rPr lang="en-GB" sz="1200" b="0" i="1" baseline="0" smtClean="0">
                                          <a:latin typeface="Cambria Math" panose="02040503050406030204" pitchFamily="18" charset="0"/>
                                        </a:rPr>
                                      </m:ctrlPr>
                                    </m:fPr>
                                    <m:num>
                                      <m:sSup>
                                        <m:sSupPr>
                                          <m:ctrlPr>
                                            <a:rPr lang="en-GB" sz="1200" b="0" i="1" baseline="0" smtClean="0">
                                              <a:latin typeface="Cambria Math" panose="02040503050406030204" pitchFamily="18" charset="0"/>
                                            </a:rPr>
                                          </m:ctrlPr>
                                        </m:sSupPr>
                                        <m:e>
                                          <m:r>
                                            <a:rPr lang="en-GB" sz="1200" b="0" i="1" baseline="0" smtClean="0">
                                              <a:latin typeface="Cambria Math" panose="02040503050406030204" pitchFamily="18" charset="0"/>
                                            </a:rPr>
                                            <m:t>3.5</m:t>
                                          </m:r>
                                        </m:e>
                                        <m:sup>
                                          <m:r>
                                            <a:rPr lang="en-GB" sz="1200" b="0" i="1" baseline="0" smtClean="0">
                                              <a:latin typeface="Cambria Math" panose="02040503050406030204" pitchFamily="18" charset="0"/>
                                            </a:rPr>
                                            <m:t>2</m:t>
                                          </m:r>
                                        </m:sup>
                                      </m:sSup>
                                    </m:num>
                                    <m:den>
                                      <m:r>
                                        <a:rPr lang="en-GB" sz="1200" b="0" i="1" baseline="0" smtClean="0">
                                          <a:latin typeface="Cambria Math" panose="02040503050406030204" pitchFamily="18" charset="0"/>
                                        </a:rPr>
                                        <m:t>6.3−</m:t>
                                      </m:r>
                                      <m:f>
                                        <m:fPr>
                                          <m:ctrlPr>
                                            <a:rPr lang="en-GB" sz="1200" b="0" i="1" baseline="0" smtClean="0">
                                              <a:latin typeface="Cambria Math" panose="02040503050406030204" pitchFamily="18" charset="0"/>
                                            </a:rPr>
                                          </m:ctrlPr>
                                        </m:fPr>
                                        <m:num>
                                          <m:r>
                                            <a:rPr lang="en-GB" sz="1200" b="0" i="1" baseline="0" smtClean="0">
                                              <a:latin typeface="Cambria Math" panose="02040503050406030204" pitchFamily="18" charset="0"/>
                                            </a:rPr>
                                            <m:t>47</m:t>
                                          </m:r>
                                        </m:num>
                                        <m:den>
                                          <m:r>
                                            <a:rPr lang="en-GB" sz="1200" b="0" i="1" baseline="0" smtClean="0">
                                              <a:latin typeface="Cambria Math" panose="02040503050406030204" pitchFamily="18" charset="0"/>
                                            </a:rPr>
                                            <m:t>63</m:t>
                                          </m:r>
                                        </m:den>
                                      </m:f>
                                    </m:den>
                                  </m:f>
                                </m:e>
                              </m:rad>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156106"/>
                      </a:ext>
                    </a:extLst>
                  </a:tr>
                  <a:tr h="370840">
                    <a:tc>
                      <a:txBody>
                        <a:bodyPr/>
                        <a:lstStyle/>
                        <a:p>
                          <a:endParaRPr lang="en-GB" sz="1200" dirty="0"/>
                        </a:p>
                        <a:p>
                          <a:endParaRPr lang="en-GB" sz="1200" dirty="0"/>
                        </a:p>
                        <a:p>
                          <a:endParaRPr lang="en-GB" sz="1200" dirty="0"/>
                        </a:p>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1939360"/>
                      </a:ext>
                    </a:extLst>
                  </a:tr>
                  <a:tr h="370840">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v) </a:t>
                          </a:r>
                          <a:r>
                            <a:rPr kumimoji="0" lang="en-GB" sz="1200" b="0" i="0" u="none" strike="noStrike" kern="1200" cap="none" spc="0" normalizeH="0" baseline="0" noProof="0" dirty="0">
                              <a:ln>
                                <a:noFill/>
                              </a:ln>
                              <a:solidFill>
                                <a:prstClr val="black"/>
                              </a:solidFill>
                              <a:effectLst/>
                              <a:uLnTx/>
                              <a:uFillTx/>
                              <a:latin typeface="+mn-lt"/>
                              <a:ea typeface="+mn-ea"/>
                              <a:cs typeface="+mn-cs"/>
                            </a:rPr>
                            <a:t>Choose values for </a:t>
                          </a:r>
                          <a:r>
                            <a:rPr kumimoji="0" lang="en-GB" sz="1200" b="0" i="1" u="none" strike="noStrike" kern="1200" cap="none" spc="0" normalizeH="0" baseline="0" noProof="0" dirty="0">
                              <a:ln>
                                <a:noFill/>
                              </a:ln>
                              <a:solidFill>
                                <a:prstClr val="black"/>
                              </a:solidFill>
                              <a:effectLst/>
                              <a:uLnTx/>
                              <a:uFillTx/>
                              <a:latin typeface="+mn-lt"/>
                              <a:ea typeface="+mn-ea"/>
                              <a:cs typeface="+mn-cs"/>
                            </a:rPr>
                            <a:t>a</a:t>
                          </a:r>
                          <a:r>
                            <a:rPr kumimoji="0" lang="en-GB" sz="1200" b="0" i="0" u="none" strike="noStrike" kern="1200" cap="none" spc="0" normalizeH="0" baseline="0" noProof="0" dirty="0">
                              <a:ln>
                                <a:noFill/>
                              </a:ln>
                              <a:solidFill>
                                <a:prstClr val="black"/>
                              </a:solidFill>
                              <a:effectLst/>
                              <a:uLnTx/>
                              <a:uFillTx/>
                              <a:latin typeface="+mn-lt"/>
                              <a:ea typeface="+mn-ea"/>
                              <a:cs typeface="+mn-cs"/>
                            </a:rPr>
                            <a:t> and </a:t>
                          </a:r>
                          <a:r>
                            <a:rPr kumimoji="0" lang="en-GB" sz="1200" b="0" i="1" u="none" strike="noStrike" kern="1200" cap="none" spc="0" normalizeH="0" baseline="0" noProof="0" dirty="0">
                              <a:ln>
                                <a:noFill/>
                              </a:ln>
                              <a:solidFill>
                                <a:prstClr val="black"/>
                              </a:solidFill>
                              <a:effectLst/>
                              <a:uLnTx/>
                              <a:uFillTx/>
                              <a:latin typeface="+mn-lt"/>
                              <a:ea typeface="+mn-ea"/>
                              <a:cs typeface="+mn-cs"/>
                            </a:rPr>
                            <a:t>b</a:t>
                          </a:r>
                          <a:r>
                            <a:rPr kumimoji="0" lang="en-GB" sz="1200" b="0" i="0" u="none" strike="noStrike" kern="1200" cap="none" spc="0" normalizeH="0" baseline="0" noProof="0" dirty="0">
                              <a:ln>
                                <a:noFill/>
                              </a:ln>
                              <a:solidFill>
                                <a:prstClr val="black"/>
                              </a:solidFill>
                              <a:effectLst/>
                              <a:uLnTx/>
                              <a:uFillTx/>
                              <a:latin typeface="+mn-lt"/>
                              <a:ea typeface="+mn-ea"/>
                              <a:cs typeface="+mn-cs"/>
                            </a:rPr>
                            <a:t> and use your calculator to test whether or not these statements are true.</a:t>
                          </a:r>
                        </a:p>
                        <a:p>
                          <a:pPr marL="266700" marR="0" lvl="0" indent="0" algn="l" defTabSz="9144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i)    (</a:t>
                          </a:r>
                          <a:r>
                            <a:rPr kumimoji="0" lang="en-GB" sz="1200" b="0" i="1" u="none" strike="noStrike" kern="1200" cap="none" spc="0" normalizeH="0" baseline="0" noProof="0" dirty="0">
                              <a:ln>
                                <a:noFill/>
                              </a:ln>
                              <a:solidFill>
                                <a:prstClr val="black"/>
                              </a:solidFill>
                              <a:effectLst/>
                              <a:uLnTx/>
                              <a:uFillTx/>
                              <a:latin typeface="+mn-lt"/>
                              <a:ea typeface="+mn-ea"/>
                              <a:cs typeface="+mn-cs"/>
                            </a:rPr>
                            <a:t>a</a:t>
                          </a:r>
                          <a:r>
                            <a:rPr kumimoji="0" lang="en-GB" sz="1200" b="0" i="0" u="none" strike="noStrike" kern="1200" cap="none" spc="0" normalizeH="0" baseline="0" noProof="0" dirty="0">
                              <a:ln>
                                <a:noFill/>
                              </a:ln>
                              <a:solidFill>
                                <a:prstClr val="black"/>
                              </a:solidFill>
                              <a:effectLst/>
                              <a:uLnTx/>
                              <a:uFillTx/>
                              <a:latin typeface="+mn-lt"/>
                              <a:ea typeface="+mn-ea"/>
                              <a:cs typeface="+mn-cs"/>
                            </a:rPr>
                            <a:t> − </a:t>
                          </a:r>
                          <a:r>
                            <a:rPr kumimoji="0" lang="en-GB" sz="1200" b="0" i="1" u="none" strike="noStrike" kern="1200" cap="none" spc="0" normalizeH="0" baseline="0" noProof="0" dirty="0">
                              <a:ln>
                                <a:noFill/>
                              </a:ln>
                              <a:solidFill>
                                <a:prstClr val="black"/>
                              </a:solidFill>
                              <a:effectLst/>
                              <a:uLnTx/>
                              <a:uFillTx/>
                              <a:latin typeface="+mn-lt"/>
                              <a:ea typeface="+mn-ea"/>
                              <a:cs typeface="+mn-cs"/>
                            </a:rPr>
                            <a:t>b</a:t>
                          </a:r>
                          <a:r>
                            <a:rPr kumimoji="0" lang="en-GB" sz="1200" b="0" i="0" u="none" strike="noStrike" kern="1200" cap="none" spc="0" normalizeH="0" baseline="0" noProof="0" dirty="0">
                              <a:ln>
                                <a:noFill/>
                              </a:ln>
                              <a:solidFill>
                                <a:prstClr val="black"/>
                              </a:solidFill>
                              <a:effectLst/>
                              <a:uLnTx/>
                              <a:uFillTx/>
                              <a:latin typeface="+mn-lt"/>
                              <a:ea typeface="+mn-ea"/>
                              <a:cs typeface="+mn-cs"/>
                            </a:rPr>
                            <a:t>)(</a:t>
                          </a:r>
                          <a:r>
                            <a:rPr kumimoji="0" lang="en-GB" sz="1200" b="0" i="1" u="none" strike="noStrike" kern="1200" cap="none" spc="0" normalizeH="0" baseline="0" noProof="0" dirty="0">
                              <a:ln>
                                <a:noFill/>
                              </a:ln>
                              <a:solidFill>
                                <a:prstClr val="black"/>
                              </a:solidFill>
                              <a:effectLst/>
                              <a:uLnTx/>
                              <a:uFillTx/>
                              <a:latin typeface="+mn-lt"/>
                              <a:ea typeface="+mn-ea"/>
                              <a:cs typeface="+mn-cs"/>
                            </a:rPr>
                            <a:t>a</a:t>
                          </a:r>
                          <a:r>
                            <a:rPr kumimoji="0" lang="en-GB" sz="1200" b="0" i="0" u="none" strike="noStrike" kern="1200" cap="none" spc="0" normalizeH="0" baseline="0" noProof="0" dirty="0">
                              <a:ln>
                                <a:noFill/>
                              </a:ln>
                              <a:solidFill>
                                <a:prstClr val="black"/>
                              </a:solidFill>
                              <a:effectLst/>
                              <a:uLnTx/>
                              <a:uFillTx/>
                              <a:latin typeface="+mn-lt"/>
                              <a:ea typeface="+mn-ea"/>
                              <a:cs typeface="+mn-cs"/>
                            </a:rPr>
                            <a:t> + </a:t>
                          </a:r>
                          <a:r>
                            <a:rPr kumimoji="0" lang="en-GB" sz="1200" b="0" i="1" u="none" strike="noStrike" kern="1200" cap="none" spc="0" normalizeH="0" baseline="0" noProof="0" dirty="0">
                              <a:ln>
                                <a:noFill/>
                              </a:ln>
                              <a:solidFill>
                                <a:prstClr val="black"/>
                              </a:solidFill>
                              <a:effectLst/>
                              <a:uLnTx/>
                              <a:uFillTx/>
                              <a:latin typeface="+mn-lt"/>
                              <a:ea typeface="+mn-ea"/>
                              <a:cs typeface="+mn-cs"/>
                            </a:rPr>
                            <a:t>b</a:t>
                          </a:r>
                          <a:r>
                            <a:rPr kumimoji="0" lang="en-GB" sz="1200" b="0" i="0" u="none" strike="noStrike" kern="1200" cap="none" spc="0" normalizeH="0" baseline="0" noProof="0" dirty="0">
                              <a:ln>
                                <a:noFill/>
                              </a:ln>
                              <a:solidFill>
                                <a:prstClr val="black"/>
                              </a:solidFill>
                              <a:effectLst/>
                              <a:uLnTx/>
                              <a:uFillTx/>
                              <a:latin typeface="+mn-lt"/>
                              <a:ea typeface="+mn-ea"/>
                              <a:cs typeface="+mn-cs"/>
                            </a:rPr>
                            <a:t>) = </a:t>
                          </a:r>
                          <a:r>
                            <a:rPr kumimoji="0" lang="en-GB" sz="1200" b="0" i="1" u="none" strike="noStrike" kern="1200" cap="none" spc="0" normalizeH="0" baseline="0" noProof="0" dirty="0">
                              <a:ln>
                                <a:noFill/>
                              </a:ln>
                              <a:solidFill>
                                <a:prstClr val="black"/>
                              </a:solidFill>
                              <a:effectLst/>
                              <a:uLnTx/>
                              <a:uFillTx/>
                              <a:latin typeface="+mn-lt"/>
                              <a:ea typeface="+mn-ea"/>
                              <a:cs typeface="+mn-cs"/>
                            </a:rPr>
                            <a:t>a</a:t>
                          </a:r>
                          <a:r>
                            <a:rPr kumimoji="0" lang="en-GB" sz="1200" b="0" i="0" u="none" strike="noStrike" kern="1200" cap="none" spc="0" normalizeH="0" baseline="30000" noProof="0" dirty="0">
                              <a:ln>
                                <a:noFill/>
                              </a:ln>
                              <a:solidFill>
                                <a:prstClr val="black"/>
                              </a:solidFill>
                              <a:effectLst/>
                              <a:uLnTx/>
                              <a:uFillTx/>
                              <a:latin typeface="+mn-lt"/>
                              <a:ea typeface="+mn-ea"/>
                              <a:cs typeface="+mn-cs"/>
                            </a:rPr>
                            <a:t>2</a:t>
                          </a:r>
                          <a:r>
                            <a:rPr kumimoji="0" lang="en-GB" sz="1200" b="0" i="0" u="none" strike="noStrike" kern="1200" cap="none" spc="0" normalizeH="0" baseline="0" noProof="0" dirty="0">
                              <a:ln>
                                <a:noFill/>
                              </a:ln>
                              <a:solidFill>
                                <a:prstClr val="black"/>
                              </a:solidFill>
                              <a:effectLst/>
                              <a:uLnTx/>
                              <a:uFillTx/>
                              <a:latin typeface="+mn-lt"/>
                              <a:ea typeface="+mn-ea"/>
                              <a:cs typeface="+mn-cs"/>
                            </a:rPr>
                            <a:t> − </a:t>
                          </a:r>
                          <a:r>
                            <a:rPr kumimoji="0" lang="en-GB" sz="1200" b="0" i="1" u="none" strike="noStrike" kern="1200" cap="none" spc="0" normalizeH="0" baseline="0" noProof="0" dirty="0">
                              <a:ln>
                                <a:noFill/>
                              </a:ln>
                              <a:solidFill>
                                <a:prstClr val="black"/>
                              </a:solidFill>
                              <a:effectLst/>
                              <a:uLnTx/>
                              <a:uFillTx/>
                              <a:latin typeface="+mn-lt"/>
                              <a:ea typeface="+mn-ea"/>
                              <a:cs typeface="+mn-cs"/>
                            </a:rPr>
                            <a:t>b</a:t>
                          </a:r>
                          <a:r>
                            <a:rPr kumimoji="0" lang="en-GB" sz="1200" b="0" i="0" u="none" strike="noStrike" kern="1200" cap="none" spc="0" normalizeH="0" baseline="30000" noProof="0" dirty="0">
                              <a:ln>
                                <a:noFill/>
                              </a:ln>
                              <a:solidFill>
                                <a:prstClr val="black"/>
                              </a:solidFill>
                              <a:effectLst/>
                              <a:uLnTx/>
                              <a:uFillTx/>
                              <a:latin typeface="+mn-lt"/>
                              <a:ea typeface="+mn-ea"/>
                              <a:cs typeface="+mn-cs"/>
                            </a:rPr>
                            <a:t>2</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5679208"/>
                      </a:ext>
                    </a:extLst>
                  </a:tr>
                  <a:tr h="2088000">
                    <a:tc gridSpan="2">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81156"/>
                      </a:ext>
                    </a:extLst>
                  </a:tr>
                </a:tbl>
              </a:graphicData>
            </a:graphic>
          </p:graphicFrame>
        </mc:Choice>
        <mc:Fallback xmlns="">
          <p:graphicFrame>
            <p:nvGraphicFramePr>
              <p:cNvPr id="3" name="Table 3">
                <a:extLst>
                  <a:ext uri="{FF2B5EF4-FFF2-40B4-BE49-F238E27FC236}">
                    <a16:creationId xmlns:a16="http://schemas.microsoft.com/office/drawing/2014/main" id="{8E124832-FF99-EACA-8EDB-57C97D37DEBB}"/>
                  </a:ext>
                </a:extLst>
              </p:cNvPr>
              <p:cNvGraphicFramePr>
                <a:graphicFrameLocks noGrp="1"/>
              </p:cNvGraphicFramePr>
              <p:nvPr>
                <p:extLst>
                  <p:ext uri="{D42A27DB-BD31-4B8C-83A1-F6EECF244321}">
                    <p14:modId xmlns:p14="http://schemas.microsoft.com/office/powerpoint/2010/main" val="1419923461"/>
                  </p:ext>
                </p:extLst>
              </p:nvPr>
            </p:nvGraphicFramePr>
            <p:xfrm>
              <a:off x="400050" y="609600"/>
              <a:ext cx="6057900" cy="8715178"/>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1918993816"/>
                        </a:ext>
                      </a:extLst>
                    </a:gridCol>
                    <a:gridCol w="1009650">
                      <a:extLst>
                        <a:ext uri="{9D8B030D-6E8A-4147-A177-3AD203B41FA5}">
                          <a16:colId xmlns:a16="http://schemas.microsoft.com/office/drawing/2014/main" val="3829285730"/>
                        </a:ext>
                      </a:extLst>
                    </a:gridCol>
                    <a:gridCol w="1009650">
                      <a:extLst>
                        <a:ext uri="{9D8B030D-6E8A-4147-A177-3AD203B41FA5}">
                          <a16:colId xmlns:a16="http://schemas.microsoft.com/office/drawing/2014/main" val="3537255873"/>
                        </a:ext>
                      </a:extLst>
                    </a:gridCol>
                    <a:gridCol w="2019300">
                      <a:extLst>
                        <a:ext uri="{9D8B030D-6E8A-4147-A177-3AD203B41FA5}">
                          <a16:colId xmlns:a16="http://schemas.microsoft.com/office/drawing/2014/main" val="1370427825"/>
                        </a:ext>
                      </a:extLst>
                    </a:gridCol>
                  </a:tblGrid>
                  <a:tr h="1005840">
                    <a:tc gridSpan="4">
                      <a:txBody>
                        <a:bodyPr/>
                        <a:lstStyle/>
                        <a:p>
                          <a:r>
                            <a:rPr lang="en-GB" sz="1200" b="0" dirty="0">
                              <a:solidFill>
                                <a:schemeClr val="tx1"/>
                              </a:solidFill>
                            </a:rPr>
                            <a:t>Question 1</a:t>
                          </a:r>
                        </a:p>
                        <a:p>
                          <a:endParaRPr lang="en-GB" sz="1200" b="0" dirty="0">
                            <a:solidFill>
                              <a:schemeClr val="tx1"/>
                            </a:solidFill>
                          </a:endParaRPr>
                        </a:p>
                        <a:p>
                          <a:r>
                            <a:rPr lang="en-GB" sz="1200" b="0" dirty="0">
                              <a:solidFill>
                                <a:schemeClr val="tx1"/>
                              </a:solidFill>
                            </a:rPr>
                            <a:t>Use a calculator to work out each of the following.</a:t>
                          </a:r>
                        </a:p>
                        <a:p>
                          <a:endParaRPr lang="en-GB" sz="1200" b="0" dirty="0">
                            <a:solidFill>
                              <a:schemeClr val="tx1"/>
                            </a:solidFill>
                          </a:endParaRPr>
                        </a:p>
                        <a:p>
                          <a:r>
                            <a:rPr lang="en-GB" sz="1200" b="0" dirty="0">
                              <a:solidFill>
                                <a:schemeClr val="tx1"/>
                              </a:solidFill>
                            </a:rPr>
                            <a:t>Write down all of the figures on your display.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8747301"/>
                      </a:ext>
                    </a:extLst>
                  </a:tr>
                  <a:tr h="46361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629" t="-213514" r="-201258" b="-1545946"/>
                          </a:stretch>
                        </a:blipFill>
                      </a:tcPr>
                    </a:tc>
                    <a:tc grid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0000" t="-213514" r="-100000" b="-1545946"/>
                          </a:stretch>
                        </a:blipFill>
                      </a:tcPr>
                    </a:tc>
                    <a:tc hMerge="1">
                      <a:txBody>
                        <a:bodyPr/>
                        <a:lstStyle/>
                        <a:p>
                          <a:endParaRPr lang="en-US"/>
                        </a:p>
                      </a:txBody>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1258" t="-213514" r="-629" b="-1545946"/>
                          </a:stretch>
                        </a:blipFill>
                      </a:tcPr>
                    </a:tc>
                    <a:extLst>
                      <a:ext uri="{0D108BD9-81ED-4DB2-BD59-A6C34878D82A}">
                        <a16:rowId xmlns:a16="http://schemas.microsoft.com/office/drawing/2014/main" val="2940371551"/>
                      </a:ext>
                    </a:extLst>
                  </a:tr>
                  <a:tr h="1005840">
                    <a:tc>
                      <a:txBody>
                        <a:bodyPr/>
                        <a:lstStyle/>
                        <a:p>
                          <a:endParaRPr lang="en-GB" sz="1200" dirty="0"/>
                        </a:p>
                        <a:p>
                          <a:endParaRPr lang="en-GB" sz="1200" dirty="0"/>
                        </a:p>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067645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629" t="-672414" r="-201258" b="-1600000"/>
                          </a:stretch>
                        </a:blipFill>
                      </a:tcPr>
                    </a:tc>
                    <a:tc grid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0000" t="-672414" r="-100000" b="-1600000"/>
                          </a:stretch>
                        </a:blipFill>
                      </a:tcPr>
                    </a:tc>
                    <a:tc hMerge="1">
                      <a:txBody>
                        <a:bodyPr/>
                        <a:lstStyle/>
                        <a:p>
                          <a:endParaRPr lang="en-US"/>
                        </a:p>
                      </a:txBody>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1258" t="-672414" r="-629" b="-1600000"/>
                          </a:stretch>
                        </a:blipFill>
                      </a:tcPr>
                    </a:tc>
                    <a:extLst>
                      <a:ext uri="{0D108BD9-81ED-4DB2-BD59-A6C34878D82A}">
                        <a16:rowId xmlns:a16="http://schemas.microsoft.com/office/drawing/2014/main" val="4110082422"/>
                      </a:ext>
                    </a:extLst>
                  </a:tr>
                  <a:tr h="1188720">
                    <a:tc>
                      <a:txBody>
                        <a:bodyPr/>
                        <a:lstStyle/>
                        <a:p>
                          <a:endParaRPr lang="en-GB" sz="1200" dirty="0"/>
                        </a:p>
                        <a:p>
                          <a:endParaRPr lang="en-GB" sz="1200" dirty="0"/>
                        </a:p>
                        <a:p>
                          <a:endParaRPr lang="en-GB" sz="1200" dirty="0"/>
                        </a:p>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3597252"/>
                      </a:ext>
                    </a:extLst>
                  </a:tr>
                  <a:tr h="63182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629" t="-636000" r="-201258" b="-640000"/>
                          </a:stretch>
                        </a:blipFill>
                      </a:tcPr>
                    </a:tc>
                    <a:tc grid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0000" t="-636000" r="-100000" b="-640000"/>
                          </a:stretch>
                        </a:blipFill>
                      </a:tcPr>
                    </a:tc>
                    <a:tc hMerge="1">
                      <a:txBody>
                        <a:bodyPr/>
                        <a:lstStyle/>
                        <a:p>
                          <a:endParaRPr lang="en-US"/>
                        </a:p>
                      </a:txBody>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1258" t="-636000" r="-629" b="-640000"/>
                          </a:stretch>
                        </a:blipFill>
                      </a:tcPr>
                    </a:tc>
                    <a:extLst>
                      <a:ext uri="{0D108BD9-81ED-4DB2-BD59-A6C34878D82A}">
                        <a16:rowId xmlns:a16="http://schemas.microsoft.com/office/drawing/2014/main" val="309156106"/>
                      </a:ext>
                    </a:extLst>
                  </a:tr>
                  <a:tr h="1188720">
                    <a:tc>
                      <a:txBody>
                        <a:bodyPr/>
                        <a:lstStyle/>
                        <a:p>
                          <a:endParaRPr lang="en-GB" sz="1200" dirty="0"/>
                        </a:p>
                        <a:p>
                          <a:endParaRPr lang="en-GB" sz="1200" dirty="0"/>
                        </a:p>
                        <a:p>
                          <a:endParaRPr lang="en-GB" sz="1200" dirty="0"/>
                        </a:p>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1939360"/>
                      </a:ext>
                    </a:extLst>
                  </a:tr>
                  <a:tr h="771779">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v) </a:t>
                          </a:r>
                          <a:r>
                            <a:rPr kumimoji="0" lang="en-GB" sz="1200" b="0" i="0" u="none" strike="noStrike" kern="1200" cap="none" spc="0" normalizeH="0" baseline="0" noProof="0" dirty="0">
                              <a:ln>
                                <a:noFill/>
                              </a:ln>
                              <a:solidFill>
                                <a:prstClr val="black"/>
                              </a:solidFill>
                              <a:effectLst/>
                              <a:uLnTx/>
                              <a:uFillTx/>
                              <a:latin typeface="+mn-lt"/>
                              <a:ea typeface="+mn-ea"/>
                              <a:cs typeface="+mn-cs"/>
                            </a:rPr>
                            <a:t>Choose values for </a:t>
                          </a:r>
                          <a:r>
                            <a:rPr kumimoji="0" lang="en-GB" sz="1200" b="0" i="1" u="none" strike="noStrike" kern="1200" cap="none" spc="0" normalizeH="0" baseline="0" noProof="0" dirty="0">
                              <a:ln>
                                <a:noFill/>
                              </a:ln>
                              <a:solidFill>
                                <a:prstClr val="black"/>
                              </a:solidFill>
                              <a:effectLst/>
                              <a:uLnTx/>
                              <a:uFillTx/>
                              <a:latin typeface="+mn-lt"/>
                              <a:ea typeface="+mn-ea"/>
                              <a:cs typeface="+mn-cs"/>
                            </a:rPr>
                            <a:t>a</a:t>
                          </a:r>
                          <a:r>
                            <a:rPr kumimoji="0" lang="en-GB" sz="1200" b="0" i="0" u="none" strike="noStrike" kern="1200" cap="none" spc="0" normalizeH="0" baseline="0" noProof="0" dirty="0">
                              <a:ln>
                                <a:noFill/>
                              </a:ln>
                              <a:solidFill>
                                <a:prstClr val="black"/>
                              </a:solidFill>
                              <a:effectLst/>
                              <a:uLnTx/>
                              <a:uFillTx/>
                              <a:latin typeface="+mn-lt"/>
                              <a:ea typeface="+mn-ea"/>
                              <a:cs typeface="+mn-cs"/>
                            </a:rPr>
                            <a:t> and </a:t>
                          </a:r>
                          <a:r>
                            <a:rPr kumimoji="0" lang="en-GB" sz="1200" b="0" i="1" u="none" strike="noStrike" kern="1200" cap="none" spc="0" normalizeH="0" baseline="0" noProof="0" dirty="0">
                              <a:ln>
                                <a:noFill/>
                              </a:ln>
                              <a:solidFill>
                                <a:prstClr val="black"/>
                              </a:solidFill>
                              <a:effectLst/>
                              <a:uLnTx/>
                              <a:uFillTx/>
                              <a:latin typeface="+mn-lt"/>
                              <a:ea typeface="+mn-ea"/>
                              <a:cs typeface="+mn-cs"/>
                            </a:rPr>
                            <a:t>b</a:t>
                          </a:r>
                          <a:r>
                            <a:rPr kumimoji="0" lang="en-GB" sz="1200" b="0" i="0" u="none" strike="noStrike" kern="1200" cap="none" spc="0" normalizeH="0" baseline="0" noProof="0" dirty="0">
                              <a:ln>
                                <a:noFill/>
                              </a:ln>
                              <a:solidFill>
                                <a:prstClr val="black"/>
                              </a:solidFill>
                              <a:effectLst/>
                              <a:uLnTx/>
                              <a:uFillTx/>
                              <a:latin typeface="+mn-lt"/>
                              <a:ea typeface="+mn-ea"/>
                              <a:cs typeface="+mn-cs"/>
                            </a:rPr>
                            <a:t> and use your calculator to test whether or not these statements are true.</a:t>
                          </a:r>
                        </a:p>
                        <a:p>
                          <a:pPr marL="266700" marR="0" lvl="0" indent="0" algn="l" defTabSz="9144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i)    (</a:t>
                          </a:r>
                          <a:r>
                            <a:rPr kumimoji="0" lang="en-GB" sz="1200" b="0" i="1" u="none" strike="noStrike" kern="1200" cap="none" spc="0" normalizeH="0" baseline="0" noProof="0" dirty="0">
                              <a:ln>
                                <a:noFill/>
                              </a:ln>
                              <a:solidFill>
                                <a:prstClr val="black"/>
                              </a:solidFill>
                              <a:effectLst/>
                              <a:uLnTx/>
                              <a:uFillTx/>
                              <a:latin typeface="+mn-lt"/>
                              <a:ea typeface="+mn-ea"/>
                              <a:cs typeface="+mn-cs"/>
                            </a:rPr>
                            <a:t>a</a:t>
                          </a:r>
                          <a:r>
                            <a:rPr kumimoji="0" lang="en-GB" sz="1200" b="0" i="0" u="none" strike="noStrike" kern="1200" cap="none" spc="0" normalizeH="0" baseline="0" noProof="0" dirty="0">
                              <a:ln>
                                <a:noFill/>
                              </a:ln>
                              <a:solidFill>
                                <a:prstClr val="black"/>
                              </a:solidFill>
                              <a:effectLst/>
                              <a:uLnTx/>
                              <a:uFillTx/>
                              <a:latin typeface="+mn-lt"/>
                              <a:ea typeface="+mn-ea"/>
                              <a:cs typeface="+mn-cs"/>
                            </a:rPr>
                            <a:t> − </a:t>
                          </a:r>
                          <a:r>
                            <a:rPr kumimoji="0" lang="en-GB" sz="1200" b="0" i="1" u="none" strike="noStrike" kern="1200" cap="none" spc="0" normalizeH="0" baseline="0" noProof="0" dirty="0">
                              <a:ln>
                                <a:noFill/>
                              </a:ln>
                              <a:solidFill>
                                <a:prstClr val="black"/>
                              </a:solidFill>
                              <a:effectLst/>
                              <a:uLnTx/>
                              <a:uFillTx/>
                              <a:latin typeface="+mn-lt"/>
                              <a:ea typeface="+mn-ea"/>
                              <a:cs typeface="+mn-cs"/>
                            </a:rPr>
                            <a:t>b</a:t>
                          </a:r>
                          <a:r>
                            <a:rPr kumimoji="0" lang="en-GB" sz="1200" b="0" i="0" u="none" strike="noStrike" kern="1200" cap="none" spc="0" normalizeH="0" baseline="0" noProof="0" dirty="0">
                              <a:ln>
                                <a:noFill/>
                              </a:ln>
                              <a:solidFill>
                                <a:prstClr val="black"/>
                              </a:solidFill>
                              <a:effectLst/>
                              <a:uLnTx/>
                              <a:uFillTx/>
                              <a:latin typeface="+mn-lt"/>
                              <a:ea typeface="+mn-ea"/>
                              <a:cs typeface="+mn-cs"/>
                            </a:rPr>
                            <a:t>)(</a:t>
                          </a:r>
                          <a:r>
                            <a:rPr kumimoji="0" lang="en-GB" sz="1200" b="0" i="1" u="none" strike="noStrike" kern="1200" cap="none" spc="0" normalizeH="0" baseline="0" noProof="0" dirty="0">
                              <a:ln>
                                <a:noFill/>
                              </a:ln>
                              <a:solidFill>
                                <a:prstClr val="black"/>
                              </a:solidFill>
                              <a:effectLst/>
                              <a:uLnTx/>
                              <a:uFillTx/>
                              <a:latin typeface="+mn-lt"/>
                              <a:ea typeface="+mn-ea"/>
                              <a:cs typeface="+mn-cs"/>
                            </a:rPr>
                            <a:t>a</a:t>
                          </a:r>
                          <a:r>
                            <a:rPr kumimoji="0" lang="en-GB" sz="1200" b="0" i="0" u="none" strike="noStrike" kern="1200" cap="none" spc="0" normalizeH="0" baseline="0" noProof="0" dirty="0">
                              <a:ln>
                                <a:noFill/>
                              </a:ln>
                              <a:solidFill>
                                <a:prstClr val="black"/>
                              </a:solidFill>
                              <a:effectLst/>
                              <a:uLnTx/>
                              <a:uFillTx/>
                              <a:latin typeface="+mn-lt"/>
                              <a:ea typeface="+mn-ea"/>
                              <a:cs typeface="+mn-cs"/>
                            </a:rPr>
                            <a:t> + </a:t>
                          </a:r>
                          <a:r>
                            <a:rPr kumimoji="0" lang="en-GB" sz="1200" b="0" i="1" u="none" strike="noStrike" kern="1200" cap="none" spc="0" normalizeH="0" baseline="0" noProof="0" dirty="0">
                              <a:ln>
                                <a:noFill/>
                              </a:ln>
                              <a:solidFill>
                                <a:prstClr val="black"/>
                              </a:solidFill>
                              <a:effectLst/>
                              <a:uLnTx/>
                              <a:uFillTx/>
                              <a:latin typeface="+mn-lt"/>
                              <a:ea typeface="+mn-ea"/>
                              <a:cs typeface="+mn-cs"/>
                            </a:rPr>
                            <a:t>b</a:t>
                          </a:r>
                          <a:r>
                            <a:rPr kumimoji="0" lang="en-GB" sz="1200" b="0" i="0" u="none" strike="noStrike" kern="1200" cap="none" spc="0" normalizeH="0" baseline="0" noProof="0" dirty="0">
                              <a:ln>
                                <a:noFill/>
                              </a:ln>
                              <a:solidFill>
                                <a:prstClr val="black"/>
                              </a:solidFill>
                              <a:effectLst/>
                              <a:uLnTx/>
                              <a:uFillTx/>
                              <a:latin typeface="+mn-lt"/>
                              <a:ea typeface="+mn-ea"/>
                              <a:cs typeface="+mn-cs"/>
                            </a:rPr>
                            <a:t>) = </a:t>
                          </a:r>
                          <a:r>
                            <a:rPr kumimoji="0" lang="en-GB" sz="1200" b="0" i="1" u="none" strike="noStrike" kern="1200" cap="none" spc="0" normalizeH="0" baseline="0" noProof="0" dirty="0">
                              <a:ln>
                                <a:noFill/>
                              </a:ln>
                              <a:solidFill>
                                <a:prstClr val="black"/>
                              </a:solidFill>
                              <a:effectLst/>
                              <a:uLnTx/>
                              <a:uFillTx/>
                              <a:latin typeface="+mn-lt"/>
                              <a:ea typeface="+mn-ea"/>
                              <a:cs typeface="+mn-cs"/>
                            </a:rPr>
                            <a:t>a</a:t>
                          </a:r>
                          <a:r>
                            <a:rPr kumimoji="0" lang="en-GB" sz="1200" b="0" i="0" u="none" strike="noStrike" kern="1200" cap="none" spc="0" normalizeH="0" baseline="30000" noProof="0" dirty="0">
                              <a:ln>
                                <a:noFill/>
                              </a:ln>
                              <a:solidFill>
                                <a:prstClr val="black"/>
                              </a:solidFill>
                              <a:effectLst/>
                              <a:uLnTx/>
                              <a:uFillTx/>
                              <a:latin typeface="+mn-lt"/>
                              <a:ea typeface="+mn-ea"/>
                              <a:cs typeface="+mn-cs"/>
                            </a:rPr>
                            <a:t>2</a:t>
                          </a:r>
                          <a:r>
                            <a:rPr kumimoji="0" lang="en-GB" sz="1200" b="0" i="0" u="none" strike="noStrike" kern="1200" cap="none" spc="0" normalizeH="0" baseline="0" noProof="0" dirty="0">
                              <a:ln>
                                <a:noFill/>
                              </a:ln>
                              <a:solidFill>
                                <a:prstClr val="black"/>
                              </a:solidFill>
                              <a:effectLst/>
                              <a:uLnTx/>
                              <a:uFillTx/>
                              <a:latin typeface="+mn-lt"/>
                              <a:ea typeface="+mn-ea"/>
                              <a:cs typeface="+mn-cs"/>
                            </a:rPr>
                            <a:t> − </a:t>
                          </a:r>
                          <a:r>
                            <a:rPr kumimoji="0" lang="en-GB" sz="1200" b="0" i="1" u="none" strike="noStrike" kern="1200" cap="none" spc="0" normalizeH="0" baseline="0" noProof="0" dirty="0">
                              <a:ln>
                                <a:noFill/>
                              </a:ln>
                              <a:solidFill>
                                <a:prstClr val="black"/>
                              </a:solidFill>
                              <a:effectLst/>
                              <a:uLnTx/>
                              <a:uFillTx/>
                              <a:latin typeface="+mn-lt"/>
                              <a:ea typeface="+mn-ea"/>
                              <a:cs typeface="+mn-cs"/>
                            </a:rPr>
                            <a:t>b</a:t>
                          </a:r>
                          <a:r>
                            <a:rPr kumimoji="0" lang="en-GB" sz="1200" b="0" i="0" u="none" strike="noStrike" kern="1200" cap="none" spc="0" normalizeH="0" baseline="30000" noProof="0" dirty="0">
                              <a:ln>
                                <a:noFill/>
                              </a:ln>
                              <a:solidFill>
                                <a:prstClr val="black"/>
                              </a:solidFill>
                              <a:effectLst/>
                              <a:uLnTx/>
                              <a:uFillTx/>
                              <a:latin typeface="+mn-lt"/>
                              <a:ea typeface="+mn-ea"/>
                              <a:cs typeface="+mn-cs"/>
                            </a:rPr>
                            <a:t>2</a:t>
                          </a:r>
                          <a:endParaRPr kumimoji="0" lang="en-GB" sz="120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5679208"/>
                      </a:ext>
                    </a:extLst>
                  </a:tr>
                  <a:tr h="2088000">
                    <a:tc gridSpan="2">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81156"/>
                      </a:ext>
                    </a:extLst>
                  </a:tr>
                </a:tbl>
              </a:graphicData>
            </a:graphic>
          </p:graphicFrame>
        </mc:Fallback>
      </mc:AlternateContent>
      <p:sp>
        <p:nvSpPr>
          <p:cNvPr id="20" name="Rectangle 19">
            <a:extLst>
              <a:ext uri="{FF2B5EF4-FFF2-40B4-BE49-F238E27FC236}">
                <a16:creationId xmlns:a16="http://schemas.microsoft.com/office/drawing/2014/main" id="{B3509BEF-C38C-37B4-A092-87A1EC041B19}"/>
              </a:ext>
            </a:extLst>
          </p:cNvPr>
          <p:cNvSpPr/>
          <p:nvPr/>
        </p:nvSpPr>
        <p:spPr>
          <a:xfrm>
            <a:off x="400050" y="269147"/>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
        <p:nvSpPr>
          <p:cNvPr id="5" name="Rectangle 4">
            <a:extLst>
              <a:ext uri="{FF2B5EF4-FFF2-40B4-BE49-F238E27FC236}">
                <a16:creationId xmlns:a16="http://schemas.microsoft.com/office/drawing/2014/main" id="{BB38FF9E-4CCE-33BE-E55B-9CCB3006A4AF}"/>
              </a:ext>
            </a:extLst>
          </p:cNvPr>
          <p:cNvSpPr/>
          <p:nvPr/>
        </p:nvSpPr>
        <p:spPr>
          <a:xfrm>
            <a:off x="3429000" y="6967896"/>
            <a:ext cx="1899879"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prstClr val="black"/>
                </a:solidFill>
                <a:latin typeface="Calibri" panose="020F0502020204030204"/>
              </a:rPr>
              <a:t>ii</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200" b="0" i="1" u="none" strike="noStrike" kern="1200" cap="none" spc="0" normalizeH="0" baseline="0" noProof="0" dirty="0">
                <a:ln>
                  <a:noFill/>
                </a:ln>
                <a:solidFill>
                  <a:prstClr val="black"/>
                </a:solidFill>
                <a:effectLst/>
                <a:uLnTx/>
                <a:uFillTx/>
                <a:latin typeface="Calibri" panose="020F0502020204030204"/>
                <a:ea typeface="+mn-ea"/>
                <a:cs typeface="+mn-cs"/>
              </a:rPr>
              <a:t>a</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1" u="none" strike="noStrike" kern="1200" cap="none" spc="0" normalizeH="0" baseline="0" noProof="0" dirty="0">
                <a:ln>
                  <a:noFill/>
                </a:ln>
                <a:solidFill>
                  <a:prstClr val="black"/>
                </a:solidFill>
                <a:effectLst/>
                <a:uLnTx/>
                <a:uFillTx/>
                <a:latin typeface="Calibri" panose="020F0502020204030204"/>
                <a:ea typeface="+mn-ea"/>
                <a:cs typeface="+mn-cs"/>
              </a:rPr>
              <a:t>b</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GB" sz="1200" b="0" i="0" u="none" strike="noStrike" kern="1200" cap="none" spc="0" normalizeH="0" baseline="30000" noProof="0" dirty="0">
                <a:ln>
                  <a:noFill/>
                </a:ln>
                <a:solidFill>
                  <a:prstClr val="black"/>
                </a:solidFill>
                <a:effectLst/>
                <a:uLnTx/>
                <a:uFillTx/>
                <a:latin typeface="Calibri" panose="020F0502020204030204"/>
                <a:ea typeface="+mn-ea"/>
                <a:cs typeface="+mn-cs"/>
              </a:rPr>
              <a:t>2</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1" u="none" strike="noStrike" kern="1200" cap="none" spc="0" normalizeH="0" baseline="0" noProof="0" dirty="0">
                <a:ln>
                  <a:noFill/>
                </a:ln>
                <a:solidFill>
                  <a:prstClr val="black"/>
                </a:solidFill>
                <a:effectLst/>
                <a:uLnTx/>
                <a:uFillTx/>
                <a:latin typeface="Calibri" panose="020F0502020204030204"/>
                <a:ea typeface="+mn-ea"/>
                <a:cs typeface="+mn-cs"/>
              </a:rPr>
              <a:t>a</a:t>
            </a:r>
            <a:r>
              <a:rPr kumimoji="0" lang="en-GB" sz="1200" b="0" i="0" u="none" strike="noStrike" kern="1200" cap="none" spc="0" normalizeH="0" baseline="30000" noProof="0" dirty="0">
                <a:ln>
                  <a:noFill/>
                </a:ln>
                <a:solidFill>
                  <a:prstClr val="black"/>
                </a:solidFill>
                <a:effectLst/>
                <a:uLnTx/>
                <a:uFillTx/>
                <a:latin typeface="Calibri" panose="020F0502020204030204"/>
                <a:ea typeface="+mn-ea"/>
                <a:cs typeface="+mn-cs"/>
              </a:rPr>
              <a:t>2</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− 2</a:t>
            </a:r>
            <a:r>
              <a:rPr kumimoji="0" lang="en-GB" sz="1200" b="0" i="1" u="none" strike="noStrike" kern="1200" cap="none" spc="0" normalizeH="0" baseline="0" noProof="0" dirty="0">
                <a:ln>
                  <a:noFill/>
                </a:ln>
                <a:solidFill>
                  <a:prstClr val="black"/>
                </a:solidFill>
                <a:effectLst/>
                <a:uLnTx/>
                <a:uFillTx/>
                <a:latin typeface="Calibri" panose="020F0502020204030204"/>
                <a:ea typeface="+mn-ea"/>
                <a:cs typeface="+mn-cs"/>
              </a:rPr>
              <a:t>ab</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1" u="none" strike="noStrike" kern="1200" cap="none" spc="0" normalizeH="0" baseline="0" noProof="0" dirty="0">
                <a:ln>
                  <a:noFill/>
                </a:ln>
                <a:solidFill>
                  <a:prstClr val="black"/>
                </a:solidFill>
                <a:effectLst/>
                <a:uLnTx/>
                <a:uFillTx/>
                <a:latin typeface="Calibri" panose="020F0502020204030204"/>
                <a:ea typeface="+mn-ea"/>
                <a:cs typeface="+mn-cs"/>
              </a:rPr>
              <a:t>b</a:t>
            </a:r>
            <a:r>
              <a:rPr kumimoji="0" lang="en-GB" sz="1200" b="0" i="0" u="none" strike="noStrike" kern="1200" cap="none" spc="0" normalizeH="0" baseline="30000" noProof="0" dirty="0">
                <a:ln>
                  <a:noFill/>
                </a:ln>
                <a:solidFill>
                  <a:prstClr val="black"/>
                </a:solidFill>
                <a:effectLst/>
                <a:uLnTx/>
                <a:uFillTx/>
                <a:latin typeface="Calibri" panose="020F0502020204030204"/>
                <a:ea typeface="+mn-ea"/>
                <a:cs typeface="+mn-cs"/>
              </a:rPr>
              <a:t>2</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108181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510349-A1DD-30F3-A01C-4987C8B4B423}"/>
              </a:ext>
            </a:extLst>
          </p:cNvPr>
          <p:cNvSpPr>
            <a:spLocks noGrp="1"/>
          </p:cNvSpPr>
          <p:nvPr>
            <p:ph type="sldNum" sz="quarter" idx="12"/>
          </p:nvPr>
        </p:nvSpPr>
        <p:spPr/>
        <p:txBody>
          <a:bodyPr/>
          <a:lstStyle/>
          <a:p>
            <a:fld id="{19F1D9CC-7119-45EC-A96C-D8C0660F3AAB}" type="slidenum">
              <a:rPr lang="en-GB" smtClean="0"/>
              <a:t>87</a:t>
            </a:fld>
            <a:endParaRPr lang="en-GB"/>
          </a:p>
        </p:txBody>
      </p:sp>
      <p:sp>
        <p:nvSpPr>
          <p:cNvPr id="3" name="Rectangle 2">
            <a:extLst>
              <a:ext uri="{FF2B5EF4-FFF2-40B4-BE49-F238E27FC236}">
                <a16:creationId xmlns:a16="http://schemas.microsoft.com/office/drawing/2014/main" id="{957B97CF-77EE-2002-7F6F-69A564846848}"/>
              </a:ext>
            </a:extLst>
          </p:cNvPr>
          <p:cNvSpPr/>
          <p:nvPr/>
        </p:nvSpPr>
        <p:spPr>
          <a:xfrm>
            <a:off x="-1" y="0"/>
            <a:ext cx="4008329"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t>GCSE Past Paper Questions</a:t>
            </a:r>
          </a:p>
        </p:txBody>
      </p:sp>
      <p:pic>
        <p:nvPicPr>
          <p:cNvPr id="5" name="Picture 4" descr="A screenshot of a test&#10;&#10;AI-generated content may be incorrect.">
            <a:extLst>
              <a:ext uri="{FF2B5EF4-FFF2-40B4-BE49-F238E27FC236}">
                <a16:creationId xmlns:a16="http://schemas.microsoft.com/office/drawing/2014/main" id="{4FD2544E-EE1F-FB4C-8F0B-1C3201ACE4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443" y="452284"/>
            <a:ext cx="6325771" cy="8867080"/>
          </a:xfrm>
          <a:prstGeom prst="rect">
            <a:avLst/>
          </a:prstGeom>
        </p:spPr>
      </p:pic>
    </p:spTree>
    <p:extLst>
      <p:ext uri="{BB962C8B-B14F-4D97-AF65-F5344CB8AC3E}">
        <p14:creationId xmlns:p14="http://schemas.microsoft.com/office/powerpoint/2010/main" val="273042556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7E861-C4FE-10F0-3696-53E106BC738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8024C2-1906-8351-D646-B2FFB68E442D}"/>
              </a:ext>
            </a:extLst>
          </p:cNvPr>
          <p:cNvSpPr>
            <a:spLocks noGrp="1"/>
          </p:cNvSpPr>
          <p:nvPr>
            <p:ph type="sldNum" sz="quarter" idx="12"/>
          </p:nvPr>
        </p:nvSpPr>
        <p:spPr/>
        <p:txBody>
          <a:bodyPr/>
          <a:lstStyle/>
          <a:p>
            <a:fld id="{19F1D9CC-7119-45EC-A96C-D8C0660F3AAB}" type="slidenum">
              <a:rPr lang="en-GB" smtClean="0"/>
              <a:t>88</a:t>
            </a:fld>
            <a:endParaRPr lang="en-GB"/>
          </a:p>
        </p:txBody>
      </p:sp>
      <p:pic>
        <p:nvPicPr>
          <p:cNvPr id="4" name="Picture 3" descr="A paper with text and numbers&#10;&#10;AI-generated content may be incorrect.">
            <a:extLst>
              <a:ext uri="{FF2B5EF4-FFF2-40B4-BE49-F238E27FC236}">
                <a16:creationId xmlns:a16="http://schemas.microsoft.com/office/drawing/2014/main" id="{F8533C0A-B393-6025-2067-BB80A5D43A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138" y="140672"/>
            <a:ext cx="6552013" cy="7951141"/>
          </a:xfrm>
          <a:prstGeom prst="rect">
            <a:avLst/>
          </a:prstGeom>
        </p:spPr>
      </p:pic>
    </p:spTree>
    <p:extLst>
      <p:ext uri="{BB962C8B-B14F-4D97-AF65-F5344CB8AC3E}">
        <p14:creationId xmlns:p14="http://schemas.microsoft.com/office/powerpoint/2010/main" val="157575977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8632A-C18A-986E-1CB2-2B36048F997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2EE4BD-1402-D05D-4D1B-55F52A065506}"/>
              </a:ext>
            </a:extLst>
          </p:cNvPr>
          <p:cNvSpPr>
            <a:spLocks noGrp="1"/>
          </p:cNvSpPr>
          <p:nvPr>
            <p:ph type="sldNum" sz="quarter" idx="12"/>
          </p:nvPr>
        </p:nvSpPr>
        <p:spPr/>
        <p:txBody>
          <a:bodyPr/>
          <a:lstStyle/>
          <a:p>
            <a:fld id="{19F1D9CC-7119-45EC-A96C-D8C0660F3AAB}" type="slidenum">
              <a:rPr lang="en-GB" smtClean="0"/>
              <a:t>89</a:t>
            </a:fld>
            <a:endParaRPr lang="en-GB"/>
          </a:p>
        </p:txBody>
      </p:sp>
      <p:pic>
        <p:nvPicPr>
          <p:cNvPr id="4" name="Picture 3" descr="A screenshot of a test&#10;&#10;AI-generated content may be incorrect.">
            <a:extLst>
              <a:ext uri="{FF2B5EF4-FFF2-40B4-BE49-F238E27FC236}">
                <a16:creationId xmlns:a16="http://schemas.microsoft.com/office/drawing/2014/main" id="{0402CCBF-05A3-FF35-FAAF-C6D35DA8B4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600" y="197200"/>
            <a:ext cx="6476800" cy="8516207"/>
          </a:xfrm>
          <a:prstGeom prst="rect">
            <a:avLst/>
          </a:prstGeom>
        </p:spPr>
      </p:pic>
    </p:spTree>
    <p:extLst>
      <p:ext uri="{BB962C8B-B14F-4D97-AF65-F5344CB8AC3E}">
        <p14:creationId xmlns:p14="http://schemas.microsoft.com/office/powerpoint/2010/main" val="24823324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90CF-3E75-3E4B-4691-8329834CF79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74328-1120-DB41-5FE1-ABE4A7C7239D}"/>
              </a:ext>
            </a:extLst>
          </p:cNvPr>
          <p:cNvSpPr>
            <a:spLocks noGrp="1"/>
          </p:cNvSpPr>
          <p:nvPr>
            <p:ph type="sldNum" sz="quarter" idx="12"/>
          </p:nvPr>
        </p:nvSpPr>
        <p:spPr/>
        <p:txBody>
          <a:bodyPr/>
          <a:lstStyle/>
          <a:p>
            <a:fld id="{19F1D9CC-7119-45EC-A96C-D8C0660F3AAB}" type="slidenum">
              <a:rPr lang="en-GB" smtClean="0"/>
              <a:t>90</a:t>
            </a:fld>
            <a:endParaRPr lang="en-GB"/>
          </a:p>
        </p:txBody>
      </p:sp>
      <p:pic>
        <p:nvPicPr>
          <p:cNvPr id="4" name="Picture 3" descr="A screenshot of a math test&#10;&#10;AI-generated content may be incorrect.">
            <a:extLst>
              <a:ext uri="{FF2B5EF4-FFF2-40B4-BE49-F238E27FC236}">
                <a16:creationId xmlns:a16="http://schemas.microsoft.com/office/drawing/2014/main" id="{A58FF203-76ED-792C-9E6C-5D202E8DF0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6713951" cy="9339648"/>
          </a:xfrm>
          <a:prstGeom prst="rect">
            <a:avLst/>
          </a:prstGeom>
        </p:spPr>
      </p:pic>
    </p:spTree>
    <p:extLst>
      <p:ext uri="{BB962C8B-B14F-4D97-AF65-F5344CB8AC3E}">
        <p14:creationId xmlns:p14="http://schemas.microsoft.com/office/powerpoint/2010/main" val="254497694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75E0C-0BC5-5173-5CAD-E019DF989F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BDF8C3-3188-42D7-49E8-DEDF57063497}"/>
              </a:ext>
            </a:extLst>
          </p:cNvPr>
          <p:cNvSpPr>
            <a:spLocks noGrp="1"/>
          </p:cNvSpPr>
          <p:nvPr>
            <p:ph type="sldNum" sz="quarter" idx="12"/>
          </p:nvPr>
        </p:nvSpPr>
        <p:spPr/>
        <p:txBody>
          <a:bodyPr/>
          <a:lstStyle/>
          <a:p>
            <a:fld id="{19F1D9CC-7119-45EC-A96C-D8C0660F3AAB}" type="slidenum">
              <a:rPr lang="en-GB" smtClean="0"/>
              <a:t>91</a:t>
            </a:fld>
            <a:endParaRPr lang="en-GB"/>
          </a:p>
        </p:txBody>
      </p:sp>
      <p:pic>
        <p:nvPicPr>
          <p:cNvPr id="6" name="Picture 5" descr="A math problem with a number&#10;&#10;AI-generated content may be incorrect.">
            <a:extLst>
              <a:ext uri="{FF2B5EF4-FFF2-40B4-BE49-F238E27FC236}">
                <a16:creationId xmlns:a16="http://schemas.microsoft.com/office/drawing/2014/main" id="{0CFA15B5-22E9-F5C4-073E-28F830A4C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964" y="160041"/>
            <a:ext cx="6347306" cy="6754326"/>
          </a:xfrm>
          <a:prstGeom prst="rect">
            <a:avLst/>
          </a:prstGeom>
        </p:spPr>
      </p:pic>
    </p:spTree>
    <p:extLst>
      <p:ext uri="{BB962C8B-B14F-4D97-AF65-F5344CB8AC3E}">
        <p14:creationId xmlns:p14="http://schemas.microsoft.com/office/powerpoint/2010/main" val="313742755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5" ma:contentTypeDescription="Create a new document." ma:contentTypeScope="" ma:versionID="c36092110cefcca6e5858c535339940c">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3c7dc145ce5e2630103f335797796874"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08CC0EE-6BD2-49A5-B9D5-849A50B03AF3}">
  <ds:schemaRefs>
    <ds:schemaRef ds:uri="http://schemas.microsoft.com/sharepoint/v3/contenttype/forms"/>
  </ds:schemaRefs>
</ds:datastoreItem>
</file>

<file path=customXml/itemProps2.xml><?xml version="1.0" encoding="utf-8"?>
<ds:datastoreItem xmlns:ds="http://schemas.openxmlformats.org/officeDocument/2006/customXml" ds:itemID="{C63C47A6-E1D1-4C6F-8309-94E3C4F65A67}"/>
</file>

<file path=customXml/itemProps3.xml><?xml version="1.0" encoding="utf-8"?>
<ds:datastoreItem xmlns:ds="http://schemas.openxmlformats.org/officeDocument/2006/customXml" ds:itemID="{0F6D76E5-7287-49DC-AF93-B1F4EB3F8258}">
  <ds:schemaRefs>
    <ds:schemaRef ds:uri="608ebbb4-e88b-4c99-b506-21d9362781c6"/>
    <ds:schemaRef ds:uri="http://purl.org/dc/dcmitype/"/>
    <ds:schemaRef ds:uri="http://purl.org/dc/elements/1.1/"/>
    <ds:schemaRef ds:uri="http://purl.org/dc/terms/"/>
    <ds:schemaRef ds:uri="e30b71df-48f4-4db7-95c3-a9033c265cb9"/>
    <ds:schemaRef ds:uri="http://www.w3.org/XML/1998/namespace"/>
    <ds:schemaRef ds:uri="http://schemas.microsoft.com/office/2006/metadata/properties"/>
    <ds:schemaRef ds:uri="http://schemas.microsoft.com/office/2006/documentManagement/types"/>
    <ds:schemaRef ds:uri="http://schemas.openxmlformats.org/package/2006/metadata/core-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8524</TotalTime>
  <Words>13803</Words>
  <Application>Microsoft Office PowerPoint</Application>
  <PresentationFormat>A4 Paper (210x297 mm)</PresentationFormat>
  <Paragraphs>2999</Paragraphs>
  <Slides>91</Slides>
  <Notes>39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91</vt:i4>
      </vt:variant>
    </vt:vector>
  </HeadingPairs>
  <TitlesOfParts>
    <vt:vector size="100" baseType="lpstr">
      <vt:lpstr>.AppleSystemUIFont</vt:lpstr>
      <vt:lpstr>Arial</vt:lpstr>
      <vt:lpstr>Calibri</vt:lpstr>
      <vt:lpstr>Calibri Light</vt:lpstr>
      <vt:lpstr>Cambria Math</vt:lpstr>
      <vt:lpstr>Google Sans</vt:lpstr>
      <vt:lpstr>Söhne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Wasiq Razaq (Astrea Academy Sheffield)</dc:creator>
  <cp:lastModifiedBy>Edward Commodore-Mensah (Cottenham)</cp:lastModifiedBy>
  <cp:revision>8</cp:revision>
  <cp:lastPrinted>2021-07-09T14:20:41Z</cp:lastPrinted>
  <dcterms:created xsi:type="dcterms:W3CDTF">2020-02-27T07:22:26Z</dcterms:created>
  <dcterms:modified xsi:type="dcterms:W3CDTF">2025-11-25T10:44:38Z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y fmtid="{D5CDD505-2E9C-101B-9397-08002B2CF9AE}" pid="3" name="Order">
    <vt:r8>12400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_SourceUrl">
    <vt:lpwstr/>
  </property>
  <property fmtid="{D5CDD505-2E9C-101B-9397-08002B2CF9AE}" pid="11" name="_SharedFileIndex">
    <vt:lpwstr/>
  </property>
</Properties>
</file>