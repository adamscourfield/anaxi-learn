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5"/>
  </p:notesMasterIdLst>
  <p:sldIdLst>
    <p:sldId id="609" r:id="rId5"/>
    <p:sldId id="610" r:id="rId6"/>
    <p:sldId id="760" r:id="rId7"/>
    <p:sldId id="761" r:id="rId8"/>
    <p:sldId id="762" r:id="rId9"/>
    <p:sldId id="779" r:id="rId10"/>
    <p:sldId id="781" r:id="rId11"/>
    <p:sldId id="408" r:id="rId12"/>
    <p:sldId id="410" r:id="rId13"/>
    <p:sldId id="763" r:id="rId14"/>
    <p:sldId id="765" r:id="rId15"/>
    <p:sldId id="638" r:id="rId16"/>
    <p:sldId id="639" r:id="rId17"/>
    <p:sldId id="771" r:id="rId18"/>
    <p:sldId id="386" r:id="rId19"/>
    <p:sldId id="387" r:id="rId20"/>
    <p:sldId id="782" r:id="rId21"/>
    <p:sldId id="298" r:id="rId22"/>
    <p:sldId id="301" r:id="rId23"/>
    <p:sldId id="304" r:id="rId24"/>
    <p:sldId id="271" r:id="rId25"/>
    <p:sldId id="308" r:id="rId26"/>
    <p:sldId id="391" r:id="rId27"/>
    <p:sldId id="783" r:id="rId28"/>
    <p:sldId id="311" r:id="rId29"/>
    <p:sldId id="784" r:id="rId30"/>
    <p:sldId id="785" r:id="rId31"/>
    <p:sldId id="786" r:id="rId32"/>
    <p:sldId id="787" r:id="rId33"/>
    <p:sldId id="423" r:id="rId34"/>
    <p:sldId id="318" r:id="rId35"/>
    <p:sldId id="319" r:id="rId36"/>
    <p:sldId id="788" r:id="rId37"/>
    <p:sldId id="789" r:id="rId38"/>
    <p:sldId id="790" r:id="rId39"/>
    <p:sldId id="403" r:id="rId40"/>
    <p:sldId id="1242" r:id="rId41"/>
    <p:sldId id="1243" r:id="rId42"/>
    <p:sldId id="1244" r:id="rId43"/>
    <p:sldId id="1245" r:id="rId44"/>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8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siq Razaq (Staff, Astrea Academy Sheffield)" initials="WR(AAS" lastIdx="17" clrIdx="0">
    <p:extLst>
      <p:ext uri="{19B8F6BF-5375-455C-9EA6-DF929625EA0E}">
        <p15:presenceInfo xmlns:p15="http://schemas.microsoft.com/office/powerpoint/2012/main" userId="S::wasiq.razaq@astreasheffield.org::159e9762-73e0-4ac1-a5d5-3ca02db9f4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2341"/>
    <a:srgbClr val="FF01B3"/>
    <a:srgbClr val="C4A000"/>
    <a:srgbClr val="8F5902"/>
    <a:srgbClr val="0000FF"/>
    <a:srgbClr val="B0B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247" autoAdjust="0"/>
  </p:normalViewPr>
  <p:slideViewPr>
    <p:cSldViewPr snapToGrid="0">
      <p:cViewPr varScale="1">
        <p:scale>
          <a:sx n="77" d="100"/>
          <a:sy n="77" d="100"/>
        </p:scale>
        <p:origin x="3150" y="96"/>
      </p:cViewPr>
      <p:guideLst>
        <p:guide orient="horz" pos="3120"/>
        <p:guide pos="2183"/>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6CE83D28-5A2E-4A34-83C3-D6906A85F5E1}"/>
    <pc:docChg chg="delSld">
      <pc:chgData name="Adam Brown (Astrea Central)" userId="e4577f1c-a0ea-4eef-9851-9bdbe8619e58" providerId="ADAL" clId="{6CE83D28-5A2E-4A34-83C3-D6906A85F5E1}" dt="2025-10-02T09:12:35.467" v="2" actId="47"/>
      <pc:docMkLst>
        <pc:docMk/>
      </pc:docMkLst>
      <pc:sldChg chg="del">
        <pc:chgData name="Adam Brown (Astrea Central)" userId="e4577f1c-a0ea-4eef-9851-9bdbe8619e58" providerId="ADAL" clId="{6CE83D28-5A2E-4A34-83C3-D6906A85F5E1}" dt="2025-10-02T09:12:28.713" v="0" actId="47"/>
        <pc:sldMkLst>
          <pc:docMk/>
          <pc:sldMk cId="962425829" sldId="263"/>
        </pc:sldMkLst>
      </pc:sldChg>
      <pc:sldChg chg="del">
        <pc:chgData name="Adam Brown (Astrea Central)" userId="e4577f1c-a0ea-4eef-9851-9bdbe8619e58" providerId="ADAL" clId="{6CE83D28-5A2E-4A34-83C3-D6906A85F5E1}" dt="2025-10-02T09:12:28.713" v="0" actId="47"/>
        <pc:sldMkLst>
          <pc:docMk/>
          <pc:sldMk cId="1800071420" sldId="264"/>
        </pc:sldMkLst>
      </pc:sldChg>
      <pc:sldChg chg="del">
        <pc:chgData name="Adam Brown (Astrea Central)" userId="e4577f1c-a0ea-4eef-9851-9bdbe8619e58" providerId="ADAL" clId="{6CE83D28-5A2E-4A34-83C3-D6906A85F5E1}" dt="2025-10-02T09:12:28.713" v="0" actId="47"/>
        <pc:sldMkLst>
          <pc:docMk/>
          <pc:sldMk cId="1896114032" sldId="268"/>
        </pc:sldMkLst>
      </pc:sldChg>
      <pc:sldChg chg="del">
        <pc:chgData name="Adam Brown (Astrea Central)" userId="e4577f1c-a0ea-4eef-9851-9bdbe8619e58" providerId="ADAL" clId="{6CE83D28-5A2E-4A34-83C3-D6906A85F5E1}" dt="2025-10-02T09:12:28.713" v="0" actId="47"/>
        <pc:sldMkLst>
          <pc:docMk/>
          <pc:sldMk cId="2275730419" sldId="392"/>
        </pc:sldMkLst>
      </pc:sldChg>
      <pc:sldChg chg="del">
        <pc:chgData name="Adam Brown (Astrea Central)" userId="e4577f1c-a0ea-4eef-9851-9bdbe8619e58" providerId="ADAL" clId="{6CE83D28-5A2E-4A34-83C3-D6906A85F5E1}" dt="2025-10-02T09:12:28.713" v="0" actId="47"/>
        <pc:sldMkLst>
          <pc:docMk/>
          <pc:sldMk cId="2871142808" sldId="393"/>
        </pc:sldMkLst>
      </pc:sldChg>
      <pc:sldChg chg="del">
        <pc:chgData name="Adam Brown (Astrea Central)" userId="e4577f1c-a0ea-4eef-9851-9bdbe8619e58" providerId="ADAL" clId="{6CE83D28-5A2E-4A34-83C3-D6906A85F5E1}" dt="2025-10-02T09:12:28.713" v="0" actId="47"/>
        <pc:sldMkLst>
          <pc:docMk/>
          <pc:sldMk cId="3987130587" sldId="394"/>
        </pc:sldMkLst>
      </pc:sldChg>
      <pc:sldChg chg="del">
        <pc:chgData name="Adam Brown (Astrea Central)" userId="e4577f1c-a0ea-4eef-9851-9bdbe8619e58" providerId="ADAL" clId="{6CE83D28-5A2E-4A34-83C3-D6906A85F5E1}" dt="2025-10-02T09:12:28.713" v="0" actId="47"/>
        <pc:sldMkLst>
          <pc:docMk/>
          <pc:sldMk cId="3618906114" sldId="395"/>
        </pc:sldMkLst>
      </pc:sldChg>
      <pc:sldChg chg="del">
        <pc:chgData name="Adam Brown (Astrea Central)" userId="e4577f1c-a0ea-4eef-9851-9bdbe8619e58" providerId="ADAL" clId="{6CE83D28-5A2E-4A34-83C3-D6906A85F5E1}" dt="2025-10-02T09:12:28.713" v="0" actId="47"/>
        <pc:sldMkLst>
          <pc:docMk/>
          <pc:sldMk cId="689078840" sldId="396"/>
        </pc:sldMkLst>
      </pc:sldChg>
      <pc:sldChg chg="del">
        <pc:chgData name="Adam Brown (Astrea Central)" userId="e4577f1c-a0ea-4eef-9851-9bdbe8619e58" providerId="ADAL" clId="{6CE83D28-5A2E-4A34-83C3-D6906A85F5E1}" dt="2025-10-02T09:12:28.713" v="0" actId="47"/>
        <pc:sldMkLst>
          <pc:docMk/>
          <pc:sldMk cId="3125050129" sldId="397"/>
        </pc:sldMkLst>
      </pc:sldChg>
      <pc:sldChg chg="del">
        <pc:chgData name="Adam Brown (Astrea Central)" userId="e4577f1c-a0ea-4eef-9851-9bdbe8619e58" providerId="ADAL" clId="{6CE83D28-5A2E-4A34-83C3-D6906A85F5E1}" dt="2025-10-02T09:12:28.713" v="0" actId="47"/>
        <pc:sldMkLst>
          <pc:docMk/>
          <pc:sldMk cId="2163301936" sldId="398"/>
        </pc:sldMkLst>
      </pc:sldChg>
      <pc:sldChg chg="del">
        <pc:chgData name="Adam Brown (Astrea Central)" userId="e4577f1c-a0ea-4eef-9851-9bdbe8619e58" providerId="ADAL" clId="{6CE83D28-5A2E-4A34-83C3-D6906A85F5E1}" dt="2025-10-02T09:12:28.713" v="0" actId="47"/>
        <pc:sldMkLst>
          <pc:docMk/>
          <pc:sldMk cId="4190285265" sldId="399"/>
        </pc:sldMkLst>
      </pc:sldChg>
      <pc:sldChg chg="del">
        <pc:chgData name="Adam Brown (Astrea Central)" userId="e4577f1c-a0ea-4eef-9851-9bdbe8619e58" providerId="ADAL" clId="{6CE83D28-5A2E-4A34-83C3-D6906A85F5E1}" dt="2025-10-02T09:12:28.713" v="0" actId="47"/>
        <pc:sldMkLst>
          <pc:docMk/>
          <pc:sldMk cId="1606562861" sldId="414"/>
        </pc:sldMkLst>
      </pc:sldChg>
      <pc:sldChg chg="del">
        <pc:chgData name="Adam Brown (Astrea Central)" userId="e4577f1c-a0ea-4eef-9851-9bdbe8619e58" providerId="ADAL" clId="{6CE83D28-5A2E-4A34-83C3-D6906A85F5E1}" dt="2025-10-02T09:12:28.713" v="0" actId="47"/>
        <pc:sldMkLst>
          <pc:docMk/>
          <pc:sldMk cId="3320072963" sldId="584"/>
        </pc:sldMkLst>
      </pc:sldChg>
      <pc:sldChg chg="del">
        <pc:chgData name="Adam Brown (Astrea Central)" userId="e4577f1c-a0ea-4eef-9851-9bdbe8619e58" providerId="ADAL" clId="{6CE83D28-5A2E-4A34-83C3-D6906A85F5E1}" dt="2025-10-02T09:12:28.713" v="0" actId="47"/>
        <pc:sldMkLst>
          <pc:docMk/>
          <pc:sldMk cId="2592791740" sldId="589"/>
        </pc:sldMkLst>
      </pc:sldChg>
      <pc:sldChg chg="del">
        <pc:chgData name="Adam Brown (Astrea Central)" userId="e4577f1c-a0ea-4eef-9851-9bdbe8619e58" providerId="ADAL" clId="{6CE83D28-5A2E-4A34-83C3-D6906A85F5E1}" dt="2025-10-02T09:12:34.863" v="1" actId="47"/>
        <pc:sldMkLst>
          <pc:docMk/>
          <pc:sldMk cId="1617582283" sldId="604"/>
        </pc:sldMkLst>
      </pc:sldChg>
      <pc:sldChg chg="del">
        <pc:chgData name="Adam Brown (Astrea Central)" userId="e4577f1c-a0ea-4eef-9851-9bdbe8619e58" providerId="ADAL" clId="{6CE83D28-5A2E-4A34-83C3-D6906A85F5E1}" dt="2025-10-02T09:12:35.467" v="2" actId="47"/>
        <pc:sldMkLst>
          <pc:docMk/>
          <pc:sldMk cId="1257912426" sldId="605"/>
        </pc:sldMkLst>
      </pc:sldChg>
      <pc:sldChg chg="del">
        <pc:chgData name="Adam Brown (Astrea Central)" userId="e4577f1c-a0ea-4eef-9851-9bdbe8619e58" providerId="ADAL" clId="{6CE83D28-5A2E-4A34-83C3-D6906A85F5E1}" dt="2025-10-02T09:12:28.713" v="0" actId="47"/>
        <pc:sldMkLst>
          <pc:docMk/>
          <pc:sldMk cId="2079907743" sldId="623"/>
        </pc:sldMkLst>
      </pc:sldChg>
      <pc:sldChg chg="del">
        <pc:chgData name="Adam Brown (Astrea Central)" userId="e4577f1c-a0ea-4eef-9851-9bdbe8619e58" providerId="ADAL" clId="{6CE83D28-5A2E-4A34-83C3-D6906A85F5E1}" dt="2025-10-02T09:12:28.713" v="0" actId="47"/>
        <pc:sldMkLst>
          <pc:docMk/>
          <pc:sldMk cId="1364163814" sldId="627"/>
        </pc:sldMkLst>
      </pc:sldChg>
      <pc:sldChg chg="del">
        <pc:chgData name="Adam Brown (Astrea Central)" userId="e4577f1c-a0ea-4eef-9851-9bdbe8619e58" providerId="ADAL" clId="{6CE83D28-5A2E-4A34-83C3-D6906A85F5E1}" dt="2025-10-02T09:12:28.713" v="0" actId="47"/>
        <pc:sldMkLst>
          <pc:docMk/>
          <pc:sldMk cId="2464929012" sldId="630"/>
        </pc:sldMkLst>
      </pc:sldChg>
      <pc:sldChg chg="del">
        <pc:chgData name="Adam Brown (Astrea Central)" userId="e4577f1c-a0ea-4eef-9851-9bdbe8619e58" providerId="ADAL" clId="{6CE83D28-5A2E-4A34-83C3-D6906A85F5E1}" dt="2025-10-02T09:12:28.713" v="0" actId="47"/>
        <pc:sldMkLst>
          <pc:docMk/>
          <pc:sldMk cId="2603023560" sldId="635"/>
        </pc:sldMkLst>
      </pc:sldChg>
      <pc:sldChg chg="del">
        <pc:chgData name="Adam Brown (Astrea Central)" userId="e4577f1c-a0ea-4eef-9851-9bdbe8619e58" providerId="ADAL" clId="{6CE83D28-5A2E-4A34-83C3-D6906A85F5E1}" dt="2025-10-02T09:12:28.713" v="0" actId="47"/>
        <pc:sldMkLst>
          <pc:docMk/>
          <pc:sldMk cId="1204484103" sldId="637"/>
        </pc:sldMkLst>
      </pc:sldChg>
      <pc:sldChg chg="del">
        <pc:chgData name="Adam Brown (Astrea Central)" userId="e4577f1c-a0ea-4eef-9851-9bdbe8619e58" providerId="ADAL" clId="{6CE83D28-5A2E-4A34-83C3-D6906A85F5E1}" dt="2025-10-02T09:12:28.713" v="0" actId="47"/>
        <pc:sldMkLst>
          <pc:docMk/>
          <pc:sldMk cId="786138704" sldId="688"/>
        </pc:sldMkLst>
      </pc:sldChg>
      <pc:sldChg chg="del">
        <pc:chgData name="Adam Brown (Astrea Central)" userId="e4577f1c-a0ea-4eef-9851-9bdbe8619e58" providerId="ADAL" clId="{6CE83D28-5A2E-4A34-83C3-D6906A85F5E1}" dt="2025-10-02T09:12:28.713" v="0" actId="47"/>
        <pc:sldMkLst>
          <pc:docMk/>
          <pc:sldMk cId="3063541273" sldId="690"/>
        </pc:sldMkLst>
      </pc:sldChg>
      <pc:sldChg chg="del">
        <pc:chgData name="Adam Brown (Astrea Central)" userId="e4577f1c-a0ea-4eef-9851-9bdbe8619e58" providerId="ADAL" clId="{6CE83D28-5A2E-4A34-83C3-D6906A85F5E1}" dt="2025-10-02T09:12:28.713" v="0" actId="47"/>
        <pc:sldMkLst>
          <pc:docMk/>
          <pc:sldMk cId="2060183457" sldId="718"/>
        </pc:sldMkLst>
      </pc:sldChg>
      <pc:sldChg chg="del">
        <pc:chgData name="Adam Brown (Astrea Central)" userId="e4577f1c-a0ea-4eef-9851-9bdbe8619e58" providerId="ADAL" clId="{6CE83D28-5A2E-4A34-83C3-D6906A85F5E1}" dt="2025-10-02T09:12:28.713" v="0" actId="47"/>
        <pc:sldMkLst>
          <pc:docMk/>
          <pc:sldMk cId="471605190" sldId="731"/>
        </pc:sldMkLst>
      </pc:sldChg>
      <pc:sldChg chg="del">
        <pc:chgData name="Adam Brown (Astrea Central)" userId="e4577f1c-a0ea-4eef-9851-9bdbe8619e58" providerId="ADAL" clId="{6CE83D28-5A2E-4A34-83C3-D6906A85F5E1}" dt="2025-10-02T09:12:28.713" v="0" actId="47"/>
        <pc:sldMkLst>
          <pc:docMk/>
          <pc:sldMk cId="37642667" sldId="732"/>
        </pc:sldMkLst>
      </pc:sldChg>
      <pc:sldChg chg="del">
        <pc:chgData name="Adam Brown (Astrea Central)" userId="e4577f1c-a0ea-4eef-9851-9bdbe8619e58" providerId="ADAL" clId="{6CE83D28-5A2E-4A34-83C3-D6906A85F5E1}" dt="2025-10-02T09:12:28.713" v="0" actId="47"/>
        <pc:sldMkLst>
          <pc:docMk/>
          <pc:sldMk cId="2836024213" sldId="734"/>
        </pc:sldMkLst>
      </pc:sldChg>
      <pc:sldChg chg="del">
        <pc:chgData name="Adam Brown (Astrea Central)" userId="e4577f1c-a0ea-4eef-9851-9bdbe8619e58" providerId="ADAL" clId="{6CE83D28-5A2E-4A34-83C3-D6906A85F5E1}" dt="2025-10-02T09:12:28.713" v="0" actId="47"/>
        <pc:sldMkLst>
          <pc:docMk/>
          <pc:sldMk cId="1139679624" sldId="742"/>
        </pc:sldMkLst>
      </pc:sldChg>
      <pc:sldChg chg="del">
        <pc:chgData name="Adam Brown (Astrea Central)" userId="e4577f1c-a0ea-4eef-9851-9bdbe8619e58" providerId="ADAL" clId="{6CE83D28-5A2E-4A34-83C3-D6906A85F5E1}" dt="2025-10-02T09:12:28.713" v="0" actId="47"/>
        <pc:sldMkLst>
          <pc:docMk/>
          <pc:sldMk cId="2781943068" sldId="745"/>
        </pc:sldMkLst>
      </pc:sldChg>
      <pc:sldChg chg="del">
        <pc:chgData name="Adam Brown (Astrea Central)" userId="e4577f1c-a0ea-4eef-9851-9bdbe8619e58" providerId="ADAL" clId="{6CE83D28-5A2E-4A34-83C3-D6906A85F5E1}" dt="2025-10-02T09:12:28.713" v="0" actId="47"/>
        <pc:sldMkLst>
          <pc:docMk/>
          <pc:sldMk cId="1267743658" sldId="772"/>
        </pc:sldMkLst>
      </pc:sldChg>
      <pc:sldChg chg="del">
        <pc:chgData name="Adam Brown (Astrea Central)" userId="e4577f1c-a0ea-4eef-9851-9bdbe8619e58" providerId="ADAL" clId="{6CE83D28-5A2E-4A34-83C3-D6906A85F5E1}" dt="2025-10-02T09:12:28.713" v="0" actId="47"/>
        <pc:sldMkLst>
          <pc:docMk/>
          <pc:sldMk cId="3065678312" sldId="773"/>
        </pc:sldMkLst>
      </pc:sldChg>
      <pc:sldChg chg="del">
        <pc:chgData name="Adam Brown (Astrea Central)" userId="e4577f1c-a0ea-4eef-9851-9bdbe8619e58" providerId="ADAL" clId="{6CE83D28-5A2E-4A34-83C3-D6906A85F5E1}" dt="2025-10-02T09:12:28.713" v="0" actId="47"/>
        <pc:sldMkLst>
          <pc:docMk/>
          <pc:sldMk cId="396736249" sldId="774"/>
        </pc:sldMkLst>
      </pc:sldChg>
      <pc:sldChg chg="del">
        <pc:chgData name="Adam Brown (Astrea Central)" userId="e4577f1c-a0ea-4eef-9851-9bdbe8619e58" providerId="ADAL" clId="{6CE83D28-5A2E-4A34-83C3-D6906A85F5E1}" dt="2025-10-02T09:12:28.713" v="0" actId="47"/>
        <pc:sldMkLst>
          <pc:docMk/>
          <pc:sldMk cId="1539647579" sldId="775"/>
        </pc:sldMkLst>
      </pc:sldChg>
      <pc:sldChg chg="del">
        <pc:chgData name="Adam Brown (Astrea Central)" userId="e4577f1c-a0ea-4eef-9851-9bdbe8619e58" providerId="ADAL" clId="{6CE83D28-5A2E-4A34-83C3-D6906A85F5E1}" dt="2025-10-02T09:12:28.713" v="0" actId="47"/>
        <pc:sldMkLst>
          <pc:docMk/>
          <pc:sldMk cId="791333903" sldId="776"/>
        </pc:sldMkLst>
      </pc:sldChg>
      <pc:sldChg chg="del">
        <pc:chgData name="Adam Brown (Astrea Central)" userId="e4577f1c-a0ea-4eef-9851-9bdbe8619e58" providerId="ADAL" clId="{6CE83D28-5A2E-4A34-83C3-D6906A85F5E1}" dt="2025-10-02T09:12:28.713" v="0" actId="47"/>
        <pc:sldMkLst>
          <pc:docMk/>
          <pc:sldMk cId="2557147136" sldId="777"/>
        </pc:sldMkLst>
      </pc:sldChg>
      <pc:sldChg chg="del">
        <pc:chgData name="Adam Brown (Astrea Central)" userId="e4577f1c-a0ea-4eef-9851-9bdbe8619e58" providerId="ADAL" clId="{6CE83D28-5A2E-4A34-83C3-D6906A85F5E1}" dt="2025-10-02T09:12:28.713" v="0" actId="47"/>
        <pc:sldMkLst>
          <pc:docMk/>
          <pc:sldMk cId="1727354984" sldId="778"/>
        </pc:sldMkLst>
      </pc:sldChg>
      <pc:sldChg chg="del">
        <pc:chgData name="Adam Brown (Astrea Central)" userId="e4577f1c-a0ea-4eef-9851-9bdbe8619e58" providerId="ADAL" clId="{6CE83D28-5A2E-4A34-83C3-D6906A85F5E1}" dt="2025-10-02T09:12:28.713" v="0" actId="47"/>
        <pc:sldMkLst>
          <pc:docMk/>
          <pc:sldMk cId="3723355695" sldId="1232"/>
        </pc:sldMkLst>
      </pc:sldChg>
      <pc:sldChg chg="del">
        <pc:chgData name="Adam Brown (Astrea Central)" userId="e4577f1c-a0ea-4eef-9851-9bdbe8619e58" providerId="ADAL" clId="{6CE83D28-5A2E-4A34-83C3-D6906A85F5E1}" dt="2025-10-02T09:12:28.713" v="0" actId="47"/>
        <pc:sldMkLst>
          <pc:docMk/>
          <pc:sldMk cId="1367264850" sldId="1233"/>
        </pc:sldMkLst>
      </pc:sldChg>
      <pc:sldChg chg="del">
        <pc:chgData name="Adam Brown (Astrea Central)" userId="e4577f1c-a0ea-4eef-9851-9bdbe8619e58" providerId="ADAL" clId="{6CE83D28-5A2E-4A34-83C3-D6906A85F5E1}" dt="2025-10-02T09:12:28.713" v="0" actId="47"/>
        <pc:sldMkLst>
          <pc:docMk/>
          <pc:sldMk cId="3632875335" sldId="1234"/>
        </pc:sldMkLst>
      </pc:sldChg>
      <pc:sldChg chg="del">
        <pc:chgData name="Adam Brown (Astrea Central)" userId="e4577f1c-a0ea-4eef-9851-9bdbe8619e58" providerId="ADAL" clId="{6CE83D28-5A2E-4A34-83C3-D6906A85F5E1}" dt="2025-10-02T09:12:28.713" v="0" actId="47"/>
        <pc:sldMkLst>
          <pc:docMk/>
          <pc:sldMk cId="1672177246" sldId="1235"/>
        </pc:sldMkLst>
      </pc:sldChg>
      <pc:sldChg chg="del">
        <pc:chgData name="Adam Brown (Astrea Central)" userId="e4577f1c-a0ea-4eef-9851-9bdbe8619e58" providerId="ADAL" clId="{6CE83D28-5A2E-4A34-83C3-D6906A85F5E1}" dt="2025-10-02T09:12:28.713" v="0" actId="47"/>
        <pc:sldMkLst>
          <pc:docMk/>
          <pc:sldMk cId="3096346053" sldId="1236"/>
        </pc:sldMkLst>
      </pc:sldChg>
      <pc:sldChg chg="del">
        <pc:chgData name="Adam Brown (Astrea Central)" userId="e4577f1c-a0ea-4eef-9851-9bdbe8619e58" providerId="ADAL" clId="{6CE83D28-5A2E-4A34-83C3-D6906A85F5E1}" dt="2025-10-02T09:12:28.713" v="0" actId="47"/>
        <pc:sldMkLst>
          <pc:docMk/>
          <pc:sldMk cId="1132490060" sldId="1237"/>
        </pc:sldMkLst>
      </pc:sldChg>
      <pc:sldChg chg="del">
        <pc:chgData name="Adam Brown (Astrea Central)" userId="e4577f1c-a0ea-4eef-9851-9bdbe8619e58" providerId="ADAL" clId="{6CE83D28-5A2E-4A34-83C3-D6906A85F5E1}" dt="2025-10-02T09:12:28.713" v="0" actId="47"/>
        <pc:sldMkLst>
          <pc:docMk/>
          <pc:sldMk cId="838115027" sldId="1238"/>
        </pc:sldMkLst>
      </pc:sldChg>
      <pc:sldChg chg="del">
        <pc:chgData name="Adam Brown (Astrea Central)" userId="e4577f1c-a0ea-4eef-9851-9bdbe8619e58" providerId="ADAL" clId="{6CE83D28-5A2E-4A34-83C3-D6906A85F5E1}" dt="2025-10-02T09:12:28.713" v="0" actId="47"/>
        <pc:sldMkLst>
          <pc:docMk/>
          <pc:sldMk cId="1833279146" sldId="1239"/>
        </pc:sldMkLst>
      </pc:sldChg>
      <pc:sldChg chg="del">
        <pc:chgData name="Adam Brown (Astrea Central)" userId="e4577f1c-a0ea-4eef-9851-9bdbe8619e58" providerId="ADAL" clId="{6CE83D28-5A2E-4A34-83C3-D6906A85F5E1}" dt="2025-10-02T09:12:28.713" v="0" actId="47"/>
        <pc:sldMkLst>
          <pc:docMk/>
          <pc:sldMk cId="993769474" sldId="1240"/>
        </pc:sldMkLst>
      </pc:sldChg>
      <pc:sldChg chg="del">
        <pc:chgData name="Adam Brown (Astrea Central)" userId="e4577f1c-a0ea-4eef-9851-9bdbe8619e58" providerId="ADAL" clId="{6CE83D28-5A2E-4A34-83C3-D6906A85F5E1}" dt="2025-10-02T09:12:28.713" v="0" actId="47"/>
        <pc:sldMkLst>
          <pc:docMk/>
          <pc:sldMk cId="3931081816" sldId="1241"/>
        </pc:sldMkLst>
      </pc:sldChg>
      <pc:sldChg chg="del">
        <pc:chgData name="Adam Brown (Astrea Central)" userId="e4577f1c-a0ea-4eef-9851-9bdbe8619e58" providerId="ADAL" clId="{6CE83D28-5A2E-4A34-83C3-D6906A85F5E1}" dt="2025-10-02T09:12:28.713" v="0" actId="47"/>
        <pc:sldMkLst>
          <pc:docMk/>
          <pc:sldMk cId="2730425560" sldId="1246"/>
        </pc:sldMkLst>
      </pc:sldChg>
      <pc:sldChg chg="del">
        <pc:chgData name="Adam Brown (Astrea Central)" userId="e4577f1c-a0ea-4eef-9851-9bdbe8619e58" providerId="ADAL" clId="{6CE83D28-5A2E-4A34-83C3-D6906A85F5E1}" dt="2025-10-02T09:12:28.713" v="0" actId="47"/>
        <pc:sldMkLst>
          <pc:docMk/>
          <pc:sldMk cId="1575759774" sldId="1247"/>
        </pc:sldMkLst>
      </pc:sldChg>
      <pc:sldChg chg="del">
        <pc:chgData name="Adam Brown (Astrea Central)" userId="e4577f1c-a0ea-4eef-9851-9bdbe8619e58" providerId="ADAL" clId="{6CE83D28-5A2E-4A34-83C3-D6906A85F5E1}" dt="2025-10-02T09:12:28.713" v="0" actId="47"/>
        <pc:sldMkLst>
          <pc:docMk/>
          <pc:sldMk cId="2482332410" sldId="1248"/>
        </pc:sldMkLst>
      </pc:sldChg>
      <pc:sldChg chg="del">
        <pc:chgData name="Adam Brown (Astrea Central)" userId="e4577f1c-a0ea-4eef-9851-9bdbe8619e58" providerId="ADAL" clId="{6CE83D28-5A2E-4A34-83C3-D6906A85F5E1}" dt="2025-10-02T09:12:28.713" v="0" actId="47"/>
        <pc:sldMkLst>
          <pc:docMk/>
          <pc:sldMk cId="2544976946" sldId="1249"/>
        </pc:sldMkLst>
      </pc:sldChg>
      <pc:sldChg chg="del">
        <pc:chgData name="Adam Brown (Astrea Central)" userId="e4577f1c-a0ea-4eef-9851-9bdbe8619e58" providerId="ADAL" clId="{6CE83D28-5A2E-4A34-83C3-D6906A85F5E1}" dt="2025-10-02T09:12:28.713" v="0" actId="47"/>
        <pc:sldMkLst>
          <pc:docMk/>
          <pc:sldMk cId="3137427550" sldId="1250"/>
        </pc:sldMkLst>
      </pc:sldChg>
    </pc:docChg>
  </pc:docChgLst>
  <pc:docChgLst>
    <pc:chgData name="Adam Brown (Astrea Central)" userId="e4577f1c-a0ea-4eef-9851-9bdbe8619e58" providerId="ADAL" clId="{1C8439A8-903A-4D86-AA3D-7CAC932555EB}"/>
    <pc:docChg chg="undo custSel addSld delSld modSld">
      <pc:chgData name="Adam Brown (Astrea Central)" userId="e4577f1c-a0ea-4eef-9851-9bdbe8619e58" providerId="ADAL" clId="{1C8439A8-903A-4D86-AA3D-7CAC932555EB}" dt="2025-09-11T10:46:13.947" v="1327" actId="478"/>
      <pc:docMkLst>
        <pc:docMk/>
      </pc:docMkLst>
      <pc:sldChg chg="delSp add del mod">
        <pc:chgData name="Adam Brown (Astrea Central)" userId="e4577f1c-a0ea-4eef-9851-9bdbe8619e58" providerId="ADAL" clId="{1C8439A8-903A-4D86-AA3D-7CAC932555EB}" dt="2025-09-11T10:44:28.264" v="1285" actId="478"/>
        <pc:sldMkLst>
          <pc:docMk/>
          <pc:sldMk cId="962425829" sldId="263"/>
        </pc:sldMkLst>
      </pc:sldChg>
      <pc:sldChg chg="delSp mod">
        <pc:chgData name="Adam Brown (Astrea Central)" userId="e4577f1c-a0ea-4eef-9851-9bdbe8619e58" providerId="ADAL" clId="{1C8439A8-903A-4D86-AA3D-7CAC932555EB}" dt="2025-09-11T10:44:41.699" v="1289" actId="478"/>
        <pc:sldMkLst>
          <pc:docMk/>
          <pc:sldMk cId="1800071420" sldId="264"/>
        </pc:sldMkLst>
      </pc:sldChg>
      <pc:sldChg chg="delSp mod">
        <pc:chgData name="Adam Brown (Astrea Central)" userId="e4577f1c-a0ea-4eef-9851-9bdbe8619e58" providerId="ADAL" clId="{1C8439A8-903A-4D86-AA3D-7CAC932555EB}" dt="2025-09-11T10:45:49.612" v="1315" actId="478"/>
        <pc:sldMkLst>
          <pc:docMk/>
          <pc:sldMk cId="1896114032" sldId="268"/>
        </pc:sldMkLst>
      </pc:sldChg>
      <pc:sldChg chg="delSp mod">
        <pc:chgData name="Adam Brown (Astrea Central)" userId="e4577f1c-a0ea-4eef-9851-9bdbe8619e58" providerId="ADAL" clId="{1C8439A8-903A-4D86-AA3D-7CAC932555EB}" dt="2025-09-11T10:24:21.293" v="293" actId="478"/>
        <pc:sldMkLst>
          <pc:docMk/>
          <pc:sldMk cId="262385358" sldId="271"/>
        </pc:sldMkLst>
      </pc:sldChg>
      <pc:sldChg chg="addSp delSp modSp mod">
        <pc:chgData name="Adam Brown (Astrea Central)" userId="e4577f1c-a0ea-4eef-9851-9bdbe8619e58" providerId="ADAL" clId="{1C8439A8-903A-4D86-AA3D-7CAC932555EB}" dt="2025-09-11T10:23:01.019" v="259" actId="478"/>
        <pc:sldMkLst>
          <pc:docMk/>
          <pc:sldMk cId="2345233513" sldId="298"/>
        </pc:sldMkLst>
        <pc:spChg chg="add del">
          <ac:chgData name="Adam Brown (Astrea Central)" userId="e4577f1c-a0ea-4eef-9851-9bdbe8619e58" providerId="ADAL" clId="{1C8439A8-903A-4D86-AA3D-7CAC932555EB}" dt="2025-09-11T10:22:25.010" v="239" actId="478"/>
          <ac:spMkLst>
            <pc:docMk/>
            <pc:sldMk cId="2345233513" sldId="298"/>
            <ac:spMk id="78"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79"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0"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1"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2" creationId="{CEEF23AD-EA17-135A-DB95-1D1FECB286F3}"/>
          </ac:spMkLst>
        </pc:spChg>
        <pc:spChg chg="add del">
          <ac:chgData name="Adam Brown (Astrea Central)" userId="e4577f1c-a0ea-4eef-9851-9bdbe8619e58" providerId="ADAL" clId="{1C8439A8-903A-4D86-AA3D-7CAC932555EB}" dt="2025-09-11T10:22:25.010" v="239" actId="478"/>
          <ac:spMkLst>
            <pc:docMk/>
            <pc:sldMk cId="2345233513" sldId="298"/>
            <ac:spMk id="84" creationId="{CEEF23AD-EA17-135A-DB95-1D1FECB286F3}"/>
          </ac:spMkLst>
        </pc:spChg>
        <pc:spChg chg="add del">
          <ac:chgData name="Adam Brown (Astrea Central)" userId="e4577f1c-a0ea-4eef-9851-9bdbe8619e58" providerId="ADAL" clId="{1C8439A8-903A-4D86-AA3D-7CAC932555EB}" dt="2025-09-11T10:22:46.665" v="251" actId="478"/>
          <ac:spMkLst>
            <pc:docMk/>
            <pc:sldMk cId="2345233513" sldId="298"/>
            <ac:spMk id="94" creationId="{CEEF23AD-EA17-135A-DB95-1D1FECB286F3}"/>
          </ac:spMkLst>
        </pc:spChg>
      </pc:sldChg>
      <pc:sldChg chg="delSp mod">
        <pc:chgData name="Adam Brown (Astrea Central)" userId="e4577f1c-a0ea-4eef-9851-9bdbe8619e58" providerId="ADAL" clId="{1C8439A8-903A-4D86-AA3D-7CAC932555EB}" dt="2025-09-11T10:23:35.974" v="275" actId="478"/>
        <pc:sldMkLst>
          <pc:docMk/>
          <pc:sldMk cId="2798923889" sldId="301"/>
        </pc:sldMkLst>
      </pc:sldChg>
      <pc:sldChg chg="addSp delSp mod">
        <pc:chgData name="Adam Brown (Astrea Central)" userId="e4577f1c-a0ea-4eef-9851-9bdbe8619e58" providerId="ADAL" clId="{1C8439A8-903A-4D86-AA3D-7CAC932555EB}" dt="2025-09-11T10:24:01.907" v="284" actId="478"/>
        <pc:sldMkLst>
          <pc:docMk/>
          <pc:sldMk cId="3848312339" sldId="304"/>
        </pc:sldMkLst>
        <pc:graphicFrameChg chg="add del">
          <ac:chgData name="Adam Brown (Astrea Central)" userId="e4577f1c-a0ea-4eef-9851-9bdbe8619e58" providerId="ADAL" clId="{1C8439A8-903A-4D86-AA3D-7CAC932555EB}" dt="2025-09-11T10:23:52.736" v="278" actId="478"/>
          <ac:graphicFrameMkLst>
            <pc:docMk/>
            <pc:sldMk cId="3848312339" sldId="304"/>
            <ac:graphicFrameMk id="72" creationId="{5D91BA67-5EB5-634F-E5E1-0E53D4993C19}"/>
          </ac:graphicFrameMkLst>
        </pc:graphicFrameChg>
        <pc:graphicFrameChg chg="add del">
          <ac:chgData name="Adam Brown (Astrea Central)" userId="e4577f1c-a0ea-4eef-9851-9bdbe8619e58" providerId="ADAL" clId="{1C8439A8-903A-4D86-AA3D-7CAC932555EB}" dt="2025-09-11T10:23:52.736" v="278" actId="478"/>
          <ac:graphicFrameMkLst>
            <pc:docMk/>
            <pc:sldMk cId="3848312339" sldId="304"/>
            <ac:graphicFrameMk id="74" creationId="{9E70A74D-B33B-BE41-EEC6-BCEB6A9D56E7}"/>
          </ac:graphicFrameMkLst>
        </pc:graphicFrameChg>
        <pc:graphicFrameChg chg="add del">
          <ac:chgData name="Adam Brown (Astrea Central)" userId="e4577f1c-a0ea-4eef-9851-9bdbe8619e58" providerId="ADAL" clId="{1C8439A8-903A-4D86-AA3D-7CAC932555EB}" dt="2025-09-11T10:23:52.736" v="278" actId="478"/>
          <ac:graphicFrameMkLst>
            <pc:docMk/>
            <pc:sldMk cId="3848312339" sldId="304"/>
            <ac:graphicFrameMk id="76" creationId="{994DC10E-7915-710F-3E7C-558ECAB542FC}"/>
          </ac:graphicFrameMkLst>
        </pc:graphicFrameChg>
      </pc:sldChg>
      <pc:sldChg chg="addSp delSp mod">
        <pc:chgData name="Adam Brown (Astrea Central)" userId="e4577f1c-a0ea-4eef-9851-9bdbe8619e58" providerId="ADAL" clId="{1C8439A8-903A-4D86-AA3D-7CAC932555EB}" dt="2025-09-11T10:25:35.133" v="337" actId="478"/>
        <pc:sldMkLst>
          <pc:docMk/>
          <pc:sldMk cId="2748859554" sldId="308"/>
        </pc:sldMkLst>
        <pc:spChg chg="add del">
          <ac:chgData name="Adam Brown (Astrea Central)" userId="e4577f1c-a0ea-4eef-9851-9bdbe8619e58" providerId="ADAL" clId="{1C8439A8-903A-4D86-AA3D-7CAC932555EB}" dt="2025-09-11T10:24:53.459" v="314" actId="478"/>
          <ac:spMkLst>
            <pc:docMk/>
            <pc:sldMk cId="2748859554" sldId="308"/>
            <ac:spMk id="62" creationId="{CEEF23AD-EA17-135A-DB95-1D1FECB286F3}"/>
          </ac:spMkLst>
        </pc:spChg>
      </pc:sldChg>
      <pc:sldChg chg="delSp mod">
        <pc:chgData name="Adam Brown (Astrea Central)" userId="e4577f1c-a0ea-4eef-9851-9bdbe8619e58" providerId="ADAL" clId="{1C8439A8-903A-4D86-AA3D-7CAC932555EB}" dt="2025-09-11T10:28:54.491" v="446" actId="478"/>
        <pc:sldMkLst>
          <pc:docMk/>
          <pc:sldMk cId="425293585" sldId="311"/>
        </pc:sldMkLst>
      </pc:sldChg>
      <pc:sldChg chg="addSp delSp mod">
        <pc:chgData name="Adam Brown (Astrea Central)" userId="e4577f1c-a0ea-4eef-9851-9bdbe8619e58" providerId="ADAL" clId="{1C8439A8-903A-4D86-AA3D-7CAC932555EB}" dt="2025-09-11T10:31:32.536" v="556" actId="478"/>
        <pc:sldMkLst>
          <pc:docMk/>
          <pc:sldMk cId="886251300" sldId="318"/>
        </pc:sldMkLst>
        <pc:spChg chg="add del">
          <ac:chgData name="Adam Brown (Astrea Central)" userId="e4577f1c-a0ea-4eef-9851-9bdbe8619e58" providerId="ADAL" clId="{1C8439A8-903A-4D86-AA3D-7CAC932555EB}" dt="2025-09-11T10:31:23.478" v="548" actId="478"/>
          <ac:spMkLst>
            <pc:docMk/>
            <pc:sldMk cId="886251300" sldId="318"/>
            <ac:spMk id="34" creationId="{CAEE3FB4-76FF-D9FB-52D0-3E79E46B4255}"/>
          </ac:spMkLst>
        </pc:spChg>
      </pc:sldChg>
      <pc:sldChg chg="delSp mod">
        <pc:chgData name="Adam Brown (Astrea Central)" userId="e4577f1c-a0ea-4eef-9851-9bdbe8619e58" providerId="ADAL" clId="{1C8439A8-903A-4D86-AA3D-7CAC932555EB}" dt="2025-09-11T10:31:42.580" v="564" actId="478"/>
        <pc:sldMkLst>
          <pc:docMk/>
          <pc:sldMk cId="1476577565" sldId="319"/>
        </pc:sldMkLst>
      </pc:sldChg>
      <pc:sldChg chg="delSp modSp mod">
        <pc:chgData name="Adam Brown (Astrea Central)" userId="e4577f1c-a0ea-4eef-9851-9bdbe8619e58" providerId="ADAL" clId="{1C8439A8-903A-4D86-AA3D-7CAC932555EB}" dt="2025-09-11T10:19:43.608" v="124" actId="478"/>
        <pc:sldMkLst>
          <pc:docMk/>
          <pc:sldMk cId="3441728355" sldId="386"/>
        </pc:sldMkLst>
      </pc:sldChg>
      <pc:sldChg chg="delSp modSp mod">
        <pc:chgData name="Adam Brown (Astrea Central)" userId="e4577f1c-a0ea-4eef-9851-9bdbe8619e58" providerId="ADAL" clId="{1C8439A8-903A-4D86-AA3D-7CAC932555EB}" dt="2025-09-11T10:20:55.915" v="155" actId="478"/>
        <pc:sldMkLst>
          <pc:docMk/>
          <pc:sldMk cId="2669769063" sldId="387"/>
        </pc:sldMkLst>
      </pc:sldChg>
      <pc:sldChg chg="addSp delSp mod">
        <pc:chgData name="Adam Brown (Astrea Central)" userId="e4577f1c-a0ea-4eef-9851-9bdbe8619e58" providerId="ADAL" clId="{1C8439A8-903A-4D86-AA3D-7CAC932555EB}" dt="2025-09-11T10:26:42.685" v="377" actId="478"/>
        <pc:sldMkLst>
          <pc:docMk/>
          <pc:sldMk cId="505183128" sldId="391"/>
        </pc:sldMkLst>
        <pc:spChg chg="add del">
          <ac:chgData name="Adam Brown (Astrea Central)" userId="e4577f1c-a0ea-4eef-9851-9bdbe8619e58" providerId="ADAL" clId="{1C8439A8-903A-4D86-AA3D-7CAC932555EB}" dt="2025-09-11T10:25:45.582" v="341" actId="478"/>
          <ac:spMkLst>
            <pc:docMk/>
            <pc:sldMk cId="505183128" sldId="391"/>
            <ac:spMk id="9" creationId="{CEEF23AD-EA17-135A-DB95-1D1FECB286F3}"/>
          </ac:spMkLst>
        </pc:spChg>
        <pc:spChg chg="add del">
          <ac:chgData name="Adam Brown (Astrea Central)" userId="e4577f1c-a0ea-4eef-9851-9bdbe8619e58" providerId="ADAL" clId="{1C8439A8-903A-4D86-AA3D-7CAC932555EB}" dt="2025-09-11T10:26:04.544" v="351" actId="478"/>
          <ac:spMkLst>
            <pc:docMk/>
            <pc:sldMk cId="505183128" sldId="391"/>
            <ac:spMk id="24" creationId="{CEEF23AD-EA17-135A-DB95-1D1FECB286F3}"/>
          </ac:spMkLst>
        </pc:spChg>
      </pc:sldChg>
      <pc:sldChg chg="modSp mod">
        <pc:chgData name="Adam Brown (Astrea Central)" userId="e4577f1c-a0ea-4eef-9851-9bdbe8619e58" providerId="ADAL" clId="{1C8439A8-903A-4D86-AA3D-7CAC932555EB}" dt="2025-09-11T10:35:33.300" v="845" actId="20577"/>
        <pc:sldMkLst>
          <pc:docMk/>
          <pc:sldMk cId="2275730419" sldId="392"/>
        </pc:sldMkLst>
      </pc:sldChg>
      <pc:sldChg chg="modSp mod">
        <pc:chgData name="Adam Brown (Astrea Central)" userId="e4577f1c-a0ea-4eef-9851-9bdbe8619e58" providerId="ADAL" clId="{1C8439A8-903A-4D86-AA3D-7CAC932555EB}" dt="2025-09-11T10:34:55.949" v="778" actId="20577"/>
        <pc:sldMkLst>
          <pc:docMk/>
          <pc:sldMk cId="2871142808" sldId="393"/>
        </pc:sldMkLst>
      </pc:sldChg>
      <pc:sldChg chg="delSp modSp mod">
        <pc:chgData name="Adam Brown (Astrea Central)" userId="e4577f1c-a0ea-4eef-9851-9bdbe8619e58" providerId="ADAL" clId="{1C8439A8-903A-4D86-AA3D-7CAC932555EB}" dt="2025-09-11T10:35:56.619" v="865" actId="20577"/>
        <pc:sldMkLst>
          <pc:docMk/>
          <pc:sldMk cId="3987130587" sldId="394"/>
        </pc:sldMkLst>
      </pc:sldChg>
      <pc:sldChg chg="delSp modSp mod">
        <pc:chgData name="Adam Brown (Astrea Central)" userId="e4577f1c-a0ea-4eef-9851-9bdbe8619e58" providerId="ADAL" clId="{1C8439A8-903A-4D86-AA3D-7CAC932555EB}" dt="2025-09-11T10:36:07.260" v="870" actId="20577"/>
        <pc:sldMkLst>
          <pc:docMk/>
          <pc:sldMk cId="3618906114" sldId="395"/>
        </pc:sldMkLst>
      </pc:sldChg>
      <pc:sldChg chg="modSp mod">
        <pc:chgData name="Adam Brown (Astrea Central)" userId="e4577f1c-a0ea-4eef-9851-9bdbe8619e58" providerId="ADAL" clId="{1C8439A8-903A-4D86-AA3D-7CAC932555EB}" dt="2025-09-11T10:35:22.071" v="823" actId="20577"/>
        <pc:sldMkLst>
          <pc:docMk/>
          <pc:sldMk cId="689078840" sldId="396"/>
        </pc:sldMkLst>
      </pc:sldChg>
      <pc:sldChg chg="modSp mod">
        <pc:chgData name="Adam Brown (Astrea Central)" userId="e4577f1c-a0ea-4eef-9851-9bdbe8619e58" providerId="ADAL" clId="{1C8439A8-903A-4D86-AA3D-7CAC932555EB}" dt="2025-09-11T10:35:05.336" v="796" actId="20577"/>
        <pc:sldMkLst>
          <pc:docMk/>
          <pc:sldMk cId="3125050129" sldId="397"/>
        </pc:sldMkLst>
      </pc:sldChg>
      <pc:sldChg chg="modSp mod">
        <pc:chgData name="Adam Brown (Astrea Central)" userId="e4577f1c-a0ea-4eef-9851-9bdbe8619e58" providerId="ADAL" clId="{1C8439A8-903A-4D86-AA3D-7CAC932555EB}" dt="2025-09-11T10:33:51.310" v="675" actId="20577"/>
        <pc:sldMkLst>
          <pc:docMk/>
          <pc:sldMk cId="2163301936" sldId="398"/>
        </pc:sldMkLst>
      </pc:sldChg>
      <pc:sldChg chg="addSp delSp modSp mod">
        <pc:chgData name="Adam Brown (Astrea Central)" userId="e4577f1c-a0ea-4eef-9851-9bdbe8619e58" providerId="ADAL" clId="{1C8439A8-903A-4D86-AA3D-7CAC932555EB}" dt="2025-09-11T10:34:15.975" v="698" actId="6549"/>
        <pc:sldMkLst>
          <pc:docMk/>
          <pc:sldMk cId="4190285265" sldId="399"/>
        </pc:sldMkLst>
      </pc:sldChg>
      <pc:sldChg chg="delSp mod">
        <pc:chgData name="Adam Brown (Astrea Central)" userId="e4577f1c-a0ea-4eef-9851-9bdbe8619e58" providerId="ADAL" clId="{1C8439A8-903A-4D86-AA3D-7CAC932555EB}" dt="2025-09-11T10:32:41.256" v="610" actId="478"/>
        <pc:sldMkLst>
          <pc:docMk/>
          <pc:sldMk cId="3698607653" sldId="403"/>
        </pc:sldMkLst>
      </pc:sldChg>
      <pc:sldChg chg="delSp modSp mod">
        <pc:chgData name="Adam Brown (Astrea Central)" userId="e4577f1c-a0ea-4eef-9851-9bdbe8619e58" providerId="ADAL" clId="{1C8439A8-903A-4D86-AA3D-7CAC932555EB}" dt="2025-09-11T10:16:33.727" v="30" actId="478"/>
        <pc:sldMkLst>
          <pc:docMk/>
          <pc:sldMk cId="871156449" sldId="408"/>
        </pc:sldMkLst>
        <pc:graphicFrameChg chg="modGraphic">
          <ac:chgData name="Adam Brown (Astrea Central)" userId="e4577f1c-a0ea-4eef-9851-9bdbe8619e58" providerId="ADAL" clId="{1C8439A8-903A-4D86-AA3D-7CAC932555EB}" dt="2025-09-11T10:16:27.276" v="27" actId="20577"/>
          <ac:graphicFrameMkLst>
            <pc:docMk/>
            <pc:sldMk cId="871156449" sldId="408"/>
            <ac:graphicFrameMk id="10" creationId="{0C290E95-F9FD-2952-6CC0-BE7B535A2699}"/>
          </ac:graphicFrameMkLst>
        </pc:graphicFrameChg>
      </pc:sldChg>
      <pc:sldChg chg="modSp mod">
        <pc:chgData name="Adam Brown (Astrea Central)" userId="e4577f1c-a0ea-4eef-9851-9bdbe8619e58" providerId="ADAL" clId="{1C8439A8-903A-4D86-AA3D-7CAC932555EB}" dt="2025-09-11T10:16:44.724" v="35" actId="20577"/>
        <pc:sldMkLst>
          <pc:docMk/>
          <pc:sldMk cId="2103105370" sldId="410"/>
        </pc:sldMkLst>
        <pc:graphicFrameChg chg="modGraphic">
          <ac:chgData name="Adam Brown (Astrea Central)" userId="e4577f1c-a0ea-4eef-9851-9bdbe8619e58" providerId="ADAL" clId="{1C8439A8-903A-4D86-AA3D-7CAC932555EB}" dt="2025-09-11T10:16:44.724" v="35" actId="20577"/>
          <ac:graphicFrameMkLst>
            <pc:docMk/>
            <pc:sldMk cId="2103105370" sldId="410"/>
            <ac:graphicFrameMk id="2" creationId="{86761B85-5108-7321-0AB8-98A472253EAD}"/>
          </ac:graphicFrameMkLst>
        </pc:graphicFrameChg>
      </pc:sldChg>
      <pc:sldChg chg="delSp modSp mod">
        <pc:chgData name="Adam Brown (Astrea Central)" userId="e4577f1c-a0ea-4eef-9851-9bdbe8619e58" providerId="ADAL" clId="{1C8439A8-903A-4D86-AA3D-7CAC932555EB}" dt="2025-09-11T10:45:33.682" v="1307" actId="478"/>
        <pc:sldMkLst>
          <pc:docMk/>
          <pc:sldMk cId="1606562861" sldId="414"/>
        </pc:sldMkLst>
      </pc:sldChg>
      <pc:sldChg chg="delSp mod">
        <pc:chgData name="Adam Brown (Astrea Central)" userId="e4577f1c-a0ea-4eef-9851-9bdbe8619e58" providerId="ADAL" clId="{1C8439A8-903A-4D86-AA3D-7CAC932555EB}" dt="2025-09-11T10:30:59.685" v="543" actId="478"/>
        <pc:sldMkLst>
          <pc:docMk/>
          <pc:sldMk cId="644135722" sldId="423"/>
        </pc:sldMkLst>
      </pc:sldChg>
      <pc:sldChg chg="delSp modSp mod">
        <pc:chgData name="Adam Brown (Astrea Central)" userId="e4577f1c-a0ea-4eef-9851-9bdbe8619e58" providerId="ADAL" clId="{1C8439A8-903A-4D86-AA3D-7CAC932555EB}" dt="2025-09-11T10:33:25.274" v="636" actId="478"/>
        <pc:sldMkLst>
          <pc:docMk/>
          <pc:sldMk cId="3320072963" sldId="584"/>
        </pc:sldMkLst>
      </pc:sldChg>
      <pc:sldChg chg="delSp mod">
        <pc:chgData name="Adam Brown (Astrea Central)" userId="e4577f1c-a0ea-4eef-9851-9bdbe8619e58" providerId="ADAL" clId="{1C8439A8-903A-4D86-AA3D-7CAC932555EB}" dt="2025-09-11T10:15:20.424" v="3" actId="478"/>
        <pc:sldMkLst>
          <pc:docMk/>
          <pc:sldMk cId="3303306997" sldId="609"/>
        </pc:sldMkLst>
      </pc:sldChg>
      <pc:sldChg chg="delSp mod">
        <pc:chgData name="Adam Brown (Astrea Central)" userId="e4577f1c-a0ea-4eef-9851-9bdbe8619e58" providerId="ADAL" clId="{1C8439A8-903A-4D86-AA3D-7CAC932555EB}" dt="2025-09-11T10:15:29.362" v="6" actId="478"/>
        <pc:sldMkLst>
          <pc:docMk/>
          <pc:sldMk cId="3253914428" sldId="610"/>
        </pc:sldMkLst>
      </pc:sldChg>
      <pc:sldChg chg="modSp mod">
        <pc:chgData name="Adam Brown (Astrea Central)" userId="e4577f1c-a0ea-4eef-9851-9bdbe8619e58" providerId="ADAL" clId="{1C8439A8-903A-4D86-AA3D-7CAC932555EB}" dt="2025-09-11T10:33:09.442" v="625" actId="6549"/>
        <pc:sldMkLst>
          <pc:docMk/>
          <pc:sldMk cId="2079907743" sldId="623"/>
        </pc:sldMkLst>
      </pc:sldChg>
      <pc:sldChg chg="modSp mod">
        <pc:chgData name="Adam Brown (Astrea Central)" userId="e4577f1c-a0ea-4eef-9851-9bdbe8619e58" providerId="ADAL" clId="{1C8439A8-903A-4D86-AA3D-7CAC932555EB}" dt="2025-09-11T10:36:21.766" v="895" actId="20577"/>
        <pc:sldMkLst>
          <pc:docMk/>
          <pc:sldMk cId="1364163814" sldId="627"/>
        </pc:sldMkLst>
      </pc:sldChg>
      <pc:sldChg chg="modSp mod">
        <pc:chgData name="Adam Brown (Astrea Central)" userId="e4577f1c-a0ea-4eef-9851-9bdbe8619e58" providerId="ADAL" clId="{1C8439A8-903A-4D86-AA3D-7CAC932555EB}" dt="2025-09-11T10:37:26.478" v="991" actId="20577"/>
        <pc:sldMkLst>
          <pc:docMk/>
          <pc:sldMk cId="2464929012" sldId="630"/>
        </pc:sldMkLst>
      </pc:sldChg>
      <pc:sldChg chg="addSp delSp modSp mod">
        <pc:chgData name="Adam Brown (Astrea Central)" userId="e4577f1c-a0ea-4eef-9851-9bdbe8619e58" providerId="ADAL" clId="{1C8439A8-903A-4D86-AA3D-7CAC932555EB}" dt="2025-09-11T10:43:08.412" v="1217" actId="20577"/>
        <pc:sldMkLst>
          <pc:docMk/>
          <pc:sldMk cId="2603023560" sldId="635"/>
        </pc:sldMkLst>
      </pc:sldChg>
      <pc:sldChg chg="delSp modSp mod">
        <pc:chgData name="Adam Brown (Astrea Central)" userId="e4577f1c-a0ea-4eef-9851-9bdbe8619e58" providerId="ADAL" clId="{1C8439A8-903A-4D86-AA3D-7CAC932555EB}" dt="2025-09-11T10:37:54.755" v="1007" actId="6549"/>
        <pc:sldMkLst>
          <pc:docMk/>
          <pc:sldMk cId="1204484103" sldId="637"/>
        </pc:sldMkLst>
      </pc:sldChg>
      <pc:sldChg chg="modSp mod">
        <pc:chgData name="Adam Brown (Astrea Central)" userId="e4577f1c-a0ea-4eef-9851-9bdbe8619e58" providerId="ADAL" clId="{1C8439A8-903A-4D86-AA3D-7CAC932555EB}" dt="2025-09-11T10:17:37.867" v="86" actId="20577"/>
        <pc:sldMkLst>
          <pc:docMk/>
          <pc:sldMk cId="387071802" sldId="638"/>
        </pc:sldMkLst>
        <pc:graphicFrameChg chg="modGraphic">
          <ac:chgData name="Adam Brown (Astrea Central)" userId="e4577f1c-a0ea-4eef-9851-9bdbe8619e58" providerId="ADAL" clId="{1C8439A8-903A-4D86-AA3D-7CAC932555EB}" dt="2025-09-11T10:17:37.867" v="86" actId="20577"/>
          <ac:graphicFrameMkLst>
            <pc:docMk/>
            <pc:sldMk cId="387071802" sldId="638"/>
            <ac:graphicFrameMk id="10" creationId="{9D64357A-2819-DB1E-830B-EA5E1CF89E55}"/>
          </ac:graphicFrameMkLst>
        </pc:graphicFrameChg>
      </pc:sldChg>
      <pc:sldChg chg="delSp modSp mod">
        <pc:chgData name="Adam Brown (Astrea Central)" userId="e4577f1c-a0ea-4eef-9851-9bdbe8619e58" providerId="ADAL" clId="{1C8439A8-903A-4D86-AA3D-7CAC932555EB}" dt="2025-09-11T10:18:06.230" v="96" actId="478"/>
        <pc:sldMkLst>
          <pc:docMk/>
          <pc:sldMk cId="1289636600" sldId="639"/>
        </pc:sldMkLst>
        <pc:spChg chg="mod">
          <ac:chgData name="Adam Brown (Astrea Central)" userId="e4577f1c-a0ea-4eef-9851-9bdbe8619e58" providerId="ADAL" clId="{1C8439A8-903A-4D86-AA3D-7CAC932555EB}" dt="2025-09-11T10:17:51.546" v="91" actId="1076"/>
          <ac:spMkLst>
            <pc:docMk/>
            <pc:sldMk cId="1289636600" sldId="639"/>
            <ac:spMk id="143" creationId="{9F042628-2A2B-CBD9-820D-DA4B4745EAA2}"/>
          </ac:spMkLst>
        </pc:spChg>
        <pc:graphicFrameChg chg="modGraphic">
          <ac:chgData name="Adam Brown (Astrea Central)" userId="e4577f1c-a0ea-4eef-9851-9bdbe8619e58" providerId="ADAL" clId="{1C8439A8-903A-4D86-AA3D-7CAC932555EB}" dt="2025-09-11T10:17:45.499" v="89" actId="6549"/>
          <ac:graphicFrameMkLst>
            <pc:docMk/>
            <pc:sldMk cId="1289636600" sldId="639"/>
            <ac:graphicFrameMk id="3" creationId="{DA8A41CA-A8DC-B399-C93F-ACF515DC1522}"/>
          </ac:graphicFrameMkLst>
        </pc:graphicFrameChg>
      </pc:sldChg>
      <pc:sldChg chg="addSp delSp modSp mod">
        <pc:chgData name="Adam Brown (Astrea Central)" userId="e4577f1c-a0ea-4eef-9851-9bdbe8619e58" providerId="ADAL" clId="{1C8439A8-903A-4D86-AA3D-7CAC932555EB}" dt="2025-09-11T10:41:19.475" v="1127" actId="20577"/>
        <pc:sldMkLst>
          <pc:docMk/>
          <pc:sldMk cId="786138704" sldId="688"/>
        </pc:sldMkLst>
      </pc:sldChg>
      <pc:sldChg chg="modSp mod">
        <pc:chgData name="Adam Brown (Astrea Central)" userId="e4577f1c-a0ea-4eef-9851-9bdbe8619e58" providerId="ADAL" clId="{1C8439A8-903A-4D86-AA3D-7CAC932555EB}" dt="2025-09-11T10:44:18.066" v="1282" actId="20577"/>
        <pc:sldMkLst>
          <pc:docMk/>
          <pc:sldMk cId="3063541273" sldId="690"/>
        </pc:sldMkLst>
      </pc:sldChg>
      <pc:sldChg chg="delSp modSp mod">
        <pc:chgData name="Adam Brown (Astrea Central)" userId="e4577f1c-a0ea-4eef-9851-9bdbe8619e58" providerId="ADAL" clId="{1C8439A8-903A-4D86-AA3D-7CAC932555EB}" dt="2025-09-11T10:38:51.869" v="1035" actId="6549"/>
        <pc:sldMkLst>
          <pc:docMk/>
          <pc:sldMk cId="2060183457" sldId="718"/>
        </pc:sldMkLst>
      </pc:sldChg>
      <pc:sldChg chg="delSp mod">
        <pc:chgData name="Adam Brown (Astrea Central)" userId="e4577f1c-a0ea-4eef-9851-9bdbe8619e58" providerId="ADAL" clId="{1C8439A8-903A-4D86-AA3D-7CAC932555EB}" dt="2025-09-11T10:44:49.731" v="1292" actId="478"/>
        <pc:sldMkLst>
          <pc:docMk/>
          <pc:sldMk cId="471605190" sldId="731"/>
        </pc:sldMkLst>
      </pc:sldChg>
      <pc:sldChg chg="delSp mod">
        <pc:chgData name="Adam Brown (Astrea Central)" userId="e4577f1c-a0ea-4eef-9851-9bdbe8619e58" providerId="ADAL" clId="{1C8439A8-903A-4D86-AA3D-7CAC932555EB}" dt="2025-09-11T10:45:00.854" v="1297" actId="478"/>
        <pc:sldMkLst>
          <pc:docMk/>
          <pc:sldMk cId="37642667" sldId="732"/>
        </pc:sldMkLst>
      </pc:sldChg>
      <pc:sldChg chg="delSp modSp mod">
        <pc:chgData name="Adam Brown (Astrea Central)" userId="e4577f1c-a0ea-4eef-9851-9bdbe8619e58" providerId="ADAL" clId="{1C8439A8-903A-4D86-AA3D-7CAC932555EB}" dt="2025-09-11T10:45:11.079" v="1302" actId="478"/>
        <pc:sldMkLst>
          <pc:docMk/>
          <pc:sldMk cId="2836024213" sldId="734"/>
        </pc:sldMkLst>
      </pc:sldChg>
      <pc:sldChg chg="delSp modSp mod">
        <pc:chgData name="Adam Brown (Astrea Central)" userId="e4577f1c-a0ea-4eef-9851-9bdbe8619e58" providerId="ADAL" clId="{1C8439A8-903A-4D86-AA3D-7CAC932555EB}" dt="2025-09-11T10:38:13.160" v="1013" actId="6549"/>
        <pc:sldMkLst>
          <pc:docMk/>
          <pc:sldMk cId="1139679624" sldId="742"/>
        </pc:sldMkLst>
      </pc:sldChg>
      <pc:sldChg chg="modSp">
        <pc:chgData name="Adam Brown (Astrea Central)" userId="e4577f1c-a0ea-4eef-9851-9bdbe8619e58" providerId="ADAL" clId="{1C8439A8-903A-4D86-AA3D-7CAC932555EB}" dt="2025-09-11T10:40:27.287" v="1089" actId="20577"/>
        <pc:sldMkLst>
          <pc:docMk/>
          <pc:sldMk cId="2781943068" sldId="745"/>
        </pc:sldMkLst>
      </pc:sldChg>
      <pc:sldChg chg="delSp modSp mod">
        <pc:chgData name="Adam Brown (Astrea Central)" userId="e4577f1c-a0ea-4eef-9851-9bdbe8619e58" providerId="ADAL" clId="{1C8439A8-903A-4D86-AA3D-7CAC932555EB}" dt="2025-09-11T10:15:37.865" v="10" actId="478"/>
        <pc:sldMkLst>
          <pc:docMk/>
          <pc:sldMk cId="2207505457" sldId="760"/>
        </pc:sldMkLst>
      </pc:sldChg>
      <pc:sldChg chg="delSp mod">
        <pc:chgData name="Adam Brown (Astrea Central)" userId="e4577f1c-a0ea-4eef-9851-9bdbe8619e58" providerId="ADAL" clId="{1C8439A8-903A-4D86-AA3D-7CAC932555EB}" dt="2025-09-11T10:15:51.146" v="15" actId="478"/>
        <pc:sldMkLst>
          <pc:docMk/>
          <pc:sldMk cId="2793727284" sldId="761"/>
        </pc:sldMkLst>
      </pc:sldChg>
      <pc:sldChg chg="delSp mod">
        <pc:chgData name="Adam Brown (Astrea Central)" userId="e4577f1c-a0ea-4eef-9851-9bdbe8619e58" providerId="ADAL" clId="{1C8439A8-903A-4D86-AA3D-7CAC932555EB}" dt="2025-09-11T10:16:00.702" v="16" actId="478"/>
        <pc:sldMkLst>
          <pc:docMk/>
          <pc:sldMk cId="794686062" sldId="762"/>
        </pc:sldMkLst>
      </pc:sldChg>
      <pc:sldChg chg="modSp mod">
        <pc:chgData name="Adam Brown (Astrea Central)" userId="e4577f1c-a0ea-4eef-9851-9bdbe8619e58" providerId="ADAL" clId="{1C8439A8-903A-4D86-AA3D-7CAC932555EB}" dt="2025-09-11T10:16:50.543" v="38" actId="20577"/>
        <pc:sldMkLst>
          <pc:docMk/>
          <pc:sldMk cId="1221249120" sldId="763"/>
        </pc:sldMkLst>
        <pc:graphicFrameChg chg="modGraphic">
          <ac:chgData name="Adam Brown (Astrea Central)" userId="e4577f1c-a0ea-4eef-9851-9bdbe8619e58" providerId="ADAL" clId="{1C8439A8-903A-4D86-AA3D-7CAC932555EB}" dt="2025-09-11T10:16:50.543" v="38" actId="20577"/>
          <ac:graphicFrameMkLst>
            <pc:docMk/>
            <pc:sldMk cId="1221249120" sldId="763"/>
            <ac:graphicFrameMk id="27" creationId="{EB9E4F02-17E5-3C3F-487C-041998B41725}"/>
          </ac:graphicFrameMkLst>
        </pc:graphicFrameChg>
      </pc:sldChg>
      <pc:sldChg chg="modSp mod">
        <pc:chgData name="Adam Brown (Astrea Central)" userId="e4577f1c-a0ea-4eef-9851-9bdbe8619e58" providerId="ADAL" clId="{1C8439A8-903A-4D86-AA3D-7CAC932555EB}" dt="2025-09-11T10:16:59.744" v="41" actId="6549"/>
        <pc:sldMkLst>
          <pc:docMk/>
          <pc:sldMk cId="3443557328" sldId="765"/>
        </pc:sldMkLst>
        <pc:graphicFrameChg chg="modGraphic">
          <ac:chgData name="Adam Brown (Astrea Central)" userId="e4577f1c-a0ea-4eef-9851-9bdbe8619e58" providerId="ADAL" clId="{1C8439A8-903A-4D86-AA3D-7CAC932555EB}" dt="2025-09-11T10:16:54.205" v="39" actId="6549"/>
          <ac:graphicFrameMkLst>
            <pc:docMk/>
            <pc:sldMk cId="3443557328" sldId="765"/>
            <ac:graphicFrameMk id="4" creationId="{91DFA472-8CAC-5466-331E-96055FD1D98C}"/>
          </ac:graphicFrameMkLst>
        </pc:graphicFrameChg>
        <pc:graphicFrameChg chg="modGraphic">
          <ac:chgData name="Adam Brown (Astrea Central)" userId="e4577f1c-a0ea-4eef-9851-9bdbe8619e58" providerId="ADAL" clId="{1C8439A8-903A-4D86-AA3D-7CAC932555EB}" dt="2025-09-11T10:16:57.204" v="40" actId="6549"/>
          <ac:graphicFrameMkLst>
            <pc:docMk/>
            <pc:sldMk cId="3443557328" sldId="765"/>
            <ac:graphicFrameMk id="6" creationId="{0BA277E9-5C25-87DA-BA65-E7FD284B9476}"/>
          </ac:graphicFrameMkLst>
        </pc:graphicFrameChg>
        <pc:graphicFrameChg chg="modGraphic">
          <ac:chgData name="Adam Brown (Astrea Central)" userId="e4577f1c-a0ea-4eef-9851-9bdbe8619e58" providerId="ADAL" clId="{1C8439A8-903A-4D86-AA3D-7CAC932555EB}" dt="2025-09-11T10:16:59.744" v="41" actId="6549"/>
          <ac:graphicFrameMkLst>
            <pc:docMk/>
            <pc:sldMk cId="3443557328" sldId="765"/>
            <ac:graphicFrameMk id="7" creationId="{6F6378CB-2585-DF1D-1554-D3CDFBBF8138}"/>
          </ac:graphicFrameMkLst>
        </pc:graphicFrameChg>
      </pc:sldChg>
      <pc:sldChg chg="delSp modSp mod">
        <pc:chgData name="Adam Brown (Astrea Central)" userId="e4577f1c-a0ea-4eef-9851-9bdbe8619e58" providerId="ADAL" clId="{1C8439A8-903A-4D86-AA3D-7CAC932555EB}" dt="2025-09-11T10:19:32.142" v="116" actId="20577"/>
        <pc:sldMkLst>
          <pc:docMk/>
          <pc:sldMk cId="3306284463" sldId="771"/>
        </pc:sldMkLst>
        <pc:spChg chg="mod">
          <ac:chgData name="Adam Brown (Astrea Central)" userId="e4577f1c-a0ea-4eef-9851-9bdbe8619e58" providerId="ADAL" clId="{1C8439A8-903A-4D86-AA3D-7CAC932555EB}" dt="2025-09-11T10:19:21.837" v="112" actId="20577"/>
          <ac:spMkLst>
            <pc:docMk/>
            <pc:sldMk cId="3306284463" sldId="771"/>
            <ac:spMk id="4" creationId="{4BB83E25-A2E9-19C6-3C42-6AA04D771171}"/>
          </ac:spMkLst>
        </pc:spChg>
        <pc:spChg chg="mod">
          <ac:chgData name="Adam Brown (Astrea Central)" userId="e4577f1c-a0ea-4eef-9851-9bdbe8619e58" providerId="ADAL" clId="{1C8439A8-903A-4D86-AA3D-7CAC932555EB}" dt="2025-09-11T10:19:32.142" v="116" actId="20577"/>
          <ac:spMkLst>
            <pc:docMk/>
            <pc:sldMk cId="3306284463" sldId="771"/>
            <ac:spMk id="5" creationId="{11AB5683-0689-50DB-9054-FFCDE1F8C1EB}"/>
          </ac:spMkLst>
        </pc:spChg>
        <pc:spChg chg="mod">
          <ac:chgData name="Adam Brown (Astrea Central)" userId="e4577f1c-a0ea-4eef-9851-9bdbe8619e58" providerId="ADAL" clId="{1C8439A8-903A-4D86-AA3D-7CAC932555EB}" dt="2025-09-11T10:19:27.680" v="114" actId="20577"/>
          <ac:spMkLst>
            <pc:docMk/>
            <pc:sldMk cId="3306284463" sldId="771"/>
            <ac:spMk id="6" creationId="{AD6EEE83-48DE-952F-29AB-ADE1CCE59EB3}"/>
          </ac:spMkLst>
        </pc:spChg>
        <pc:spChg chg="mod">
          <ac:chgData name="Adam Brown (Astrea Central)" userId="e4577f1c-a0ea-4eef-9851-9bdbe8619e58" providerId="ADAL" clId="{1C8439A8-903A-4D86-AA3D-7CAC932555EB}" dt="2025-09-11T10:19:25.290" v="113" actId="20577"/>
          <ac:spMkLst>
            <pc:docMk/>
            <pc:sldMk cId="3306284463" sldId="771"/>
            <ac:spMk id="15" creationId="{56141F2F-495C-B2F2-9573-1F9D8ED04865}"/>
          </ac:spMkLst>
        </pc:spChg>
        <pc:spChg chg="mod">
          <ac:chgData name="Adam Brown (Astrea Central)" userId="e4577f1c-a0ea-4eef-9851-9bdbe8619e58" providerId="ADAL" clId="{1C8439A8-903A-4D86-AA3D-7CAC932555EB}" dt="2025-09-11T10:19:30.173" v="115" actId="20577"/>
          <ac:spMkLst>
            <pc:docMk/>
            <pc:sldMk cId="3306284463" sldId="771"/>
            <ac:spMk id="16" creationId="{9E1B8C81-7F81-38DC-0167-5A38F529C93D}"/>
          </ac:spMkLst>
        </pc:spChg>
        <pc:graphicFrameChg chg="modGraphic">
          <ac:chgData name="Adam Brown (Astrea Central)" userId="e4577f1c-a0ea-4eef-9851-9bdbe8619e58" providerId="ADAL" clId="{1C8439A8-903A-4D86-AA3D-7CAC932555EB}" dt="2025-09-11T10:18:11.300" v="97" actId="6549"/>
          <ac:graphicFrameMkLst>
            <pc:docMk/>
            <pc:sldMk cId="3306284463" sldId="771"/>
            <ac:graphicFrameMk id="3" creationId="{7D2BFEB6-4802-856E-0C73-7217D710E633}"/>
          </ac:graphicFrameMkLst>
        </pc:graphicFrameChg>
      </pc:sldChg>
      <pc:sldChg chg="modSp mod">
        <pc:chgData name="Adam Brown (Astrea Central)" userId="e4577f1c-a0ea-4eef-9851-9bdbe8619e58" providerId="ADAL" clId="{1C8439A8-903A-4D86-AA3D-7CAC932555EB}" dt="2025-09-11T10:34:22.174" v="704" actId="20577"/>
        <pc:sldMkLst>
          <pc:docMk/>
          <pc:sldMk cId="1267743658" sldId="772"/>
        </pc:sldMkLst>
      </pc:sldChg>
      <pc:sldChg chg="modSp mod">
        <pc:chgData name="Adam Brown (Astrea Central)" userId="e4577f1c-a0ea-4eef-9851-9bdbe8619e58" providerId="ADAL" clId="{1C8439A8-903A-4D86-AA3D-7CAC932555EB}" dt="2025-09-11T10:34:37.507" v="736" actId="20577"/>
        <pc:sldMkLst>
          <pc:docMk/>
          <pc:sldMk cId="3065678312" sldId="773"/>
        </pc:sldMkLst>
      </pc:sldChg>
      <pc:sldChg chg="modSp mod">
        <pc:chgData name="Adam Brown (Astrea Central)" userId="e4577f1c-a0ea-4eef-9851-9bdbe8619e58" providerId="ADAL" clId="{1C8439A8-903A-4D86-AA3D-7CAC932555EB}" dt="2025-09-11T10:43:57.858" v="1274" actId="20577"/>
        <pc:sldMkLst>
          <pc:docMk/>
          <pc:sldMk cId="396736249" sldId="774"/>
        </pc:sldMkLst>
      </pc:sldChg>
      <pc:sldChg chg="modSp mod">
        <pc:chgData name="Adam Brown (Astrea Central)" userId="e4577f1c-a0ea-4eef-9851-9bdbe8619e58" providerId="ADAL" clId="{1C8439A8-903A-4D86-AA3D-7CAC932555EB}" dt="2025-09-11T10:36:42.060" v="935" actId="20577"/>
        <pc:sldMkLst>
          <pc:docMk/>
          <pc:sldMk cId="1539647579" sldId="775"/>
        </pc:sldMkLst>
      </pc:sldChg>
      <pc:sldChg chg="modSp mod">
        <pc:chgData name="Adam Brown (Astrea Central)" userId="e4577f1c-a0ea-4eef-9851-9bdbe8619e58" providerId="ADAL" clId="{1C8439A8-903A-4D86-AA3D-7CAC932555EB}" dt="2025-09-11T10:36:51.833" v="946" actId="6549"/>
        <pc:sldMkLst>
          <pc:docMk/>
          <pc:sldMk cId="791333903" sldId="776"/>
        </pc:sldMkLst>
      </pc:sldChg>
      <pc:sldChg chg="modSp mod">
        <pc:chgData name="Adam Brown (Astrea Central)" userId="e4577f1c-a0ea-4eef-9851-9bdbe8619e58" providerId="ADAL" clId="{1C8439A8-903A-4D86-AA3D-7CAC932555EB}" dt="2025-09-11T10:36:58.676" v="949" actId="6549"/>
        <pc:sldMkLst>
          <pc:docMk/>
          <pc:sldMk cId="2557147136" sldId="777"/>
        </pc:sldMkLst>
      </pc:sldChg>
      <pc:sldChg chg="modSp mod">
        <pc:chgData name="Adam Brown (Astrea Central)" userId="e4577f1c-a0ea-4eef-9851-9bdbe8619e58" providerId="ADAL" clId="{1C8439A8-903A-4D86-AA3D-7CAC932555EB}" dt="2025-09-11T10:37:14.796" v="978" actId="20577"/>
        <pc:sldMkLst>
          <pc:docMk/>
          <pc:sldMk cId="1727354984" sldId="778"/>
        </pc:sldMkLst>
      </pc:sldChg>
      <pc:sldChg chg="delSp mod">
        <pc:chgData name="Adam Brown (Astrea Central)" userId="e4577f1c-a0ea-4eef-9851-9bdbe8619e58" providerId="ADAL" clId="{1C8439A8-903A-4D86-AA3D-7CAC932555EB}" dt="2025-09-11T10:16:10.277" v="20" actId="478"/>
        <pc:sldMkLst>
          <pc:docMk/>
          <pc:sldMk cId="808451644" sldId="779"/>
        </pc:sldMkLst>
      </pc:sldChg>
      <pc:sldChg chg="delSp modSp mod">
        <pc:chgData name="Adam Brown (Astrea Central)" userId="e4577f1c-a0ea-4eef-9851-9bdbe8619e58" providerId="ADAL" clId="{1C8439A8-903A-4D86-AA3D-7CAC932555EB}" dt="2025-09-11T10:16:20.496" v="24" actId="478"/>
        <pc:sldMkLst>
          <pc:docMk/>
          <pc:sldMk cId="645148543" sldId="781"/>
        </pc:sldMkLst>
        <pc:graphicFrameChg chg="modGraphic">
          <ac:chgData name="Adam Brown (Astrea Central)" userId="e4577f1c-a0ea-4eef-9851-9bdbe8619e58" providerId="ADAL" clId="{1C8439A8-903A-4D86-AA3D-7CAC932555EB}" dt="2025-09-11T10:16:17.361" v="23" actId="20577"/>
          <ac:graphicFrameMkLst>
            <pc:docMk/>
            <pc:sldMk cId="645148543" sldId="781"/>
            <ac:graphicFrameMk id="2" creationId="{25805629-2405-194A-690C-8352FECA92FA}"/>
          </ac:graphicFrameMkLst>
        </pc:graphicFrameChg>
      </pc:sldChg>
      <pc:sldChg chg="addSp delSp modSp mod">
        <pc:chgData name="Adam Brown (Astrea Central)" userId="e4577f1c-a0ea-4eef-9851-9bdbe8619e58" providerId="ADAL" clId="{1C8439A8-903A-4D86-AA3D-7CAC932555EB}" dt="2025-09-11T10:22:07.171" v="233" actId="478"/>
        <pc:sldMkLst>
          <pc:docMk/>
          <pc:sldMk cId="767224884" sldId="782"/>
        </pc:sldMkLst>
        <pc:spChg chg="add del mod">
          <ac:chgData name="Adam Brown (Astrea Central)" userId="e4577f1c-a0ea-4eef-9851-9bdbe8619e58" providerId="ADAL" clId="{1C8439A8-903A-4D86-AA3D-7CAC932555EB}" dt="2025-09-11T10:21:05.788" v="160" actId="20577"/>
          <ac:spMkLst>
            <pc:docMk/>
            <pc:sldMk cId="767224884" sldId="782"/>
            <ac:spMk id="13" creationId="{CEEF23AD-EA17-135A-DB95-1D1FECB286F3}"/>
          </ac:spMkLst>
        </pc:spChg>
        <pc:spChg chg="mod">
          <ac:chgData name="Adam Brown (Astrea Central)" userId="e4577f1c-a0ea-4eef-9851-9bdbe8619e58" providerId="ADAL" clId="{1C8439A8-903A-4D86-AA3D-7CAC932555EB}" dt="2025-09-11T10:21:08.611" v="163" actId="20577"/>
          <ac:spMkLst>
            <pc:docMk/>
            <pc:sldMk cId="767224884" sldId="782"/>
            <ac:spMk id="15" creationId="{CEEF23AD-EA17-135A-DB95-1D1FECB286F3}"/>
          </ac:spMkLst>
        </pc:spChg>
        <pc:spChg chg="mod">
          <ac:chgData name="Adam Brown (Astrea Central)" userId="e4577f1c-a0ea-4eef-9851-9bdbe8619e58" providerId="ADAL" clId="{1C8439A8-903A-4D86-AA3D-7CAC932555EB}" dt="2025-09-11T10:21:10.371" v="166" actId="20577"/>
          <ac:spMkLst>
            <pc:docMk/>
            <pc:sldMk cId="767224884" sldId="782"/>
            <ac:spMk id="17" creationId="{CEEF23AD-EA17-135A-DB95-1D1FECB286F3}"/>
          </ac:spMkLst>
        </pc:spChg>
        <pc:spChg chg="add del">
          <ac:chgData name="Adam Brown (Astrea Central)" userId="e4577f1c-a0ea-4eef-9851-9bdbe8619e58" providerId="ADAL" clId="{1C8439A8-903A-4D86-AA3D-7CAC932555EB}" dt="2025-09-11T10:21:21.543" v="177" actId="478"/>
          <ac:spMkLst>
            <pc:docMk/>
            <pc:sldMk cId="767224884" sldId="782"/>
            <ac:spMk id="27" creationId="{CEEF23AD-EA17-135A-DB95-1D1FECB286F3}"/>
          </ac:spMkLst>
        </pc:spChg>
        <pc:spChg chg="mod">
          <ac:chgData name="Adam Brown (Astrea Central)" userId="e4577f1c-a0ea-4eef-9851-9bdbe8619e58" providerId="ADAL" clId="{1C8439A8-903A-4D86-AA3D-7CAC932555EB}" dt="2025-09-11T10:21:17.989" v="175" actId="20577"/>
          <ac:spMkLst>
            <pc:docMk/>
            <pc:sldMk cId="767224884" sldId="782"/>
            <ac:spMk id="135" creationId="{CEEF23AD-EA17-135A-DB95-1D1FECB286F3}"/>
          </ac:spMkLst>
        </pc:spChg>
        <pc:spChg chg="mod">
          <ac:chgData name="Adam Brown (Astrea Central)" userId="e4577f1c-a0ea-4eef-9851-9bdbe8619e58" providerId="ADAL" clId="{1C8439A8-903A-4D86-AA3D-7CAC932555EB}" dt="2025-09-11T10:21:16.141" v="172" actId="6549"/>
          <ac:spMkLst>
            <pc:docMk/>
            <pc:sldMk cId="767224884" sldId="782"/>
            <ac:spMk id="136" creationId="{CEEF23AD-EA17-135A-DB95-1D1FECB286F3}"/>
          </ac:spMkLst>
        </pc:spChg>
        <pc:spChg chg="mod">
          <ac:chgData name="Adam Brown (Astrea Central)" userId="e4577f1c-a0ea-4eef-9851-9bdbe8619e58" providerId="ADAL" clId="{1C8439A8-903A-4D86-AA3D-7CAC932555EB}" dt="2025-09-11T10:21:13.677" v="169" actId="20577"/>
          <ac:spMkLst>
            <pc:docMk/>
            <pc:sldMk cId="767224884" sldId="782"/>
            <ac:spMk id="137" creationId="{CEEF23AD-EA17-135A-DB95-1D1FECB286F3}"/>
          </ac:spMkLst>
        </pc:spChg>
      </pc:sldChg>
      <pc:sldChg chg="addSp delSp mod">
        <pc:chgData name="Adam Brown (Astrea Central)" userId="e4577f1c-a0ea-4eef-9851-9bdbe8619e58" providerId="ADAL" clId="{1C8439A8-903A-4D86-AA3D-7CAC932555EB}" dt="2025-09-11T10:28:01.448" v="408" actId="478"/>
        <pc:sldMkLst>
          <pc:docMk/>
          <pc:sldMk cId="1441230580" sldId="783"/>
        </pc:sldMkLst>
        <pc:spChg chg="add del">
          <ac:chgData name="Adam Brown (Astrea Central)" userId="e4577f1c-a0ea-4eef-9851-9bdbe8619e58" providerId="ADAL" clId="{1C8439A8-903A-4D86-AA3D-7CAC932555EB}" dt="2025-09-11T10:27:25.252" v="389" actId="478"/>
          <ac:spMkLst>
            <pc:docMk/>
            <pc:sldMk cId="1441230580" sldId="783"/>
            <ac:spMk id="49" creationId="{CEEF23AD-EA17-135A-DB95-1D1FECB286F3}"/>
          </ac:spMkLst>
        </pc:spChg>
        <pc:spChg chg="add del">
          <ac:chgData name="Adam Brown (Astrea Central)" userId="e4577f1c-a0ea-4eef-9851-9bdbe8619e58" providerId="ADAL" clId="{1C8439A8-903A-4D86-AA3D-7CAC932555EB}" dt="2025-09-11T10:27:33.580" v="393" actId="478"/>
          <ac:spMkLst>
            <pc:docMk/>
            <pc:sldMk cId="1441230580" sldId="783"/>
            <ac:spMk id="63" creationId="{CEEF23AD-EA17-135A-DB95-1D1FECB286F3}"/>
          </ac:spMkLst>
        </pc:spChg>
      </pc:sldChg>
      <pc:sldChg chg="delSp mod">
        <pc:chgData name="Adam Brown (Astrea Central)" userId="e4577f1c-a0ea-4eef-9851-9bdbe8619e58" providerId="ADAL" clId="{1C8439A8-903A-4D86-AA3D-7CAC932555EB}" dt="2025-09-11T10:29:34.711" v="482" actId="478"/>
        <pc:sldMkLst>
          <pc:docMk/>
          <pc:sldMk cId="2171972462" sldId="784"/>
        </pc:sldMkLst>
      </pc:sldChg>
      <pc:sldChg chg="delSp mod">
        <pc:chgData name="Adam Brown (Astrea Central)" userId="e4577f1c-a0ea-4eef-9851-9bdbe8619e58" providerId="ADAL" clId="{1C8439A8-903A-4D86-AA3D-7CAC932555EB}" dt="2025-09-11T10:30:05.846" v="509" actId="478"/>
        <pc:sldMkLst>
          <pc:docMk/>
          <pc:sldMk cId="749046522" sldId="785"/>
        </pc:sldMkLst>
      </pc:sldChg>
      <pc:sldChg chg="delSp mod">
        <pc:chgData name="Adam Brown (Astrea Central)" userId="e4577f1c-a0ea-4eef-9851-9bdbe8619e58" providerId="ADAL" clId="{1C8439A8-903A-4D86-AA3D-7CAC932555EB}" dt="2025-09-11T10:30:28.982" v="524" actId="478"/>
        <pc:sldMkLst>
          <pc:docMk/>
          <pc:sldMk cId="3670830453" sldId="786"/>
        </pc:sldMkLst>
      </pc:sldChg>
      <pc:sldChg chg="delSp mod">
        <pc:chgData name="Adam Brown (Astrea Central)" userId="e4577f1c-a0ea-4eef-9851-9bdbe8619e58" providerId="ADAL" clId="{1C8439A8-903A-4D86-AA3D-7CAC932555EB}" dt="2025-09-11T10:30:40.184" v="530" actId="478"/>
        <pc:sldMkLst>
          <pc:docMk/>
          <pc:sldMk cId="4152920570" sldId="787"/>
        </pc:sldMkLst>
      </pc:sldChg>
      <pc:sldChg chg="delSp mod">
        <pc:chgData name="Adam Brown (Astrea Central)" userId="e4577f1c-a0ea-4eef-9851-9bdbe8619e58" providerId="ADAL" clId="{1C8439A8-903A-4D86-AA3D-7CAC932555EB}" dt="2025-09-11T10:31:57.015" v="575" actId="478"/>
        <pc:sldMkLst>
          <pc:docMk/>
          <pc:sldMk cId="15408998" sldId="788"/>
        </pc:sldMkLst>
      </pc:sldChg>
      <pc:sldChg chg="delSp mod">
        <pc:chgData name="Adam Brown (Astrea Central)" userId="e4577f1c-a0ea-4eef-9851-9bdbe8619e58" providerId="ADAL" clId="{1C8439A8-903A-4D86-AA3D-7CAC932555EB}" dt="2025-09-11T10:32:16.649" v="593" actId="478"/>
        <pc:sldMkLst>
          <pc:docMk/>
          <pc:sldMk cId="3547202211" sldId="789"/>
        </pc:sldMkLst>
      </pc:sldChg>
      <pc:sldChg chg="delSp mod">
        <pc:chgData name="Adam Brown (Astrea Central)" userId="e4577f1c-a0ea-4eef-9851-9bdbe8619e58" providerId="ADAL" clId="{1C8439A8-903A-4D86-AA3D-7CAC932555EB}" dt="2025-09-11T10:32:32.034" v="604" actId="478"/>
        <pc:sldMkLst>
          <pc:docMk/>
          <pc:sldMk cId="1155165873" sldId="790"/>
        </pc:sldMkLst>
      </pc:sldChg>
      <pc:sldChg chg="delSp modSp mod">
        <pc:chgData name="Adam Brown (Astrea Central)" userId="e4577f1c-a0ea-4eef-9851-9bdbe8619e58" providerId="ADAL" clId="{1C8439A8-903A-4D86-AA3D-7CAC932555EB}" dt="2025-09-11T10:38:32.426" v="1024" actId="478"/>
        <pc:sldMkLst>
          <pc:docMk/>
          <pc:sldMk cId="3723355695" sldId="1232"/>
        </pc:sldMkLst>
      </pc:sldChg>
      <pc:sldChg chg="delSp mod">
        <pc:chgData name="Adam Brown (Astrea Central)" userId="e4577f1c-a0ea-4eef-9851-9bdbe8619e58" providerId="ADAL" clId="{1C8439A8-903A-4D86-AA3D-7CAC932555EB}" dt="2025-09-11T10:37:38.203" v="995" actId="478"/>
        <pc:sldMkLst>
          <pc:docMk/>
          <pc:sldMk cId="1367264850" sldId="1233"/>
        </pc:sldMkLst>
      </pc:sldChg>
      <pc:sldChg chg="delSp mod">
        <pc:chgData name="Adam Brown (Astrea Central)" userId="e4577f1c-a0ea-4eef-9851-9bdbe8619e58" providerId="ADAL" clId="{1C8439A8-903A-4D86-AA3D-7CAC932555EB}" dt="2025-09-11T10:37:41.926" v="997" actId="478"/>
        <pc:sldMkLst>
          <pc:docMk/>
          <pc:sldMk cId="3632875335" sldId="1234"/>
        </pc:sldMkLst>
      </pc:sldChg>
      <pc:sldChg chg="addSp delSp mod">
        <pc:chgData name="Adam Brown (Astrea Central)" userId="e4577f1c-a0ea-4eef-9851-9bdbe8619e58" providerId="ADAL" clId="{1C8439A8-903A-4D86-AA3D-7CAC932555EB}" dt="2025-09-11T10:40:39.549" v="1096" actId="478"/>
        <pc:sldMkLst>
          <pc:docMk/>
          <pc:sldMk cId="1672177246" sldId="1235"/>
        </pc:sldMkLst>
      </pc:sldChg>
      <pc:sldChg chg="delSp mod">
        <pc:chgData name="Adam Brown (Astrea Central)" userId="e4577f1c-a0ea-4eef-9851-9bdbe8619e58" providerId="ADAL" clId="{1C8439A8-903A-4D86-AA3D-7CAC932555EB}" dt="2025-09-11T10:37:45.254" v="1000" actId="478"/>
        <pc:sldMkLst>
          <pc:docMk/>
          <pc:sldMk cId="3096346053" sldId="1236"/>
        </pc:sldMkLst>
      </pc:sldChg>
      <pc:sldChg chg="delSp mod">
        <pc:chgData name="Adam Brown (Astrea Central)" userId="e4577f1c-a0ea-4eef-9851-9bdbe8619e58" providerId="ADAL" clId="{1C8439A8-903A-4D86-AA3D-7CAC932555EB}" dt="2025-09-11T10:37:48.096" v="1003" actId="478"/>
        <pc:sldMkLst>
          <pc:docMk/>
          <pc:sldMk cId="1132490060" sldId="1237"/>
        </pc:sldMkLst>
      </pc:sldChg>
      <pc:sldChg chg="delSp mod">
        <pc:chgData name="Adam Brown (Astrea Central)" userId="e4577f1c-a0ea-4eef-9851-9bdbe8619e58" providerId="ADAL" clId="{1C8439A8-903A-4D86-AA3D-7CAC932555EB}" dt="2025-09-11T10:32:46.246" v="613" actId="478"/>
        <pc:sldMkLst>
          <pc:docMk/>
          <pc:sldMk cId="2217879506" sldId="1242"/>
        </pc:sldMkLst>
      </pc:sldChg>
      <pc:sldChg chg="delSp mod">
        <pc:chgData name="Adam Brown (Astrea Central)" userId="e4577f1c-a0ea-4eef-9851-9bdbe8619e58" providerId="ADAL" clId="{1C8439A8-903A-4D86-AA3D-7CAC932555EB}" dt="2025-09-11T10:32:49.550" v="616" actId="478"/>
        <pc:sldMkLst>
          <pc:docMk/>
          <pc:sldMk cId="3953004801" sldId="1243"/>
        </pc:sldMkLst>
      </pc:sldChg>
      <pc:sldChg chg="delSp mod">
        <pc:chgData name="Adam Brown (Astrea Central)" userId="e4577f1c-a0ea-4eef-9851-9bdbe8619e58" providerId="ADAL" clId="{1C8439A8-903A-4D86-AA3D-7CAC932555EB}" dt="2025-09-11T10:32:53.483" v="619" actId="478"/>
        <pc:sldMkLst>
          <pc:docMk/>
          <pc:sldMk cId="718419551" sldId="1244"/>
        </pc:sldMkLst>
      </pc:sldChg>
      <pc:sldChg chg="delSp mod">
        <pc:chgData name="Adam Brown (Astrea Central)" userId="e4577f1c-a0ea-4eef-9851-9bdbe8619e58" providerId="ADAL" clId="{1C8439A8-903A-4D86-AA3D-7CAC932555EB}" dt="2025-09-11T10:32:57.200" v="622" actId="478"/>
        <pc:sldMkLst>
          <pc:docMk/>
          <pc:sldMk cId="868366235" sldId="1245"/>
        </pc:sldMkLst>
      </pc:sldChg>
      <pc:sldChg chg="delSp mod">
        <pc:chgData name="Adam Brown (Astrea Central)" userId="e4577f1c-a0ea-4eef-9851-9bdbe8619e58" providerId="ADAL" clId="{1C8439A8-903A-4D86-AA3D-7CAC932555EB}" dt="2025-09-11T10:45:59.898" v="1317" actId="478"/>
        <pc:sldMkLst>
          <pc:docMk/>
          <pc:sldMk cId="2730425560" sldId="1246"/>
        </pc:sldMkLst>
      </pc:sldChg>
      <pc:sldChg chg="delSp mod">
        <pc:chgData name="Adam Brown (Astrea Central)" userId="e4577f1c-a0ea-4eef-9851-9bdbe8619e58" providerId="ADAL" clId="{1C8439A8-903A-4D86-AA3D-7CAC932555EB}" dt="2025-09-11T10:46:02.544" v="1319" actId="478"/>
        <pc:sldMkLst>
          <pc:docMk/>
          <pc:sldMk cId="1575759774" sldId="1247"/>
        </pc:sldMkLst>
      </pc:sldChg>
      <pc:sldChg chg="delSp mod">
        <pc:chgData name="Adam Brown (Astrea Central)" userId="e4577f1c-a0ea-4eef-9851-9bdbe8619e58" providerId="ADAL" clId="{1C8439A8-903A-4D86-AA3D-7CAC932555EB}" dt="2025-09-11T10:46:06.097" v="1322" actId="478"/>
        <pc:sldMkLst>
          <pc:docMk/>
          <pc:sldMk cId="2482332410" sldId="1248"/>
        </pc:sldMkLst>
      </pc:sldChg>
      <pc:sldChg chg="delSp mod">
        <pc:chgData name="Adam Brown (Astrea Central)" userId="e4577f1c-a0ea-4eef-9851-9bdbe8619e58" providerId="ADAL" clId="{1C8439A8-903A-4D86-AA3D-7CAC932555EB}" dt="2025-09-11T10:46:08.996" v="1325" actId="478"/>
        <pc:sldMkLst>
          <pc:docMk/>
          <pc:sldMk cId="2544976946" sldId="1249"/>
        </pc:sldMkLst>
      </pc:sldChg>
      <pc:sldChg chg="delSp mod">
        <pc:chgData name="Adam Brown (Astrea Central)" userId="e4577f1c-a0ea-4eef-9851-9bdbe8619e58" providerId="ADAL" clId="{1C8439A8-903A-4D86-AA3D-7CAC932555EB}" dt="2025-09-11T10:46:13.947" v="1327" actId="478"/>
        <pc:sldMkLst>
          <pc:docMk/>
          <pc:sldMk cId="3137427550" sldId="12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2B6A2F48-886E-9C4D-9A23-F79AB5041824}" type="datetimeFigureOut">
              <a:rPr lang="en-GB" smtClean="0"/>
              <a:t>02/10/2025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C24A783-C653-C444-A1FE-7D3BC73388DB}" type="slidenum">
              <a:rPr lang="en-GB" smtClean="0"/>
              <a:t>‹#›</a:t>
            </a:fld>
            <a:endParaRPr lang="en-GB"/>
          </a:p>
        </p:txBody>
      </p:sp>
    </p:spTree>
    <p:extLst>
      <p:ext uri="{BB962C8B-B14F-4D97-AF65-F5344CB8AC3E}">
        <p14:creationId xmlns:p14="http://schemas.microsoft.com/office/powerpoint/2010/main" val="390172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AND LESSON STRUCTURE????</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a:t>
            </a:fld>
            <a:endParaRPr lang="en-GB"/>
          </a:p>
        </p:txBody>
      </p:sp>
    </p:spTree>
    <p:extLst>
      <p:ext uri="{BB962C8B-B14F-4D97-AF65-F5344CB8AC3E}">
        <p14:creationId xmlns:p14="http://schemas.microsoft.com/office/powerpoint/2010/main" val="3404366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2</a:t>
            </a:fld>
            <a:endParaRPr lang="en-GB"/>
          </a:p>
        </p:txBody>
      </p:sp>
    </p:spTree>
    <p:extLst>
      <p:ext uri="{BB962C8B-B14F-4D97-AF65-F5344CB8AC3E}">
        <p14:creationId xmlns:p14="http://schemas.microsoft.com/office/powerpoint/2010/main" val="129993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a:t>
            </a:fld>
            <a:endParaRPr lang="en-GB"/>
          </a:p>
        </p:txBody>
      </p:sp>
    </p:spTree>
    <p:extLst>
      <p:ext uri="{BB962C8B-B14F-4D97-AF65-F5344CB8AC3E}">
        <p14:creationId xmlns:p14="http://schemas.microsoft.com/office/powerpoint/2010/main" val="3912085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Answers</a:t>
            </a:r>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4</a:t>
            </a:fld>
            <a:endParaRPr lang="en-GB"/>
          </a:p>
        </p:txBody>
      </p:sp>
    </p:spTree>
    <p:extLst>
      <p:ext uri="{BB962C8B-B14F-4D97-AF65-F5344CB8AC3E}">
        <p14:creationId xmlns:p14="http://schemas.microsoft.com/office/powerpoint/2010/main" val="368040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980D11F-BD83-4DFE-B0FB-ADB58F21858F}" type="slidenum">
              <a:rPr lang="en-GB" smtClean="0"/>
              <a:t>8</a:t>
            </a:fld>
            <a:endParaRPr lang="en-GB"/>
          </a:p>
        </p:txBody>
      </p:sp>
    </p:spTree>
    <p:extLst>
      <p:ext uri="{BB962C8B-B14F-4D97-AF65-F5344CB8AC3E}">
        <p14:creationId xmlns:p14="http://schemas.microsoft.com/office/powerpoint/2010/main" val="3654743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https://www.bbc.co.uk/bitesize/guides/zscq6yc/revision/1  </a:t>
            </a:r>
          </a:p>
        </p:txBody>
      </p:sp>
      <p:sp>
        <p:nvSpPr>
          <p:cNvPr id="4" name="Slide Number Placeholder 3"/>
          <p:cNvSpPr>
            <a:spLocks noGrp="1"/>
          </p:cNvSpPr>
          <p:nvPr>
            <p:ph type="sldNum" sz="quarter" idx="10"/>
          </p:nvPr>
        </p:nvSpPr>
        <p:spPr/>
        <p:txBody>
          <a:bodyPr/>
          <a:lstStyle/>
          <a:p>
            <a:fld id="{6C24A783-C653-C444-A1FE-7D3BC73388DB}" type="slidenum">
              <a:rPr lang="en-GB" smtClean="0"/>
              <a:t>12</a:t>
            </a:fld>
            <a:endParaRPr lang="en-GB"/>
          </a:p>
        </p:txBody>
      </p:sp>
    </p:spTree>
    <p:extLst>
      <p:ext uri="{BB962C8B-B14F-4D97-AF65-F5344CB8AC3E}">
        <p14:creationId xmlns:p14="http://schemas.microsoft.com/office/powerpoint/2010/main" val="3404364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13</a:t>
            </a:fld>
            <a:endParaRPr lang="en-GB"/>
          </a:p>
        </p:txBody>
      </p:sp>
    </p:spTree>
    <p:extLst>
      <p:ext uri="{BB962C8B-B14F-4D97-AF65-F5344CB8AC3E}">
        <p14:creationId xmlns:p14="http://schemas.microsoft.com/office/powerpoint/2010/main" val="2691765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15</a:t>
            </a:fld>
            <a:endParaRPr lang="en-GB"/>
          </a:p>
        </p:txBody>
      </p:sp>
    </p:spTree>
    <p:extLst>
      <p:ext uri="{BB962C8B-B14F-4D97-AF65-F5344CB8AC3E}">
        <p14:creationId xmlns:p14="http://schemas.microsoft.com/office/powerpoint/2010/main" val="4069386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29</a:t>
            </a:fld>
            <a:endParaRPr lang="en-GB"/>
          </a:p>
        </p:txBody>
      </p:sp>
    </p:spTree>
    <p:extLst>
      <p:ext uri="{BB962C8B-B14F-4D97-AF65-F5344CB8AC3E}">
        <p14:creationId xmlns:p14="http://schemas.microsoft.com/office/powerpoint/2010/main" val="1794214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C24A783-C653-C444-A1FE-7D3BC73388DB}" type="slidenum">
              <a:rPr lang="en-GB" smtClean="0"/>
              <a:t>30</a:t>
            </a:fld>
            <a:endParaRPr lang="en-GB"/>
          </a:p>
        </p:txBody>
      </p:sp>
    </p:spTree>
    <p:extLst>
      <p:ext uri="{BB962C8B-B14F-4D97-AF65-F5344CB8AC3E}">
        <p14:creationId xmlns:p14="http://schemas.microsoft.com/office/powerpoint/2010/main" val="310936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B3E3F01-C249-4630-8925-3FA8CA5D51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57606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95D24F-25D0-4644-A4B7-679B0D92A27B}"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462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12945C-0756-4826-BDE8-0D36F2293E24}"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91128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A7D07-9EDF-4EAA-A2E9-53F69F56EAB8}"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83971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7D1F21-94FA-4612-940D-140680A041D4}" type="datetime1">
              <a:rPr lang="en-GB" smtClean="0"/>
              <a:t>02/10/2025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12462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60D50B-0179-45AB-B8BD-E845C2D492B8}" type="datetime1">
              <a:rPr lang="en-GB" smtClean="0"/>
              <a:t>02/10/2025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46975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FE9EA-5761-4B75-9D0E-B2701F0B8FAB}" type="datetime1">
              <a:rPr lang="en-GB" smtClean="0"/>
              <a:t>02/10/2025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2124629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A0451BA-61E4-4CA2-82F9-D917BA195972}"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49834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28B166B-48A3-42CC-B417-680258AF0255}" type="datetime1">
              <a:rPr lang="en-GB" smtClean="0"/>
              <a:t>02/10/2025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06034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B4514A-CA9A-4483-95D0-EC2F9A739675}"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305590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8A05CB-CDC6-426C-8DC1-99DBE1916FDA}" type="datetime1">
              <a:rPr lang="en-GB" smtClean="0"/>
              <a:t>02/10/2025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F1D9CC-7119-45EC-A96C-D8C0660F3AAB}" type="slidenum">
              <a:rPr lang="en-GB" smtClean="0"/>
              <a:t>‹#›</a:t>
            </a:fld>
            <a:endParaRPr lang="en-GB"/>
          </a:p>
        </p:txBody>
      </p:sp>
    </p:spTree>
    <p:extLst>
      <p:ext uri="{BB962C8B-B14F-4D97-AF65-F5344CB8AC3E}">
        <p14:creationId xmlns:p14="http://schemas.microsoft.com/office/powerpoint/2010/main" val="42708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EAA1063-315D-4510-AA5C-A89F8FFE3FC8}" type="datetime1">
              <a:rPr lang="en-GB" smtClean="0"/>
              <a:t>02/10/2025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9F1D9CC-7119-45EC-A96C-D8C0660F3AAB}" type="slidenum">
              <a:rPr lang="en-GB" smtClean="0"/>
              <a:t>‹#›</a:t>
            </a:fld>
            <a:endParaRPr lang="en-GB"/>
          </a:p>
        </p:txBody>
      </p:sp>
    </p:spTree>
    <p:extLst>
      <p:ext uri="{BB962C8B-B14F-4D97-AF65-F5344CB8AC3E}">
        <p14:creationId xmlns:p14="http://schemas.microsoft.com/office/powerpoint/2010/main" val="2761401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102.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1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34.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image" Target="../media/image70.png"/><Relationship Id="rId16"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35.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3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34A31B-1E46-1345-81D5-4760D63FAA30}"/>
              </a:ext>
            </a:extLst>
          </p:cNvPr>
          <p:cNvSpPr/>
          <p:nvPr/>
        </p:nvSpPr>
        <p:spPr>
          <a:xfrm>
            <a:off x="8405" y="20037"/>
            <a:ext cx="6857446" cy="26928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Subtopic 1 - </a:t>
            </a:r>
            <a:r>
              <a:rPr lang="en-US" sz="1600" dirty="0"/>
              <a:t>Place value and ordering integers and decimals</a:t>
            </a:r>
            <a:endParaRPr lang="en-GB" sz="1600" dirty="0"/>
          </a:p>
        </p:txBody>
      </p:sp>
      <p:sp>
        <p:nvSpPr>
          <p:cNvPr id="2" name="Slide Number Placeholder 1"/>
          <p:cNvSpPr>
            <a:spLocks noGrp="1"/>
          </p:cNvSpPr>
          <p:nvPr>
            <p:ph type="sldNum" sz="quarter" idx="12"/>
          </p:nvPr>
        </p:nvSpPr>
        <p:spPr>
          <a:xfrm>
            <a:off x="5330713" y="9503845"/>
            <a:ext cx="1543050" cy="527403"/>
          </a:xfrm>
        </p:spPr>
        <p:txBody>
          <a:bodyPr/>
          <a:lstStyle/>
          <a:p>
            <a:fld id="{19F1D9CC-7119-45EC-A96C-D8C0660F3AAB}" type="slidenum">
              <a:rPr lang="en-GB" smtClean="0"/>
              <a:t>1</a:t>
            </a:fld>
            <a:endParaRPr lang="en-GB"/>
          </a:p>
        </p:txBody>
      </p:sp>
      <p:sp>
        <p:nvSpPr>
          <p:cNvPr id="66" name="Rectangle 65">
            <a:extLst>
              <a:ext uri="{FF2B5EF4-FFF2-40B4-BE49-F238E27FC236}">
                <a16:creationId xmlns:a16="http://schemas.microsoft.com/office/drawing/2014/main" id="{2EF599D4-EE2D-80AD-BACF-5DE245B0DA08}"/>
              </a:ext>
            </a:extLst>
          </p:cNvPr>
          <p:cNvSpPr/>
          <p:nvPr/>
        </p:nvSpPr>
        <p:spPr>
          <a:xfrm>
            <a:off x="3071965" y="2551224"/>
            <a:ext cx="3429000" cy="276999"/>
          </a:xfrm>
          <a:prstGeom prst="rect">
            <a:avLst/>
          </a:prstGeom>
        </p:spPr>
        <p:txBody>
          <a:bodyPr>
            <a:spAutoFit/>
          </a:bodyPr>
          <a:lstStyle/>
          <a:p>
            <a:pPr algn="ctr"/>
            <a:r>
              <a:rPr lang="en-GB" sz="1200" b="1">
                <a:solidFill>
                  <a:schemeClr val="bg1"/>
                </a:solidFill>
              </a:rPr>
              <a:t>Converting a percentage to a decimal – Examples</a:t>
            </a:r>
          </a:p>
        </p:txBody>
      </p:sp>
      <p:sp>
        <p:nvSpPr>
          <p:cNvPr id="67" name="Rectangle 66">
            <a:extLst>
              <a:ext uri="{FF2B5EF4-FFF2-40B4-BE49-F238E27FC236}">
                <a16:creationId xmlns:a16="http://schemas.microsoft.com/office/drawing/2014/main" id="{E00F6D1F-FBFE-F20E-AC9A-38DA9C621C4B}"/>
              </a:ext>
            </a:extLst>
          </p:cNvPr>
          <p:cNvSpPr/>
          <p:nvPr/>
        </p:nvSpPr>
        <p:spPr>
          <a:xfrm>
            <a:off x="87796" y="1709105"/>
            <a:ext cx="6699219" cy="16723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8" name="Straight Connector 67">
            <a:extLst>
              <a:ext uri="{FF2B5EF4-FFF2-40B4-BE49-F238E27FC236}">
                <a16:creationId xmlns:a16="http://schemas.microsoft.com/office/drawing/2014/main" id="{D00171FA-E7C7-F0CF-2575-ECAD0F296064}"/>
              </a:ext>
            </a:extLst>
          </p:cNvPr>
          <p:cNvCxnSpPr/>
          <p:nvPr/>
        </p:nvCxnSpPr>
        <p:spPr>
          <a:xfrm>
            <a:off x="105551" y="2579298"/>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4D1E78AA-A916-DBF7-6C5D-15579C5DCD06}"/>
              </a:ext>
            </a:extLst>
          </p:cNvPr>
          <p:cNvCxnSpPr>
            <a:cxnSpLocks/>
            <a:stCxn id="67" idx="2"/>
            <a:endCxn id="67" idx="0"/>
          </p:cNvCxnSpPr>
          <p:nvPr/>
        </p:nvCxnSpPr>
        <p:spPr>
          <a:xfrm flipV="1">
            <a:off x="3437406" y="1709105"/>
            <a:ext cx="0" cy="1672332"/>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B78CA269-AE70-44D4-83C6-112E83C6B297}"/>
              </a:ext>
            </a:extLst>
          </p:cNvPr>
          <p:cNvSpPr txBox="1"/>
          <p:nvPr/>
        </p:nvSpPr>
        <p:spPr>
          <a:xfrm>
            <a:off x="105551" y="1709104"/>
            <a:ext cx="824713" cy="461665"/>
          </a:xfrm>
          <a:prstGeom prst="rect">
            <a:avLst/>
          </a:prstGeom>
          <a:noFill/>
        </p:spPr>
        <p:txBody>
          <a:bodyPr wrap="none" rtlCol="0">
            <a:spAutoFit/>
          </a:bodyPr>
          <a:lstStyle/>
          <a:p>
            <a:r>
              <a:rPr lang="en-US" sz="1200" b="1"/>
              <a:t>Definition</a:t>
            </a:r>
          </a:p>
          <a:p>
            <a:endParaRPr lang="en-US" sz="1200"/>
          </a:p>
        </p:txBody>
      </p:sp>
      <p:sp>
        <p:nvSpPr>
          <p:cNvPr id="71" name="TextBox 70">
            <a:extLst>
              <a:ext uri="{FF2B5EF4-FFF2-40B4-BE49-F238E27FC236}">
                <a16:creationId xmlns:a16="http://schemas.microsoft.com/office/drawing/2014/main" id="{AB8FC0A4-F296-A4BD-4FB2-45647B28C9A1}"/>
              </a:ext>
            </a:extLst>
          </p:cNvPr>
          <p:cNvSpPr txBox="1"/>
          <p:nvPr/>
        </p:nvSpPr>
        <p:spPr>
          <a:xfrm>
            <a:off x="5766906" y="1708119"/>
            <a:ext cx="1112228" cy="276999"/>
          </a:xfrm>
          <a:prstGeom prst="rect">
            <a:avLst/>
          </a:prstGeom>
          <a:noFill/>
        </p:spPr>
        <p:txBody>
          <a:bodyPr wrap="none" rtlCol="0">
            <a:spAutoFit/>
          </a:bodyPr>
          <a:lstStyle/>
          <a:p>
            <a:r>
              <a:rPr lang="en-US" sz="1200" b="1"/>
              <a:t>Characteristics</a:t>
            </a:r>
            <a:endParaRPr lang="en-GB" sz="1200" b="1"/>
          </a:p>
        </p:txBody>
      </p:sp>
      <p:sp>
        <p:nvSpPr>
          <p:cNvPr id="72" name="TextBox 71">
            <a:extLst>
              <a:ext uri="{FF2B5EF4-FFF2-40B4-BE49-F238E27FC236}">
                <a16:creationId xmlns:a16="http://schemas.microsoft.com/office/drawing/2014/main" id="{F0FBAAEA-2582-5A4B-C7B6-5A427459D7F4}"/>
              </a:ext>
            </a:extLst>
          </p:cNvPr>
          <p:cNvSpPr txBox="1"/>
          <p:nvPr/>
        </p:nvSpPr>
        <p:spPr>
          <a:xfrm>
            <a:off x="70514" y="2541732"/>
            <a:ext cx="788164" cy="276999"/>
          </a:xfrm>
          <a:prstGeom prst="rect">
            <a:avLst/>
          </a:prstGeom>
          <a:noFill/>
        </p:spPr>
        <p:txBody>
          <a:bodyPr wrap="none" rtlCol="0">
            <a:spAutoFit/>
          </a:bodyPr>
          <a:lstStyle/>
          <a:p>
            <a:r>
              <a:rPr lang="en-US" sz="1200" b="1"/>
              <a:t>Examples</a:t>
            </a:r>
            <a:endParaRPr lang="en-GB" sz="1200" b="1"/>
          </a:p>
        </p:txBody>
      </p:sp>
      <p:sp>
        <p:nvSpPr>
          <p:cNvPr id="73" name="TextBox 72">
            <a:extLst>
              <a:ext uri="{FF2B5EF4-FFF2-40B4-BE49-F238E27FC236}">
                <a16:creationId xmlns:a16="http://schemas.microsoft.com/office/drawing/2014/main" id="{D0179835-E5A6-FC5E-E799-8D8E0F571C5B}"/>
              </a:ext>
            </a:extLst>
          </p:cNvPr>
          <p:cNvSpPr txBox="1"/>
          <p:nvPr/>
        </p:nvSpPr>
        <p:spPr>
          <a:xfrm>
            <a:off x="5692966" y="2629535"/>
            <a:ext cx="1172885" cy="276999"/>
          </a:xfrm>
          <a:prstGeom prst="rect">
            <a:avLst/>
          </a:prstGeom>
          <a:noFill/>
        </p:spPr>
        <p:txBody>
          <a:bodyPr wrap="none" rtlCol="0">
            <a:spAutoFit/>
          </a:bodyPr>
          <a:lstStyle/>
          <a:p>
            <a:r>
              <a:rPr lang="en-US" sz="1200" b="1"/>
              <a:t>Non - Examples</a:t>
            </a:r>
            <a:endParaRPr lang="en-GB" sz="1200" b="1"/>
          </a:p>
        </p:txBody>
      </p:sp>
      <p:sp>
        <p:nvSpPr>
          <p:cNvPr id="74" name="TextBox 73">
            <a:extLst>
              <a:ext uri="{FF2B5EF4-FFF2-40B4-BE49-F238E27FC236}">
                <a16:creationId xmlns:a16="http://schemas.microsoft.com/office/drawing/2014/main" id="{CE09891C-3343-623F-8AC2-0F2B1816D8A2}"/>
              </a:ext>
            </a:extLst>
          </p:cNvPr>
          <p:cNvSpPr txBox="1"/>
          <p:nvPr/>
        </p:nvSpPr>
        <p:spPr>
          <a:xfrm>
            <a:off x="2376383" y="2370452"/>
            <a:ext cx="2105473" cy="369332"/>
          </a:xfrm>
          <a:prstGeom prst="rect">
            <a:avLst/>
          </a:prstGeom>
          <a:solidFill>
            <a:schemeClr val="bg1"/>
          </a:solidFill>
          <a:ln>
            <a:solidFill>
              <a:schemeClr val="tx1"/>
            </a:solidFill>
          </a:ln>
        </p:spPr>
        <p:txBody>
          <a:bodyPr wrap="square" rtlCol="0">
            <a:spAutoFit/>
          </a:bodyPr>
          <a:lstStyle/>
          <a:p>
            <a:pPr algn="ctr"/>
            <a:r>
              <a:rPr lang="en-US"/>
              <a:t>Positive Integers</a:t>
            </a:r>
            <a:endParaRPr lang="en-GB"/>
          </a:p>
        </p:txBody>
      </p:sp>
      <p:sp>
        <p:nvSpPr>
          <p:cNvPr id="75" name="TextBox 74">
            <a:extLst>
              <a:ext uri="{FF2B5EF4-FFF2-40B4-BE49-F238E27FC236}">
                <a16:creationId xmlns:a16="http://schemas.microsoft.com/office/drawing/2014/main" id="{21A0324C-A28D-D3B3-1107-0401A76A59C1}"/>
              </a:ext>
            </a:extLst>
          </p:cNvPr>
          <p:cNvSpPr txBox="1"/>
          <p:nvPr/>
        </p:nvSpPr>
        <p:spPr>
          <a:xfrm>
            <a:off x="123495" y="1901692"/>
            <a:ext cx="3230335" cy="646331"/>
          </a:xfrm>
          <a:prstGeom prst="rect">
            <a:avLst/>
          </a:prstGeom>
          <a:noFill/>
        </p:spPr>
        <p:txBody>
          <a:bodyPr wrap="square" rtlCol="0">
            <a:spAutoFit/>
          </a:bodyPr>
          <a:lstStyle/>
          <a:p>
            <a:r>
              <a:rPr lang="en-US" sz="1200"/>
              <a:t>All integers which appear to the right of the 0 on a number line.</a:t>
            </a:r>
          </a:p>
          <a:p>
            <a:endParaRPr lang="en-US" sz="1200" b="1"/>
          </a:p>
        </p:txBody>
      </p:sp>
      <p:sp>
        <p:nvSpPr>
          <p:cNvPr id="76" name="TextBox 75">
            <a:extLst>
              <a:ext uri="{FF2B5EF4-FFF2-40B4-BE49-F238E27FC236}">
                <a16:creationId xmlns:a16="http://schemas.microsoft.com/office/drawing/2014/main" id="{0F3BDF0E-67DF-D6DA-9C82-08C83F9FD04C}"/>
              </a:ext>
            </a:extLst>
          </p:cNvPr>
          <p:cNvSpPr txBox="1"/>
          <p:nvPr/>
        </p:nvSpPr>
        <p:spPr>
          <a:xfrm>
            <a:off x="3409911" y="1738386"/>
            <a:ext cx="3230335" cy="646331"/>
          </a:xfrm>
          <a:prstGeom prst="rect">
            <a:avLst/>
          </a:prstGeom>
          <a:noFill/>
        </p:spPr>
        <p:txBody>
          <a:bodyPr wrap="square" rtlCol="0">
            <a:spAutoFit/>
          </a:bodyPr>
          <a:lstStyle/>
          <a:p>
            <a:pPr marL="171450" indent="-171450">
              <a:buFont typeface="Arial" panose="020B0604020202020204" pitchFamily="34" charset="0"/>
              <a:buChar char="•"/>
            </a:pPr>
            <a:r>
              <a:rPr lang="en-US" sz="1200"/>
              <a:t>Greater than 0.</a:t>
            </a:r>
          </a:p>
          <a:p>
            <a:pPr marL="171450" indent="-171450">
              <a:buFont typeface="Arial" panose="020B0604020202020204" pitchFamily="34" charset="0"/>
              <a:buChar char="•"/>
            </a:pPr>
            <a:r>
              <a:rPr lang="en-US" sz="1200"/>
              <a:t>The larger integer means that the number is larger.</a:t>
            </a:r>
          </a:p>
        </p:txBody>
      </p:sp>
      <p:sp>
        <p:nvSpPr>
          <p:cNvPr id="77" name="TextBox 76">
            <a:extLst>
              <a:ext uri="{FF2B5EF4-FFF2-40B4-BE49-F238E27FC236}">
                <a16:creationId xmlns:a16="http://schemas.microsoft.com/office/drawing/2014/main" id="{471BF7FB-BFA9-0928-3378-3565BDC94189}"/>
              </a:ext>
            </a:extLst>
          </p:cNvPr>
          <p:cNvSpPr txBox="1"/>
          <p:nvPr/>
        </p:nvSpPr>
        <p:spPr>
          <a:xfrm>
            <a:off x="166896" y="3170337"/>
            <a:ext cx="358223" cy="276999"/>
          </a:xfrm>
          <a:prstGeom prst="rect">
            <a:avLst/>
          </a:prstGeom>
          <a:noFill/>
        </p:spPr>
        <p:txBody>
          <a:bodyPr wrap="square" rtlCol="0">
            <a:spAutoFit/>
          </a:bodyPr>
          <a:lstStyle/>
          <a:p>
            <a:r>
              <a:rPr lang="en-US" sz="1200" b="1"/>
              <a:t>4</a:t>
            </a:r>
          </a:p>
        </p:txBody>
      </p:sp>
      <p:sp>
        <p:nvSpPr>
          <p:cNvPr id="78" name="TextBox 77">
            <a:extLst>
              <a:ext uri="{FF2B5EF4-FFF2-40B4-BE49-F238E27FC236}">
                <a16:creationId xmlns:a16="http://schemas.microsoft.com/office/drawing/2014/main" id="{02B3BAC3-6B30-5F49-EE13-2BACDE9761D6}"/>
              </a:ext>
            </a:extLst>
          </p:cNvPr>
          <p:cNvSpPr txBox="1"/>
          <p:nvPr/>
        </p:nvSpPr>
        <p:spPr>
          <a:xfrm>
            <a:off x="692551" y="3159680"/>
            <a:ext cx="358223" cy="276999"/>
          </a:xfrm>
          <a:prstGeom prst="rect">
            <a:avLst/>
          </a:prstGeom>
          <a:noFill/>
        </p:spPr>
        <p:txBody>
          <a:bodyPr wrap="square" rtlCol="0">
            <a:spAutoFit/>
          </a:bodyPr>
          <a:lstStyle/>
          <a:p>
            <a:r>
              <a:rPr lang="en-US" sz="1200" b="1"/>
              <a:t>13</a:t>
            </a:r>
          </a:p>
        </p:txBody>
      </p:sp>
      <p:sp>
        <p:nvSpPr>
          <p:cNvPr id="79" name="TextBox 78">
            <a:extLst>
              <a:ext uri="{FF2B5EF4-FFF2-40B4-BE49-F238E27FC236}">
                <a16:creationId xmlns:a16="http://schemas.microsoft.com/office/drawing/2014/main" id="{FB52CDF2-6BDA-680B-EEAD-F6D9B583B622}"/>
              </a:ext>
            </a:extLst>
          </p:cNvPr>
          <p:cNvSpPr txBox="1"/>
          <p:nvPr/>
        </p:nvSpPr>
        <p:spPr>
          <a:xfrm>
            <a:off x="1321580" y="3163798"/>
            <a:ext cx="602619" cy="276999"/>
          </a:xfrm>
          <a:prstGeom prst="rect">
            <a:avLst/>
          </a:prstGeom>
          <a:noFill/>
        </p:spPr>
        <p:txBody>
          <a:bodyPr wrap="square" rtlCol="0">
            <a:spAutoFit/>
          </a:bodyPr>
          <a:lstStyle/>
          <a:p>
            <a:r>
              <a:rPr lang="en-US" sz="1200" b="1"/>
              <a:t>126</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8740594D-22AF-1F09-3D4D-9585C3F9F911}"/>
                  </a:ext>
                </a:extLst>
              </p:cNvPr>
              <p:cNvSpPr txBox="1"/>
              <p:nvPr/>
            </p:nvSpPr>
            <p:spPr>
              <a:xfrm>
                <a:off x="4653621" y="3071397"/>
                <a:ext cx="358223"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rPr>
                        <m:t>−</m:t>
                      </m:r>
                      <m:r>
                        <a:rPr lang="en-US" sz="1200" b="1" i="1" dirty="0" smtClean="0">
                          <a:latin typeface="Cambria Math" panose="02040503050406030204" pitchFamily="18" charset="0"/>
                        </a:rPr>
                        <m:t>𝟒</m:t>
                      </m:r>
                    </m:oMath>
                  </m:oMathPara>
                </a14:m>
                <a:endParaRPr lang="en-US" sz="1200" b="1" dirty="0"/>
              </a:p>
            </p:txBody>
          </p:sp>
        </mc:Choice>
        <mc:Fallback xmlns="">
          <p:sp>
            <p:nvSpPr>
              <p:cNvPr id="80" name="TextBox 79">
                <a:extLst>
                  <a:ext uri="{FF2B5EF4-FFF2-40B4-BE49-F238E27FC236}">
                    <a16:creationId xmlns:a16="http://schemas.microsoft.com/office/drawing/2014/main" id="{8740594D-22AF-1F09-3D4D-9585C3F9F911}"/>
                  </a:ext>
                </a:extLst>
              </p:cNvPr>
              <p:cNvSpPr txBox="1">
                <a:spLocks noRot="1" noChangeAspect="1" noMove="1" noResize="1" noEditPoints="1" noAdjustHandles="1" noChangeArrowheads="1" noChangeShapeType="1" noTextEdit="1"/>
              </p:cNvSpPr>
              <p:nvPr/>
            </p:nvSpPr>
            <p:spPr>
              <a:xfrm>
                <a:off x="4653621" y="3071397"/>
                <a:ext cx="358223" cy="27699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F814684F-5FF3-8BD0-C942-485BA8EFD2FF}"/>
                  </a:ext>
                </a:extLst>
              </p:cNvPr>
              <p:cNvSpPr txBox="1"/>
              <p:nvPr/>
            </p:nvSpPr>
            <p:spPr>
              <a:xfrm>
                <a:off x="5413335" y="3064254"/>
                <a:ext cx="346227"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𝟏</m:t>
                      </m:r>
                      <m:r>
                        <a:rPr lang="en-US" sz="1200" b="1" i="1" smtClean="0">
                          <a:latin typeface="Cambria Math" panose="02040503050406030204" pitchFamily="18" charset="0"/>
                        </a:rPr>
                        <m:t>.</m:t>
                      </m:r>
                      <m:r>
                        <a:rPr lang="en-US" sz="1200" b="1" i="1" smtClean="0">
                          <a:latin typeface="Cambria Math" panose="02040503050406030204" pitchFamily="18" charset="0"/>
                        </a:rPr>
                        <m:t>𝟓</m:t>
                      </m:r>
                    </m:oMath>
                  </m:oMathPara>
                </a14:m>
                <a:endParaRPr lang="en-US" sz="1200" b="1" dirty="0"/>
              </a:p>
            </p:txBody>
          </p:sp>
        </mc:Choice>
        <mc:Fallback xmlns="">
          <p:sp>
            <p:nvSpPr>
              <p:cNvPr id="81" name="TextBox 80">
                <a:extLst>
                  <a:ext uri="{FF2B5EF4-FFF2-40B4-BE49-F238E27FC236}">
                    <a16:creationId xmlns:a16="http://schemas.microsoft.com/office/drawing/2014/main" id="{F814684F-5FF3-8BD0-C942-485BA8EFD2FF}"/>
                  </a:ext>
                </a:extLst>
              </p:cNvPr>
              <p:cNvSpPr txBox="1">
                <a:spLocks noRot="1" noChangeAspect="1" noMove="1" noResize="1" noEditPoints="1" noAdjustHandles="1" noChangeArrowheads="1" noChangeShapeType="1" noTextEdit="1"/>
              </p:cNvSpPr>
              <p:nvPr/>
            </p:nvSpPr>
            <p:spPr>
              <a:xfrm>
                <a:off x="5413335" y="3064254"/>
                <a:ext cx="346227" cy="276999"/>
              </a:xfrm>
              <a:prstGeom prst="rect">
                <a:avLst/>
              </a:prstGeom>
              <a:blipFill>
                <a:blip r:embed="rId4"/>
                <a:stretch>
                  <a:fillRect r="-122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10EBAFE-6985-7655-12C4-6047282F6476}"/>
                  </a:ext>
                </a:extLst>
              </p:cNvPr>
              <p:cNvSpPr txBox="1"/>
              <p:nvPr/>
            </p:nvSpPr>
            <p:spPr>
              <a:xfrm>
                <a:off x="6161053" y="2914289"/>
                <a:ext cx="358223" cy="4380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1200" b="1" i="1" smtClean="0">
                              <a:latin typeface="Cambria Math" panose="02040503050406030204" pitchFamily="18" charset="0"/>
                            </a:rPr>
                          </m:ctrlPr>
                        </m:fPr>
                        <m:num>
                          <m:r>
                            <a:rPr lang="en-US" sz="1200" b="1" i="1" smtClean="0">
                              <a:latin typeface="Cambria Math" panose="02040503050406030204" pitchFamily="18" charset="0"/>
                            </a:rPr>
                            <m:t>𝟑</m:t>
                          </m:r>
                        </m:num>
                        <m:den>
                          <m:r>
                            <a:rPr lang="en-US" sz="1200" b="1" i="1" smtClean="0">
                              <a:latin typeface="Cambria Math" panose="02040503050406030204" pitchFamily="18" charset="0"/>
                            </a:rPr>
                            <m:t>𝟒</m:t>
                          </m:r>
                        </m:den>
                      </m:f>
                    </m:oMath>
                  </m:oMathPara>
                </a14:m>
                <a:endParaRPr lang="en-US" sz="1200" b="1"/>
              </a:p>
            </p:txBody>
          </p:sp>
        </mc:Choice>
        <mc:Fallback xmlns="">
          <p:sp>
            <p:nvSpPr>
              <p:cNvPr id="82" name="TextBox 81">
                <a:extLst>
                  <a:ext uri="{FF2B5EF4-FFF2-40B4-BE49-F238E27FC236}">
                    <a16:creationId xmlns:a16="http://schemas.microsoft.com/office/drawing/2014/main" id="{910EBAFE-6985-7655-12C4-6047282F6476}"/>
                  </a:ext>
                </a:extLst>
              </p:cNvPr>
              <p:cNvSpPr txBox="1">
                <a:spLocks noRot="1" noChangeAspect="1" noMove="1" noResize="1" noEditPoints="1" noAdjustHandles="1" noChangeArrowheads="1" noChangeShapeType="1" noTextEdit="1"/>
              </p:cNvSpPr>
              <p:nvPr/>
            </p:nvSpPr>
            <p:spPr>
              <a:xfrm>
                <a:off x="6161053" y="2914289"/>
                <a:ext cx="358223" cy="438005"/>
              </a:xfrm>
              <a:prstGeom prst="rect">
                <a:avLst/>
              </a:prstGeom>
              <a:blipFill>
                <a:blip r:embed="rId5"/>
                <a:stretch>
                  <a:fillRect b="-1389"/>
                </a:stretch>
              </a:blipFill>
            </p:spPr>
            <p:txBody>
              <a:bodyPr/>
              <a:lstStyle/>
              <a:p>
                <a:r>
                  <a:rPr lang="en-GB">
                    <a:noFill/>
                  </a:rPr>
                  <a:t> </a:t>
                </a:r>
              </a:p>
            </p:txBody>
          </p:sp>
        </mc:Fallback>
      </mc:AlternateContent>
      <p:sp>
        <p:nvSpPr>
          <p:cNvPr id="83" name="TextBox 82">
            <a:extLst>
              <a:ext uri="{FF2B5EF4-FFF2-40B4-BE49-F238E27FC236}">
                <a16:creationId xmlns:a16="http://schemas.microsoft.com/office/drawing/2014/main" id="{3050933F-CE35-17FB-5D83-0D180B048644}"/>
              </a:ext>
            </a:extLst>
          </p:cNvPr>
          <p:cNvSpPr txBox="1"/>
          <p:nvPr/>
        </p:nvSpPr>
        <p:spPr>
          <a:xfrm>
            <a:off x="80424" y="2735105"/>
            <a:ext cx="1921628" cy="646331"/>
          </a:xfrm>
          <a:prstGeom prst="rect">
            <a:avLst/>
          </a:prstGeom>
          <a:noFill/>
        </p:spPr>
        <p:txBody>
          <a:bodyPr wrap="square" rtlCol="0">
            <a:spAutoFit/>
          </a:bodyPr>
          <a:lstStyle/>
          <a:p>
            <a:r>
              <a:rPr lang="en-US" sz="1200"/>
              <a:t>These numbers are all positive and all integers. </a:t>
            </a:r>
          </a:p>
          <a:p>
            <a:endParaRPr lang="en-US" sz="1200" b="1"/>
          </a:p>
        </p:txBody>
      </p:sp>
      <p:sp>
        <p:nvSpPr>
          <p:cNvPr id="84" name="Rectangle 83">
            <a:extLst>
              <a:ext uri="{FF2B5EF4-FFF2-40B4-BE49-F238E27FC236}">
                <a16:creationId xmlns:a16="http://schemas.microsoft.com/office/drawing/2014/main" id="{4F628E0E-D661-40B4-67E8-D319A662E63A}"/>
              </a:ext>
            </a:extLst>
          </p:cNvPr>
          <p:cNvSpPr/>
          <p:nvPr/>
        </p:nvSpPr>
        <p:spPr>
          <a:xfrm>
            <a:off x="86108" y="272648"/>
            <a:ext cx="6679742" cy="14130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85" name="TextBox 84">
            <a:extLst>
              <a:ext uri="{FF2B5EF4-FFF2-40B4-BE49-F238E27FC236}">
                <a16:creationId xmlns:a16="http://schemas.microsoft.com/office/drawing/2014/main" id="{7A0596B6-E30F-6187-A2D1-9668A9B1F8DF}"/>
              </a:ext>
            </a:extLst>
          </p:cNvPr>
          <p:cNvSpPr txBox="1"/>
          <p:nvPr/>
        </p:nvSpPr>
        <p:spPr>
          <a:xfrm>
            <a:off x="1259293" y="612232"/>
            <a:ext cx="1399768" cy="276999"/>
          </a:xfrm>
          <a:prstGeom prst="rect">
            <a:avLst/>
          </a:prstGeom>
          <a:noFill/>
        </p:spPr>
        <p:txBody>
          <a:bodyPr wrap="square" rtlCol="0">
            <a:spAutoFit/>
          </a:bodyPr>
          <a:lstStyle/>
          <a:p>
            <a:r>
              <a:rPr lang="en-GB" sz="1200" b="1" dirty="0"/>
              <a:t>Objectives:</a:t>
            </a:r>
          </a:p>
        </p:txBody>
      </p:sp>
      <p:sp>
        <p:nvSpPr>
          <p:cNvPr id="86" name="TextBox 85">
            <a:extLst>
              <a:ext uri="{FF2B5EF4-FFF2-40B4-BE49-F238E27FC236}">
                <a16:creationId xmlns:a16="http://schemas.microsoft.com/office/drawing/2014/main" id="{0047781D-BFAC-8C0B-0D29-A93DB7E2677A}"/>
              </a:ext>
            </a:extLst>
          </p:cNvPr>
          <p:cNvSpPr txBox="1"/>
          <p:nvPr/>
        </p:nvSpPr>
        <p:spPr>
          <a:xfrm>
            <a:off x="918459" y="824135"/>
            <a:ext cx="4667990" cy="830997"/>
          </a:xfrm>
          <a:prstGeom prst="rect">
            <a:avLst/>
          </a:prstGeom>
          <a:noFill/>
        </p:spPr>
        <p:txBody>
          <a:bodyPr wrap="square" rtlCol="0">
            <a:spAutoFit/>
          </a:bodyPr>
          <a:lstStyle/>
          <a:p>
            <a:pPr marL="342900" indent="-342900">
              <a:buFont typeface="+mj-lt"/>
              <a:buAutoNum type="arabicPeriod"/>
            </a:pPr>
            <a:r>
              <a:rPr lang="en-GB" sz="1200" dirty="0"/>
              <a:t>To order integers.</a:t>
            </a:r>
          </a:p>
          <a:p>
            <a:pPr marL="342900" indent="-342900">
              <a:buFont typeface="+mj-lt"/>
              <a:buAutoNum type="arabicPeriod"/>
            </a:pPr>
            <a:r>
              <a:rPr lang="en-GB" sz="1200" dirty="0"/>
              <a:t>To order decimals</a:t>
            </a:r>
          </a:p>
          <a:p>
            <a:pPr marL="342900" indent="-342900">
              <a:buFont typeface="+mj-lt"/>
              <a:buAutoNum type="arabicPeriod"/>
            </a:pPr>
            <a:r>
              <a:rPr lang="en-GB" sz="1200" dirty="0"/>
              <a:t>To order directed numbers</a:t>
            </a:r>
          </a:p>
          <a:p>
            <a:pPr marL="342900" indent="-342900">
              <a:buFont typeface="+mj-lt"/>
              <a:buAutoNum type="arabicPeriod"/>
            </a:pPr>
            <a:r>
              <a:rPr lang="en-GB" sz="1200" dirty="0"/>
              <a:t>To solve problems involving ordering integers.</a:t>
            </a:r>
            <a:endParaRPr lang="en-GB" sz="1200" dirty="0">
              <a:solidFill>
                <a:srgbClr val="FF0000"/>
              </a:solidFill>
            </a:endParaRPr>
          </a:p>
        </p:txBody>
      </p:sp>
      <p:sp>
        <p:nvSpPr>
          <p:cNvPr id="87" name="TextBox 86">
            <a:extLst>
              <a:ext uri="{FF2B5EF4-FFF2-40B4-BE49-F238E27FC236}">
                <a16:creationId xmlns:a16="http://schemas.microsoft.com/office/drawing/2014/main" id="{EC9BCCE5-E404-D237-792D-76583C97B974}"/>
              </a:ext>
            </a:extLst>
          </p:cNvPr>
          <p:cNvSpPr txBox="1"/>
          <p:nvPr/>
        </p:nvSpPr>
        <p:spPr>
          <a:xfrm>
            <a:off x="1449437" y="311784"/>
            <a:ext cx="3920945" cy="276999"/>
          </a:xfrm>
          <a:prstGeom prst="rect">
            <a:avLst/>
          </a:prstGeom>
          <a:noFill/>
          <a:ln>
            <a:solidFill>
              <a:schemeClr val="tx1"/>
            </a:solidFill>
          </a:ln>
        </p:spPr>
        <p:txBody>
          <a:bodyPr wrap="none" rtlCol="0">
            <a:spAutoFit/>
          </a:bodyPr>
          <a:lstStyle/>
          <a:p>
            <a:pPr algn="ctr"/>
            <a:r>
              <a:rPr lang="en-GB" sz="1200"/>
              <a:t>LEARNING OUTCOME: To understand how to order integers.</a:t>
            </a:r>
          </a:p>
        </p:txBody>
      </p:sp>
      <p:sp>
        <p:nvSpPr>
          <p:cNvPr id="88" name="TextBox 87">
            <a:extLst>
              <a:ext uri="{FF2B5EF4-FFF2-40B4-BE49-F238E27FC236}">
                <a16:creationId xmlns:a16="http://schemas.microsoft.com/office/drawing/2014/main" id="{FEE13538-AB1B-9203-623C-8E65DF06043D}"/>
              </a:ext>
            </a:extLst>
          </p:cNvPr>
          <p:cNvSpPr txBox="1"/>
          <p:nvPr/>
        </p:nvSpPr>
        <p:spPr>
          <a:xfrm>
            <a:off x="5668292" y="623677"/>
            <a:ext cx="896399" cy="784830"/>
          </a:xfrm>
          <a:prstGeom prst="rect">
            <a:avLst/>
          </a:prstGeom>
          <a:noFill/>
          <a:ln w="12700">
            <a:solidFill>
              <a:schemeClr val="tx1"/>
            </a:solidFill>
          </a:ln>
        </p:spPr>
        <p:txBody>
          <a:bodyPr wrap="none" rtlCol="0">
            <a:spAutoFit/>
          </a:bodyPr>
          <a:lstStyle/>
          <a:p>
            <a:r>
              <a:rPr lang="en-US" sz="900" b="1" u="sng"/>
              <a:t>Keywords:</a:t>
            </a:r>
            <a:endParaRPr lang="en-US" sz="900"/>
          </a:p>
          <a:p>
            <a:pPr marL="171450" indent="-171450">
              <a:buFontTx/>
              <a:buChar char="-"/>
            </a:pPr>
            <a:r>
              <a:rPr lang="en-US" sz="900"/>
              <a:t>Integer</a:t>
            </a:r>
          </a:p>
          <a:p>
            <a:pPr marL="171450" indent="-171450">
              <a:buFontTx/>
              <a:buChar char="-"/>
            </a:pPr>
            <a:r>
              <a:rPr lang="en-US" sz="900"/>
              <a:t>Place Value</a:t>
            </a:r>
          </a:p>
          <a:p>
            <a:pPr marL="171450" indent="-171450">
              <a:buFontTx/>
              <a:buChar char="-"/>
            </a:pPr>
            <a:r>
              <a:rPr lang="en-US" sz="900"/>
              <a:t>Ascending</a:t>
            </a:r>
          </a:p>
          <a:p>
            <a:pPr marL="171450" indent="-171450">
              <a:buFontTx/>
              <a:buChar char="-"/>
            </a:pPr>
            <a:r>
              <a:rPr lang="en-US" sz="900"/>
              <a:t>Descending</a:t>
            </a:r>
          </a:p>
        </p:txBody>
      </p:sp>
      <p:graphicFrame>
        <p:nvGraphicFramePr>
          <p:cNvPr id="94" name="Table 93">
            <a:extLst>
              <a:ext uri="{FF2B5EF4-FFF2-40B4-BE49-F238E27FC236}">
                <a16:creationId xmlns:a16="http://schemas.microsoft.com/office/drawing/2014/main" id="{B649EBDD-A211-4117-5143-7147C66E20B1}"/>
              </a:ext>
            </a:extLst>
          </p:cNvPr>
          <p:cNvGraphicFramePr>
            <a:graphicFrameLocks noGrp="1"/>
          </p:cNvGraphicFramePr>
          <p:nvPr>
            <p:extLst>
              <p:ext uri="{D42A27DB-BD31-4B8C-83A1-F6EECF244321}">
                <p14:modId xmlns:p14="http://schemas.microsoft.com/office/powerpoint/2010/main" val="880443917"/>
              </p:ext>
            </p:extLst>
          </p:nvPr>
        </p:nvGraphicFramePr>
        <p:xfrm>
          <a:off x="149546" y="3447336"/>
          <a:ext cx="6520729" cy="3242091"/>
        </p:xfrm>
        <a:graphic>
          <a:graphicData uri="http://schemas.openxmlformats.org/drawingml/2006/table">
            <a:tbl>
              <a:tblPr firstRow="1" bandRow="1">
                <a:tableStyleId>{5C22544A-7EE6-4342-B048-85BDC9FD1C3A}</a:tableStyleId>
              </a:tblPr>
              <a:tblGrid>
                <a:gridCol w="1552729">
                  <a:extLst>
                    <a:ext uri="{9D8B030D-6E8A-4147-A177-3AD203B41FA5}">
                      <a16:colId xmlns:a16="http://schemas.microsoft.com/office/drawing/2014/main" val="1568142362"/>
                    </a:ext>
                  </a:extLst>
                </a:gridCol>
                <a:gridCol w="1656000">
                  <a:extLst>
                    <a:ext uri="{9D8B030D-6E8A-4147-A177-3AD203B41FA5}">
                      <a16:colId xmlns:a16="http://schemas.microsoft.com/office/drawing/2014/main" val="3551711160"/>
                    </a:ext>
                  </a:extLst>
                </a:gridCol>
                <a:gridCol w="1656000">
                  <a:extLst>
                    <a:ext uri="{9D8B030D-6E8A-4147-A177-3AD203B41FA5}">
                      <a16:colId xmlns:a16="http://schemas.microsoft.com/office/drawing/2014/main" val="1712497518"/>
                    </a:ext>
                  </a:extLst>
                </a:gridCol>
                <a:gridCol w="1656000">
                  <a:extLst>
                    <a:ext uri="{9D8B030D-6E8A-4147-A177-3AD203B41FA5}">
                      <a16:colId xmlns:a16="http://schemas.microsoft.com/office/drawing/2014/main" val="886122921"/>
                    </a:ext>
                  </a:extLst>
                </a:gridCol>
              </a:tblGrid>
              <a:tr h="728328">
                <a:tc gridSpan="4">
                  <a:txBody>
                    <a:bodyPr/>
                    <a:lstStyle/>
                    <a:p>
                      <a:pPr algn="ctr"/>
                      <a:endParaRPr lang="en-GB" sz="1100" b="0" dirty="0">
                        <a:solidFill>
                          <a:schemeClr val="tx1"/>
                        </a:solidFill>
                      </a:endParaRPr>
                    </a:p>
                    <a:p>
                      <a:pPr algn="l"/>
                      <a:r>
                        <a:rPr lang="en-GB" sz="1200" b="0" dirty="0">
                          <a:solidFill>
                            <a:schemeClr val="tx1"/>
                          </a:solidFill>
                        </a:rPr>
                        <a:t>For the following questions, list the numbers in </a:t>
                      </a:r>
                      <a:r>
                        <a:rPr lang="en-GB" sz="1200" b="1" dirty="0">
                          <a:solidFill>
                            <a:schemeClr val="tx1"/>
                          </a:solidFill>
                        </a:rPr>
                        <a:t>Ascending</a:t>
                      </a:r>
                      <a:r>
                        <a:rPr lang="en-GB" sz="1200" b="0" dirty="0">
                          <a:solidFill>
                            <a:schemeClr val="tx1"/>
                          </a:solidFill>
                        </a:rPr>
                        <a:t> order</a:t>
                      </a:r>
                      <a:r>
                        <a:rPr lang="en-GB" sz="11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598783">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1200" b="0" i="0" kern="1200" dirty="0">
                        <a:solidFill>
                          <a:schemeClr val="dk1"/>
                        </a:solidFill>
                        <a:effectLst/>
                        <a:latin typeface="+mn-lt"/>
                        <a:ea typeface="+mn-ea"/>
                        <a:cs typeface="+mn-cs"/>
                      </a:endParaRPr>
                    </a:p>
                    <a:p>
                      <a:r>
                        <a:rPr lang="en-GB" sz="1200" b="0" i="0" kern="1200" dirty="0">
                          <a:solidFill>
                            <a:schemeClr val="dk1"/>
                          </a:solidFill>
                          <a:effectLst/>
                          <a:latin typeface="+mn-lt"/>
                          <a:ea typeface="+mn-ea"/>
                          <a:cs typeface="+mn-cs"/>
                        </a:rPr>
                        <a:t>872, 802, 870, 780, 827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542, 412, 585, 591, 572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333, 395, 299, 313, 329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55810">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13940">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 </a:t>
                      </a:r>
                      <a:r>
                        <a:rPr lang="en-GB" sz="1000" dirty="0">
                          <a:solidFill>
                            <a:schemeClr val="tx1"/>
                          </a:solidFill>
                        </a:rPr>
                        <a:t>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95" name="TextBox 94">
            <a:extLst>
              <a:ext uri="{FF2B5EF4-FFF2-40B4-BE49-F238E27FC236}">
                <a16:creationId xmlns:a16="http://schemas.microsoft.com/office/drawing/2014/main" id="{BD0628EB-7159-7672-7DF1-27526F9A59D7}"/>
              </a:ext>
            </a:extLst>
          </p:cNvPr>
          <p:cNvSpPr txBox="1"/>
          <p:nvPr/>
        </p:nvSpPr>
        <p:spPr>
          <a:xfrm>
            <a:off x="1749503" y="3927504"/>
            <a:ext cx="1410704" cy="276999"/>
          </a:xfrm>
          <a:prstGeom prst="rect">
            <a:avLst/>
          </a:prstGeom>
          <a:noFill/>
          <a:ln>
            <a:noFill/>
          </a:ln>
        </p:spPr>
        <p:txBody>
          <a:bodyPr wrap="square" rtlCol="0">
            <a:spAutoFit/>
          </a:bodyPr>
          <a:lstStyle/>
          <a:p>
            <a:r>
              <a:rPr lang="en-GB" sz="1200" b="1" i="1" dirty="0">
                <a:solidFill>
                  <a:srgbClr val="FF0000"/>
                </a:solidFill>
              </a:rPr>
              <a:t>Example 1 - I do…</a:t>
            </a:r>
          </a:p>
        </p:txBody>
      </p:sp>
      <p:sp>
        <p:nvSpPr>
          <p:cNvPr id="96" name="TextBox 95">
            <a:extLst>
              <a:ext uri="{FF2B5EF4-FFF2-40B4-BE49-F238E27FC236}">
                <a16:creationId xmlns:a16="http://schemas.microsoft.com/office/drawing/2014/main" id="{7D80C024-E8F6-F6B1-F513-99C452D8060E}"/>
              </a:ext>
            </a:extLst>
          </p:cNvPr>
          <p:cNvSpPr txBox="1"/>
          <p:nvPr/>
        </p:nvSpPr>
        <p:spPr>
          <a:xfrm>
            <a:off x="5050689" y="3927503"/>
            <a:ext cx="1643405" cy="276999"/>
          </a:xfrm>
          <a:prstGeom prst="rect">
            <a:avLst/>
          </a:prstGeom>
          <a:noFill/>
          <a:ln>
            <a:noFill/>
          </a:ln>
        </p:spPr>
        <p:txBody>
          <a:bodyPr wrap="square" rtlCol="0">
            <a:spAutoFit/>
          </a:bodyPr>
          <a:lstStyle/>
          <a:p>
            <a:r>
              <a:rPr lang="en-GB" sz="1200" b="1" i="1" dirty="0">
                <a:solidFill>
                  <a:srgbClr val="00B050"/>
                </a:solidFill>
              </a:rPr>
              <a:t>Example 3 – You do…</a:t>
            </a:r>
          </a:p>
        </p:txBody>
      </p:sp>
      <p:sp>
        <p:nvSpPr>
          <p:cNvPr id="97" name="TextBox 96">
            <a:extLst>
              <a:ext uri="{FF2B5EF4-FFF2-40B4-BE49-F238E27FC236}">
                <a16:creationId xmlns:a16="http://schemas.microsoft.com/office/drawing/2014/main" id="{F30A5182-333A-A058-3444-30E88A091C91}"/>
              </a:ext>
            </a:extLst>
          </p:cNvPr>
          <p:cNvSpPr txBox="1"/>
          <p:nvPr/>
        </p:nvSpPr>
        <p:spPr>
          <a:xfrm>
            <a:off x="3415131" y="3931896"/>
            <a:ext cx="1643405" cy="276999"/>
          </a:xfrm>
          <a:prstGeom prst="rect">
            <a:avLst/>
          </a:prstGeom>
          <a:noFill/>
          <a:ln>
            <a:noFill/>
          </a:ln>
        </p:spPr>
        <p:txBody>
          <a:bodyPr wrap="square" rtlCol="0">
            <a:spAutoFit/>
          </a:bodyPr>
          <a:lstStyle/>
          <a:p>
            <a:r>
              <a:rPr lang="en-GB" sz="1200" b="1" i="1" dirty="0">
                <a:solidFill>
                  <a:schemeClr val="accent2"/>
                </a:solidFill>
              </a:rPr>
              <a:t>Example 2 – We do…</a:t>
            </a:r>
          </a:p>
        </p:txBody>
      </p:sp>
      <p:sp>
        <p:nvSpPr>
          <p:cNvPr id="98" name="Rectangle 97">
            <a:extLst>
              <a:ext uri="{FF2B5EF4-FFF2-40B4-BE49-F238E27FC236}">
                <a16:creationId xmlns:a16="http://schemas.microsoft.com/office/drawing/2014/main" id="{6F628AC4-C119-3013-EA93-EFA8EE5BF473}"/>
              </a:ext>
            </a:extLst>
          </p:cNvPr>
          <p:cNvSpPr/>
          <p:nvPr/>
        </p:nvSpPr>
        <p:spPr>
          <a:xfrm>
            <a:off x="106277" y="3418148"/>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Ordering integers without a number line</a:t>
            </a:r>
            <a:endParaRPr lang="en-GB" sz="1200" dirty="0">
              <a:solidFill>
                <a:schemeClr val="bg1"/>
              </a:solidFill>
            </a:endParaRPr>
          </a:p>
        </p:txBody>
      </p:sp>
      <p:graphicFrame>
        <p:nvGraphicFramePr>
          <p:cNvPr id="99" name="Table 98">
            <a:extLst>
              <a:ext uri="{FF2B5EF4-FFF2-40B4-BE49-F238E27FC236}">
                <a16:creationId xmlns:a16="http://schemas.microsoft.com/office/drawing/2014/main" id="{41ABC685-0B1C-D000-4569-63F0DE0FDCCD}"/>
              </a:ext>
            </a:extLst>
          </p:cNvPr>
          <p:cNvGraphicFramePr>
            <a:graphicFrameLocks noGrp="1"/>
          </p:cNvGraphicFramePr>
          <p:nvPr>
            <p:extLst>
              <p:ext uri="{D42A27DB-BD31-4B8C-83A1-F6EECF244321}">
                <p14:modId xmlns:p14="http://schemas.microsoft.com/office/powerpoint/2010/main" val="2110036675"/>
              </p:ext>
            </p:extLst>
          </p:nvPr>
        </p:nvGraphicFramePr>
        <p:xfrm>
          <a:off x="97539" y="6685758"/>
          <a:ext cx="6572477" cy="3095762"/>
        </p:xfrm>
        <a:graphic>
          <a:graphicData uri="http://schemas.openxmlformats.org/drawingml/2006/table">
            <a:tbl>
              <a:tblPr firstRow="1" bandRow="1">
                <a:tableStyleId>{5C22544A-7EE6-4342-B048-85BDC9FD1C3A}</a:tableStyleId>
              </a:tblPr>
              <a:tblGrid>
                <a:gridCol w="1391744">
                  <a:extLst>
                    <a:ext uri="{9D8B030D-6E8A-4147-A177-3AD203B41FA5}">
                      <a16:colId xmlns:a16="http://schemas.microsoft.com/office/drawing/2014/main" val="1568142362"/>
                    </a:ext>
                  </a:extLst>
                </a:gridCol>
                <a:gridCol w="1726911">
                  <a:extLst>
                    <a:ext uri="{9D8B030D-6E8A-4147-A177-3AD203B41FA5}">
                      <a16:colId xmlns:a16="http://schemas.microsoft.com/office/drawing/2014/main" val="3551711160"/>
                    </a:ext>
                  </a:extLst>
                </a:gridCol>
                <a:gridCol w="1726911">
                  <a:extLst>
                    <a:ext uri="{9D8B030D-6E8A-4147-A177-3AD203B41FA5}">
                      <a16:colId xmlns:a16="http://schemas.microsoft.com/office/drawing/2014/main" val="1712497518"/>
                    </a:ext>
                  </a:extLst>
                </a:gridCol>
                <a:gridCol w="1726911">
                  <a:extLst>
                    <a:ext uri="{9D8B030D-6E8A-4147-A177-3AD203B41FA5}">
                      <a16:colId xmlns:a16="http://schemas.microsoft.com/office/drawing/2014/main" val="886122921"/>
                    </a:ext>
                  </a:extLst>
                </a:gridCol>
              </a:tblGrid>
              <a:tr h="371640">
                <a:tc gridSpan="4">
                  <a:txBody>
                    <a:bodyPr/>
                    <a:lstStyle/>
                    <a:p>
                      <a:pPr algn="l"/>
                      <a:r>
                        <a:rPr lang="en-GB" sz="1200" b="0" dirty="0">
                          <a:solidFill>
                            <a:schemeClr val="tx1"/>
                          </a:solidFill>
                        </a:rPr>
                        <a:t>For the following questions, list the numbers in  </a:t>
                      </a:r>
                      <a:r>
                        <a:rPr lang="en-GB" sz="1200" b="1" dirty="0">
                          <a:solidFill>
                            <a:schemeClr val="tx1"/>
                          </a:solidFill>
                        </a:rPr>
                        <a:t>Descending</a:t>
                      </a:r>
                      <a:r>
                        <a:rPr lang="en-GB" sz="1200" b="0" dirty="0">
                          <a:solidFill>
                            <a:schemeClr val="tx1"/>
                          </a:solidFill>
                        </a:rPr>
                        <a:t> order.</a:t>
                      </a:r>
                    </a:p>
                    <a:p>
                      <a:pPr algn="l"/>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28712">
                <a:tc>
                  <a:txBody>
                    <a:bodyPr/>
                    <a:lstStyle/>
                    <a:p>
                      <a:pPr algn="l"/>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GB" sz="1200" b="0" i="0" kern="1200" dirty="0">
                        <a:solidFill>
                          <a:schemeClr val="dk1"/>
                        </a:solidFill>
                        <a:effectLst/>
                        <a:latin typeface="+mn-lt"/>
                        <a:ea typeface="+mn-ea"/>
                        <a:cs typeface="+mn-cs"/>
                      </a:endParaRPr>
                    </a:p>
                    <a:p>
                      <a:pPr algn="l"/>
                      <a:r>
                        <a:rPr lang="en-GB" sz="1200" b="0" i="0" kern="1200" dirty="0">
                          <a:solidFill>
                            <a:schemeClr val="dk1"/>
                          </a:solidFill>
                          <a:effectLst/>
                          <a:latin typeface="+mn-lt"/>
                          <a:ea typeface="+mn-ea"/>
                          <a:cs typeface="+mn-cs"/>
                        </a:rPr>
                        <a:t>562, 56, 5620, 526, 5260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7312, 7321, 732, 73, 723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32, 372, 3372, 3732, 327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70722">
                <a:tc>
                  <a:txBody>
                    <a:bodyPr/>
                    <a:lstStyle/>
                    <a:p>
                      <a:pPr marL="0" indent="0" algn="l">
                        <a:buNone/>
                      </a:pPr>
                      <a:r>
                        <a:rPr lang="en-US" sz="1000">
                          <a:solidFill>
                            <a:schemeClr val="tx1"/>
                          </a:solidFill>
                        </a:rPr>
                        <a:t>Look at the place value of the leftmost digit. Write down the number with the smallest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l"/>
                      <a:endParaRPr lang="en-US" sz="11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228973">
                <a:tc>
                  <a:txBody>
                    <a:bodyPr/>
                    <a:lstStyle/>
                    <a:p>
                      <a:pPr algn="l"/>
                      <a:r>
                        <a:rPr lang="en-GB" sz="1000" dirty="0">
                          <a:solidFill>
                            <a:schemeClr val="tx1"/>
                          </a:solidFill>
                        </a:rPr>
                        <a:t>If any have the same place value, look at the digit to the right and write down the number with the </a:t>
                      </a:r>
                      <a:r>
                        <a:rPr lang="en-GB" sz="1000" b="1" dirty="0">
                          <a:solidFill>
                            <a:schemeClr val="tx1"/>
                          </a:solidFill>
                        </a:rPr>
                        <a:t>highest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00" name="TextBox 99">
            <a:extLst>
              <a:ext uri="{FF2B5EF4-FFF2-40B4-BE49-F238E27FC236}">
                <a16:creationId xmlns:a16="http://schemas.microsoft.com/office/drawing/2014/main" id="{13C475E5-AC8C-1640-0B2E-6945FBD3E8E9}"/>
              </a:ext>
            </a:extLst>
          </p:cNvPr>
          <p:cNvSpPr txBox="1"/>
          <p:nvPr/>
        </p:nvSpPr>
        <p:spPr>
          <a:xfrm>
            <a:off x="1671031" y="6907823"/>
            <a:ext cx="1410704" cy="276999"/>
          </a:xfrm>
          <a:prstGeom prst="rect">
            <a:avLst/>
          </a:prstGeom>
          <a:noFill/>
          <a:ln>
            <a:noFill/>
          </a:ln>
        </p:spPr>
        <p:txBody>
          <a:bodyPr wrap="square" rtlCol="0">
            <a:spAutoFit/>
          </a:bodyPr>
          <a:lstStyle/>
          <a:p>
            <a:r>
              <a:rPr lang="en-GB" sz="1200" b="1" i="1" dirty="0">
                <a:solidFill>
                  <a:srgbClr val="FF0000"/>
                </a:solidFill>
              </a:rPr>
              <a:t>Example 4 - I do…</a:t>
            </a:r>
          </a:p>
        </p:txBody>
      </p:sp>
      <p:sp>
        <p:nvSpPr>
          <p:cNvPr id="101" name="TextBox 100">
            <a:extLst>
              <a:ext uri="{FF2B5EF4-FFF2-40B4-BE49-F238E27FC236}">
                <a16:creationId xmlns:a16="http://schemas.microsoft.com/office/drawing/2014/main" id="{DB293FE7-FC6B-3DA7-5DE4-8B28606C1E45}"/>
              </a:ext>
            </a:extLst>
          </p:cNvPr>
          <p:cNvSpPr txBox="1"/>
          <p:nvPr/>
        </p:nvSpPr>
        <p:spPr>
          <a:xfrm>
            <a:off x="4996841" y="6905348"/>
            <a:ext cx="1643405" cy="276999"/>
          </a:xfrm>
          <a:prstGeom prst="rect">
            <a:avLst/>
          </a:prstGeom>
          <a:noFill/>
          <a:ln>
            <a:noFill/>
          </a:ln>
        </p:spPr>
        <p:txBody>
          <a:bodyPr wrap="square" rtlCol="0">
            <a:spAutoFit/>
          </a:bodyPr>
          <a:lstStyle/>
          <a:p>
            <a:r>
              <a:rPr lang="en-GB" sz="1200" b="1" i="1" dirty="0">
                <a:solidFill>
                  <a:srgbClr val="00B050"/>
                </a:solidFill>
              </a:rPr>
              <a:t>Example 6 – You do…</a:t>
            </a:r>
          </a:p>
        </p:txBody>
      </p:sp>
      <p:sp>
        <p:nvSpPr>
          <p:cNvPr id="102" name="TextBox 101">
            <a:extLst>
              <a:ext uri="{FF2B5EF4-FFF2-40B4-BE49-F238E27FC236}">
                <a16:creationId xmlns:a16="http://schemas.microsoft.com/office/drawing/2014/main" id="{019BA839-CC11-DFFC-B779-BB18761BCC1E}"/>
              </a:ext>
            </a:extLst>
          </p:cNvPr>
          <p:cNvSpPr txBox="1"/>
          <p:nvPr/>
        </p:nvSpPr>
        <p:spPr>
          <a:xfrm>
            <a:off x="3252454" y="6907822"/>
            <a:ext cx="1643405" cy="276999"/>
          </a:xfrm>
          <a:prstGeom prst="rect">
            <a:avLst/>
          </a:prstGeom>
          <a:noFill/>
          <a:ln>
            <a:noFill/>
          </a:ln>
        </p:spPr>
        <p:txBody>
          <a:bodyPr wrap="square" rtlCol="0">
            <a:spAutoFit/>
          </a:bodyPr>
          <a:lstStyle/>
          <a:p>
            <a:r>
              <a:rPr lang="en-GB" sz="1200" b="1" i="1" dirty="0">
                <a:solidFill>
                  <a:schemeClr val="accent2"/>
                </a:solidFill>
              </a:rPr>
              <a:t>Example 5 – We do…</a:t>
            </a:r>
          </a:p>
        </p:txBody>
      </p:sp>
    </p:spTree>
    <p:extLst>
      <p:ext uri="{BB962C8B-B14F-4D97-AF65-F5344CB8AC3E}">
        <p14:creationId xmlns:p14="http://schemas.microsoft.com/office/powerpoint/2010/main" val="3303306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5314950" y="9552934"/>
            <a:ext cx="1543050" cy="527403"/>
          </a:xfrm>
        </p:spPr>
        <p:txBody>
          <a:bodyPr/>
          <a:lstStyle/>
          <a:p>
            <a:fld id="{19F1D9CC-7119-45EC-A96C-D8C0660F3AAB}" type="slidenum">
              <a:rPr lang="en-GB" smtClean="0"/>
              <a:t>2</a:t>
            </a:fld>
            <a:endParaRPr lang="en-GB"/>
          </a:p>
        </p:txBody>
      </p:sp>
      <p:graphicFrame>
        <p:nvGraphicFramePr>
          <p:cNvPr id="39" name="Table 38">
            <a:extLst>
              <a:ext uri="{FF2B5EF4-FFF2-40B4-BE49-F238E27FC236}">
                <a16:creationId xmlns:a16="http://schemas.microsoft.com/office/drawing/2014/main" id="{ECAD3ED2-8891-D016-F296-0EF9B15745AD}"/>
              </a:ext>
            </a:extLst>
          </p:cNvPr>
          <p:cNvGraphicFramePr>
            <a:graphicFrameLocks noGrp="1"/>
          </p:cNvGraphicFramePr>
          <p:nvPr/>
        </p:nvGraphicFramePr>
        <p:xfrm>
          <a:off x="122077" y="353066"/>
          <a:ext cx="6572478" cy="4608336"/>
        </p:xfrm>
        <a:graphic>
          <a:graphicData uri="http://schemas.openxmlformats.org/drawingml/2006/table">
            <a:tbl>
              <a:tblPr firstRow="1" bandRow="1">
                <a:tableStyleId>{5C22544A-7EE6-4342-B048-85BDC9FD1C3A}</a:tableStyleId>
              </a:tblPr>
              <a:tblGrid>
                <a:gridCol w="2887341">
                  <a:extLst>
                    <a:ext uri="{9D8B030D-6E8A-4147-A177-3AD203B41FA5}">
                      <a16:colId xmlns:a16="http://schemas.microsoft.com/office/drawing/2014/main" val="1568142362"/>
                    </a:ext>
                  </a:extLst>
                </a:gridCol>
                <a:gridCol w="3685137">
                  <a:extLst>
                    <a:ext uri="{9D8B030D-6E8A-4147-A177-3AD203B41FA5}">
                      <a16:colId xmlns:a16="http://schemas.microsoft.com/office/drawing/2014/main" val="3993666970"/>
                    </a:ext>
                  </a:extLst>
                </a:gridCol>
              </a:tblGrid>
              <a:tr h="396336">
                <a:tc gridSpan="2">
                  <a:txBody>
                    <a:bodyPr/>
                    <a:lstStyle/>
                    <a:p>
                      <a:pPr algn="ctr"/>
                      <a:endParaRPr lang="en-GB" sz="1200" b="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506582307"/>
                  </a:ext>
                </a:extLst>
              </a:tr>
              <a:tr h="468000">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baseline="0" dirty="0">
                          <a:solidFill>
                            <a:schemeClr val="tx1"/>
                          </a:solidFill>
                          <a:latin typeface="+mn-lt"/>
                        </a:rPr>
                        <a:t>1.</a:t>
                      </a:r>
                      <a:r>
                        <a:rPr lang="en-US" sz="1200" baseline="0" dirty="0">
                          <a:solidFill>
                            <a:schemeClr val="tx1"/>
                          </a:solidFill>
                          <a:latin typeface="+mn-lt"/>
                        </a:rPr>
                        <a:t>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9213032"/>
                  </a:ext>
                </a:extLst>
              </a:tr>
              <a:tr h="468000">
                <a:tc>
                  <a:txBody>
                    <a:bodyPr/>
                    <a:lstStyle/>
                    <a:p>
                      <a:r>
                        <a:rPr lang="en-US" sz="1200" baseline="0" dirty="0">
                          <a:solidFill>
                            <a:schemeClr val="tx1"/>
                          </a:solidFill>
                          <a:latin typeface="+mn-lt"/>
                        </a:rPr>
                        <a:t>a) </a:t>
                      </a:r>
                      <a:r>
                        <a:rPr lang="en-GB" sz="1200" dirty="0"/>
                        <a:t>8, 5, 9, 10, 2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8186665"/>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a:t>
                      </a:r>
                      <a:r>
                        <a:rPr lang="en-GB" sz="1200" dirty="0"/>
                        <a:t>11, 20, 9, 15, 14, 3</a:t>
                      </a:r>
                      <a:endParaRPr lang="en-US" sz="1200" baseline="0" dirty="0">
                        <a:solidFill>
                          <a:schemeClr val="tx1"/>
                        </a:solidFill>
                        <a:latin typeface="+mn-lt"/>
                      </a:endParaRPr>
                    </a:p>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68000">
                <a:tc>
                  <a:txBody>
                    <a:bodyPr/>
                    <a:lstStyle/>
                    <a:p>
                      <a:pPr algn="just"/>
                      <a:r>
                        <a:rPr lang="en-US" sz="1200" baseline="0" dirty="0">
                          <a:solidFill>
                            <a:schemeClr val="tx1"/>
                          </a:solidFill>
                          <a:latin typeface="+mn-lt"/>
                        </a:rPr>
                        <a:t>c) </a:t>
                      </a:r>
                      <a:r>
                        <a:rPr lang="en-GB" sz="1200" dirty="0"/>
                        <a:t>40, 60, 20, 30, 90, 10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a:t>
                      </a:r>
                      <a:r>
                        <a:rPr lang="en-GB" sz="1200" dirty="0"/>
                        <a:t>83, 18, 45, 37, 90, 21 </a:t>
                      </a:r>
                      <a:endParaRPr lang="en-US" sz="1200" baseline="0" dirty="0">
                        <a:solidFill>
                          <a:schemeClr val="tx1"/>
                        </a:solidFill>
                        <a:latin typeface="+mn-lt"/>
                      </a:endParaRPr>
                    </a:p>
                    <a:p>
                      <a:pPr marL="0" marR="0" lvl="0" indent="0" algn="just"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732075"/>
                  </a:ext>
                </a:extLst>
              </a:tr>
              <a:tr h="468000">
                <a:tc>
                  <a:txBody>
                    <a:bodyPr/>
                    <a:lstStyle/>
                    <a:p>
                      <a:r>
                        <a:rPr lang="en-US" sz="1200" baseline="0" dirty="0">
                          <a:solidFill>
                            <a:schemeClr val="tx1"/>
                          </a:solidFill>
                          <a:latin typeface="+mn-lt"/>
                        </a:rPr>
                        <a:t>e) </a:t>
                      </a:r>
                      <a:r>
                        <a:rPr lang="en-GB" sz="1200" dirty="0"/>
                        <a:t>140, 180, 210, 70, 300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83353"/>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dirty="0"/>
                        <a:t>605, 56, 566, 655, 506, 65, 555</a:t>
                      </a:r>
                      <a:endParaRPr lang="en-US" sz="1200" baseline="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7831125"/>
                  </a:ext>
                </a:extLst>
              </a:tr>
              <a:tr h="468000">
                <a:tc>
                  <a:txBody>
                    <a:bodyPr/>
                    <a:lstStyle/>
                    <a:p>
                      <a:r>
                        <a:rPr lang="en-US" sz="1200" baseline="0" dirty="0">
                          <a:solidFill>
                            <a:schemeClr val="tx1"/>
                          </a:solidFill>
                          <a:latin typeface="+mn-lt"/>
                        </a:rPr>
                        <a:t>g) </a:t>
                      </a:r>
                      <a:r>
                        <a:rPr lang="en-GB" sz="1200" dirty="0"/>
                        <a:t>2000, 375, 7100, 2900, 999, 400</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 h) 1119,  1191,   1911 , 911,  119,  1009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2970809"/>
                  </a:ext>
                </a:extLst>
              </a:tr>
            </a:tbl>
          </a:graphicData>
        </a:graphic>
      </p:graphicFrame>
      <p:sp>
        <p:nvSpPr>
          <p:cNvPr id="22" name="Rectangle 21">
            <a:extLst>
              <a:ext uri="{FF2B5EF4-FFF2-40B4-BE49-F238E27FC236}">
                <a16:creationId xmlns:a16="http://schemas.microsoft.com/office/drawing/2014/main" id="{AA98FAA0-F79B-1C9F-6B19-83685195E16A}"/>
              </a:ext>
            </a:extLst>
          </p:cNvPr>
          <p:cNvSpPr/>
          <p:nvPr/>
        </p:nvSpPr>
        <p:spPr>
          <a:xfrm>
            <a:off x="122077" y="1828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2" name="Table 41">
            <a:extLst>
              <a:ext uri="{FF2B5EF4-FFF2-40B4-BE49-F238E27FC236}">
                <a16:creationId xmlns:a16="http://schemas.microsoft.com/office/drawing/2014/main" id="{7E6099EA-B58C-EFE0-CF95-15C5EA42DB3F}"/>
              </a:ext>
            </a:extLst>
          </p:cNvPr>
          <p:cNvGraphicFramePr>
            <a:graphicFrameLocks noGrp="1"/>
          </p:cNvGraphicFramePr>
          <p:nvPr/>
        </p:nvGraphicFramePr>
        <p:xfrm>
          <a:off x="122077" y="5443538"/>
          <a:ext cx="6572478" cy="2808000"/>
        </p:xfrm>
        <a:graphic>
          <a:graphicData uri="http://schemas.openxmlformats.org/drawingml/2006/table">
            <a:tbl>
              <a:tblPr firstRow="1" bandRow="1">
                <a:tableStyleId>{5C22544A-7EE6-4342-B048-85BDC9FD1C3A}</a:tableStyleId>
              </a:tblPr>
              <a:tblGrid>
                <a:gridCol w="2910490">
                  <a:extLst>
                    <a:ext uri="{9D8B030D-6E8A-4147-A177-3AD203B41FA5}">
                      <a16:colId xmlns:a16="http://schemas.microsoft.com/office/drawing/2014/main" val="2755514093"/>
                    </a:ext>
                  </a:extLst>
                </a:gridCol>
                <a:gridCol w="3661988">
                  <a:extLst>
                    <a:ext uri="{9D8B030D-6E8A-4147-A177-3AD203B41FA5}">
                      <a16:colId xmlns:a16="http://schemas.microsoft.com/office/drawing/2014/main" val="2582338415"/>
                    </a:ext>
                  </a:extLst>
                </a:gridCol>
              </a:tblGrid>
              <a:tr h="468000">
                <a:tc>
                  <a:txBody>
                    <a:bodyPr/>
                    <a:lstStyle/>
                    <a:p>
                      <a:r>
                        <a:rPr lang="en-US" sz="1200" b="0" baseline="0">
                          <a:solidFill>
                            <a:schemeClr val="tx1"/>
                          </a:solidFill>
                          <a:latin typeface="+mn-lt"/>
                        </a:rPr>
                        <a:t>a) </a:t>
                      </a:r>
                      <a:r>
                        <a:rPr lang="en-GB" sz="1200" b="0" kern="1200">
                          <a:solidFill>
                            <a:schemeClr val="dk1"/>
                          </a:solidFill>
                          <a:effectLst/>
                          <a:latin typeface="+mn-lt"/>
                          <a:ea typeface="+mn-ea"/>
                          <a:cs typeface="+mn-cs"/>
                        </a:rPr>
                        <a:t>321, 301, 312, 213, 212</a:t>
                      </a:r>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7644099"/>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b) </a:t>
                      </a:r>
                      <a:r>
                        <a:rPr lang="en-GB" sz="1200" b="0" kern="1200" dirty="0">
                          <a:solidFill>
                            <a:schemeClr val="dk1"/>
                          </a:solidFill>
                          <a:effectLst/>
                          <a:latin typeface="+mn-lt"/>
                          <a:ea typeface="+mn-ea"/>
                          <a:cs typeface="+mn-cs"/>
                        </a:rPr>
                        <a:t>1031, 1021, 2021, 1030, 2020</a:t>
                      </a:r>
                      <a:endParaRPr lang="en-US" sz="1200" b="0" baseline="0" dirty="0">
                        <a:solidFill>
                          <a:schemeClr val="tx1"/>
                        </a:solidFill>
                        <a:latin typeface="+mn-lt"/>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2752287"/>
                  </a:ext>
                </a:extLst>
              </a:tr>
              <a:tr h="468000">
                <a:tc>
                  <a:txBody>
                    <a:bodyPr/>
                    <a:lstStyle/>
                    <a:p>
                      <a:r>
                        <a:rPr lang="en-US" sz="1200" baseline="0">
                          <a:solidFill>
                            <a:schemeClr val="tx1"/>
                          </a:solidFill>
                          <a:latin typeface="+mn-lt"/>
                        </a:rPr>
                        <a:t>c) </a:t>
                      </a:r>
                      <a:r>
                        <a:rPr lang="en-GB" sz="1200" kern="1200">
                          <a:solidFill>
                            <a:schemeClr val="dk1"/>
                          </a:solidFill>
                          <a:effectLst/>
                          <a:latin typeface="+mn-lt"/>
                          <a:ea typeface="+mn-ea"/>
                          <a:cs typeface="+mn-cs"/>
                        </a:rPr>
                        <a:t>21031, 20121, 32021, 31030, 32020</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23769"/>
                  </a:ext>
                </a:extLst>
              </a:tr>
              <a:tr h="468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 </a:t>
                      </a:r>
                      <a:r>
                        <a:rPr lang="en-GB" sz="1200" kern="1200" dirty="0">
                          <a:solidFill>
                            <a:schemeClr val="dk1"/>
                          </a:solidFill>
                          <a:effectLst/>
                          <a:latin typeface="+mn-lt"/>
                          <a:ea typeface="+mn-ea"/>
                          <a:cs typeface="+mn-cs"/>
                        </a:rPr>
                        <a:t>21531, 21331, 21351, 231151, 23151</a:t>
                      </a:r>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752856"/>
                  </a:ext>
                </a:extLst>
              </a:tr>
              <a:tr h="468000">
                <a:tc>
                  <a:txBody>
                    <a:bodyPr/>
                    <a:lstStyle/>
                    <a:p>
                      <a:r>
                        <a:rPr lang="en-US" sz="1200" baseline="0">
                          <a:solidFill>
                            <a:schemeClr val="tx1"/>
                          </a:solidFill>
                          <a:latin typeface="+mn-lt"/>
                        </a:rPr>
                        <a:t>e) </a:t>
                      </a:r>
                      <a:r>
                        <a:rPr lang="en-GB" sz="1200" kern="1200">
                          <a:solidFill>
                            <a:schemeClr val="dk1"/>
                          </a:solidFill>
                          <a:effectLst/>
                          <a:latin typeface="+mn-lt"/>
                          <a:ea typeface="+mn-ea"/>
                          <a:cs typeface="+mn-cs"/>
                        </a:rPr>
                        <a:t>20531, 20031, 25031, 23051, 21053</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807724"/>
                  </a:ext>
                </a:extLst>
              </a:tr>
              <a:tr h="468000">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kern="1200" dirty="0">
                          <a:solidFill>
                            <a:schemeClr val="dk1"/>
                          </a:solidFill>
                          <a:effectLst/>
                          <a:latin typeface="+mn-lt"/>
                          <a:ea typeface="+mn-ea"/>
                          <a:cs typeface="+mn-cs"/>
                        </a:rPr>
                        <a:t>90531, 95031, 91530, 95130, 95101</a:t>
                      </a:r>
                      <a:endParaRPr lang="en-US" sz="1200" baseline="0" dirty="0">
                        <a:solidFill>
                          <a:schemeClr val="tx1"/>
                        </a:solidFill>
                        <a:latin typeface="+mn-lt"/>
                      </a:endParaRPr>
                    </a:p>
                    <a:p>
                      <a:pPr algn="ct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1654424"/>
                  </a:ext>
                </a:extLst>
              </a:tr>
            </a:tbl>
          </a:graphicData>
        </a:graphic>
      </p:graphicFrame>
      <p:sp>
        <p:nvSpPr>
          <p:cNvPr id="58" name="TextBox 57">
            <a:extLst>
              <a:ext uri="{FF2B5EF4-FFF2-40B4-BE49-F238E27FC236}">
                <a16:creationId xmlns:a16="http://schemas.microsoft.com/office/drawing/2014/main" id="{78ECB832-D2BA-1524-AD43-F12EE21F6044}"/>
              </a:ext>
            </a:extLst>
          </p:cNvPr>
          <p:cNvSpPr txBox="1"/>
          <p:nvPr/>
        </p:nvSpPr>
        <p:spPr>
          <a:xfrm>
            <a:off x="122076" y="5117549"/>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descending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graphicFrame>
        <p:nvGraphicFramePr>
          <p:cNvPr id="59" name="Table 58">
            <a:extLst>
              <a:ext uri="{FF2B5EF4-FFF2-40B4-BE49-F238E27FC236}">
                <a16:creationId xmlns:a16="http://schemas.microsoft.com/office/drawing/2014/main" id="{C22A6B9A-305B-9EAA-4974-54124925568B}"/>
              </a:ext>
            </a:extLst>
          </p:cNvPr>
          <p:cNvGraphicFramePr>
            <a:graphicFrameLocks noGrp="1"/>
          </p:cNvGraphicFramePr>
          <p:nvPr/>
        </p:nvGraphicFramePr>
        <p:xfrm>
          <a:off x="122076" y="8439450"/>
          <a:ext cx="6572478" cy="1283710"/>
        </p:xfrm>
        <a:graphic>
          <a:graphicData uri="http://schemas.openxmlformats.org/drawingml/2006/table">
            <a:tbl>
              <a:tblPr firstRow="1" bandRow="1">
                <a:tableStyleId>{5C22544A-7EE6-4342-B048-85BDC9FD1C3A}</a:tableStyleId>
              </a:tblPr>
              <a:tblGrid>
                <a:gridCol w="6572478">
                  <a:extLst>
                    <a:ext uri="{9D8B030D-6E8A-4147-A177-3AD203B41FA5}">
                      <a16:colId xmlns:a16="http://schemas.microsoft.com/office/drawing/2014/main" val="938393515"/>
                    </a:ext>
                  </a:extLst>
                </a:gridCol>
              </a:tblGrid>
              <a:tr h="649347">
                <a:tc>
                  <a:txBody>
                    <a:bodyPr/>
                    <a:lstStyle/>
                    <a:p>
                      <a:r>
                        <a:rPr lang="en-US" sz="1200" b="1" baseline="0" dirty="0">
                          <a:solidFill>
                            <a:schemeClr val="tx1"/>
                          </a:solidFill>
                          <a:latin typeface="+mn-lt"/>
                        </a:rPr>
                        <a:t>3.</a:t>
                      </a:r>
                      <a:r>
                        <a:rPr lang="en-US" sz="1200" b="0" baseline="0" dirty="0">
                          <a:solidFill>
                            <a:schemeClr val="tx1"/>
                          </a:solidFill>
                          <a:latin typeface="+mn-lt"/>
                        </a:rPr>
                        <a:t> Order the following temperatures from coldest to warmest:</a:t>
                      </a:r>
                    </a:p>
                    <a:p>
                      <a:r>
                        <a:rPr lang="en-GB" sz="1200" b="0" dirty="0">
                          <a:solidFill>
                            <a:schemeClr val="tx1"/>
                          </a:solidFill>
                        </a:rPr>
                        <a:t>8°C, 12°C, 9°C, 15°C, 11°C, 7°C, 2°C </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7398420"/>
                  </a:ext>
                </a:extLst>
              </a:tr>
              <a:tr h="634363">
                <a:tc>
                  <a:txBody>
                    <a:bodyPr/>
                    <a:lstStyle/>
                    <a:p>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7652287"/>
                  </a:ext>
                </a:extLst>
              </a:tr>
            </a:tbl>
          </a:graphicData>
        </a:graphic>
      </p:graphicFrame>
    </p:spTree>
    <p:extLst>
      <p:ext uri="{BB962C8B-B14F-4D97-AF65-F5344CB8AC3E}">
        <p14:creationId xmlns:p14="http://schemas.microsoft.com/office/powerpoint/2010/main" val="3253914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5300409" y="9350003"/>
            <a:ext cx="1543050" cy="527403"/>
          </a:xfrm>
        </p:spPr>
        <p:txBody>
          <a:bodyPr/>
          <a:lstStyle/>
          <a:p>
            <a:fld id="{19F1D9CC-7119-45EC-A96C-D8C0660F3AAB}" type="slidenum">
              <a:rPr lang="en-GB" smtClean="0"/>
              <a:t>3</a:t>
            </a:fld>
            <a:endParaRPr lang="en-GB" dirty="0"/>
          </a:p>
        </p:txBody>
      </p:sp>
      <p:graphicFrame>
        <p:nvGraphicFramePr>
          <p:cNvPr id="2" name="Table 1">
            <a:extLst>
              <a:ext uri="{FF2B5EF4-FFF2-40B4-BE49-F238E27FC236}">
                <a16:creationId xmlns:a16="http://schemas.microsoft.com/office/drawing/2014/main" id="{283896A9-4CAF-AF38-1620-0D96E7D427E7}"/>
              </a:ext>
            </a:extLst>
          </p:cNvPr>
          <p:cNvGraphicFramePr>
            <a:graphicFrameLocks noGrp="1"/>
          </p:cNvGraphicFramePr>
          <p:nvPr/>
        </p:nvGraphicFramePr>
        <p:xfrm>
          <a:off x="142761" y="288909"/>
          <a:ext cx="6572478" cy="286150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540978326"/>
                    </a:ext>
                  </a:extLst>
                </a:gridCol>
                <a:gridCol w="3286239">
                  <a:extLst>
                    <a:ext uri="{9D8B030D-6E8A-4147-A177-3AD203B41FA5}">
                      <a16:colId xmlns:a16="http://schemas.microsoft.com/office/drawing/2014/main" val="1507001653"/>
                    </a:ext>
                  </a:extLst>
                </a:gridCol>
              </a:tblGrid>
              <a:tr h="2861506">
                <a:tc>
                  <a:txBody>
                    <a:bodyPr/>
                    <a:lstStyle/>
                    <a:p>
                      <a:r>
                        <a:rPr lang="en-GB" sz="1200" b="0" dirty="0">
                          <a:solidFill>
                            <a:schemeClr val="tx1"/>
                          </a:solidFill>
                        </a:rPr>
                        <a:t>4. Shown below are the heights of five hills.</a:t>
                      </a: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List the hills in order of size, starting with the largest.</a:t>
                      </a:r>
                      <a:endParaRPr lang="en-GB"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458411"/>
                  </a:ext>
                </a:extLst>
              </a:tr>
            </a:tbl>
          </a:graphicData>
        </a:graphic>
      </p:graphicFrame>
      <p:pic>
        <p:nvPicPr>
          <p:cNvPr id="3" name="Picture 2">
            <a:extLst>
              <a:ext uri="{FF2B5EF4-FFF2-40B4-BE49-F238E27FC236}">
                <a16:creationId xmlns:a16="http://schemas.microsoft.com/office/drawing/2014/main" id="{28C90CF0-AA2E-440E-A8FD-AAC12479DC70}"/>
              </a:ext>
            </a:extLst>
          </p:cNvPr>
          <p:cNvPicPr>
            <a:picLocks noChangeAspect="1"/>
          </p:cNvPicPr>
          <p:nvPr/>
        </p:nvPicPr>
        <p:blipFill>
          <a:blip r:embed="rId3">
            <a:grayscl/>
          </a:blip>
          <a:stretch>
            <a:fillRect/>
          </a:stretch>
        </p:blipFill>
        <p:spPr>
          <a:xfrm>
            <a:off x="566617" y="844125"/>
            <a:ext cx="2076740" cy="1543265"/>
          </a:xfrm>
          <a:prstGeom prst="rect">
            <a:avLst/>
          </a:prstGeom>
        </p:spPr>
      </p:pic>
      <p:graphicFrame>
        <p:nvGraphicFramePr>
          <p:cNvPr id="4" name="Table 3">
            <a:extLst>
              <a:ext uri="{FF2B5EF4-FFF2-40B4-BE49-F238E27FC236}">
                <a16:creationId xmlns:a16="http://schemas.microsoft.com/office/drawing/2014/main" id="{CDCDFDB6-C3A8-8612-4BE6-A0FF9D6F4BBF}"/>
              </a:ext>
            </a:extLst>
          </p:cNvPr>
          <p:cNvGraphicFramePr>
            <a:graphicFrameLocks noGrp="1"/>
          </p:cNvGraphicFramePr>
          <p:nvPr/>
        </p:nvGraphicFramePr>
        <p:xfrm>
          <a:off x="142761" y="3221536"/>
          <a:ext cx="6572478" cy="2772864"/>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528150230"/>
                    </a:ext>
                  </a:extLst>
                </a:gridCol>
                <a:gridCol w="3286239">
                  <a:extLst>
                    <a:ext uri="{9D8B030D-6E8A-4147-A177-3AD203B41FA5}">
                      <a16:colId xmlns:a16="http://schemas.microsoft.com/office/drawing/2014/main" val="3229230136"/>
                    </a:ext>
                  </a:extLst>
                </a:gridCol>
              </a:tblGrid>
              <a:tr h="2772864">
                <a:tc>
                  <a:txBody>
                    <a:bodyPr/>
                    <a:lstStyle/>
                    <a:p>
                      <a:r>
                        <a:rPr lang="en-GB" sz="1200" b="0">
                          <a:solidFill>
                            <a:schemeClr val="tx1"/>
                          </a:solidFill>
                        </a:rPr>
                        <a:t>5. The table shows the prices of five televisions</a:t>
                      </a: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Write down the televisions in order of price. Start with the cheapest television.</a:t>
                      </a: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3507339"/>
                  </a:ext>
                </a:extLst>
              </a:tr>
            </a:tbl>
          </a:graphicData>
        </a:graphic>
      </p:graphicFrame>
      <p:pic>
        <p:nvPicPr>
          <p:cNvPr id="5" name="Picture 4">
            <a:extLst>
              <a:ext uri="{FF2B5EF4-FFF2-40B4-BE49-F238E27FC236}">
                <a16:creationId xmlns:a16="http://schemas.microsoft.com/office/drawing/2014/main" id="{67321E80-7DD0-D517-007C-88F3B5139CE4}"/>
              </a:ext>
            </a:extLst>
          </p:cNvPr>
          <p:cNvPicPr>
            <a:picLocks noChangeAspect="1"/>
          </p:cNvPicPr>
          <p:nvPr/>
        </p:nvPicPr>
        <p:blipFill>
          <a:blip r:embed="rId4"/>
          <a:stretch>
            <a:fillRect/>
          </a:stretch>
        </p:blipFill>
        <p:spPr>
          <a:xfrm>
            <a:off x="419297" y="3550545"/>
            <a:ext cx="2657846" cy="2114845"/>
          </a:xfrm>
          <a:prstGeom prst="rect">
            <a:avLst/>
          </a:prstGeom>
        </p:spPr>
      </p:pic>
      <p:graphicFrame>
        <p:nvGraphicFramePr>
          <p:cNvPr id="6" name="Table 5">
            <a:extLst>
              <a:ext uri="{FF2B5EF4-FFF2-40B4-BE49-F238E27FC236}">
                <a16:creationId xmlns:a16="http://schemas.microsoft.com/office/drawing/2014/main" id="{23E65193-94B6-36C3-9340-C909B151EF36}"/>
              </a:ext>
            </a:extLst>
          </p:cNvPr>
          <p:cNvGraphicFramePr>
            <a:graphicFrameLocks noGrp="1"/>
          </p:cNvGraphicFramePr>
          <p:nvPr/>
        </p:nvGraphicFramePr>
        <p:xfrm>
          <a:off x="142761" y="6065521"/>
          <a:ext cx="6572478" cy="336314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873762892"/>
                    </a:ext>
                  </a:extLst>
                </a:gridCol>
                <a:gridCol w="3286239">
                  <a:extLst>
                    <a:ext uri="{9D8B030D-6E8A-4147-A177-3AD203B41FA5}">
                      <a16:colId xmlns:a16="http://schemas.microsoft.com/office/drawing/2014/main" val="1698124566"/>
                    </a:ext>
                  </a:extLst>
                </a:gridCol>
              </a:tblGrid>
              <a:tr h="3363140">
                <a:tc>
                  <a:txBody>
                    <a:bodyPr/>
                    <a:lstStyle/>
                    <a:p>
                      <a:r>
                        <a:rPr lang="en-GB" sz="1200" b="0">
                          <a:solidFill>
                            <a:schemeClr val="tx1"/>
                          </a:solidFill>
                        </a:rPr>
                        <a:t>6. The table below shows the average attendance for five football teams last season</a:t>
                      </a: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GB"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p>
                      <a:endParaRPr lang="en-US" sz="1200" b="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Write down the teams in order of average attendance. Start with the highest</a:t>
                      </a: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6198573"/>
                  </a:ext>
                </a:extLst>
              </a:tr>
            </a:tbl>
          </a:graphicData>
        </a:graphic>
      </p:graphicFrame>
      <p:pic>
        <p:nvPicPr>
          <p:cNvPr id="8" name="Picture 7">
            <a:extLst>
              <a:ext uri="{FF2B5EF4-FFF2-40B4-BE49-F238E27FC236}">
                <a16:creationId xmlns:a16="http://schemas.microsoft.com/office/drawing/2014/main" id="{77EEC6C1-9852-AE4C-3C37-DD299CFEF667}"/>
              </a:ext>
            </a:extLst>
          </p:cNvPr>
          <p:cNvPicPr>
            <a:picLocks noChangeAspect="1"/>
          </p:cNvPicPr>
          <p:nvPr/>
        </p:nvPicPr>
        <p:blipFill>
          <a:blip r:embed="rId5"/>
          <a:stretch>
            <a:fillRect/>
          </a:stretch>
        </p:blipFill>
        <p:spPr>
          <a:xfrm>
            <a:off x="333020" y="6741580"/>
            <a:ext cx="3010321" cy="2381583"/>
          </a:xfrm>
          <a:prstGeom prst="rect">
            <a:avLst/>
          </a:prstGeom>
        </p:spPr>
      </p:pic>
    </p:spTree>
    <p:extLst>
      <p:ext uri="{BB962C8B-B14F-4D97-AF65-F5344CB8AC3E}">
        <p14:creationId xmlns:p14="http://schemas.microsoft.com/office/powerpoint/2010/main" val="2207505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8105787-A31F-54E0-AD4E-00141B3EEAB4}"/>
              </a:ext>
            </a:extLst>
          </p:cNvPr>
          <p:cNvSpPr txBox="1"/>
          <p:nvPr/>
        </p:nvSpPr>
        <p:spPr>
          <a:xfrm>
            <a:off x="78930" y="5610146"/>
            <a:ext cx="6639180" cy="3964745"/>
          </a:xfrm>
          <a:prstGeom prst="rect">
            <a:avLst/>
          </a:prstGeom>
          <a:noFill/>
          <a:ln w="19050">
            <a:solidFill>
              <a:schemeClr val="tx1"/>
            </a:solidFill>
          </a:ln>
        </p:spPr>
        <p:txBody>
          <a:bodyPr wrap="square" rtlCol="0">
            <a:spAutoFit/>
          </a:bodyPr>
          <a:lstStyle/>
          <a:p>
            <a:endParaRPr lang="en-GB" dirty="0"/>
          </a:p>
        </p:txBody>
      </p:sp>
      <p:sp>
        <p:nvSpPr>
          <p:cNvPr id="7" name="Slide Number Placeholder 6"/>
          <p:cNvSpPr>
            <a:spLocks noGrp="1"/>
          </p:cNvSpPr>
          <p:nvPr>
            <p:ph type="sldNum" sz="quarter" idx="12"/>
          </p:nvPr>
        </p:nvSpPr>
        <p:spPr>
          <a:xfrm>
            <a:off x="5234187" y="9509781"/>
            <a:ext cx="1543050" cy="527403"/>
          </a:xfrm>
        </p:spPr>
        <p:txBody>
          <a:bodyPr/>
          <a:lstStyle/>
          <a:p>
            <a:fld id="{19F1D9CC-7119-45EC-A96C-D8C0660F3AAB}" type="slidenum">
              <a:rPr lang="en-GB" smtClean="0"/>
              <a:t>4</a:t>
            </a:fld>
            <a:endParaRPr lang="en-GB" dirty="0"/>
          </a:p>
        </p:txBody>
      </p:sp>
      <p:graphicFrame>
        <p:nvGraphicFramePr>
          <p:cNvPr id="9" name="Table 8">
            <a:extLst>
              <a:ext uri="{FF2B5EF4-FFF2-40B4-BE49-F238E27FC236}">
                <a16:creationId xmlns:a16="http://schemas.microsoft.com/office/drawing/2014/main" id="{DF5ECC0D-1E6B-9997-C1EB-48E7B101827C}"/>
              </a:ext>
            </a:extLst>
          </p:cNvPr>
          <p:cNvGraphicFramePr>
            <a:graphicFrameLocks noGrp="1"/>
          </p:cNvGraphicFramePr>
          <p:nvPr/>
        </p:nvGraphicFramePr>
        <p:xfrm>
          <a:off x="122077" y="162878"/>
          <a:ext cx="6572478" cy="544312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2224850802"/>
                    </a:ext>
                  </a:extLst>
                </a:gridCol>
                <a:gridCol w="3286239">
                  <a:extLst>
                    <a:ext uri="{9D8B030D-6E8A-4147-A177-3AD203B41FA5}">
                      <a16:colId xmlns:a16="http://schemas.microsoft.com/office/drawing/2014/main" val="4192601491"/>
                    </a:ext>
                  </a:extLst>
                </a:gridCol>
              </a:tblGrid>
              <a:tr h="3284645">
                <a:tc>
                  <a:txBody>
                    <a:bodyPr/>
                    <a:lstStyle/>
                    <a:p>
                      <a:r>
                        <a:rPr lang="en-GB" sz="1200" b="0" dirty="0">
                          <a:solidFill>
                            <a:schemeClr val="tx1"/>
                          </a:solidFill>
                        </a:rPr>
                        <a:t>7. Here are the populations of five countries in 2022</a:t>
                      </a: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GB"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dirty="0">
                          <a:solidFill>
                            <a:schemeClr val="tx1"/>
                          </a:solidFill>
                        </a:rPr>
                        <a:t>Arrange the countries in order of population, starting with the smallest.</a:t>
                      </a: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0019020"/>
                  </a:ext>
                </a:extLst>
              </a:tr>
              <a:tr h="2158481">
                <a:tc>
                  <a:txBody>
                    <a:bodyPr/>
                    <a:lstStyle/>
                    <a:p>
                      <a:r>
                        <a:rPr lang="en-GB" sz="1200" b="0" dirty="0">
                          <a:solidFill>
                            <a:schemeClr val="tx1"/>
                          </a:solidFill>
                        </a:rPr>
                        <a:t>8. Arrange these numbers in ascending order.</a:t>
                      </a:r>
                    </a:p>
                    <a:p>
                      <a:endParaRPr lang="en-GB"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2305419"/>
                  </a:ext>
                </a:extLst>
              </a:tr>
            </a:tbl>
          </a:graphicData>
        </a:graphic>
      </p:graphicFrame>
      <p:pic>
        <p:nvPicPr>
          <p:cNvPr id="10" name="Picture 9">
            <a:extLst>
              <a:ext uri="{FF2B5EF4-FFF2-40B4-BE49-F238E27FC236}">
                <a16:creationId xmlns:a16="http://schemas.microsoft.com/office/drawing/2014/main" id="{A8FBFD73-380E-F1C7-B57F-2899DE29C6F7}"/>
              </a:ext>
            </a:extLst>
          </p:cNvPr>
          <p:cNvPicPr>
            <a:picLocks noChangeAspect="1"/>
          </p:cNvPicPr>
          <p:nvPr/>
        </p:nvPicPr>
        <p:blipFill>
          <a:blip r:embed="rId3"/>
          <a:stretch>
            <a:fillRect/>
          </a:stretch>
        </p:blipFill>
        <p:spPr>
          <a:xfrm>
            <a:off x="393510" y="605648"/>
            <a:ext cx="2705478" cy="2143424"/>
          </a:xfrm>
          <a:prstGeom prst="rect">
            <a:avLst/>
          </a:prstGeom>
        </p:spPr>
      </p:pic>
      <p:pic>
        <p:nvPicPr>
          <p:cNvPr id="11" name="Picture 10">
            <a:extLst>
              <a:ext uri="{FF2B5EF4-FFF2-40B4-BE49-F238E27FC236}">
                <a16:creationId xmlns:a16="http://schemas.microsoft.com/office/drawing/2014/main" id="{9C1AB259-84F7-0BC8-36DD-A3662F7C8C12}"/>
              </a:ext>
            </a:extLst>
          </p:cNvPr>
          <p:cNvPicPr>
            <a:picLocks noChangeAspect="1"/>
          </p:cNvPicPr>
          <p:nvPr/>
        </p:nvPicPr>
        <p:blipFill>
          <a:blip r:embed="rId4"/>
          <a:stretch>
            <a:fillRect/>
          </a:stretch>
        </p:blipFill>
        <p:spPr>
          <a:xfrm>
            <a:off x="631669" y="4124246"/>
            <a:ext cx="2229161" cy="1124107"/>
          </a:xfrm>
          <a:prstGeom prst="rect">
            <a:avLst/>
          </a:prstGeom>
        </p:spPr>
      </p:pic>
      <p:sp>
        <p:nvSpPr>
          <p:cNvPr id="2" name="TextBox 1">
            <a:extLst>
              <a:ext uri="{FF2B5EF4-FFF2-40B4-BE49-F238E27FC236}">
                <a16:creationId xmlns:a16="http://schemas.microsoft.com/office/drawing/2014/main" id="{0D7C7B56-2252-4DBA-FA26-BF4C741167EB}"/>
              </a:ext>
            </a:extLst>
          </p:cNvPr>
          <p:cNvSpPr txBox="1"/>
          <p:nvPr/>
        </p:nvSpPr>
        <p:spPr>
          <a:xfrm>
            <a:off x="71488" y="5781253"/>
            <a:ext cx="3410328" cy="276999"/>
          </a:xfrm>
          <a:prstGeom prst="rect">
            <a:avLst/>
          </a:prstGeom>
          <a:noFill/>
        </p:spPr>
        <p:txBody>
          <a:bodyPr wrap="square" rtlCol="0">
            <a:spAutoFit/>
          </a:bodyPr>
          <a:lstStyle/>
          <a:p>
            <a:r>
              <a:rPr lang="en-US" sz="1200" b="1" dirty="0"/>
              <a:t>9. </a:t>
            </a:r>
            <a:r>
              <a:rPr lang="en-US" sz="1200" dirty="0"/>
              <a:t>An estate agent advertises the following houses.</a:t>
            </a:r>
            <a:endParaRPr lang="en-GB" sz="1200" dirty="0"/>
          </a:p>
        </p:txBody>
      </p:sp>
      <p:pic>
        <p:nvPicPr>
          <p:cNvPr id="3" name="Picture 2">
            <a:extLst>
              <a:ext uri="{FF2B5EF4-FFF2-40B4-BE49-F238E27FC236}">
                <a16:creationId xmlns:a16="http://schemas.microsoft.com/office/drawing/2014/main" id="{4C5AF95A-0243-9516-4F54-0EFDA30C05CB}"/>
              </a:ext>
            </a:extLst>
          </p:cNvPr>
          <p:cNvPicPr>
            <a:picLocks noChangeAspect="1"/>
          </p:cNvPicPr>
          <p:nvPr/>
        </p:nvPicPr>
        <p:blipFill>
          <a:blip r:embed="rId5"/>
          <a:stretch>
            <a:fillRect/>
          </a:stretch>
        </p:blipFill>
        <p:spPr>
          <a:xfrm>
            <a:off x="119570" y="6020348"/>
            <a:ext cx="6276113" cy="1198332"/>
          </a:xfrm>
          <a:prstGeom prst="rect">
            <a:avLst/>
          </a:prstGeom>
        </p:spPr>
      </p:pic>
      <p:sp>
        <p:nvSpPr>
          <p:cNvPr id="4" name="TextBox 3">
            <a:extLst>
              <a:ext uri="{FF2B5EF4-FFF2-40B4-BE49-F238E27FC236}">
                <a16:creationId xmlns:a16="http://schemas.microsoft.com/office/drawing/2014/main" id="{6DFB867E-0513-D37A-8967-11396D809E13}"/>
              </a:ext>
            </a:extLst>
          </p:cNvPr>
          <p:cNvSpPr txBox="1"/>
          <p:nvPr/>
        </p:nvSpPr>
        <p:spPr>
          <a:xfrm>
            <a:off x="246380" y="7251145"/>
            <a:ext cx="2885746" cy="1092607"/>
          </a:xfrm>
          <a:prstGeom prst="rect">
            <a:avLst/>
          </a:prstGeom>
          <a:noFill/>
        </p:spPr>
        <p:txBody>
          <a:bodyPr wrap="square" rtlCol="0">
            <a:spAutoFit/>
          </a:bodyPr>
          <a:lstStyle/>
          <a:p>
            <a:r>
              <a:rPr lang="en-US" sz="1200" dirty="0"/>
              <a:t>(a)Which house is the cheapest?</a:t>
            </a:r>
          </a:p>
          <a:p>
            <a:endParaRPr lang="en-US" sz="1200" dirty="0"/>
          </a:p>
          <a:p>
            <a:endParaRPr lang="en-US" sz="1200" dirty="0"/>
          </a:p>
          <a:p>
            <a:endParaRPr lang="en-US" sz="500" dirty="0"/>
          </a:p>
          <a:p>
            <a:r>
              <a:rPr lang="en-US" sz="1200" dirty="0"/>
              <a:t>(b)Which house is the most expensive?</a:t>
            </a:r>
          </a:p>
          <a:p>
            <a:endParaRPr lang="en-GB" sz="1200" dirty="0"/>
          </a:p>
        </p:txBody>
      </p:sp>
      <p:sp>
        <p:nvSpPr>
          <p:cNvPr id="5" name="Rectangle 4">
            <a:extLst>
              <a:ext uri="{FF2B5EF4-FFF2-40B4-BE49-F238E27FC236}">
                <a16:creationId xmlns:a16="http://schemas.microsoft.com/office/drawing/2014/main" id="{F93FC966-B316-38B7-E378-2D071AA2CD38}"/>
              </a:ext>
            </a:extLst>
          </p:cNvPr>
          <p:cNvSpPr/>
          <p:nvPr/>
        </p:nvSpPr>
        <p:spPr>
          <a:xfrm>
            <a:off x="403670" y="7487968"/>
            <a:ext cx="6228270" cy="40361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44754EFD-F7EC-BFF5-3BF1-F71670C97672}"/>
              </a:ext>
            </a:extLst>
          </p:cNvPr>
          <p:cNvSpPr/>
          <p:nvPr/>
        </p:nvSpPr>
        <p:spPr>
          <a:xfrm>
            <a:off x="246380" y="8487471"/>
            <a:ext cx="3429000" cy="646331"/>
          </a:xfrm>
          <a:prstGeom prst="rect">
            <a:avLst/>
          </a:prstGeom>
        </p:spPr>
        <p:txBody>
          <a:bodyPr>
            <a:spAutoFit/>
          </a:bodyPr>
          <a:lstStyle/>
          <a:p>
            <a:r>
              <a:rPr lang="en-US" sz="1200" dirty="0"/>
              <a:t>(c) George has just enough money to buy the cheapest house. How much more money would he need to buy the most expensive house?</a:t>
            </a:r>
            <a:endParaRPr lang="en-GB" sz="1200" dirty="0"/>
          </a:p>
        </p:txBody>
      </p:sp>
      <p:sp>
        <p:nvSpPr>
          <p:cNvPr id="8" name="Rectangle 7">
            <a:extLst>
              <a:ext uri="{FF2B5EF4-FFF2-40B4-BE49-F238E27FC236}">
                <a16:creationId xmlns:a16="http://schemas.microsoft.com/office/drawing/2014/main" id="{87921C7E-D1D2-1A79-0E74-87611F1511F3}"/>
              </a:ext>
            </a:extLst>
          </p:cNvPr>
          <p:cNvSpPr/>
          <p:nvPr/>
        </p:nvSpPr>
        <p:spPr>
          <a:xfrm>
            <a:off x="403670" y="9107348"/>
            <a:ext cx="6228270" cy="45157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F4B97E1-F23E-33B9-7EC6-E7EE4086B326}"/>
              </a:ext>
            </a:extLst>
          </p:cNvPr>
          <p:cNvSpPr/>
          <p:nvPr/>
        </p:nvSpPr>
        <p:spPr>
          <a:xfrm>
            <a:off x="403670" y="8108363"/>
            <a:ext cx="6228270" cy="40074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372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DFFE34-4B4A-C2FE-4B29-7BAF92AE4A6B}"/>
              </a:ext>
            </a:extLst>
          </p:cNvPr>
          <p:cNvSpPr>
            <a:spLocks noGrp="1"/>
          </p:cNvSpPr>
          <p:nvPr>
            <p:ph type="sldNum" sz="quarter" idx="12"/>
          </p:nvPr>
        </p:nvSpPr>
        <p:spPr>
          <a:xfrm>
            <a:off x="5181291" y="9401174"/>
            <a:ext cx="1543050" cy="527403"/>
          </a:xfrm>
        </p:spPr>
        <p:txBody>
          <a:bodyPr/>
          <a:lstStyle/>
          <a:p>
            <a:fld id="{19F1D9CC-7119-45EC-A96C-D8C0660F3AAB}" type="slidenum">
              <a:rPr lang="en-GB" smtClean="0"/>
              <a:t>5</a:t>
            </a:fld>
            <a:endParaRPr lang="en-GB"/>
          </a:p>
        </p:txBody>
      </p:sp>
      <p:graphicFrame>
        <p:nvGraphicFramePr>
          <p:cNvPr id="3" name="Table 2">
            <a:extLst>
              <a:ext uri="{FF2B5EF4-FFF2-40B4-BE49-F238E27FC236}">
                <a16:creationId xmlns:a16="http://schemas.microsoft.com/office/drawing/2014/main" id="{DFE1B142-E531-FEC4-AD1E-0B9DDAF07203}"/>
              </a:ext>
            </a:extLst>
          </p:cNvPr>
          <p:cNvGraphicFramePr>
            <a:graphicFrameLocks noGrp="1"/>
          </p:cNvGraphicFramePr>
          <p:nvPr>
            <p:extLst>
              <p:ext uri="{D42A27DB-BD31-4B8C-83A1-F6EECF244321}">
                <p14:modId xmlns:p14="http://schemas.microsoft.com/office/powerpoint/2010/main" val="1757009961"/>
              </p:ext>
            </p:extLst>
          </p:nvPr>
        </p:nvGraphicFramePr>
        <p:xfrm>
          <a:off x="72429" y="3505945"/>
          <a:ext cx="6706180" cy="5545667"/>
        </p:xfrm>
        <a:graphic>
          <a:graphicData uri="http://schemas.openxmlformats.org/drawingml/2006/table">
            <a:tbl>
              <a:tblPr firstRow="1" bandRow="1">
                <a:tableStyleId>{5C22544A-7EE6-4342-B048-85BDC9FD1C3A}</a:tableStyleId>
              </a:tblPr>
              <a:tblGrid>
                <a:gridCol w="1154065">
                  <a:extLst>
                    <a:ext uri="{9D8B030D-6E8A-4147-A177-3AD203B41FA5}">
                      <a16:colId xmlns:a16="http://schemas.microsoft.com/office/drawing/2014/main" val="1568142362"/>
                    </a:ext>
                  </a:extLst>
                </a:gridCol>
                <a:gridCol w="1850705">
                  <a:extLst>
                    <a:ext uri="{9D8B030D-6E8A-4147-A177-3AD203B41FA5}">
                      <a16:colId xmlns:a16="http://schemas.microsoft.com/office/drawing/2014/main" val="3551711160"/>
                    </a:ext>
                  </a:extLst>
                </a:gridCol>
                <a:gridCol w="1850705">
                  <a:extLst>
                    <a:ext uri="{9D8B030D-6E8A-4147-A177-3AD203B41FA5}">
                      <a16:colId xmlns:a16="http://schemas.microsoft.com/office/drawing/2014/main" val="1712497518"/>
                    </a:ext>
                  </a:extLst>
                </a:gridCol>
                <a:gridCol w="1850705">
                  <a:extLst>
                    <a:ext uri="{9D8B030D-6E8A-4147-A177-3AD203B41FA5}">
                      <a16:colId xmlns:a16="http://schemas.microsoft.com/office/drawing/2014/main" val="886122921"/>
                    </a:ext>
                  </a:extLst>
                </a:gridCol>
              </a:tblGrid>
              <a:tr h="535097">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617271">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535097">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4.23,     4.52,     4.33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4.91,     4.21,     4.67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4.17,     4.68,     4.24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75267">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882935">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4" name="TextBox 3">
            <a:extLst>
              <a:ext uri="{FF2B5EF4-FFF2-40B4-BE49-F238E27FC236}">
                <a16:creationId xmlns:a16="http://schemas.microsoft.com/office/drawing/2014/main" id="{F9BE2B9C-B13A-ED1B-A6DB-ACAA4D6C3DC5}"/>
              </a:ext>
            </a:extLst>
          </p:cNvPr>
          <p:cNvSpPr txBox="1"/>
          <p:nvPr/>
        </p:nvSpPr>
        <p:spPr>
          <a:xfrm>
            <a:off x="1633134" y="4278551"/>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sp>
        <p:nvSpPr>
          <p:cNvPr id="5" name="TextBox 4">
            <a:extLst>
              <a:ext uri="{FF2B5EF4-FFF2-40B4-BE49-F238E27FC236}">
                <a16:creationId xmlns:a16="http://schemas.microsoft.com/office/drawing/2014/main" id="{2FE27825-7462-593A-E1D4-7CD7FAB8E019}"/>
              </a:ext>
            </a:extLst>
          </p:cNvPr>
          <p:cNvSpPr txBox="1"/>
          <p:nvPr/>
        </p:nvSpPr>
        <p:spPr>
          <a:xfrm>
            <a:off x="5033240" y="4278551"/>
            <a:ext cx="1643405" cy="276999"/>
          </a:xfrm>
          <a:prstGeom prst="rect">
            <a:avLst/>
          </a:prstGeom>
          <a:noFill/>
          <a:ln>
            <a:noFill/>
          </a:ln>
        </p:spPr>
        <p:txBody>
          <a:bodyPr wrap="square" rtlCol="0">
            <a:spAutoFit/>
          </a:bodyPr>
          <a:lstStyle/>
          <a:p>
            <a:r>
              <a:rPr lang="en-GB" sz="1200" b="1" i="1" dirty="0">
                <a:solidFill>
                  <a:srgbClr val="00B050"/>
                </a:solidFill>
              </a:rPr>
              <a:t>Example 9 – You do…</a:t>
            </a:r>
          </a:p>
        </p:txBody>
      </p:sp>
      <p:sp>
        <p:nvSpPr>
          <p:cNvPr id="11" name="TextBox 10">
            <a:extLst>
              <a:ext uri="{FF2B5EF4-FFF2-40B4-BE49-F238E27FC236}">
                <a16:creationId xmlns:a16="http://schemas.microsoft.com/office/drawing/2014/main" id="{2D43DB37-0E96-2A8B-6C2E-CEC2D7A504EB}"/>
              </a:ext>
            </a:extLst>
          </p:cNvPr>
          <p:cNvSpPr txBox="1"/>
          <p:nvPr/>
        </p:nvSpPr>
        <p:spPr>
          <a:xfrm>
            <a:off x="3328130" y="4257870"/>
            <a:ext cx="1643405" cy="276999"/>
          </a:xfrm>
          <a:prstGeom prst="rect">
            <a:avLst/>
          </a:prstGeom>
          <a:noFill/>
          <a:ln>
            <a:noFill/>
          </a:ln>
        </p:spPr>
        <p:txBody>
          <a:bodyPr wrap="square" rtlCol="0">
            <a:spAutoFit/>
          </a:bodyPr>
          <a:lstStyle/>
          <a:p>
            <a:r>
              <a:rPr lang="en-GB" sz="1200" b="1" i="1" dirty="0">
                <a:solidFill>
                  <a:schemeClr val="accent2"/>
                </a:solidFill>
              </a:rPr>
              <a:t>Example 8 – We do…</a:t>
            </a:r>
          </a:p>
        </p:txBody>
      </p:sp>
      <p:graphicFrame>
        <p:nvGraphicFramePr>
          <p:cNvPr id="14" name="Table 13">
            <a:extLst>
              <a:ext uri="{FF2B5EF4-FFF2-40B4-BE49-F238E27FC236}">
                <a16:creationId xmlns:a16="http://schemas.microsoft.com/office/drawing/2014/main" id="{FF0ABAF9-4F6E-5F4B-C051-1A000972DFDB}"/>
              </a:ext>
            </a:extLst>
          </p:cNvPr>
          <p:cNvGraphicFramePr>
            <a:graphicFrameLocks noGrp="1"/>
          </p:cNvGraphicFramePr>
          <p:nvPr>
            <p:extLst>
              <p:ext uri="{D42A27DB-BD31-4B8C-83A1-F6EECF244321}">
                <p14:modId xmlns:p14="http://schemas.microsoft.com/office/powerpoint/2010/main" val="4148123097"/>
              </p:ext>
            </p:extLst>
          </p:nvPr>
        </p:nvGraphicFramePr>
        <p:xfrm>
          <a:off x="1005628" y="2491104"/>
          <a:ext cx="2534231" cy="498474"/>
        </p:xfrm>
        <a:graphic>
          <a:graphicData uri="http://schemas.openxmlformats.org/drawingml/2006/table">
            <a:tbl>
              <a:tblPr/>
              <a:tblGrid>
                <a:gridCol w="687493">
                  <a:extLst>
                    <a:ext uri="{9D8B030D-6E8A-4147-A177-3AD203B41FA5}">
                      <a16:colId xmlns:a16="http://schemas.microsoft.com/office/drawing/2014/main" val="4222988301"/>
                    </a:ext>
                  </a:extLst>
                </a:gridCol>
                <a:gridCol w="1846738">
                  <a:extLst>
                    <a:ext uri="{9D8B030D-6E8A-4147-A177-3AD203B41FA5}">
                      <a16:colId xmlns:a16="http://schemas.microsoft.com/office/drawing/2014/main" val="3473966253"/>
                    </a:ext>
                  </a:extLst>
                </a:gridCol>
              </a:tblGrid>
              <a:tr h="162338">
                <a:tc>
                  <a:txBody>
                    <a:bodyPr/>
                    <a:lstStyle/>
                    <a:p>
                      <a:r>
                        <a:rPr lang="en-GB" sz="1000">
                          <a:solidFill>
                            <a:schemeClr val="bg1"/>
                          </a:solidFill>
                          <a:effectLst/>
                          <a:latin typeface="Calibri" panose="020F0502020204030204" pitchFamily="34" charset="0"/>
                          <a:cs typeface="Calibri" panose="020F0502020204030204" pitchFamily="34" charset="0"/>
                        </a:rPr>
                        <a:t>1 × 20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1 and 20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154864005"/>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2 × 10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2 and 10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1006170939"/>
                  </a:ext>
                </a:extLst>
              </a:tr>
              <a:tr h="162338">
                <a:tc>
                  <a:txBody>
                    <a:bodyPr/>
                    <a:lstStyle/>
                    <a:p>
                      <a:r>
                        <a:rPr lang="en-GB" sz="1000">
                          <a:solidFill>
                            <a:schemeClr val="bg1"/>
                          </a:solidFill>
                          <a:effectLst/>
                          <a:latin typeface="Calibri" panose="020F0502020204030204" pitchFamily="34" charset="0"/>
                          <a:cs typeface="Calibri" panose="020F0502020204030204" pitchFamily="34" charset="0"/>
                        </a:rPr>
                        <a:t>4 × 5 = 20</a:t>
                      </a:r>
                    </a:p>
                  </a:txBody>
                  <a:tcPr marL="6879" marR="6879" marT="6879" marB="6879" anchor="ctr">
                    <a:lnL>
                      <a:noFill/>
                    </a:lnL>
                    <a:lnR>
                      <a:noFill/>
                    </a:lnR>
                    <a:lnT>
                      <a:noFill/>
                    </a:lnT>
                    <a:lnB>
                      <a:noFill/>
                    </a:lnB>
                    <a:noFill/>
                  </a:tcPr>
                </a:tc>
                <a:tc>
                  <a:txBody>
                    <a:bodyPr/>
                    <a:lstStyle/>
                    <a:p>
                      <a:r>
                        <a:rPr lang="en-GB" sz="1000">
                          <a:solidFill>
                            <a:schemeClr val="bg1"/>
                          </a:solidFill>
                          <a:effectLst/>
                          <a:latin typeface="Calibri" panose="020F0502020204030204" pitchFamily="34" charset="0"/>
                          <a:cs typeface="Calibri" panose="020F0502020204030204" pitchFamily="34" charset="0"/>
                        </a:rPr>
                        <a:t>so 4 and 5 are both factors of 20</a:t>
                      </a:r>
                    </a:p>
                  </a:txBody>
                  <a:tcPr marL="6879" marR="6879" marT="6879" marB="6879" anchor="ctr">
                    <a:lnL>
                      <a:noFill/>
                    </a:lnL>
                    <a:lnR>
                      <a:noFill/>
                    </a:lnR>
                    <a:lnT>
                      <a:noFill/>
                    </a:lnT>
                    <a:lnB>
                      <a:noFill/>
                    </a:lnB>
                    <a:noFill/>
                  </a:tcPr>
                </a:tc>
                <a:extLst>
                  <a:ext uri="{0D108BD9-81ED-4DB2-BD59-A6C34878D82A}">
                    <a16:rowId xmlns:a16="http://schemas.microsoft.com/office/drawing/2014/main" val="2319069970"/>
                  </a:ext>
                </a:extLst>
              </a:tr>
            </a:tbl>
          </a:graphicData>
        </a:graphic>
      </p:graphicFrame>
      <p:cxnSp>
        <p:nvCxnSpPr>
          <p:cNvPr id="15" name="Straight Connector 14">
            <a:extLst>
              <a:ext uri="{FF2B5EF4-FFF2-40B4-BE49-F238E27FC236}">
                <a16:creationId xmlns:a16="http://schemas.microsoft.com/office/drawing/2014/main" id="{57D0F487-035E-B50F-1BA9-7BCC8EBA716B}"/>
              </a:ext>
            </a:extLst>
          </p:cNvPr>
          <p:cNvCxnSpPr/>
          <p:nvPr/>
        </p:nvCxnSpPr>
        <p:spPr>
          <a:xfrm flipV="1">
            <a:off x="909356" y="240041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1FBD921-8673-0DED-B723-67578DC3203A}"/>
              </a:ext>
            </a:extLst>
          </p:cNvPr>
          <p:cNvSpPr/>
          <p:nvPr/>
        </p:nvSpPr>
        <p:spPr>
          <a:xfrm>
            <a:off x="79390" y="494698"/>
            <a:ext cx="6699219" cy="3348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829720AB-CBE0-5042-18A4-449491D6A358}"/>
              </a:ext>
            </a:extLst>
          </p:cNvPr>
          <p:cNvCxnSpPr>
            <a:cxnSpLocks/>
          </p:cNvCxnSpPr>
          <p:nvPr/>
        </p:nvCxnSpPr>
        <p:spPr>
          <a:xfrm>
            <a:off x="79390" y="1955737"/>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EC0664C-0C45-281E-92B1-579A8A6A3B42}"/>
              </a:ext>
            </a:extLst>
          </p:cNvPr>
          <p:cNvCxnSpPr>
            <a:cxnSpLocks/>
            <a:stCxn id="16" idx="2"/>
            <a:endCxn id="16" idx="0"/>
          </p:cNvCxnSpPr>
          <p:nvPr/>
        </p:nvCxnSpPr>
        <p:spPr>
          <a:xfrm flipV="1">
            <a:off x="3429000" y="494698"/>
            <a:ext cx="0" cy="334823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B8AB36BF-8A8D-FFEF-9320-B75E74D9B84A}"/>
              </a:ext>
            </a:extLst>
          </p:cNvPr>
          <p:cNvSpPr txBox="1"/>
          <p:nvPr/>
        </p:nvSpPr>
        <p:spPr>
          <a:xfrm>
            <a:off x="72430" y="469822"/>
            <a:ext cx="824713" cy="461665"/>
          </a:xfrm>
          <a:prstGeom prst="rect">
            <a:avLst/>
          </a:prstGeom>
          <a:noFill/>
        </p:spPr>
        <p:txBody>
          <a:bodyPr wrap="none" rtlCol="0">
            <a:spAutoFit/>
          </a:bodyPr>
          <a:lstStyle/>
          <a:p>
            <a:r>
              <a:rPr lang="en-US" sz="1200" b="1"/>
              <a:t>Definition</a:t>
            </a:r>
          </a:p>
          <a:p>
            <a:endParaRPr lang="en-US" sz="1200"/>
          </a:p>
        </p:txBody>
      </p:sp>
      <p:sp>
        <p:nvSpPr>
          <p:cNvPr id="20" name="TextBox 19">
            <a:extLst>
              <a:ext uri="{FF2B5EF4-FFF2-40B4-BE49-F238E27FC236}">
                <a16:creationId xmlns:a16="http://schemas.microsoft.com/office/drawing/2014/main" id="{3C2DE9D7-11C4-8A4C-8EDB-FD506B39807C}"/>
              </a:ext>
            </a:extLst>
          </p:cNvPr>
          <p:cNvSpPr txBox="1"/>
          <p:nvPr/>
        </p:nvSpPr>
        <p:spPr>
          <a:xfrm>
            <a:off x="5596481" y="437436"/>
            <a:ext cx="1112228" cy="276999"/>
          </a:xfrm>
          <a:prstGeom prst="rect">
            <a:avLst/>
          </a:prstGeom>
          <a:noFill/>
        </p:spPr>
        <p:txBody>
          <a:bodyPr wrap="none" rtlCol="0">
            <a:spAutoFit/>
          </a:bodyPr>
          <a:lstStyle/>
          <a:p>
            <a:r>
              <a:rPr lang="en-US" sz="1200" b="1"/>
              <a:t>Characteristics</a:t>
            </a:r>
            <a:endParaRPr lang="en-GB" sz="1200" b="1"/>
          </a:p>
        </p:txBody>
      </p:sp>
      <p:sp>
        <p:nvSpPr>
          <p:cNvPr id="21" name="TextBox 20">
            <a:extLst>
              <a:ext uri="{FF2B5EF4-FFF2-40B4-BE49-F238E27FC236}">
                <a16:creationId xmlns:a16="http://schemas.microsoft.com/office/drawing/2014/main" id="{0F048665-F164-8D79-A715-1BF909C769FC}"/>
              </a:ext>
            </a:extLst>
          </p:cNvPr>
          <p:cNvSpPr txBox="1"/>
          <p:nvPr/>
        </p:nvSpPr>
        <p:spPr>
          <a:xfrm>
            <a:off x="87577" y="2073270"/>
            <a:ext cx="788164" cy="276999"/>
          </a:xfrm>
          <a:prstGeom prst="rect">
            <a:avLst/>
          </a:prstGeom>
          <a:noFill/>
        </p:spPr>
        <p:txBody>
          <a:bodyPr wrap="none" rtlCol="0">
            <a:spAutoFit/>
          </a:bodyPr>
          <a:lstStyle/>
          <a:p>
            <a:r>
              <a:rPr lang="en-US" sz="1200" b="1"/>
              <a:t>Examples</a:t>
            </a:r>
            <a:endParaRPr lang="en-GB" sz="1200" b="1"/>
          </a:p>
        </p:txBody>
      </p:sp>
      <p:sp>
        <p:nvSpPr>
          <p:cNvPr id="22" name="TextBox 21">
            <a:extLst>
              <a:ext uri="{FF2B5EF4-FFF2-40B4-BE49-F238E27FC236}">
                <a16:creationId xmlns:a16="http://schemas.microsoft.com/office/drawing/2014/main" id="{F724D3B7-A711-2FD9-E2FE-70C0E9522C88}"/>
              </a:ext>
            </a:extLst>
          </p:cNvPr>
          <p:cNvSpPr txBox="1"/>
          <p:nvPr/>
        </p:nvSpPr>
        <p:spPr>
          <a:xfrm>
            <a:off x="5524994" y="2089529"/>
            <a:ext cx="1172885" cy="276999"/>
          </a:xfrm>
          <a:prstGeom prst="rect">
            <a:avLst/>
          </a:prstGeom>
          <a:noFill/>
        </p:spPr>
        <p:txBody>
          <a:bodyPr wrap="none" rtlCol="0">
            <a:spAutoFit/>
          </a:bodyPr>
          <a:lstStyle/>
          <a:p>
            <a:r>
              <a:rPr lang="en-US" sz="1200" b="1"/>
              <a:t>Non - Examples</a:t>
            </a:r>
            <a:endParaRPr lang="en-GB" sz="1200" b="1"/>
          </a:p>
        </p:txBody>
      </p:sp>
      <p:sp>
        <p:nvSpPr>
          <p:cNvPr id="23" name="TextBox 22">
            <a:extLst>
              <a:ext uri="{FF2B5EF4-FFF2-40B4-BE49-F238E27FC236}">
                <a16:creationId xmlns:a16="http://schemas.microsoft.com/office/drawing/2014/main" id="{244241FE-626D-3354-8516-5071FA85AA82}"/>
              </a:ext>
            </a:extLst>
          </p:cNvPr>
          <p:cNvSpPr txBox="1"/>
          <p:nvPr/>
        </p:nvSpPr>
        <p:spPr>
          <a:xfrm>
            <a:off x="171528" y="670394"/>
            <a:ext cx="3230335" cy="1200329"/>
          </a:xfrm>
          <a:prstGeom prst="rect">
            <a:avLst/>
          </a:prstGeom>
          <a:noFill/>
        </p:spPr>
        <p:txBody>
          <a:bodyPr wrap="square" rtlCol="0">
            <a:spAutoFit/>
          </a:bodyPr>
          <a:lstStyle/>
          <a:p>
            <a:r>
              <a:rPr lang="en-GB" sz="1200" dirty="0"/>
              <a:t>A decimal is a number that is not whole, as it lies between whole numbers.</a:t>
            </a:r>
          </a:p>
          <a:p>
            <a:r>
              <a:rPr lang="en-US" sz="1200" dirty="0"/>
              <a:t>Consists of a whole and a fraction part.</a:t>
            </a:r>
          </a:p>
          <a:p>
            <a:r>
              <a:rPr lang="en-US" sz="1200" dirty="0"/>
              <a:t>In a decimal, the  fractional part is written as digits after a point rather than a fraction.</a:t>
            </a:r>
          </a:p>
          <a:p>
            <a:endParaRPr lang="en-US" sz="1200" dirty="0"/>
          </a:p>
        </p:txBody>
      </p:sp>
      <p:sp>
        <p:nvSpPr>
          <p:cNvPr id="24" name="TextBox 23">
            <a:extLst>
              <a:ext uri="{FF2B5EF4-FFF2-40B4-BE49-F238E27FC236}">
                <a16:creationId xmlns:a16="http://schemas.microsoft.com/office/drawing/2014/main" id="{5A9945A4-B9DE-B1CB-8D92-A7416605FE8A}"/>
              </a:ext>
            </a:extLst>
          </p:cNvPr>
          <p:cNvSpPr txBox="1"/>
          <p:nvPr/>
        </p:nvSpPr>
        <p:spPr>
          <a:xfrm>
            <a:off x="3469312" y="622656"/>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a:t>The whole and fraction parts are separated by a point called the decimal point.</a:t>
            </a:r>
          </a:p>
          <a:p>
            <a:pPr marL="171450" indent="-171450">
              <a:buFont typeface="Arial" panose="020B0604020202020204" pitchFamily="34" charset="0"/>
              <a:buChar char="•"/>
            </a:pPr>
            <a:r>
              <a:rPr lang="en-GB" sz="1200">
                <a:effectLst/>
                <a:ea typeface="Calibri" panose="020F0502020204030204" pitchFamily="34" charset="0"/>
                <a:cs typeface="Times New Roman" panose="02020603050405020304" pitchFamily="18" charset="0"/>
              </a:rPr>
              <a:t>Can be terminating or recurring.</a:t>
            </a:r>
          </a:p>
          <a:p>
            <a:pPr marL="171450" indent="-171450">
              <a:buFont typeface="Arial" panose="020B0604020202020204" pitchFamily="34" charset="0"/>
              <a:buChar char="•"/>
            </a:pPr>
            <a:endParaRPr lang="en-US" sz="1200">
              <a:solidFill>
                <a:srgbClr val="FF0000"/>
              </a:solidFill>
            </a:endParaRPr>
          </a:p>
        </p:txBody>
      </p:sp>
      <p:sp>
        <p:nvSpPr>
          <p:cNvPr id="25" name="TextBox 24">
            <a:extLst>
              <a:ext uri="{FF2B5EF4-FFF2-40B4-BE49-F238E27FC236}">
                <a16:creationId xmlns:a16="http://schemas.microsoft.com/office/drawing/2014/main" id="{893E25D3-FBEA-C3AB-8569-E8156D02929E}"/>
              </a:ext>
            </a:extLst>
          </p:cNvPr>
          <p:cNvSpPr txBox="1"/>
          <p:nvPr/>
        </p:nvSpPr>
        <p:spPr>
          <a:xfrm>
            <a:off x="2882869" y="1752352"/>
            <a:ext cx="1172885" cy="369332"/>
          </a:xfrm>
          <a:prstGeom prst="rect">
            <a:avLst/>
          </a:prstGeom>
          <a:solidFill>
            <a:schemeClr val="bg1"/>
          </a:solidFill>
          <a:ln>
            <a:solidFill>
              <a:schemeClr val="tx1"/>
            </a:solidFill>
          </a:ln>
        </p:spPr>
        <p:txBody>
          <a:bodyPr wrap="square" rtlCol="0">
            <a:spAutoFit/>
          </a:bodyPr>
          <a:lstStyle/>
          <a:p>
            <a:pPr algn="ctr"/>
            <a:r>
              <a:rPr lang="en-US" dirty="0"/>
              <a:t>Decimal</a:t>
            </a:r>
            <a:endParaRPr lang="en-GB"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7DE0458-BFF0-E71E-6D50-4D8FA33F0D69}"/>
                  </a:ext>
                </a:extLst>
              </p:cNvPr>
              <p:cNvSpPr txBox="1"/>
              <p:nvPr/>
            </p:nvSpPr>
            <p:spPr>
              <a:xfrm>
                <a:off x="3415065" y="2281343"/>
                <a:ext cx="3230335" cy="856966"/>
              </a:xfrm>
              <a:prstGeom prst="rect">
                <a:avLst/>
              </a:prstGeom>
              <a:noFill/>
            </p:spPr>
            <p:txBody>
              <a:bodyPr wrap="square" rtlCol="0">
                <a:spAutoFit/>
              </a:bodyPr>
              <a:lstStyle/>
              <a:p>
                <a:endParaRPr lang="en-US" sz="1200">
                  <a:solidFill>
                    <a:srgbClr val="FF0000"/>
                  </a:solidFill>
                </a:endParaRPr>
              </a:p>
              <a:p>
                <a:r>
                  <a:rPr lang="en-US" sz="1200"/>
                  <a:t>1.3           </a:t>
                </a:r>
                <a:r>
                  <a:rPr lang="en-GB" sz="1200"/>
                  <a:t>         </a:t>
                </a:r>
                <a14:m>
                  <m:oMath xmlns:m="http://schemas.openxmlformats.org/officeDocument/2006/math">
                    <m:rad>
                      <m:radPr>
                        <m:degHide m:val="on"/>
                        <m:ctrlPr>
                          <a:rPr lang="en-GB" sz="1200" i="1" smtClean="0">
                            <a:latin typeface="Cambria Math" panose="02040503050406030204" pitchFamily="18" charset="0"/>
                          </a:rPr>
                        </m:ctrlPr>
                      </m:radPr>
                      <m:deg/>
                      <m:e>
                        <m:r>
                          <a:rPr lang="en-GB" sz="1200" b="0" i="1" smtClean="0">
                            <a:latin typeface="Cambria Math" panose="02040503050406030204" pitchFamily="18" charset="0"/>
                          </a:rPr>
                          <m:t>2</m:t>
                        </m:r>
                      </m:e>
                    </m:rad>
                  </m:oMath>
                </a14:m>
                <a:endParaRPr lang="en-US" sz="1200"/>
              </a:p>
              <a:p>
                <a:r>
                  <a:rPr lang="en-US" sz="1200"/>
                  <a:t> 10</a:t>
                </a:r>
              </a:p>
              <a:p>
                <a:pPr marL="171450" indent="-171450">
                  <a:buFont typeface="Arial" panose="020B0604020202020204" pitchFamily="34" charset="0"/>
                  <a:buChar char="•"/>
                </a:pPr>
                <a:endParaRPr lang="en-US" sz="1200">
                  <a:solidFill>
                    <a:srgbClr val="FF0000"/>
                  </a:solidFill>
                </a:endParaRPr>
              </a:p>
            </p:txBody>
          </p:sp>
        </mc:Choice>
        <mc:Fallback xmlns="">
          <p:sp>
            <p:nvSpPr>
              <p:cNvPr id="26" name="TextBox 25">
                <a:extLst>
                  <a:ext uri="{FF2B5EF4-FFF2-40B4-BE49-F238E27FC236}">
                    <a16:creationId xmlns:a16="http://schemas.microsoft.com/office/drawing/2014/main" id="{07DE0458-BFF0-E71E-6D50-4D8FA33F0D69}"/>
                  </a:ext>
                </a:extLst>
              </p:cNvPr>
              <p:cNvSpPr txBox="1">
                <a:spLocks noRot="1" noChangeAspect="1" noMove="1" noResize="1" noEditPoints="1" noAdjustHandles="1" noChangeArrowheads="1" noChangeShapeType="1" noTextEdit="1"/>
              </p:cNvSpPr>
              <p:nvPr/>
            </p:nvSpPr>
            <p:spPr>
              <a:xfrm>
                <a:off x="3415065" y="2281343"/>
                <a:ext cx="3230335" cy="856966"/>
              </a:xfrm>
              <a:prstGeom prst="rect">
                <a:avLst/>
              </a:prstGeom>
              <a:blipFill>
                <a:blip r:embed="rId2"/>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11C82E92-573E-D270-5D2A-F1637132AA6B}"/>
              </a:ext>
            </a:extLst>
          </p:cNvPr>
          <p:cNvCxnSpPr>
            <a:cxnSpLocks/>
          </p:cNvCxnSpPr>
          <p:nvPr/>
        </p:nvCxnSpPr>
        <p:spPr>
          <a:xfrm flipV="1">
            <a:off x="3429000" y="2693515"/>
            <a:ext cx="337519" cy="332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DF2B521-0422-9093-62A0-CF910FB794BB}"/>
                  </a:ext>
                </a:extLst>
              </p:cNvPr>
              <p:cNvSpPr txBox="1"/>
              <p:nvPr/>
            </p:nvSpPr>
            <p:spPr>
              <a:xfrm>
                <a:off x="4639031" y="2121684"/>
                <a:ext cx="842456" cy="8085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dirty="0" smtClean="0">
                          <a:solidFill>
                            <a:schemeClr val="tx1"/>
                          </a:solidFill>
                          <a:latin typeface="Cambria Math" panose="02040503050406030204" pitchFamily="18" charset="0"/>
                        </a:rPr>
                        <m:t>38</m:t>
                      </m:r>
                    </m:oMath>
                  </m:oMathPara>
                </a14:m>
                <a:endParaRPr lang="en-GB" sz="1200" b="0">
                  <a:solidFill>
                    <a:schemeClr val="tx1"/>
                  </a:solidFill>
                </a:endParaRPr>
              </a:p>
              <a:p>
                <a:endParaRPr lang="en-US" sz="1200">
                  <a:solidFill>
                    <a:schemeClr val="tx1"/>
                  </a:solidFill>
                </a:endParaRPr>
              </a:p>
              <a:p>
                <a:pPr/>
                <a14:m>
                  <m:oMathPara xmlns:m="http://schemas.openxmlformats.org/officeDocument/2006/math">
                    <m:oMathParaPr>
                      <m:jc m:val="centerGroup"/>
                    </m:oMathParaPr>
                    <m:oMath xmlns:m="http://schemas.openxmlformats.org/officeDocument/2006/math">
                      <m:r>
                        <a:rPr lang="en-GB" sz="1200" i="1">
                          <a:solidFill>
                            <a:schemeClr val="tx1"/>
                          </a:solidFill>
                          <a:latin typeface="Cambria Math" panose="02040503050406030204" pitchFamily="18" charset="0"/>
                        </a:rPr>
                        <m:t>1</m:t>
                      </m:r>
                      <m:f>
                        <m:fPr>
                          <m:ctrlPr>
                            <a:rPr lang="en-GB" sz="1200" b="0" i="1" smtClean="0">
                              <a:solidFill>
                                <a:schemeClr val="tx1"/>
                              </a:solidFill>
                              <a:latin typeface="Cambria Math" panose="02040503050406030204" pitchFamily="18" charset="0"/>
                            </a:rPr>
                          </m:ctrlPr>
                        </m:fPr>
                        <m:num>
                          <m:r>
                            <a:rPr lang="en-GB" sz="1200" b="0" i="1" smtClean="0">
                              <a:solidFill>
                                <a:schemeClr val="tx1"/>
                              </a:solidFill>
                              <a:latin typeface="Cambria Math" panose="02040503050406030204" pitchFamily="18" charset="0"/>
                            </a:rPr>
                            <m:t>2</m:t>
                          </m:r>
                        </m:num>
                        <m:den>
                          <m:r>
                            <a:rPr lang="en-GB" sz="1200" b="0" i="1" smtClean="0">
                              <a:solidFill>
                                <a:schemeClr val="tx1"/>
                              </a:solidFill>
                              <a:latin typeface="Cambria Math" panose="02040503050406030204" pitchFamily="18" charset="0"/>
                            </a:rPr>
                            <m:t>3</m:t>
                          </m:r>
                        </m:den>
                      </m:f>
                      <m:r>
                        <a:rPr lang="en-GB" sz="1200" b="0" i="1" smtClean="0">
                          <a:solidFill>
                            <a:schemeClr val="tx1"/>
                          </a:solidFill>
                          <a:latin typeface="Cambria Math" panose="02040503050406030204" pitchFamily="18" charset="0"/>
                        </a:rPr>
                        <m:t>  </m:t>
                      </m:r>
                    </m:oMath>
                  </m:oMathPara>
                </a14:m>
                <a:endParaRPr lang="en-US" sz="1200">
                  <a:solidFill>
                    <a:schemeClr val="tx1"/>
                  </a:solidFill>
                </a:endParaRPr>
              </a:p>
            </p:txBody>
          </p:sp>
        </mc:Choice>
        <mc:Fallback xmlns="">
          <p:sp>
            <p:nvSpPr>
              <p:cNvPr id="28" name="TextBox 27">
                <a:extLst>
                  <a:ext uri="{FF2B5EF4-FFF2-40B4-BE49-F238E27FC236}">
                    <a16:creationId xmlns:a16="http://schemas.microsoft.com/office/drawing/2014/main" id="{EDF2B521-0422-9093-62A0-CF910FB794BB}"/>
                  </a:ext>
                </a:extLst>
              </p:cNvPr>
              <p:cNvSpPr txBox="1">
                <a:spLocks noRot="1" noChangeAspect="1" noMove="1" noResize="1" noEditPoints="1" noAdjustHandles="1" noChangeArrowheads="1" noChangeShapeType="1" noTextEdit="1"/>
              </p:cNvSpPr>
              <p:nvPr/>
            </p:nvSpPr>
            <p:spPr>
              <a:xfrm>
                <a:off x="4639031" y="2121684"/>
                <a:ext cx="842456" cy="808555"/>
              </a:xfrm>
              <a:prstGeom prst="rect">
                <a:avLst/>
              </a:prstGeom>
              <a:blipFill>
                <a:blip r:embed="rId3"/>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EDE42792-40BA-B522-E5D0-6C1562DCF3B9}"/>
              </a:ext>
            </a:extLst>
          </p:cNvPr>
          <p:cNvSpPr txBox="1"/>
          <p:nvPr/>
        </p:nvSpPr>
        <p:spPr>
          <a:xfrm>
            <a:off x="6164791" y="2417991"/>
            <a:ext cx="842456" cy="461665"/>
          </a:xfrm>
          <a:prstGeom prst="rect">
            <a:avLst/>
          </a:prstGeom>
          <a:noFill/>
        </p:spPr>
        <p:txBody>
          <a:bodyPr wrap="square" rtlCol="0">
            <a:spAutoFit/>
          </a:bodyPr>
          <a:lstStyle/>
          <a:p>
            <a:endParaRPr lang="en-US" sz="1200"/>
          </a:p>
          <a:p>
            <a:r>
              <a:rPr lang="en-US" sz="1200"/>
              <a:t>240</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51BBC49-0441-57A4-66FC-FB621B7E1AB9}"/>
                  </a:ext>
                </a:extLst>
              </p:cNvPr>
              <p:cNvSpPr txBox="1"/>
              <p:nvPr/>
            </p:nvSpPr>
            <p:spPr>
              <a:xfrm>
                <a:off x="5415222" y="2125573"/>
                <a:ext cx="842456" cy="623248"/>
              </a:xfrm>
              <a:prstGeom prst="rect">
                <a:avLst/>
              </a:prstGeom>
              <a:noFill/>
            </p:spPr>
            <p:txBody>
              <a:bodyPr wrap="square" rtlCol="0">
                <a:spAutoFit/>
              </a:bodyPr>
              <a:lstStyle/>
              <a:p>
                <a:endParaRPr lang="en-US" sz="1200">
                  <a:solidFill>
                    <a:schemeClr val="tx1"/>
                  </a:solidFill>
                </a:endParaRPr>
              </a:p>
              <a:p>
                <a:pPr/>
                <a14:m>
                  <m:oMathPara xmlns:m="http://schemas.openxmlformats.org/officeDocument/2006/math">
                    <m:oMathParaPr>
                      <m:jc m:val="centerGroup"/>
                    </m:oMathParaPr>
                    <m:oMath xmlns:m="http://schemas.openxmlformats.org/officeDocument/2006/math">
                      <m:f>
                        <m:fPr>
                          <m:ctrlPr>
                            <a:rPr lang="en-GB" sz="1200" b="0" i="1" smtClean="0">
                              <a:solidFill>
                                <a:schemeClr val="tx1"/>
                              </a:solidFill>
                              <a:latin typeface="Cambria Math" panose="02040503050406030204" pitchFamily="18" charset="0"/>
                            </a:rPr>
                          </m:ctrlPr>
                        </m:fPr>
                        <m:num>
                          <m:r>
                            <a:rPr lang="en-GB" sz="1200" i="1" smtClean="0">
                              <a:solidFill>
                                <a:schemeClr val="tx1"/>
                              </a:solidFill>
                              <a:latin typeface="Cambria Math" panose="02040503050406030204" pitchFamily="18" charset="0"/>
                            </a:rPr>
                            <m:t>4</m:t>
                          </m:r>
                        </m:num>
                        <m:den>
                          <m:r>
                            <a:rPr lang="en-GB" sz="1200" b="0" i="1" smtClean="0">
                              <a:solidFill>
                                <a:schemeClr val="tx1"/>
                              </a:solidFill>
                              <a:latin typeface="Cambria Math" panose="02040503050406030204" pitchFamily="18" charset="0"/>
                            </a:rPr>
                            <m:t>5</m:t>
                          </m:r>
                        </m:den>
                      </m:f>
                    </m:oMath>
                  </m:oMathPara>
                </a14:m>
                <a:endParaRPr lang="en-US" sz="1200">
                  <a:solidFill>
                    <a:schemeClr val="tx1"/>
                  </a:solidFill>
                </a:endParaRPr>
              </a:p>
            </p:txBody>
          </p:sp>
        </mc:Choice>
        <mc:Fallback xmlns="">
          <p:sp>
            <p:nvSpPr>
              <p:cNvPr id="30" name="TextBox 29">
                <a:extLst>
                  <a:ext uri="{FF2B5EF4-FFF2-40B4-BE49-F238E27FC236}">
                    <a16:creationId xmlns:a16="http://schemas.microsoft.com/office/drawing/2014/main" id="{651BBC49-0441-57A4-66FC-FB621B7E1AB9}"/>
                  </a:ext>
                </a:extLst>
              </p:cNvPr>
              <p:cNvSpPr txBox="1">
                <a:spLocks noRot="1" noChangeAspect="1" noMove="1" noResize="1" noEditPoints="1" noAdjustHandles="1" noChangeArrowheads="1" noChangeShapeType="1" noTextEdit="1"/>
              </p:cNvSpPr>
              <p:nvPr/>
            </p:nvSpPr>
            <p:spPr>
              <a:xfrm>
                <a:off x="5415222" y="2125573"/>
                <a:ext cx="842456" cy="623248"/>
              </a:xfrm>
              <a:prstGeom prst="rect">
                <a:avLst/>
              </a:prstGeom>
              <a:blipFill>
                <a:blip r:embed="rId4"/>
                <a:stretch>
                  <a:fillRect b="-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B2C783A-FB97-DAE3-588B-B0D5C2223998}"/>
                  </a:ext>
                </a:extLst>
              </p:cNvPr>
              <p:cNvSpPr txBox="1"/>
              <p:nvPr/>
            </p:nvSpPr>
            <p:spPr>
              <a:xfrm>
                <a:off x="47040" y="2178185"/>
                <a:ext cx="3322366" cy="1302601"/>
              </a:xfrm>
              <a:prstGeom prst="rect">
                <a:avLst/>
              </a:prstGeom>
              <a:noFill/>
            </p:spPr>
            <p:txBody>
              <a:bodyPr wrap="square" rtlCol="0">
                <a:spAutoFit/>
              </a:bodyPr>
              <a:lstStyle/>
              <a:p>
                <a:pPr>
                  <a:lnSpc>
                    <a:spcPct val="150000"/>
                  </a:lnSpc>
                  <a:spcAft>
                    <a:spcPts val="800"/>
                  </a:spcAft>
                </a:pPr>
                <a:r>
                  <a:rPr lang="en-US" sz="1100">
                    <a:effectLst/>
                    <a:ea typeface="Calibri" panose="020F0502020204030204" pitchFamily="34" charset="0"/>
                    <a:cs typeface="Times New Roman" panose="02020603050405020304" pitchFamily="18" charset="0"/>
                  </a:rPr>
                  <a:t>    0.2      	</a:t>
                </a:r>
                <a:r>
                  <a:rPr lang="en-GB" sz="1100">
                    <a:effectLst/>
                    <a:ea typeface="Calibri" panose="020F0502020204030204" pitchFamily="34" charset="0"/>
                    <a:cs typeface="Times New Roman" panose="02020603050405020304" pitchFamily="18" charset="0"/>
                  </a:rPr>
                  <a:t> 123.43 </a:t>
                </a:r>
                <a:r>
                  <a:rPr lang="en-US" sz="1100">
                    <a:effectLst/>
                    <a:ea typeface="Calibri" panose="020F0502020204030204" pitchFamily="34" charset="0"/>
                    <a:cs typeface="Times New Roman" panose="02020603050405020304" pitchFamily="18" charset="0"/>
                  </a:rPr>
                  <a:t>	      0.278	                   </a:t>
                </a:r>
              </a:p>
              <a:p>
                <a:pPr>
                  <a:lnSpc>
                    <a:spcPct val="150000"/>
                  </a:lnSpc>
                  <a:spcAft>
                    <a:spcPts val="800"/>
                  </a:spcAft>
                </a:pPr>
                <a:r>
                  <a:rPr lang="en-US" sz="1100">
                    <a:effectLst/>
                    <a:ea typeface="Calibri" panose="020F0502020204030204" pitchFamily="34" charset="0"/>
                    <a:cs typeface="Times New Roman" panose="02020603050405020304" pitchFamily="18" charset="0"/>
                  </a:rPr>
                  <a:t>  1.87	        12.7657     	10000.1           </a:t>
                </a:r>
                <a14:m>
                  <m:oMath xmlns:m="http://schemas.openxmlformats.org/officeDocument/2006/math">
                    <m:r>
                      <a:rPr lang="en-US" sz="1100" i="1" smtClean="0">
                        <a:effectLst/>
                        <a:latin typeface="Cambria Math" panose="02040503050406030204" pitchFamily="18" charset="0"/>
                        <a:ea typeface="Calibri" panose="020F0502020204030204" pitchFamily="34" charset="0"/>
                        <a:cs typeface="Times New Roman" panose="02020603050405020304" pitchFamily="18" charset="0"/>
                      </a:rPr>
                      <m:t>0.</m:t>
                    </m:r>
                    <m:acc>
                      <m:accPr>
                        <m:chr m:val="̇"/>
                        <m:ctrlPr>
                          <a:rPr lang="en-GB" sz="1100" i="1">
                            <a:effectLst/>
                            <a:latin typeface="Cambria Math" panose="02040503050406030204" pitchFamily="18"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6</m:t>
                        </m:r>
                      </m:e>
                    </m:acc>
                  </m:oMath>
                </a14:m>
                <a:endParaRPr lang="en-GB" sz="1100">
                  <a:effectLst/>
                  <a:ea typeface="Calibri" panose="020F0502020204030204" pitchFamily="34" charset="0"/>
                  <a:cs typeface="Times New Roman" panose="02020603050405020304" pitchFamily="18" charset="0"/>
                </a:endParaRPr>
              </a:p>
              <a:p>
                <a:pPr>
                  <a:lnSpc>
                    <a:spcPct val="150000"/>
                  </a:lnSpc>
                  <a:spcAft>
                    <a:spcPts val="800"/>
                  </a:spcAft>
                </a:pPr>
                <a:r>
                  <a:rPr lang="en-US" sz="1100">
                    <a:effectLst/>
                    <a:ea typeface="Calibri" panose="020F0502020204030204" pitchFamily="34" charset="0"/>
                    <a:cs typeface="Times New Roman" panose="02020603050405020304" pitchFamily="18" charset="0"/>
                  </a:rPr>
                  <a:t>4.0000000001	 	80.987654321                 -3.43  </a:t>
                </a:r>
                <a14:m>
                  <m:oMath xmlns:m="http://schemas.openxmlformats.org/officeDocument/2006/math">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0" smtClean="0">
                        <a:effectLst/>
                        <a:latin typeface="Cambria Math" panose="02040503050406030204" pitchFamily="18" charset="0"/>
                        <a:cs typeface="Times New Roman" panose="02020603050405020304" pitchFamily="18" charset="0"/>
                      </a:rPr>
                      <m:t>                              3</m:t>
                    </m:r>
                    <m:r>
                      <a:rPr lang="en-GB" sz="1100" b="0" i="1" smtClean="0">
                        <a:effectLst/>
                        <a:latin typeface="Cambria Math" panose="02040503050406030204" pitchFamily="18" charset="0"/>
                        <a:cs typeface="Times New Roman" panose="02020603050405020304" pitchFamily="18" charset="0"/>
                      </a:rPr>
                      <m:t>.</m:t>
                    </m:r>
                    <m:acc>
                      <m:accPr>
                        <m:chr m:val="̇"/>
                        <m:ctrlPr>
                          <a:rPr lang="en-US" sz="110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2</m:t>
                        </m:r>
                      </m:e>
                    </m:acc>
                    <m:r>
                      <a:rPr lang="en-GB" sz="1100" b="0" i="1" smtClean="0">
                        <a:effectLst/>
                        <a:latin typeface="Cambria Math" panose="02040503050406030204" pitchFamily="18" charset="0"/>
                        <a:cs typeface="Times New Roman" panose="02020603050405020304" pitchFamily="18" charset="0"/>
                      </a:rPr>
                      <m:t>746</m:t>
                    </m:r>
                    <m:acc>
                      <m:accPr>
                        <m:chr m:val="̇"/>
                        <m:ctrlPr>
                          <a:rPr lang="en-GB" sz="1100" b="0" i="1" smtClean="0">
                            <a:effectLst/>
                            <a:latin typeface="Cambria Math" panose="02040503050406030204" pitchFamily="18" charset="0"/>
                            <a:cs typeface="Times New Roman" panose="02020603050405020304" pitchFamily="18" charset="0"/>
                          </a:rPr>
                        </m:ctrlPr>
                      </m:accPr>
                      <m:e>
                        <m:r>
                          <a:rPr lang="en-GB" sz="1100" b="0" i="1" smtClean="0">
                            <a:effectLst/>
                            <a:latin typeface="Cambria Math" panose="02040503050406030204" pitchFamily="18" charset="0"/>
                            <a:cs typeface="Times New Roman" panose="02020603050405020304" pitchFamily="18" charset="0"/>
                          </a:rPr>
                          <m:t>4</m:t>
                        </m:r>
                      </m:e>
                    </m:acc>
                  </m:oMath>
                </a14:m>
                <a:r>
                  <a:rPr lang="en-GB" sz="1100">
                    <a:effectLst/>
                    <a:ea typeface="Calibri" panose="020F0502020204030204" pitchFamily="34" charset="0"/>
                    <a:cs typeface="Times New Roman" panose="02020603050405020304" pitchFamily="18" charset="0"/>
                  </a:rPr>
                  <a:t>                 </a:t>
                </a:r>
              </a:p>
            </p:txBody>
          </p:sp>
        </mc:Choice>
        <mc:Fallback xmlns="">
          <p:sp>
            <p:nvSpPr>
              <p:cNvPr id="31" name="TextBox 30">
                <a:extLst>
                  <a:ext uri="{FF2B5EF4-FFF2-40B4-BE49-F238E27FC236}">
                    <a16:creationId xmlns:a16="http://schemas.microsoft.com/office/drawing/2014/main" id="{BB2C783A-FB97-DAE3-588B-B0D5C2223998}"/>
                  </a:ext>
                </a:extLst>
              </p:cNvPr>
              <p:cNvSpPr txBox="1">
                <a:spLocks noRot="1" noChangeAspect="1" noMove="1" noResize="1" noEditPoints="1" noAdjustHandles="1" noChangeArrowheads="1" noChangeShapeType="1" noTextEdit="1"/>
              </p:cNvSpPr>
              <p:nvPr/>
            </p:nvSpPr>
            <p:spPr>
              <a:xfrm>
                <a:off x="47040" y="2178185"/>
                <a:ext cx="3322366" cy="1302601"/>
              </a:xfrm>
              <a:prstGeom prst="rect">
                <a:avLst/>
              </a:prstGeom>
              <a:blipFill>
                <a:blip r:embed="rId5"/>
                <a:stretch>
                  <a:fillRect r="-1284" b="-23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9ED09D5-2216-2445-0994-0AC3584DF2E3}"/>
                  </a:ext>
                </a:extLst>
              </p:cNvPr>
              <p:cNvSpPr txBox="1"/>
              <p:nvPr/>
            </p:nvSpPr>
            <p:spPr>
              <a:xfrm>
                <a:off x="3450136" y="2670073"/>
                <a:ext cx="3230335" cy="823302"/>
              </a:xfrm>
              <a:prstGeom prst="rect">
                <a:avLst/>
              </a:prstGeom>
              <a:noFill/>
            </p:spPr>
            <p:txBody>
              <a:bodyPr wrap="square" rtlCol="0">
                <a:spAutoFit/>
              </a:bodyPr>
              <a:lstStyle/>
              <a:p>
                <a:endParaRPr lang="en-US" sz="1200">
                  <a:solidFill>
                    <a:schemeClr val="tx1"/>
                  </a:solidFill>
                </a:endParaRPr>
              </a:p>
              <a:p>
                <a:endParaRPr lang="en-US" sz="1200"/>
              </a:p>
              <a:p>
                <a:pPr/>
                <a14:m>
                  <m:oMathPara xmlns:m="http://schemas.openxmlformats.org/officeDocument/2006/math">
                    <m:oMathParaPr>
                      <m:jc m:val="centerGroup"/>
                    </m:oMathParaPr>
                    <m:oMath xmlns:m="http://schemas.openxmlformats.org/officeDocument/2006/math">
                      <m:r>
                        <m:rPr>
                          <m:nor/>
                        </m:rPr>
                        <a:rPr lang="en-US" sz="1200" dirty="0"/>
                        <m:t>0,            −2,             4,             12323,            −19</m:t>
                      </m:r>
                    </m:oMath>
                  </m:oMathPara>
                </a14:m>
                <a:endParaRPr lang="en-US" sz="1200"/>
              </a:p>
              <a:p>
                <a:pPr marL="171450" indent="-171450">
                  <a:buFont typeface="Arial" panose="020B0604020202020204" pitchFamily="34" charset="0"/>
                  <a:buChar char="•"/>
                </a:pPr>
                <a:endParaRPr lang="en-US" sz="1200">
                  <a:solidFill>
                    <a:schemeClr val="tx1"/>
                  </a:solidFill>
                </a:endParaRPr>
              </a:p>
            </p:txBody>
          </p:sp>
        </mc:Choice>
        <mc:Fallback xmlns="">
          <p:sp>
            <p:nvSpPr>
              <p:cNvPr id="32" name="TextBox 31">
                <a:extLst>
                  <a:ext uri="{FF2B5EF4-FFF2-40B4-BE49-F238E27FC236}">
                    <a16:creationId xmlns:a16="http://schemas.microsoft.com/office/drawing/2014/main" id="{59ED09D5-2216-2445-0994-0AC3584DF2E3}"/>
                  </a:ext>
                </a:extLst>
              </p:cNvPr>
              <p:cNvSpPr txBox="1">
                <a:spLocks noRot="1" noChangeAspect="1" noMove="1" noResize="1" noEditPoints="1" noAdjustHandles="1" noChangeArrowheads="1" noChangeShapeType="1" noTextEdit="1"/>
              </p:cNvSpPr>
              <p:nvPr/>
            </p:nvSpPr>
            <p:spPr>
              <a:xfrm>
                <a:off x="3450136" y="2670073"/>
                <a:ext cx="3230335" cy="823302"/>
              </a:xfrm>
              <a:prstGeom prst="rect">
                <a:avLst/>
              </a:prstGeom>
              <a:blipFill>
                <a:blip r:embed="rId6"/>
                <a:stretch>
                  <a:fillRect/>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D1C95979-02D5-2C60-3A34-F0C0783C6EC1}"/>
              </a:ext>
            </a:extLst>
          </p:cNvPr>
          <p:cNvSpPr/>
          <p:nvPr/>
        </p:nvSpPr>
        <p:spPr>
          <a:xfrm>
            <a:off x="0" y="53658"/>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Ordering decimals</a:t>
            </a:r>
            <a:endParaRPr lang="en-GB" sz="1200" dirty="0">
              <a:solidFill>
                <a:schemeClr val="bg1"/>
              </a:solidFill>
            </a:endParaRPr>
          </a:p>
        </p:txBody>
      </p:sp>
      <p:sp>
        <p:nvSpPr>
          <p:cNvPr id="12" name="TextBox 11">
            <a:extLst>
              <a:ext uri="{FF2B5EF4-FFF2-40B4-BE49-F238E27FC236}">
                <a16:creationId xmlns:a16="http://schemas.microsoft.com/office/drawing/2014/main" id="{14DF3739-D866-A88A-494A-2E670D10F0F3}"/>
              </a:ext>
            </a:extLst>
          </p:cNvPr>
          <p:cNvSpPr txBox="1"/>
          <p:nvPr/>
        </p:nvSpPr>
        <p:spPr>
          <a:xfrm>
            <a:off x="181355" y="3862496"/>
            <a:ext cx="5014318" cy="461665"/>
          </a:xfrm>
          <a:prstGeom prst="rect">
            <a:avLst/>
          </a:prstGeom>
          <a:noFill/>
        </p:spPr>
        <p:txBody>
          <a:bodyPr wrap="square" rtlCol="0">
            <a:spAutoFit/>
          </a:bodyPr>
          <a:lstStyle/>
          <a:p>
            <a:r>
              <a:rPr lang="en-GB" sz="1200" dirty="0"/>
              <a:t>For the following questions, list the numbers in </a:t>
            </a:r>
            <a:r>
              <a:rPr lang="en-GB" sz="1200" b="1" dirty="0"/>
              <a:t>ascending</a:t>
            </a:r>
            <a:r>
              <a:rPr lang="en-GB" sz="1200" dirty="0"/>
              <a:t> order.</a:t>
            </a:r>
          </a:p>
          <a:p>
            <a:endParaRPr lang="en-US" sz="1200" dirty="0"/>
          </a:p>
        </p:txBody>
      </p:sp>
    </p:spTree>
    <p:extLst>
      <p:ext uri="{BB962C8B-B14F-4D97-AF65-F5344CB8AC3E}">
        <p14:creationId xmlns:p14="http://schemas.microsoft.com/office/powerpoint/2010/main" val="794686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FA839B12-4270-C4DA-41C3-AB8F9F0C8EC4}"/>
              </a:ext>
            </a:extLst>
          </p:cNvPr>
          <p:cNvSpPr>
            <a:spLocks noGrp="1"/>
          </p:cNvSpPr>
          <p:nvPr>
            <p:ph type="sldNum" sz="quarter" idx="12"/>
          </p:nvPr>
        </p:nvSpPr>
        <p:spPr>
          <a:xfrm>
            <a:off x="5314950" y="9552934"/>
            <a:ext cx="1543050" cy="527403"/>
          </a:xfrm>
        </p:spPr>
        <p:txBody>
          <a:bodyPr/>
          <a:lstStyle/>
          <a:p>
            <a:fld id="{19F1D9CC-7119-45EC-A96C-D8C0660F3AAB}" type="slidenum">
              <a:rPr lang="en-GB" smtClean="0"/>
              <a:t>6</a:t>
            </a:fld>
            <a:endParaRPr lang="en-GB"/>
          </a:p>
        </p:txBody>
      </p:sp>
      <p:graphicFrame>
        <p:nvGraphicFramePr>
          <p:cNvPr id="7" name="Table 6">
            <a:extLst>
              <a:ext uri="{FF2B5EF4-FFF2-40B4-BE49-F238E27FC236}">
                <a16:creationId xmlns:a16="http://schemas.microsoft.com/office/drawing/2014/main" id="{BE10176A-C700-1D59-E89C-644949C1D6C9}"/>
              </a:ext>
            </a:extLst>
          </p:cNvPr>
          <p:cNvGraphicFramePr>
            <a:graphicFrameLocks noGrp="1"/>
          </p:cNvGraphicFramePr>
          <p:nvPr>
            <p:extLst>
              <p:ext uri="{D42A27DB-BD31-4B8C-83A1-F6EECF244321}">
                <p14:modId xmlns:p14="http://schemas.microsoft.com/office/powerpoint/2010/main" val="1678816730"/>
              </p:ext>
            </p:extLst>
          </p:nvPr>
        </p:nvGraphicFramePr>
        <p:xfrm>
          <a:off x="122077" y="353065"/>
          <a:ext cx="6572478" cy="4715499"/>
        </p:xfrm>
        <a:graphic>
          <a:graphicData uri="http://schemas.openxmlformats.org/drawingml/2006/table">
            <a:tbl>
              <a:tblPr firstRow="1" bandRow="1">
                <a:tableStyleId>{5C22544A-7EE6-4342-B048-85BDC9FD1C3A}</a:tableStyleId>
              </a:tblPr>
              <a:tblGrid>
                <a:gridCol w="2887341">
                  <a:extLst>
                    <a:ext uri="{9D8B030D-6E8A-4147-A177-3AD203B41FA5}">
                      <a16:colId xmlns:a16="http://schemas.microsoft.com/office/drawing/2014/main" val="1568142362"/>
                    </a:ext>
                  </a:extLst>
                </a:gridCol>
                <a:gridCol w="3685137">
                  <a:extLst>
                    <a:ext uri="{9D8B030D-6E8A-4147-A177-3AD203B41FA5}">
                      <a16:colId xmlns:a16="http://schemas.microsoft.com/office/drawing/2014/main" val="3993666970"/>
                    </a:ext>
                  </a:extLst>
                </a:gridCol>
              </a:tblGrid>
              <a:tr h="405552">
                <a:tc gridSpan="2">
                  <a:txBody>
                    <a:bodyPr/>
                    <a:lstStyle/>
                    <a:p>
                      <a:pPr algn="ctr"/>
                      <a:endParaRPr lang="en-GB" sz="1200" b="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extLst>
                  <a:ext uri="{0D108BD9-81ED-4DB2-BD59-A6C34878D82A}">
                    <a16:rowId xmlns:a16="http://schemas.microsoft.com/office/drawing/2014/main" val="506582307"/>
                  </a:ext>
                </a:extLst>
              </a:tr>
              <a:tr h="478883">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baseline="0" dirty="0">
                          <a:solidFill>
                            <a:schemeClr val="tx1"/>
                          </a:solidFill>
                          <a:latin typeface="+mn-lt"/>
                        </a:rPr>
                        <a:t>15.</a:t>
                      </a:r>
                      <a:r>
                        <a:rPr lang="en-US" sz="1200" baseline="0" dirty="0">
                          <a:solidFill>
                            <a:schemeClr val="tx1"/>
                          </a:solidFill>
                          <a:latin typeface="+mn-lt"/>
                        </a:rPr>
                        <a:t>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9213032"/>
                  </a:ext>
                </a:extLst>
              </a:tr>
              <a:tr h="478883">
                <a:tc>
                  <a:txBody>
                    <a:bodyPr/>
                    <a:lstStyle/>
                    <a:p>
                      <a:r>
                        <a:rPr lang="en-US" sz="1200" baseline="0" dirty="0">
                          <a:solidFill>
                            <a:schemeClr val="tx1"/>
                          </a:solidFill>
                          <a:latin typeface="+mn-lt"/>
                        </a:rPr>
                        <a:t>a) </a:t>
                      </a:r>
                      <a:r>
                        <a:rPr lang="en-GB" sz="1200" dirty="0"/>
                        <a:t>0.93, 0.96, 0.91, 0.99, 0.95</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8186665"/>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b) </a:t>
                      </a:r>
                      <a:r>
                        <a:rPr lang="en-GB" sz="1200" dirty="0"/>
                        <a:t>1.47, 1.49, 1.40, 1.43, 1.41</a:t>
                      </a:r>
                      <a:endParaRPr lang="en-US" sz="1200" baseline="0" dirty="0">
                        <a:solidFill>
                          <a:schemeClr val="tx1"/>
                        </a:solidFill>
                        <a:latin typeface="+mn-lt"/>
                      </a:endParaRPr>
                    </a:p>
                    <a:p>
                      <a:pPr algn="ct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78883">
                <a:tc>
                  <a:txBody>
                    <a:bodyPr/>
                    <a:lstStyle/>
                    <a:p>
                      <a:pPr algn="just"/>
                      <a:r>
                        <a:rPr lang="en-US" sz="1200" baseline="0" dirty="0">
                          <a:solidFill>
                            <a:schemeClr val="tx1"/>
                          </a:solidFill>
                          <a:latin typeface="+mn-lt"/>
                        </a:rPr>
                        <a:t>c) </a:t>
                      </a:r>
                      <a:r>
                        <a:rPr lang="en-GB" sz="1200" dirty="0"/>
                        <a:t>2.36, 2.38, 2.39, 2.33, 2.37</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d)</a:t>
                      </a:r>
                      <a:r>
                        <a:rPr lang="en-GB" sz="1200" dirty="0"/>
                        <a:t> 0.16, 0.18, 0.12, 0.11, 0.15</a:t>
                      </a: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732075"/>
                  </a:ext>
                </a:extLst>
              </a:tr>
              <a:tr h="478883">
                <a:tc>
                  <a:txBody>
                    <a:bodyPr/>
                    <a:lstStyle/>
                    <a:p>
                      <a:r>
                        <a:rPr lang="en-US" sz="1200" baseline="0" dirty="0">
                          <a:solidFill>
                            <a:schemeClr val="tx1"/>
                          </a:solidFill>
                          <a:latin typeface="+mn-lt"/>
                        </a:rPr>
                        <a:t>e) </a:t>
                      </a:r>
                      <a:r>
                        <a:rPr lang="en-GB" sz="1200" dirty="0"/>
                        <a:t>3.45, 3.52, 3.41, 3.58, 3.49</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83353"/>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f) </a:t>
                      </a:r>
                      <a:r>
                        <a:rPr lang="en-GB" sz="1200" dirty="0"/>
                        <a:t>4.67, 4.82, 4.46, 4.29, 4.65</a:t>
                      </a:r>
                      <a:endParaRPr lang="en-US" sz="12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7831125"/>
                  </a:ext>
                </a:extLst>
              </a:tr>
              <a:tr h="478883">
                <a:tc>
                  <a:txBody>
                    <a:bodyPr/>
                    <a:lstStyle/>
                    <a:p>
                      <a:r>
                        <a:rPr lang="en-US" sz="1200" baseline="0" dirty="0">
                          <a:solidFill>
                            <a:schemeClr val="tx1"/>
                          </a:solidFill>
                          <a:latin typeface="+mn-lt"/>
                        </a:rPr>
                        <a:t>g) </a:t>
                      </a:r>
                      <a:r>
                        <a:rPr lang="en-GB" sz="1200" dirty="0"/>
                        <a:t>1.56, 1.78, 1.11, 1.03, 1.43</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2838357"/>
                  </a:ext>
                </a:extLst>
              </a:tr>
              <a:tr h="478883">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 h) </a:t>
                      </a:r>
                      <a:r>
                        <a:rPr lang="en-GB" sz="1200" dirty="0"/>
                        <a:t>2.64, 2.03, 2.17, 2.80, 2.54</a:t>
                      </a:r>
                      <a:endParaRPr lang="en-US" sz="12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2970809"/>
                  </a:ext>
                </a:extLst>
              </a:tr>
            </a:tbl>
          </a:graphicData>
        </a:graphic>
      </p:graphicFrame>
      <p:sp>
        <p:nvSpPr>
          <p:cNvPr id="8" name="Rectangle 7">
            <a:extLst>
              <a:ext uri="{FF2B5EF4-FFF2-40B4-BE49-F238E27FC236}">
                <a16:creationId xmlns:a16="http://schemas.microsoft.com/office/drawing/2014/main" id="{4957A89E-4FD9-0DFC-8DFF-EEE1C6A6B19F}"/>
              </a:ext>
            </a:extLst>
          </p:cNvPr>
          <p:cNvSpPr/>
          <p:nvPr/>
        </p:nvSpPr>
        <p:spPr>
          <a:xfrm>
            <a:off x="122077" y="94514"/>
            <a:ext cx="1524705"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Independent Practice</a:t>
            </a:r>
          </a:p>
        </p:txBody>
      </p:sp>
      <p:sp>
        <p:nvSpPr>
          <p:cNvPr id="13" name="TextBox 12">
            <a:extLst>
              <a:ext uri="{FF2B5EF4-FFF2-40B4-BE49-F238E27FC236}">
                <a16:creationId xmlns:a16="http://schemas.microsoft.com/office/drawing/2014/main" id="{BFD8DB7E-0A52-BD41-64E6-0A31DCC88095}"/>
              </a:ext>
            </a:extLst>
          </p:cNvPr>
          <p:cNvSpPr txBox="1"/>
          <p:nvPr/>
        </p:nvSpPr>
        <p:spPr>
          <a:xfrm>
            <a:off x="1646782" y="5156888"/>
            <a:ext cx="1410704" cy="276999"/>
          </a:xfrm>
          <a:prstGeom prst="rect">
            <a:avLst/>
          </a:prstGeom>
          <a:noFill/>
          <a:ln>
            <a:noFill/>
          </a:ln>
        </p:spPr>
        <p:txBody>
          <a:bodyPr wrap="square" rtlCol="0">
            <a:spAutoFit/>
          </a:bodyPr>
          <a:lstStyle/>
          <a:p>
            <a:r>
              <a:rPr lang="en-GB" sz="1200" b="1" i="1" dirty="0">
                <a:solidFill>
                  <a:srgbClr val="FF0000"/>
                </a:solidFill>
              </a:rPr>
              <a:t>Example 7 - I do…</a:t>
            </a:r>
          </a:p>
        </p:txBody>
      </p:sp>
      <p:graphicFrame>
        <p:nvGraphicFramePr>
          <p:cNvPr id="36" name="Table 35">
            <a:extLst>
              <a:ext uri="{FF2B5EF4-FFF2-40B4-BE49-F238E27FC236}">
                <a16:creationId xmlns:a16="http://schemas.microsoft.com/office/drawing/2014/main" id="{1D1F945B-D3B0-8E72-5B33-D6F4CA066286}"/>
              </a:ext>
            </a:extLst>
          </p:cNvPr>
          <p:cNvGraphicFramePr>
            <a:graphicFrameLocks noGrp="1"/>
          </p:cNvGraphicFramePr>
          <p:nvPr>
            <p:extLst>
              <p:ext uri="{D42A27DB-BD31-4B8C-83A1-F6EECF244321}">
                <p14:modId xmlns:p14="http://schemas.microsoft.com/office/powerpoint/2010/main" val="1255130035"/>
              </p:ext>
            </p:extLst>
          </p:nvPr>
        </p:nvGraphicFramePr>
        <p:xfrm>
          <a:off x="122077" y="5136207"/>
          <a:ext cx="6523979" cy="4554017"/>
        </p:xfrm>
        <a:graphic>
          <a:graphicData uri="http://schemas.openxmlformats.org/drawingml/2006/table">
            <a:tbl>
              <a:tblPr firstRow="1" bandRow="1">
                <a:tableStyleId>{5C22544A-7EE6-4342-B048-85BDC9FD1C3A}</a:tableStyleId>
              </a:tblPr>
              <a:tblGrid>
                <a:gridCol w="1122710">
                  <a:extLst>
                    <a:ext uri="{9D8B030D-6E8A-4147-A177-3AD203B41FA5}">
                      <a16:colId xmlns:a16="http://schemas.microsoft.com/office/drawing/2014/main" val="1568142362"/>
                    </a:ext>
                  </a:extLst>
                </a:gridCol>
                <a:gridCol w="1800423">
                  <a:extLst>
                    <a:ext uri="{9D8B030D-6E8A-4147-A177-3AD203B41FA5}">
                      <a16:colId xmlns:a16="http://schemas.microsoft.com/office/drawing/2014/main" val="3551711160"/>
                    </a:ext>
                  </a:extLst>
                </a:gridCol>
                <a:gridCol w="1800423">
                  <a:extLst>
                    <a:ext uri="{9D8B030D-6E8A-4147-A177-3AD203B41FA5}">
                      <a16:colId xmlns:a16="http://schemas.microsoft.com/office/drawing/2014/main" val="1712497518"/>
                    </a:ext>
                  </a:extLst>
                </a:gridCol>
                <a:gridCol w="1800423">
                  <a:extLst>
                    <a:ext uri="{9D8B030D-6E8A-4147-A177-3AD203B41FA5}">
                      <a16:colId xmlns:a16="http://schemas.microsoft.com/office/drawing/2014/main" val="886122921"/>
                    </a:ext>
                  </a:extLst>
                </a:gridCol>
              </a:tblGrid>
              <a:tr h="424530">
                <a:tc grid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For the following questions, use this number line to help you place the numbers in ascending order</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1934154"/>
                  </a:ext>
                </a:extLst>
              </a:tr>
              <a:tr h="489726">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45690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4.12,     4.21,     4.01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4.12,     4.31,     4.14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4.03,     4.31,     4.23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567121">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1" baseline="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sz="1100" baseline="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14408">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highest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7" name="TextBox 36">
            <a:extLst>
              <a:ext uri="{FF2B5EF4-FFF2-40B4-BE49-F238E27FC236}">
                <a16:creationId xmlns:a16="http://schemas.microsoft.com/office/drawing/2014/main" id="{CB004DE4-2571-A9B2-5E30-4C579F5B665C}"/>
              </a:ext>
            </a:extLst>
          </p:cNvPr>
          <p:cNvSpPr txBox="1"/>
          <p:nvPr/>
        </p:nvSpPr>
        <p:spPr>
          <a:xfrm>
            <a:off x="1520125" y="5829312"/>
            <a:ext cx="1410704" cy="276999"/>
          </a:xfrm>
          <a:prstGeom prst="rect">
            <a:avLst/>
          </a:prstGeom>
          <a:noFill/>
          <a:ln>
            <a:noFill/>
          </a:ln>
        </p:spPr>
        <p:txBody>
          <a:bodyPr wrap="square" rtlCol="0">
            <a:spAutoFit/>
          </a:bodyPr>
          <a:lstStyle/>
          <a:p>
            <a:r>
              <a:rPr lang="en-GB" sz="1200" b="1" i="1" dirty="0">
                <a:solidFill>
                  <a:srgbClr val="FF0000"/>
                </a:solidFill>
              </a:rPr>
              <a:t>Example 10 - I do…</a:t>
            </a:r>
          </a:p>
        </p:txBody>
      </p:sp>
      <p:sp>
        <p:nvSpPr>
          <p:cNvPr id="38" name="TextBox 37">
            <a:extLst>
              <a:ext uri="{FF2B5EF4-FFF2-40B4-BE49-F238E27FC236}">
                <a16:creationId xmlns:a16="http://schemas.microsoft.com/office/drawing/2014/main" id="{73B834BB-4F8F-8262-C120-9D0EC2A2A0FB}"/>
              </a:ext>
            </a:extLst>
          </p:cNvPr>
          <p:cNvSpPr txBox="1"/>
          <p:nvPr/>
        </p:nvSpPr>
        <p:spPr>
          <a:xfrm>
            <a:off x="5002651" y="5829311"/>
            <a:ext cx="1643405" cy="276999"/>
          </a:xfrm>
          <a:prstGeom prst="rect">
            <a:avLst/>
          </a:prstGeom>
          <a:noFill/>
          <a:ln>
            <a:noFill/>
          </a:ln>
        </p:spPr>
        <p:txBody>
          <a:bodyPr wrap="square" rtlCol="0">
            <a:spAutoFit/>
          </a:bodyPr>
          <a:lstStyle/>
          <a:p>
            <a:r>
              <a:rPr lang="en-GB" sz="1200" b="1" i="1" dirty="0">
                <a:solidFill>
                  <a:srgbClr val="00B050"/>
                </a:solidFill>
              </a:rPr>
              <a:t>Example 12 – You do…</a:t>
            </a:r>
          </a:p>
        </p:txBody>
      </p:sp>
      <p:sp>
        <p:nvSpPr>
          <p:cNvPr id="39" name="TextBox 38">
            <a:extLst>
              <a:ext uri="{FF2B5EF4-FFF2-40B4-BE49-F238E27FC236}">
                <a16:creationId xmlns:a16="http://schemas.microsoft.com/office/drawing/2014/main" id="{D753C980-B410-BE0F-B133-233D394359C8}"/>
              </a:ext>
            </a:extLst>
          </p:cNvPr>
          <p:cNvSpPr txBox="1"/>
          <p:nvPr/>
        </p:nvSpPr>
        <p:spPr>
          <a:xfrm>
            <a:off x="3145037" y="5829311"/>
            <a:ext cx="1643405" cy="276999"/>
          </a:xfrm>
          <a:prstGeom prst="rect">
            <a:avLst/>
          </a:prstGeom>
          <a:noFill/>
          <a:ln>
            <a:noFill/>
          </a:ln>
        </p:spPr>
        <p:txBody>
          <a:bodyPr wrap="square" rtlCol="0">
            <a:spAutoFit/>
          </a:bodyPr>
          <a:lstStyle/>
          <a:p>
            <a:r>
              <a:rPr lang="en-GB" sz="1200" b="1" i="1" dirty="0">
                <a:solidFill>
                  <a:schemeClr val="accent2"/>
                </a:solidFill>
              </a:rPr>
              <a:t>Example 11 – We do…</a:t>
            </a:r>
          </a:p>
        </p:txBody>
      </p:sp>
      <p:sp>
        <p:nvSpPr>
          <p:cNvPr id="17" name="TextBox 16">
            <a:extLst>
              <a:ext uri="{FF2B5EF4-FFF2-40B4-BE49-F238E27FC236}">
                <a16:creationId xmlns:a16="http://schemas.microsoft.com/office/drawing/2014/main" id="{7A742CCB-0497-23EA-6598-474DA099C049}"/>
              </a:ext>
            </a:extLst>
          </p:cNvPr>
          <p:cNvSpPr txBox="1"/>
          <p:nvPr/>
        </p:nvSpPr>
        <p:spPr>
          <a:xfrm>
            <a:off x="77840" y="5467257"/>
            <a:ext cx="4463571" cy="461665"/>
          </a:xfrm>
          <a:prstGeom prst="rect">
            <a:avLst/>
          </a:prstGeom>
          <a:noFill/>
        </p:spPr>
        <p:txBody>
          <a:bodyPr wrap="square" rtlCol="0">
            <a:spAutoFit/>
          </a:bodyPr>
          <a:lstStyle/>
          <a:p>
            <a:r>
              <a:rPr lang="en-GB" sz="1200" dirty="0"/>
              <a:t>For the following questions, list the numbers in </a:t>
            </a:r>
            <a:r>
              <a:rPr lang="en-GB" sz="1200" b="1" dirty="0"/>
              <a:t>descending</a:t>
            </a:r>
            <a:r>
              <a:rPr lang="en-GB" sz="1200" dirty="0"/>
              <a:t> order.</a:t>
            </a:r>
          </a:p>
          <a:p>
            <a:endParaRPr lang="en-US" sz="1200" dirty="0"/>
          </a:p>
        </p:txBody>
      </p:sp>
    </p:spTree>
    <p:extLst>
      <p:ext uri="{BB962C8B-B14F-4D97-AF65-F5344CB8AC3E}">
        <p14:creationId xmlns:p14="http://schemas.microsoft.com/office/powerpoint/2010/main" val="808451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FA839B12-4270-C4DA-41C3-AB8F9F0C8EC4}"/>
              </a:ext>
            </a:extLst>
          </p:cNvPr>
          <p:cNvSpPr>
            <a:spLocks noGrp="1"/>
          </p:cNvSpPr>
          <p:nvPr>
            <p:ph type="sldNum" sz="quarter" idx="12"/>
          </p:nvPr>
        </p:nvSpPr>
        <p:spPr>
          <a:xfrm>
            <a:off x="5314950" y="9405537"/>
            <a:ext cx="1543050" cy="527403"/>
          </a:xfrm>
        </p:spPr>
        <p:txBody>
          <a:bodyPr/>
          <a:lstStyle/>
          <a:p>
            <a:fld id="{19F1D9CC-7119-45EC-A96C-D8C0660F3AAB}" type="slidenum">
              <a:rPr lang="en-GB" smtClean="0"/>
              <a:t>7</a:t>
            </a:fld>
            <a:endParaRPr lang="en-GB"/>
          </a:p>
        </p:txBody>
      </p:sp>
      <p:graphicFrame>
        <p:nvGraphicFramePr>
          <p:cNvPr id="2" name="Table 1">
            <a:extLst>
              <a:ext uri="{FF2B5EF4-FFF2-40B4-BE49-F238E27FC236}">
                <a16:creationId xmlns:a16="http://schemas.microsoft.com/office/drawing/2014/main" id="{25805629-2405-194A-690C-8352FECA92FA}"/>
              </a:ext>
            </a:extLst>
          </p:cNvPr>
          <p:cNvGraphicFramePr>
            <a:graphicFrameLocks noGrp="1"/>
          </p:cNvGraphicFramePr>
          <p:nvPr>
            <p:extLst>
              <p:ext uri="{D42A27DB-BD31-4B8C-83A1-F6EECF244321}">
                <p14:modId xmlns:p14="http://schemas.microsoft.com/office/powerpoint/2010/main" val="3389733892"/>
              </p:ext>
            </p:extLst>
          </p:nvPr>
        </p:nvGraphicFramePr>
        <p:xfrm>
          <a:off x="142760" y="96243"/>
          <a:ext cx="6572479" cy="4094866"/>
        </p:xfrm>
        <a:graphic>
          <a:graphicData uri="http://schemas.openxmlformats.org/drawingml/2006/table">
            <a:tbl>
              <a:tblPr firstRow="1" bandRow="1">
                <a:tableStyleId>{5C22544A-7EE6-4342-B048-85BDC9FD1C3A}</a:tableStyleId>
              </a:tblPr>
              <a:tblGrid>
                <a:gridCol w="1167424">
                  <a:extLst>
                    <a:ext uri="{9D8B030D-6E8A-4147-A177-3AD203B41FA5}">
                      <a16:colId xmlns:a16="http://schemas.microsoft.com/office/drawing/2014/main" val="1568142362"/>
                    </a:ext>
                  </a:extLst>
                </a:gridCol>
                <a:gridCol w="1801685">
                  <a:extLst>
                    <a:ext uri="{9D8B030D-6E8A-4147-A177-3AD203B41FA5}">
                      <a16:colId xmlns:a16="http://schemas.microsoft.com/office/drawing/2014/main" val="3551711160"/>
                    </a:ext>
                  </a:extLst>
                </a:gridCol>
                <a:gridCol w="1801685">
                  <a:extLst>
                    <a:ext uri="{9D8B030D-6E8A-4147-A177-3AD203B41FA5}">
                      <a16:colId xmlns:a16="http://schemas.microsoft.com/office/drawing/2014/main" val="1712497518"/>
                    </a:ext>
                  </a:extLst>
                </a:gridCol>
                <a:gridCol w="1801685">
                  <a:extLst>
                    <a:ext uri="{9D8B030D-6E8A-4147-A177-3AD203B41FA5}">
                      <a16:colId xmlns:a16="http://schemas.microsoft.com/office/drawing/2014/main" val="886122921"/>
                    </a:ext>
                  </a:extLst>
                </a:gridCol>
              </a:tblGrid>
              <a:tr h="439605">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Arrange the numbers below in </a:t>
                      </a:r>
                      <a:r>
                        <a:rPr lang="en-GB" sz="1200" b="1" dirty="0">
                          <a:solidFill>
                            <a:schemeClr val="tx1"/>
                          </a:solidFill>
                        </a:rPr>
                        <a:t>ascending</a:t>
                      </a:r>
                      <a:r>
                        <a:rPr lang="en-GB" sz="1200" b="0" dirty="0">
                          <a:solidFill>
                            <a:schemeClr val="tx1"/>
                          </a:solidFill>
                        </a:rPr>
                        <a:t> order:</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837505401"/>
                  </a:ext>
                </a:extLst>
              </a:tr>
              <a:tr h="423426">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059395"/>
                  </a:ext>
                </a:extLst>
              </a:tr>
              <a:tr h="423426">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4.35,     4.31,     4.6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4.7,      4.52,     4.59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a:solidFill>
                            <a:schemeClr val="tx1"/>
                          </a:solidFill>
                        </a:rPr>
                        <a:t>4.4,     4.52,     4.51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245370">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563039">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lowest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3" name="TextBox 2">
            <a:extLst>
              <a:ext uri="{FF2B5EF4-FFF2-40B4-BE49-F238E27FC236}">
                <a16:creationId xmlns:a16="http://schemas.microsoft.com/office/drawing/2014/main" id="{D48E5E3B-4871-334E-7CE1-27A7F4E08642}"/>
              </a:ext>
            </a:extLst>
          </p:cNvPr>
          <p:cNvSpPr txBox="1"/>
          <p:nvPr/>
        </p:nvSpPr>
        <p:spPr>
          <a:xfrm>
            <a:off x="1483988" y="659046"/>
            <a:ext cx="1410704" cy="276999"/>
          </a:xfrm>
          <a:prstGeom prst="rect">
            <a:avLst/>
          </a:prstGeom>
          <a:noFill/>
          <a:ln>
            <a:noFill/>
          </a:ln>
        </p:spPr>
        <p:txBody>
          <a:bodyPr wrap="square" rtlCol="0">
            <a:spAutoFit/>
          </a:bodyPr>
          <a:lstStyle/>
          <a:p>
            <a:r>
              <a:rPr lang="en-GB" sz="1200" b="1" i="1" dirty="0">
                <a:solidFill>
                  <a:srgbClr val="FF0000"/>
                </a:solidFill>
              </a:rPr>
              <a:t>Example 13 - I do…</a:t>
            </a:r>
          </a:p>
        </p:txBody>
      </p:sp>
      <p:sp>
        <p:nvSpPr>
          <p:cNvPr id="4" name="TextBox 3">
            <a:extLst>
              <a:ext uri="{FF2B5EF4-FFF2-40B4-BE49-F238E27FC236}">
                <a16:creationId xmlns:a16="http://schemas.microsoft.com/office/drawing/2014/main" id="{A676E86F-1C1C-5933-C707-803429FF4F4F}"/>
              </a:ext>
            </a:extLst>
          </p:cNvPr>
          <p:cNvSpPr txBox="1"/>
          <p:nvPr/>
        </p:nvSpPr>
        <p:spPr>
          <a:xfrm>
            <a:off x="4992598" y="658320"/>
            <a:ext cx="1643405" cy="276999"/>
          </a:xfrm>
          <a:prstGeom prst="rect">
            <a:avLst/>
          </a:prstGeom>
          <a:noFill/>
          <a:ln>
            <a:noFill/>
          </a:ln>
        </p:spPr>
        <p:txBody>
          <a:bodyPr wrap="square" rtlCol="0">
            <a:spAutoFit/>
          </a:bodyPr>
          <a:lstStyle/>
          <a:p>
            <a:r>
              <a:rPr lang="en-GB" sz="1200" b="1" i="1" dirty="0">
                <a:solidFill>
                  <a:srgbClr val="00B050"/>
                </a:solidFill>
              </a:rPr>
              <a:t>Example 15 – You do…</a:t>
            </a:r>
          </a:p>
        </p:txBody>
      </p:sp>
      <p:sp>
        <p:nvSpPr>
          <p:cNvPr id="5" name="TextBox 4">
            <a:extLst>
              <a:ext uri="{FF2B5EF4-FFF2-40B4-BE49-F238E27FC236}">
                <a16:creationId xmlns:a16="http://schemas.microsoft.com/office/drawing/2014/main" id="{8CE404BA-EB68-7C89-AC26-15B31D687B2F}"/>
              </a:ext>
            </a:extLst>
          </p:cNvPr>
          <p:cNvSpPr txBox="1"/>
          <p:nvPr/>
        </p:nvSpPr>
        <p:spPr>
          <a:xfrm>
            <a:off x="3269957" y="658320"/>
            <a:ext cx="1643405" cy="276999"/>
          </a:xfrm>
          <a:prstGeom prst="rect">
            <a:avLst/>
          </a:prstGeom>
          <a:noFill/>
          <a:ln>
            <a:noFill/>
          </a:ln>
        </p:spPr>
        <p:txBody>
          <a:bodyPr wrap="square" rtlCol="0">
            <a:spAutoFit/>
          </a:bodyPr>
          <a:lstStyle/>
          <a:p>
            <a:r>
              <a:rPr lang="en-GB" sz="1200" b="1" i="1" dirty="0">
                <a:solidFill>
                  <a:schemeClr val="accent2"/>
                </a:solidFill>
              </a:rPr>
              <a:t>Example 14 – We do…</a:t>
            </a:r>
          </a:p>
        </p:txBody>
      </p:sp>
      <p:graphicFrame>
        <p:nvGraphicFramePr>
          <p:cNvPr id="18" name="Table 17">
            <a:extLst>
              <a:ext uri="{FF2B5EF4-FFF2-40B4-BE49-F238E27FC236}">
                <a16:creationId xmlns:a16="http://schemas.microsoft.com/office/drawing/2014/main" id="{D015536A-0E41-00CA-3F29-8FA09E32C1A9}"/>
              </a:ext>
            </a:extLst>
          </p:cNvPr>
          <p:cNvGraphicFramePr>
            <a:graphicFrameLocks noGrp="1"/>
          </p:cNvGraphicFramePr>
          <p:nvPr>
            <p:extLst>
              <p:ext uri="{D42A27DB-BD31-4B8C-83A1-F6EECF244321}">
                <p14:modId xmlns:p14="http://schemas.microsoft.com/office/powerpoint/2010/main" val="4292828887"/>
              </p:ext>
            </p:extLst>
          </p:nvPr>
        </p:nvGraphicFramePr>
        <p:xfrm>
          <a:off x="182378" y="5164958"/>
          <a:ext cx="6493244" cy="4361322"/>
        </p:xfrm>
        <a:graphic>
          <a:graphicData uri="http://schemas.openxmlformats.org/drawingml/2006/table">
            <a:tbl>
              <a:tblPr firstRow="1" bandRow="1">
                <a:tableStyleId>{5C22544A-7EE6-4342-B048-85BDC9FD1C3A}</a:tableStyleId>
              </a:tblPr>
              <a:tblGrid>
                <a:gridCol w="3246622">
                  <a:extLst>
                    <a:ext uri="{9D8B030D-6E8A-4147-A177-3AD203B41FA5}">
                      <a16:colId xmlns:a16="http://schemas.microsoft.com/office/drawing/2014/main" val="1399749649"/>
                    </a:ext>
                  </a:extLst>
                </a:gridCol>
                <a:gridCol w="3246622">
                  <a:extLst>
                    <a:ext uri="{9D8B030D-6E8A-4147-A177-3AD203B41FA5}">
                      <a16:colId xmlns:a16="http://schemas.microsoft.com/office/drawing/2014/main" val="1832731737"/>
                    </a:ext>
                  </a:extLst>
                </a:gridCol>
              </a:tblGrid>
              <a:tr h="623046">
                <a:tc>
                  <a:txBody>
                    <a:bodyPr/>
                    <a:lstStyle/>
                    <a:p>
                      <a:r>
                        <a:rPr lang="en-GB" sz="1200" b="0" dirty="0">
                          <a:solidFill>
                            <a:schemeClr val="tx1"/>
                          </a:solidFill>
                        </a:rPr>
                        <a:t>a) 6.34, 6.45, 6.3, 6.52, 6.28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623046">
                <a:tc>
                  <a:txBody>
                    <a:bodyPr/>
                    <a:lstStyle/>
                    <a:p>
                      <a:r>
                        <a:rPr lang="en-GB" sz="1200" dirty="0">
                          <a:solidFill>
                            <a:schemeClr val="tx1"/>
                          </a:solidFill>
                        </a:rPr>
                        <a:t>b) </a:t>
                      </a:r>
                      <a:r>
                        <a:rPr lang="en-GB" sz="1200" dirty="0"/>
                        <a:t>1.23, 1.3, 1.45, 1.09, 1.42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r h="623046">
                <a:tc>
                  <a:txBody>
                    <a:bodyPr/>
                    <a:lstStyle/>
                    <a:p>
                      <a:r>
                        <a:rPr lang="en-GB" sz="1200" dirty="0">
                          <a:solidFill>
                            <a:schemeClr val="tx1"/>
                          </a:solidFill>
                        </a:rPr>
                        <a:t>c) </a:t>
                      </a:r>
                      <a:r>
                        <a:rPr lang="en-GB" sz="1200" dirty="0"/>
                        <a:t>3.6, 3.91, 3.07, 3.55, 3.9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617696"/>
                  </a:ext>
                </a:extLst>
              </a:tr>
              <a:tr h="623046">
                <a:tc>
                  <a:txBody>
                    <a:bodyPr/>
                    <a:lstStyle/>
                    <a:p>
                      <a:r>
                        <a:rPr lang="en-GB" sz="1200" dirty="0">
                          <a:solidFill>
                            <a:schemeClr val="tx1"/>
                          </a:solidFill>
                        </a:rPr>
                        <a:t>d) </a:t>
                      </a:r>
                      <a:r>
                        <a:rPr lang="en-GB" sz="1200" dirty="0"/>
                        <a:t>2.91, 2.2, 2.78, 2.01, 2.55</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365710"/>
                  </a:ext>
                </a:extLst>
              </a:tr>
              <a:tr h="623046">
                <a:tc>
                  <a:txBody>
                    <a:bodyPr/>
                    <a:lstStyle/>
                    <a:p>
                      <a:r>
                        <a:rPr lang="en-GB" sz="1200" dirty="0">
                          <a:solidFill>
                            <a:schemeClr val="tx1"/>
                          </a:solidFill>
                        </a:rPr>
                        <a:t>e)</a:t>
                      </a:r>
                      <a:r>
                        <a:rPr lang="en-GB" sz="1200" dirty="0"/>
                        <a:t> 1.9, 2.04, 2.3, 2.22, 1.98</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102065"/>
                  </a:ext>
                </a:extLst>
              </a:tr>
              <a:tr h="623046">
                <a:tc>
                  <a:txBody>
                    <a:bodyPr/>
                    <a:lstStyle/>
                    <a:p>
                      <a:r>
                        <a:rPr lang="en-GB" sz="1200" dirty="0">
                          <a:solidFill>
                            <a:schemeClr val="tx1"/>
                          </a:solidFill>
                        </a:rPr>
                        <a:t>f) </a:t>
                      </a:r>
                      <a:r>
                        <a:rPr lang="en-GB" sz="1200" dirty="0"/>
                        <a:t>0.65, 0.5, 0.7, 0.06, 0.49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182279"/>
                  </a:ext>
                </a:extLst>
              </a:tr>
              <a:tr h="623046">
                <a:tc>
                  <a:txBody>
                    <a:bodyPr/>
                    <a:lstStyle/>
                    <a:p>
                      <a:r>
                        <a:rPr lang="en-GB" sz="1200" dirty="0">
                          <a:solidFill>
                            <a:schemeClr val="tx1"/>
                          </a:solidFill>
                        </a:rPr>
                        <a:t>g) </a:t>
                      </a:r>
                      <a:r>
                        <a:rPr lang="en-GB" sz="1200" dirty="0"/>
                        <a:t>3.99, 3.95, 4.01, 4.03, 3.9</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175931"/>
                  </a:ext>
                </a:extLst>
              </a:tr>
            </a:tbl>
          </a:graphicData>
        </a:graphic>
      </p:graphicFrame>
      <p:sp>
        <p:nvSpPr>
          <p:cNvPr id="19" name="TextBox 18">
            <a:extLst>
              <a:ext uri="{FF2B5EF4-FFF2-40B4-BE49-F238E27FC236}">
                <a16:creationId xmlns:a16="http://schemas.microsoft.com/office/drawing/2014/main" id="{CA59C41F-7059-24D6-9875-0221A78AF24F}"/>
              </a:ext>
            </a:extLst>
          </p:cNvPr>
          <p:cNvSpPr txBox="1"/>
          <p:nvPr/>
        </p:nvSpPr>
        <p:spPr>
          <a:xfrm>
            <a:off x="128760" y="4631731"/>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17.</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ascending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sp>
        <p:nvSpPr>
          <p:cNvPr id="20" name="Rectangle 19">
            <a:extLst>
              <a:ext uri="{FF2B5EF4-FFF2-40B4-BE49-F238E27FC236}">
                <a16:creationId xmlns:a16="http://schemas.microsoft.com/office/drawing/2014/main" id="{146D6924-BCD8-A882-E22B-B360AA7C8193}"/>
              </a:ext>
            </a:extLst>
          </p:cNvPr>
          <p:cNvSpPr/>
          <p:nvPr/>
        </p:nvSpPr>
        <p:spPr>
          <a:xfrm>
            <a:off x="70885" y="430527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645148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lide Number Placeholder 2"/>
          <p:cNvSpPr>
            <a:spLocks noGrp="1"/>
          </p:cNvSpPr>
          <p:nvPr>
            <p:ph type="sldNum" sz="quarter" idx="12"/>
          </p:nvPr>
        </p:nvSpPr>
        <p:spPr>
          <a:xfrm>
            <a:off x="5206913" y="9485594"/>
            <a:ext cx="1543050" cy="527403"/>
          </a:xfrm>
        </p:spPr>
        <p:txBody>
          <a:bodyPr/>
          <a:lstStyle/>
          <a:p>
            <a:fld id="{19F1D9CC-7119-45EC-A96C-D8C0660F3AAB}" type="slidenum">
              <a:rPr lang="en-GB" smtClean="0"/>
              <a:t>8</a:t>
            </a:fld>
            <a:endParaRPr lang="en-GB" dirty="0"/>
          </a:p>
        </p:txBody>
      </p:sp>
      <p:graphicFrame>
        <p:nvGraphicFramePr>
          <p:cNvPr id="10" name="Table 9">
            <a:extLst>
              <a:ext uri="{FF2B5EF4-FFF2-40B4-BE49-F238E27FC236}">
                <a16:creationId xmlns:a16="http://schemas.microsoft.com/office/drawing/2014/main" id="{0C290E95-F9FD-2952-6CC0-BE7B535A2699}"/>
              </a:ext>
            </a:extLst>
          </p:cNvPr>
          <p:cNvGraphicFramePr>
            <a:graphicFrameLocks noGrp="1"/>
          </p:cNvGraphicFramePr>
          <p:nvPr>
            <p:extLst>
              <p:ext uri="{D42A27DB-BD31-4B8C-83A1-F6EECF244321}">
                <p14:modId xmlns:p14="http://schemas.microsoft.com/office/powerpoint/2010/main" val="39806212"/>
              </p:ext>
            </p:extLst>
          </p:nvPr>
        </p:nvGraphicFramePr>
        <p:xfrm>
          <a:off x="142760" y="106675"/>
          <a:ext cx="6572479" cy="4292134"/>
        </p:xfrm>
        <a:graphic>
          <a:graphicData uri="http://schemas.openxmlformats.org/drawingml/2006/table">
            <a:tbl>
              <a:tblPr firstRow="1" bandRow="1">
                <a:tableStyleId>{5C22544A-7EE6-4342-B048-85BDC9FD1C3A}</a:tableStyleId>
              </a:tblPr>
              <a:tblGrid>
                <a:gridCol w="1061047">
                  <a:extLst>
                    <a:ext uri="{9D8B030D-6E8A-4147-A177-3AD203B41FA5}">
                      <a16:colId xmlns:a16="http://schemas.microsoft.com/office/drawing/2014/main" val="1568142362"/>
                    </a:ext>
                  </a:extLst>
                </a:gridCol>
                <a:gridCol w="1837144">
                  <a:extLst>
                    <a:ext uri="{9D8B030D-6E8A-4147-A177-3AD203B41FA5}">
                      <a16:colId xmlns:a16="http://schemas.microsoft.com/office/drawing/2014/main" val="3551711160"/>
                    </a:ext>
                  </a:extLst>
                </a:gridCol>
                <a:gridCol w="1837144">
                  <a:extLst>
                    <a:ext uri="{9D8B030D-6E8A-4147-A177-3AD203B41FA5}">
                      <a16:colId xmlns:a16="http://schemas.microsoft.com/office/drawing/2014/main" val="1712497518"/>
                    </a:ext>
                  </a:extLst>
                </a:gridCol>
                <a:gridCol w="1837144">
                  <a:extLst>
                    <a:ext uri="{9D8B030D-6E8A-4147-A177-3AD203B41FA5}">
                      <a16:colId xmlns:a16="http://schemas.microsoft.com/office/drawing/2014/main" val="886122921"/>
                    </a:ext>
                  </a:extLst>
                </a:gridCol>
              </a:tblGrid>
              <a:tr h="558891">
                <a:tc gridSpan="4">
                  <a:txBody>
                    <a:bodyPr/>
                    <a:lstStyle/>
                    <a:p>
                      <a:pPr algn="l"/>
                      <a:r>
                        <a:rPr lang="en-GB" sz="1200" b="0" dirty="0">
                          <a:solidFill>
                            <a:schemeClr val="tx1"/>
                          </a:solidFill>
                        </a:rPr>
                        <a:t>For the following questions, list the numbers in </a:t>
                      </a:r>
                      <a:r>
                        <a:rPr lang="en-GB" sz="1200" b="1" dirty="0">
                          <a:solidFill>
                            <a:schemeClr val="tx1"/>
                          </a:solidFill>
                        </a:rPr>
                        <a:t>descending</a:t>
                      </a:r>
                      <a:r>
                        <a:rPr lang="en-GB" sz="1200" b="0" dirty="0">
                          <a:solidFill>
                            <a:schemeClr val="tx1"/>
                          </a:solidFill>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82747">
                <a:tc>
                  <a:txBody>
                    <a:bodyPr/>
                    <a:lstStyle/>
                    <a:p>
                      <a:r>
                        <a:rPr lang="en-US" sz="1100" b="1" dirty="0">
                          <a:solidFill>
                            <a:schemeClr val="tx1"/>
                          </a:solidFill>
                        </a:rPr>
                        <a:t>Steps</a:t>
                      </a:r>
                      <a:endParaRPr lang="en-GB"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i="0" kern="1200" dirty="0">
                          <a:solidFill>
                            <a:schemeClr val="dk1"/>
                          </a:solidFill>
                          <a:effectLst/>
                          <a:latin typeface="+mn-lt"/>
                          <a:ea typeface="+mn-ea"/>
                          <a:cs typeface="+mn-cs"/>
                        </a:rPr>
                        <a:t>6.4, 6.72, 6.31, 7.5, 7</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6.42, 6.87, 6, 7.1, 7.65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dirty="0">
                          <a:solidFill>
                            <a:schemeClr val="tx1"/>
                          </a:solidFill>
                        </a:rPr>
                        <a:t>8, 7.4, 6.35, 7.35, 6.2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83875">
                <a:tc>
                  <a:txBody>
                    <a:bodyPr/>
                    <a:lstStyle/>
                    <a:p>
                      <a:pPr marL="0" indent="0" algn="ctr">
                        <a:buNone/>
                      </a:pPr>
                      <a:r>
                        <a:rPr lang="en-US" sz="1000" dirty="0">
                          <a:solidFill>
                            <a:schemeClr val="tx1"/>
                          </a:solidFill>
                        </a:rPr>
                        <a:t>Look at the place value of the leftmost digit. Write down the number with the largest place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866621">
                <a:tc>
                  <a:txBody>
                    <a:bodyPr/>
                    <a:lstStyle/>
                    <a:p>
                      <a:pPr algn="ctr"/>
                      <a:r>
                        <a:rPr lang="en-GB" sz="1000" dirty="0">
                          <a:solidFill>
                            <a:schemeClr val="tx1"/>
                          </a:solidFill>
                        </a:rPr>
                        <a:t>If any have the same place value, look at the digit to the right and write down the number with the </a:t>
                      </a:r>
                      <a:r>
                        <a:rPr lang="en-GB" sz="1000" b="1" dirty="0">
                          <a:solidFill>
                            <a:schemeClr val="tx1"/>
                          </a:solidFill>
                        </a:rPr>
                        <a:t>largest</a:t>
                      </a:r>
                      <a:r>
                        <a:rPr lang="en-GB" sz="1000" dirty="0">
                          <a:solidFill>
                            <a:schemeClr val="tx1"/>
                          </a:solidFill>
                        </a:rPr>
                        <a:t> value. Repeat until all numbers have been ordered.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11" name="TextBox 10">
            <a:extLst>
              <a:ext uri="{FF2B5EF4-FFF2-40B4-BE49-F238E27FC236}">
                <a16:creationId xmlns:a16="http://schemas.microsoft.com/office/drawing/2014/main" id="{9BB53A00-3C93-A4EF-83BB-8F1BC0D092E0}"/>
              </a:ext>
            </a:extLst>
          </p:cNvPr>
          <p:cNvSpPr txBox="1"/>
          <p:nvPr/>
        </p:nvSpPr>
        <p:spPr>
          <a:xfrm>
            <a:off x="1375064" y="452637"/>
            <a:ext cx="1410704" cy="276999"/>
          </a:xfrm>
          <a:prstGeom prst="rect">
            <a:avLst/>
          </a:prstGeom>
          <a:noFill/>
          <a:ln>
            <a:noFill/>
          </a:ln>
        </p:spPr>
        <p:txBody>
          <a:bodyPr wrap="square" rtlCol="0">
            <a:spAutoFit/>
          </a:bodyPr>
          <a:lstStyle/>
          <a:p>
            <a:r>
              <a:rPr lang="en-GB" sz="1200" b="1" i="1" dirty="0">
                <a:solidFill>
                  <a:srgbClr val="FF0000"/>
                </a:solidFill>
              </a:rPr>
              <a:t>Example 16 - I do…</a:t>
            </a:r>
          </a:p>
        </p:txBody>
      </p:sp>
      <p:sp>
        <p:nvSpPr>
          <p:cNvPr id="15" name="TextBox 14">
            <a:extLst>
              <a:ext uri="{FF2B5EF4-FFF2-40B4-BE49-F238E27FC236}">
                <a16:creationId xmlns:a16="http://schemas.microsoft.com/office/drawing/2014/main" id="{68BA388E-B56C-CBF0-34FC-7B399875D150}"/>
              </a:ext>
            </a:extLst>
          </p:cNvPr>
          <p:cNvSpPr txBox="1"/>
          <p:nvPr/>
        </p:nvSpPr>
        <p:spPr>
          <a:xfrm>
            <a:off x="5039181" y="410890"/>
            <a:ext cx="1643405" cy="276999"/>
          </a:xfrm>
          <a:prstGeom prst="rect">
            <a:avLst/>
          </a:prstGeom>
          <a:noFill/>
          <a:ln>
            <a:noFill/>
          </a:ln>
        </p:spPr>
        <p:txBody>
          <a:bodyPr wrap="square" rtlCol="0">
            <a:spAutoFit/>
          </a:bodyPr>
          <a:lstStyle/>
          <a:p>
            <a:r>
              <a:rPr lang="en-GB" sz="1200" b="1" i="1" dirty="0">
                <a:solidFill>
                  <a:srgbClr val="00B050"/>
                </a:solidFill>
              </a:rPr>
              <a:t>Example 18 – You do…</a:t>
            </a:r>
          </a:p>
        </p:txBody>
      </p:sp>
      <p:sp>
        <p:nvSpPr>
          <p:cNvPr id="16" name="TextBox 15">
            <a:extLst>
              <a:ext uri="{FF2B5EF4-FFF2-40B4-BE49-F238E27FC236}">
                <a16:creationId xmlns:a16="http://schemas.microsoft.com/office/drawing/2014/main" id="{617064A6-4D3F-FC6D-8F27-5BE6AE4C20AC}"/>
              </a:ext>
            </a:extLst>
          </p:cNvPr>
          <p:cNvSpPr txBox="1"/>
          <p:nvPr/>
        </p:nvSpPr>
        <p:spPr>
          <a:xfrm>
            <a:off x="3217877" y="410891"/>
            <a:ext cx="1643405" cy="276999"/>
          </a:xfrm>
          <a:prstGeom prst="rect">
            <a:avLst/>
          </a:prstGeom>
          <a:noFill/>
          <a:ln>
            <a:noFill/>
          </a:ln>
        </p:spPr>
        <p:txBody>
          <a:bodyPr wrap="square" rtlCol="0">
            <a:spAutoFit/>
          </a:bodyPr>
          <a:lstStyle/>
          <a:p>
            <a:r>
              <a:rPr lang="en-GB" sz="1200" b="1" i="1" dirty="0">
                <a:solidFill>
                  <a:schemeClr val="accent2"/>
                </a:solidFill>
              </a:rPr>
              <a:t>Example 17 – We do…</a:t>
            </a:r>
          </a:p>
        </p:txBody>
      </p:sp>
      <p:graphicFrame>
        <p:nvGraphicFramePr>
          <p:cNvPr id="14" name="Table 13">
            <a:extLst>
              <a:ext uri="{FF2B5EF4-FFF2-40B4-BE49-F238E27FC236}">
                <a16:creationId xmlns:a16="http://schemas.microsoft.com/office/drawing/2014/main" id="{7EA89A18-BB61-B291-95BA-B1841053A564}"/>
              </a:ext>
            </a:extLst>
          </p:cNvPr>
          <p:cNvGraphicFramePr>
            <a:graphicFrameLocks noGrp="1"/>
          </p:cNvGraphicFramePr>
          <p:nvPr>
            <p:extLst>
              <p:ext uri="{D42A27DB-BD31-4B8C-83A1-F6EECF244321}">
                <p14:modId xmlns:p14="http://schemas.microsoft.com/office/powerpoint/2010/main" val="2602188273"/>
              </p:ext>
            </p:extLst>
          </p:nvPr>
        </p:nvGraphicFramePr>
        <p:xfrm>
          <a:off x="221995" y="5438003"/>
          <a:ext cx="6493244" cy="1869138"/>
        </p:xfrm>
        <a:graphic>
          <a:graphicData uri="http://schemas.openxmlformats.org/drawingml/2006/table">
            <a:tbl>
              <a:tblPr firstRow="1" bandRow="1">
                <a:tableStyleId>{5C22544A-7EE6-4342-B048-85BDC9FD1C3A}</a:tableStyleId>
              </a:tblPr>
              <a:tblGrid>
                <a:gridCol w="3246622">
                  <a:extLst>
                    <a:ext uri="{9D8B030D-6E8A-4147-A177-3AD203B41FA5}">
                      <a16:colId xmlns:a16="http://schemas.microsoft.com/office/drawing/2014/main" val="1399749649"/>
                    </a:ext>
                  </a:extLst>
                </a:gridCol>
                <a:gridCol w="3246622">
                  <a:extLst>
                    <a:ext uri="{9D8B030D-6E8A-4147-A177-3AD203B41FA5}">
                      <a16:colId xmlns:a16="http://schemas.microsoft.com/office/drawing/2014/main" val="1832731737"/>
                    </a:ext>
                  </a:extLst>
                </a:gridCol>
              </a:tblGrid>
              <a:tr h="623046">
                <a:tc>
                  <a:txBody>
                    <a:bodyPr/>
                    <a:lstStyle/>
                    <a:p>
                      <a:r>
                        <a:rPr lang="en-GB" sz="1200" b="0" dirty="0">
                          <a:solidFill>
                            <a:schemeClr val="tx1"/>
                          </a:solidFill>
                        </a:rPr>
                        <a:t>a) </a:t>
                      </a:r>
                      <a:r>
                        <a:rPr lang="en-GB" sz="1200" dirty="0">
                          <a:solidFill>
                            <a:schemeClr val="tx1"/>
                          </a:solidFill>
                        </a:rPr>
                        <a:t>3.99, 3.95, 4.01, 4.03, 3.9</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623046">
                <a:tc>
                  <a:txBody>
                    <a:bodyPr/>
                    <a:lstStyle/>
                    <a:p>
                      <a:r>
                        <a:rPr lang="en-GB" sz="1200" dirty="0">
                          <a:solidFill>
                            <a:schemeClr val="tx1"/>
                          </a:solidFill>
                        </a:rPr>
                        <a:t>b) </a:t>
                      </a:r>
                      <a:r>
                        <a:rPr lang="en-GB" sz="1200" dirty="0"/>
                        <a:t>0.78, 0.68, 0.79, 0.77, 0.7</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r h="623046">
                <a:tc>
                  <a:txBody>
                    <a:bodyPr/>
                    <a:lstStyle/>
                    <a:p>
                      <a:r>
                        <a:rPr lang="en-GB" sz="1200" dirty="0">
                          <a:solidFill>
                            <a:schemeClr val="tx1"/>
                          </a:solidFill>
                        </a:rPr>
                        <a:t>c) </a:t>
                      </a:r>
                      <a:r>
                        <a:rPr lang="en-GB" sz="1200" dirty="0"/>
                        <a:t>2.65, 2.69, 2.6, 2.72, 2.62</a:t>
                      </a:r>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617696"/>
                  </a:ext>
                </a:extLst>
              </a:tr>
            </a:tbl>
          </a:graphicData>
        </a:graphic>
      </p:graphicFrame>
      <p:sp>
        <p:nvSpPr>
          <p:cNvPr id="17" name="TextBox 16">
            <a:extLst>
              <a:ext uri="{FF2B5EF4-FFF2-40B4-BE49-F238E27FC236}">
                <a16:creationId xmlns:a16="http://schemas.microsoft.com/office/drawing/2014/main" id="{F49CF5DA-D846-9267-A40E-BC3DE0B46D78}"/>
              </a:ext>
            </a:extLst>
          </p:cNvPr>
          <p:cNvSpPr txBox="1"/>
          <p:nvPr/>
        </p:nvSpPr>
        <p:spPr>
          <a:xfrm>
            <a:off x="168377" y="4904776"/>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1" dirty="0">
                <a:solidFill>
                  <a:prstClr val="black"/>
                </a:solidFill>
                <a:latin typeface="Calibri" panose="020F0502020204030204"/>
              </a:rPr>
              <a:t>18</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For the following questions, list the numbers in </a:t>
            </a:r>
            <a:r>
              <a:rPr lang="en-GB" sz="1200" b="1" dirty="0">
                <a:solidFill>
                  <a:prstClr val="black"/>
                </a:solidFill>
                <a:latin typeface="Calibri" panose="020F0502020204030204"/>
              </a:rPr>
              <a:t>de</a:t>
            </a: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scending</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order.</a:t>
            </a:r>
          </a:p>
        </p:txBody>
      </p:sp>
      <p:sp>
        <p:nvSpPr>
          <p:cNvPr id="18" name="Rectangle 17">
            <a:extLst>
              <a:ext uri="{FF2B5EF4-FFF2-40B4-BE49-F238E27FC236}">
                <a16:creationId xmlns:a16="http://schemas.microsoft.com/office/drawing/2014/main" id="{98E4D7A7-537D-3270-D2DE-678B53B1068F}"/>
              </a:ext>
            </a:extLst>
          </p:cNvPr>
          <p:cNvSpPr/>
          <p:nvPr/>
        </p:nvSpPr>
        <p:spPr>
          <a:xfrm>
            <a:off x="110502" y="457832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26" name="Table 25">
            <a:extLst>
              <a:ext uri="{FF2B5EF4-FFF2-40B4-BE49-F238E27FC236}">
                <a16:creationId xmlns:a16="http://schemas.microsoft.com/office/drawing/2014/main" id="{700D6673-BCE6-6186-6C0F-D6C99903AFDB}"/>
              </a:ext>
            </a:extLst>
          </p:cNvPr>
          <p:cNvGraphicFramePr>
            <a:graphicFrameLocks noGrp="1"/>
          </p:cNvGraphicFramePr>
          <p:nvPr>
            <p:extLst>
              <p:ext uri="{D42A27DB-BD31-4B8C-83A1-F6EECF244321}">
                <p14:modId xmlns:p14="http://schemas.microsoft.com/office/powerpoint/2010/main" val="3169435070"/>
              </p:ext>
            </p:extLst>
          </p:nvPr>
        </p:nvGraphicFramePr>
        <p:xfrm>
          <a:off x="174639" y="7668601"/>
          <a:ext cx="6575324" cy="1645920"/>
        </p:xfrm>
        <a:graphic>
          <a:graphicData uri="http://schemas.openxmlformats.org/drawingml/2006/table">
            <a:tbl>
              <a:tblPr firstRow="1" bandRow="1">
                <a:tableStyleId>{5C22544A-7EE6-4342-B048-85BDC9FD1C3A}</a:tableStyleId>
              </a:tblPr>
              <a:tblGrid>
                <a:gridCol w="3287662">
                  <a:extLst>
                    <a:ext uri="{9D8B030D-6E8A-4147-A177-3AD203B41FA5}">
                      <a16:colId xmlns:a16="http://schemas.microsoft.com/office/drawing/2014/main" val="1399749649"/>
                    </a:ext>
                  </a:extLst>
                </a:gridCol>
                <a:gridCol w="3287662">
                  <a:extLst>
                    <a:ext uri="{9D8B030D-6E8A-4147-A177-3AD203B41FA5}">
                      <a16:colId xmlns:a16="http://schemas.microsoft.com/office/drawing/2014/main" val="1832731737"/>
                    </a:ext>
                  </a:extLst>
                </a:gridCol>
              </a:tblGrid>
              <a:tr h="791050">
                <a:tc>
                  <a:txBody>
                    <a:bodyPr/>
                    <a:lstStyle/>
                    <a:p>
                      <a:r>
                        <a:rPr lang="en-GB" sz="1200" b="0" dirty="0">
                          <a:solidFill>
                            <a:schemeClr val="tx1"/>
                          </a:solidFill>
                        </a:rPr>
                        <a:t>a) Jadin weighs 96.5 pounds, Aaron weighs 89.09 pounds and </a:t>
                      </a:r>
                      <a:r>
                        <a:rPr lang="en-GB" sz="1200" b="0" dirty="0" err="1">
                          <a:solidFill>
                            <a:schemeClr val="tx1"/>
                          </a:solidFill>
                        </a:rPr>
                        <a:t>Kavonia</a:t>
                      </a:r>
                      <a:r>
                        <a:rPr lang="en-GB" sz="1200" b="0" dirty="0">
                          <a:solidFill>
                            <a:schemeClr val="tx1"/>
                          </a:solidFill>
                        </a:rPr>
                        <a:t> weighs 90.06 pounds. Order the students using their weights from heaviest to lightest.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641263"/>
                  </a:ext>
                </a:extLst>
              </a:tr>
              <a:tr h="791050">
                <a:tc>
                  <a:txBody>
                    <a:bodyPr/>
                    <a:lstStyle/>
                    <a:p>
                      <a:r>
                        <a:rPr lang="en-GB" sz="1200" dirty="0">
                          <a:solidFill>
                            <a:schemeClr val="tx1"/>
                          </a:solidFill>
                        </a:rPr>
                        <a:t>b) Drew, Serenity and </a:t>
                      </a:r>
                      <a:r>
                        <a:rPr lang="en-GB" sz="1200" dirty="0" err="1">
                          <a:solidFill>
                            <a:schemeClr val="tx1"/>
                          </a:solidFill>
                        </a:rPr>
                        <a:t>Shimya</a:t>
                      </a:r>
                      <a:r>
                        <a:rPr lang="en-GB" sz="1200" dirty="0">
                          <a:solidFill>
                            <a:schemeClr val="tx1"/>
                          </a:solidFill>
                        </a:rPr>
                        <a:t> each save a portion of their £20 pocket money each week. Serenity saves 0.9,  </a:t>
                      </a:r>
                      <a:r>
                        <a:rPr lang="en-GB" sz="1200" dirty="0" err="1">
                          <a:solidFill>
                            <a:schemeClr val="tx1"/>
                          </a:solidFill>
                        </a:rPr>
                        <a:t>Shimya</a:t>
                      </a:r>
                      <a:r>
                        <a:rPr lang="en-GB" sz="1200" dirty="0">
                          <a:solidFill>
                            <a:schemeClr val="tx1"/>
                          </a:solidFill>
                        </a:rPr>
                        <a:t> saves 0.75, and Drew saves 0.8  of pocket money. Circle the correct statement.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83461"/>
                  </a:ext>
                </a:extLst>
              </a:tr>
            </a:tbl>
          </a:graphicData>
        </a:graphic>
      </p:graphicFrame>
      <p:sp>
        <p:nvSpPr>
          <p:cNvPr id="27" name="TextBox 26">
            <a:extLst>
              <a:ext uri="{FF2B5EF4-FFF2-40B4-BE49-F238E27FC236}">
                <a16:creationId xmlns:a16="http://schemas.microsoft.com/office/drawing/2014/main" id="{BA846817-7BBB-114D-0B1B-930253E95DC3}"/>
              </a:ext>
            </a:extLst>
          </p:cNvPr>
          <p:cNvSpPr txBox="1"/>
          <p:nvPr/>
        </p:nvSpPr>
        <p:spPr>
          <a:xfrm>
            <a:off x="214256" y="7391602"/>
            <a:ext cx="5669123" cy="27699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19.</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4742C4B6-CB19-CB15-B399-BB8CBD9B42E0}"/>
              </a:ext>
            </a:extLst>
          </p:cNvPr>
          <p:cNvPicPr>
            <a:picLocks noChangeAspect="1"/>
          </p:cNvPicPr>
          <p:nvPr/>
        </p:nvPicPr>
        <p:blipFill>
          <a:blip r:embed="rId3"/>
          <a:stretch>
            <a:fillRect/>
          </a:stretch>
        </p:blipFill>
        <p:spPr>
          <a:xfrm>
            <a:off x="3505863" y="8528795"/>
            <a:ext cx="2890700" cy="738051"/>
          </a:xfrm>
          <a:prstGeom prst="rect">
            <a:avLst/>
          </a:prstGeom>
        </p:spPr>
      </p:pic>
    </p:spTree>
    <p:extLst>
      <p:ext uri="{BB962C8B-B14F-4D97-AF65-F5344CB8AC3E}">
        <p14:creationId xmlns:p14="http://schemas.microsoft.com/office/powerpoint/2010/main" val="871156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6761B85-5108-7321-0AB8-98A472253EAD}"/>
              </a:ext>
            </a:extLst>
          </p:cNvPr>
          <p:cNvGraphicFramePr>
            <a:graphicFrameLocks noGrp="1"/>
          </p:cNvGraphicFramePr>
          <p:nvPr>
            <p:extLst>
              <p:ext uri="{D42A27DB-BD31-4B8C-83A1-F6EECF244321}">
                <p14:modId xmlns:p14="http://schemas.microsoft.com/office/powerpoint/2010/main" val="3381640872"/>
              </p:ext>
            </p:extLst>
          </p:nvPr>
        </p:nvGraphicFramePr>
        <p:xfrm>
          <a:off x="164101" y="114391"/>
          <a:ext cx="6572478" cy="8004806"/>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1568142362"/>
                    </a:ext>
                  </a:extLst>
                </a:gridCol>
                <a:gridCol w="3286239">
                  <a:extLst>
                    <a:ext uri="{9D8B030D-6E8A-4147-A177-3AD203B41FA5}">
                      <a16:colId xmlns:a16="http://schemas.microsoft.com/office/drawing/2014/main" val="3993666970"/>
                    </a:ext>
                  </a:extLst>
                </a:gridCol>
              </a:tblGrid>
              <a:tr h="534278">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20. </a:t>
                      </a:r>
                      <a:r>
                        <a:rPr lang="en-GB" sz="1200" b="0" dirty="0">
                          <a:solidFill>
                            <a:schemeClr val="tx1"/>
                          </a:solidFill>
                          <a:latin typeface="+mn-lt"/>
                        </a:rPr>
                        <a:t>For the following questions, arrange the temperatures from highest to lowest.</a:t>
                      </a:r>
                    </a:p>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9213032"/>
                  </a:ext>
                </a:extLst>
              </a:tr>
              <a:tr h="492556">
                <a:tc>
                  <a:txBody>
                    <a:bodyPr/>
                    <a:lstStyle/>
                    <a:p>
                      <a:r>
                        <a:rPr lang="en-US" sz="1200" baseline="0" dirty="0">
                          <a:solidFill>
                            <a:schemeClr val="tx1"/>
                          </a:solidFill>
                          <a:latin typeface="+mn-lt"/>
                        </a:rPr>
                        <a:t>a) </a:t>
                      </a:r>
                      <a:r>
                        <a:rPr lang="en-GB" sz="1200" dirty="0"/>
                        <a:t>11 °C, 10.8°C, 12.3 °C, 15 °C, 12.7 °C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latin typeface="+mn-lt"/>
                        </a:rPr>
                        <a:t>b)</a:t>
                      </a:r>
                      <a:r>
                        <a:rPr lang="en-GB" sz="1200" dirty="0"/>
                        <a:t> 8.5 °C, 0.7 °C, 3 °C, 0.9 °C, 6 °C, 1.3 °C, 5.1°C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812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20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2003803"/>
                  </a:ext>
                </a:extLst>
              </a:tr>
              <a:tr h="390643">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1200" b="1" baseline="0" dirty="0">
                          <a:solidFill>
                            <a:schemeClr val="tx1"/>
                          </a:solidFill>
                          <a:latin typeface="+mn-lt"/>
                        </a:rPr>
                        <a:t>21.</a:t>
                      </a:r>
                      <a:r>
                        <a:rPr lang="en-US" sz="1200" baseline="0" dirty="0">
                          <a:solidFill>
                            <a:schemeClr val="tx1"/>
                          </a:solidFill>
                          <a:latin typeface="+mn-lt"/>
                        </a:rPr>
                        <a:t> For the following questions, order the amounts of money from lowest to highest.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8490864"/>
                  </a:ext>
                </a:extLst>
              </a:tr>
              <a:tr h="488371">
                <a:tc>
                  <a:txBody>
                    <a:bodyPr/>
                    <a:lstStyle/>
                    <a:p>
                      <a:r>
                        <a:rPr lang="en-US" sz="1200" baseline="0" dirty="0">
                          <a:solidFill>
                            <a:schemeClr val="tx1"/>
                          </a:solidFill>
                          <a:latin typeface="+mn-lt"/>
                        </a:rPr>
                        <a:t>a) </a:t>
                      </a:r>
                      <a:r>
                        <a:rPr lang="en-GB" sz="1200" dirty="0"/>
                        <a:t>£6.74, £10, £1.99, £8, £3.30, £2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aseline="0" dirty="0">
                          <a:solidFill>
                            <a:schemeClr val="tx1"/>
                          </a:solidFill>
                          <a:latin typeface="+mn-lt"/>
                        </a:rPr>
                        <a:t>b) </a:t>
                      </a:r>
                      <a:r>
                        <a:rPr lang="en-GB" sz="1200" dirty="0"/>
                        <a:t>80p, £1, £0.09, 23p, £2.75, £0.82, £20</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7146034"/>
                  </a:ext>
                </a:extLst>
              </a:tr>
              <a:tr h="89080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8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6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2344843"/>
                  </a:ext>
                </a:extLst>
              </a:tr>
              <a:tr h="4426873">
                <a:tc>
                  <a:txBody>
                    <a:bodyPr/>
                    <a:lstStyle/>
                    <a:p>
                      <a:r>
                        <a:rPr lang="en-GB" sz="1200" dirty="0"/>
                        <a:t>24. The distance of various landmarks from Big Ben are listed below.</a:t>
                      </a:r>
                      <a:endParaRPr lang="en-GB"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dirty="0"/>
                        <a:t>Arrange the landmarks in order, from closest to furthest.</a:t>
                      </a:r>
                    </a:p>
                    <a:p>
                      <a:endParaRPr lang="en-GB" sz="1200" baseline="0" dirty="0">
                        <a:solidFill>
                          <a:schemeClr val="tx1"/>
                        </a:solidFill>
                        <a:latin typeface="+mn-lt"/>
                      </a:endParaRPr>
                    </a:p>
                    <a:p>
                      <a:endParaRPr lang="en-GB"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034110"/>
                  </a:ext>
                </a:extLst>
              </a:tr>
            </a:tbl>
          </a:graphicData>
        </a:graphic>
      </p:graphicFrame>
      <p:pic>
        <p:nvPicPr>
          <p:cNvPr id="4" name="Picture 3">
            <a:extLst>
              <a:ext uri="{FF2B5EF4-FFF2-40B4-BE49-F238E27FC236}">
                <a16:creationId xmlns:a16="http://schemas.microsoft.com/office/drawing/2014/main" id="{7EAF7F3F-52E7-5056-BCAB-A052F07C8CA3}"/>
              </a:ext>
            </a:extLst>
          </p:cNvPr>
          <p:cNvPicPr>
            <a:picLocks noChangeAspect="1"/>
          </p:cNvPicPr>
          <p:nvPr/>
        </p:nvPicPr>
        <p:blipFill>
          <a:blip r:embed="rId2"/>
          <a:stretch>
            <a:fillRect/>
          </a:stretch>
        </p:blipFill>
        <p:spPr>
          <a:xfrm>
            <a:off x="198826" y="4738295"/>
            <a:ext cx="3177515" cy="1792855"/>
          </a:xfrm>
          <a:prstGeom prst="rect">
            <a:avLst/>
          </a:prstGeom>
        </p:spPr>
      </p:pic>
      <p:sp>
        <p:nvSpPr>
          <p:cNvPr id="3" name="Slide Number Placeholder 2">
            <a:extLst>
              <a:ext uri="{FF2B5EF4-FFF2-40B4-BE49-F238E27FC236}">
                <a16:creationId xmlns:a16="http://schemas.microsoft.com/office/drawing/2014/main" id="{0E148FB8-ED74-1B98-22B0-47856C8A2DA0}"/>
              </a:ext>
            </a:extLst>
          </p:cNvPr>
          <p:cNvSpPr>
            <a:spLocks noGrp="1"/>
          </p:cNvSpPr>
          <p:nvPr>
            <p:ph type="sldNum" sz="quarter" idx="12"/>
          </p:nvPr>
        </p:nvSpPr>
        <p:spPr>
          <a:xfrm>
            <a:off x="5193529" y="9510873"/>
            <a:ext cx="1543050" cy="527403"/>
          </a:xfrm>
        </p:spPr>
        <p:txBody>
          <a:bodyPr/>
          <a:lstStyle/>
          <a:p>
            <a:fld id="{086C3A38-D272-42AA-9C88-F1FBEAE20D2C}" type="slidenum">
              <a:rPr lang="en-GB" smtClean="0"/>
              <a:t>9</a:t>
            </a:fld>
            <a:endParaRPr lang="en-GB" dirty="0"/>
          </a:p>
        </p:txBody>
      </p:sp>
      <p:pic>
        <p:nvPicPr>
          <p:cNvPr id="10" name="Picture 9">
            <a:extLst>
              <a:ext uri="{FF2B5EF4-FFF2-40B4-BE49-F238E27FC236}">
                <a16:creationId xmlns:a16="http://schemas.microsoft.com/office/drawing/2014/main" id="{A8E6EB7F-782E-9632-1AED-C074FF75363E}"/>
              </a:ext>
            </a:extLst>
          </p:cNvPr>
          <p:cNvPicPr>
            <a:picLocks noChangeAspect="1"/>
          </p:cNvPicPr>
          <p:nvPr/>
        </p:nvPicPr>
        <p:blipFill>
          <a:blip r:embed="rId3"/>
          <a:stretch>
            <a:fillRect/>
          </a:stretch>
        </p:blipFill>
        <p:spPr>
          <a:xfrm>
            <a:off x="164101" y="8135962"/>
            <a:ext cx="6572478" cy="1517324"/>
          </a:xfrm>
          <a:prstGeom prst="rect">
            <a:avLst/>
          </a:prstGeom>
        </p:spPr>
      </p:pic>
    </p:spTree>
    <p:extLst>
      <p:ext uri="{BB962C8B-B14F-4D97-AF65-F5344CB8AC3E}">
        <p14:creationId xmlns:p14="http://schemas.microsoft.com/office/powerpoint/2010/main" val="210310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CE6CF-75F8-9450-B6C2-51215137C8CF}"/>
              </a:ext>
            </a:extLst>
          </p:cNvPr>
          <p:cNvSpPr>
            <a:spLocks noGrp="1"/>
          </p:cNvSpPr>
          <p:nvPr>
            <p:ph type="sldNum" sz="quarter" idx="12"/>
          </p:nvPr>
        </p:nvSpPr>
        <p:spPr>
          <a:xfrm>
            <a:off x="5194806" y="9425075"/>
            <a:ext cx="1543050" cy="527403"/>
          </a:xfrm>
        </p:spPr>
        <p:txBody>
          <a:bodyPr/>
          <a:lstStyle/>
          <a:p>
            <a:fld id="{19F1D9CC-7119-45EC-A96C-D8C0660F3AAB}" type="slidenum">
              <a:rPr lang="en-GB" smtClean="0"/>
              <a:t>10</a:t>
            </a:fld>
            <a:endParaRPr lang="en-GB"/>
          </a:p>
        </p:txBody>
      </p:sp>
      <p:cxnSp>
        <p:nvCxnSpPr>
          <p:cNvPr id="8" name="Straight Connector 7">
            <a:extLst>
              <a:ext uri="{FF2B5EF4-FFF2-40B4-BE49-F238E27FC236}">
                <a16:creationId xmlns:a16="http://schemas.microsoft.com/office/drawing/2014/main" id="{A74BCA94-1391-FE8F-A46B-C5A506E49A95}"/>
              </a:ext>
            </a:extLst>
          </p:cNvPr>
          <p:cNvCxnSpPr/>
          <p:nvPr/>
        </p:nvCxnSpPr>
        <p:spPr>
          <a:xfrm flipV="1">
            <a:off x="971599" y="2457765"/>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6A42F2A-0382-4273-1E3F-DEA1994D4C3F}"/>
              </a:ext>
            </a:extLst>
          </p:cNvPr>
          <p:cNvSpPr/>
          <p:nvPr/>
        </p:nvSpPr>
        <p:spPr>
          <a:xfrm>
            <a:off x="116918" y="527169"/>
            <a:ext cx="6699219" cy="41653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955F3E39-2158-9297-7590-5DC49BCC50A7}"/>
              </a:ext>
            </a:extLst>
          </p:cNvPr>
          <p:cNvCxnSpPr>
            <a:cxnSpLocks/>
            <a:stCxn id="9" idx="1"/>
            <a:endCxn id="9" idx="3"/>
          </p:cNvCxnSpPr>
          <p:nvPr/>
        </p:nvCxnSpPr>
        <p:spPr>
          <a:xfrm>
            <a:off x="116918" y="260985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C1A081C-650F-6285-E395-EE9395BFF294}"/>
              </a:ext>
            </a:extLst>
          </p:cNvPr>
          <p:cNvCxnSpPr>
            <a:cxnSpLocks/>
            <a:stCxn id="9" idx="2"/>
            <a:endCxn id="9" idx="0"/>
          </p:cNvCxnSpPr>
          <p:nvPr/>
        </p:nvCxnSpPr>
        <p:spPr>
          <a:xfrm flipV="1">
            <a:off x="3466528" y="527169"/>
            <a:ext cx="0" cy="4165373"/>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5474B94-F1EE-102A-52C9-780DF9318D29}"/>
              </a:ext>
            </a:extLst>
          </p:cNvPr>
          <p:cNvSpPr txBox="1"/>
          <p:nvPr/>
        </p:nvSpPr>
        <p:spPr>
          <a:xfrm>
            <a:off x="134673" y="527169"/>
            <a:ext cx="824713" cy="461665"/>
          </a:xfrm>
          <a:prstGeom prst="rect">
            <a:avLst/>
          </a:prstGeom>
          <a:noFill/>
        </p:spPr>
        <p:txBody>
          <a:bodyPr wrap="none" rtlCol="0">
            <a:spAutoFit/>
          </a:bodyPr>
          <a:lstStyle/>
          <a:p>
            <a:r>
              <a:rPr lang="en-US" sz="1200" b="1"/>
              <a:t>Definition</a:t>
            </a:r>
          </a:p>
          <a:p>
            <a:endParaRPr lang="en-US" sz="1200"/>
          </a:p>
        </p:txBody>
      </p:sp>
      <p:sp>
        <p:nvSpPr>
          <p:cNvPr id="13" name="TextBox 12">
            <a:extLst>
              <a:ext uri="{FF2B5EF4-FFF2-40B4-BE49-F238E27FC236}">
                <a16:creationId xmlns:a16="http://schemas.microsoft.com/office/drawing/2014/main" id="{6E7FC639-4EB8-2FC0-5967-C0C4B2AD6B6E}"/>
              </a:ext>
            </a:extLst>
          </p:cNvPr>
          <p:cNvSpPr txBox="1"/>
          <p:nvPr/>
        </p:nvSpPr>
        <p:spPr>
          <a:xfrm>
            <a:off x="5658724" y="494783"/>
            <a:ext cx="1112228" cy="276999"/>
          </a:xfrm>
          <a:prstGeom prst="rect">
            <a:avLst/>
          </a:prstGeom>
          <a:noFill/>
        </p:spPr>
        <p:txBody>
          <a:bodyPr wrap="none" rtlCol="0">
            <a:spAutoFit/>
          </a:bodyPr>
          <a:lstStyle/>
          <a:p>
            <a:r>
              <a:rPr lang="en-US" sz="1200" b="1"/>
              <a:t>Characteristics</a:t>
            </a:r>
            <a:endParaRPr lang="en-GB" sz="1200" b="1"/>
          </a:p>
        </p:txBody>
      </p:sp>
      <p:sp>
        <p:nvSpPr>
          <p:cNvPr id="14" name="TextBox 13">
            <a:extLst>
              <a:ext uri="{FF2B5EF4-FFF2-40B4-BE49-F238E27FC236}">
                <a16:creationId xmlns:a16="http://schemas.microsoft.com/office/drawing/2014/main" id="{0D99AB1F-E1BE-9351-76B6-48AF1A45FB9D}"/>
              </a:ext>
            </a:extLst>
          </p:cNvPr>
          <p:cNvSpPr txBox="1"/>
          <p:nvPr/>
        </p:nvSpPr>
        <p:spPr>
          <a:xfrm>
            <a:off x="134673" y="2286225"/>
            <a:ext cx="788164" cy="276999"/>
          </a:xfrm>
          <a:prstGeom prst="rect">
            <a:avLst/>
          </a:prstGeom>
          <a:noFill/>
        </p:spPr>
        <p:txBody>
          <a:bodyPr wrap="none" rtlCol="0">
            <a:spAutoFit/>
          </a:bodyPr>
          <a:lstStyle/>
          <a:p>
            <a:r>
              <a:rPr lang="en-US" sz="1200" b="1"/>
              <a:t>Examples</a:t>
            </a:r>
            <a:endParaRPr lang="en-GB" sz="1200" b="1"/>
          </a:p>
        </p:txBody>
      </p:sp>
      <p:sp>
        <p:nvSpPr>
          <p:cNvPr id="15" name="TextBox 14">
            <a:extLst>
              <a:ext uri="{FF2B5EF4-FFF2-40B4-BE49-F238E27FC236}">
                <a16:creationId xmlns:a16="http://schemas.microsoft.com/office/drawing/2014/main" id="{987FAC9C-9591-A8E8-A8BE-9F60059C593C}"/>
              </a:ext>
            </a:extLst>
          </p:cNvPr>
          <p:cNvSpPr txBox="1"/>
          <p:nvPr/>
        </p:nvSpPr>
        <p:spPr>
          <a:xfrm>
            <a:off x="5628395" y="2279767"/>
            <a:ext cx="1172885" cy="276999"/>
          </a:xfrm>
          <a:prstGeom prst="rect">
            <a:avLst/>
          </a:prstGeom>
          <a:noFill/>
        </p:spPr>
        <p:txBody>
          <a:bodyPr wrap="none" rtlCol="0">
            <a:spAutoFit/>
          </a:bodyPr>
          <a:lstStyle/>
          <a:p>
            <a:r>
              <a:rPr lang="en-US" sz="1200" b="1"/>
              <a:t>Non - Examples</a:t>
            </a:r>
            <a:endParaRPr lang="en-GB" sz="1200" b="1"/>
          </a:p>
        </p:txBody>
      </p:sp>
      <p:sp>
        <p:nvSpPr>
          <p:cNvPr id="16" name="TextBox 15">
            <a:extLst>
              <a:ext uri="{FF2B5EF4-FFF2-40B4-BE49-F238E27FC236}">
                <a16:creationId xmlns:a16="http://schemas.microsoft.com/office/drawing/2014/main" id="{EAE6E376-DF07-7D4E-22CF-6985D089806D}"/>
              </a:ext>
            </a:extLst>
          </p:cNvPr>
          <p:cNvSpPr txBox="1"/>
          <p:nvPr/>
        </p:nvSpPr>
        <p:spPr>
          <a:xfrm>
            <a:off x="145306" y="790397"/>
            <a:ext cx="3230335" cy="600164"/>
          </a:xfrm>
          <a:prstGeom prst="rect">
            <a:avLst/>
          </a:prstGeom>
          <a:noFill/>
        </p:spPr>
        <p:txBody>
          <a:bodyPr wrap="square" rtlCol="0">
            <a:spAutoFit/>
          </a:bodyPr>
          <a:lstStyle/>
          <a:p>
            <a:r>
              <a:rPr lang="en-GB" sz="1100"/>
              <a:t>Negative numbers are numbers that represent values that are less than zero. They show things like temperatures below zero, debts and losses.</a:t>
            </a:r>
            <a:endParaRPr lang="en-US" sz="1100"/>
          </a:p>
        </p:txBody>
      </p:sp>
      <p:sp>
        <p:nvSpPr>
          <p:cNvPr id="17" name="TextBox 16">
            <a:extLst>
              <a:ext uri="{FF2B5EF4-FFF2-40B4-BE49-F238E27FC236}">
                <a16:creationId xmlns:a16="http://schemas.microsoft.com/office/drawing/2014/main" id="{05181107-11C7-1807-62E3-693EB1F0A7D7}"/>
              </a:ext>
            </a:extLst>
          </p:cNvPr>
          <p:cNvSpPr txBox="1"/>
          <p:nvPr/>
        </p:nvSpPr>
        <p:spPr>
          <a:xfrm>
            <a:off x="2584094" y="2368977"/>
            <a:ext cx="1835118" cy="369332"/>
          </a:xfrm>
          <a:prstGeom prst="rect">
            <a:avLst/>
          </a:prstGeom>
          <a:solidFill>
            <a:schemeClr val="bg1"/>
          </a:solidFill>
          <a:ln>
            <a:solidFill>
              <a:schemeClr val="tx1"/>
            </a:solidFill>
          </a:ln>
        </p:spPr>
        <p:txBody>
          <a:bodyPr wrap="none" rtlCol="0">
            <a:spAutoFit/>
          </a:bodyPr>
          <a:lstStyle/>
          <a:p>
            <a:r>
              <a:rPr lang="en-US"/>
              <a:t>Negative Number</a:t>
            </a:r>
            <a:endParaRPr lang="en-GB"/>
          </a:p>
        </p:txBody>
      </p:sp>
      <p:sp>
        <p:nvSpPr>
          <p:cNvPr id="18" name="TextBox 17">
            <a:extLst>
              <a:ext uri="{FF2B5EF4-FFF2-40B4-BE49-F238E27FC236}">
                <a16:creationId xmlns:a16="http://schemas.microsoft.com/office/drawing/2014/main" id="{15FD7AED-69E3-00D5-8772-F46184807A76}"/>
              </a:ext>
            </a:extLst>
          </p:cNvPr>
          <p:cNvSpPr txBox="1"/>
          <p:nvPr/>
        </p:nvSpPr>
        <p:spPr>
          <a:xfrm>
            <a:off x="3515363" y="2728194"/>
            <a:ext cx="3230335" cy="1292662"/>
          </a:xfrm>
          <a:prstGeom prst="rect">
            <a:avLst/>
          </a:prstGeom>
          <a:noFill/>
        </p:spPr>
        <p:txBody>
          <a:bodyPr wrap="square" rtlCol="0">
            <a:spAutoFit/>
          </a:bodyPr>
          <a:lstStyle/>
          <a:p>
            <a:endParaRPr lang="en-US" sz="1100" dirty="0"/>
          </a:p>
          <a:p>
            <a:pPr marL="171450" indent="-171450">
              <a:buFont typeface="Arial" panose="020B0604020202020204" pitchFamily="34" charset="0"/>
              <a:buChar char="•"/>
            </a:pPr>
            <a:r>
              <a:rPr lang="en-GB" sz="1100" dirty="0"/>
              <a:t>Positive Numbers: Positive numbers are greater than zero and are not negative.</a:t>
            </a:r>
          </a:p>
          <a:p>
            <a:pPr marL="171450" indent="-171450">
              <a:buFont typeface="Arial" panose="020B0604020202020204" pitchFamily="34" charset="0"/>
              <a:buChar char="•"/>
            </a:pPr>
            <a:r>
              <a:rPr lang="en-GB" sz="1100" dirty="0"/>
              <a:t>Zero: Zero is not positive or negative.</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endParaRPr lang="en-GB" sz="1100" dirty="0"/>
          </a:p>
          <a:p>
            <a:pPr algn="ctr"/>
            <a:r>
              <a:rPr lang="en-GB" sz="1100" b="0" i="0" dirty="0">
                <a:effectLst/>
                <a:latin typeface="Söhne"/>
              </a:rPr>
              <a:t>5</a:t>
            </a:r>
            <a:r>
              <a:rPr lang="en-GB" sz="1100" dirty="0">
                <a:latin typeface="Söhne"/>
              </a:rPr>
              <a:t>          </a:t>
            </a:r>
            <a:r>
              <a:rPr lang="en-GB" sz="1100" b="0" i="0" dirty="0">
                <a:effectLst/>
                <a:latin typeface="Söhne"/>
              </a:rPr>
              <a:t>0</a:t>
            </a:r>
            <a:r>
              <a:rPr lang="en-GB" sz="1100" dirty="0">
                <a:latin typeface="Söhne"/>
              </a:rPr>
              <a:t>           </a:t>
            </a:r>
            <a:r>
              <a:rPr lang="en-GB" sz="1100" b="0" i="0" dirty="0">
                <a:effectLst/>
                <a:latin typeface="Söhne"/>
              </a:rPr>
              <a:t>2.5          </a:t>
            </a:r>
            <a:r>
              <a:rPr lang="en-GB" sz="1200" b="0" i="0" dirty="0">
                <a:effectLst/>
                <a:latin typeface="Söhne"/>
              </a:rPr>
              <a:t>⅔         </a:t>
            </a:r>
            <a:r>
              <a:rPr lang="en-GB" sz="1100" b="0" i="0" dirty="0">
                <a:effectLst/>
                <a:latin typeface="Söhne"/>
              </a:rPr>
              <a:t>200       45.67</a:t>
            </a:r>
            <a:endParaRPr lang="en-US" sz="1100" dirty="0"/>
          </a:p>
        </p:txBody>
      </p:sp>
      <p:sp>
        <p:nvSpPr>
          <p:cNvPr id="19" name="TextBox 18">
            <a:extLst>
              <a:ext uri="{FF2B5EF4-FFF2-40B4-BE49-F238E27FC236}">
                <a16:creationId xmlns:a16="http://schemas.microsoft.com/office/drawing/2014/main" id="{24E9F299-C174-69A8-8CBD-FCBE4BBC5129}"/>
              </a:ext>
            </a:extLst>
          </p:cNvPr>
          <p:cNvSpPr txBox="1"/>
          <p:nvPr/>
        </p:nvSpPr>
        <p:spPr>
          <a:xfrm>
            <a:off x="3452878" y="669041"/>
            <a:ext cx="3497414" cy="1446550"/>
          </a:xfrm>
          <a:prstGeom prst="rect">
            <a:avLst/>
          </a:prstGeom>
          <a:noFill/>
        </p:spPr>
        <p:txBody>
          <a:bodyPr wrap="square">
            <a:spAutoFit/>
          </a:bodyPr>
          <a:lstStyle/>
          <a:p>
            <a:r>
              <a:rPr lang="en-GB" sz="1100"/>
              <a:t>Negative numbers have a negative sign (-) in front of them, telling us they are less than zero. They are smaller than positive numbers. They are like the opposite of positive numbers. Positive numbers are on the right side of zero, and negative numbers are on the left side.</a:t>
            </a:r>
          </a:p>
          <a:p>
            <a:r>
              <a:rPr lang="en-GB" sz="1100"/>
              <a:t>When comparing negative numbers, the one with the smaller distance from zero is considered greater. For example, -3 is greater than -5 because -3 is closer to zero.</a:t>
            </a:r>
            <a:endParaRPr lang="en-US" sz="1100"/>
          </a:p>
        </p:txBody>
      </p:sp>
      <p:sp>
        <p:nvSpPr>
          <p:cNvPr id="20" name="TextBox 19">
            <a:extLst>
              <a:ext uri="{FF2B5EF4-FFF2-40B4-BE49-F238E27FC236}">
                <a16:creationId xmlns:a16="http://schemas.microsoft.com/office/drawing/2014/main" id="{B7D8D579-9F2B-13CF-1BD3-A122E47214A1}"/>
              </a:ext>
            </a:extLst>
          </p:cNvPr>
          <p:cNvSpPr txBox="1"/>
          <p:nvPr/>
        </p:nvSpPr>
        <p:spPr>
          <a:xfrm>
            <a:off x="72653" y="2899245"/>
            <a:ext cx="3473354" cy="1461939"/>
          </a:xfrm>
          <a:prstGeom prst="rect">
            <a:avLst/>
          </a:prstGeom>
          <a:noFill/>
        </p:spPr>
        <p:txBody>
          <a:bodyPr wrap="square">
            <a:spAutoFit/>
          </a:bodyPr>
          <a:lstStyle/>
          <a:p>
            <a:pPr marL="171450" indent="-171450">
              <a:buFont typeface="Arial" panose="020B0604020202020204" pitchFamily="34" charset="0"/>
              <a:buChar char="•"/>
            </a:pPr>
            <a:r>
              <a:rPr lang="en-GB" sz="1100" dirty="0"/>
              <a:t>Temperature: If the temperature drops below zero, like -10 degrees Celsius, it means it's colder than zero degrees.</a:t>
            </a:r>
          </a:p>
          <a:p>
            <a:pPr marL="171450" indent="-171450">
              <a:buFont typeface="Arial" panose="020B0604020202020204" pitchFamily="34" charset="0"/>
              <a:buChar char="•"/>
            </a:pPr>
            <a:r>
              <a:rPr lang="en-GB" sz="1100" dirty="0"/>
              <a:t>Debt: When you owe money, the amount is represented by a negative number. For example, if you owe £100, it can be written as -£100.</a:t>
            </a:r>
          </a:p>
          <a:p>
            <a:pPr marL="171450" indent="-171450">
              <a:buFont typeface="Arial" panose="020B0604020202020204" pitchFamily="34" charset="0"/>
              <a:buChar char="•"/>
            </a:pPr>
            <a:endParaRPr lang="en-GB" sz="1100" dirty="0"/>
          </a:p>
          <a:p>
            <a:pPr algn="ctr"/>
            <a:r>
              <a:rPr lang="en-GB" sz="1100" b="0" i="0" dirty="0">
                <a:effectLst/>
                <a:latin typeface="Söhne"/>
              </a:rPr>
              <a:t>-3         -10            -0.5           -</a:t>
            </a:r>
            <a:r>
              <a:rPr lang="en-GB" sz="1200" b="0" i="0" dirty="0">
                <a:effectLst/>
                <a:latin typeface="Söhne"/>
              </a:rPr>
              <a:t>⅔            </a:t>
            </a:r>
            <a:r>
              <a:rPr lang="en-GB" sz="1100" b="0" i="0" dirty="0">
                <a:effectLst/>
                <a:latin typeface="Söhne"/>
              </a:rPr>
              <a:t>-632.456</a:t>
            </a:r>
            <a:endParaRPr lang="en-GB" sz="1100" dirty="0"/>
          </a:p>
        </p:txBody>
      </p:sp>
      <p:sp>
        <p:nvSpPr>
          <p:cNvPr id="25" name="Rectangle 24">
            <a:extLst>
              <a:ext uri="{FF2B5EF4-FFF2-40B4-BE49-F238E27FC236}">
                <a16:creationId xmlns:a16="http://schemas.microsoft.com/office/drawing/2014/main" id="{F265B32B-160B-AB93-EB18-461AE44C0C68}"/>
              </a:ext>
            </a:extLst>
          </p:cNvPr>
          <p:cNvSpPr/>
          <p:nvPr/>
        </p:nvSpPr>
        <p:spPr>
          <a:xfrm>
            <a:off x="34083" y="32904"/>
            <a:ext cx="6014442"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Ordering negative numbers</a:t>
            </a:r>
            <a:endParaRPr lang="en-GB" sz="1200">
              <a:solidFill>
                <a:schemeClr val="bg1"/>
              </a:solidFill>
            </a:endParaRPr>
          </a:p>
        </p:txBody>
      </p:sp>
      <p:graphicFrame>
        <p:nvGraphicFramePr>
          <p:cNvPr id="27" name="Table 26">
            <a:extLst>
              <a:ext uri="{FF2B5EF4-FFF2-40B4-BE49-F238E27FC236}">
                <a16:creationId xmlns:a16="http://schemas.microsoft.com/office/drawing/2014/main" id="{EB9E4F02-17E5-3C3F-487C-041998B41725}"/>
              </a:ext>
            </a:extLst>
          </p:cNvPr>
          <p:cNvGraphicFramePr>
            <a:graphicFrameLocks noGrp="1"/>
          </p:cNvGraphicFramePr>
          <p:nvPr>
            <p:extLst>
              <p:ext uri="{D42A27DB-BD31-4B8C-83A1-F6EECF244321}">
                <p14:modId xmlns:p14="http://schemas.microsoft.com/office/powerpoint/2010/main" val="2817563136"/>
              </p:ext>
            </p:extLst>
          </p:nvPr>
        </p:nvGraphicFramePr>
        <p:xfrm>
          <a:off x="134673" y="4820996"/>
          <a:ext cx="6572478" cy="4604077"/>
        </p:xfrm>
        <a:graphic>
          <a:graphicData uri="http://schemas.openxmlformats.org/drawingml/2006/table">
            <a:tbl>
              <a:tblPr firstRow="1" bandRow="1">
                <a:tableStyleId>{5C22544A-7EE6-4342-B048-85BDC9FD1C3A}</a:tableStyleId>
              </a:tblPr>
              <a:tblGrid>
                <a:gridCol w="819024">
                  <a:extLst>
                    <a:ext uri="{9D8B030D-6E8A-4147-A177-3AD203B41FA5}">
                      <a16:colId xmlns:a16="http://schemas.microsoft.com/office/drawing/2014/main" val="1568142362"/>
                    </a:ext>
                  </a:extLst>
                </a:gridCol>
                <a:gridCol w="1917818">
                  <a:extLst>
                    <a:ext uri="{9D8B030D-6E8A-4147-A177-3AD203B41FA5}">
                      <a16:colId xmlns:a16="http://schemas.microsoft.com/office/drawing/2014/main" val="3551711160"/>
                    </a:ext>
                  </a:extLst>
                </a:gridCol>
                <a:gridCol w="1917818">
                  <a:extLst>
                    <a:ext uri="{9D8B030D-6E8A-4147-A177-3AD203B41FA5}">
                      <a16:colId xmlns:a16="http://schemas.microsoft.com/office/drawing/2014/main" val="1712497518"/>
                    </a:ext>
                  </a:extLst>
                </a:gridCol>
                <a:gridCol w="1917818">
                  <a:extLst>
                    <a:ext uri="{9D8B030D-6E8A-4147-A177-3AD203B41FA5}">
                      <a16:colId xmlns:a16="http://schemas.microsoft.com/office/drawing/2014/main" val="886122921"/>
                    </a:ext>
                  </a:extLst>
                </a:gridCol>
              </a:tblGrid>
              <a:tr h="497038">
                <a:tc gridSpan="4">
                  <a:txBody>
                    <a:bodyPr/>
                    <a:lstStyle/>
                    <a:p>
                      <a:pPr algn="l"/>
                      <a:r>
                        <a:rPr lang="en-GB" sz="1200" b="0" dirty="0">
                          <a:solidFill>
                            <a:schemeClr val="tx1"/>
                          </a:solidFill>
                        </a:rPr>
                        <a:t>For the following questions, list the numbers in </a:t>
                      </a:r>
                      <a:r>
                        <a:rPr lang="en-GB" sz="1200" b="1" dirty="0">
                          <a:solidFill>
                            <a:schemeClr val="tx1"/>
                          </a:solidFill>
                        </a:rPr>
                        <a:t>ascending</a:t>
                      </a:r>
                      <a:r>
                        <a:rPr lang="en-GB" sz="1200" b="0" dirty="0">
                          <a:solidFill>
                            <a:schemeClr val="tx1"/>
                          </a:solidFill>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582307"/>
                  </a:ext>
                </a:extLst>
              </a:tr>
              <a:tr h="497038">
                <a:tc>
                  <a:txBody>
                    <a:bodyPr/>
                    <a:lstStyle/>
                    <a:p>
                      <a:endParaRPr lang="en-GB" sz="11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2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2618714"/>
                  </a:ext>
                </a:extLst>
              </a:tr>
              <a:tr h="49703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100" b="0" i="0" kern="1200">
                          <a:solidFill>
                            <a:schemeClr val="dk1"/>
                          </a:solidFill>
                          <a:effectLst/>
                          <a:latin typeface="+mn-lt"/>
                          <a:ea typeface="+mn-ea"/>
                          <a:cs typeface="+mn-cs"/>
                        </a:rPr>
                        <a:t>-9, 9, 0, -1,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i="0" kern="1200">
                          <a:solidFill>
                            <a:schemeClr val="dk1"/>
                          </a:solidFill>
                          <a:effectLst/>
                          <a:latin typeface="+mn-lt"/>
                          <a:ea typeface="+mn-ea"/>
                          <a:cs typeface="+mn-cs"/>
                        </a:rPr>
                        <a:t>-9, 9, 0, -11, -7</a:t>
                      </a:r>
                      <a:endParaRPr lang="en-GB"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100" b="0">
                          <a:solidFill>
                            <a:schemeClr val="tx1"/>
                          </a:solidFill>
                        </a:rPr>
                        <a:t>-9, 9, 0, 11,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6187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0">
                          <a:solidFill>
                            <a:schemeClr val="tx1"/>
                          </a:solidFill>
                        </a:rPr>
                        <a:t>Look for the negative furthest from zero. This is the smallest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2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endParaRPr lang="en-US" sz="1400" b="1" baseline="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5109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000" dirty="0">
                          <a:solidFill>
                            <a:schemeClr val="tx1"/>
                          </a:solidFill>
                        </a:rPr>
                        <a:t>Repeat this step until all negatives have been ordered, then order the positives.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270818243"/>
                  </a:ext>
                </a:extLst>
              </a:tr>
            </a:tbl>
          </a:graphicData>
        </a:graphic>
      </p:graphicFrame>
      <p:sp>
        <p:nvSpPr>
          <p:cNvPr id="28" name="TextBox 27">
            <a:extLst>
              <a:ext uri="{FF2B5EF4-FFF2-40B4-BE49-F238E27FC236}">
                <a16:creationId xmlns:a16="http://schemas.microsoft.com/office/drawing/2014/main" id="{D2D71FA2-DD7E-DA2A-1AC1-1E91CCE54C09}"/>
              </a:ext>
            </a:extLst>
          </p:cNvPr>
          <p:cNvSpPr txBox="1"/>
          <p:nvPr/>
        </p:nvSpPr>
        <p:spPr>
          <a:xfrm>
            <a:off x="1202132" y="5259048"/>
            <a:ext cx="1410704" cy="276999"/>
          </a:xfrm>
          <a:prstGeom prst="rect">
            <a:avLst/>
          </a:prstGeom>
          <a:noFill/>
          <a:ln>
            <a:noFill/>
          </a:ln>
        </p:spPr>
        <p:txBody>
          <a:bodyPr wrap="square" rtlCol="0">
            <a:spAutoFit/>
          </a:bodyPr>
          <a:lstStyle/>
          <a:p>
            <a:r>
              <a:rPr lang="en-GB" sz="1200" b="1" i="1" dirty="0">
                <a:solidFill>
                  <a:srgbClr val="FF0000"/>
                </a:solidFill>
              </a:rPr>
              <a:t>Example 25 - I do…</a:t>
            </a:r>
          </a:p>
        </p:txBody>
      </p:sp>
      <p:sp>
        <p:nvSpPr>
          <p:cNvPr id="29" name="TextBox 28">
            <a:extLst>
              <a:ext uri="{FF2B5EF4-FFF2-40B4-BE49-F238E27FC236}">
                <a16:creationId xmlns:a16="http://schemas.microsoft.com/office/drawing/2014/main" id="{FE940041-C524-CE30-6CC9-1FED4FE7541D}"/>
              </a:ext>
            </a:extLst>
          </p:cNvPr>
          <p:cNvSpPr txBox="1"/>
          <p:nvPr/>
        </p:nvSpPr>
        <p:spPr>
          <a:xfrm>
            <a:off x="5121488" y="5252227"/>
            <a:ext cx="1643405" cy="276999"/>
          </a:xfrm>
          <a:prstGeom prst="rect">
            <a:avLst/>
          </a:prstGeom>
          <a:noFill/>
          <a:ln>
            <a:noFill/>
          </a:ln>
        </p:spPr>
        <p:txBody>
          <a:bodyPr wrap="square" rtlCol="0">
            <a:spAutoFit/>
          </a:bodyPr>
          <a:lstStyle/>
          <a:p>
            <a:r>
              <a:rPr lang="en-GB" sz="1200" b="1" i="1" dirty="0">
                <a:solidFill>
                  <a:srgbClr val="00B050"/>
                </a:solidFill>
              </a:rPr>
              <a:t>Example 27 – You do…</a:t>
            </a:r>
          </a:p>
        </p:txBody>
      </p:sp>
      <p:sp>
        <p:nvSpPr>
          <p:cNvPr id="30" name="TextBox 29">
            <a:extLst>
              <a:ext uri="{FF2B5EF4-FFF2-40B4-BE49-F238E27FC236}">
                <a16:creationId xmlns:a16="http://schemas.microsoft.com/office/drawing/2014/main" id="{775F164C-C59F-91B7-D110-7FFB8DC3051D}"/>
              </a:ext>
            </a:extLst>
          </p:cNvPr>
          <p:cNvSpPr txBox="1"/>
          <p:nvPr/>
        </p:nvSpPr>
        <p:spPr>
          <a:xfrm>
            <a:off x="3163410" y="5239654"/>
            <a:ext cx="1643405" cy="276999"/>
          </a:xfrm>
          <a:prstGeom prst="rect">
            <a:avLst/>
          </a:prstGeom>
          <a:noFill/>
          <a:ln>
            <a:noFill/>
          </a:ln>
        </p:spPr>
        <p:txBody>
          <a:bodyPr wrap="square" rtlCol="0">
            <a:spAutoFit/>
          </a:bodyPr>
          <a:lstStyle/>
          <a:p>
            <a:r>
              <a:rPr lang="en-GB" sz="1200" b="1" i="1" dirty="0">
                <a:solidFill>
                  <a:schemeClr val="accent2"/>
                </a:solidFill>
              </a:rPr>
              <a:t>Example 26 – We do…</a:t>
            </a:r>
          </a:p>
        </p:txBody>
      </p:sp>
    </p:spTree>
    <p:extLst>
      <p:ext uri="{BB962C8B-B14F-4D97-AF65-F5344CB8AC3E}">
        <p14:creationId xmlns:p14="http://schemas.microsoft.com/office/powerpoint/2010/main" val="1221249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9E9B0B-29B4-D21F-7EF5-1E14B504CBFD}"/>
              </a:ext>
            </a:extLst>
          </p:cNvPr>
          <p:cNvSpPr>
            <a:spLocks noGrp="1"/>
          </p:cNvSpPr>
          <p:nvPr>
            <p:ph type="sldNum" sz="quarter" idx="12"/>
          </p:nvPr>
        </p:nvSpPr>
        <p:spPr>
          <a:xfrm>
            <a:off x="5187288" y="9147399"/>
            <a:ext cx="1543050" cy="527403"/>
          </a:xfrm>
        </p:spPr>
        <p:txBody>
          <a:bodyPr/>
          <a:lstStyle/>
          <a:p>
            <a:fld id="{19F1D9CC-7119-45EC-A96C-D8C0660F3AAB}" type="slidenum">
              <a:rPr lang="en-GB" smtClean="0"/>
              <a:t>11</a:t>
            </a:fld>
            <a:endParaRPr lang="en-GB"/>
          </a:p>
        </p:txBody>
      </p:sp>
      <p:sp>
        <p:nvSpPr>
          <p:cNvPr id="3" name="Rectangle 2">
            <a:extLst>
              <a:ext uri="{FF2B5EF4-FFF2-40B4-BE49-F238E27FC236}">
                <a16:creationId xmlns:a16="http://schemas.microsoft.com/office/drawing/2014/main" id="{141ECE3F-4A3E-F602-C1A8-B66869E591E5}"/>
              </a:ext>
            </a:extLst>
          </p:cNvPr>
          <p:cNvSpPr/>
          <p:nvPr/>
        </p:nvSpPr>
        <p:spPr>
          <a:xfrm>
            <a:off x="147794" y="19720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graphicFrame>
        <p:nvGraphicFramePr>
          <p:cNvPr id="4" name="Table 3">
            <a:extLst>
              <a:ext uri="{FF2B5EF4-FFF2-40B4-BE49-F238E27FC236}">
                <a16:creationId xmlns:a16="http://schemas.microsoft.com/office/drawing/2014/main" id="{91DFA472-8CAC-5466-331E-96055FD1D98C}"/>
              </a:ext>
            </a:extLst>
          </p:cNvPr>
          <p:cNvGraphicFramePr>
            <a:graphicFrameLocks noGrp="1"/>
          </p:cNvGraphicFramePr>
          <p:nvPr>
            <p:extLst>
              <p:ext uri="{D42A27DB-BD31-4B8C-83A1-F6EECF244321}">
                <p14:modId xmlns:p14="http://schemas.microsoft.com/office/powerpoint/2010/main" val="1498030917"/>
              </p:ext>
            </p:extLst>
          </p:nvPr>
        </p:nvGraphicFramePr>
        <p:xfrm>
          <a:off x="147794" y="612145"/>
          <a:ext cx="6572478" cy="4340854"/>
        </p:xfrm>
        <a:graphic>
          <a:graphicData uri="http://schemas.openxmlformats.org/drawingml/2006/table">
            <a:tbl>
              <a:tblPr firstRow="1" bandRow="1">
                <a:tableStyleId>{5C22544A-7EE6-4342-B048-85BDC9FD1C3A}</a:tableStyleId>
              </a:tblPr>
              <a:tblGrid>
                <a:gridCol w="2572257">
                  <a:extLst>
                    <a:ext uri="{9D8B030D-6E8A-4147-A177-3AD203B41FA5}">
                      <a16:colId xmlns:a16="http://schemas.microsoft.com/office/drawing/2014/main" val="3632647821"/>
                    </a:ext>
                  </a:extLst>
                </a:gridCol>
                <a:gridCol w="4000221">
                  <a:extLst>
                    <a:ext uri="{9D8B030D-6E8A-4147-A177-3AD203B41FA5}">
                      <a16:colId xmlns:a16="http://schemas.microsoft.com/office/drawing/2014/main" val="4273164257"/>
                    </a:ext>
                  </a:extLst>
                </a:gridCol>
              </a:tblGrid>
              <a:tr h="326822">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28. </a:t>
                      </a:r>
                      <a:r>
                        <a:rPr lang="en-GB" sz="1200" b="0" dirty="0">
                          <a:solidFill>
                            <a:schemeClr val="tx1"/>
                          </a:solidFill>
                          <a:latin typeface="+mn-lt"/>
                        </a:rPr>
                        <a:t>For the following questions, list the numbers in </a:t>
                      </a:r>
                      <a:r>
                        <a:rPr lang="en-GB" sz="1200" b="1" dirty="0">
                          <a:solidFill>
                            <a:schemeClr val="tx1"/>
                          </a:solidFill>
                          <a:latin typeface="+mn-lt"/>
                        </a:rPr>
                        <a:t>ascending</a:t>
                      </a:r>
                      <a:r>
                        <a:rPr lang="en-GB" sz="1200" b="0" dirty="0">
                          <a:solidFill>
                            <a:schemeClr val="tx1"/>
                          </a:solidFill>
                          <a:latin typeface="+mn-lt"/>
                        </a:rPr>
                        <a:t> order.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5532570"/>
                  </a:ext>
                </a:extLst>
              </a:tr>
              <a:tr h="501754">
                <a:tc>
                  <a:txBody>
                    <a:bodyPr/>
                    <a:lstStyle/>
                    <a:p>
                      <a:r>
                        <a:rPr lang="en-US" sz="1100" baseline="0">
                          <a:solidFill>
                            <a:schemeClr val="tx1"/>
                          </a:solidFill>
                          <a:latin typeface="+mn-lt"/>
                        </a:rPr>
                        <a:t>a) </a:t>
                      </a:r>
                      <a:r>
                        <a:rPr lang="en-GB" sz="1100" b="0" i="0" kern="1200">
                          <a:solidFill>
                            <a:schemeClr val="dk1"/>
                          </a:solidFill>
                          <a:effectLst/>
                          <a:latin typeface="+mn-lt"/>
                          <a:ea typeface="+mn-ea"/>
                          <a:cs typeface="+mn-cs"/>
                        </a:rPr>
                        <a:t>-3, 13, 3, -2, 0, 1</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8400191"/>
                  </a:ext>
                </a:extLst>
              </a:tr>
              <a:tr h="501754">
                <a:tc>
                  <a:txBody>
                    <a:bodyPr/>
                    <a:lstStyle/>
                    <a:p>
                      <a:r>
                        <a:rPr lang="en-US" sz="1400" baseline="0" dirty="0">
                          <a:solidFill>
                            <a:schemeClr val="tx1"/>
                          </a:solidFill>
                          <a:latin typeface="+mn-lt"/>
                        </a:rPr>
                        <a:t>b) </a:t>
                      </a:r>
                      <a:r>
                        <a:rPr lang="en-GB" sz="1400" b="0" i="0" kern="1200" dirty="0">
                          <a:solidFill>
                            <a:schemeClr val="dk1"/>
                          </a:solidFill>
                          <a:effectLst/>
                          <a:latin typeface="+mn-lt"/>
                          <a:ea typeface="+mn-ea"/>
                          <a:cs typeface="+mn-cs"/>
                        </a:rPr>
                        <a:t>-3, -1, 3, -7, 0, 14</a:t>
                      </a:r>
                      <a:endParaRPr lang="en-US" sz="14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7699537"/>
                  </a:ext>
                </a:extLst>
              </a:tr>
              <a:tr h="501754">
                <a:tc>
                  <a:txBody>
                    <a:bodyPr/>
                    <a:lstStyle/>
                    <a:p>
                      <a:r>
                        <a:rPr lang="en-US" sz="1100" baseline="0">
                          <a:solidFill>
                            <a:schemeClr val="tx1"/>
                          </a:solidFill>
                          <a:latin typeface="+mn-lt"/>
                        </a:rPr>
                        <a:t>c) -</a:t>
                      </a:r>
                      <a:r>
                        <a:rPr lang="en-GB" sz="1100" b="0" i="0" kern="1200">
                          <a:solidFill>
                            <a:schemeClr val="dk1"/>
                          </a:solidFill>
                          <a:effectLst/>
                          <a:latin typeface="+mn-lt"/>
                          <a:ea typeface="+mn-ea"/>
                          <a:cs typeface="+mn-cs"/>
                        </a:rPr>
                        <a:t>13, -1, 3, -7, 10, 14</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3278960"/>
                  </a:ext>
                </a:extLst>
              </a:tr>
              <a:tr h="5017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aseline="0" dirty="0">
                          <a:solidFill>
                            <a:schemeClr val="tx1"/>
                          </a:solidFill>
                          <a:latin typeface="+mn-lt"/>
                        </a:rPr>
                        <a:t>d) </a:t>
                      </a:r>
                      <a:r>
                        <a:rPr lang="en-GB" sz="1100" b="0" i="0" kern="1200" dirty="0">
                          <a:solidFill>
                            <a:schemeClr val="dk1"/>
                          </a:solidFill>
                          <a:effectLst/>
                          <a:latin typeface="+mn-lt"/>
                          <a:ea typeface="+mn-ea"/>
                          <a:cs typeface="+mn-cs"/>
                        </a:rPr>
                        <a:t>13, -11, 3, -72, 104, -4</a:t>
                      </a:r>
                      <a:endParaRPr lang="en-US" sz="1100" baseline="0" dirty="0">
                        <a:solidFill>
                          <a:schemeClr val="tx1"/>
                        </a:solidFill>
                        <a:latin typeface="+mn-lt"/>
                      </a:endParaRPr>
                    </a:p>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957616"/>
                  </a:ext>
                </a:extLst>
              </a:tr>
              <a:tr h="501754">
                <a:tc>
                  <a:txBody>
                    <a:bodyPr/>
                    <a:lstStyle/>
                    <a:p>
                      <a:r>
                        <a:rPr lang="en-US" sz="1100" baseline="0">
                          <a:solidFill>
                            <a:schemeClr val="tx1"/>
                          </a:solidFill>
                          <a:latin typeface="+mn-lt"/>
                        </a:rPr>
                        <a:t>e) </a:t>
                      </a:r>
                      <a:r>
                        <a:rPr lang="en-GB" sz="1100"/>
                        <a:t>3, −5, 1, 0, −2, 4 </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3337323"/>
                  </a:ext>
                </a:extLst>
              </a:tr>
              <a:tr h="501754">
                <a:tc>
                  <a:txBody>
                    <a:bodyPr/>
                    <a:lstStyle/>
                    <a:p>
                      <a:r>
                        <a:rPr lang="en-US" sz="1100" baseline="0" dirty="0">
                          <a:solidFill>
                            <a:schemeClr val="tx1"/>
                          </a:solidFill>
                          <a:latin typeface="+mn-lt"/>
                        </a:rPr>
                        <a:t>f) </a:t>
                      </a:r>
                      <a:r>
                        <a:rPr lang="en-GB" sz="1100" dirty="0"/>
                        <a:t>−1, 8, −5, 2, −9, −4, 3</a:t>
                      </a:r>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0762331"/>
                  </a:ext>
                </a:extLst>
              </a:tr>
              <a:tr h="501754">
                <a:tc>
                  <a:txBody>
                    <a:bodyPr/>
                    <a:lstStyle/>
                    <a:p>
                      <a:r>
                        <a:rPr lang="en-US" sz="1100" baseline="0">
                          <a:solidFill>
                            <a:schemeClr val="tx1"/>
                          </a:solidFill>
                          <a:latin typeface="+mn-lt"/>
                        </a:rPr>
                        <a:t>g) </a:t>
                      </a:r>
                      <a:r>
                        <a:rPr lang="en-GB" sz="1100"/>
                        <a:t>−1, −7, −2, 5, −6, 1</a:t>
                      </a:r>
                      <a:endParaRPr lang="en-US" sz="11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4085176"/>
                  </a:ext>
                </a:extLst>
              </a:tr>
              <a:tr h="50175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mn-lt"/>
                        </a:rPr>
                        <a:t>h) </a:t>
                      </a:r>
                      <a:r>
                        <a:rPr lang="en-GB" sz="1200" dirty="0"/>
                        <a:t>10, −7, −3, 5, −9, −2, −12 </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7638818"/>
                  </a:ext>
                </a:extLst>
              </a:tr>
            </a:tbl>
          </a:graphicData>
        </a:graphic>
      </p:graphicFrame>
      <p:graphicFrame>
        <p:nvGraphicFramePr>
          <p:cNvPr id="6" name="Table 5">
            <a:extLst>
              <a:ext uri="{FF2B5EF4-FFF2-40B4-BE49-F238E27FC236}">
                <a16:creationId xmlns:a16="http://schemas.microsoft.com/office/drawing/2014/main" id="{0BA277E9-5C25-87DA-BA65-E7FD284B9476}"/>
              </a:ext>
            </a:extLst>
          </p:cNvPr>
          <p:cNvGraphicFramePr>
            <a:graphicFrameLocks noGrp="1"/>
          </p:cNvGraphicFramePr>
          <p:nvPr>
            <p:extLst>
              <p:ext uri="{D42A27DB-BD31-4B8C-83A1-F6EECF244321}">
                <p14:modId xmlns:p14="http://schemas.microsoft.com/office/powerpoint/2010/main" val="1050059932"/>
              </p:ext>
            </p:extLst>
          </p:nvPr>
        </p:nvGraphicFramePr>
        <p:xfrm>
          <a:off x="147794" y="5059361"/>
          <a:ext cx="6572478" cy="2419957"/>
        </p:xfrm>
        <a:graphic>
          <a:graphicData uri="http://schemas.openxmlformats.org/drawingml/2006/table">
            <a:tbl>
              <a:tblPr firstRow="1" bandRow="1">
                <a:tableStyleId>{5C22544A-7EE6-4342-B048-85BDC9FD1C3A}</a:tableStyleId>
              </a:tblPr>
              <a:tblGrid>
                <a:gridCol w="3445391">
                  <a:extLst>
                    <a:ext uri="{9D8B030D-6E8A-4147-A177-3AD203B41FA5}">
                      <a16:colId xmlns:a16="http://schemas.microsoft.com/office/drawing/2014/main" val="3585318020"/>
                    </a:ext>
                  </a:extLst>
                </a:gridCol>
                <a:gridCol w="3127087">
                  <a:extLst>
                    <a:ext uri="{9D8B030D-6E8A-4147-A177-3AD203B41FA5}">
                      <a16:colId xmlns:a16="http://schemas.microsoft.com/office/drawing/2014/main" val="3155652492"/>
                    </a:ext>
                  </a:extLst>
                </a:gridCol>
              </a:tblGrid>
              <a:tr h="334896">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latin typeface="+mn-lt"/>
                        </a:rPr>
                        <a:t>29. Arrange the following temperatures in order, from lowest to highest.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5478197"/>
                  </a:ext>
                </a:extLst>
              </a:tr>
              <a:tr h="504284">
                <a:tc>
                  <a:txBody>
                    <a:bodyPr/>
                    <a:lstStyle/>
                    <a:p>
                      <a:r>
                        <a:rPr lang="en-US" sz="1200" baseline="0">
                          <a:solidFill>
                            <a:schemeClr val="tx1"/>
                          </a:solidFill>
                          <a:latin typeface="+mn-lt"/>
                        </a:rPr>
                        <a:t>a) -</a:t>
                      </a:r>
                      <a:r>
                        <a:rPr lang="en-GB" sz="1200"/>
                        <a:t>8°C, 12°C, 9°C, -15°C, 11°C, -7°C, 2°C</a:t>
                      </a:r>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8866046"/>
                  </a:ext>
                </a:extLst>
              </a:tr>
              <a:tr h="55833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mn-lt"/>
                        </a:rPr>
                        <a:t>b) </a:t>
                      </a:r>
                      <a:r>
                        <a:rPr lang="en-GB" sz="1400" dirty="0"/>
                        <a:t>2°C, −5°C, 4°C, 8°C, −3°C, 1°C, −7°C</a:t>
                      </a:r>
                      <a:endParaRPr lang="en-US" sz="1400" baseline="0" dirty="0">
                        <a:solidFill>
                          <a:schemeClr val="tx1"/>
                        </a:solidFill>
                        <a:latin typeface="+mn-lt"/>
                      </a:endParaRPr>
                    </a:p>
                    <a:p>
                      <a:endParaRPr lang="en-US" sz="1400" b="1" baseline="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7454377"/>
                  </a:ext>
                </a:extLst>
              </a:tr>
              <a:tr h="504284">
                <a:tc>
                  <a:txBody>
                    <a:bodyPr/>
                    <a:lstStyle/>
                    <a:p>
                      <a:r>
                        <a:rPr lang="en-US" sz="1200" baseline="0" dirty="0">
                          <a:solidFill>
                            <a:schemeClr val="tx1"/>
                          </a:solidFill>
                          <a:latin typeface="+mn-lt"/>
                        </a:rPr>
                        <a:t>c) </a:t>
                      </a:r>
                      <a:r>
                        <a:rPr lang="en-GB" sz="1200" dirty="0"/>
                        <a:t>5°C, −3°C, 11°C, 9°C, −14°C, 21°C, −1°C</a:t>
                      </a:r>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5435665"/>
                  </a:ext>
                </a:extLst>
              </a:tr>
              <a:tr h="32843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aseline="0" dirty="0">
                          <a:solidFill>
                            <a:schemeClr val="tx1"/>
                          </a:solidFill>
                          <a:latin typeface="+mn-lt"/>
                        </a:rPr>
                        <a:t>c) </a:t>
                      </a:r>
                      <a:r>
                        <a:rPr lang="en-GB" sz="1400" baseline="0" dirty="0">
                          <a:solidFill>
                            <a:schemeClr val="tx1"/>
                          </a:solidFill>
                          <a:latin typeface="+mn-lt"/>
                        </a:rPr>
                        <a:t>19</a:t>
                      </a:r>
                      <a:r>
                        <a:rPr lang="en-GB" sz="1400" dirty="0"/>
                        <a:t>°C, -92°C, 93°C, -91°C, −29°C, 21°C, 0°C</a:t>
                      </a:r>
                      <a:endParaRPr lang="en-US" sz="1400" baseline="0" dirty="0">
                        <a:solidFill>
                          <a:schemeClr val="tx1"/>
                        </a:solidFill>
                        <a:latin typeface="+mn-lt"/>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262024"/>
                  </a:ext>
                </a:extLst>
              </a:tr>
            </a:tbl>
          </a:graphicData>
        </a:graphic>
      </p:graphicFrame>
      <p:graphicFrame>
        <p:nvGraphicFramePr>
          <p:cNvPr id="7" name="Table 6">
            <a:extLst>
              <a:ext uri="{FF2B5EF4-FFF2-40B4-BE49-F238E27FC236}">
                <a16:creationId xmlns:a16="http://schemas.microsoft.com/office/drawing/2014/main" id="{6F6378CB-2585-DF1D-1554-D3CDFBBF8138}"/>
              </a:ext>
            </a:extLst>
          </p:cNvPr>
          <p:cNvGraphicFramePr>
            <a:graphicFrameLocks noGrp="1"/>
          </p:cNvGraphicFramePr>
          <p:nvPr>
            <p:extLst>
              <p:ext uri="{D42A27DB-BD31-4B8C-83A1-F6EECF244321}">
                <p14:modId xmlns:p14="http://schemas.microsoft.com/office/powerpoint/2010/main" val="483296734"/>
              </p:ext>
            </p:extLst>
          </p:nvPr>
        </p:nvGraphicFramePr>
        <p:xfrm>
          <a:off x="147794" y="7422800"/>
          <a:ext cx="6572478" cy="2286000"/>
        </p:xfrm>
        <a:graphic>
          <a:graphicData uri="http://schemas.openxmlformats.org/drawingml/2006/table">
            <a:tbl>
              <a:tblPr firstRow="1" bandRow="1">
                <a:tableStyleId>{5C22544A-7EE6-4342-B048-85BDC9FD1C3A}</a:tableStyleId>
              </a:tblPr>
              <a:tblGrid>
                <a:gridCol w="3286239">
                  <a:extLst>
                    <a:ext uri="{9D8B030D-6E8A-4147-A177-3AD203B41FA5}">
                      <a16:colId xmlns:a16="http://schemas.microsoft.com/office/drawing/2014/main" val="4012489937"/>
                    </a:ext>
                  </a:extLst>
                </a:gridCol>
                <a:gridCol w="3286239">
                  <a:extLst>
                    <a:ext uri="{9D8B030D-6E8A-4147-A177-3AD203B41FA5}">
                      <a16:colId xmlns:a16="http://schemas.microsoft.com/office/drawing/2014/main" val="964091021"/>
                    </a:ext>
                  </a:extLst>
                </a:gridCol>
              </a:tblGrid>
              <a:tr h="468000">
                <a:tc>
                  <a:txBody>
                    <a:bodyPr/>
                    <a:lstStyle/>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p>
                      <a:endParaRPr lang="en-US" sz="1200" baseline="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0" baseline="0" dirty="0">
                          <a:solidFill>
                            <a:schemeClr val="tx1"/>
                          </a:solidFill>
                          <a:latin typeface="+mn-lt"/>
                        </a:rPr>
                        <a:t>4. Arrange the towns in order of temperature, starting with the lowest.</a:t>
                      </a:r>
                    </a:p>
                    <a:p>
                      <a:endParaRPr lang="en-US" sz="120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4026267"/>
                  </a:ext>
                </a:extLst>
              </a:tr>
            </a:tbl>
          </a:graphicData>
        </a:graphic>
      </p:graphicFrame>
      <p:pic>
        <p:nvPicPr>
          <p:cNvPr id="8" name="Picture 7">
            <a:extLst>
              <a:ext uri="{FF2B5EF4-FFF2-40B4-BE49-F238E27FC236}">
                <a16:creationId xmlns:a16="http://schemas.microsoft.com/office/drawing/2014/main" id="{6D64E538-76A9-8E5C-26F0-93C053D7D952}"/>
              </a:ext>
            </a:extLst>
          </p:cNvPr>
          <p:cNvPicPr>
            <a:picLocks noChangeAspect="1"/>
          </p:cNvPicPr>
          <p:nvPr/>
        </p:nvPicPr>
        <p:blipFill>
          <a:blip r:embed="rId2"/>
          <a:stretch>
            <a:fillRect/>
          </a:stretch>
        </p:blipFill>
        <p:spPr>
          <a:xfrm>
            <a:off x="373163" y="7556009"/>
            <a:ext cx="2705478" cy="2019582"/>
          </a:xfrm>
          <a:prstGeom prst="rect">
            <a:avLst/>
          </a:prstGeom>
        </p:spPr>
      </p:pic>
    </p:spTree>
    <p:extLst>
      <p:ext uri="{BB962C8B-B14F-4D97-AF65-F5344CB8AC3E}">
        <p14:creationId xmlns:p14="http://schemas.microsoft.com/office/powerpoint/2010/main" val="3443557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ECBD35-2FA9-D94C-85CC-B269D46DFAF6}"/>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1600" dirty="0">
                <a:solidFill>
                  <a:prstClr val="white"/>
                </a:solidFill>
              </a:rPr>
              <a:t>Subtopic 2a </a:t>
            </a:r>
            <a:r>
              <a:rPr kumimoji="0" lang="en-GB" sz="1600" i="0" u="none" strike="noStrike" kern="1200" cap="none" spc="0" normalizeH="0" baseline="0" noProof="0" dirty="0">
                <a:ln>
                  <a:noFill/>
                </a:ln>
                <a:solidFill>
                  <a:prstClr val="white"/>
                </a:solidFill>
                <a:effectLst/>
                <a:uLnTx/>
                <a:uFillTx/>
                <a:latin typeface="Calibri" panose="020F0502020204030204"/>
              </a:rPr>
              <a:t>– </a:t>
            </a:r>
            <a:r>
              <a:rPr lang="en-GB" sz="1600" dirty="0">
                <a:solidFill>
                  <a:prstClr val="white"/>
                </a:solidFill>
              </a:rPr>
              <a:t>Rounding to nearest integer, or decimal places</a:t>
            </a:r>
          </a:p>
        </p:txBody>
      </p:sp>
      <p:sp>
        <p:nvSpPr>
          <p:cNvPr id="4" name="Rectangle 3">
            <a:extLst>
              <a:ext uri="{FF2B5EF4-FFF2-40B4-BE49-F238E27FC236}">
                <a16:creationId xmlns:a16="http://schemas.microsoft.com/office/drawing/2014/main" id="{04BFD1EF-DBB4-2249-B998-BA5834451F7D}"/>
              </a:ext>
            </a:extLst>
          </p:cNvPr>
          <p:cNvSpPr/>
          <p:nvPr/>
        </p:nvSpPr>
        <p:spPr>
          <a:xfrm>
            <a:off x="72056" y="414784"/>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0A63AA0-9785-7842-8746-181CA9DC5483}"/>
              </a:ext>
            </a:extLst>
          </p:cNvPr>
          <p:cNvSpPr txBox="1"/>
          <p:nvPr/>
        </p:nvSpPr>
        <p:spPr>
          <a:xfrm>
            <a:off x="304914" y="787525"/>
            <a:ext cx="114939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2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6" name="TextBox 5">
            <a:extLst>
              <a:ext uri="{FF2B5EF4-FFF2-40B4-BE49-F238E27FC236}">
                <a16:creationId xmlns:a16="http://schemas.microsoft.com/office/drawing/2014/main" id="{8D99EBB3-E635-9B48-A13A-F8FC9E5CF168}"/>
              </a:ext>
            </a:extLst>
          </p:cNvPr>
          <p:cNvSpPr txBox="1"/>
          <p:nvPr/>
        </p:nvSpPr>
        <p:spPr>
          <a:xfrm>
            <a:off x="422291" y="977943"/>
            <a:ext cx="5055338"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a:ln>
                  <a:noFill/>
                </a:ln>
                <a:solidFill>
                  <a:prstClr val="black"/>
                </a:solidFill>
                <a:effectLst/>
                <a:uLnTx/>
                <a:uFillTx/>
                <a:latin typeface="Calibri" panose="020F0502020204030204"/>
              </a:rPr>
              <a:t>To round a</a:t>
            </a:r>
            <a:r>
              <a:rPr kumimoji="0" lang="en-GB" sz="1200" b="0" i="0" u="none" strike="noStrike" kern="1200" cap="none" spc="0" normalizeH="0" noProof="0">
                <a:ln>
                  <a:noFill/>
                </a:ln>
                <a:solidFill>
                  <a:prstClr val="black"/>
                </a:solidFill>
                <a:effectLst/>
                <a:uLnTx/>
                <a:uFillTx/>
                <a:latin typeface="Calibri" panose="020F0502020204030204"/>
              </a:rPr>
              <a:t> whole number.</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a:solidFill>
                  <a:prstClr val="black"/>
                </a:solidFill>
                <a:latin typeface="Calibri" panose="020F0502020204030204"/>
              </a:rPr>
              <a:t>To round numbers to the nearest 10, 100,1000.</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a:solidFill>
                  <a:prstClr val="black"/>
                </a:solidFill>
                <a:latin typeface="Calibri" panose="020F0502020204030204"/>
              </a:rPr>
              <a:t>To answer worded questions about rounding. </a:t>
            </a:r>
            <a:endParaRPr kumimoji="0" lang="en-GB" sz="1200" b="0" i="0" u="none" strike="noStrike" kern="1200" cap="none" spc="0" normalizeH="0" noProof="0">
              <a:ln>
                <a:noFill/>
              </a:ln>
              <a:solidFill>
                <a:prstClr val="black"/>
              </a:solidFill>
              <a:effectLst/>
              <a:uLnTx/>
              <a:uFillTx/>
              <a:latin typeface="Calibri" panose="020F0502020204030204"/>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200" b="0" i="0" u="none" strike="noStrike" kern="1200" cap="none" spc="0" normalizeH="0" baseline="0" noProof="0">
              <a:ln>
                <a:noFill/>
              </a:ln>
              <a:solidFill>
                <a:prstClr val="black"/>
              </a:solidFill>
              <a:effectLst/>
              <a:uLnTx/>
              <a:uFillTx/>
              <a:latin typeface="Calibri" panose="020F0502020204030204"/>
            </a:endParaRPr>
          </a:p>
        </p:txBody>
      </p:sp>
      <p:sp>
        <p:nvSpPr>
          <p:cNvPr id="7" name="TextBox 6">
            <a:extLst>
              <a:ext uri="{FF2B5EF4-FFF2-40B4-BE49-F238E27FC236}">
                <a16:creationId xmlns:a16="http://schemas.microsoft.com/office/drawing/2014/main" id="{F48C742E-559E-184B-B2D4-43B2F774DF10}"/>
              </a:ext>
            </a:extLst>
          </p:cNvPr>
          <p:cNvSpPr txBox="1"/>
          <p:nvPr/>
        </p:nvSpPr>
        <p:spPr>
          <a:xfrm>
            <a:off x="149877" y="472802"/>
            <a:ext cx="6590100"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 To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round numbers to the nearest</a:t>
            </a:r>
            <a:r>
              <a:rPr kumimoji="0" lang="en-US" sz="1200" b="1" i="0" u="none" strike="noStrike" kern="1200" cap="none" spc="0" normalizeH="0" noProof="0">
                <a:ln>
                  <a:noFill/>
                </a:ln>
                <a:solidFill>
                  <a:prstClr val="black"/>
                </a:solidFill>
                <a:effectLst/>
                <a:uLnTx/>
                <a:uFillTx/>
                <a:latin typeface="Calibri" panose="020F0502020204030204"/>
                <a:ea typeface="+mn-ea"/>
                <a:cs typeface="+mn-cs"/>
              </a:rPr>
              <a:t> 10, 100, 1000.</a:t>
            </a: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56BA6AD-76E4-264F-9E79-1A6D05899D87}"/>
              </a:ext>
            </a:extLst>
          </p:cNvPr>
          <p:cNvSpPr txBox="1"/>
          <p:nvPr/>
        </p:nvSpPr>
        <p:spPr>
          <a:xfrm>
            <a:off x="5096560" y="926588"/>
            <a:ext cx="1373688" cy="769441"/>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rPr>
              <a:t>Approximation</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rPr>
              <a:t>Integer </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100">
                <a:solidFill>
                  <a:prstClr val="black"/>
                </a:solidFill>
                <a:latin typeface="Calibri" panose="020F0502020204030204"/>
              </a:rPr>
              <a:t>Round </a:t>
            </a:r>
          </a:p>
        </p:txBody>
      </p:sp>
      <p:sp>
        <p:nvSpPr>
          <p:cNvPr id="2" name="Slide Number Placeholder 1"/>
          <p:cNvSpPr>
            <a:spLocks noGrp="1"/>
          </p:cNvSpPr>
          <p:nvPr>
            <p:ph type="sldNum" sz="quarter" idx="12"/>
          </p:nvPr>
        </p:nvSpPr>
        <p:spPr>
          <a:xfrm>
            <a:off x="5314950" y="9532351"/>
            <a:ext cx="1543050" cy="527403"/>
          </a:xfrm>
        </p:spPr>
        <p:txBody>
          <a:bodyPr/>
          <a:lstStyle/>
          <a:p>
            <a:fld id="{19F1D9CC-7119-45EC-A96C-D8C0660F3AAB}" type="slidenum">
              <a:rPr lang="en-GB" smtClean="0"/>
              <a:t>12</a:t>
            </a:fld>
            <a:endParaRPr lang="en-GB"/>
          </a:p>
        </p:txBody>
      </p:sp>
      <p:cxnSp>
        <p:nvCxnSpPr>
          <p:cNvPr id="13" name="Straight Connector 12">
            <a:extLst>
              <a:ext uri="{FF2B5EF4-FFF2-40B4-BE49-F238E27FC236}">
                <a16:creationId xmlns:a16="http://schemas.microsoft.com/office/drawing/2014/main" id="{894A9321-F5C6-8407-F7F4-EE47D606566A}"/>
              </a:ext>
            </a:extLst>
          </p:cNvPr>
          <p:cNvCxnSpPr/>
          <p:nvPr/>
        </p:nvCxnSpPr>
        <p:spPr>
          <a:xfrm flipV="1">
            <a:off x="926737" y="379520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1BC6974-39A0-A92A-2C50-760FE805D7F7}"/>
              </a:ext>
            </a:extLst>
          </p:cNvPr>
          <p:cNvSpPr/>
          <p:nvPr/>
        </p:nvSpPr>
        <p:spPr>
          <a:xfrm>
            <a:off x="72056" y="1864612"/>
            <a:ext cx="669921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098AD85F-4E29-4E6D-0E68-935029413EAA}"/>
              </a:ext>
            </a:extLst>
          </p:cNvPr>
          <p:cNvCxnSpPr>
            <a:stCxn id="14" idx="1"/>
            <a:endCxn id="14" idx="3"/>
          </p:cNvCxnSpPr>
          <p:nvPr/>
        </p:nvCxnSpPr>
        <p:spPr>
          <a:xfrm>
            <a:off x="72056" y="3094254"/>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342CD05-B1FC-1B5E-5F20-E650D4A0F1E8}"/>
              </a:ext>
            </a:extLst>
          </p:cNvPr>
          <p:cNvCxnSpPr>
            <a:stCxn id="14" idx="2"/>
            <a:endCxn id="14" idx="0"/>
          </p:cNvCxnSpPr>
          <p:nvPr/>
        </p:nvCxnSpPr>
        <p:spPr>
          <a:xfrm flipV="1">
            <a:off x="3421666" y="1864612"/>
            <a:ext cx="0" cy="2459284"/>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90DE8249-28A7-55FE-2746-515FD645D1DE}"/>
              </a:ext>
            </a:extLst>
          </p:cNvPr>
          <p:cNvSpPr txBox="1"/>
          <p:nvPr/>
        </p:nvSpPr>
        <p:spPr>
          <a:xfrm>
            <a:off x="89811" y="1864611"/>
            <a:ext cx="824713" cy="461665"/>
          </a:xfrm>
          <a:prstGeom prst="rect">
            <a:avLst/>
          </a:prstGeom>
          <a:noFill/>
        </p:spPr>
        <p:txBody>
          <a:bodyPr wrap="none" rtlCol="0">
            <a:spAutoFit/>
          </a:bodyPr>
          <a:lstStyle/>
          <a:p>
            <a:r>
              <a:rPr lang="en-US" sz="1200" b="1"/>
              <a:t>Definition</a:t>
            </a:r>
          </a:p>
          <a:p>
            <a:endParaRPr lang="en-US" sz="1200"/>
          </a:p>
        </p:txBody>
      </p:sp>
      <p:sp>
        <p:nvSpPr>
          <p:cNvPr id="19" name="TextBox 18">
            <a:extLst>
              <a:ext uri="{FF2B5EF4-FFF2-40B4-BE49-F238E27FC236}">
                <a16:creationId xmlns:a16="http://schemas.microsoft.com/office/drawing/2014/main" id="{A7BB7743-D91F-D251-1E1B-C4F9A9C7DCA6}"/>
              </a:ext>
            </a:extLst>
          </p:cNvPr>
          <p:cNvSpPr txBox="1"/>
          <p:nvPr/>
        </p:nvSpPr>
        <p:spPr>
          <a:xfrm>
            <a:off x="5613862" y="1832225"/>
            <a:ext cx="1112228" cy="276999"/>
          </a:xfrm>
          <a:prstGeom prst="rect">
            <a:avLst/>
          </a:prstGeom>
          <a:noFill/>
        </p:spPr>
        <p:txBody>
          <a:bodyPr wrap="none" rtlCol="0">
            <a:spAutoFit/>
          </a:bodyPr>
          <a:lstStyle/>
          <a:p>
            <a:r>
              <a:rPr lang="en-US" sz="1200" b="1"/>
              <a:t>Characteristics</a:t>
            </a:r>
            <a:endParaRPr lang="en-GB" sz="1200" b="1"/>
          </a:p>
        </p:txBody>
      </p:sp>
      <p:sp>
        <p:nvSpPr>
          <p:cNvPr id="21" name="TextBox 20">
            <a:extLst>
              <a:ext uri="{FF2B5EF4-FFF2-40B4-BE49-F238E27FC236}">
                <a16:creationId xmlns:a16="http://schemas.microsoft.com/office/drawing/2014/main" id="{FF8A7FCE-E4AB-584B-91D7-31EFAE95661C}"/>
              </a:ext>
            </a:extLst>
          </p:cNvPr>
          <p:cNvSpPr txBox="1"/>
          <p:nvPr/>
        </p:nvSpPr>
        <p:spPr>
          <a:xfrm>
            <a:off x="104958" y="3122619"/>
            <a:ext cx="788164" cy="276999"/>
          </a:xfrm>
          <a:prstGeom prst="rect">
            <a:avLst/>
          </a:prstGeom>
          <a:noFill/>
        </p:spPr>
        <p:txBody>
          <a:bodyPr wrap="none" rtlCol="0">
            <a:spAutoFit/>
          </a:bodyPr>
          <a:lstStyle/>
          <a:p>
            <a:r>
              <a:rPr lang="en-US" sz="1200" b="1"/>
              <a:t>Examples</a:t>
            </a:r>
            <a:endParaRPr lang="en-GB" sz="1200" b="1"/>
          </a:p>
        </p:txBody>
      </p:sp>
      <p:sp>
        <p:nvSpPr>
          <p:cNvPr id="22" name="TextBox 21">
            <a:extLst>
              <a:ext uri="{FF2B5EF4-FFF2-40B4-BE49-F238E27FC236}">
                <a16:creationId xmlns:a16="http://schemas.microsoft.com/office/drawing/2014/main" id="{C94026B4-D7F4-3472-04A3-F5CDFABAA141}"/>
              </a:ext>
            </a:extLst>
          </p:cNvPr>
          <p:cNvSpPr txBox="1"/>
          <p:nvPr/>
        </p:nvSpPr>
        <p:spPr>
          <a:xfrm>
            <a:off x="5542375" y="3098238"/>
            <a:ext cx="1172885" cy="276999"/>
          </a:xfrm>
          <a:prstGeom prst="rect">
            <a:avLst/>
          </a:prstGeom>
          <a:noFill/>
        </p:spPr>
        <p:txBody>
          <a:bodyPr wrap="none" rtlCol="0">
            <a:spAutoFit/>
          </a:bodyPr>
          <a:lstStyle/>
          <a:p>
            <a:r>
              <a:rPr lang="en-US" sz="1200" b="1"/>
              <a:t>Non - Examples</a:t>
            </a:r>
            <a:endParaRPr lang="en-GB" sz="1200" b="1"/>
          </a:p>
        </p:txBody>
      </p:sp>
      <p:sp>
        <p:nvSpPr>
          <p:cNvPr id="23" name="TextBox 22">
            <a:extLst>
              <a:ext uri="{FF2B5EF4-FFF2-40B4-BE49-F238E27FC236}">
                <a16:creationId xmlns:a16="http://schemas.microsoft.com/office/drawing/2014/main" id="{032DA505-4F6C-5EC7-0E27-69706549D21D}"/>
              </a:ext>
            </a:extLst>
          </p:cNvPr>
          <p:cNvSpPr txBox="1"/>
          <p:nvPr/>
        </p:nvSpPr>
        <p:spPr>
          <a:xfrm>
            <a:off x="202111" y="2256524"/>
            <a:ext cx="3230335" cy="461665"/>
          </a:xfrm>
          <a:prstGeom prst="rect">
            <a:avLst/>
          </a:prstGeom>
          <a:noFill/>
        </p:spPr>
        <p:txBody>
          <a:bodyPr wrap="square" rtlCol="0">
            <a:spAutoFit/>
          </a:bodyPr>
          <a:lstStyle/>
          <a:p>
            <a:r>
              <a:rPr lang="en-US" sz="1200"/>
              <a:t>The process of finding an approximation for a number to a given accuracy</a:t>
            </a:r>
          </a:p>
        </p:txBody>
      </p:sp>
      <p:sp>
        <p:nvSpPr>
          <p:cNvPr id="24" name="TextBox 23">
            <a:extLst>
              <a:ext uri="{FF2B5EF4-FFF2-40B4-BE49-F238E27FC236}">
                <a16:creationId xmlns:a16="http://schemas.microsoft.com/office/drawing/2014/main" id="{9F92B69B-3359-3387-D362-C3364AD8D5C2}"/>
              </a:ext>
            </a:extLst>
          </p:cNvPr>
          <p:cNvSpPr txBox="1"/>
          <p:nvPr/>
        </p:nvSpPr>
        <p:spPr>
          <a:xfrm>
            <a:off x="3486693" y="2055023"/>
            <a:ext cx="3230335" cy="830997"/>
          </a:xfrm>
          <a:prstGeom prst="rect">
            <a:avLst/>
          </a:prstGeom>
          <a:noFill/>
        </p:spPr>
        <p:txBody>
          <a:bodyPr wrap="square" rtlCol="0">
            <a:spAutoFit/>
          </a:bodyPr>
          <a:lstStyle/>
          <a:p>
            <a:r>
              <a:rPr lang="en-US" sz="1200"/>
              <a:t>Numbers round up or down depending on the value they are closer to. </a:t>
            </a:r>
          </a:p>
          <a:p>
            <a:r>
              <a:rPr lang="en-US" sz="1200"/>
              <a:t>If a number is exactly halfway between the two values it could round to, it rounds up</a:t>
            </a:r>
          </a:p>
        </p:txBody>
      </p:sp>
      <p:sp>
        <p:nvSpPr>
          <p:cNvPr id="25" name="TextBox 24">
            <a:extLst>
              <a:ext uri="{FF2B5EF4-FFF2-40B4-BE49-F238E27FC236}">
                <a16:creationId xmlns:a16="http://schemas.microsoft.com/office/drawing/2014/main" id="{43071263-00F7-6B38-1E9A-DA4575B80708}"/>
              </a:ext>
            </a:extLst>
          </p:cNvPr>
          <p:cNvSpPr txBox="1"/>
          <p:nvPr/>
        </p:nvSpPr>
        <p:spPr>
          <a:xfrm>
            <a:off x="2907940" y="2984456"/>
            <a:ext cx="1076000" cy="369332"/>
          </a:xfrm>
          <a:prstGeom prst="rect">
            <a:avLst/>
          </a:prstGeom>
          <a:solidFill>
            <a:schemeClr val="bg1"/>
          </a:solidFill>
          <a:ln>
            <a:solidFill>
              <a:schemeClr val="tx1"/>
            </a:solidFill>
          </a:ln>
        </p:spPr>
        <p:txBody>
          <a:bodyPr wrap="none" rtlCol="0">
            <a:spAutoFit/>
          </a:bodyPr>
          <a:lstStyle/>
          <a:p>
            <a:r>
              <a:rPr lang="en-US"/>
              <a:t>Rounding</a:t>
            </a:r>
            <a:endParaRPr lang="en-GB"/>
          </a:p>
        </p:txBody>
      </p:sp>
      <p:sp>
        <p:nvSpPr>
          <p:cNvPr id="26" name="TextBox 25">
            <a:extLst>
              <a:ext uri="{FF2B5EF4-FFF2-40B4-BE49-F238E27FC236}">
                <a16:creationId xmlns:a16="http://schemas.microsoft.com/office/drawing/2014/main" id="{0BA4C268-67F1-1CE7-1A9B-508D5715F539}"/>
              </a:ext>
            </a:extLst>
          </p:cNvPr>
          <p:cNvSpPr txBox="1"/>
          <p:nvPr/>
        </p:nvSpPr>
        <p:spPr>
          <a:xfrm>
            <a:off x="180552" y="3474575"/>
            <a:ext cx="3230335" cy="830997"/>
          </a:xfrm>
          <a:prstGeom prst="rect">
            <a:avLst/>
          </a:prstGeom>
          <a:noFill/>
        </p:spPr>
        <p:txBody>
          <a:bodyPr wrap="square" rtlCol="0">
            <a:spAutoFit/>
          </a:bodyPr>
          <a:lstStyle/>
          <a:p>
            <a:r>
              <a:rPr lang="en-US" sz="1200"/>
              <a:t>1853 = 1850 to the nearest 10</a:t>
            </a:r>
          </a:p>
          <a:p>
            <a:r>
              <a:rPr lang="en-US" sz="1200"/>
              <a:t>1853 = 1900 to the nearest 100</a:t>
            </a:r>
          </a:p>
          <a:p>
            <a:r>
              <a:rPr lang="en-US" sz="1200"/>
              <a:t>1853 = 2000 to the nearest 1000</a:t>
            </a:r>
          </a:p>
          <a:p>
            <a:r>
              <a:rPr lang="en-US" sz="1200"/>
              <a:t>18.53 = 19 to the nearest integer</a:t>
            </a:r>
          </a:p>
        </p:txBody>
      </p:sp>
      <p:sp>
        <p:nvSpPr>
          <p:cNvPr id="27" name="TextBox 26">
            <a:extLst>
              <a:ext uri="{FF2B5EF4-FFF2-40B4-BE49-F238E27FC236}">
                <a16:creationId xmlns:a16="http://schemas.microsoft.com/office/drawing/2014/main" id="{A812D6FC-92F1-79DC-770D-7D112F6D86B6}"/>
              </a:ext>
            </a:extLst>
          </p:cNvPr>
          <p:cNvSpPr txBox="1"/>
          <p:nvPr/>
        </p:nvSpPr>
        <p:spPr>
          <a:xfrm>
            <a:off x="3432446" y="3290052"/>
            <a:ext cx="3230335" cy="1015663"/>
          </a:xfrm>
          <a:prstGeom prst="rect">
            <a:avLst/>
          </a:prstGeom>
          <a:noFill/>
        </p:spPr>
        <p:txBody>
          <a:bodyPr wrap="square" rtlCol="0">
            <a:spAutoFit/>
          </a:bodyPr>
          <a:lstStyle/>
          <a:p>
            <a:endParaRPr lang="en-US" sz="1200" dirty="0"/>
          </a:p>
          <a:p>
            <a:r>
              <a:rPr lang="en-US" sz="1200" dirty="0"/>
              <a:t>1853 ≠ 50 to the nearest 10</a:t>
            </a:r>
          </a:p>
          <a:p>
            <a:r>
              <a:rPr lang="en-US" sz="1200" dirty="0"/>
              <a:t>35 ≠ 30 to the nearest 10</a:t>
            </a:r>
          </a:p>
          <a:p>
            <a:r>
              <a:rPr lang="en-US" sz="1200" dirty="0"/>
              <a:t>18.53 ≠ 19.00 to the nearest integer</a:t>
            </a:r>
            <a:endParaRPr lang="en-US" sz="1200" dirty="0">
              <a:solidFill>
                <a:srgbClr val="FF0000"/>
              </a:solidFill>
            </a:endParaRPr>
          </a:p>
          <a:p>
            <a:r>
              <a:rPr lang="en-US" sz="1200" dirty="0"/>
              <a:t>18.68 ≠ 18.6 to one decimal place.</a:t>
            </a:r>
          </a:p>
        </p:txBody>
      </p:sp>
      <p:graphicFrame>
        <p:nvGraphicFramePr>
          <p:cNvPr id="10" name="Table 9">
            <a:extLst>
              <a:ext uri="{FF2B5EF4-FFF2-40B4-BE49-F238E27FC236}">
                <a16:creationId xmlns:a16="http://schemas.microsoft.com/office/drawing/2014/main" id="{9D64357A-2819-DB1E-830B-EA5E1CF89E55}"/>
              </a:ext>
            </a:extLst>
          </p:cNvPr>
          <p:cNvGraphicFramePr>
            <a:graphicFrameLocks noGrp="1"/>
          </p:cNvGraphicFramePr>
          <p:nvPr>
            <p:extLst>
              <p:ext uri="{D42A27DB-BD31-4B8C-83A1-F6EECF244321}">
                <p14:modId xmlns:p14="http://schemas.microsoft.com/office/powerpoint/2010/main" val="525877634"/>
              </p:ext>
            </p:extLst>
          </p:nvPr>
        </p:nvGraphicFramePr>
        <p:xfrm>
          <a:off x="76925" y="4352259"/>
          <a:ext cx="6694349" cy="5288129"/>
        </p:xfrm>
        <a:graphic>
          <a:graphicData uri="http://schemas.openxmlformats.org/drawingml/2006/table">
            <a:tbl>
              <a:tblPr firstRow="1" bandRow="1">
                <a:tableStyleId>{5C22544A-7EE6-4342-B048-85BDC9FD1C3A}</a:tableStyleId>
              </a:tblPr>
              <a:tblGrid>
                <a:gridCol w="1084478">
                  <a:extLst>
                    <a:ext uri="{9D8B030D-6E8A-4147-A177-3AD203B41FA5}">
                      <a16:colId xmlns:a16="http://schemas.microsoft.com/office/drawing/2014/main" val="1568142362"/>
                    </a:ext>
                  </a:extLst>
                </a:gridCol>
                <a:gridCol w="1869957">
                  <a:extLst>
                    <a:ext uri="{9D8B030D-6E8A-4147-A177-3AD203B41FA5}">
                      <a16:colId xmlns:a16="http://schemas.microsoft.com/office/drawing/2014/main" val="3551711160"/>
                    </a:ext>
                  </a:extLst>
                </a:gridCol>
                <a:gridCol w="1869957">
                  <a:extLst>
                    <a:ext uri="{9D8B030D-6E8A-4147-A177-3AD203B41FA5}">
                      <a16:colId xmlns:a16="http://schemas.microsoft.com/office/drawing/2014/main" val="1712497518"/>
                    </a:ext>
                  </a:extLst>
                </a:gridCol>
                <a:gridCol w="1869957">
                  <a:extLst>
                    <a:ext uri="{9D8B030D-6E8A-4147-A177-3AD203B41FA5}">
                      <a16:colId xmlns:a16="http://schemas.microsoft.com/office/drawing/2014/main" val="886122921"/>
                    </a:ext>
                  </a:extLst>
                </a:gridCol>
              </a:tblGrid>
              <a:tr h="460978">
                <a:tc>
                  <a:txBody>
                    <a:bodyPr/>
                    <a:lstStyle/>
                    <a:p>
                      <a:endParaRPr lang="en-GB" sz="1200" b="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rgbClr val="FF0000"/>
                          </a:solidFill>
                        </a:rPr>
                        <a:t>Example 1 – I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chemeClr val="accent2"/>
                          </a:solidFill>
                        </a:rPr>
                        <a:t>Example 2 – We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dirty="0">
                          <a:solidFill>
                            <a:srgbClr val="00B050"/>
                          </a:solidFill>
                        </a:rPr>
                        <a:t>Example 3 – You do…</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50742">
                <a:tc>
                  <a:txBody>
                    <a:bodyPr/>
                    <a:lstStyle/>
                    <a:p>
                      <a:r>
                        <a:rPr lang="en-US" sz="1200" b="1" dirty="0">
                          <a:solidFill>
                            <a:schemeClr val="tx1"/>
                          </a:solidFill>
                        </a:rPr>
                        <a:t>Steps</a:t>
                      </a:r>
                      <a:endParaRPr lang="en-GB"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096179">
                <a:tc rowSpan="5">
                  <a:txBody>
                    <a:bodyPr/>
                    <a:lstStyle/>
                    <a:p>
                      <a:pPr marL="228600" indent="-228600">
                        <a:buAutoNum type="arabicParenR"/>
                      </a:pPr>
                      <a:r>
                        <a:rPr lang="en-US" sz="1200" dirty="0">
                          <a:solidFill>
                            <a:schemeClr val="tx1"/>
                          </a:solidFill>
                        </a:rPr>
                        <a:t>Identify the value you’re rounding to above and the value below.</a:t>
                      </a:r>
                    </a:p>
                    <a:p>
                      <a:pPr marL="228600" indent="-228600">
                        <a:buAutoNum type="arabicParenR"/>
                      </a:pPr>
                      <a:endParaRPr lang="en-US" sz="1200" dirty="0">
                        <a:solidFill>
                          <a:schemeClr val="tx1"/>
                        </a:solidFill>
                      </a:endParaRPr>
                    </a:p>
                    <a:p>
                      <a:pPr marL="228600" indent="-228600">
                        <a:buAutoNum type="arabicParenR"/>
                      </a:pPr>
                      <a:endParaRPr lang="en-US" sz="1200" dirty="0">
                        <a:solidFill>
                          <a:schemeClr val="tx1"/>
                        </a:solidFill>
                      </a:endParaRPr>
                    </a:p>
                    <a:p>
                      <a:pPr marL="228600" indent="-228600">
                        <a:buAutoNum type="arabicParenR"/>
                      </a:pPr>
                      <a:r>
                        <a:rPr lang="en-US" sz="1200" dirty="0">
                          <a:solidFill>
                            <a:schemeClr val="tx1"/>
                          </a:solidFill>
                        </a:rPr>
                        <a:t>Is it closer to the value above or the value below?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Font typeface="+mj-lt"/>
                        <a:buAutoNum type="romanLcPeriod"/>
                      </a:pPr>
                      <a:r>
                        <a:rPr lang="en-US" sz="1200" dirty="0">
                          <a:solidFill>
                            <a:srgbClr val="000000"/>
                          </a:solidFill>
                        </a:rPr>
                        <a:t>53                 </a:t>
                      </a:r>
                    </a:p>
                    <a:p>
                      <a:pPr marL="742950" lvl="1" indent="-285750">
                        <a:buFont typeface="+mj-lt"/>
                        <a:buAutoNum type="romanLcPeriod"/>
                      </a:pPr>
                      <a:endParaRPr lang="en-US" sz="1200" dirty="0">
                        <a:solidFill>
                          <a:srgbClr val="000000"/>
                        </a:solidFill>
                      </a:endParaRPr>
                    </a:p>
                    <a:p>
                      <a:pPr marL="742950" lvl="1" indent="-285750">
                        <a:buFont typeface="+mj-lt"/>
                        <a:buAutoNum type="romanLcPeriod"/>
                      </a:pPr>
                      <a:r>
                        <a:rPr lang="en-US" sz="1200" dirty="0">
                          <a:solidFill>
                            <a:srgbClr val="000000"/>
                          </a:solidFill>
                        </a:rPr>
                        <a:t>125             </a:t>
                      </a:r>
                      <a:endParaRPr lang="en-US" sz="1200" dirty="0">
                        <a:solidFill>
                          <a:srgbClr val="FF0000"/>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67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165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86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135             </a:t>
                      </a:r>
                    </a:p>
                    <a:p>
                      <a:pPr algn="l"/>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37972">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these numbers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7201462"/>
                  </a:ext>
                </a:extLst>
              </a:tr>
              <a:tr h="1052143">
                <a:tc vMerge="1">
                  <a:txBody>
                    <a:bodyPr/>
                    <a:lstStyle/>
                    <a:p>
                      <a:endParaRPr lang="en-GB"/>
                    </a:p>
                  </a:txBody>
                  <a:tcPr/>
                </a:tc>
                <a:tc>
                  <a:txBody>
                    <a:bodyPr/>
                    <a:lstStyle/>
                    <a:p>
                      <a:pPr marL="742950" lvl="1" indent="-285750">
                        <a:buAutoNum type="romanLcParenR"/>
                      </a:pPr>
                      <a:r>
                        <a:rPr lang="en-US" sz="1200" dirty="0">
                          <a:solidFill>
                            <a:srgbClr val="000000"/>
                          </a:solidFill>
                        </a:rPr>
                        <a:t>489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1350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821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1150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42950" lvl="1" indent="-285750">
                        <a:buAutoNum type="romanLcParenR"/>
                      </a:pPr>
                      <a:r>
                        <a:rPr lang="en-US" sz="1200" dirty="0">
                          <a:solidFill>
                            <a:srgbClr val="000000"/>
                          </a:solidFill>
                        </a:rPr>
                        <a:t>676             </a:t>
                      </a:r>
                    </a:p>
                    <a:p>
                      <a:pPr marL="742950" lvl="1" indent="-285750">
                        <a:buAutoNum type="romanLcParenR"/>
                      </a:pPr>
                      <a:endParaRPr lang="en-US" sz="1200" dirty="0">
                        <a:solidFill>
                          <a:srgbClr val="000000"/>
                        </a:solidFill>
                      </a:endParaRPr>
                    </a:p>
                    <a:p>
                      <a:pPr marL="742950" lvl="1" indent="-285750">
                        <a:buAutoNum type="romanLcParenR"/>
                      </a:pPr>
                      <a:r>
                        <a:rPr lang="en-US" sz="1200" dirty="0">
                          <a:solidFill>
                            <a:srgbClr val="000000"/>
                          </a:solidFill>
                        </a:rPr>
                        <a:t>1492        </a:t>
                      </a:r>
                    </a:p>
                    <a:p>
                      <a:pPr algn="ct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884498"/>
                  </a:ext>
                </a:extLst>
              </a:tr>
              <a:tr h="537972">
                <a:tc vMerge="1">
                  <a:txBody>
                    <a:bodyPr/>
                    <a:lstStyle/>
                    <a:p>
                      <a:endParaRPr lang="en-GB"/>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143,981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25,865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t>Round 162,912 to the nearest: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687071"/>
                  </a:ext>
                </a:extLst>
              </a:tr>
              <a:tr h="1052143">
                <a:tc vMerge="1">
                  <a:txBody>
                    <a:bodyPr/>
                    <a:lstStyle/>
                    <a:p>
                      <a:endParaRPr lang="en-GB" dirty="0"/>
                    </a:p>
                  </a:txBody>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endParaRPr lang="en-US" sz="12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AutoNum type="romanLcParenR"/>
                      </a:pPr>
                      <a:r>
                        <a:rPr lang="en-US" sz="1200" dirty="0"/>
                        <a:t>100</a:t>
                      </a:r>
                    </a:p>
                    <a:p>
                      <a:pPr marL="285750" indent="-285750">
                        <a:buAutoNum type="romanLcParenR"/>
                      </a:pPr>
                      <a:endParaRPr lang="en-US" sz="1200" dirty="0"/>
                    </a:p>
                    <a:p>
                      <a:pPr marL="285750" indent="-285750">
                        <a:buAutoNum type="romanLcParenR"/>
                      </a:pPr>
                      <a:r>
                        <a:rPr lang="en-US" sz="1200" dirty="0"/>
                        <a:t>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5728435"/>
                  </a:ext>
                </a:extLst>
              </a:tr>
            </a:tbl>
          </a:graphicData>
        </a:graphic>
      </p:graphicFrame>
    </p:spTree>
    <p:extLst>
      <p:ext uri="{BB962C8B-B14F-4D97-AF65-F5344CB8AC3E}">
        <p14:creationId xmlns:p14="http://schemas.microsoft.com/office/powerpoint/2010/main" val="38707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5399838" y="9577373"/>
            <a:ext cx="1543050" cy="527403"/>
          </a:xfrm>
        </p:spPr>
        <p:txBody>
          <a:bodyPr/>
          <a:lstStyle/>
          <a:p>
            <a:fld id="{19F1D9CC-7119-45EC-A96C-D8C0660F3AAB}" type="slidenum">
              <a:rPr lang="en-GB" smtClean="0"/>
              <a:t>13</a:t>
            </a:fld>
            <a:endParaRPr lang="en-GB"/>
          </a:p>
        </p:txBody>
      </p:sp>
      <p:sp>
        <p:nvSpPr>
          <p:cNvPr id="9" name="TextBox 8">
            <a:extLst>
              <a:ext uri="{FF2B5EF4-FFF2-40B4-BE49-F238E27FC236}">
                <a16:creationId xmlns:a16="http://schemas.microsoft.com/office/drawing/2014/main" id="{5BF125D4-640A-244D-ABD9-8B1521447260}"/>
              </a:ext>
            </a:extLst>
          </p:cNvPr>
          <p:cNvSpPr txBox="1"/>
          <p:nvPr/>
        </p:nvSpPr>
        <p:spPr>
          <a:xfrm>
            <a:off x="53520" y="115914"/>
            <a:ext cx="7575550" cy="276999"/>
          </a:xfrm>
          <a:prstGeom prst="rect">
            <a:avLst/>
          </a:prstGeom>
          <a:noFill/>
        </p:spPr>
        <p:txBody>
          <a:bodyPr wrap="square">
            <a:spAutoFit/>
          </a:bodyPr>
          <a:lstStyle/>
          <a:p>
            <a:r>
              <a:rPr lang="en-GB" sz="1200" b="1"/>
              <a:t>1</a:t>
            </a:r>
            <a:r>
              <a:rPr lang="en-GB" sz="1200"/>
              <a:t>. Round each number to the nearest 10:</a:t>
            </a:r>
          </a:p>
        </p:txBody>
      </p:sp>
      <p:sp>
        <p:nvSpPr>
          <p:cNvPr id="47" name="TextBox 46">
            <a:extLst>
              <a:ext uri="{FF2B5EF4-FFF2-40B4-BE49-F238E27FC236}">
                <a16:creationId xmlns:a16="http://schemas.microsoft.com/office/drawing/2014/main" id="{D6E8C162-1637-76F6-15C8-34956B438B69}"/>
              </a:ext>
            </a:extLst>
          </p:cNvPr>
          <p:cNvSpPr txBox="1"/>
          <p:nvPr/>
        </p:nvSpPr>
        <p:spPr>
          <a:xfrm>
            <a:off x="53520" y="2840831"/>
            <a:ext cx="6512380" cy="120032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Round each number </a:t>
            </a:r>
            <a:r>
              <a:rPr lang="en-GB" sz="1200" dirty="0">
                <a:solidFill>
                  <a:prstClr val="black"/>
                </a:solidFill>
                <a:latin typeface="Calibri" panose="020F0502020204030204"/>
              </a:rPr>
              <a:t>below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to the nearest 100</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 245 = _______ (nearest 100)			b) 7620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lang="en-GB" sz="1200" b="1" dirty="0">
                <a:latin typeface="Calibri" panose="020F0502020204030204"/>
              </a:rPr>
              <a:t>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 4801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d) 9450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a:t>
            </a:r>
          </a:p>
        </p:txBody>
      </p:sp>
      <p:sp>
        <p:nvSpPr>
          <p:cNvPr id="81" name="TextBox 80">
            <a:extLst>
              <a:ext uri="{FF2B5EF4-FFF2-40B4-BE49-F238E27FC236}">
                <a16:creationId xmlns:a16="http://schemas.microsoft.com/office/drawing/2014/main" id="{1CF802C8-A3AC-F77C-355A-C9058B823DDB}"/>
              </a:ext>
            </a:extLst>
          </p:cNvPr>
          <p:cNvSpPr txBox="1"/>
          <p:nvPr/>
        </p:nvSpPr>
        <p:spPr>
          <a:xfrm>
            <a:off x="53520" y="4297822"/>
            <a:ext cx="6194921" cy="1938992"/>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e) 1234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f) 1254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lang="en-GB" sz="1200"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g) 12540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h) 12054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4708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j) 3902.8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a:p>
            <a:pPr marR="0" lvl="0" algn="l" defTabSz="457200" rtl="0" eaLnBrk="1" fontAlgn="auto" latinLnBrk="0" hangingPunct="1">
              <a:lnSpc>
                <a:spcPct val="100000"/>
              </a:lnSpc>
              <a:spcBef>
                <a:spcPts val="0"/>
              </a:spcBef>
              <a:spcAft>
                <a:spcPts val="0"/>
              </a:spcAft>
              <a:buClrTx/>
              <a:buSzTx/>
              <a:tabLst/>
              <a:defRPr/>
            </a:pPr>
            <a:endParaRPr lang="en-GB" sz="1200"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k) 76.34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l) 24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 </a:t>
            </a:r>
          </a:p>
        </p:txBody>
      </p:sp>
      <p:sp>
        <p:nvSpPr>
          <p:cNvPr id="143" name="TextBox 142">
            <a:extLst>
              <a:ext uri="{FF2B5EF4-FFF2-40B4-BE49-F238E27FC236}">
                <a16:creationId xmlns:a16="http://schemas.microsoft.com/office/drawing/2014/main" id="{9F042628-2A2B-CBD9-820D-DA4B4745EAA2}"/>
              </a:ext>
            </a:extLst>
          </p:cNvPr>
          <p:cNvSpPr txBox="1"/>
          <p:nvPr/>
        </p:nvSpPr>
        <p:spPr>
          <a:xfrm>
            <a:off x="53520" y="6475756"/>
            <a:ext cx="6889368" cy="3600986"/>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dirty="0">
                <a:ln>
                  <a:noFill/>
                </a:ln>
                <a:solidFill>
                  <a:prstClr val="black"/>
                </a:solidFill>
                <a:effectLst/>
                <a:uLnTx/>
                <a:uFillTx/>
                <a:latin typeface="Calibri" panose="020F0502020204030204"/>
                <a:ea typeface="+mn-ea"/>
                <a:cs typeface="+mn-cs"/>
              </a:rPr>
              <a:t>3</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Now round each number in question 3 to the nearest 1000</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 4382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(nearest 1000)	                	b) 43820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marR="0" lvl="0" algn="l" defTabSz="457200" rtl="0" eaLnBrk="1" fontAlgn="auto" latinLnBrk="0" hangingPunct="1">
              <a:lnSpc>
                <a:spcPct val="100000"/>
              </a:lnSpc>
              <a:spcBef>
                <a:spcPts val="0"/>
              </a:spcBef>
              <a:spcAft>
                <a:spcPts val="0"/>
              </a:spcAft>
              <a:buClrTx/>
              <a:buSzTx/>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c) 43280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d) 40328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a:t>
            </a: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defTabSz="457200">
              <a:defRPr/>
            </a:pPr>
            <a:r>
              <a:rPr lang="en-GB" sz="1200" dirty="0"/>
              <a:t>e) 1234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f) 5839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defTabSz="457200">
              <a:defRPr/>
            </a:pPr>
            <a:r>
              <a:rPr lang="en-GB" sz="1200" dirty="0"/>
              <a:t>	</a:t>
            </a:r>
          </a:p>
          <a:p>
            <a:pPr defTabSz="457200">
              <a:defRPr/>
            </a:pPr>
            <a:endParaRPr lang="en-GB" sz="1200" dirty="0"/>
          </a:p>
          <a:p>
            <a:pPr defTabSz="457200">
              <a:defRPr/>
            </a:pPr>
            <a:r>
              <a:rPr lang="en-GB" sz="1200" dirty="0"/>
              <a:t>g) 12540</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h) 12054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p>
          <a:p>
            <a:pPr defTabSz="457200">
              <a:defRPr/>
            </a:pPr>
            <a:br>
              <a:rPr lang="en-GB" sz="1200" dirty="0"/>
            </a:br>
            <a:br>
              <a:rPr lang="en-GB" sz="1200" dirty="0"/>
            </a:br>
            <a:r>
              <a:rPr lang="en-GB" sz="1200" dirty="0" err="1"/>
              <a:t>i</a:t>
            </a:r>
            <a:r>
              <a:rPr lang="en-GB" sz="1200" dirty="0"/>
              <a:t>) 104,708</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j) 3902.8</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a:t>
            </a:r>
          </a:p>
          <a:p>
            <a:pPr defTabSz="457200">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defTabSz="457200">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GB" sz="1200" dirty="0"/>
              <a:t>	</a:t>
            </a:r>
          </a:p>
          <a:p>
            <a:pPr defTabSz="457200">
              <a:defRPr/>
            </a:pPr>
            <a:r>
              <a:rPr lang="en-GB" sz="1200" dirty="0"/>
              <a:t>k) 706.34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r>
              <a:rPr lang="en-GB" sz="1200" dirty="0"/>
              <a:t>		             l) 324</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GB" sz="1200" b="0" i="0" u="none" strike="noStrike" kern="1200" cap="none" spc="0" normalizeH="0" baseline="0" noProof="0" dirty="0">
                <a:ln>
                  <a:noFill/>
                </a:ln>
                <a:effectLst/>
                <a:uLnTx/>
                <a:uFillTx/>
                <a:latin typeface="Calibri" panose="020F0502020204030204"/>
                <a:ea typeface="+mn-ea"/>
                <a:cs typeface="+mn-cs"/>
              </a:rPr>
              <a:t>__</a:t>
            </a:r>
            <a:r>
              <a:rPr kumimoji="0" lang="en-GB" sz="1200" b="1" i="0" u="none" strike="noStrike" kern="1200" cap="none" spc="0" normalizeH="0" baseline="0" noProof="0" dirty="0">
                <a:ln>
                  <a:noFill/>
                </a:ln>
                <a:effectLst/>
                <a:uLnTx/>
                <a:uFillTx/>
                <a:latin typeface="Calibri" panose="020F0502020204030204"/>
                <a:ea typeface="+mn-ea"/>
                <a:cs typeface="+mn-cs"/>
              </a:rPr>
              <a:t>___</a:t>
            </a:r>
            <a:r>
              <a:rPr kumimoji="0" lang="en-GB" sz="1200" b="0" i="0" u="none" strike="noStrike" kern="1200" cap="none" spc="0" normalizeH="0" baseline="0" noProof="0" dirty="0">
                <a:ln>
                  <a:noFill/>
                </a:ln>
                <a:effectLst/>
                <a:uLnTx/>
                <a:uFillTx/>
                <a:latin typeface="Calibri" panose="020F0502020204030204"/>
                <a:ea typeface="+mn-ea"/>
                <a:cs typeface="+mn-cs"/>
              </a:rPr>
              <a:t>__ </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(nearest 1000) </a:t>
            </a:r>
            <a:endParaRPr lang="en-GB" sz="1200" dirty="0"/>
          </a:p>
          <a:p>
            <a:pPr marR="0" lvl="0" algn="l" defTabSz="4572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Table 3">
            <a:extLst>
              <a:ext uri="{FF2B5EF4-FFF2-40B4-BE49-F238E27FC236}">
                <a16:creationId xmlns:a16="http://schemas.microsoft.com/office/drawing/2014/main" id="{DA8A41CA-A8DC-B399-C93F-ACF515DC1522}"/>
              </a:ext>
            </a:extLst>
          </p:cNvPr>
          <p:cNvGraphicFramePr>
            <a:graphicFrameLocks noGrp="1"/>
          </p:cNvGraphicFramePr>
          <p:nvPr>
            <p:extLst>
              <p:ext uri="{D42A27DB-BD31-4B8C-83A1-F6EECF244321}">
                <p14:modId xmlns:p14="http://schemas.microsoft.com/office/powerpoint/2010/main" val="1043001775"/>
              </p:ext>
            </p:extLst>
          </p:nvPr>
        </p:nvGraphicFramePr>
        <p:xfrm>
          <a:off x="172810" y="528138"/>
          <a:ext cx="6512379" cy="2096712"/>
        </p:xfrm>
        <a:graphic>
          <a:graphicData uri="http://schemas.openxmlformats.org/drawingml/2006/table">
            <a:tbl>
              <a:tblPr firstRow="1" bandRow="1">
                <a:tableStyleId>{5940675A-B579-460E-94D1-54222C63F5DA}</a:tableStyleId>
              </a:tblPr>
              <a:tblGrid>
                <a:gridCol w="754219">
                  <a:extLst>
                    <a:ext uri="{9D8B030D-6E8A-4147-A177-3AD203B41FA5}">
                      <a16:colId xmlns:a16="http://schemas.microsoft.com/office/drawing/2014/main" val="4277609270"/>
                    </a:ext>
                  </a:extLst>
                </a:gridCol>
                <a:gridCol w="1416574">
                  <a:extLst>
                    <a:ext uri="{9D8B030D-6E8A-4147-A177-3AD203B41FA5}">
                      <a16:colId xmlns:a16="http://schemas.microsoft.com/office/drawing/2014/main" val="3333885263"/>
                    </a:ext>
                  </a:extLst>
                </a:gridCol>
                <a:gridCol w="870748">
                  <a:extLst>
                    <a:ext uri="{9D8B030D-6E8A-4147-A177-3AD203B41FA5}">
                      <a16:colId xmlns:a16="http://schemas.microsoft.com/office/drawing/2014/main" val="2108569520"/>
                    </a:ext>
                  </a:extLst>
                </a:gridCol>
                <a:gridCol w="1300045">
                  <a:extLst>
                    <a:ext uri="{9D8B030D-6E8A-4147-A177-3AD203B41FA5}">
                      <a16:colId xmlns:a16="http://schemas.microsoft.com/office/drawing/2014/main" val="3011052648"/>
                    </a:ext>
                  </a:extLst>
                </a:gridCol>
                <a:gridCol w="777597">
                  <a:extLst>
                    <a:ext uri="{9D8B030D-6E8A-4147-A177-3AD203B41FA5}">
                      <a16:colId xmlns:a16="http://schemas.microsoft.com/office/drawing/2014/main" val="3156669152"/>
                    </a:ext>
                  </a:extLst>
                </a:gridCol>
                <a:gridCol w="1393196">
                  <a:extLst>
                    <a:ext uri="{9D8B030D-6E8A-4147-A177-3AD203B41FA5}">
                      <a16:colId xmlns:a16="http://schemas.microsoft.com/office/drawing/2014/main" val="790511379"/>
                    </a:ext>
                  </a:extLst>
                </a:gridCol>
              </a:tblGrid>
              <a:tr h="524178">
                <a:tc>
                  <a:txBody>
                    <a:bodyPr/>
                    <a:lstStyle/>
                    <a:p>
                      <a:pPr marL="228600" indent="-228600">
                        <a:buAutoNum type="alphaLcParenR"/>
                      </a:pPr>
                      <a:r>
                        <a:rPr lang="en-GB" sz="1200" dirty="0"/>
                        <a:t>32</a:t>
                      </a:r>
                    </a:p>
                  </a:txBody>
                  <a:tcPr anchor="ctr"/>
                </a:tc>
                <a:tc>
                  <a:txBody>
                    <a:bodyPr/>
                    <a:lstStyle/>
                    <a:p>
                      <a:endParaRPr lang="en-GB" sz="2000" dirty="0">
                        <a:solidFill>
                          <a:srgbClr val="FF0000"/>
                        </a:solidFill>
                      </a:endParaRPr>
                    </a:p>
                  </a:txBody>
                  <a:tcPr anchor="ctr"/>
                </a:tc>
                <a:tc>
                  <a:txBody>
                    <a:bodyPr/>
                    <a:lstStyle/>
                    <a:p>
                      <a:r>
                        <a:rPr lang="en-GB" sz="1200" dirty="0"/>
                        <a:t>e) 59</a:t>
                      </a:r>
                    </a:p>
                  </a:txBody>
                  <a:tcPr anchor="ctr"/>
                </a:tc>
                <a:tc>
                  <a:txBody>
                    <a:bodyPr/>
                    <a:lstStyle/>
                    <a:p>
                      <a:endParaRPr lang="en-GB" sz="2000" dirty="0">
                        <a:solidFill>
                          <a:srgbClr val="FF0000"/>
                        </a:solidFill>
                      </a:endParaRPr>
                    </a:p>
                  </a:txBody>
                  <a:tcPr anchor="ctr"/>
                </a:tc>
                <a:tc>
                  <a:txBody>
                    <a:bodyPr/>
                    <a:lstStyle/>
                    <a:p>
                      <a:pPr marL="0" indent="0">
                        <a:buNone/>
                      </a:pPr>
                      <a:r>
                        <a:rPr lang="en-GB" sz="1200" dirty="0" err="1"/>
                        <a:t>i</a:t>
                      </a:r>
                      <a:r>
                        <a:rPr lang="en-GB" sz="1200" dirty="0"/>
                        <a:t>) 845</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2638937097"/>
                  </a:ext>
                </a:extLst>
              </a:tr>
              <a:tr h="524178">
                <a:tc>
                  <a:txBody>
                    <a:bodyPr/>
                    <a:lstStyle/>
                    <a:p>
                      <a:r>
                        <a:rPr lang="en-GB" sz="1200" dirty="0"/>
                        <a:t>b) 67</a:t>
                      </a:r>
                    </a:p>
                  </a:txBody>
                  <a:tcPr anchor="ctr"/>
                </a:tc>
                <a:tc>
                  <a:txBody>
                    <a:bodyPr/>
                    <a:lstStyle/>
                    <a:p>
                      <a:endParaRPr lang="en-GB" sz="2000" dirty="0">
                        <a:solidFill>
                          <a:srgbClr val="FF0000"/>
                        </a:solidFill>
                      </a:endParaRPr>
                    </a:p>
                  </a:txBody>
                  <a:tcPr anchor="ctr"/>
                </a:tc>
                <a:tc>
                  <a:txBody>
                    <a:bodyPr/>
                    <a:lstStyle/>
                    <a:p>
                      <a:r>
                        <a:rPr lang="en-GB" sz="1200" dirty="0"/>
                        <a:t>f) 238</a:t>
                      </a:r>
                    </a:p>
                  </a:txBody>
                  <a:tcPr anchor="ctr"/>
                </a:tc>
                <a:tc>
                  <a:txBody>
                    <a:bodyPr/>
                    <a:lstStyle/>
                    <a:p>
                      <a:endParaRPr lang="en-GB" sz="2000" dirty="0">
                        <a:solidFill>
                          <a:srgbClr val="FF0000"/>
                        </a:solidFill>
                      </a:endParaRPr>
                    </a:p>
                  </a:txBody>
                  <a:tcPr anchor="ctr"/>
                </a:tc>
                <a:tc>
                  <a:txBody>
                    <a:bodyPr/>
                    <a:lstStyle/>
                    <a:p>
                      <a:r>
                        <a:rPr lang="en-GB" sz="1200" dirty="0"/>
                        <a:t>j) 1628</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2537436870"/>
                  </a:ext>
                </a:extLst>
              </a:tr>
              <a:tr h="524178">
                <a:tc>
                  <a:txBody>
                    <a:bodyPr/>
                    <a:lstStyle/>
                    <a:p>
                      <a:r>
                        <a:rPr lang="en-GB" sz="1200" dirty="0"/>
                        <a:t>c) 71</a:t>
                      </a:r>
                    </a:p>
                  </a:txBody>
                  <a:tcPr anchor="ctr"/>
                </a:tc>
                <a:tc>
                  <a:txBody>
                    <a:bodyPr/>
                    <a:lstStyle/>
                    <a:p>
                      <a:endParaRPr lang="en-GB" sz="2000" dirty="0">
                        <a:solidFill>
                          <a:srgbClr val="FF0000"/>
                        </a:solidFill>
                      </a:endParaRPr>
                    </a:p>
                  </a:txBody>
                  <a:tcPr anchor="ctr"/>
                </a:tc>
                <a:tc>
                  <a:txBody>
                    <a:bodyPr/>
                    <a:lstStyle/>
                    <a:p>
                      <a:r>
                        <a:rPr lang="en-GB" sz="1200" dirty="0"/>
                        <a:t>g) 312</a:t>
                      </a:r>
                    </a:p>
                  </a:txBody>
                  <a:tcPr anchor="ctr"/>
                </a:tc>
                <a:tc>
                  <a:txBody>
                    <a:bodyPr/>
                    <a:lstStyle/>
                    <a:p>
                      <a:endParaRPr lang="en-GB" sz="2000" dirty="0">
                        <a:solidFill>
                          <a:srgbClr val="FF0000"/>
                        </a:solidFill>
                      </a:endParaRPr>
                    </a:p>
                  </a:txBody>
                  <a:tcPr anchor="ctr"/>
                </a:tc>
                <a:tc>
                  <a:txBody>
                    <a:bodyPr/>
                    <a:lstStyle/>
                    <a:p>
                      <a:r>
                        <a:rPr lang="en-GB" sz="1200" dirty="0"/>
                        <a:t>k) 502</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1129532166"/>
                  </a:ext>
                </a:extLst>
              </a:tr>
              <a:tr h="524178">
                <a:tc>
                  <a:txBody>
                    <a:bodyPr/>
                    <a:lstStyle/>
                    <a:p>
                      <a:r>
                        <a:rPr lang="en-GB" sz="1200" dirty="0"/>
                        <a:t>d) 24</a:t>
                      </a:r>
                    </a:p>
                  </a:txBody>
                  <a:tcPr anchor="ctr"/>
                </a:tc>
                <a:tc>
                  <a:txBody>
                    <a:bodyPr/>
                    <a:lstStyle/>
                    <a:p>
                      <a:endParaRPr lang="en-GB" sz="2000" dirty="0">
                        <a:solidFill>
                          <a:srgbClr val="FF0000"/>
                        </a:solidFill>
                      </a:endParaRPr>
                    </a:p>
                  </a:txBody>
                  <a:tcPr anchor="ctr"/>
                </a:tc>
                <a:tc>
                  <a:txBody>
                    <a:bodyPr/>
                    <a:lstStyle/>
                    <a:p>
                      <a:r>
                        <a:rPr lang="en-GB" sz="1200" dirty="0"/>
                        <a:t>h) 333</a:t>
                      </a:r>
                    </a:p>
                  </a:txBody>
                  <a:tcPr anchor="ctr"/>
                </a:tc>
                <a:tc>
                  <a:txBody>
                    <a:bodyPr/>
                    <a:lstStyle/>
                    <a:p>
                      <a:endParaRPr lang="en-GB" sz="2000" dirty="0">
                        <a:solidFill>
                          <a:srgbClr val="FF0000"/>
                        </a:solidFill>
                      </a:endParaRPr>
                    </a:p>
                  </a:txBody>
                  <a:tcPr anchor="ctr"/>
                </a:tc>
                <a:tc>
                  <a:txBody>
                    <a:bodyPr/>
                    <a:lstStyle/>
                    <a:p>
                      <a:r>
                        <a:rPr lang="en-GB" sz="1200" dirty="0"/>
                        <a:t>l) 7555</a:t>
                      </a:r>
                    </a:p>
                  </a:txBody>
                  <a:tcPr anchor="ctr"/>
                </a:tc>
                <a:tc>
                  <a:txBody>
                    <a:bodyPr/>
                    <a:lstStyle/>
                    <a:p>
                      <a:endParaRPr lang="en-GB" sz="1800" dirty="0">
                        <a:solidFill>
                          <a:srgbClr val="FF0000"/>
                        </a:solidFill>
                      </a:endParaRPr>
                    </a:p>
                  </a:txBody>
                  <a:tcPr anchor="ctr"/>
                </a:tc>
                <a:extLst>
                  <a:ext uri="{0D108BD9-81ED-4DB2-BD59-A6C34878D82A}">
                    <a16:rowId xmlns:a16="http://schemas.microsoft.com/office/drawing/2014/main" val="3584385298"/>
                  </a:ext>
                </a:extLst>
              </a:tr>
            </a:tbl>
          </a:graphicData>
        </a:graphic>
      </p:graphicFrame>
    </p:spTree>
    <p:extLst>
      <p:ext uri="{BB962C8B-B14F-4D97-AF65-F5344CB8AC3E}">
        <p14:creationId xmlns:p14="http://schemas.microsoft.com/office/powerpoint/2010/main" val="1289636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F50A8F-70F5-9912-27F2-00E7C4F0653B}"/>
              </a:ext>
            </a:extLst>
          </p:cNvPr>
          <p:cNvSpPr>
            <a:spLocks noGrp="1"/>
          </p:cNvSpPr>
          <p:nvPr>
            <p:ph type="sldNum" sz="quarter" idx="12"/>
          </p:nvPr>
        </p:nvSpPr>
        <p:spPr/>
        <p:txBody>
          <a:bodyPr/>
          <a:lstStyle/>
          <a:p>
            <a:fld id="{19F1D9CC-7119-45EC-A96C-D8C0660F3AAB}" type="slidenum">
              <a:rPr lang="en-GB" smtClean="0"/>
              <a:t>14</a:t>
            </a:fld>
            <a:endParaRPr lang="en-GB"/>
          </a:p>
        </p:txBody>
      </p:sp>
      <p:graphicFrame>
        <p:nvGraphicFramePr>
          <p:cNvPr id="3" name="Table 2">
            <a:extLst>
              <a:ext uri="{FF2B5EF4-FFF2-40B4-BE49-F238E27FC236}">
                <a16:creationId xmlns:a16="http://schemas.microsoft.com/office/drawing/2014/main" id="{7D2BFEB6-4802-856E-0C73-7217D710E633}"/>
              </a:ext>
            </a:extLst>
          </p:cNvPr>
          <p:cNvGraphicFramePr>
            <a:graphicFrameLocks noGrp="1"/>
          </p:cNvGraphicFramePr>
          <p:nvPr>
            <p:extLst>
              <p:ext uri="{D42A27DB-BD31-4B8C-83A1-F6EECF244321}">
                <p14:modId xmlns:p14="http://schemas.microsoft.com/office/powerpoint/2010/main" val="3573060857"/>
              </p:ext>
            </p:extLst>
          </p:nvPr>
        </p:nvGraphicFramePr>
        <p:xfrm>
          <a:off x="275431" y="477838"/>
          <a:ext cx="6390480" cy="2059207"/>
        </p:xfrm>
        <a:graphic>
          <a:graphicData uri="http://schemas.openxmlformats.org/drawingml/2006/table">
            <a:tbl>
              <a:tblPr firstRow="1" bandRow="1">
                <a:tableStyleId>{5C22544A-7EE6-4342-B048-85BDC9FD1C3A}</a:tableStyleId>
              </a:tblPr>
              <a:tblGrid>
                <a:gridCol w="739440">
                  <a:extLst>
                    <a:ext uri="{9D8B030D-6E8A-4147-A177-3AD203B41FA5}">
                      <a16:colId xmlns:a16="http://schemas.microsoft.com/office/drawing/2014/main" val="1715529312"/>
                    </a:ext>
                  </a:extLst>
                </a:gridCol>
                <a:gridCol w="1883680">
                  <a:extLst>
                    <a:ext uri="{9D8B030D-6E8A-4147-A177-3AD203B41FA5}">
                      <a16:colId xmlns:a16="http://schemas.microsoft.com/office/drawing/2014/main" val="2547764406"/>
                    </a:ext>
                  </a:extLst>
                </a:gridCol>
                <a:gridCol w="1883680">
                  <a:extLst>
                    <a:ext uri="{9D8B030D-6E8A-4147-A177-3AD203B41FA5}">
                      <a16:colId xmlns:a16="http://schemas.microsoft.com/office/drawing/2014/main" val="4073140287"/>
                    </a:ext>
                  </a:extLst>
                </a:gridCol>
                <a:gridCol w="1883680">
                  <a:extLst>
                    <a:ext uri="{9D8B030D-6E8A-4147-A177-3AD203B41FA5}">
                      <a16:colId xmlns:a16="http://schemas.microsoft.com/office/drawing/2014/main" val="2271113664"/>
                    </a:ext>
                  </a:extLst>
                </a:gridCol>
              </a:tblGrid>
              <a:tr h="596167">
                <a:tc>
                  <a:txBody>
                    <a:bodyPr/>
                    <a:lstStyle/>
                    <a:p>
                      <a:r>
                        <a:rPr lang="en-GB" sz="1200">
                          <a:solidFill>
                            <a:schemeClr val="tx1"/>
                          </a:solidFill>
                        </a:rPr>
                        <a:t>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a:solidFill>
                            <a:schemeClr val="tx1"/>
                          </a:solidFill>
                        </a:rPr>
                        <a:t>Rounded to the nearest 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43874"/>
                  </a:ext>
                </a:extLst>
              </a:tr>
              <a:tr h="357700">
                <a:tc>
                  <a:txBody>
                    <a:bodyPr/>
                    <a:lstStyle/>
                    <a:p>
                      <a:pPr algn="ctr"/>
                      <a:r>
                        <a:rPr lang="en-GB" sz="1200"/>
                        <a:t>6432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025556"/>
                  </a:ext>
                </a:extLst>
              </a:tr>
              <a:tr h="357700">
                <a:tc>
                  <a:txBody>
                    <a:bodyPr/>
                    <a:lstStyle/>
                    <a:p>
                      <a:pPr algn="ctr"/>
                      <a:r>
                        <a:rPr lang="en-GB" sz="1200"/>
                        <a:t>9256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4987600"/>
                  </a:ext>
                </a:extLst>
              </a:tr>
              <a:tr h="357700">
                <a:tc>
                  <a:txBody>
                    <a:bodyPr/>
                    <a:lstStyle/>
                    <a:p>
                      <a:pPr algn="ctr"/>
                      <a:r>
                        <a:rPr lang="en-GB" sz="1200"/>
                        <a:t>40039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173701"/>
                  </a:ext>
                </a:extLst>
              </a:tr>
              <a:tr h="357700">
                <a:tc>
                  <a:txBody>
                    <a:bodyPr/>
                    <a:lstStyle/>
                    <a:p>
                      <a:pPr algn="ctr"/>
                      <a:r>
                        <a:rPr lang="en-GB" sz="1200"/>
                        <a:t>4555.9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44352"/>
                  </a:ext>
                </a:extLst>
              </a:tr>
            </a:tbl>
          </a:graphicData>
        </a:graphic>
      </p:graphicFrame>
      <p:sp>
        <p:nvSpPr>
          <p:cNvPr id="7" name="TextBox 6">
            <a:extLst>
              <a:ext uri="{FF2B5EF4-FFF2-40B4-BE49-F238E27FC236}">
                <a16:creationId xmlns:a16="http://schemas.microsoft.com/office/drawing/2014/main" id="{A48B377A-F857-5C11-FD51-E129A0EEE0A2}"/>
              </a:ext>
            </a:extLst>
          </p:cNvPr>
          <p:cNvSpPr txBox="1"/>
          <p:nvPr/>
        </p:nvSpPr>
        <p:spPr>
          <a:xfrm>
            <a:off x="192088" y="200839"/>
            <a:ext cx="4913312" cy="27699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4.</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Round these numbers to the given degree of accuracy</a:t>
            </a:r>
          </a:p>
        </p:txBody>
      </p:sp>
      <p:sp>
        <p:nvSpPr>
          <p:cNvPr id="8" name="TextBox 7">
            <a:extLst>
              <a:ext uri="{FF2B5EF4-FFF2-40B4-BE49-F238E27FC236}">
                <a16:creationId xmlns:a16="http://schemas.microsoft.com/office/drawing/2014/main" id="{AE43D87B-7EB3-1E7E-2441-CC365A6DDC2E}"/>
              </a:ext>
            </a:extLst>
          </p:cNvPr>
          <p:cNvSpPr txBox="1"/>
          <p:nvPr/>
        </p:nvSpPr>
        <p:spPr>
          <a:xfrm>
            <a:off x="192088" y="2583637"/>
            <a:ext cx="4593742" cy="461665"/>
          </a:xfrm>
          <a:prstGeom prst="rect">
            <a:avLst/>
          </a:prstGeom>
          <a:noFill/>
        </p:spPr>
        <p:txBody>
          <a:bodyPr wrap="square" rtlCol="0">
            <a:spAutoFit/>
          </a:bodyPr>
          <a:lstStyle/>
          <a:p>
            <a:r>
              <a:rPr lang="en-US" sz="1200" b="1"/>
              <a:t>5.  </a:t>
            </a:r>
            <a:r>
              <a:rPr lang="en-GB" sz="1200"/>
              <a:t>Look at these signs.</a:t>
            </a:r>
            <a:endParaRPr lang="en-US" sz="1200"/>
          </a:p>
          <a:p>
            <a:pPr marL="174625" indent="-174625"/>
            <a:r>
              <a:rPr lang="en-US" sz="1200"/>
              <a:t>	Which of these sentences could be true? Which must be false?</a:t>
            </a:r>
            <a:endParaRPr lang="en-GB" sz="1200"/>
          </a:p>
        </p:txBody>
      </p:sp>
      <p:pic>
        <p:nvPicPr>
          <p:cNvPr id="9" name="Picture 8">
            <a:extLst>
              <a:ext uri="{FF2B5EF4-FFF2-40B4-BE49-F238E27FC236}">
                <a16:creationId xmlns:a16="http://schemas.microsoft.com/office/drawing/2014/main" id="{C35D6C75-2CBC-BE87-CE44-F65DA25FAF41}"/>
              </a:ext>
            </a:extLst>
          </p:cNvPr>
          <p:cNvPicPr>
            <a:picLocks noChangeAspect="1"/>
          </p:cNvPicPr>
          <p:nvPr/>
        </p:nvPicPr>
        <p:blipFill>
          <a:blip r:embed="rId2"/>
          <a:stretch>
            <a:fillRect/>
          </a:stretch>
        </p:blipFill>
        <p:spPr>
          <a:xfrm>
            <a:off x="3701449" y="3069709"/>
            <a:ext cx="3019822" cy="697212"/>
          </a:xfrm>
          <a:prstGeom prst="rect">
            <a:avLst/>
          </a:prstGeom>
        </p:spPr>
      </p:pic>
      <p:sp>
        <p:nvSpPr>
          <p:cNvPr id="12" name="TextBox 11">
            <a:extLst>
              <a:ext uri="{FF2B5EF4-FFF2-40B4-BE49-F238E27FC236}">
                <a16:creationId xmlns:a16="http://schemas.microsoft.com/office/drawing/2014/main" id="{CCAC1CA8-C328-116B-9BB4-AB5800A27EC5}"/>
              </a:ext>
            </a:extLst>
          </p:cNvPr>
          <p:cNvSpPr txBox="1"/>
          <p:nvPr/>
        </p:nvSpPr>
        <p:spPr>
          <a:xfrm>
            <a:off x="166689" y="5601771"/>
            <a:ext cx="6219824" cy="461665"/>
          </a:xfrm>
          <a:prstGeom prst="rect">
            <a:avLst/>
          </a:prstGeom>
          <a:noFill/>
        </p:spPr>
        <p:txBody>
          <a:bodyPr wrap="square" rtlCol="0">
            <a:spAutoFit/>
          </a:bodyPr>
          <a:lstStyle/>
          <a:p>
            <a:pPr marL="180975" indent="-180975"/>
            <a:r>
              <a:rPr lang="en-US" sz="1200" b="1"/>
              <a:t>6. </a:t>
            </a:r>
            <a:r>
              <a:rPr lang="en-US" sz="1200"/>
              <a:t>The table shows the numbers of spectators in the crowds at ten Premier Division games on a weekend in October 2014.</a:t>
            </a:r>
            <a:endParaRPr lang="en-GB" sz="1200"/>
          </a:p>
        </p:txBody>
      </p:sp>
      <p:pic>
        <p:nvPicPr>
          <p:cNvPr id="13" name="Picture 12">
            <a:extLst>
              <a:ext uri="{FF2B5EF4-FFF2-40B4-BE49-F238E27FC236}">
                <a16:creationId xmlns:a16="http://schemas.microsoft.com/office/drawing/2014/main" id="{1A4240D1-7E82-CD21-CF84-E4276875E2A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398979" y="6093043"/>
            <a:ext cx="3322292" cy="2380846"/>
          </a:xfrm>
          <a:prstGeom prst="rect">
            <a:avLst/>
          </a:prstGeom>
        </p:spPr>
      </p:pic>
      <p:sp>
        <p:nvSpPr>
          <p:cNvPr id="14" name="TextBox 13">
            <a:extLst>
              <a:ext uri="{FF2B5EF4-FFF2-40B4-BE49-F238E27FC236}">
                <a16:creationId xmlns:a16="http://schemas.microsoft.com/office/drawing/2014/main" id="{25EC2516-947B-944F-0E08-9CF005E99ABB}"/>
              </a:ext>
            </a:extLst>
          </p:cNvPr>
          <p:cNvSpPr txBox="1"/>
          <p:nvPr/>
        </p:nvSpPr>
        <p:spPr>
          <a:xfrm>
            <a:off x="275432" y="6093043"/>
            <a:ext cx="3808418" cy="2677656"/>
          </a:xfrm>
          <a:prstGeom prst="rect">
            <a:avLst/>
          </a:prstGeom>
          <a:noFill/>
        </p:spPr>
        <p:txBody>
          <a:bodyPr wrap="square" rtlCol="0">
            <a:spAutoFit/>
          </a:bodyPr>
          <a:lstStyle/>
          <a:p>
            <a:pPr marL="228600" indent="-228600">
              <a:buAutoNum type="alphaLcParenR"/>
            </a:pPr>
            <a:r>
              <a:rPr lang="en-US" sz="1200"/>
              <a:t>Which match had the largest crowd?</a:t>
            </a:r>
          </a:p>
          <a:p>
            <a:endParaRPr lang="en-US" sz="1200"/>
          </a:p>
          <a:p>
            <a:endParaRPr lang="en-US" sz="1200"/>
          </a:p>
          <a:p>
            <a:endParaRPr lang="en-US" sz="1200"/>
          </a:p>
          <a:p>
            <a:r>
              <a:rPr lang="en-US" sz="1200"/>
              <a:t>b)  Which had the smallest crowd?</a:t>
            </a:r>
          </a:p>
          <a:p>
            <a:endParaRPr lang="en-US" sz="1200"/>
          </a:p>
          <a:p>
            <a:endParaRPr lang="en-US" sz="1200"/>
          </a:p>
          <a:p>
            <a:endParaRPr lang="en-US" sz="1200"/>
          </a:p>
          <a:p>
            <a:r>
              <a:rPr lang="en-US" sz="1200"/>
              <a:t>c)  Round all the numbers to the nearest 1000.</a:t>
            </a:r>
          </a:p>
          <a:p>
            <a:endParaRPr lang="en-US" sz="1200"/>
          </a:p>
          <a:p>
            <a:endParaRPr lang="en-US" sz="1200"/>
          </a:p>
          <a:p>
            <a:endParaRPr lang="en-US" sz="1200"/>
          </a:p>
          <a:p>
            <a:r>
              <a:rPr lang="en-US" sz="1200"/>
              <a:t>d) Round all the numbers to the nearest 100.</a:t>
            </a:r>
          </a:p>
          <a:p>
            <a:endParaRPr lang="en-GB" sz="1200"/>
          </a:p>
        </p:txBody>
      </p:sp>
      <p:sp>
        <p:nvSpPr>
          <p:cNvPr id="4" name="TextBox 3">
            <a:extLst>
              <a:ext uri="{FF2B5EF4-FFF2-40B4-BE49-F238E27FC236}">
                <a16:creationId xmlns:a16="http://schemas.microsoft.com/office/drawing/2014/main" id="{4BB83E25-A2E9-19C6-3C42-6AA04D771171}"/>
              </a:ext>
            </a:extLst>
          </p:cNvPr>
          <p:cNvSpPr txBox="1"/>
          <p:nvPr/>
        </p:nvSpPr>
        <p:spPr>
          <a:xfrm>
            <a:off x="353220" y="3188075"/>
            <a:ext cx="7547983" cy="2292935"/>
          </a:xfrm>
          <a:prstGeom prst="rect">
            <a:avLst/>
          </a:prstGeom>
          <a:noFill/>
        </p:spPr>
        <p:txBody>
          <a:bodyPr wrap="square" rtlCol="0">
            <a:spAutoFit/>
          </a:bodyPr>
          <a:lstStyle/>
          <a:p>
            <a:pPr marL="228600" indent="-228600">
              <a:buAutoNum type="alphaLcParenR"/>
            </a:pPr>
            <a:r>
              <a:rPr lang="en-US" sz="1200" dirty="0"/>
              <a:t>There are 789 people living in </a:t>
            </a:r>
            <a:r>
              <a:rPr lang="en-US" sz="1200" dirty="0" err="1"/>
              <a:t>Elsecar</a:t>
            </a:r>
            <a:endParaRPr lang="en-US" sz="1200" dirty="0"/>
          </a:p>
          <a:p>
            <a:pPr marL="228600" indent="-228600">
              <a:buAutoNum type="alphaLcParenR"/>
            </a:pPr>
            <a:endParaRPr lang="en-US" sz="1200" dirty="0"/>
          </a:p>
          <a:p>
            <a:r>
              <a:rPr lang="en-US" sz="1200" dirty="0"/>
              <a:t>b) There are 1278 people living in Hoyland</a:t>
            </a:r>
          </a:p>
          <a:p>
            <a:endParaRPr lang="en-US" sz="1200" dirty="0"/>
          </a:p>
          <a:p>
            <a:r>
              <a:rPr lang="en-US" sz="1200" dirty="0"/>
              <a:t>c) There are 550 people living in Jump</a:t>
            </a:r>
          </a:p>
          <a:p>
            <a:endParaRPr lang="en-US" sz="1200" dirty="0"/>
          </a:p>
          <a:p>
            <a:r>
              <a:rPr lang="en-US" sz="1200" dirty="0"/>
              <a:t>d) There are 843 people living in </a:t>
            </a:r>
            <a:r>
              <a:rPr lang="en-US" sz="1200" dirty="0" err="1"/>
              <a:t>Elsecar</a:t>
            </a:r>
            <a:endParaRPr lang="en-US" sz="1200" dirty="0"/>
          </a:p>
          <a:p>
            <a:endParaRPr lang="en-US" sz="1200" dirty="0"/>
          </a:p>
          <a:p>
            <a:r>
              <a:rPr lang="en-US" sz="1200" dirty="0"/>
              <a:t>e) There are 1205 people living in Hoyland</a:t>
            </a:r>
          </a:p>
          <a:p>
            <a:endParaRPr lang="en-US" sz="1200" dirty="0"/>
          </a:p>
          <a:p>
            <a:r>
              <a:rPr lang="en-US" sz="1200" dirty="0"/>
              <a:t>f) There are 650 people living in Jump</a:t>
            </a:r>
          </a:p>
          <a:p>
            <a:endParaRPr lang="en-GB" sz="1100" dirty="0"/>
          </a:p>
        </p:txBody>
      </p:sp>
      <p:sp>
        <p:nvSpPr>
          <p:cNvPr id="5" name="TextBox 4">
            <a:extLst>
              <a:ext uri="{FF2B5EF4-FFF2-40B4-BE49-F238E27FC236}">
                <a16:creationId xmlns:a16="http://schemas.microsoft.com/office/drawing/2014/main" id="{11AB5683-0689-50DB-9054-FFCDE1F8C1EB}"/>
              </a:ext>
            </a:extLst>
          </p:cNvPr>
          <p:cNvSpPr txBox="1"/>
          <p:nvPr/>
        </p:nvSpPr>
        <p:spPr>
          <a:xfrm>
            <a:off x="568466" y="8752430"/>
            <a:ext cx="6165370" cy="369332"/>
          </a:xfrm>
          <a:prstGeom prst="rect">
            <a:avLst/>
          </a:prstGeom>
          <a:noFill/>
          <a:ln>
            <a:solidFill>
              <a:schemeClr val="tx1"/>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D6EEE83-48DE-952F-29AB-ADE1CCE59EB3}"/>
              </a:ext>
            </a:extLst>
          </p:cNvPr>
          <p:cNvSpPr txBox="1"/>
          <p:nvPr/>
        </p:nvSpPr>
        <p:spPr>
          <a:xfrm>
            <a:off x="568466" y="7092458"/>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6141F2F-495C-B2F2-9573-1F9D8ED04865}"/>
              </a:ext>
            </a:extLst>
          </p:cNvPr>
          <p:cNvSpPr txBox="1"/>
          <p:nvPr/>
        </p:nvSpPr>
        <p:spPr>
          <a:xfrm>
            <a:off x="574655" y="6380059"/>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9E1B8C81-7F81-38DC-0167-5A38F529C93D}"/>
              </a:ext>
            </a:extLst>
          </p:cNvPr>
          <p:cNvSpPr txBox="1"/>
          <p:nvPr/>
        </p:nvSpPr>
        <p:spPr>
          <a:xfrm>
            <a:off x="568466" y="7832665"/>
            <a:ext cx="2727345"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6284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15</a:t>
            </a:fld>
            <a:endParaRPr lang="en-GB">
              <a:solidFill>
                <a:schemeClr val="tx1"/>
              </a:solidFill>
            </a:endParaRPr>
          </a:p>
        </p:txBody>
      </p:sp>
      <p:sp>
        <p:nvSpPr>
          <p:cNvPr id="67" name="Rectangle 66">
            <a:extLst>
              <a:ext uri="{FF2B5EF4-FFF2-40B4-BE49-F238E27FC236}">
                <a16:creationId xmlns:a16="http://schemas.microsoft.com/office/drawing/2014/main" id="{B59D2F85-C40C-6F49-A8DC-9962E32C54A7}"/>
              </a:ext>
            </a:extLst>
          </p:cNvPr>
          <p:cNvSpPr/>
          <p:nvPr/>
        </p:nvSpPr>
        <p:spPr>
          <a:xfrm>
            <a:off x="82741" y="500289"/>
            <a:ext cx="6679742" cy="11607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ysClr val="windowText" lastClr="000000"/>
              </a:solidFill>
            </a:endParaRPr>
          </a:p>
        </p:txBody>
      </p:sp>
      <p:sp>
        <p:nvSpPr>
          <p:cNvPr id="71" name="TextBox 70">
            <a:extLst>
              <a:ext uri="{FF2B5EF4-FFF2-40B4-BE49-F238E27FC236}">
                <a16:creationId xmlns:a16="http://schemas.microsoft.com/office/drawing/2014/main" id="{F05264B7-DB58-7E49-B4A9-8F02D752A45D}"/>
              </a:ext>
            </a:extLst>
          </p:cNvPr>
          <p:cNvSpPr txBox="1"/>
          <p:nvPr/>
        </p:nvSpPr>
        <p:spPr>
          <a:xfrm>
            <a:off x="137040" y="805618"/>
            <a:ext cx="1399768" cy="276999"/>
          </a:xfrm>
          <a:prstGeom prst="rect">
            <a:avLst/>
          </a:prstGeom>
          <a:noFill/>
        </p:spPr>
        <p:txBody>
          <a:bodyPr wrap="square" rtlCol="0">
            <a:spAutoFit/>
          </a:bodyPr>
          <a:lstStyle/>
          <a:p>
            <a:r>
              <a:rPr lang="en-GB" sz="1200" b="1"/>
              <a:t>Objectives:</a:t>
            </a:r>
          </a:p>
        </p:txBody>
      </p:sp>
      <p:sp>
        <p:nvSpPr>
          <p:cNvPr id="72" name="TextBox 71">
            <a:extLst>
              <a:ext uri="{FF2B5EF4-FFF2-40B4-BE49-F238E27FC236}">
                <a16:creationId xmlns:a16="http://schemas.microsoft.com/office/drawing/2014/main" id="{FF2A834D-2195-C446-98E7-51533FA4411B}"/>
              </a:ext>
            </a:extLst>
          </p:cNvPr>
          <p:cNvSpPr txBox="1"/>
          <p:nvPr/>
        </p:nvSpPr>
        <p:spPr>
          <a:xfrm>
            <a:off x="845769" y="1006998"/>
            <a:ext cx="4667990" cy="461665"/>
          </a:xfrm>
          <a:prstGeom prst="rect">
            <a:avLst/>
          </a:prstGeom>
          <a:noFill/>
        </p:spPr>
        <p:txBody>
          <a:bodyPr wrap="square" rtlCol="0">
            <a:spAutoFit/>
          </a:bodyPr>
          <a:lstStyle/>
          <a:p>
            <a:pPr marL="342900" indent="-342900">
              <a:buFont typeface="+mj-lt"/>
              <a:buAutoNum type="arabicPeriod"/>
            </a:pPr>
            <a:r>
              <a:rPr lang="en-GB" sz="1200"/>
              <a:t>To round decimal numbers to a given number of decimal places.</a:t>
            </a:r>
            <a:endParaRPr lang="en-US" sz="1200"/>
          </a:p>
          <a:p>
            <a:pPr marL="342900" indent="-342900">
              <a:buFont typeface="+mj-lt"/>
              <a:buAutoNum type="arabicPeriod"/>
            </a:pPr>
            <a:r>
              <a:rPr lang="en-US" sz="1200"/>
              <a:t>To able to answer worded questions involving rounding.</a:t>
            </a:r>
            <a:endParaRPr lang="en-GB" sz="1200"/>
          </a:p>
        </p:txBody>
      </p:sp>
      <p:sp>
        <p:nvSpPr>
          <p:cNvPr id="73" name="TextBox 72">
            <a:extLst>
              <a:ext uri="{FF2B5EF4-FFF2-40B4-BE49-F238E27FC236}">
                <a16:creationId xmlns:a16="http://schemas.microsoft.com/office/drawing/2014/main" id="{2E771014-6049-D94F-9894-F3E0D5FBDFBE}"/>
              </a:ext>
            </a:extLst>
          </p:cNvPr>
          <p:cNvSpPr txBox="1"/>
          <p:nvPr/>
        </p:nvSpPr>
        <p:spPr>
          <a:xfrm>
            <a:off x="714552" y="542253"/>
            <a:ext cx="5243871" cy="276999"/>
          </a:xfrm>
          <a:prstGeom prst="rect">
            <a:avLst/>
          </a:prstGeom>
          <a:noFill/>
          <a:ln>
            <a:solidFill>
              <a:schemeClr val="tx1"/>
            </a:solidFill>
          </a:ln>
        </p:spPr>
        <p:txBody>
          <a:bodyPr wrap="none" rtlCol="0">
            <a:spAutoFit/>
          </a:bodyPr>
          <a:lstStyle/>
          <a:p>
            <a:pPr algn="ctr"/>
            <a:r>
              <a:rPr lang="en-GB" sz="1200"/>
              <a:t>LEARNING OUTCOME: To be able to round to one, two and three decimal places. </a:t>
            </a:r>
          </a:p>
        </p:txBody>
      </p:sp>
      <p:sp>
        <p:nvSpPr>
          <p:cNvPr id="74" name="TextBox 73">
            <a:extLst>
              <a:ext uri="{FF2B5EF4-FFF2-40B4-BE49-F238E27FC236}">
                <a16:creationId xmlns:a16="http://schemas.microsoft.com/office/drawing/2014/main" id="{7715F86B-6C3B-6849-A0A3-1AA8A5990EEB}"/>
              </a:ext>
            </a:extLst>
          </p:cNvPr>
          <p:cNvSpPr txBox="1"/>
          <p:nvPr/>
        </p:nvSpPr>
        <p:spPr>
          <a:xfrm>
            <a:off x="5923773" y="880970"/>
            <a:ext cx="806631" cy="646331"/>
          </a:xfrm>
          <a:prstGeom prst="rect">
            <a:avLst/>
          </a:prstGeom>
          <a:noFill/>
          <a:ln w="12700">
            <a:solidFill>
              <a:schemeClr val="tx1"/>
            </a:solidFill>
          </a:ln>
        </p:spPr>
        <p:txBody>
          <a:bodyPr wrap="none" rtlCol="0">
            <a:spAutoFit/>
          </a:bodyPr>
          <a:lstStyle/>
          <a:p>
            <a:r>
              <a:rPr lang="en-US" sz="900" b="1" u="sng"/>
              <a:t>Keywords:</a:t>
            </a:r>
            <a:endParaRPr lang="en-US" sz="900"/>
          </a:p>
          <a:p>
            <a:pPr marL="171450" indent="-171450">
              <a:buFontTx/>
              <a:buChar char="-"/>
            </a:pPr>
            <a:r>
              <a:rPr lang="en-US" sz="900"/>
              <a:t>Rounding</a:t>
            </a:r>
          </a:p>
          <a:p>
            <a:pPr marL="171450" indent="-171450">
              <a:buFontTx/>
              <a:buChar char="-"/>
            </a:pPr>
            <a:r>
              <a:rPr lang="en-US" sz="900"/>
              <a:t>Integer</a:t>
            </a:r>
          </a:p>
          <a:p>
            <a:pPr marL="171450" indent="-171450">
              <a:buFontTx/>
              <a:buChar char="-"/>
            </a:pPr>
            <a:r>
              <a:rPr lang="en-US" sz="900"/>
              <a:t>Decimal</a:t>
            </a:r>
          </a:p>
        </p:txBody>
      </p:sp>
      <p:grpSp>
        <p:nvGrpSpPr>
          <p:cNvPr id="5" name="Group 4">
            <a:extLst>
              <a:ext uri="{FF2B5EF4-FFF2-40B4-BE49-F238E27FC236}">
                <a16:creationId xmlns:a16="http://schemas.microsoft.com/office/drawing/2014/main" id="{63D56F03-962C-1CFC-441E-CEDEB55CC329}"/>
              </a:ext>
            </a:extLst>
          </p:cNvPr>
          <p:cNvGrpSpPr/>
          <p:nvPr/>
        </p:nvGrpSpPr>
        <p:grpSpPr>
          <a:xfrm>
            <a:off x="38604" y="1707952"/>
            <a:ext cx="6743356" cy="2345860"/>
            <a:chOff x="38604" y="1707952"/>
            <a:chExt cx="6743356" cy="2345860"/>
          </a:xfrm>
        </p:grpSpPr>
        <p:cxnSp>
          <p:nvCxnSpPr>
            <p:cNvPr id="61" name="Straight Connector 60">
              <a:extLst>
                <a:ext uri="{FF2B5EF4-FFF2-40B4-BE49-F238E27FC236}">
                  <a16:creationId xmlns:a16="http://schemas.microsoft.com/office/drawing/2014/main" id="{FE7EDCC2-ABAA-434F-8C0E-6C3A1F76BAE7}"/>
                </a:ext>
              </a:extLst>
            </p:cNvPr>
            <p:cNvCxnSpPr/>
            <p:nvPr/>
          </p:nvCxnSpPr>
          <p:spPr>
            <a:xfrm flipV="1">
              <a:off x="931051" y="373383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38604" y="1707952"/>
              <a:ext cx="6699219" cy="23458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3" name="Straight Connector 62"/>
            <p:cNvCxnSpPr/>
            <p:nvPr/>
          </p:nvCxnSpPr>
          <p:spPr>
            <a:xfrm>
              <a:off x="82741" y="3048615"/>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p:cNvCxnSpPr>
              <a:cxnSpLocks/>
              <a:stCxn id="62" idx="2"/>
              <a:endCxn id="62" idx="0"/>
            </p:cNvCxnSpPr>
            <p:nvPr/>
          </p:nvCxnSpPr>
          <p:spPr>
            <a:xfrm flipV="1">
              <a:off x="3388214" y="1707952"/>
              <a:ext cx="0" cy="2345860"/>
            </a:xfrm>
            <a:prstGeom prst="line">
              <a:avLst/>
            </a:prstGeom>
          </p:spPr>
          <p:style>
            <a:lnRef idx="1">
              <a:schemeClr val="dk1"/>
            </a:lnRef>
            <a:fillRef idx="0">
              <a:schemeClr val="dk1"/>
            </a:fillRef>
            <a:effectRef idx="0">
              <a:schemeClr val="dk1"/>
            </a:effectRef>
            <a:fontRef idx="minor">
              <a:schemeClr val="tx1"/>
            </a:fontRef>
          </p:style>
        </p:cxnSp>
        <p:sp>
          <p:nvSpPr>
            <p:cNvPr id="65" name="TextBox 64"/>
            <p:cNvSpPr txBox="1"/>
            <p:nvPr/>
          </p:nvSpPr>
          <p:spPr>
            <a:xfrm>
              <a:off x="78604" y="1799214"/>
              <a:ext cx="824713" cy="461665"/>
            </a:xfrm>
            <a:prstGeom prst="rect">
              <a:avLst/>
            </a:prstGeom>
            <a:noFill/>
          </p:spPr>
          <p:txBody>
            <a:bodyPr wrap="none" rtlCol="0">
              <a:spAutoFit/>
            </a:bodyPr>
            <a:lstStyle/>
            <a:p>
              <a:r>
                <a:rPr lang="en-US" sz="1200" b="1" dirty="0"/>
                <a:t>Definition</a:t>
              </a:r>
            </a:p>
            <a:p>
              <a:endParaRPr lang="en-US" sz="1200" dirty="0"/>
            </a:p>
          </p:txBody>
        </p:sp>
        <p:sp>
          <p:nvSpPr>
            <p:cNvPr id="68" name="TextBox 67"/>
            <p:cNvSpPr txBox="1"/>
            <p:nvPr/>
          </p:nvSpPr>
          <p:spPr>
            <a:xfrm>
              <a:off x="5606060" y="1816369"/>
              <a:ext cx="1112228" cy="276999"/>
            </a:xfrm>
            <a:prstGeom prst="rect">
              <a:avLst/>
            </a:prstGeom>
            <a:noFill/>
          </p:spPr>
          <p:txBody>
            <a:bodyPr wrap="none" rtlCol="0">
              <a:spAutoFit/>
            </a:bodyPr>
            <a:lstStyle/>
            <a:p>
              <a:r>
                <a:rPr lang="en-US" sz="1200" b="1" dirty="0"/>
                <a:t>Characteristics</a:t>
              </a:r>
              <a:endParaRPr lang="en-GB" sz="1200" b="1" dirty="0"/>
            </a:p>
          </p:txBody>
        </p:sp>
        <p:sp>
          <p:nvSpPr>
            <p:cNvPr id="95" name="TextBox 94"/>
            <p:cNvSpPr txBox="1"/>
            <p:nvPr/>
          </p:nvSpPr>
          <p:spPr>
            <a:xfrm>
              <a:off x="93352" y="3012456"/>
              <a:ext cx="788164" cy="276999"/>
            </a:xfrm>
            <a:prstGeom prst="rect">
              <a:avLst/>
            </a:prstGeom>
            <a:noFill/>
          </p:spPr>
          <p:txBody>
            <a:bodyPr wrap="none" rtlCol="0">
              <a:spAutoFit/>
            </a:bodyPr>
            <a:lstStyle/>
            <a:p>
              <a:r>
                <a:rPr lang="en-US" sz="1200" b="1"/>
                <a:t>Examples</a:t>
              </a:r>
              <a:endParaRPr lang="en-GB" sz="1200" b="1"/>
            </a:p>
          </p:txBody>
        </p:sp>
        <p:sp>
          <p:nvSpPr>
            <p:cNvPr id="96" name="TextBox 95"/>
            <p:cNvSpPr txBox="1"/>
            <p:nvPr/>
          </p:nvSpPr>
          <p:spPr>
            <a:xfrm>
              <a:off x="5546689" y="3036868"/>
              <a:ext cx="1172885" cy="276999"/>
            </a:xfrm>
            <a:prstGeom prst="rect">
              <a:avLst/>
            </a:prstGeom>
            <a:noFill/>
          </p:spPr>
          <p:txBody>
            <a:bodyPr wrap="none" rtlCol="0">
              <a:spAutoFit/>
            </a:bodyPr>
            <a:lstStyle/>
            <a:p>
              <a:r>
                <a:rPr lang="en-US" sz="1200" b="1"/>
                <a:t>Non - Examples</a:t>
              </a:r>
              <a:endParaRPr lang="en-GB" sz="1200" b="1"/>
            </a:p>
          </p:txBody>
        </p:sp>
        <p:sp>
          <p:nvSpPr>
            <p:cNvPr id="98" name="TextBox 97"/>
            <p:cNvSpPr txBox="1"/>
            <p:nvPr/>
          </p:nvSpPr>
          <p:spPr>
            <a:xfrm>
              <a:off x="78604" y="2186428"/>
              <a:ext cx="3230335" cy="461665"/>
            </a:xfrm>
            <a:prstGeom prst="rect">
              <a:avLst/>
            </a:prstGeom>
            <a:noFill/>
          </p:spPr>
          <p:txBody>
            <a:bodyPr wrap="square" rtlCol="0">
              <a:spAutoFit/>
            </a:bodyPr>
            <a:lstStyle/>
            <a:p>
              <a:r>
                <a:rPr lang="en-US" sz="1200"/>
                <a:t>Approximating a number to the closest number of given accuracy. </a:t>
              </a:r>
            </a:p>
          </p:txBody>
        </p:sp>
        <p:sp>
          <p:nvSpPr>
            <p:cNvPr id="99" name="TextBox 98"/>
            <p:cNvSpPr txBox="1"/>
            <p:nvPr/>
          </p:nvSpPr>
          <p:spPr>
            <a:xfrm>
              <a:off x="3476085" y="2104452"/>
              <a:ext cx="3230335" cy="830997"/>
            </a:xfrm>
            <a:prstGeom prst="rect">
              <a:avLst/>
            </a:prstGeom>
            <a:noFill/>
          </p:spPr>
          <p:txBody>
            <a:bodyPr wrap="square" rtlCol="0">
              <a:spAutoFit/>
            </a:bodyPr>
            <a:lstStyle/>
            <a:p>
              <a:pPr marL="171450" indent="-171450">
                <a:buFont typeface="Arial" panose="020B0604020202020204" pitchFamily="34" charset="0"/>
                <a:buChar char="•"/>
              </a:pPr>
              <a:r>
                <a:rPr lang="en-US" sz="1200" dirty="0"/>
                <a:t>After rounding the number will have the amount of decimal places that it has been rounded to. </a:t>
              </a:r>
            </a:p>
            <a:p>
              <a:pPr marL="171450" indent="-171450">
                <a:buFont typeface="Arial" panose="020B0604020202020204" pitchFamily="34" charset="0"/>
                <a:buChar char="•"/>
              </a:pPr>
              <a:endParaRPr lang="en-US" sz="1200" dirty="0"/>
            </a:p>
          </p:txBody>
        </p:sp>
        <p:sp>
          <p:nvSpPr>
            <p:cNvPr id="97" name="TextBox 96"/>
            <p:cNvSpPr txBox="1"/>
            <p:nvPr/>
          </p:nvSpPr>
          <p:spPr>
            <a:xfrm>
              <a:off x="2051347" y="2854897"/>
              <a:ext cx="2755306" cy="369332"/>
            </a:xfrm>
            <a:prstGeom prst="rect">
              <a:avLst/>
            </a:prstGeom>
            <a:solidFill>
              <a:schemeClr val="bg1"/>
            </a:solidFill>
            <a:ln>
              <a:solidFill>
                <a:schemeClr val="tx1"/>
              </a:solidFill>
            </a:ln>
          </p:spPr>
          <p:txBody>
            <a:bodyPr wrap="none" rtlCol="0">
              <a:spAutoFit/>
            </a:bodyPr>
            <a:lstStyle/>
            <a:p>
              <a:r>
                <a:rPr lang="en-US"/>
                <a:t>Rounding to decimal places</a:t>
              </a:r>
              <a:endParaRPr lang="en-GB"/>
            </a:p>
          </p:txBody>
        </p:sp>
        <p:sp>
          <p:nvSpPr>
            <p:cNvPr id="135" name="TextBox 134"/>
            <p:cNvSpPr txBox="1"/>
            <p:nvPr/>
          </p:nvSpPr>
          <p:spPr>
            <a:xfrm>
              <a:off x="118241" y="3260750"/>
              <a:ext cx="3230335" cy="646331"/>
            </a:xfrm>
            <a:prstGeom prst="rect">
              <a:avLst/>
            </a:prstGeom>
            <a:noFill/>
          </p:spPr>
          <p:txBody>
            <a:bodyPr wrap="square" rtlCol="0">
              <a:spAutoFit/>
            </a:bodyPr>
            <a:lstStyle/>
            <a:p>
              <a:r>
                <a:rPr lang="en-US" sz="1200" dirty="0"/>
                <a:t>1.75 rounded to one decimal place is 1.8</a:t>
              </a:r>
            </a:p>
            <a:p>
              <a:r>
                <a:rPr lang="en-US" sz="1200" dirty="0"/>
                <a:t>It gets rounded up and there is only one digit after the point (in the tenths column)</a:t>
              </a:r>
            </a:p>
          </p:txBody>
        </p:sp>
        <p:sp>
          <p:nvSpPr>
            <p:cNvPr id="136" name="TextBox 135"/>
            <p:cNvSpPr txBox="1"/>
            <p:nvPr/>
          </p:nvSpPr>
          <p:spPr>
            <a:xfrm>
              <a:off x="3447314" y="3319261"/>
              <a:ext cx="3230335" cy="461665"/>
            </a:xfrm>
            <a:prstGeom prst="rect">
              <a:avLst/>
            </a:prstGeom>
            <a:noFill/>
          </p:spPr>
          <p:txBody>
            <a:bodyPr wrap="square" rtlCol="0">
              <a:spAutoFit/>
            </a:bodyPr>
            <a:lstStyle/>
            <a:p>
              <a:pPr algn="ctr"/>
              <a:r>
                <a:rPr lang="en-US" sz="1200" dirty="0"/>
                <a:t>5.98 rounded to one decimal place is not 6.</a:t>
              </a:r>
            </a:p>
            <a:p>
              <a:pPr algn="ctr"/>
              <a:r>
                <a:rPr lang="en-US" sz="1200" dirty="0"/>
                <a:t>It is 6.0. You must include the tenths digit. </a:t>
              </a:r>
            </a:p>
          </p:txBody>
        </p:sp>
      </p:grpSp>
      <p:sp>
        <p:nvSpPr>
          <p:cNvPr id="137" name="Rectangle 136">
            <a:extLst>
              <a:ext uri="{FF2B5EF4-FFF2-40B4-BE49-F238E27FC236}">
                <a16:creationId xmlns:a16="http://schemas.microsoft.com/office/drawing/2014/main" id="{18A8F47A-AF22-7041-87DA-ED68FE8CA627}"/>
              </a:ext>
            </a:extLst>
          </p:cNvPr>
          <p:cNvSpPr/>
          <p:nvPr/>
        </p:nvSpPr>
        <p:spPr>
          <a:xfrm>
            <a:off x="1787857" y="4667448"/>
            <a:ext cx="4893725"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138" name="TextBox 137">
            <a:extLst>
              <a:ext uri="{FF2B5EF4-FFF2-40B4-BE49-F238E27FC236}">
                <a16:creationId xmlns:a16="http://schemas.microsoft.com/office/drawing/2014/main" id="{BCDC1A2B-2D26-C945-B722-18950FA49879}"/>
              </a:ext>
            </a:extLst>
          </p:cNvPr>
          <p:cNvSpPr txBox="1"/>
          <p:nvPr/>
        </p:nvSpPr>
        <p:spPr>
          <a:xfrm>
            <a:off x="2663994" y="4377269"/>
            <a:ext cx="1308500" cy="276999"/>
          </a:xfrm>
          <a:prstGeom prst="rect">
            <a:avLst/>
          </a:prstGeom>
          <a:noFill/>
          <a:ln>
            <a:noFill/>
          </a:ln>
        </p:spPr>
        <p:txBody>
          <a:bodyPr wrap="none" rtlCol="0">
            <a:spAutoFit/>
          </a:bodyPr>
          <a:lstStyle/>
          <a:p>
            <a:r>
              <a:rPr lang="en-GB" sz="1200" b="1" i="1" dirty="0">
                <a:solidFill>
                  <a:srgbClr val="FF0000"/>
                </a:solidFill>
              </a:rPr>
              <a:t>Example 1 - I do…</a:t>
            </a:r>
          </a:p>
        </p:txBody>
      </p:sp>
      <p:sp>
        <p:nvSpPr>
          <p:cNvPr id="139" name="TextBox 138">
            <a:extLst>
              <a:ext uri="{FF2B5EF4-FFF2-40B4-BE49-F238E27FC236}">
                <a16:creationId xmlns:a16="http://schemas.microsoft.com/office/drawing/2014/main" id="{4AF4150A-9218-D640-8777-2ECCBC4D10FB}"/>
              </a:ext>
            </a:extLst>
          </p:cNvPr>
          <p:cNvSpPr txBox="1"/>
          <p:nvPr/>
        </p:nvSpPr>
        <p:spPr>
          <a:xfrm>
            <a:off x="4358260" y="6705825"/>
            <a:ext cx="1498808" cy="276999"/>
          </a:xfrm>
          <a:prstGeom prst="rect">
            <a:avLst/>
          </a:prstGeom>
          <a:noFill/>
          <a:ln>
            <a:noFill/>
          </a:ln>
        </p:spPr>
        <p:txBody>
          <a:bodyPr wrap="none" rtlCol="0">
            <a:spAutoFit/>
          </a:bodyPr>
          <a:lstStyle/>
          <a:p>
            <a:r>
              <a:rPr lang="en-GB" sz="1200" b="1" i="1">
                <a:solidFill>
                  <a:srgbClr val="00B050"/>
                </a:solidFill>
              </a:rPr>
              <a:t>Example 3 - You do…</a:t>
            </a:r>
          </a:p>
        </p:txBody>
      </p:sp>
      <p:sp>
        <p:nvSpPr>
          <p:cNvPr id="140" name="Rectangle 139">
            <a:extLst>
              <a:ext uri="{FF2B5EF4-FFF2-40B4-BE49-F238E27FC236}">
                <a16:creationId xmlns:a16="http://schemas.microsoft.com/office/drawing/2014/main" id="{769D737F-0229-C443-B78C-5EA2F6EA4EC2}"/>
              </a:ext>
            </a:extLst>
          </p:cNvPr>
          <p:cNvSpPr/>
          <p:nvPr/>
        </p:nvSpPr>
        <p:spPr>
          <a:xfrm>
            <a:off x="3489239" y="6956223"/>
            <a:ext cx="3188410" cy="2324375"/>
          </a:xfrm>
          <a:prstGeom prst="rect">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141" name="TextBox 140">
            <a:extLst>
              <a:ext uri="{FF2B5EF4-FFF2-40B4-BE49-F238E27FC236}">
                <a16:creationId xmlns:a16="http://schemas.microsoft.com/office/drawing/2014/main" id="{BCDC1A2B-2D26-C945-B722-18950FA49879}"/>
              </a:ext>
            </a:extLst>
          </p:cNvPr>
          <p:cNvSpPr txBox="1"/>
          <p:nvPr/>
        </p:nvSpPr>
        <p:spPr>
          <a:xfrm>
            <a:off x="971950" y="6683876"/>
            <a:ext cx="1475789" cy="276999"/>
          </a:xfrm>
          <a:prstGeom prst="rect">
            <a:avLst/>
          </a:prstGeom>
          <a:noFill/>
          <a:ln>
            <a:noFill/>
          </a:ln>
        </p:spPr>
        <p:txBody>
          <a:bodyPr wrap="none" rtlCol="0">
            <a:spAutoFit/>
          </a:bodyPr>
          <a:lstStyle/>
          <a:p>
            <a:r>
              <a:rPr lang="en-GB" sz="1200" b="1" i="1">
                <a:solidFill>
                  <a:schemeClr val="accent2"/>
                </a:solidFill>
              </a:rPr>
              <a:t>Example 2 - We do…</a:t>
            </a:r>
          </a:p>
        </p:txBody>
      </p:sp>
      <p:sp>
        <p:nvSpPr>
          <p:cNvPr id="142" name="Rectangle 141">
            <a:extLst>
              <a:ext uri="{FF2B5EF4-FFF2-40B4-BE49-F238E27FC236}">
                <a16:creationId xmlns:a16="http://schemas.microsoft.com/office/drawing/2014/main" id="{18A8F47A-AF22-7041-87DA-ED68FE8CA627}"/>
              </a:ext>
            </a:extLst>
          </p:cNvPr>
          <p:cNvSpPr/>
          <p:nvPr/>
        </p:nvSpPr>
        <p:spPr>
          <a:xfrm>
            <a:off x="166576" y="6954694"/>
            <a:ext cx="3202186" cy="228066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grpSp>
        <p:nvGrpSpPr>
          <p:cNvPr id="143" name="Group 142"/>
          <p:cNvGrpSpPr/>
          <p:nvPr/>
        </p:nvGrpSpPr>
        <p:grpSpPr>
          <a:xfrm>
            <a:off x="2653084" y="5236253"/>
            <a:ext cx="3201620" cy="1403239"/>
            <a:chOff x="79513" y="1870423"/>
            <a:chExt cx="3201620" cy="1403239"/>
          </a:xfrm>
        </p:grpSpPr>
        <p:pic>
          <p:nvPicPr>
            <p:cNvPr id="144" name="Picture 143"/>
            <p:cNvPicPr>
              <a:picLocks noChangeAspect="1"/>
            </p:cNvPicPr>
            <p:nvPr/>
          </p:nvPicPr>
          <p:blipFill>
            <a:blip r:embed="rId3"/>
            <a:stretch>
              <a:fillRect/>
            </a:stretch>
          </p:blipFill>
          <p:spPr>
            <a:xfrm>
              <a:off x="241395" y="2204589"/>
              <a:ext cx="2921329" cy="744162"/>
            </a:xfrm>
            <a:prstGeom prst="rect">
              <a:avLst/>
            </a:prstGeom>
          </p:spPr>
        </p:pic>
        <p:sp>
          <p:nvSpPr>
            <p:cNvPr id="145" name="TextBox 144"/>
            <p:cNvSpPr txBox="1"/>
            <p:nvPr/>
          </p:nvSpPr>
          <p:spPr>
            <a:xfrm>
              <a:off x="79513" y="2089696"/>
              <a:ext cx="380232" cy="276999"/>
            </a:xfrm>
            <a:prstGeom prst="rect">
              <a:avLst/>
            </a:prstGeom>
            <a:noFill/>
          </p:spPr>
          <p:txBody>
            <a:bodyPr wrap="none" rtlCol="0">
              <a:spAutoFit/>
            </a:bodyPr>
            <a:lstStyle/>
            <a:p>
              <a:r>
                <a:rPr lang="en-US" sz="1200"/>
                <a:t>2.3</a:t>
              </a:r>
              <a:endParaRPr lang="en-GB" sz="1200"/>
            </a:p>
          </p:txBody>
        </p:sp>
        <p:sp>
          <p:nvSpPr>
            <p:cNvPr id="146" name="TextBox 145"/>
            <p:cNvSpPr txBox="1"/>
            <p:nvPr/>
          </p:nvSpPr>
          <p:spPr>
            <a:xfrm>
              <a:off x="2900901" y="2084865"/>
              <a:ext cx="380232" cy="276999"/>
            </a:xfrm>
            <a:prstGeom prst="rect">
              <a:avLst/>
            </a:prstGeom>
            <a:noFill/>
          </p:spPr>
          <p:txBody>
            <a:bodyPr wrap="none" rtlCol="0">
              <a:spAutoFit/>
            </a:bodyPr>
            <a:lstStyle/>
            <a:p>
              <a:r>
                <a:rPr lang="en-US" sz="1200"/>
                <a:t>2.4</a:t>
              </a:r>
              <a:endParaRPr lang="en-GB" sz="1200"/>
            </a:p>
          </p:txBody>
        </p:sp>
        <p:grpSp>
          <p:nvGrpSpPr>
            <p:cNvPr id="147" name="Group 146"/>
            <p:cNvGrpSpPr/>
            <p:nvPr/>
          </p:nvGrpSpPr>
          <p:grpSpPr>
            <a:xfrm>
              <a:off x="1452286" y="1870423"/>
              <a:ext cx="485438" cy="546060"/>
              <a:chOff x="3159017" y="5096404"/>
              <a:chExt cx="485438" cy="546060"/>
            </a:xfrm>
          </p:grpSpPr>
          <p:sp>
            <p:nvSpPr>
              <p:cNvPr id="151" name="Rectangle 150">
                <a:extLst>
                  <a:ext uri="{FF2B5EF4-FFF2-40B4-BE49-F238E27FC236}">
                    <a16:creationId xmlns:a16="http://schemas.microsoft.com/office/drawing/2014/main" id="{CEEF23AD-EA17-135A-DB95-1D1FECB286F3}"/>
                  </a:ext>
                </a:extLst>
              </p:cNvPr>
              <p:cNvSpPr/>
              <p:nvPr/>
            </p:nvSpPr>
            <p:spPr>
              <a:xfrm>
                <a:off x="3159017" y="5096404"/>
                <a:ext cx="48543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2.35</a:t>
                </a:r>
                <a:endParaRPr lang="en-GB" sz="1100">
                  <a:solidFill>
                    <a:schemeClr val="tx1"/>
                  </a:solidFill>
                </a:endParaRPr>
              </a:p>
            </p:txBody>
          </p:sp>
          <p:cxnSp>
            <p:nvCxnSpPr>
              <p:cNvPr id="152" name="Straight Arrow Connector 151"/>
              <p:cNvCxnSpPr/>
              <p:nvPr/>
            </p:nvCxnSpPr>
            <p:spPr>
              <a:xfrm>
                <a:off x="3402019" y="5427424"/>
                <a:ext cx="0" cy="2150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49" name="TextBox 148"/>
            <p:cNvSpPr txBox="1"/>
            <p:nvPr/>
          </p:nvSpPr>
          <p:spPr>
            <a:xfrm>
              <a:off x="138983" y="2996663"/>
              <a:ext cx="2328714" cy="276999"/>
            </a:xfrm>
            <a:prstGeom prst="rect">
              <a:avLst/>
            </a:prstGeom>
            <a:noFill/>
          </p:spPr>
          <p:txBody>
            <a:bodyPr wrap="none" rtlCol="0">
              <a:spAutoFit/>
            </a:bodyPr>
            <a:lstStyle/>
            <a:p>
              <a:r>
                <a:rPr lang="en-US" sz="1200"/>
                <a:t>2.35 rounded to 1 decimal place is</a:t>
              </a:r>
              <a:endParaRPr lang="en-GB" sz="1200"/>
            </a:p>
          </p:txBody>
        </p:sp>
        <p:sp>
          <p:nvSpPr>
            <p:cNvPr id="150" name="Rectangle 149">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3" name="TextBox 2"/>
          <p:cNvSpPr txBox="1"/>
          <p:nvPr/>
        </p:nvSpPr>
        <p:spPr>
          <a:xfrm>
            <a:off x="3483790" y="4690437"/>
            <a:ext cx="1513625" cy="461665"/>
          </a:xfrm>
          <a:prstGeom prst="rect">
            <a:avLst/>
          </a:prstGeom>
          <a:noFill/>
        </p:spPr>
        <p:txBody>
          <a:bodyPr wrap="square" rtlCol="0">
            <a:spAutoFit/>
          </a:bodyPr>
          <a:lstStyle/>
          <a:p>
            <a:pPr algn="ctr"/>
            <a:r>
              <a:rPr lang="en-US" sz="1200"/>
              <a:t>Round 2.35 to the one decimal place</a:t>
            </a:r>
            <a:endParaRPr lang="en-GB" sz="1200"/>
          </a:p>
        </p:txBody>
      </p:sp>
      <p:grpSp>
        <p:nvGrpSpPr>
          <p:cNvPr id="66" name="Group 65"/>
          <p:cNvGrpSpPr/>
          <p:nvPr/>
        </p:nvGrpSpPr>
        <p:grpSpPr>
          <a:xfrm>
            <a:off x="138475" y="7575994"/>
            <a:ext cx="3201620" cy="1188797"/>
            <a:chOff x="79513" y="2084865"/>
            <a:chExt cx="3201620" cy="1188797"/>
          </a:xfrm>
        </p:grpSpPr>
        <p:pic>
          <p:nvPicPr>
            <p:cNvPr id="69" name="Picture 68"/>
            <p:cNvPicPr>
              <a:picLocks noChangeAspect="1"/>
            </p:cNvPicPr>
            <p:nvPr/>
          </p:nvPicPr>
          <p:blipFill>
            <a:blip r:embed="rId3"/>
            <a:stretch>
              <a:fillRect/>
            </a:stretch>
          </p:blipFill>
          <p:spPr>
            <a:xfrm>
              <a:off x="241395" y="2204589"/>
              <a:ext cx="2921329" cy="744162"/>
            </a:xfrm>
            <a:prstGeom prst="rect">
              <a:avLst/>
            </a:prstGeom>
          </p:spPr>
        </p:pic>
        <p:sp>
          <p:nvSpPr>
            <p:cNvPr id="75" name="TextBox 74"/>
            <p:cNvSpPr txBox="1"/>
            <p:nvPr/>
          </p:nvSpPr>
          <p:spPr>
            <a:xfrm>
              <a:off x="79513" y="2089696"/>
              <a:ext cx="380232" cy="276999"/>
            </a:xfrm>
            <a:prstGeom prst="rect">
              <a:avLst/>
            </a:prstGeom>
            <a:noFill/>
          </p:spPr>
          <p:txBody>
            <a:bodyPr wrap="none" rtlCol="0">
              <a:spAutoFit/>
            </a:bodyPr>
            <a:lstStyle/>
            <a:p>
              <a:r>
                <a:rPr lang="en-US" sz="1200"/>
                <a:t>4.1</a:t>
              </a:r>
              <a:endParaRPr lang="en-GB" sz="1200"/>
            </a:p>
          </p:txBody>
        </p:sp>
        <p:sp>
          <p:nvSpPr>
            <p:cNvPr id="81" name="TextBox 80"/>
            <p:cNvSpPr txBox="1"/>
            <p:nvPr/>
          </p:nvSpPr>
          <p:spPr>
            <a:xfrm>
              <a:off x="2900901" y="2084865"/>
              <a:ext cx="380232" cy="276999"/>
            </a:xfrm>
            <a:prstGeom prst="rect">
              <a:avLst/>
            </a:prstGeom>
            <a:noFill/>
          </p:spPr>
          <p:txBody>
            <a:bodyPr wrap="none" rtlCol="0">
              <a:spAutoFit/>
            </a:bodyPr>
            <a:lstStyle/>
            <a:p>
              <a:r>
                <a:rPr lang="en-US" sz="1200"/>
                <a:t>4.2</a:t>
              </a:r>
              <a:endParaRPr lang="en-GB" sz="1200"/>
            </a:p>
          </p:txBody>
        </p:sp>
        <p:sp>
          <p:nvSpPr>
            <p:cNvPr id="83" name="TextBox 82"/>
            <p:cNvSpPr txBox="1"/>
            <p:nvPr/>
          </p:nvSpPr>
          <p:spPr>
            <a:xfrm>
              <a:off x="138983" y="2996663"/>
              <a:ext cx="2328714" cy="276999"/>
            </a:xfrm>
            <a:prstGeom prst="rect">
              <a:avLst/>
            </a:prstGeom>
            <a:noFill/>
          </p:spPr>
          <p:txBody>
            <a:bodyPr wrap="none" rtlCol="0">
              <a:spAutoFit/>
            </a:bodyPr>
            <a:lstStyle/>
            <a:p>
              <a:r>
                <a:rPr lang="en-US" sz="1200"/>
                <a:t>4.12 rounded to 1 decimal place is</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87" name="TextBox 86"/>
          <p:cNvSpPr txBox="1"/>
          <p:nvPr/>
        </p:nvSpPr>
        <p:spPr>
          <a:xfrm>
            <a:off x="921901" y="6999478"/>
            <a:ext cx="1513625" cy="461665"/>
          </a:xfrm>
          <a:prstGeom prst="rect">
            <a:avLst/>
          </a:prstGeom>
          <a:noFill/>
        </p:spPr>
        <p:txBody>
          <a:bodyPr wrap="square" rtlCol="0">
            <a:spAutoFit/>
          </a:bodyPr>
          <a:lstStyle/>
          <a:p>
            <a:pPr algn="ctr"/>
            <a:r>
              <a:rPr lang="en-US" sz="1200"/>
              <a:t>Round 4.12 to the one decimal place</a:t>
            </a:r>
            <a:endParaRPr lang="en-GB" sz="1200"/>
          </a:p>
        </p:txBody>
      </p:sp>
      <p:sp>
        <p:nvSpPr>
          <p:cNvPr id="4" name="Rectangle 3">
            <a:extLst>
              <a:ext uri="{FF2B5EF4-FFF2-40B4-BE49-F238E27FC236}">
                <a16:creationId xmlns:a16="http://schemas.microsoft.com/office/drawing/2014/main" id="{291BFC35-B028-3B06-6E95-BB2279C9C615}"/>
              </a:ext>
            </a:extLst>
          </p:cNvPr>
          <p:cNvSpPr/>
          <p:nvPr/>
        </p:nvSpPr>
        <p:spPr>
          <a:xfrm>
            <a:off x="82741" y="4116256"/>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the one decimal place (nearest tenth) using number lines</a:t>
            </a:r>
            <a:endParaRPr lang="en-GB" sz="1200">
              <a:solidFill>
                <a:schemeClr val="bg1"/>
              </a:solidFill>
            </a:endParaRPr>
          </a:p>
        </p:txBody>
      </p:sp>
      <p:grpSp>
        <p:nvGrpSpPr>
          <p:cNvPr id="76" name="Group 75">
            <a:extLst>
              <a:ext uri="{FF2B5EF4-FFF2-40B4-BE49-F238E27FC236}">
                <a16:creationId xmlns:a16="http://schemas.microsoft.com/office/drawing/2014/main" id="{6CEC0A7A-34FB-9B39-353E-BC9BA4BCD2E8}"/>
              </a:ext>
            </a:extLst>
          </p:cNvPr>
          <p:cNvGrpSpPr/>
          <p:nvPr/>
        </p:nvGrpSpPr>
        <p:grpSpPr>
          <a:xfrm>
            <a:off x="3473925" y="7480696"/>
            <a:ext cx="3193833" cy="1333406"/>
            <a:chOff x="72369" y="1685354"/>
            <a:chExt cx="3193833" cy="1333406"/>
          </a:xfrm>
        </p:grpSpPr>
        <p:pic>
          <p:nvPicPr>
            <p:cNvPr id="77" name="Picture 76">
              <a:extLst>
                <a:ext uri="{FF2B5EF4-FFF2-40B4-BE49-F238E27FC236}">
                  <a16:creationId xmlns:a16="http://schemas.microsoft.com/office/drawing/2014/main" id="{FF6ABF2E-7D51-9E00-1D01-FD5C98A14E27}"/>
                </a:ext>
              </a:extLst>
            </p:cNvPr>
            <p:cNvPicPr>
              <a:picLocks noChangeAspect="1"/>
            </p:cNvPicPr>
            <p:nvPr/>
          </p:nvPicPr>
          <p:blipFill>
            <a:blip r:embed="rId3"/>
            <a:stretch>
              <a:fillRect/>
            </a:stretch>
          </p:blipFill>
          <p:spPr>
            <a:xfrm>
              <a:off x="207000" y="1823854"/>
              <a:ext cx="2921329" cy="744162"/>
            </a:xfrm>
            <a:prstGeom prst="rect">
              <a:avLst/>
            </a:prstGeom>
          </p:spPr>
        </p:pic>
        <p:sp>
          <p:nvSpPr>
            <p:cNvPr id="78" name="TextBox 77">
              <a:extLst>
                <a:ext uri="{FF2B5EF4-FFF2-40B4-BE49-F238E27FC236}">
                  <a16:creationId xmlns:a16="http://schemas.microsoft.com/office/drawing/2014/main" id="{1B3AF4F4-146F-1908-6C45-1C428F5F9897}"/>
                </a:ext>
              </a:extLst>
            </p:cNvPr>
            <p:cNvSpPr txBox="1"/>
            <p:nvPr/>
          </p:nvSpPr>
          <p:spPr>
            <a:xfrm>
              <a:off x="72369" y="1685354"/>
              <a:ext cx="380232" cy="276999"/>
            </a:xfrm>
            <a:prstGeom prst="rect">
              <a:avLst/>
            </a:prstGeom>
            <a:noFill/>
          </p:spPr>
          <p:txBody>
            <a:bodyPr wrap="none" rtlCol="0">
              <a:spAutoFit/>
            </a:bodyPr>
            <a:lstStyle/>
            <a:p>
              <a:r>
                <a:rPr lang="en-US" sz="1200"/>
                <a:t>5.7</a:t>
              </a:r>
              <a:endParaRPr lang="en-GB" sz="1200"/>
            </a:p>
          </p:txBody>
        </p:sp>
        <p:sp>
          <p:nvSpPr>
            <p:cNvPr id="79" name="TextBox 78">
              <a:extLst>
                <a:ext uri="{FF2B5EF4-FFF2-40B4-BE49-F238E27FC236}">
                  <a16:creationId xmlns:a16="http://schemas.microsoft.com/office/drawing/2014/main" id="{4F32305A-F727-496D-E2E5-C596D682A1E6}"/>
                </a:ext>
              </a:extLst>
            </p:cNvPr>
            <p:cNvSpPr txBox="1"/>
            <p:nvPr/>
          </p:nvSpPr>
          <p:spPr>
            <a:xfrm>
              <a:off x="2885970" y="1685354"/>
              <a:ext cx="380232" cy="276999"/>
            </a:xfrm>
            <a:prstGeom prst="rect">
              <a:avLst/>
            </a:prstGeom>
            <a:noFill/>
          </p:spPr>
          <p:txBody>
            <a:bodyPr wrap="none" rtlCol="0">
              <a:spAutoFit/>
            </a:bodyPr>
            <a:lstStyle/>
            <a:p>
              <a:r>
                <a:rPr lang="en-US" sz="1200"/>
                <a:t>5.8</a:t>
              </a:r>
              <a:endParaRPr lang="en-GB" sz="1200"/>
            </a:p>
          </p:txBody>
        </p:sp>
        <p:sp>
          <p:nvSpPr>
            <p:cNvPr id="80" name="Rectangle 79">
              <a:extLst>
                <a:ext uri="{FF2B5EF4-FFF2-40B4-BE49-F238E27FC236}">
                  <a16:creationId xmlns:a16="http://schemas.microsoft.com/office/drawing/2014/main" id="{EDE9972B-E96B-5597-118D-364FDAFC3CFE}"/>
                </a:ext>
              </a:extLst>
            </p:cNvPr>
            <p:cNvSpPr/>
            <p:nvPr/>
          </p:nvSpPr>
          <p:spPr>
            <a:xfrm>
              <a:off x="2624471" y="268774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82" name="Rectangle 81">
            <a:extLst>
              <a:ext uri="{FF2B5EF4-FFF2-40B4-BE49-F238E27FC236}">
                <a16:creationId xmlns:a16="http://schemas.microsoft.com/office/drawing/2014/main" id="{33B10EAF-0B90-6C74-76EE-A896D12EB5DF}"/>
              </a:ext>
            </a:extLst>
          </p:cNvPr>
          <p:cNvSpPr/>
          <p:nvPr/>
        </p:nvSpPr>
        <p:spPr>
          <a:xfrm>
            <a:off x="3608556" y="850452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TextBox 84">
            <a:extLst>
              <a:ext uri="{FF2B5EF4-FFF2-40B4-BE49-F238E27FC236}">
                <a16:creationId xmlns:a16="http://schemas.microsoft.com/office/drawing/2014/main" id="{ED28C76E-D478-3BD4-4127-557DB45F31D7}"/>
              </a:ext>
            </a:extLst>
          </p:cNvPr>
          <p:cNvSpPr txBox="1"/>
          <p:nvPr/>
        </p:nvSpPr>
        <p:spPr>
          <a:xfrm>
            <a:off x="4196293" y="6954694"/>
            <a:ext cx="1513625" cy="461665"/>
          </a:xfrm>
          <a:prstGeom prst="rect">
            <a:avLst/>
          </a:prstGeom>
          <a:noFill/>
        </p:spPr>
        <p:txBody>
          <a:bodyPr wrap="square" rtlCol="0">
            <a:spAutoFit/>
          </a:bodyPr>
          <a:lstStyle/>
          <a:p>
            <a:pPr algn="ctr"/>
            <a:r>
              <a:rPr lang="en-US" sz="1200"/>
              <a:t>Round 5.78 to the one decimal place</a:t>
            </a:r>
            <a:endParaRPr lang="en-GB" sz="1200"/>
          </a:p>
        </p:txBody>
      </p:sp>
      <p:sp>
        <p:nvSpPr>
          <p:cNvPr id="86" name="Rectangle 85">
            <a:extLst>
              <a:ext uri="{FF2B5EF4-FFF2-40B4-BE49-F238E27FC236}">
                <a16:creationId xmlns:a16="http://schemas.microsoft.com/office/drawing/2014/main" id="{2BD3790F-29FF-91F0-A18D-02C6B34D0C6A}"/>
              </a:ext>
            </a:extLst>
          </p:cNvPr>
          <p:cNvSpPr/>
          <p:nvPr/>
        </p:nvSpPr>
        <p:spPr>
          <a:xfrm>
            <a:off x="4035978" y="8553292"/>
            <a:ext cx="2019335" cy="276999"/>
          </a:xfrm>
          <a:prstGeom prst="rect">
            <a:avLst/>
          </a:prstGeom>
        </p:spPr>
        <p:txBody>
          <a:bodyPr wrap="none">
            <a:spAutoFit/>
          </a:bodyPr>
          <a:lstStyle/>
          <a:p>
            <a:r>
              <a:rPr lang="en-US" sz="1200"/>
              <a:t>rounded to 1 decimal place is</a:t>
            </a:r>
            <a:endParaRPr lang="en-GB" sz="1200"/>
          </a:p>
        </p:txBody>
      </p:sp>
      <p:sp>
        <p:nvSpPr>
          <p:cNvPr id="91" name="Rectangle 90">
            <a:extLst>
              <a:ext uri="{FF2B5EF4-FFF2-40B4-BE49-F238E27FC236}">
                <a16:creationId xmlns:a16="http://schemas.microsoft.com/office/drawing/2014/main" id="{6E3C7116-C7E4-0713-ECF1-D5077230201C}"/>
              </a:ext>
            </a:extLst>
          </p:cNvPr>
          <p:cNvSpPr/>
          <p:nvPr/>
        </p:nvSpPr>
        <p:spPr>
          <a:xfrm>
            <a:off x="257470" y="4667824"/>
            <a:ext cx="1530387"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Steps:</a:t>
            </a:r>
          </a:p>
          <a:p>
            <a:pPr algn="ctr"/>
            <a:endParaRPr lang="en-GB" sz="900">
              <a:solidFill>
                <a:schemeClr val="tx1"/>
              </a:solidFill>
            </a:endParaRPr>
          </a:p>
          <a:p>
            <a:pPr marL="228600" indent="-228600" algn="ctr">
              <a:buAutoNum type="arabicParenR"/>
            </a:pPr>
            <a:r>
              <a:rPr lang="en-GB" sz="900">
                <a:solidFill>
                  <a:schemeClr val="tx1"/>
                </a:solidFill>
              </a:rPr>
              <a:t>Place the number on the number line.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See if the number is closer to the lower value or the upper value.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Write down what the number rounds to.</a:t>
            </a:r>
          </a:p>
        </p:txBody>
      </p:sp>
      <p:sp>
        <p:nvSpPr>
          <p:cNvPr id="2" name="Rectangle 1">
            <a:extLst>
              <a:ext uri="{FF2B5EF4-FFF2-40B4-BE49-F238E27FC236}">
                <a16:creationId xmlns:a16="http://schemas.microsoft.com/office/drawing/2014/main" id="{E5A8462C-F3D0-331C-3434-2CBD0082A815}"/>
              </a:ext>
            </a:extLst>
          </p:cNvPr>
          <p:cNvSpPr/>
          <p:nvPr/>
        </p:nvSpPr>
        <p:spPr>
          <a:xfrm>
            <a:off x="0" y="0"/>
            <a:ext cx="6858000" cy="28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sz="1600" dirty="0">
                <a:solidFill>
                  <a:prstClr val="white"/>
                </a:solidFill>
              </a:rPr>
              <a:t>Rounding to decimal places</a:t>
            </a:r>
          </a:p>
        </p:txBody>
      </p:sp>
    </p:spTree>
    <p:extLst>
      <p:ext uri="{BB962C8B-B14F-4D97-AF65-F5344CB8AC3E}">
        <p14:creationId xmlns:p14="http://schemas.microsoft.com/office/powerpoint/2010/main" val="3441728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74"/>
          <p:cNvSpPr txBox="1"/>
          <p:nvPr/>
        </p:nvSpPr>
        <p:spPr>
          <a:xfrm>
            <a:off x="1889674" y="113804"/>
            <a:ext cx="2942024" cy="276999"/>
          </a:xfrm>
          <a:prstGeom prst="rect">
            <a:avLst/>
          </a:prstGeom>
          <a:noFill/>
        </p:spPr>
        <p:txBody>
          <a:bodyPr wrap="none" rtlCol="0">
            <a:spAutoFit/>
          </a:bodyPr>
          <a:lstStyle/>
          <a:p>
            <a:r>
              <a:rPr lang="en-US" sz="1200"/>
              <a:t>1. Round each number to one decimal place</a:t>
            </a:r>
            <a:endParaRPr lang="en-GB" sz="1200"/>
          </a:p>
        </p:txBody>
      </p:sp>
      <p:grpSp>
        <p:nvGrpSpPr>
          <p:cNvPr id="76" name="Group 75"/>
          <p:cNvGrpSpPr/>
          <p:nvPr/>
        </p:nvGrpSpPr>
        <p:grpSpPr>
          <a:xfrm>
            <a:off x="71285" y="544868"/>
            <a:ext cx="2230640" cy="1039517"/>
            <a:chOff x="78902" y="5821182"/>
            <a:chExt cx="2230640" cy="1039517"/>
          </a:xfrm>
        </p:grpSpPr>
        <p:sp>
          <p:nvSpPr>
            <p:cNvPr id="77" name="TextBox 76"/>
            <p:cNvSpPr txBox="1"/>
            <p:nvPr/>
          </p:nvSpPr>
          <p:spPr>
            <a:xfrm>
              <a:off x="96145" y="5821182"/>
              <a:ext cx="614271" cy="276999"/>
            </a:xfrm>
            <a:prstGeom prst="rect">
              <a:avLst/>
            </a:prstGeom>
            <a:noFill/>
          </p:spPr>
          <p:txBody>
            <a:bodyPr wrap="none" rtlCol="0">
              <a:spAutoFit/>
            </a:bodyPr>
            <a:lstStyle/>
            <a:p>
              <a:r>
                <a:rPr lang="en-US" sz="1200"/>
                <a:t>a) 0.45</a:t>
              </a:r>
              <a:endParaRPr lang="en-GB" sz="1200"/>
            </a:p>
          </p:txBody>
        </p:sp>
        <p:grpSp>
          <p:nvGrpSpPr>
            <p:cNvPr id="78" name="Group 77"/>
            <p:cNvGrpSpPr/>
            <p:nvPr/>
          </p:nvGrpSpPr>
          <p:grpSpPr>
            <a:xfrm>
              <a:off x="78902" y="6183908"/>
              <a:ext cx="2230640" cy="676791"/>
              <a:chOff x="78902" y="6183908"/>
              <a:chExt cx="2230640" cy="676791"/>
            </a:xfrm>
          </p:grpSpPr>
          <p:pic>
            <p:nvPicPr>
              <p:cNvPr id="79" name="Picture 78"/>
              <p:cNvPicPr>
                <a:picLocks noChangeAspect="1"/>
              </p:cNvPicPr>
              <p:nvPr/>
            </p:nvPicPr>
            <p:blipFill>
              <a:blip r:embed="rId2"/>
              <a:stretch>
                <a:fillRect/>
              </a:stretch>
            </p:blipFill>
            <p:spPr>
              <a:xfrm>
                <a:off x="248591" y="6380767"/>
                <a:ext cx="1884050" cy="479932"/>
              </a:xfrm>
              <a:prstGeom prst="rect">
                <a:avLst/>
              </a:prstGeom>
            </p:spPr>
          </p:pic>
          <p:sp>
            <p:nvSpPr>
              <p:cNvPr id="80" name="TextBox 79"/>
              <p:cNvSpPr txBox="1"/>
              <p:nvPr/>
            </p:nvSpPr>
            <p:spPr>
              <a:xfrm>
                <a:off x="78902" y="6183908"/>
                <a:ext cx="380232" cy="276999"/>
              </a:xfrm>
              <a:prstGeom prst="rect">
                <a:avLst/>
              </a:prstGeom>
              <a:noFill/>
            </p:spPr>
            <p:txBody>
              <a:bodyPr wrap="none" rtlCol="0">
                <a:spAutoFit/>
              </a:bodyPr>
              <a:lstStyle/>
              <a:p>
                <a:r>
                  <a:rPr lang="en-US" sz="1200"/>
                  <a:t>0.4</a:t>
                </a:r>
                <a:endParaRPr lang="en-GB" sz="1200"/>
              </a:p>
            </p:txBody>
          </p:sp>
          <p:sp>
            <p:nvSpPr>
              <p:cNvPr id="81" name="TextBox 80"/>
              <p:cNvSpPr txBox="1"/>
              <p:nvPr/>
            </p:nvSpPr>
            <p:spPr>
              <a:xfrm>
                <a:off x="1929310" y="6183908"/>
                <a:ext cx="380232" cy="276999"/>
              </a:xfrm>
              <a:prstGeom prst="rect">
                <a:avLst/>
              </a:prstGeom>
              <a:noFill/>
            </p:spPr>
            <p:txBody>
              <a:bodyPr wrap="none" rtlCol="0">
                <a:spAutoFit/>
              </a:bodyPr>
              <a:lstStyle/>
              <a:p>
                <a:r>
                  <a:rPr lang="en-US" sz="1200"/>
                  <a:t>0.5</a:t>
                </a:r>
                <a:endParaRPr lang="en-GB" sz="1200"/>
              </a:p>
            </p:txBody>
          </p:sp>
        </p:grpSp>
      </p:grpSp>
      <p:grpSp>
        <p:nvGrpSpPr>
          <p:cNvPr id="83" name="Group 82"/>
          <p:cNvGrpSpPr/>
          <p:nvPr/>
        </p:nvGrpSpPr>
        <p:grpSpPr>
          <a:xfrm>
            <a:off x="2329792" y="526334"/>
            <a:ext cx="2036496" cy="1039517"/>
            <a:chOff x="96145" y="5821182"/>
            <a:chExt cx="2036496" cy="1039517"/>
          </a:xfrm>
        </p:grpSpPr>
        <p:sp>
          <p:nvSpPr>
            <p:cNvPr id="84" name="TextBox 83"/>
            <p:cNvSpPr txBox="1"/>
            <p:nvPr/>
          </p:nvSpPr>
          <p:spPr>
            <a:xfrm>
              <a:off x="96145" y="5821182"/>
              <a:ext cx="620683" cy="276999"/>
            </a:xfrm>
            <a:prstGeom prst="rect">
              <a:avLst/>
            </a:prstGeom>
            <a:noFill/>
          </p:spPr>
          <p:txBody>
            <a:bodyPr wrap="none" rtlCol="0">
              <a:spAutoFit/>
            </a:bodyPr>
            <a:lstStyle/>
            <a:p>
              <a:r>
                <a:rPr lang="en-US" sz="1200"/>
                <a:t>b) 2.48</a:t>
              </a:r>
              <a:endParaRPr lang="en-GB" sz="1200"/>
            </a:p>
          </p:txBody>
        </p:sp>
        <p:pic>
          <p:nvPicPr>
            <p:cNvPr id="86" name="Picture 85"/>
            <p:cNvPicPr>
              <a:picLocks noChangeAspect="1"/>
            </p:cNvPicPr>
            <p:nvPr/>
          </p:nvPicPr>
          <p:blipFill>
            <a:blip r:embed="rId2"/>
            <a:stretch>
              <a:fillRect/>
            </a:stretch>
          </p:blipFill>
          <p:spPr>
            <a:xfrm>
              <a:off x="248591" y="6380767"/>
              <a:ext cx="1884050" cy="479932"/>
            </a:xfrm>
            <a:prstGeom prst="rect">
              <a:avLst/>
            </a:prstGeom>
          </p:spPr>
        </p:pic>
      </p:grpSp>
      <p:grpSp>
        <p:nvGrpSpPr>
          <p:cNvPr id="89" name="Group 88"/>
          <p:cNvGrpSpPr/>
          <p:nvPr/>
        </p:nvGrpSpPr>
        <p:grpSpPr>
          <a:xfrm>
            <a:off x="4582621" y="379106"/>
            <a:ext cx="2037168" cy="1172400"/>
            <a:chOff x="95473" y="5688299"/>
            <a:chExt cx="2037168" cy="1172400"/>
          </a:xfrm>
        </p:grpSpPr>
        <p:sp>
          <p:nvSpPr>
            <p:cNvPr id="90" name="TextBox 89"/>
            <p:cNvSpPr txBox="1"/>
            <p:nvPr/>
          </p:nvSpPr>
          <p:spPr>
            <a:xfrm>
              <a:off x="95473" y="5688299"/>
              <a:ext cx="606256" cy="276999"/>
            </a:xfrm>
            <a:prstGeom prst="rect">
              <a:avLst/>
            </a:prstGeom>
            <a:noFill/>
          </p:spPr>
          <p:txBody>
            <a:bodyPr wrap="none" rtlCol="0">
              <a:spAutoFit/>
            </a:bodyPr>
            <a:lstStyle/>
            <a:p>
              <a:r>
                <a:rPr lang="en-US" sz="1200"/>
                <a:t>c) 3.48</a:t>
              </a:r>
              <a:endParaRPr lang="en-GB" sz="1200"/>
            </a:p>
          </p:txBody>
        </p:sp>
        <p:pic>
          <p:nvPicPr>
            <p:cNvPr id="92" name="Picture 91"/>
            <p:cNvPicPr>
              <a:picLocks noChangeAspect="1"/>
            </p:cNvPicPr>
            <p:nvPr/>
          </p:nvPicPr>
          <p:blipFill>
            <a:blip r:embed="rId2"/>
            <a:stretch>
              <a:fillRect/>
            </a:stretch>
          </p:blipFill>
          <p:spPr>
            <a:xfrm>
              <a:off x="248591" y="6380767"/>
              <a:ext cx="1884050" cy="479932"/>
            </a:xfrm>
            <a:prstGeom prst="rect">
              <a:avLst/>
            </a:prstGeom>
          </p:spPr>
        </p:pic>
      </p:grpSp>
      <p:grpSp>
        <p:nvGrpSpPr>
          <p:cNvPr id="95" name="Group 94"/>
          <p:cNvGrpSpPr/>
          <p:nvPr/>
        </p:nvGrpSpPr>
        <p:grpSpPr>
          <a:xfrm>
            <a:off x="117679" y="2406019"/>
            <a:ext cx="2211232" cy="1039517"/>
            <a:chOff x="80698" y="5821182"/>
            <a:chExt cx="2211232" cy="1039517"/>
          </a:xfrm>
        </p:grpSpPr>
        <p:sp>
          <p:nvSpPr>
            <p:cNvPr id="96" name="TextBox 95"/>
            <p:cNvSpPr txBox="1"/>
            <p:nvPr/>
          </p:nvSpPr>
          <p:spPr>
            <a:xfrm>
              <a:off x="96145" y="5821182"/>
              <a:ext cx="620683" cy="276999"/>
            </a:xfrm>
            <a:prstGeom prst="rect">
              <a:avLst/>
            </a:prstGeom>
            <a:noFill/>
          </p:spPr>
          <p:txBody>
            <a:bodyPr wrap="none" rtlCol="0">
              <a:spAutoFit/>
            </a:bodyPr>
            <a:lstStyle/>
            <a:p>
              <a:r>
                <a:rPr lang="en-US" sz="1200"/>
                <a:t>d) 5.58</a:t>
              </a:r>
              <a:endParaRPr lang="en-GB" sz="1200"/>
            </a:p>
          </p:txBody>
        </p:sp>
        <p:grpSp>
          <p:nvGrpSpPr>
            <p:cNvPr id="97" name="Group 96"/>
            <p:cNvGrpSpPr/>
            <p:nvPr/>
          </p:nvGrpSpPr>
          <p:grpSpPr>
            <a:xfrm>
              <a:off x="80698" y="6183908"/>
              <a:ext cx="2211232" cy="676791"/>
              <a:chOff x="80698" y="6183908"/>
              <a:chExt cx="2211232" cy="676791"/>
            </a:xfrm>
          </p:grpSpPr>
          <p:pic>
            <p:nvPicPr>
              <p:cNvPr id="98" name="Picture 97"/>
              <p:cNvPicPr>
                <a:picLocks noChangeAspect="1"/>
              </p:cNvPicPr>
              <p:nvPr/>
            </p:nvPicPr>
            <p:blipFill>
              <a:blip r:embed="rId2"/>
              <a:stretch>
                <a:fillRect/>
              </a:stretch>
            </p:blipFill>
            <p:spPr>
              <a:xfrm>
                <a:off x="248591" y="6380767"/>
                <a:ext cx="1884050" cy="479932"/>
              </a:xfrm>
              <a:prstGeom prst="rect">
                <a:avLst/>
              </a:prstGeom>
            </p:spPr>
          </p:pic>
          <p:sp>
            <p:nvSpPr>
              <p:cNvPr id="99" name="TextBox 98"/>
              <p:cNvSpPr txBox="1"/>
              <p:nvPr/>
            </p:nvSpPr>
            <p:spPr>
              <a:xfrm>
                <a:off x="80698" y="6205755"/>
                <a:ext cx="380232" cy="276999"/>
              </a:xfrm>
              <a:prstGeom prst="rect">
                <a:avLst/>
              </a:prstGeom>
              <a:noFill/>
            </p:spPr>
            <p:txBody>
              <a:bodyPr wrap="none" rtlCol="0">
                <a:spAutoFit/>
              </a:bodyPr>
              <a:lstStyle/>
              <a:p>
                <a:r>
                  <a:rPr lang="en-US" sz="1200"/>
                  <a:t>5.5</a:t>
                </a:r>
                <a:endParaRPr lang="en-GB" sz="1200"/>
              </a:p>
            </p:txBody>
          </p:sp>
          <p:sp>
            <p:nvSpPr>
              <p:cNvPr id="100" name="TextBox 99"/>
              <p:cNvSpPr txBox="1"/>
              <p:nvPr/>
            </p:nvSpPr>
            <p:spPr>
              <a:xfrm>
                <a:off x="1911698" y="6183908"/>
                <a:ext cx="380232" cy="276999"/>
              </a:xfrm>
              <a:prstGeom prst="rect">
                <a:avLst/>
              </a:prstGeom>
              <a:noFill/>
            </p:spPr>
            <p:txBody>
              <a:bodyPr wrap="none" rtlCol="0">
                <a:spAutoFit/>
              </a:bodyPr>
              <a:lstStyle/>
              <a:p>
                <a:r>
                  <a:rPr lang="en-US" sz="1200"/>
                  <a:t>5.6</a:t>
                </a:r>
                <a:endParaRPr lang="en-GB" sz="1200"/>
              </a:p>
            </p:txBody>
          </p:sp>
        </p:grpSp>
      </p:grpSp>
      <p:grpSp>
        <p:nvGrpSpPr>
          <p:cNvPr id="101" name="Group 100"/>
          <p:cNvGrpSpPr/>
          <p:nvPr/>
        </p:nvGrpSpPr>
        <p:grpSpPr>
          <a:xfrm>
            <a:off x="2339701" y="2387485"/>
            <a:ext cx="2271749" cy="1039517"/>
            <a:chOff x="61456" y="5821182"/>
            <a:chExt cx="2271749" cy="1039517"/>
          </a:xfrm>
        </p:grpSpPr>
        <p:sp>
          <p:nvSpPr>
            <p:cNvPr id="102" name="TextBox 101"/>
            <p:cNvSpPr txBox="1"/>
            <p:nvPr/>
          </p:nvSpPr>
          <p:spPr>
            <a:xfrm>
              <a:off x="96145" y="5821182"/>
              <a:ext cx="617477" cy="276999"/>
            </a:xfrm>
            <a:prstGeom prst="rect">
              <a:avLst/>
            </a:prstGeom>
            <a:noFill/>
          </p:spPr>
          <p:txBody>
            <a:bodyPr wrap="none" rtlCol="0">
              <a:spAutoFit/>
            </a:bodyPr>
            <a:lstStyle/>
            <a:p>
              <a:r>
                <a:rPr lang="en-US" sz="1200"/>
                <a:t>e) 7.69</a:t>
              </a:r>
              <a:endParaRPr lang="en-GB" sz="1200"/>
            </a:p>
          </p:txBody>
        </p:sp>
        <p:grpSp>
          <p:nvGrpSpPr>
            <p:cNvPr id="103" name="Group 102"/>
            <p:cNvGrpSpPr/>
            <p:nvPr/>
          </p:nvGrpSpPr>
          <p:grpSpPr>
            <a:xfrm>
              <a:off x="61456" y="6183908"/>
              <a:ext cx="2271749" cy="676791"/>
              <a:chOff x="61456" y="6183908"/>
              <a:chExt cx="2271749" cy="676791"/>
            </a:xfrm>
          </p:grpSpPr>
          <p:pic>
            <p:nvPicPr>
              <p:cNvPr id="104" name="Picture 103"/>
              <p:cNvPicPr>
                <a:picLocks noChangeAspect="1"/>
              </p:cNvPicPr>
              <p:nvPr/>
            </p:nvPicPr>
            <p:blipFill>
              <a:blip r:embed="rId2"/>
              <a:stretch>
                <a:fillRect/>
              </a:stretch>
            </p:blipFill>
            <p:spPr>
              <a:xfrm>
                <a:off x="248591" y="6380767"/>
                <a:ext cx="1884050" cy="479932"/>
              </a:xfrm>
              <a:prstGeom prst="rect">
                <a:avLst/>
              </a:prstGeom>
            </p:spPr>
          </p:pic>
          <p:sp>
            <p:nvSpPr>
              <p:cNvPr id="105" name="TextBox 104"/>
              <p:cNvSpPr txBox="1"/>
              <p:nvPr/>
            </p:nvSpPr>
            <p:spPr>
              <a:xfrm>
                <a:off x="61456" y="6206256"/>
                <a:ext cx="380232" cy="276999"/>
              </a:xfrm>
              <a:prstGeom prst="rect">
                <a:avLst/>
              </a:prstGeom>
              <a:noFill/>
            </p:spPr>
            <p:txBody>
              <a:bodyPr wrap="none" rtlCol="0">
                <a:spAutoFit/>
              </a:bodyPr>
              <a:lstStyle/>
              <a:p>
                <a:r>
                  <a:rPr lang="en-US" sz="1200"/>
                  <a:t>7.6</a:t>
                </a:r>
                <a:endParaRPr lang="en-GB" sz="1200"/>
              </a:p>
            </p:txBody>
          </p:sp>
          <p:sp>
            <p:nvSpPr>
              <p:cNvPr id="106" name="TextBox 105"/>
              <p:cNvSpPr txBox="1"/>
              <p:nvPr/>
            </p:nvSpPr>
            <p:spPr>
              <a:xfrm>
                <a:off x="1952973" y="6183908"/>
                <a:ext cx="380232" cy="276999"/>
              </a:xfrm>
              <a:prstGeom prst="rect">
                <a:avLst/>
              </a:prstGeom>
              <a:noFill/>
            </p:spPr>
            <p:txBody>
              <a:bodyPr wrap="none" rtlCol="0">
                <a:spAutoFit/>
              </a:bodyPr>
              <a:lstStyle/>
              <a:p>
                <a:r>
                  <a:rPr lang="en-US" sz="1200"/>
                  <a:t>7.7</a:t>
                </a:r>
                <a:endParaRPr lang="en-GB" sz="1200"/>
              </a:p>
            </p:txBody>
          </p:sp>
        </p:grpSp>
      </p:grpSp>
      <p:grpSp>
        <p:nvGrpSpPr>
          <p:cNvPr id="107" name="Group 106"/>
          <p:cNvGrpSpPr/>
          <p:nvPr/>
        </p:nvGrpSpPr>
        <p:grpSpPr>
          <a:xfrm>
            <a:off x="4616807" y="2368951"/>
            <a:ext cx="2212895" cy="1039517"/>
            <a:chOff x="81407" y="5821182"/>
            <a:chExt cx="2212895" cy="1039517"/>
          </a:xfrm>
        </p:grpSpPr>
        <p:sp>
          <p:nvSpPr>
            <p:cNvPr id="108" name="TextBox 107"/>
            <p:cNvSpPr txBox="1"/>
            <p:nvPr/>
          </p:nvSpPr>
          <p:spPr>
            <a:xfrm>
              <a:off x="96145" y="5821182"/>
              <a:ext cx="589264" cy="276999"/>
            </a:xfrm>
            <a:prstGeom prst="rect">
              <a:avLst/>
            </a:prstGeom>
            <a:noFill/>
          </p:spPr>
          <p:txBody>
            <a:bodyPr wrap="none" rtlCol="0">
              <a:spAutoFit/>
            </a:bodyPr>
            <a:lstStyle/>
            <a:p>
              <a:r>
                <a:rPr lang="en-US" sz="1200"/>
                <a:t>f) 9.21</a:t>
              </a:r>
              <a:endParaRPr lang="en-GB" sz="1200"/>
            </a:p>
          </p:txBody>
        </p:sp>
        <p:grpSp>
          <p:nvGrpSpPr>
            <p:cNvPr id="109" name="Group 108"/>
            <p:cNvGrpSpPr/>
            <p:nvPr/>
          </p:nvGrpSpPr>
          <p:grpSpPr>
            <a:xfrm>
              <a:off x="81407" y="6193965"/>
              <a:ext cx="2212895" cy="666734"/>
              <a:chOff x="81407" y="6193965"/>
              <a:chExt cx="2212895" cy="666734"/>
            </a:xfrm>
          </p:grpSpPr>
          <p:pic>
            <p:nvPicPr>
              <p:cNvPr id="110" name="Picture 109"/>
              <p:cNvPicPr>
                <a:picLocks noChangeAspect="1"/>
              </p:cNvPicPr>
              <p:nvPr/>
            </p:nvPicPr>
            <p:blipFill>
              <a:blip r:embed="rId2"/>
              <a:stretch>
                <a:fillRect/>
              </a:stretch>
            </p:blipFill>
            <p:spPr>
              <a:xfrm>
                <a:off x="248591" y="6380767"/>
                <a:ext cx="1884050" cy="479932"/>
              </a:xfrm>
              <a:prstGeom prst="rect">
                <a:avLst/>
              </a:prstGeom>
            </p:spPr>
          </p:pic>
          <p:sp>
            <p:nvSpPr>
              <p:cNvPr id="111" name="TextBox 110"/>
              <p:cNvSpPr txBox="1"/>
              <p:nvPr/>
            </p:nvSpPr>
            <p:spPr>
              <a:xfrm>
                <a:off x="81407" y="6193965"/>
                <a:ext cx="380232" cy="276999"/>
              </a:xfrm>
              <a:prstGeom prst="rect">
                <a:avLst/>
              </a:prstGeom>
              <a:noFill/>
            </p:spPr>
            <p:txBody>
              <a:bodyPr wrap="none" rtlCol="0">
                <a:spAutoFit/>
              </a:bodyPr>
              <a:lstStyle/>
              <a:p>
                <a:r>
                  <a:rPr lang="en-US" sz="1200"/>
                  <a:t>9.2</a:t>
                </a:r>
                <a:endParaRPr lang="en-GB" sz="1200"/>
              </a:p>
            </p:txBody>
          </p:sp>
          <p:sp>
            <p:nvSpPr>
              <p:cNvPr id="112" name="TextBox 111"/>
              <p:cNvSpPr txBox="1"/>
              <p:nvPr/>
            </p:nvSpPr>
            <p:spPr>
              <a:xfrm>
                <a:off x="1914070" y="6222983"/>
                <a:ext cx="380232" cy="276999"/>
              </a:xfrm>
              <a:prstGeom prst="rect">
                <a:avLst/>
              </a:prstGeom>
              <a:noFill/>
            </p:spPr>
            <p:txBody>
              <a:bodyPr wrap="none" rtlCol="0">
                <a:spAutoFit/>
              </a:bodyPr>
              <a:lstStyle/>
              <a:p>
                <a:r>
                  <a:rPr lang="en-US" sz="1200"/>
                  <a:t>9.3</a:t>
                </a:r>
                <a:endParaRPr lang="en-GB" sz="1200"/>
              </a:p>
            </p:txBody>
          </p:sp>
        </p:grpSp>
      </p:grpSp>
      <p:sp>
        <p:nvSpPr>
          <p:cNvPr id="130" name="TextBox 129"/>
          <p:cNvSpPr txBox="1"/>
          <p:nvPr/>
        </p:nvSpPr>
        <p:spPr>
          <a:xfrm>
            <a:off x="577260" y="156005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131" name="Rectangle 130">
            <a:extLst>
              <a:ext uri="{FF2B5EF4-FFF2-40B4-BE49-F238E27FC236}">
                <a16:creationId xmlns:a16="http://schemas.microsoft.com/office/drawing/2014/main" id="{CEEF23AD-EA17-135A-DB95-1D1FECB286F3}"/>
              </a:ext>
            </a:extLst>
          </p:cNvPr>
          <p:cNvSpPr/>
          <p:nvPr/>
        </p:nvSpPr>
        <p:spPr>
          <a:xfrm>
            <a:off x="1722177" y="1709692"/>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Rectangle 131">
            <a:extLst>
              <a:ext uri="{FF2B5EF4-FFF2-40B4-BE49-F238E27FC236}">
                <a16:creationId xmlns:a16="http://schemas.microsoft.com/office/drawing/2014/main" id="{CEEF23AD-EA17-135A-DB95-1D1FECB286F3}"/>
              </a:ext>
            </a:extLst>
          </p:cNvPr>
          <p:cNvSpPr/>
          <p:nvPr/>
        </p:nvSpPr>
        <p:spPr>
          <a:xfrm>
            <a:off x="133886" y="1706004"/>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4" name="Rectangle 133">
            <a:extLst>
              <a:ext uri="{FF2B5EF4-FFF2-40B4-BE49-F238E27FC236}">
                <a16:creationId xmlns:a16="http://schemas.microsoft.com/office/drawing/2014/main" id="{CEEF23AD-EA17-135A-DB95-1D1FECB286F3}"/>
              </a:ext>
            </a:extLst>
          </p:cNvPr>
          <p:cNvSpPr/>
          <p:nvPr/>
        </p:nvSpPr>
        <p:spPr>
          <a:xfrm>
            <a:off x="4008379" y="169373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5" name="Rectangle 134">
            <a:extLst>
              <a:ext uri="{FF2B5EF4-FFF2-40B4-BE49-F238E27FC236}">
                <a16:creationId xmlns:a16="http://schemas.microsoft.com/office/drawing/2014/main" id="{CEEF23AD-EA17-135A-DB95-1D1FECB286F3}"/>
              </a:ext>
            </a:extLst>
          </p:cNvPr>
          <p:cNvSpPr/>
          <p:nvPr/>
        </p:nvSpPr>
        <p:spPr>
          <a:xfrm>
            <a:off x="2420088" y="169005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7" name="Rectangle 136">
            <a:extLst>
              <a:ext uri="{FF2B5EF4-FFF2-40B4-BE49-F238E27FC236}">
                <a16:creationId xmlns:a16="http://schemas.microsoft.com/office/drawing/2014/main" id="{CEEF23AD-EA17-135A-DB95-1D1FECB286F3}"/>
              </a:ext>
            </a:extLst>
          </p:cNvPr>
          <p:cNvSpPr/>
          <p:nvPr/>
        </p:nvSpPr>
        <p:spPr>
          <a:xfrm>
            <a:off x="6264400" y="169881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8" name="Rectangle 137">
            <a:extLst>
              <a:ext uri="{FF2B5EF4-FFF2-40B4-BE49-F238E27FC236}">
                <a16:creationId xmlns:a16="http://schemas.microsoft.com/office/drawing/2014/main" id="{CEEF23AD-EA17-135A-DB95-1D1FECB286F3}"/>
              </a:ext>
            </a:extLst>
          </p:cNvPr>
          <p:cNvSpPr/>
          <p:nvPr/>
        </p:nvSpPr>
        <p:spPr>
          <a:xfrm>
            <a:off x="4676109" y="169513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0" name="Rectangle 139">
            <a:extLst>
              <a:ext uri="{FF2B5EF4-FFF2-40B4-BE49-F238E27FC236}">
                <a16:creationId xmlns:a16="http://schemas.microsoft.com/office/drawing/2014/main" id="{CEEF23AD-EA17-135A-DB95-1D1FECB286F3}"/>
              </a:ext>
            </a:extLst>
          </p:cNvPr>
          <p:cNvSpPr/>
          <p:nvPr/>
        </p:nvSpPr>
        <p:spPr>
          <a:xfrm>
            <a:off x="1727069" y="3514324"/>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Rectangle 140">
            <a:extLst>
              <a:ext uri="{FF2B5EF4-FFF2-40B4-BE49-F238E27FC236}">
                <a16:creationId xmlns:a16="http://schemas.microsoft.com/office/drawing/2014/main" id="{CEEF23AD-EA17-135A-DB95-1D1FECB286F3}"/>
              </a:ext>
            </a:extLst>
          </p:cNvPr>
          <p:cNvSpPr/>
          <p:nvPr/>
        </p:nvSpPr>
        <p:spPr>
          <a:xfrm>
            <a:off x="138778" y="3510636"/>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3" name="Rectangle 142">
            <a:extLst>
              <a:ext uri="{FF2B5EF4-FFF2-40B4-BE49-F238E27FC236}">
                <a16:creationId xmlns:a16="http://schemas.microsoft.com/office/drawing/2014/main" id="{CEEF23AD-EA17-135A-DB95-1D1FECB286F3}"/>
              </a:ext>
            </a:extLst>
          </p:cNvPr>
          <p:cNvSpPr/>
          <p:nvPr/>
        </p:nvSpPr>
        <p:spPr>
          <a:xfrm>
            <a:off x="4008379" y="3552171"/>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4" name="Rectangle 143">
            <a:extLst>
              <a:ext uri="{FF2B5EF4-FFF2-40B4-BE49-F238E27FC236}">
                <a16:creationId xmlns:a16="http://schemas.microsoft.com/office/drawing/2014/main" id="{CEEF23AD-EA17-135A-DB95-1D1FECB286F3}"/>
              </a:ext>
            </a:extLst>
          </p:cNvPr>
          <p:cNvSpPr/>
          <p:nvPr/>
        </p:nvSpPr>
        <p:spPr>
          <a:xfrm>
            <a:off x="2420088" y="3548483"/>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6" name="Rectangle 145">
            <a:extLst>
              <a:ext uri="{FF2B5EF4-FFF2-40B4-BE49-F238E27FC236}">
                <a16:creationId xmlns:a16="http://schemas.microsoft.com/office/drawing/2014/main" id="{CEEF23AD-EA17-135A-DB95-1D1FECB286F3}"/>
              </a:ext>
            </a:extLst>
          </p:cNvPr>
          <p:cNvSpPr/>
          <p:nvPr/>
        </p:nvSpPr>
        <p:spPr>
          <a:xfrm>
            <a:off x="6264400" y="354030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CEEF23AD-EA17-135A-DB95-1D1FECB286F3}"/>
              </a:ext>
            </a:extLst>
          </p:cNvPr>
          <p:cNvSpPr/>
          <p:nvPr/>
        </p:nvSpPr>
        <p:spPr>
          <a:xfrm>
            <a:off x="4676109" y="353662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149" name="Straight Connector 148"/>
          <p:cNvCxnSpPr/>
          <p:nvPr/>
        </p:nvCxnSpPr>
        <p:spPr>
          <a:xfrm>
            <a:off x="2314714" y="511989"/>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150" name="Straight Connector 149"/>
          <p:cNvCxnSpPr/>
          <p:nvPr/>
        </p:nvCxnSpPr>
        <p:spPr>
          <a:xfrm>
            <a:off x="4579335" y="519868"/>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151" name="Straight Connector 150"/>
          <p:cNvCxnSpPr/>
          <p:nvPr/>
        </p:nvCxnSpPr>
        <p:spPr>
          <a:xfrm flipH="1">
            <a:off x="97054" y="2249683"/>
            <a:ext cx="6779455" cy="0"/>
          </a:xfrm>
          <a:prstGeom prst="line">
            <a:avLst/>
          </a:prstGeom>
        </p:spPr>
        <p:style>
          <a:lnRef idx="1">
            <a:schemeClr val="dk1"/>
          </a:lnRef>
          <a:fillRef idx="0">
            <a:schemeClr val="dk1"/>
          </a:fillRef>
          <a:effectRef idx="0">
            <a:schemeClr val="dk1"/>
          </a:effectRef>
          <a:fontRef idx="minor">
            <a:schemeClr val="tx1"/>
          </a:fontRef>
        </p:style>
      </p:cxnSp>
      <p:sp>
        <p:nvSpPr>
          <p:cNvPr id="9" name="Slide Number Placeholder 8"/>
          <p:cNvSpPr>
            <a:spLocks noGrp="1"/>
          </p:cNvSpPr>
          <p:nvPr>
            <p:ph type="sldNum" sz="quarter" idx="12"/>
          </p:nvPr>
        </p:nvSpPr>
        <p:spPr>
          <a:xfrm>
            <a:off x="5386723" y="9591355"/>
            <a:ext cx="1543050" cy="527403"/>
          </a:xfrm>
        </p:spPr>
        <p:txBody>
          <a:bodyPr/>
          <a:lstStyle/>
          <a:p>
            <a:fld id="{5A4F90BD-8434-408E-ABCB-72142A229B01}" type="slidenum">
              <a:rPr lang="en-GB" smtClean="0"/>
              <a:t>16</a:t>
            </a:fld>
            <a:endParaRPr lang="en-GB"/>
          </a:p>
        </p:txBody>
      </p:sp>
      <p:grpSp>
        <p:nvGrpSpPr>
          <p:cNvPr id="129" name="Group 128"/>
          <p:cNvGrpSpPr/>
          <p:nvPr/>
        </p:nvGrpSpPr>
        <p:grpSpPr>
          <a:xfrm>
            <a:off x="64036" y="4030976"/>
            <a:ext cx="2250632" cy="1039517"/>
            <a:chOff x="74938" y="5821182"/>
            <a:chExt cx="2250632" cy="1039517"/>
          </a:xfrm>
        </p:grpSpPr>
        <p:sp>
          <p:nvSpPr>
            <p:cNvPr id="148" name="TextBox 147"/>
            <p:cNvSpPr txBox="1"/>
            <p:nvPr/>
          </p:nvSpPr>
          <p:spPr>
            <a:xfrm>
              <a:off x="96145" y="5821182"/>
              <a:ext cx="612668" cy="276999"/>
            </a:xfrm>
            <a:prstGeom prst="rect">
              <a:avLst/>
            </a:prstGeom>
            <a:noFill/>
          </p:spPr>
          <p:txBody>
            <a:bodyPr wrap="none" rtlCol="0">
              <a:spAutoFit/>
            </a:bodyPr>
            <a:lstStyle/>
            <a:p>
              <a:r>
                <a:rPr lang="en-US" sz="1200"/>
                <a:t>g) 9.91</a:t>
              </a:r>
              <a:endParaRPr lang="en-GB" sz="1200"/>
            </a:p>
          </p:txBody>
        </p:sp>
        <p:grpSp>
          <p:nvGrpSpPr>
            <p:cNvPr id="152" name="Group 151"/>
            <p:cNvGrpSpPr/>
            <p:nvPr/>
          </p:nvGrpSpPr>
          <p:grpSpPr>
            <a:xfrm>
              <a:off x="74938" y="6183908"/>
              <a:ext cx="2250632" cy="676791"/>
              <a:chOff x="74938" y="6183908"/>
              <a:chExt cx="2250632" cy="676791"/>
            </a:xfrm>
          </p:grpSpPr>
          <p:pic>
            <p:nvPicPr>
              <p:cNvPr id="153" name="Picture 152"/>
              <p:cNvPicPr>
                <a:picLocks noChangeAspect="1"/>
              </p:cNvPicPr>
              <p:nvPr/>
            </p:nvPicPr>
            <p:blipFill>
              <a:blip r:embed="rId2"/>
              <a:stretch>
                <a:fillRect/>
              </a:stretch>
            </p:blipFill>
            <p:spPr>
              <a:xfrm>
                <a:off x="248591" y="6380767"/>
                <a:ext cx="1884050" cy="479932"/>
              </a:xfrm>
              <a:prstGeom prst="rect">
                <a:avLst/>
              </a:prstGeom>
            </p:spPr>
          </p:pic>
          <p:sp>
            <p:nvSpPr>
              <p:cNvPr id="154" name="TextBox 153"/>
              <p:cNvSpPr txBox="1"/>
              <p:nvPr/>
            </p:nvSpPr>
            <p:spPr>
              <a:xfrm>
                <a:off x="74938" y="6183908"/>
                <a:ext cx="380232" cy="276999"/>
              </a:xfrm>
              <a:prstGeom prst="rect">
                <a:avLst/>
              </a:prstGeom>
              <a:noFill/>
            </p:spPr>
            <p:txBody>
              <a:bodyPr wrap="none" rtlCol="0">
                <a:spAutoFit/>
              </a:bodyPr>
              <a:lstStyle/>
              <a:p>
                <a:r>
                  <a:rPr lang="en-US" sz="1200"/>
                  <a:t>9.9</a:t>
                </a:r>
                <a:endParaRPr lang="en-GB" sz="1200"/>
              </a:p>
            </p:txBody>
          </p:sp>
          <p:sp>
            <p:nvSpPr>
              <p:cNvPr id="155" name="TextBox 154"/>
              <p:cNvSpPr txBox="1"/>
              <p:nvPr/>
            </p:nvSpPr>
            <p:spPr>
              <a:xfrm>
                <a:off x="1866790" y="6183908"/>
                <a:ext cx="458780" cy="276999"/>
              </a:xfrm>
              <a:prstGeom prst="rect">
                <a:avLst/>
              </a:prstGeom>
              <a:noFill/>
            </p:spPr>
            <p:txBody>
              <a:bodyPr wrap="none" rtlCol="0">
                <a:spAutoFit/>
              </a:bodyPr>
              <a:lstStyle/>
              <a:p>
                <a:r>
                  <a:rPr lang="en-US" sz="1200"/>
                  <a:t>10.0</a:t>
                </a:r>
                <a:endParaRPr lang="en-GB" sz="1200"/>
              </a:p>
            </p:txBody>
          </p:sp>
        </p:grpSp>
      </p:grpSp>
      <p:grpSp>
        <p:nvGrpSpPr>
          <p:cNvPr id="157" name="Group 156"/>
          <p:cNvGrpSpPr/>
          <p:nvPr/>
        </p:nvGrpSpPr>
        <p:grpSpPr>
          <a:xfrm>
            <a:off x="2261986" y="4012442"/>
            <a:ext cx="2294973" cy="1039517"/>
            <a:chOff x="31624" y="5821182"/>
            <a:chExt cx="2294973" cy="1039517"/>
          </a:xfrm>
        </p:grpSpPr>
        <p:sp>
          <p:nvSpPr>
            <p:cNvPr id="158" name="TextBox 157"/>
            <p:cNvSpPr txBox="1"/>
            <p:nvPr/>
          </p:nvSpPr>
          <p:spPr>
            <a:xfrm>
              <a:off x="96145" y="5821182"/>
              <a:ext cx="699230" cy="276999"/>
            </a:xfrm>
            <a:prstGeom prst="rect">
              <a:avLst/>
            </a:prstGeom>
            <a:noFill/>
          </p:spPr>
          <p:txBody>
            <a:bodyPr wrap="none" rtlCol="0">
              <a:spAutoFit/>
            </a:bodyPr>
            <a:lstStyle/>
            <a:p>
              <a:r>
                <a:rPr lang="en-US" sz="1200"/>
                <a:t>h) 10.66</a:t>
              </a:r>
              <a:endParaRPr lang="en-GB" sz="1200"/>
            </a:p>
          </p:txBody>
        </p:sp>
        <p:grpSp>
          <p:nvGrpSpPr>
            <p:cNvPr id="159" name="Group 158"/>
            <p:cNvGrpSpPr/>
            <p:nvPr/>
          </p:nvGrpSpPr>
          <p:grpSpPr>
            <a:xfrm>
              <a:off x="31624" y="6191773"/>
              <a:ext cx="2294973" cy="668926"/>
              <a:chOff x="31624" y="6191773"/>
              <a:chExt cx="2294973" cy="668926"/>
            </a:xfrm>
          </p:grpSpPr>
          <p:pic>
            <p:nvPicPr>
              <p:cNvPr id="160" name="Picture 159"/>
              <p:cNvPicPr>
                <a:picLocks noChangeAspect="1"/>
              </p:cNvPicPr>
              <p:nvPr/>
            </p:nvPicPr>
            <p:blipFill>
              <a:blip r:embed="rId2"/>
              <a:stretch>
                <a:fillRect/>
              </a:stretch>
            </p:blipFill>
            <p:spPr>
              <a:xfrm>
                <a:off x="248591" y="6380767"/>
                <a:ext cx="1884050" cy="479932"/>
              </a:xfrm>
              <a:prstGeom prst="rect">
                <a:avLst/>
              </a:prstGeom>
            </p:spPr>
          </p:pic>
          <p:sp>
            <p:nvSpPr>
              <p:cNvPr id="161" name="TextBox 160"/>
              <p:cNvSpPr txBox="1"/>
              <p:nvPr/>
            </p:nvSpPr>
            <p:spPr>
              <a:xfrm>
                <a:off x="31624" y="6191773"/>
                <a:ext cx="458780" cy="276999"/>
              </a:xfrm>
              <a:prstGeom prst="rect">
                <a:avLst/>
              </a:prstGeom>
              <a:noFill/>
            </p:spPr>
            <p:txBody>
              <a:bodyPr wrap="none" rtlCol="0">
                <a:spAutoFit/>
              </a:bodyPr>
              <a:lstStyle/>
              <a:p>
                <a:r>
                  <a:rPr lang="en-US" sz="1200"/>
                  <a:t>10.6</a:t>
                </a:r>
                <a:endParaRPr lang="en-GB" sz="1200"/>
              </a:p>
            </p:txBody>
          </p:sp>
          <p:sp>
            <p:nvSpPr>
              <p:cNvPr id="162" name="TextBox 161"/>
              <p:cNvSpPr txBox="1"/>
              <p:nvPr/>
            </p:nvSpPr>
            <p:spPr>
              <a:xfrm>
                <a:off x="1867817" y="6201965"/>
                <a:ext cx="458780" cy="276999"/>
              </a:xfrm>
              <a:prstGeom prst="rect">
                <a:avLst/>
              </a:prstGeom>
              <a:noFill/>
            </p:spPr>
            <p:txBody>
              <a:bodyPr wrap="none" rtlCol="0">
                <a:spAutoFit/>
              </a:bodyPr>
              <a:lstStyle/>
              <a:p>
                <a:r>
                  <a:rPr lang="en-US" sz="1200"/>
                  <a:t>10.7</a:t>
                </a:r>
                <a:endParaRPr lang="en-GB" sz="1200"/>
              </a:p>
            </p:txBody>
          </p:sp>
        </p:grpSp>
      </p:grpSp>
      <p:grpSp>
        <p:nvGrpSpPr>
          <p:cNvPr id="163" name="Group 162"/>
          <p:cNvGrpSpPr/>
          <p:nvPr/>
        </p:nvGrpSpPr>
        <p:grpSpPr>
          <a:xfrm>
            <a:off x="4553662" y="3998097"/>
            <a:ext cx="2253816" cy="1039517"/>
            <a:chOff x="69799" y="5821182"/>
            <a:chExt cx="2253816" cy="1039517"/>
          </a:xfrm>
        </p:grpSpPr>
        <p:sp>
          <p:nvSpPr>
            <p:cNvPr id="164" name="TextBox 163"/>
            <p:cNvSpPr txBox="1"/>
            <p:nvPr/>
          </p:nvSpPr>
          <p:spPr>
            <a:xfrm>
              <a:off x="96145" y="5821182"/>
              <a:ext cx="654346" cy="276999"/>
            </a:xfrm>
            <a:prstGeom prst="rect">
              <a:avLst/>
            </a:prstGeom>
            <a:noFill/>
          </p:spPr>
          <p:txBody>
            <a:bodyPr wrap="none" rtlCol="0">
              <a:spAutoFit/>
            </a:bodyPr>
            <a:lstStyle/>
            <a:p>
              <a:r>
                <a:rPr lang="en-US" sz="1200" err="1"/>
                <a:t>i</a:t>
              </a:r>
              <a:r>
                <a:rPr lang="en-US" sz="1200"/>
                <a:t>) 12.76</a:t>
              </a:r>
              <a:endParaRPr lang="en-GB" sz="1200"/>
            </a:p>
          </p:txBody>
        </p:sp>
        <p:grpSp>
          <p:nvGrpSpPr>
            <p:cNvPr id="165" name="Group 164"/>
            <p:cNvGrpSpPr/>
            <p:nvPr/>
          </p:nvGrpSpPr>
          <p:grpSpPr>
            <a:xfrm>
              <a:off x="69799" y="6191723"/>
              <a:ext cx="2253816" cy="668976"/>
              <a:chOff x="69799" y="6191723"/>
              <a:chExt cx="2253816" cy="668976"/>
            </a:xfrm>
          </p:grpSpPr>
          <p:pic>
            <p:nvPicPr>
              <p:cNvPr id="166" name="Picture 165"/>
              <p:cNvPicPr>
                <a:picLocks noChangeAspect="1"/>
              </p:cNvPicPr>
              <p:nvPr/>
            </p:nvPicPr>
            <p:blipFill>
              <a:blip r:embed="rId2"/>
              <a:stretch>
                <a:fillRect/>
              </a:stretch>
            </p:blipFill>
            <p:spPr>
              <a:xfrm>
                <a:off x="248591" y="6380767"/>
                <a:ext cx="1884050" cy="479932"/>
              </a:xfrm>
              <a:prstGeom prst="rect">
                <a:avLst/>
              </a:prstGeom>
            </p:spPr>
          </p:pic>
          <p:sp>
            <p:nvSpPr>
              <p:cNvPr id="167" name="TextBox 166"/>
              <p:cNvSpPr txBox="1"/>
              <p:nvPr/>
            </p:nvSpPr>
            <p:spPr>
              <a:xfrm>
                <a:off x="69799" y="6204228"/>
                <a:ext cx="458780" cy="276999"/>
              </a:xfrm>
              <a:prstGeom prst="rect">
                <a:avLst/>
              </a:prstGeom>
              <a:noFill/>
            </p:spPr>
            <p:txBody>
              <a:bodyPr wrap="none" rtlCol="0">
                <a:spAutoFit/>
              </a:bodyPr>
              <a:lstStyle/>
              <a:p>
                <a:r>
                  <a:rPr lang="en-US" sz="1200"/>
                  <a:t>12.7</a:t>
                </a:r>
                <a:endParaRPr lang="en-GB" sz="1200"/>
              </a:p>
            </p:txBody>
          </p:sp>
          <p:sp>
            <p:nvSpPr>
              <p:cNvPr id="168" name="TextBox 167"/>
              <p:cNvSpPr txBox="1"/>
              <p:nvPr/>
            </p:nvSpPr>
            <p:spPr>
              <a:xfrm>
                <a:off x="1864835" y="6191723"/>
                <a:ext cx="458780" cy="276999"/>
              </a:xfrm>
              <a:prstGeom prst="rect">
                <a:avLst/>
              </a:prstGeom>
              <a:noFill/>
            </p:spPr>
            <p:txBody>
              <a:bodyPr wrap="none" rtlCol="0">
                <a:spAutoFit/>
              </a:bodyPr>
              <a:lstStyle/>
              <a:p>
                <a:r>
                  <a:rPr lang="en-US" sz="1200"/>
                  <a:t>12.8</a:t>
                </a:r>
                <a:endParaRPr lang="en-GB" sz="1200"/>
              </a:p>
            </p:txBody>
          </p:sp>
        </p:grpSp>
      </p:grpSp>
      <p:grpSp>
        <p:nvGrpSpPr>
          <p:cNvPr id="169" name="Group 168"/>
          <p:cNvGrpSpPr/>
          <p:nvPr/>
        </p:nvGrpSpPr>
        <p:grpSpPr>
          <a:xfrm>
            <a:off x="50817" y="5891880"/>
            <a:ext cx="2316264" cy="1039764"/>
            <a:chOff x="17121" y="5820935"/>
            <a:chExt cx="2316264" cy="1039764"/>
          </a:xfrm>
        </p:grpSpPr>
        <p:sp>
          <p:nvSpPr>
            <p:cNvPr id="170" name="TextBox 169"/>
            <p:cNvSpPr txBox="1"/>
            <p:nvPr/>
          </p:nvSpPr>
          <p:spPr>
            <a:xfrm>
              <a:off x="17121" y="5820935"/>
              <a:ext cx="655949" cy="276999"/>
            </a:xfrm>
            <a:prstGeom prst="rect">
              <a:avLst/>
            </a:prstGeom>
            <a:noFill/>
          </p:spPr>
          <p:txBody>
            <a:bodyPr wrap="none" rtlCol="0">
              <a:spAutoFit/>
            </a:bodyPr>
            <a:lstStyle/>
            <a:p>
              <a:r>
                <a:rPr lang="en-US" sz="1200"/>
                <a:t>j) 23.53</a:t>
              </a:r>
              <a:endParaRPr lang="en-GB" sz="1200"/>
            </a:p>
          </p:txBody>
        </p:sp>
        <p:grpSp>
          <p:nvGrpSpPr>
            <p:cNvPr id="171" name="Group 170"/>
            <p:cNvGrpSpPr/>
            <p:nvPr/>
          </p:nvGrpSpPr>
          <p:grpSpPr>
            <a:xfrm>
              <a:off x="46592" y="6183908"/>
              <a:ext cx="2286793" cy="676791"/>
              <a:chOff x="46592" y="6183908"/>
              <a:chExt cx="2286793" cy="676791"/>
            </a:xfrm>
          </p:grpSpPr>
          <p:pic>
            <p:nvPicPr>
              <p:cNvPr id="172" name="Picture 171"/>
              <p:cNvPicPr>
                <a:picLocks noChangeAspect="1"/>
              </p:cNvPicPr>
              <p:nvPr/>
            </p:nvPicPr>
            <p:blipFill>
              <a:blip r:embed="rId2"/>
              <a:stretch>
                <a:fillRect/>
              </a:stretch>
            </p:blipFill>
            <p:spPr>
              <a:xfrm>
                <a:off x="248591" y="6380767"/>
                <a:ext cx="1884050" cy="479932"/>
              </a:xfrm>
              <a:prstGeom prst="rect">
                <a:avLst/>
              </a:prstGeom>
            </p:spPr>
          </p:pic>
          <p:sp>
            <p:nvSpPr>
              <p:cNvPr id="173" name="TextBox 172"/>
              <p:cNvSpPr txBox="1"/>
              <p:nvPr/>
            </p:nvSpPr>
            <p:spPr>
              <a:xfrm>
                <a:off x="46592" y="6183908"/>
                <a:ext cx="458780" cy="276999"/>
              </a:xfrm>
              <a:prstGeom prst="rect">
                <a:avLst/>
              </a:prstGeom>
              <a:noFill/>
            </p:spPr>
            <p:txBody>
              <a:bodyPr wrap="none" rtlCol="0">
                <a:spAutoFit/>
              </a:bodyPr>
              <a:lstStyle/>
              <a:p>
                <a:r>
                  <a:rPr lang="en-US" sz="1200"/>
                  <a:t>23.5</a:t>
                </a:r>
                <a:endParaRPr lang="en-GB" sz="1200"/>
              </a:p>
            </p:txBody>
          </p:sp>
          <p:sp>
            <p:nvSpPr>
              <p:cNvPr id="174" name="TextBox 173"/>
              <p:cNvSpPr txBox="1"/>
              <p:nvPr/>
            </p:nvSpPr>
            <p:spPr>
              <a:xfrm>
                <a:off x="1874605" y="6183908"/>
                <a:ext cx="458780" cy="276999"/>
              </a:xfrm>
              <a:prstGeom prst="rect">
                <a:avLst/>
              </a:prstGeom>
              <a:noFill/>
            </p:spPr>
            <p:txBody>
              <a:bodyPr wrap="none" rtlCol="0">
                <a:spAutoFit/>
              </a:bodyPr>
              <a:lstStyle/>
              <a:p>
                <a:r>
                  <a:rPr lang="en-US" sz="1200"/>
                  <a:t>23.6</a:t>
                </a:r>
                <a:endParaRPr lang="en-GB" sz="1200"/>
              </a:p>
            </p:txBody>
          </p:sp>
        </p:grpSp>
      </p:grpSp>
      <p:grpSp>
        <p:nvGrpSpPr>
          <p:cNvPr id="175" name="Group 174"/>
          <p:cNvGrpSpPr/>
          <p:nvPr/>
        </p:nvGrpSpPr>
        <p:grpSpPr>
          <a:xfrm>
            <a:off x="2345335" y="5873593"/>
            <a:ext cx="2238905" cy="1039517"/>
            <a:chOff x="70375" y="5821182"/>
            <a:chExt cx="2238905" cy="1039517"/>
          </a:xfrm>
        </p:grpSpPr>
        <p:sp>
          <p:nvSpPr>
            <p:cNvPr id="176" name="TextBox 175"/>
            <p:cNvSpPr txBox="1"/>
            <p:nvPr/>
          </p:nvSpPr>
          <p:spPr>
            <a:xfrm>
              <a:off x="96145" y="5821182"/>
              <a:ext cx="689612" cy="276999"/>
            </a:xfrm>
            <a:prstGeom prst="rect">
              <a:avLst/>
            </a:prstGeom>
            <a:noFill/>
          </p:spPr>
          <p:txBody>
            <a:bodyPr wrap="none" rtlCol="0">
              <a:spAutoFit/>
            </a:bodyPr>
            <a:lstStyle/>
            <a:p>
              <a:r>
                <a:rPr lang="en-US" sz="1200"/>
                <a:t>k) 24.61</a:t>
              </a:r>
              <a:endParaRPr lang="en-GB" sz="1200"/>
            </a:p>
          </p:txBody>
        </p:sp>
        <p:grpSp>
          <p:nvGrpSpPr>
            <p:cNvPr id="177" name="Group 176"/>
            <p:cNvGrpSpPr/>
            <p:nvPr/>
          </p:nvGrpSpPr>
          <p:grpSpPr>
            <a:xfrm>
              <a:off x="70375" y="6183908"/>
              <a:ext cx="2238905" cy="676791"/>
              <a:chOff x="70375" y="6183908"/>
              <a:chExt cx="2238905" cy="676791"/>
            </a:xfrm>
          </p:grpSpPr>
          <p:pic>
            <p:nvPicPr>
              <p:cNvPr id="178" name="Picture 177"/>
              <p:cNvPicPr>
                <a:picLocks noChangeAspect="1"/>
              </p:cNvPicPr>
              <p:nvPr/>
            </p:nvPicPr>
            <p:blipFill>
              <a:blip r:embed="rId2"/>
              <a:stretch>
                <a:fillRect/>
              </a:stretch>
            </p:blipFill>
            <p:spPr>
              <a:xfrm>
                <a:off x="248591" y="6380767"/>
                <a:ext cx="1884050" cy="479932"/>
              </a:xfrm>
              <a:prstGeom prst="rect">
                <a:avLst/>
              </a:prstGeom>
            </p:spPr>
          </p:pic>
          <p:sp>
            <p:nvSpPr>
              <p:cNvPr id="179" name="TextBox 178"/>
              <p:cNvSpPr txBox="1"/>
              <p:nvPr/>
            </p:nvSpPr>
            <p:spPr>
              <a:xfrm>
                <a:off x="70375" y="6206256"/>
                <a:ext cx="458780" cy="276999"/>
              </a:xfrm>
              <a:prstGeom prst="rect">
                <a:avLst/>
              </a:prstGeom>
              <a:noFill/>
            </p:spPr>
            <p:txBody>
              <a:bodyPr wrap="none" rtlCol="0">
                <a:spAutoFit/>
              </a:bodyPr>
              <a:lstStyle/>
              <a:p>
                <a:r>
                  <a:rPr lang="en-US" sz="1200"/>
                  <a:t>24.6</a:t>
                </a:r>
                <a:endParaRPr lang="en-GB" sz="1200"/>
              </a:p>
            </p:txBody>
          </p:sp>
          <p:sp>
            <p:nvSpPr>
              <p:cNvPr id="180" name="TextBox 179"/>
              <p:cNvSpPr txBox="1"/>
              <p:nvPr/>
            </p:nvSpPr>
            <p:spPr>
              <a:xfrm>
                <a:off x="1850500" y="6183908"/>
                <a:ext cx="458780" cy="276999"/>
              </a:xfrm>
              <a:prstGeom prst="rect">
                <a:avLst/>
              </a:prstGeom>
              <a:noFill/>
            </p:spPr>
            <p:txBody>
              <a:bodyPr wrap="none" rtlCol="0">
                <a:spAutoFit/>
              </a:bodyPr>
              <a:lstStyle/>
              <a:p>
                <a:r>
                  <a:rPr lang="en-US" sz="1200"/>
                  <a:t>24.7</a:t>
                </a:r>
                <a:endParaRPr lang="en-GB" sz="1200"/>
              </a:p>
            </p:txBody>
          </p:sp>
        </p:grpSp>
      </p:grpSp>
      <p:grpSp>
        <p:nvGrpSpPr>
          <p:cNvPr id="181" name="Group 180"/>
          <p:cNvGrpSpPr/>
          <p:nvPr/>
        </p:nvGrpSpPr>
        <p:grpSpPr>
          <a:xfrm>
            <a:off x="4592172" y="5855059"/>
            <a:ext cx="2303928" cy="1039517"/>
            <a:chOff x="60057" y="5821182"/>
            <a:chExt cx="2303928" cy="1039517"/>
          </a:xfrm>
        </p:grpSpPr>
        <p:sp>
          <p:nvSpPr>
            <p:cNvPr id="182" name="TextBox 181"/>
            <p:cNvSpPr txBox="1"/>
            <p:nvPr/>
          </p:nvSpPr>
          <p:spPr>
            <a:xfrm>
              <a:off x="96145" y="5821182"/>
              <a:ext cx="654346" cy="276999"/>
            </a:xfrm>
            <a:prstGeom prst="rect">
              <a:avLst/>
            </a:prstGeom>
            <a:noFill/>
          </p:spPr>
          <p:txBody>
            <a:bodyPr wrap="none" rtlCol="0">
              <a:spAutoFit/>
            </a:bodyPr>
            <a:lstStyle/>
            <a:p>
              <a:r>
                <a:rPr lang="en-US" sz="1200"/>
                <a:t>l) 38.72</a:t>
              </a:r>
              <a:endParaRPr lang="en-GB" sz="1200"/>
            </a:p>
          </p:txBody>
        </p:sp>
        <p:grpSp>
          <p:nvGrpSpPr>
            <p:cNvPr id="183" name="Group 182"/>
            <p:cNvGrpSpPr/>
            <p:nvPr/>
          </p:nvGrpSpPr>
          <p:grpSpPr>
            <a:xfrm>
              <a:off x="60057" y="6183908"/>
              <a:ext cx="2303928" cy="676791"/>
              <a:chOff x="60057" y="6183908"/>
              <a:chExt cx="2303928" cy="676791"/>
            </a:xfrm>
          </p:grpSpPr>
          <p:pic>
            <p:nvPicPr>
              <p:cNvPr id="184" name="Picture 183"/>
              <p:cNvPicPr>
                <a:picLocks noChangeAspect="1"/>
              </p:cNvPicPr>
              <p:nvPr/>
            </p:nvPicPr>
            <p:blipFill>
              <a:blip r:embed="rId2"/>
              <a:stretch>
                <a:fillRect/>
              </a:stretch>
            </p:blipFill>
            <p:spPr>
              <a:xfrm>
                <a:off x="248591" y="6380767"/>
                <a:ext cx="1884050" cy="479932"/>
              </a:xfrm>
              <a:prstGeom prst="rect">
                <a:avLst/>
              </a:prstGeom>
            </p:spPr>
          </p:pic>
          <p:sp>
            <p:nvSpPr>
              <p:cNvPr id="185" name="TextBox 184"/>
              <p:cNvSpPr txBox="1"/>
              <p:nvPr/>
            </p:nvSpPr>
            <p:spPr>
              <a:xfrm>
                <a:off x="60057" y="6193965"/>
                <a:ext cx="458780" cy="276999"/>
              </a:xfrm>
              <a:prstGeom prst="rect">
                <a:avLst/>
              </a:prstGeom>
              <a:noFill/>
            </p:spPr>
            <p:txBody>
              <a:bodyPr wrap="none" rtlCol="0">
                <a:spAutoFit/>
              </a:bodyPr>
              <a:lstStyle/>
              <a:p>
                <a:r>
                  <a:rPr lang="en-US" sz="1200"/>
                  <a:t>38.7</a:t>
                </a:r>
                <a:endParaRPr lang="en-GB" sz="1200"/>
              </a:p>
            </p:txBody>
          </p:sp>
          <p:sp>
            <p:nvSpPr>
              <p:cNvPr id="186" name="TextBox 185"/>
              <p:cNvSpPr txBox="1"/>
              <p:nvPr/>
            </p:nvSpPr>
            <p:spPr>
              <a:xfrm>
                <a:off x="1905205" y="6183908"/>
                <a:ext cx="458780" cy="276999"/>
              </a:xfrm>
              <a:prstGeom prst="rect">
                <a:avLst/>
              </a:prstGeom>
              <a:noFill/>
            </p:spPr>
            <p:txBody>
              <a:bodyPr wrap="none" rtlCol="0">
                <a:spAutoFit/>
              </a:bodyPr>
              <a:lstStyle/>
              <a:p>
                <a:r>
                  <a:rPr lang="en-US" sz="1200"/>
                  <a:t>38.8</a:t>
                </a:r>
                <a:endParaRPr lang="en-GB" sz="1200"/>
              </a:p>
            </p:txBody>
          </p:sp>
        </p:grpSp>
      </p:grpSp>
      <p:sp>
        <p:nvSpPr>
          <p:cNvPr id="204" name="Rectangle 203">
            <a:extLst>
              <a:ext uri="{FF2B5EF4-FFF2-40B4-BE49-F238E27FC236}">
                <a16:creationId xmlns:a16="http://schemas.microsoft.com/office/drawing/2014/main" id="{CEEF23AD-EA17-135A-DB95-1D1FECB286F3}"/>
              </a:ext>
            </a:extLst>
          </p:cNvPr>
          <p:cNvSpPr/>
          <p:nvPr/>
        </p:nvSpPr>
        <p:spPr>
          <a:xfrm>
            <a:off x="1718892" y="519580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5" name="Rectangle 204">
            <a:extLst>
              <a:ext uri="{FF2B5EF4-FFF2-40B4-BE49-F238E27FC236}">
                <a16:creationId xmlns:a16="http://schemas.microsoft.com/office/drawing/2014/main" id="{CEEF23AD-EA17-135A-DB95-1D1FECB286F3}"/>
              </a:ext>
            </a:extLst>
          </p:cNvPr>
          <p:cNvSpPr/>
          <p:nvPr/>
        </p:nvSpPr>
        <p:spPr>
          <a:xfrm>
            <a:off x="130601" y="519211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7" name="Rectangle 206">
            <a:extLst>
              <a:ext uri="{FF2B5EF4-FFF2-40B4-BE49-F238E27FC236}">
                <a16:creationId xmlns:a16="http://schemas.microsoft.com/office/drawing/2014/main" id="{CEEF23AD-EA17-135A-DB95-1D1FECB286F3}"/>
              </a:ext>
            </a:extLst>
          </p:cNvPr>
          <p:cNvSpPr/>
          <p:nvPr/>
        </p:nvSpPr>
        <p:spPr>
          <a:xfrm>
            <a:off x="4005094" y="517984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8" name="Rectangle 207">
            <a:extLst>
              <a:ext uri="{FF2B5EF4-FFF2-40B4-BE49-F238E27FC236}">
                <a16:creationId xmlns:a16="http://schemas.microsoft.com/office/drawing/2014/main" id="{CEEF23AD-EA17-135A-DB95-1D1FECB286F3}"/>
              </a:ext>
            </a:extLst>
          </p:cNvPr>
          <p:cNvSpPr/>
          <p:nvPr/>
        </p:nvSpPr>
        <p:spPr>
          <a:xfrm>
            <a:off x="2416803" y="517615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0" name="Rectangle 209">
            <a:extLst>
              <a:ext uri="{FF2B5EF4-FFF2-40B4-BE49-F238E27FC236}">
                <a16:creationId xmlns:a16="http://schemas.microsoft.com/office/drawing/2014/main" id="{CEEF23AD-EA17-135A-DB95-1D1FECB286F3}"/>
              </a:ext>
            </a:extLst>
          </p:cNvPr>
          <p:cNvSpPr/>
          <p:nvPr/>
        </p:nvSpPr>
        <p:spPr>
          <a:xfrm>
            <a:off x="6261115" y="5184926"/>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1" name="Rectangle 210">
            <a:extLst>
              <a:ext uri="{FF2B5EF4-FFF2-40B4-BE49-F238E27FC236}">
                <a16:creationId xmlns:a16="http://schemas.microsoft.com/office/drawing/2014/main" id="{CEEF23AD-EA17-135A-DB95-1D1FECB286F3}"/>
              </a:ext>
            </a:extLst>
          </p:cNvPr>
          <p:cNvSpPr/>
          <p:nvPr/>
        </p:nvSpPr>
        <p:spPr>
          <a:xfrm>
            <a:off x="4672824" y="5181238"/>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3" name="Rectangle 212">
            <a:extLst>
              <a:ext uri="{FF2B5EF4-FFF2-40B4-BE49-F238E27FC236}">
                <a16:creationId xmlns:a16="http://schemas.microsoft.com/office/drawing/2014/main" id="{CEEF23AD-EA17-135A-DB95-1D1FECB286F3}"/>
              </a:ext>
            </a:extLst>
          </p:cNvPr>
          <p:cNvSpPr/>
          <p:nvPr/>
        </p:nvSpPr>
        <p:spPr>
          <a:xfrm>
            <a:off x="1723784" y="7000432"/>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4" name="Rectangle 213">
            <a:extLst>
              <a:ext uri="{FF2B5EF4-FFF2-40B4-BE49-F238E27FC236}">
                <a16:creationId xmlns:a16="http://schemas.microsoft.com/office/drawing/2014/main" id="{CEEF23AD-EA17-135A-DB95-1D1FECB286F3}"/>
              </a:ext>
            </a:extLst>
          </p:cNvPr>
          <p:cNvSpPr/>
          <p:nvPr/>
        </p:nvSpPr>
        <p:spPr>
          <a:xfrm>
            <a:off x="135493" y="6996744"/>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6" name="Rectangle 215">
            <a:extLst>
              <a:ext uri="{FF2B5EF4-FFF2-40B4-BE49-F238E27FC236}">
                <a16:creationId xmlns:a16="http://schemas.microsoft.com/office/drawing/2014/main" id="{CEEF23AD-EA17-135A-DB95-1D1FECB286F3}"/>
              </a:ext>
            </a:extLst>
          </p:cNvPr>
          <p:cNvSpPr/>
          <p:nvPr/>
        </p:nvSpPr>
        <p:spPr>
          <a:xfrm>
            <a:off x="4005094" y="703827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7" name="Rectangle 216">
            <a:extLst>
              <a:ext uri="{FF2B5EF4-FFF2-40B4-BE49-F238E27FC236}">
                <a16:creationId xmlns:a16="http://schemas.microsoft.com/office/drawing/2014/main" id="{CEEF23AD-EA17-135A-DB95-1D1FECB286F3}"/>
              </a:ext>
            </a:extLst>
          </p:cNvPr>
          <p:cNvSpPr/>
          <p:nvPr/>
        </p:nvSpPr>
        <p:spPr>
          <a:xfrm>
            <a:off x="2416803" y="703459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9" name="Rectangle 218">
            <a:extLst>
              <a:ext uri="{FF2B5EF4-FFF2-40B4-BE49-F238E27FC236}">
                <a16:creationId xmlns:a16="http://schemas.microsoft.com/office/drawing/2014/main" id="{CEEF23AD-EA17-135A-DB95-1D1FECB286F3}"/>
              </a:ext>
            </a:extLst>
          </p:cNvPr>
          <p:cNvSpPr/>
          <p:nvPr/>
        </p:nvSpPr>
        <p:spPr>
          <a:xfrm>
            <a:off x="6261115" y="702641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0" name="Rectangle 219">
            <a:extLst>
              <a:ext uri="{FF2B5EF4-FFF2-40B4-BE49-F238E27FC236}">
                <a16:creationId xmlns:a16="http://schemas.microsoft.com/office/drawing/2014/main" id="{CEEF23AD-EA17-135A-DB95-1D1FECB286F3}"/>
              </a:ext>
            </a:extLst>
          </p:cNvPr>
          <p:cNvSpPr/>
          <p:nvPr/>
        </p:nvSpPr>
        <p:spPr>
          <a:xfrm>
            <a:off x="4672824" y="702272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21" name="Straight Connector 220"/>
          <p:cNvCxnSpPr/>
          <p:nvPr/>
        </p:nvCxnSpPr>
        <p:spPr>
          <a:xfrm flipH="1">
            <a:off x="2301944" y="3998097"/>
            <a:ext cx="9485" cy="5423052"/>
          </a:xfrm>
          <a:prstGeom prst="line">
            <a:avLst/>
          </a:prstGeom>
        </p:spPr>
        <p:style>
          <a:lnRef idx="1">
            <a:schemeClr val="dk1"/>
          </a:lnRef>
          <a:fillRef idx="0">
            <a:schemeClr val="dk1"/>
          </a:fillRef>
          <a:effectRef idx="0">
            <a:schemeClr val="dk1"/>
          </a:effectRef>
          <a:fontRef idx="minor">
            <a:schemeClr val="tx1"/>
          </a:fontRef>
        </p:style>
      </p:cxnSp>
      <p:cxnSp>
        <p:nvCxnSpPr>
          <p:cNvPr id="222" name="Straight Connector 221"/>
          <p:cNvCxnSpPr/>
          <p:nvPr/>
        </p:nvCxnSpPr>
        <p:spPr>
          <a:xfrm flipH="1">
            <a:off x="4566353" y="4005976"/>
            <a:ext cx="9697" cy="5415173"/>
          </a:xfrm>
          <a:prstGeom prst="line">
            <a:avLst/>
          </a:prstGeom>
        </p:spPr>
        <p:style>
          <a:lnRef idx="1">
            <a:schemeClr val="dk1"/>
          </a:lnRef>
          <a:fillRef idx="0">
            <a:schemeClr val="dk1"/>
          </a:fillRef>
          <a:effectRef idx="0">
            <a:schemeClr val="dk1"/>
          </a:effectRef>
          <a:fontRef idx="minor">
            <a:schemeClr val="tx1"/>
          </a:fontRef>
        </p:style>
      </p:cxnSp>
      <p:grpSp>
        <p:nvGrpSpPr>
          <p:cNvPr id="223" name="Group 222"/>
          <p:cNvGrpSpPr/>
          <p:nvPr/>
        </p:nvGrpSpPr>
        <p:grpSpPr>
          <a:xfrm>
            <a:off x="30200" y="7701179"/>
            <a:ext cx="2252918" cy="1039517"/>
            <a:chOff x="41387" y="5821182"/>
            <a:chExt cx="2252918" cy="1039517"/>
          </a:xfrm>
        </p:grpSpPr>
        <p:sp>
          <p:nvSpPr>
            <p:cNvPr id="224" name="TextBox 223"/>
            <p:cNvSpPr txBox="1"/>
            <p:nvPr/>
          </p:nvSpPr>
          <p:spPr>
            <a:xfrm>
              <a:off x="96145" y="5821182"/>
              <a:ext cx="742511" cy="276999"/>
            </a:xfrm>
            <a:prstGeom prst="rect">
              <a:avLst/>
            </a:prstGeom>
            <a:noFill/>
          </p:spPr>
          <p:txBody>
            <a:bodyPr wrap="none" rtlCol="0">
              <a:spAutoFit/>
            </a:bodyPr>
            <a:lstStyle/>
            <a:p>
              <a:r>
                <a:rPr lang="en-US" sz="1200"/>
                <a:t>m) 50.59</a:t>
              </a:r>
              <a:endParaRPr lang="en-GB" sz="1200"/>
            </a:p>
          </p:txBody>
        </p:sp>
        <p:grpSp>
          <p:nvGrpSpPr>
            <p:cNvPr id="225" name="Group 224"/>
            <p:cNvGrpSpPr/>
            <p:nvPr/>
          </p:nvGrpSpPr>
          <p:grpSpPr>
            <a:xfrm>
              <a:off x="41387" y="6183908"/>
              <a:ext cx="2252918" cy="676791"/>
              <a:chOff x="41387" y="6183908"/>
              <a:chExt cx="2252918" cy="676791"/>
            </a:xfrm>
          </p:grpSpPr>
          <p:pic>
            <p:nvPicPr>
              <p:cNvPr id="226" name="Picture 225"/>
              <p:cNvPicPr>
                <a:picLocks noChangeAspect="1"/>
              </p:cNvPicPr>
              <p:nvPr/>
            </p:nvPicPr>
            <p:blipFill>
              <a:blip r:embed="rId2"/>
              <a:stretch>
                <a:fillRect/>
              </a:stretch>
            </p:blipFill>
            <p:spPr>
              <a:xfrm>
                <a:off x="248591" y="6380767"/>
                <a:ext cx="1884050" cy="479932"/>
              </a:xfrm>
              <a:prstGeom prst="rect">
                <a:avLst/>
              </a:prstGeom>
            </p:spPr>
          </p:pic>
          <p:sp>
            <p:nvSpPr>
              <p:cNvPr id="227" name="TextBox 226"/>
              <p:cNvSpPr txBox="1"/>
              <p:nvPr/>
            </p:nvSpPr>
            <p:spPr>
              <a:xfrm>
                <a:off x="41387" y="6183908"/>
                <a:ext cx="458780" cy="276999"/>
              </a:xfrm>
              <a:prstGeom prst="rect">
                <a:avLst/>
              </a:prstGeom>
              <a:noFill/>
            </p:spPr>
            <p:txBody>
              <a:bodyPr wrap="none" rtlCol="0">
                <a:spAutoFit/>
              </a:bodyPr>
              <a:lstStyle/>
              <a:p>
                <a:r>
                  <a:rPr lang="en-US" sz="1200"/>
                  <a:t>50.5</a:t>
                </a:r>
                <a:endParaRPr lang="en-GB" sz="1200"/>
              </a:p>
            </p:txBody>
          </p:sp>
          <p:sp>
            <p:nvSpPr>
              <p:cNvPr id="228" name="TextBox 227"/>
              <p:cNvSpPr txBox="1"/>
              <p:nvPr/>
            </p:nvSpPr>
            <p:spPr>
              <a:xfrm>
                <a:off x="1835525" y="6183908"/>
                <a:ext cx="458780" cy="276999"/>
              </a:xfrm>
              <a:prstGeom prst="rect">
                <a:avLst/>
              </a:prstGeom>
              <a:noFill/>
            </p:spPr>
            <p:txBody>
              <a:bodyPr wrap="none" rtlCol="0">
                <a:spAutoFit/>
              </a:bodyPr>
              <a:lstStyle/>
              <a:p>
                <a:r>
                  <a:rPr lang="en-US" sz="1200"/>
                  <a:t>50.6</a:t>
                </a:r>
                <a:endParaRPr lang="en-GB" sz="1200"/>
              </a:p>
            </p:txBody>
          </p:sp>
        </p:grpSp>
      </p:grpSp>
      <p:grpSp>
        <p:nvGrpSpPr>
          <p:cNvPr id="230" name="Group 229"/>
          <p:cNvGrpSpPr/>
          <p:nvPr/>
        </p:nvGrpSpPr>
        <p:grpSpPr>
          <a:xfrm>
            <a:off x="2301944" y="7682645"/>
            <a:ext cx="2263078" cy="1039517"/>
            <a:chOff x="71867" y="5821182"/>
            <a:chExt cx="2263078" cy="1039517"/>
          </a:xfrm>
        </p:grpSpPr>
        <p:sp>
          <p:nvSpPr>
            <p:cNvPr id="231" name="TextBox 230"/>
            <p:cNvSpPr txBox="1"/>
            <p:nvPr/>
          </p:nvSpPr>
          <p:spPr>
            <a:xfrm>
              <a:off x="96145" y="5821182"/>
              <a:ext cx="699230" cy="276999"/>
            </a:xfrm>
            <a:prstGeom prst="rect">
              <a:avLst/>
            </a:prstGeom>
            <a:noFill/>
          </p:spPr>
          <p:txBody>
            <a:bodyPr wrap="none" rtlCol="0">
              <a:spAutoFit/>
            </a:bodyPr>
            <a:lstStyle/>
            <a:p>
              <a:r>
                <a:rPr lang="en-US" sz="1200"/>
                <a:t>n) 75.78</a:t>
              </a:r>
              <a:endParaRPr lang="en-GB" sz="1200"/>
            </a:p>
          </p:txBody>
        </p:sp>
        <p:grpSp>
          <p:nvGrpSpPr>
            <p:cNvPr id="232" name="Group 231"/>
            <p:cNvGrpSpPr/>
            <p:nvPr/>
          </p:nvGrpSpPr>
          <p:grpSpPr>
            <a:xfrm>
              <a:off x="71867" y="6183908"/>
              <a:ext cx="2263078" cy="676791"/>
              <a:chOff x="71867" y="6183908"/>
              <a:chExt cx="2263078" cy="676791"/>
            </a:xfrm>
          </p:grpSpPr>
          <p:pic>
            <p:nvPicPr>
              <p:cNvPr id="233" name="Picture 232"/>
              <p:cNvPicPr>
                <a:picLocks noChangeAspect="1"/>
              </p:cNvPicPr>
              <p:nvPr/>
            </p:nvPicPr>
            <p:blipFill>
              <a:blip r:embed="rId2"/>
              <a:stretch>
                <a:fillRect/>
              </a:stretch>
            </p:blipFill>
            <p:spPr>
              <a:xfrm>
                <a:off x="248591" y="6380767"/>
                <a:ext cx="1884050" cy="479932"/>
              </a:xfrm>
              <a:prstGeom prst="rect">
                <a:avLst/>
              </a:prstGeom>
            </p:spPr>
          </p:pic>
          <p:sp>
            <p:nvSpPr>
              <p:cNvPr id="234" name="TextBox 233"/>
              <p:cNvSpPr txBox="1"/>
              <p:nvPr/>
            </p:nvSpPr>
            <p:spPr>
              <a:xfrm>
                <a:off x="71867" y="6183908"/>
                <a:ext cx="458780" cy="276999"/>
              </a:xfrm>
              <a:prstGeom prst="rect">
                <a:avLst/>
              </a:prstGeom>
              <a:noFill/>
            </p:spPr>
            <p:txBody>
              <a:bodyPr wrap="none" rtlCol="0">
                <a:spAutoFit/>
              </a:bodyPr>
              <a:lstStyle/>
              <a:p>
                <a:r>
                  <a:rPr lang="en-US" sz="1200"/>
                  <a:t>75.7</a:t>
                </a:r>
                <a:endParaRPr lang="en-GB" sz="1200"/>
              </a:p>
            </p:txBody>
          </p:sp>
          <p:sp>
            <p:nvSpPr>
              <p:cNvPr id="235" name="TextBox 234"/>
              <p:cNvSpPr txBox="1"/>
              <p:nvPr/>
            </p:nvSpPr>
            <p:spPr>
              <a:xfrm>
                <a:off x="1876165" y="6183908"/>
                <a:ext cx="458780" cy="276999"/>
              </a:xfrm>
              <a:prstGeom prst="rect">
                <a:avLst/>
              </a:prstGeom>
              <a:noFill/>
            </p:spPr>
            <p:txBody>
              <a:bodyPr wrap="none" rtlCol="0">
                <a:spAutoFit/>
              </a:bodyPr>
              <a:lstStyle/>
              <a:p>
                <a:r>
                  <a:rPr lang="en-US" sz="1200"/>
                  <a:t>75.8</a:t>
                </a:r>
                <a:endParaRPr lang="en-GB" sz="1200"/>
              </a:p>
            </p:txBody>
          </p:sp>
        </p:grpSp>
      </p:grpSp>
      <p:grpSp>
        <p:nvGrpSpPr>
          <p:cNvPr id="236" name="Group 235"/>
          <p:cNvGrpSpPr/>
          <p:nvPr/>
        </p:nvGrpSpPr>
        <p:grpSpPr>
          <a:xfrm>
            <a:off x="4530045" y="7668300"/>
            <a:ext cx="2324038" cy="1039517"/>
            <a:chOff x="46467" y="5821182"/>
            <a:chExt cx="2324038" cy="1039517"/>
          </a:xfrm>
        </p:grpSpPr>
        <p:sp>
          <p:nvSpPr>
            <p:cNvPr id="237" name="TextBox 236"/>
            <p:cNvSpPr txBox="1"/>
            <p:nvPr/>
          </p:nvSpPr>
          <p:spPr>
            <a:xfrm>
              <a:off x="96145" y="5821182"/>
              <a:ext cx="700833" cy="276999"/>
            </a:xfrm>
            <a:prstGeom prst="rect">
              <a:avLst/>
            </a:prstGeom>
            <a:noFill/>
          </p:spPr>
          <p:txBody>
            <a:bodyPr wrap="none" rtlCol="0">
              <a:spAutoFit/>
            </a:bodyPr>
            <a:lstStyle/>
            <a:p>
              <a:r>
                <a:rPr lang="en-US" sz="1200"/>
                <a:t>o) 84.58</a:t>
              </a:r>
              <a:endParaRPr lang="en-GB" sz="1200"/>
            </a:p>
          </p:txBody>
        </p:sp>
        <p:grpSp>
          <p:nvGrpSpPr>
            <p:cNvPr id="238" name="Group 237"/>
            <p:cNvGrpSpPr/>
            <p:nvPr/>
          </p:nvGrpSpPr>
          <p:grpSpPr>
            <a:xfrm>
              <a:off x="46467" y="6183908"/>
              <a:ext cx="2324038" cy="676791"/>
              <a:chOff x="46467" y="6183908"/>
              <a:chExt cx="2324038" cy="676791"/>
            </a:xfrm>
          </p:grpSpPr>
          <p:pic>
            <p:nvPicPr>
              <p:cNvPr id="239" name="Picture 238"/>
              <p:cNvPicPr>
                <a:picLocks noChangeAspect="1"/>
              </p:cNvPicPr>
              <p:nvPr/>
            </p:nvPicPr>
            <p:blipFill>
              <a:blip r:embed="rId2"/>
              <a:stretch>
                <a:fillRect/>
              </a:stretch>
            </p:blipFill>
            <p:spPr>
              <a:xfrm>
                <a:off x="248591" y="6380767"/>
                <a:ext cx="1884050" cy="479932"/>
              </a:xfrm>
              <a:prstGeom prst="rect">
                <a:avLst/>
              </a:prstGeom>
            </p:spPr>
          </p:pic>
          <p:sp>
            <p:nvSpPr>
              <p:cNvPr id="240" name="TextBox 239"/>
              <p:cNvSpPr txBox="1"/>
              <p:nvPr/>
            </p:nvSpPr>
            <p:spPr>
              <a:xfrm>
                <a:off x="46467" y="6204228"/>
                <a:ext cx="458780" cy="276999"/>
              </a:xfrm>
              <a:prstGeom prst="rect">
                <a:avLst/>
              </a:prstGeom>
              <a:noFill/>
            </p:spPr>
            <p:txBody>
              <a:bodyPr wrap="none" rtlCol="0">
                <a:spAutoFit/>
              </a:bodyPr>
              <a:lstStyle/>
              <a:p>
                <a:r>
                  <a:rPr lang="en-US" sz="1200"/>
                  <a:t>84.5</a:t>
                </a:r>
                <a:endParaRPr lang="en-GB" sz="1200"/>
              </a:p>
            </p:txBody>
          </p:sp>
          <p:sp>
            <p:nvSpPr>
              <p:cNvPr id="241" name="TextBox 240"/>
              <p:cNvSpPr txBox="1"/>
              <p:nvPr/>
            </p:nvSpPr>
            <p:spPr>
              <a:xfrm>
                <a:off x="1911725" y="6183908"/>
                <a:ext cx="458780" cy="276999"/>
              </a:xfrm>
              <a:prstGeom prst="rect">
                <a:avLst/>
              </a:prstGeom>
              <a:noFill/>
            </p:spPr>
            <p:txBody>
              <a:bodyPr wrap="none" rtlCol="0">
                <a:spAutoFit/>
              </a:bodyPr>
              <a:lstStyle/>
              <a:p>
                <a:r>
                  <a:rPr lang="en-US" sz="1200"/>
                  <a:t>84.6</a:t>
                </a:r>
                <a:endParaRPr lang="en-GB" sz="1200"/>
              </a:p>
            </p:txBody>
          </p:sp>
        </p:grpSp>
      </p:grpSp>
      <p:sp>
        <p:nvSpPr>
          <p:cNvPr id="250" name="Rectangle 249">
            <a:extLst>
              <a:ext uri="{FF2B5EF4-FFF2-40B4-BE49-F238E27FC236}">
                <a16:creationId xmlns:a16="http://schemas.microsoft.com/office/drawing/2014/main" id="{CEEF23AD-EA17-135A-DB95-1D1FECB286F3}"/>
              </a:ext>
            </a:extLst>
          </p:cNvPr>
          <p:cNvSpPr/>
          <p:nvPr/>
        </p:nvSpPr>
        <p:spPr>
          <a:xfrm>
            <a:off x="1718607" y="8866003"/>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1" name="Rectangle 250">
            <a:extLst>
              <a:ext uri="{FF2B5EF4-FFF2-40B4-BE49-F238E27FC236}">
                <a16:creationId xmlns:a16="http://schemas.microsoft.com/office/drawing/2014/main" id="{CEEF23AD-EA17-135A-DB95-1D1FECB286F3}"/>
              </a:ext>
            </a:extLst>
          </p:cNvPr>
          <p:cNvSpPr/>
          <p:nvPr/>
        </p:nvSpPr>
        <p:spPr>
          <a:xfrm>
            <a:off x="130316" y="8862315"/>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3" name="Rectangle 252">
            <a:extLst>
              <a:ext uri="{FF2B5EF4-FFF2-40B4-BE49-F238E27FC236}">
                <a16:creationId xmlns:a16="http://schemas.microsoft.com/office/drawing/2014/main" id="{CEEF23AD-EA17-135A-DB95-1D1FECB286F3}"/>
              </a:ext>
            </a:extLst>
          </p:cNvPr>
          <p:cNvSpPr/>
          <p:nvPr/>
        </p:nvSpPr>
        <p:spPr>
          <a:xfrm>
            <a:off x="4004809" y="885005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4" name="Rectangle 253">
            <a:extLst>
              <a:ext uri="{FF2B5EF4-FFF2-40B4-BE49-F238E27FC236}">
                <a16:creationId xmlns:a16="http://schemas.microsoft.com/office/drawing/2014/main" id="{CEEF23AD-EA17-135A-DB95-1D1FECB286F3}"/>
              </a:ext>
            </a:extLst>
          </p:cNvPr>
          <p:cNvSpPr/>
          <p:nvPr/>
        </p:nvSpPr>
        <p:spPr>
          <a:xfrm>
            <a:off x="2416518" y="884636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6" name="Rectangle 255">
            <a:extLst>
              <a:ext uri="{FF2B5EF4-FFF2-40B4-BE49-F238E27FC236}">
                <a16:creationId xmlns:a16="http://schemas.microsoft.com/office/drawing/2014/main" id="{CEEF23AD-EA17-135A-DB95-1D1FECB286F3}"/>
              </a:ext>
            </a:extLst>
          </p:cNvPr>
          <p:cNvSpPr/>
          <p:nvPr/>
        </p:nvSpPr>
        <p:spPr>
          <a:xfrm>
            <a:off x="6260830" y="8855129"/>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7" name="Rectangle 256">
            <a:extLst>
              <a:ext uri="{FF2B5EF4-FFF2-40B4-BE49-F238E27FC236}">
                <a16:creationId xmlns:a16="http://schemas.microsoft.com/office/drawing/2014/main" id="{CEEF23AD-EA17-135A-DB95-1D1FECB286F3}"/>
              </a:ext>
            </a:extLst>
          </p:cNvPr>
          <p:cNvSpPr/>
          <p:nvPr/>
        </p:nvSpPr>
        <p:spPr>
          <a:xfrm>
            <a:off x="4672539" y="885144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58" name="Straight Connector 257"/>
          <p:cNvCxnSpPr/>
          <p:nvPr/>
        </p:nvCxnSpPr>
        <p:spPr>
          <a:xfrm flipH="1">
            <a:off x="82310" y="5749043"/>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59" name="Straight Connector 258"/>
          <p:cNvCxnSpPr/>
          <p:nvPr/>
        </p:nvCxnSpPr>
        <p:spPr>
          <a:xfrm flipH="1">
            <a:off x="76548" y="7479705"/>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60" name="Straight Connector 259"/>
          <p:cNvCxnSpPr/>
          <p:nvPr/>
        </p:nvCxnSpPr>
        <p:spPr>
          <a:xfrm flipH="1">
            <a:off x="94853" y="9421149"/>
            <a:ext cx="6779455" cy="0"/>
          </a:xfrm>
          <a:prstGeom prst="line">
            <a:avLst/>
          </a:prstGeom>
        </p:spPr>
        <p:style>
          <a:lnRef idx="1">
            <a:schemeClr val="dk1"/>
          </a:lnRef>
          <a:fillRef idx="0">
            <a:schemeClr val="dk1"/>
          </a:fillRef>
          <a:effectRef idx="0">
            <a:schemeClr val="dk1"/>
          </a:effectRef>
          <a:fontRef idx="minor">
            <a:schemeClr val="tx1"/>
          </a:fontRef>
        </p:style>
      </p:cxnSp>
      <p:cxnSp>
        <p:nvCxnSpPr>
          <p:cNvPr id="261" name="Straight Connector 260"/>
          <p:cNvCxnSpPr/>
          <p:nvPr/>
        </p:nvCxnSpPr>
        <p:spPr>
          <a:xfrm flipH="1">
            <a:off x="91445" y="4016668"/>
            <a:ext cx="6779455" cy="0"/>
          </a:xfrm>
          <a:prstGeom prst="line">
            <a:avLst/>
          </a:prstGeom>
        </p:spPr>
        <p:style>
          <a:lnRef idx="1">
            <a:schemeClr val="dk1"/>
          </a:lnRef>
          <a:fillRef idx="0">
            <a:schemeClr val="dk1"/>
          </a:fillRef>
          <a:effectRef idx="0">
            <a:schemeClr val="dk1"/>
          </a:effectRef>
          <a:fontRef idx="minor">
            <a:schemeClr val="tx1"/>
          </a:fontRef>
        </p:style>
      </p:cxnSp>
      <p:sp>
        <p:nvSpPr>
          <p:cNvPr id="201" name="TextBox 200"/>
          <p:cNvSpPr txBox="1"/>
          <p:nvPr/>
        </p:nvSpPr>
        <p:spPr>
          <a:xfrm>
            <a:off x="2319635" y="927590"/>
            <a:ext cx="380232" cy="276999"/>
          </a:xfrm>
          <a:prstGeom prst="rect">
            <a:avLst/>
          </a:prstGeom>
          <a:noFill/>
        </p:spPr>
        <p:txBody>
          <a:bodyPr wrap="none" rtlCol="0">
            <a:spAutoFit/>
          </a:bodyPr>
          <a:lstStyle/>
          <a:p>
            <a:r>
              <a:rPr lang="en-US" sz="1200"/>
              <a:t>2.4</a:t>
            </a:r>
            <a:endParaRPr lang="en-GB" sz="1200"/>
          </a:p>
        </p:txBody>
      </p:sp>
      <p:sp>
        <p:nvSpPr>
          <p:cNvPr id="202" name="TextBox 201"/>
          <p:cNvSpPr txBox="1"/>
          <p:nvPr/>
        </p:nvSpPr>
        <p:spPr>
          <a:xfrm>
            <a:off x="4170043" y="927590"/>
            <a:ext cx="380232" cy="276999"/>
          </a:xfrm>
          <a:prstGeom prst="rect">
            <a:avLst/>
          </a:prstGeom>
          <a:noFill/>
        </p:spPr>
        <p:txBody>
          <a:bodyPr wrap="none" rtlCol="0">
            <a:spAutoFit/>
          </a:bodyPr>
          <a:lstStyle/>
          <a:p>
            <a:r>
              <a:rPr lang="en-US" sz="1200"/>
              <a:t>2.5</a:t>
            </a:r>
            <a:endParaRPr lang="en-GB" sz="1200"/>
          </a:p>
        </p:txBody>
      </p:sp>
      <p:sp>
        <p:nvSpPr>
          <p:cNvPr id="203" name="TextBox 202"/>
          <p:cNvSpPr txBox="1"/>
          <p:nvPr/>
        </p:nvSpPr>
        <p:spPr>
          <a:xfrm>
            <a:off x="4590384" y="939324"/>
            <a:ext cx="380232" cy="276999"/>
          </a:xfrm>
          <a:prstGeom prst="rect">
            <a:avLst/>
          </a:prstGeom>
          <a:noFill/>
        </p:spPr>
        <p:txBody>
          <a:bodyPr wrap="none" rtlCol="0">
            <a:spAutoFit/>
          </a:bodyPr>
          <a:lstStyle/>
          <a:p>
            <a:r>
              <a:rPr lang="en-US" sz="1200"/>
              <a:t>3.4</a:t>
            </a:r>
            <a:endParaRPr lang="en-GB" sz="1200"/>
          </a:p>
        </p:txBody>
      </p:sp>
      <p:sp>
        <p:nvSpPr>
          <p:cNvPr id="206" name="TextBox 205"/>
          <p:cNvSpPr txBox="1"/>
          <p:nvPr/>
        </p:nvSpPr>
        <p:spPr>
          <a:xfrm>
            <a:off x="6440792" y="939324"/>
            <a:ext cx="380232" cy="276999"/>
          </a:xfrm>
          <a:prstGeom prst="rect">
            <a:avLst/>
          </a:prstGeom>
          <a:noFill/>
        </p:spPr>
        <p:txBody>
          <a:bodyPr wrap="none" rtlCol="0">
            <a:spAutoFit/>
          </a:bodyPr>
          <a:lstStyle/>
          <a:p>
            <a:r>
              <a:rPr lang="en-US" sz="1200"/>
              <a:t>3.5</a:t>
            </a:r>
            <a:endParaRPr lang="en-GB" sz="1200"/>
          </a:p>
        </p:txBody>
      </p:sp>
      <p:sp>
        <p:nvSpPr>
          <p:cNvPr id="209" name="TextBox 208"/>
          <p:cNvSpPr txBox="1"/>
          <p:nvPr/>
        </p:nvSpPr>
        <p:spPr>
          <a:xfrm>
            <a:off x="2902811" y="1478262"/>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2" name="TextBox 211"/>
          <p:cNvSpPr txBox="1"/>
          <p:nvPr/>
        </p:nvSpPr>
        <p:spPr>
          <a:xfrm>
            <a:off x="5170281" y="152738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5" name="TextBox 214"/>
          <p:cNvSpPr txBox="1"/>
          <p:nvPr/>
        </p:nvSpPr>
        <p:spPr>
          <a:xfrm>
            <a:off x="548916" y="3385096"/>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18" name="TextBox 217"/>
          <p:cNvSpPr txBox="1"/>
          <p:nvPr/>
        </p:nvSpPr>
        <p:spPr>
          <a:xfrm>
            <a:off x="2874467" y="330330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29" name="TextBox 228"/>
          <p:cNvSpPr txBox="1"/>
          <p:nvPr/>
        </p:nvSpPr>
        <p:spPr>
          <a:xfrm>
            <a:off x="5141937" y="3352426"/>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2" name="TextBox 241"/>
          <p:cNvSpPr txBox="1"/>
          <p:nvPr/>
        </p:nvSpPr>
        <p:spPr>
          <a:xfrm>
            <a:off x="548916" y="5051829"/>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3" name="TextBox 242"/>
          <p:cNvSpPr txBox="1"/>
          <p:nvPr/>
        </p:nvSpPr>
        <p:spPr>
          <a:xfrm>
            <a:off x="2897853" y="5032452"/>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4" name="TextBox 243"/>
          <p:cNvSpPr txBox="1"/>
          <p:nvPr/>
        </p:nvSpPr>
        <p:spPr>
          <a:xfrm>
            <a:off x="5141937" y="5019159"/>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5" name="TextBox 244"/>
          <p:cNvSpPr txBox="1"/>
          <p:nvPr/>
        </p:nvSpPr>
        <p:spPr>
          <a:xfrm>
            <a:off x="572466" y="682218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6" name="TextBox 245"/>
          <p:cNvSpPr txBox="1"/>
          <p:nvPr/>
        </p:nvSpPr>
        <p:spPr>
          <a:xfrm>
            <a:off x="2921403" y="6802810"/>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7" name="TextBox 246"/>
          <p:cNvSpPr txBox="1"/>
          <p:nvPr/>
        </p:nvSpPr>
        <p:spPr>
          <a:xfrm>
            <a:off x="5165487" y="6789517"/>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8" name="TextBox 247"/>
          <p:cNvSpPr txBox="1"/>
          <p:nvPr/>
        </p:nvSpPr>
        <p:spPr>
          <a:xfrm>
            <a:off x="570672" y="8762868"/>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49" name="TextBox 248"/>
          <p:cNvSpPr txBox="1"/>
          <p:nvPr/>
        </p:nvSpPr>
        <p:spPr>
          <a:xfrm>
            <a:off x="2919609" y="8743491"/>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52" name="TextBox 251"/>
          <p:cNvSpPr txBox="1"/>
          <p:nvPr/>
        </p:nvSpPr>
        <p:spPr>
          <a:xfrm>
            <a:off x="5163693" y="8730198"/>
            <a:ext cx="1118893" cy="646331"/>
          </a:xfrm>
          <a:prstGeom prst="rect">
            <a:avLst/>
          </a:prstGeom>
          <a:noFill/>
        </p:spPr>
        <p:txBody>
          <a:bodyPr wrap="square" rtlCol="0">
            <a:spAutoFit/>
          </a:bodyPr>
          <a:lstStyle/>
          <a:p>
            <a:pPr algn="ctr"/>
            <a:r>
              <a:rPr lang="en-US" sz="1200"/>
              <a:t> rounded to the 1 decimal place is</a:t>
            </a:r>
            <a:endParaRPr lang="en-GB" sz="1200"/>
          </a:p>
        </p:txBody>
      </p:sp>
      <p:sp>
        <p:nvSpPr>
          <p:cNvPr id="2" name="Rectangle 1">
            <a:extLst>
              <a:ext uri="{FF2B5EF4-FFF2-40B4-BE49-F238E27FC236}">
                <a16:creationId xmlns:a16="http://schemas.microsoft.com/office/drawing/2014/main" id="{B17FFF98-84D8-2185-F1C6-1B3F1AA30B9D}"/>
              </a:ext>
            </a:extLst>
          </p:cNvPr>
          <p:cNvSpPr/>
          <p:nvPr/>
        </p:nvSpPr>
        <p:spPr>
          <a:xfrm>
            <a:off x="71285" y="6538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669769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954274" y="198668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 name="Table 2"/>
          <p:cNvGraphicFramePr>
            <a:graphicFrameLocks noGrp="1"/>
          </p:cNvGraphicFramePr>
          <p:nvPr/>
        </p:nvGraphicFramePr>
        <p:xfrm>
          <a:off x="156015" y="542310"/>
          <a:ext cx="6543680" cy="280416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54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one decimal place.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45293">
                <a:tc>
                  <a:txBody>
                    <a:bodyPr/>
                    <a:lstStyle/>
                    <a:p>
                      <a:pPr marL="0" indent="0">
                        <a:buNone/>
                      </a:pPr>
                      <a:r>
                        <a:rPr lang="en-US" sz="1100"/>
                        <a:t>1)</a:t>
                      </a:r>
                      <a:r>
                        <a:rPr lang="en-US" sz="1100" baseline="0"/>
                        <a:t> </a:t>
                      </a:r>
                      <a:r>
                        <a:rPr lang="en-US" sz="1100"/>
                        <a:t>Draw a line between the value in the tenths column and the hundredths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5329">
                <a:tc>
                  <a:txBody>
                    <a:bodyPr/>
                    <a:lstStyle/>
                    <a:p>
                      <a:pPr marL="0" indent="0">
                        <a:buNone/>
                      </a:pPr>
                      <a:r>
                        <a:rPr lang="en-US" sz="1100"/>
                        <a:t>2) Underline the number in the hundredths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25329">
                <a:tc>
                  <a:txBody>
                    <a:bodyPr/>
                    <a:lstStyle/>
                    <a:p>
                      <a:pPr marL="0" indent="0">
                        <a:buNone/>
                      </a:pPr>
                      <a:r>
                        <a:rPr lang="en-US" sz="1100"/>
                        <a:t>3) If it is </a:t>
                      </a:r>
                      <a:r>
                        <a:rPr lang="en-US" sz="1100" b="1"/>
                        <a:t>below 5</a:t>
                      </a:r>
                      <a:r>
                        <a:rPr lang="en-US" sz="1100"/>
                        <a:t>, then the tenths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4253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tenths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4" name="TextBox 3">
            <a:extLst>
              <a:ext uri="{FF2B5EF4-FFF2-40B4-BE49-F238E27FC236}">
                <a16:creationId xmlns:a16="http://schemas.microsoft.com/office/drawing/2014/main" id="{BCDC1A2B-2D26-C945-B722-18950FA49879}"/>
              </a:ext>
            </a:extLst>
          </p:cNvPr>
          <p:cNvSpPr txBox="1"/>
          <p:nvPr/>
        </p:nvSpPr>
        <p:spPr>
          <a:xfrm>
            <a:off x="1937634" y="285026"/>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071531" y="262918"/>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62352" y="275019"/>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7" name="TextBox 6"/>
          <p:cNvSpPr txBox="1"/>
          <p:nvPr/>
        </p:nvSpPr>
        <p:spPr>
          <a:xfrm>
            <a:off x="1912100" y="829317"/>
            <a:ext cx="1419715" cy="1015663"/>
          </a:xfrm>
          <a:prstGeom prst="rect">
            <a:avLst/>
          </a:prstGeom>
          <a:noFill/>
        </p:spPr>
        <p:txBody>
          <a:bodyPr wrap="square" rtlCol="0">
            <a:spAutoFit/>
          </a:bodyPr>
          <a:lstStyle/>
          <a:p>
            <a:pPr algn="ctr"/>
            <a:r>
              <a:rPr lang="en-US" sz="1200"/>
              <a:t>Round 0.58 to one decimal place</a:t>
            </a:r>
          </a:p>
          <a:p>
            <a:pPr algn="ctr"/>
            <a:endParaRPr lang="en-US" sz="1200"/>
          </a:p>
          <a:p>
            <a:pPr algn="ctr"/>
            <a:r>
              <a:rPr lang="en-US" sz="1200"/>
              <a:t>0 . 5 | </a:t>
            </a:r>
            <a:r>
              <a:rPr lang="en-US" sz="1200" u="sng"/>
              <a:t>8</a:t>
            </a:r>
            <a:r>
              <a:rPr lang="en-US" sz="1200"/>
              <a:t>   </a:t>
            </a:r>
          </a:p>
          <a:p>
            <a:pPr algn="ctr"/>
            <a:endParaRPr lang="en-US" sz="1200" u="sng"/>
          </a:p>
        </p:txBody>
      </p:sp>
      <p:sp>
        <p:nvSpPr>
          <p:cNvPr id="8" name="TextBox 7"/>
          <p:cNvSpPr txBox="1"/>
          <p:nvPr/>
        </p:nvSpPr>
        <p:spPr>
          <a:xfrm>
            <a:off x="3444471" y="839293"/>
            <a:ext cx="1627060" cy="461665"/>
          </a:xfrm>
          <a:prstGeom prst="rect">
            <a:avLst/>
          </a:prstGeom>
          <a:noFill/>
        </p:spPr>
        <p:txBody>
          <a:bodyPr wrap="square" rtlCol="0">
            <a:spAutoFit/>
          </a:bodyPr>
          <a:lstStyle/>
          <a:p>
            <a:pPr algn="ctr"/>
            <a:r>
              <a:rPr lang="en-US" sz="1200"/>
              <a:t>Round 2.92 to one decimal place</a:t>
            </a:r>
          </a:p>
        </p:txBody>
      </p:sp>
      <p:sp>
        <p:nvSpPr>
          <p:cNvPr id="9" name="TextBox 8"/>
          <p:cNvSpPr txBox="1"/>
          <p:nvPr/>
        </p:nvSpPr>
        <p:spPr>
          <a:xfrm>
            <a:off x="5214009" y="829317"/>
            <a:ext cx="1321082" cy="461665"/>
          </a:xfrm>
          <a:prstGeom prst="rect">
            <a:avLst/>
          </a:prstGeom>
          <a:noFill/>
        </p:spPr>
        <p:txBody>
          <a:bodyPr wrap="square" rtlCol="0">
            <a:spAutoFit/>
          </a:bodyPr>
          <a:lstStyle/>
          <a:p>
            <a:pPr algn="ctr"/>
            <a:r>
              <a:rPr lang="en-US" sz="1200"/>
              <a:t>Round 3.69 to one decimal place</a:t>
            </a:r>
          </a:p>
        </p:txBody>
      </p:sp>
      <p:sp>
        <p:nvSpPr>
          <p:cNvPr id="13" name="Rectangle 12">
            <a:extLst>
              <a:ext uri="{FF2B5EF4-FFF2-40B4-BE49-F238E27FC236}">
                <a16:creationId xmlns:a16="http://schemas.microsoft.com/office/drawing/2014/main" id="{CEEF23AD-EA17-135A-DB95-1D1FECB286F3}"/>
              </a:ext>
            </a:extLst>
          </p:cNvPr>
          <p:cNvSpPr/>
          <p:nvPr/>
        </p:nvSpPr>
        <p:spPr>
          <a:xfrm>
            <a:off x="1897333" y="165856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5" name="Rectangle 14">
            <a:extLst>
              <a:ext uri="{FF2B5EF4-FFF2-40B4-BE49-F238E27FC236}">
                <a16:creationId xmlns:a16="http://schemas.microsoft.com/office/drawing/2014/main" id="{CEEF23AD-EA17-135A-DB95-1D1FECB286F3}"/>
              </a:ext>
            </a:extLst>
          </p:cNvPr>
          <p:cNvSpPr/>
          <p:nvPr/>
        </p:nvSpPr>
        <p:spPr>
          <a:xfrm>
            <a:off x="3521808" y="165388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7" name="Rectangle 16">
            <a:extLst>
              <a:ext uri="{FF2B5EF4-FFF2-40B4-BE49-F238E27FC236}">
                <a16:creationId xmlns:a16="http://schemas.microsoft.com/office/drawing/2014/main" id="{CEEF23AD-EA17-135A-DB95-1D1FECB286F3}"/>
              </a:ext>
            </a:extLst>
          </p:cNvPr>
          <p:cNvSpPr/>
          <p:nvPr/>
        </p:nvSpPr>
        <p:spPr>
          <a:xfrm>
            <a:off x="5164724" y="165388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21" name="TextBox 20"/>
          <p:cNvSpPr txBox="1"/>
          <p:nvPr/>
        </p:nvSpPr>
        <p:spPr>
          <a:xfrm>
            <a:off x="2063435" y="3424423"/>
            <a:ext cx="3015762" cy="276999"/>
          </a:xfrm>
          <a:prstGeom prst="rect">
            <a:avLst/>
          </a:prstGeom>
          <a:noFill/>
        </p:spPr>
        <p:txBody>
          <a:bodyPr wrap="none" rtlCol="0">
            <a:spAutoFit/>
          </a:bodyPr>
          <a:lstStyle/>
          <a:p>
            <a:r>
              <a:rPr lang="en-US" sz="1200"/>
              <a:t>2. Round each number to one decimal place. </a:t>
            </a:r>
            <a:endParaRPr lang="en-GB" sz="1200"/>
          </a:p>
        </p:txBody>
      </p:sp>
      <p:sp>
        <p:nvSpPr>
          <p:cNvPr id="22" name="TextBox 21"/>
          <p:cNvSpPr txBox="1"/>
          <p:nvPr/>
        </p:nvSpPr>
        <p:spPr>
          <a:xfrm>
            <a:off x="303696" y="3749845"/>
            <a:ext cx="614271" cy="276999"/>
          </a:xfrm>
          <a:prstGeom prst="rect">
            <a:avLst/>
          </a:prstGeom>
          <a:noFill/>
        </p:spPr>
        <p:txBody>
          <a:bodyPr wrap="none" rtlCol="0">
            <a:spAutoFit/>
          </a:bodyPr>
          <a:lstStyle/>
          <a:p>
            <a:r>
              <a:rPr lang="en-US" sz="1200"/>
              <a:t>a) 0.81</a:t>
            </a:r>
            <a:endParaRPr lang="en-GB" sz="1200"/>
          </a:p>
        </p:txBody>
      </p:sp>
      <p:sp>
        <p:nvSpPr>
          <p:cNvPr id="23" name="TextBox 22"/>
          <p:cNvSpPr txBox="1"/>
          <p:nvPr/>
        </p:nvSpPr>
        <p:spPr>
          <a:xfrm>
            <a:off x="1355953" y="3741142"/>
            <a:ext cx="620683" cy="276999"/>
          </a:xfrm>
          <a:prstGeom prst="rect">
            <a:avLst/>
          </a:prstGeom>
          <a:noFill/>
        </p:spPr>
        <p:txBody>
          <a:bodyPr wrap="none" rtlCol="0">
            <a:spAutoFit/>
          </a:bodyPr>
          <a:lstStyle/>
          <a:p>
            <a:r>
              <a:rPr lang="en-US" sz="1200"/>
              <a:t>b) 0.85</a:t>
            </a:r>
            <a:endParaRPr lang="en-GB" sz="1200"/>
          </a:p>
        </p:txBody>
      </p:sp>
      <p:sp>
        <p:nvSpPr>
          <p:cNvPr id="24" name="TextBox 23"/>
          <p:cNvSpPr txBox="1"/>
          <p:nvPr/>
        </p:nvSpPr>
        <p:spPr>
          <a:xfrm>
            <a:off x="2432612" y="3741143"/>
            <a:ext cx="606256" cy="276999"/>
          </a:xfrm>
          <a:prstGeom prst="rect">
            <a:avLst/>
          </a:prstGeom>
          <a:noFill/>
        </p:spPr>
        <p:txBody>
          <a:bodyPr wrap="none" rtlCol="0">
            <a:spAutoFit/>
          </a:bodyPr>
          <a:lstStyle/>
          <a:p>
            <a:r>
              <a:rPr lang="en-US" sz="1200"/>
              <a:t>c) 1.85</a:t>
            </a:r>
            <a:endParaRPr lang="en-GB" sz="1200"/>
          </a:p>
        </p:txBody>
      </p:sp>
      <p:sp>
        <p:nvSpPr>
          <p:cNvPr id="25" name="TextBox 24"/>
          <p:cNvSpPr txBox="1"/>
          <p:nvPr/>
        </p:nvSpPr>
        <p:spPr>
          <a:xfrm>
            <a:off x="3439658" y="3764235"/>
            <a:ext cx="620683" cy="276999"/>
          </a:xfrm>
          <a:prstGeom prst="rect">
            <a:avLst/>
          </a:prstGeom>
          <a:noFill/>
        </p:spPr>
        <p:txBody>
          <a:bodyPr wrap="none" rtlCol="0">
            <a:spAutoFit/>
          </a:bodyPr>
          <a:lstStyle/>
          <a:p>
            <a:r>
              <a:rPr lang="en-US" sz="1200"/>
              <a:t>d) 1.89</a:t>
            </a:r>
            <a:endParaRPr lang="en-GB" sz="1200"/>
          </a:p>
        </p:txBody>
      </p:sp>
      <p:sp>
        <p:nvSpPr>
          <p:cNvPr id="26" name="TextBox 25"/>
          <p:cNvSpPr txBox="1"/>
          <p:nvPr/>
        </p:nvSpPr>
        <p:spPr>
          <a:xfrm>
            <a:off x="4543421" y="3760755"/>
            <a:ext cx="617477" cy="276999"/>
          </a:xfrm>
          <a:prstGeom prst="rect">
            <a:avLst/>
          </a:prstGeom>
          <a:noFill/>
        </p:spPr>
        <p:txBody>
          <a:bodyPr wrap="none" rtlCol="0">
            <a:spAutoFit/>
          </a:bodyPr>
          <a:lstStyle/>
          <a:p>
            <a:r>
              <a:rPr lang="en-US" sz="1200"/>
              <a:t>e) 2.05</a:t>
            </a:r>
            <a:endParaRPr lang="en-GB" sz="1200"/>
          </a:p>
        </p:txBody>
      </p:sp>
      <p:sp>
        <p:nvSpPr>
          <p:cNvPr id="27" name="Rectangle 26">
            <a:extLst>
              <a:ext uri="{FF2B5EF4-FFF2-40B4-BE49-F238E27FC236}">
                <a16:creationId xmlns:a16="http://schemas.microsoft.com/office/drawing/2014/main" id="{CEEF23AD-EA17-135A-DB95-1D1FECB286F3}"/>
              </a:ext>
            </a:extLst>
          </p:cNvPr>
          <p:cNvSpPr/>
          <p:nvPr/>
        </p:nvSpPr>
        <p:spPr>
          <a:xfrm>
            <a:off x="348706"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1392661"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2448545"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3522743"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Rectangle 30">
            <a:extLst>
              <a:ext uri="{FF2B5EF4-FFF2-40B4-BE49-F238E27FC236}">
                <a16:creationId xmlns:a16="http://schemas.microsoft.com/office/drawing/2014/main" id="{CEEF23AD-EA17-135A-DB95-1D1FECB286F3}"/>
              </a:ext>
            </a:extLst>
          </p:cNvPr>
          <p:cNvSpPr/>
          <p:nvPr/>
        </p:nvSpPr>
        <p:spPr>
          <a:xfrm>
            <a:off x="4574407"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TextBox 31"/>
          <p:cNvSpPr txBox="1"/>
          <p:nvPr/>
        </p:nvSpPr>
        <p:spPr>
          <a:xfrm>
            <a:off x="5638434" y="3786402"/>
            <a:ext cx="589264" cy="276999"/>
          </a:xfrm>
          <a:prstGeom prst="rect">
            <a:avLst/>
          </a:prstGeom>
          <a:noFill/>
        </p:spPr>
        <p:txBody>
          <a:bodyPr wrap="none" rtlCol="0">
            <a:spAutoFit/>
          </a:bodyPr>
          <a:lstStyle/>
          <a:p>
            <a:r>
              <a:rPr lang="en-US" sz="1200"/>
              <a:t>f) 2.65</a:t>
            </a:r>
            <a:endParaRPr lang="en-GB" sz="1200"/>
          </a:p>
        </p:txBody>
      </p:sp>
      <p:sp>
        <p:nvSpPr>
          <p:cNvPr id="33" name="Rectangle 32">
            <a:extLst>
              <a:ext uri="{FF2B5EF4-FFF2-40B4-BE49-F238E27FC236}">
                <a16:creationId xmlns:a16="http://schemas.microsoft.com/office/drawing/2014/main" id="{CEEF23AD-EA17-135A-DB95-1D1FECB286F3}"/>
              </a:ext>
            </a:extLst>
          </p:cNvPr>
          <p:cNvSpPr/>
          <p:nvPr/>
        </p:nvSpPr>
        <p:spPr>
          <a:xfrm>
            <a:off x="5623509" y="42643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TextBox 81"/>
          <p:cNvSpPr txBox="1"/>
          <p:nvPr/>
        </p:nvSpPr>
        <p:spPr>
          <a:xfrm>
            <a:off x="335454" y="4721413"/>
            <a:ext cx="612668" cy="276999"/>
          </a:xfrm>
          <a:prstGeom prst="rect">
            <a:avLst/>
          </a:prstGeom>
          <a:noFill/>
        </p:spPr>
        <p:txBody>
          <a:bodyPr wrap="none" rtlCol="0">
            <a:spAutoFit/>
          </a:bodyPr>
          <a:lstStyle/>
          <a:p>
            <a:r>
              <a:rPr lang="en-US" sz="1200"/>
              <a:t>g) 3.84</a:t>
            </a:r>
            <a:endParaRPr lang="en-GB" sz="1200"/>
          </a:p>
        </p:txBody>
      </p:sp>
      <p:sp>
        <p:nvSpPr>
          <p:cNvPr id="83" name="TextBox 82"/>
          <p:cNvSpPr txBox="1"/>
          <p:nvPr/>
        </p:nvSpPr>
        <p:spPr>
          <a:xfrm>
            <a:off x="1387711" y="4712710"/>
            <a:ext cx="620683" cy="276999"/>
          </a:xfrm>
          <a:prstGeom prst="rect">
            <a:avLst/>
          </a:prstGeom>
          <a:noFill/>
        </p:spPr>
        <p:txBody>
          <a:bodyPr wrap="none" rtlCol="0">
            <a:spAutoFit/>
          </a:bodyPr>
          <a:lstStyle/>
          <a:p>
            <a:r>
              <a:rPr lang="en-US" sz="1200"/>
              <a:t>h) 3.88</a:t>
            </a:r>
            <a:endParaRPr lang="en-GB" sz="1200"/>
          </a:p>
        </p:txBody>
      </p:sp>
      <p:sp>
        <p:nvSpPr>
          <p:cNvPr id="84" name="TextBox 83"/>
          <p:cNvSpPr txBox="1"/>
          <p:nvPr/>
        </p:nvSpPr>
        <p:spPr>
          <a:xfrm>
            <a:off x="2464370" y="4712711"/>
            <a:ext cx="575799" cy="276999"/>
          </a:xfrm>
          <a:prstGeom prst="rect">
            <a:avLst/>
          </a:prstGeom>
          <a:noFill/>
        </p:spPr>
        <p:txBody>
          <a:bodyPr wrap="none" rtlCol="0">
            <a:spAutoFit/>
          </a:bodyPr>
          <a:lstStyle/>
          <a:p>
            <a:r>
              <a:rPr lang="en-US" sz="1200"/>
              <a:t>i) 4.67</a:t>
            </a:r>
            <a:endParaRPr lang="en-GB" sz="1200"/>
          </a:p>
        </p:txBody>
      </p:sp>
      <p:sp>
        <p:nvSpPr>
          <p:cNvPr id="85" name="TextBox 84"/>
          <p:cNvSpPr txBox="1"/>
          <p:nvPr/>
        </p:nvSpPr>
        <p:spPr>
          <a:xfrm>
            <a:off x="3471416" y="4735803"/>
            <a:ext cx="577402" cy="276999"/>
          </a:xfrm>
          <a:prstGeom prst="rect">
            <a:avLst/>
          </a:prstGeom>
          <a:noFill/>
        </p:spPr>
        <p:txBody>
          <a:bodyPr wrap="none" rtlCol="0">
            <a:spAutoFit/>
          </a:bodyPr>
          <a:lstStyle/>
          <a:p>
            <a:r>
              <a:rPr lang="en-US" sz="1200"/>
              <a:t>j) 4.81</a:t>
            </a:r>
            <a:endParaRPr lang="en-GB" sz="1200"/>
          </a:p>
        </p:txBody>
      </p:sp>
      <p:sp>
        <p:nvSpPr>
          <p:cNvPr id="86" name="TextBox 85"/>
          <p:cNvSpPr txBox="1"/>
          <p:nvPr/>
        </p:nvSpPr>
        <p:spPr>
          <a:xfrm>
            <a:off x="4575179" y="4732323"/>
            <a:ext cx="611065" cy="276999"/>
          </a:xfrm>
          <a:prstGeom prst="rect">
            <a:avLst/>
          </a:prstGeom>
          <a:noFill/>
        </p:spPr>
        <p:txBody>
          <a:bodyPr wrap="none" rtlCol="0">
            <a:spAutoFit/>
          </a:bodyPr>
          <a:lstStyle/>
          <a:p>
            <a:r>
              <a:rPr lang="en-US" sz="1200"/>
              <a:t>k) 5.23</a:t>
            </a:r>
            <a:endParaRPr lang="en-GB" sz="1200"/>
          </a:p>
        </p:txBody>
      </p:sp>
      <p:sp>
        <p:nvSpPr>
          <p:cNvPr id="87" name="Rectangle 86">
            <a:extLst>
              <a:ext uri="{FF2B5EF4-FFF2-40B4-BE49-F238E27FC236}">
                <a16:creationId xmlns:a16="http://schemas.microsoft.com/office/drawing/2014/main" id="{CEEF23AD-EA17-135A-DB95-1D1FECB286F3}"/>
              </a:ext>
            </a:extLst>
          </p:cNvPr>
          <p:cNvSpPr/>
          <p:nvPr/>
        </p:nvSpPr>
        <p:spPr>
          <a:xfrm>
            <a:off x="348706"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CEEF23AD-EA17-135A-DB95-1D1FECB286F3}"/>
              </a:ext>
            </a:extLst>
          </p:cNvPr>
          <p:cNvSpPr/>
          <p:nvPr/>
        </p:nvSpPr>
        <p:spPr>
          <a:xfrm>
            <a:off x="1392661"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CEEF23AD-EA17-135A-DB95-1D1FECB286F3}"/>
              </a:ext>
            </a:extLst>
          </p:cNvPr>
          <p:cNvSpPr/>
          <p:nvPr/>
        </p:nvSpPr>
        <p:spPr>
          <a:xfrm>
            <a:off x="2448545"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Rectangle 89">
            <a:extLst>
              <a:ext uri="{FF2B5EF4-FFF2-40B4-BE49-F238E27FC236}">
                <a16:creationId xmlns:a16="http://schemas.microsoft.com/office/drawing/2014/main" id="{CEEF23AD-EA17-135A-DB95-1D1FECB286F3}"/>
              </a:ext>
            </a:extLst>
          </p:cNvPr>
          <p:cNvSpPr/>
          <p:nvPr/>
        </p:nvSpPr>
        <p:spPr>
          <a:xfrm>
            <a:off x="3522743"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Rectangle 90">
            <a:extLst>
              <a:ext uri="{FF2B5EF4-FFF2-40B4-BE49-F238E27FC236}">
                <a16:creationId xmlns:a16="http://schemas.microsoft.com/office/drawing/2014/main" id="{CEEF23AD-EA17-135A-DB95-1D1FECB286F3}"/>
              </a:ext>
            </a:extLst>
          </p:cNvPr>
          <p:cNvSpPr/>
          <p:nvPr/>
        </p:nvSpPr>
        <p:spPr>
          <a:xfrm>
            <a:off x="4574407"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TextBox 91"/>
          <p:cNvSpPr txBox="1"/>
          <p:nvPr/>
        </p:nvSpPr>
        <p:spPr>
          <a:xfrm>
            <a:off x="5670192" y="4757970"/>
            <a:ext cx="575799" cy="276999"/>
          </a:xfrm>
          <a:prstGeom prst="rect">
            <a:avLst/>
          </a:prstGeom>
          <a:noFill/>
        </p:spPr>
        <p:txBody>
          <a:bodyPr wrap="none" rtlCol="0">
            <a:spAutoFit/>
          </a:bodyPr>
          <a:lstStyle/>
          <a:p>
            <a:r>
              <a:rPr lang="en-US" sz="1200"/>
              <a:t>l) 5.28</a:t>
            </a:r>
            <a:endParaRPr lang="en-GB" sz="1200"/>
          </a:p>
        </p:txBody>
      </p:sp>
      <p:sp>
        <p:nvSpPr>
          <p:cNvPr id="93" name="Rectangle 92">
            <a:extLst>
              <a:ext uri="{FF2B5EF4-FFF2-40B4-BE49-F238E27FC236}">
                <a16:creationId xmlns:a16="http://schemas.microsoft.com/office/drawing/2014/main" id="{CEEF23AD-EA17-135A-DB95-1D1FECB286F3}"/>
              </a:ext>
            </a:extLst>
          </p:cNvPr>
          <p:cNvSpPr/>
          <p:nvPr/>
        </p:nvSpPr>
        <p:spPr>
          <a:xfrm>
            <a:off x="5623509" y="525084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4" name="TextBox 93"/>
          <p:cNvSpPr txBox="1"/>
          <p:nvPr/>
        </p:nvSpPr>
        <p:spPr>
          <a:xfrm>
            <a:off x="316948" y="5677488"/>
            <a:ext cx="663964" cy="276999"/>
          </a:xfrm>
          <a:prstGeom prst="rect">
            <a:avLst/>
          </a:prstGeom>
          <a:noFill/>
        </p:spPr>
        <p:txBody>
          <a:bodyPr wrap="none" rtlCol="0">
            <a:spAutoFit/>
          </a:bodyPr>
          <a:lstStyle/>
          <a:p>
            <a:r>
              <a:rPr lang="en-US" sz="1200"/>
              <a:t>m) 6.74</a:t>
            </a:r>
            <a:endParaRPr lang="en-GB" sz="1200"/>
          </a:p>
        </p:txBody>
      </p:sp>
      <p:sp>
        <p:nvSpPr>
          <p:cNvPr id="95" name="TextBox 94"/>
          <p:cNvSpPr txBox="1"/>
          <p:nvPr/>
        </p:nvSpPr>
        <p:spPr>
          <a:xfrm>
            <a:off x="1369205" y="5668785"/>
            <a:ext cx="620683" cy="276999"/>
          </a:xfrm>
          <a:prstGeom prst="rect">
            <a:avLst/>
          </a:prstGeom>
          <a:noFill/>
        </p:spPr>
        <p:txBody>
          <a:bodyPr wrap="none" rtlCol="0">
            <a:spAutoFit/>
          </a:bodyPr>
          <a:lstStyle/>
          <a:p>
            <a:r>
              <a:rPr lang="en-US" sz="1200"/>
              <a:t>n) 6.89</a:t>
            </a:r>
            <a:endParaRPr lang="en-GB" sz="1200"/>
          </a:p>
        </p:txBody>
      </p:sp>
      <p:sp>
        <p:nvSpPr>
          <p:cNvPr id="96" name="TextBox 95"/>
          <p:cNvSpPr txBox="1"/>
          <p:nvPr/>
        </p:nvSpPr>
        <p:spPr>
          <a:xfrm>
            <a:off x="2445864" y="5668786"/>
            <a:ext cx="622286" cy="276999"/>
          </a:xfrm>
          <a:prstGeom prst="rect">
            <a:avLst/>
          </a:prstGeom>
          <a:noFill/>
        </p:spPr>
        <p:txBody>
          <a:bodyPr wrap="none" rtlCol="0">
            <a:spAutoFit/>
          </a:bodyPr>
          <a:lstStyle/>
          <a:p>
            <a:r>
              <a:rPr lang="en-US" sz="1200"/>
              <a:t>o) 7.49</a:t>
            </a:r>
            <a:endParaRPr lang="en-GB" sz="1200"/>
          </a:p>
        </p:txBody>
      </p:sp>
      <p:sp>
        <p:nvSpPr>
          <p:cNvPr id="97" name="TextBox 96"/>
          <p:cNvSpPr txBox="1"/>
          <p:nvPr/>
        </p:nvSpPr>
        <p:spPr>
          <a:xfrm>
            <a:off x="3452910" y="5691878"/>
            <a:ext cx="620683" cy="276999"/>
          </a:xfrm>
          <a:prstGeom prst="rect">
            <a:avLst/>
          </a:prstGeom>
          <a:noFill/>
        </p:spPr>
        <p:txBody>
          <a:bodyPr wrap="none" rtlCol="0">
            <a:spAutoFit/>
          </a:bodyPr>
          <a:lstStyle/>
          <a:p>
            <a:r>
              <a:rPr lang="en-US" sz="1200"/>
              <a:t>p) 7.52</a:t>
            </a:r>
            <a:endParaRPr lang="en-GB" sz="1200"/>
          </a:p>
        </p:txBody>
      </p:sp>
      <p:sp>
        <p:nvSpPr>
          <p:cNvPr id="98" name="TextBox 97"/>
          <p:cNvSpPr txBox="1"/>
          <p:nvPr/>
        </p:nvSpPr>
        <p:spPr>
          <a:xfrm>
            <a:off x="4556673" y="5688398"/>
            <a:ext cx="620683" cy="276999"/>
          </a:xfrm>
          <a:prstGeom prst="rect">
            <a:avLst/>
          </a:prstGeom>
          <a:noFill/>
        </p:spPr>
        <p:txBody>
          <a:bodyPr wrap="none" rtlCol="0">
            <a:spAutoFit/>
          </a:bodyPr>
          <a:lstStyle/>
          <a:p>
            <a:r>
              <a:rPr lang="en-US" sz="1200"/>
              <a:t>q) 7.68</a:t>
            </a:r>
            <a:endParaRPr lang="en-GB" sz="1200"/>
          </a:p>
        </p:txBody>
      </p:sp>
      <p:sp>
        <p:nvSpPr>
          <p:cNvPr id="99" name="Rectangle 98">
            <a:extLst>
              <a:ext uri="{FF2B5EF4-FFF2-40B4-BE49-F238E27FC236}">
                <a16:creationId xmlns:a16="http://schemas.microsoft.com/office/drawing/2014/main" id="{CEEF23AD-EA17-135A-DB95-1D1FECB286F3}"/>
              </a:ext>
            </a:extLst>
          </p:cNvPr>
          <p:cNvSpPr/>
          <p:nvPr/>
        </p:nvSpPr>
        <p:spPr>
          <a:xfrm>
            <a:off x="348706"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Rectangle 99">
            <a:extLst>
              <a:ext uri="{FF2B5EF4-FFF2-40B4-BE49-F238E27FC236}">
                <a16:creationId xmlns:a16="http://schemas.microsoft.com/office/drawing/2014/main" id="{CEEF23AD-EA17-135A-DB95-1D1FECB286F3}"/>
              </a:ext>
            </a:extLst>
          </p:cNvPr>
          <p:cNvSpPr/>
          <p:nvPr/>
        </p:nvSpPr>
        <p:spPr>
          <a:xfrm>
            <a:off x="1392661"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1" name="Rectangle 100">
            <a:extLst>
              <a:ext uri="{FF2B5EF4-FFF2-40B4-BE49-F238E27FC236}">
                <a16:creationId xmlns:a16="http://schemas.microsoft.com/office/drawing/2014/main" id="{CEEF23AD-EA17-135A-DB95-1D1FECB286F3}"/>
              </a:ext>
            </a:extLst>
          </p:cNvPr>
          <p:cNvSpPr/>
          <p:nvPr/>
        </p:nvSpPr>
        <p:spPr>
          <a:xfrm>
            <a:off x="2448545"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2" name="Rectangle 101">
            <a:extLst>
              <a:ext uri="{FF2B5EF4-FFF2-40B4-BE49-F238E27FC236}">
                <a16:creationId xmlns:a16="http://schemas.microsoft.com/office/drawing/2014/main" id="{CEEF23AD-EA17-135A-DB95-1D1FECB286F3}"/>
              </a:ext>
            </a:extLst>
          </p:cNvPr>
          <p:cNvSpPr/>
          <p:nvPr/>
        </p:nvSpPr>
        <p:spPr>
          <a:xfrm>
            <a:off x="3522743"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3" name="Rectangle 102">
            <a:extLst>
              <a:ext uri="{FF2B5EF4-FFF2-40B4-BE49-F238E27FC236}">
                <a16:creationId xmlns:a16="http://schemas.microsoft.com/office/drawing/2014/main" id="{CEEF23AD-EA17-135A-DB95-1D1FECB286F3}"/>
              </a:ext>
            </a:extLst>
          </p:cNvPr>
          <p:cNvSpPr/>
          <p:nvPr/>
        </p:nvSpPr>
        <p:spPr>
          <a:xfrm>
            <a:off x="4574407"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4" name="TextBox 103"/>
          <p:cNvSpPr txBox="1"/>
          <p:nvPr/>
        </p:nvSpPr>
        <p:spPr>
          <a:xfrm>
            <a:off x="5651686" y="5714045"/>
            <a:ext cx="593432" cy="276999"/>
          </a:xfrm>
          <a:prstGeom prst="rect">
            <a:avLst/>
          </a:prstGeom>
          <a:noFill/>
        </p:spPr>
        <p:txBody>
          <a:bodyPr wrap="none" rtlCol="0">
            <a:spAutoFit/>
          </a:bodyPr>
          <a:lstStyle/>
          <a:p>
            <a:r>
              <a:rPr lang="en-US" sz="1200"/>
              <a:t>r) 7.91</a:t>
            </a:r>
            <a:endParaRPr lang="en-GB" sz="1200"/>
          </a:p>
        </p:txBody>
      </p:sp>
      <p:sp>
        <p:nvSpPr>
          <p:cNvPr id="105" name="Rectangle 104">
            <a:extLst>
              <a:ext uri="{FF2B5EF4-FFF2-40B4-BE49-F238E27FC236}">
                <a16:creationId xmlns:a16="http://schemas.microsoft.com/office/drawing/2014/main" id="{CEEF23AD-EA17-135A-DB95-1D1FECB286F3}"/>
              </a:ext>
            </a:extLst>
          </p:cNvPr>
          <p:cNvSpPr/>
          <p:nvPr/>
        </p:nvSpPr>
        <p:spPr>
          <a:xfrm>
            <a:off x="5623509" y="621293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TextBox 131"/>
          <p:cNvSpPr txBox="1"/>
          <p:nvPr/>
        </p:nvSpPr>
        <p:spPr>
          <a:xfrm>
            <a:off x="1912100" y="2080748"/>
            <a:ext cx="1419715" cy="1015663"/>
          </a:xfrm>
          <a:prstGeom prst="rect">
            <a:avLst/>
          </a:prstGeom>
          <a:noFill/>
        </p:spPr>
        <p:txBody>
          <a:bodyPr wrap="square" rtlCol="0">
            <a:spAutoFit/>
          </a:bodyPr>
          <a:lstStyle/>
          <a:p>
            <a:pPr algn="ctr"/>
            <a:r>
              <a:rPr lang="en-US" sz="1200"/>
              <a:t>Round 2.21 to one decimal place</a:t>
            </a:r>
          </a:p>
          <a:p>
            <a:pPr algn="ctr"/>
            <a:endParaRPr lang="en-US" sz="1200"/>
          </a:p>
          <a:p>
            <a:pPr algn="ctr"/>
            <a:r>
              <a:rPr lang="en-US" sz="1200"/>
              <a:t>2 . 2 | </a:t>
            </a:r>
            <a:r>
              <a:rPr lang="en-US" sz="1200" u="sng"/>
              <a:t>1</a:t>
            </a:r>
            <a:r>
              <a:rPr lang="en-US" sz="1200"/>
              <a:t>   </a:t>
            </a:r>
          </a:p>
          <a:p>
            <a:pPr algn="ctr"/>
            <a:endParaRPr lang="en-US" sz="1200" u="sng"/>
          </a:p>
        </p:txBody>
      </p:sp>
      <p:sp>
        <p:nvSpPr>
          <p:cNvPr id="133" name="TextBox 132"/>
          <p:cNvSpPr txBox="1"/>
          <p:nvPr/>
        </p:nvSpPr>
        <p:spPr>
          <a:xfrm>
            <a:off x="3444471" y="2090724"/>
            <a:ext cx="1627060" cy="461665"/>
          </a:xfrm>
          <a:prstGeom prst="rect">
            <a:avLst/>
          </a:prstGeom>
          <a:noFill/>
        </p:spPr>
        <p:txBody>
          <a:bodyPr wrap="square" rtlCol="0">
            <a:spAutoFit/>
          </a:bodyPr>
          <a:lstStyle/>
          <a:p>
            <a:pPr algn="ctr"/>
            <a:r>
              <a:rPr lang="en-US" sz="1200"/>
              <a:t>Round 5.05 to one decimal place</a:t>
            </a:r>
          </a:p>
        </p:txBody>
      </p:sp>
      <p:sp>
        <p:nvSpPr>
          <p:cNvPr id="134" name="TextBox 133"/>
          <p:cNvSpPr txBox="1"/>
          <p:nvPr/>
        </p:nvSpPr>
        <p:spPr>
          <a:xfrm>
            <a:off x="5214009" y="2080748"/>
            <a:ext cx="1321082" cy="461665"/>
          </a:xfrm>
          <a:prstGeom prst="rect">
            <a:avLst/>
          </a:prstGeom>
          <a:noFill/>
        </p:spPr>
        <p:txBody>
          <a:bodyPr wrap="square" rtlCol="0">
            <a:spAutoFit/>
          </a:bodyPr>
          <a:lstStyle/>
          <a:p>
            <a:pPr algn="ctr"/>
            <a:r>
              <a:rPr lang="en-US" sz="1200"/>
              <a:t>Round 4.78 to one decimal place</a:t>
            </a:r>
          </a:p>
        </p:txBody>
      </p:sp>
      <p:sp>
        <p:nvSpPr>
          <p:cNvPr id="135" name="Rectangle 134">
            <a:extLst>
              <a:ext uri="{FF2B5EF4-FFF2-40B4-BE49-F238E27FC236}">
                <a16:creationId xmlns:a16="http://schemas.microsoft.com/office/drawing/2014/main" id="{CEEF23AD-EA17-135A-DB95-1D1FECB286F3}"/>
              </a:ext>
            </a:extLst>
          </p:cNvPr>
          <p:cNvSpPr/>
          <p:nvPr/>
        </p:nvSpPr>
        <p:spPr>
          <a:xfrm>
            <a:off x="1897333" y="290999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36" name="Rectangle 135">
            <a:extLst>
              <a:ext uri="{FF2B5EF4-FFF2-40B4-BE49-F238E27FC236}">
                <a16:creationId xmlns:a16="http://schemas.microsoft.com/office/drawing/2014/main" id="{CEEF23AD-EA17-135A-DB95-1D1FECB286F3}"/>
              </a:ext>
            </a:extLst>
          </p:cNvPr>
          <p:cNvSpPr/>
          <p:nvPr/>
        </p:nvSpPr>
        <p:spPr>
          <a:xfrm>
            <a:off x="3521808" y="29053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sp>
        <p:nvSpPr>
          <p:cNvPr id="137" name="Rectangle 136">
            <a:extLst>
              <a:ext uri="{FF2B5EF4-FFF2-40B4-BE49-F238E27FC236}">
                <a16:creationId xmlns:a16="http://schemas.microsoft.com/office/drawing/2014/main" id="{CEEF23AD-EA17-135A-DB95-1D1FECB286F3}"/>
              </a:ext>
            </a:extLst>
          </p:cNvPr>
          <p:cNvSpPr/>
          <p:nvPr/>
        </p:nvSpPr>
        <p:spPr>
          <a:xfrm>
            <a:off x="5164724" y="29053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FF0000"/>
              </a:solidFill>
            </a:endParaRPr>
          </a:p>
        </p:txBody>
      </p:sp>
      <p:cxnSp>
        <p:nvCxnSpPr>
          <p:cNvPr id="138" name="Straight Connector 137">
            <a:extLst>
              <a:ext uri="{FF2B5EF4-FFF2-40B4-BE49-F238E27FC236}">
                <a16:creationId xmlns:a16="http://schemas.microsoft.com/office/drawing/2014/main" id="{B4A988A4-03CD-D549-9F12-81AFECBDEF37}"/>
              </a:ext>
            </a:extLst>
          </p:cNvPr>
          <p:cNvCxnSpPr>
            <a:cxnSpLocks/>
          </p:cNvCxnSpPr>
          <p:nvPr/>
        </p:nvCxnSpPr>
        <p:spPr>
          <a:xfrm>
            <a:off x="989209" y="8404865"/>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39" name="Table 138"/>
          <p:cNvGraphicFramePr>
            <a:graphicFrameLocks noGrp="1"/>
          </p:cNvGraphicFramePr>
          <p:nvPr/>
        </p:nvGraphicFramePr>
        <p:xfrm>
          <a:off x="190950" y="6960492"/>
          <a:ext cx="6543680" cy="280416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540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one decimal place.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45293">
                <a:tc>
                  <a:txBody>
                    <a:bodyPr/>
                    <a:lstStyle/>
                    <a:p>
                      <a:pPr marL="0" indent="0">
                        <a:buNone/>
                      </a:pPr>
                      <a:r>
                        <a:rPr lang="en-US" sz="1100"/>
                        <a:t>1)</a:t>
                      </a:r>
                      <a:r>
                        <a:rPr lang="en-US" sz="1100" baseline="0"/>
                        <a:t> </a:t>
                      </a:r>
                      <a:r>
                        <a:rPr lang="en-US" sz="1100"/>
                        <a:t>Draw a line between the value in the tenths column and the hundredths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25329">
                <a:tc>
                  <a:txBody>
                    <a:bodyPr/>
                    <a:lstStyle/>
                    <a:p>
                      <a:pPr marL="0" indent="0">
                        <a:buNone/>
                      </a:pPr>
                      <a:r>
                        <a:rPr lang="en-US" sz="1100"/>
                        <a:t>2) Underline the number in the hundredths 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25329">
                <a:tc>
                  <a:txBody>
                    <a:bodyPr/>
                    <a:lstStyle/>
                    <a:p>
                      <a:pPr marL="0" indent="0">
                        <a:buNone/>
                      </a:pPr>
                      <a:r>
                        <a:rPr lang="en-US" sz="1100"/>
                        <a:t>3) If it is </a:t>
                      </a:r>
                      <a:r>
                        <a:rPr lang="en-US" sz="1100" b="1"/>
                        <a:t>below 5</a:t>
                      </a:r>
                      <a:r>
                        <a:rPr lang="en-US" sz="1100"/>
                        <a:t>, then the tenths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4253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tenths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140" name="TextBox 139">
            <a:extLst>
              <a:ext uri="{FF2B5EF4-FFF2-40B4-BE49-F238E27FC236}">
                <a16:creationId xmlns:a16="http://schemas.microsoft.com/office/drawing/2014/main" id="{BCDC1A2B-2D26-C945-B722-18950FA49879}"/>
              </a:ext>
            </a:extLst>
          </p:cNvPr>
          <p:cNvSpPr txBox="1"/>
          <p:nvPr/>
        </p:nvSpPr>
        <p:spPr>
          <a:xfrm>
            <a:off x="1972569" y="6703208"/>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141" name="TextBox 140">
            <a:extLst>
              <a:ext uri="{FF2B5EF4-FFF2-40B4-BE49-F238E27FC236}">
                <a16:creationId xmlns:a16="http://schemas.microsoft.com/office/drawing/2014/main" id="{4AF4150A-9218-D640-8777-2ECCBC4D10FB}"/>
              </a:ext>
            </a:extLst>
          </p:cNvPr>
          <p:cNvSpPr txBox="1"/>
          <p:nvPr/>
        </p:nvSpPr>
        <p:spPr>
          <a:xfrm>
            <a:off x="5106466" y="6681100"/>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142" name="TextBox 141">
            <a:extLst>
              <a:ext uri="{FF2B5EF4-FFF2-40B4-BE49-F238E27FC236}">
                <a16:creationId xmlns:a16="http://schemas.microsoft.com/office/drawing/2014/main" id="{BCDC1A2B-2D26-C945-B722-18950FA49879}"/>
              </a:ext>
            </a:extLst>
          </p:cNvPr>
          <p:cNvSpPr txBox="1"/>
          <p:nvPr/>
        </p:nvSpPr>
        <p:spPr>
          <a:xfrm>
            <a:off x="3497287" y="6693201"/>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143" name="TextBox 142"/>
          <p:cNvSpPr txBox="1"/>
          <p:nvPr/>
        </p:nvSpPr>
        <p:spPr>
          <a:xfrm>
            <a:off x="1947035" y="7247499"/>
            <a:ext cx="1419715" cy="1015663"/>
          </a:xfrm>
          <a:prstGeom prst="rect">
            <a:avLst/>
          </a:prstGeom>
          <a:noFill/>
        </p:spPr>
        <p:txBody>
          <a:bodyPr wrap="square" rtlCol="0">
            <a:spAutoFit/>
          </a:bodyPr>
          <a:lstStyle/>
          <a:p>
            <a:pPr algn="ctr"/>
            <a:r>
              <a:rPr lang="en-US" sz="1200"/>
              <a:t>Round 1.95 to one decimal place</a:t>
            </a:r>
          </a:p>
          <a:p>
            <a:pPr algn="ctr"/>
            <a:endParaRPr lang="en-US" sz="1200"/>
          </a:p>
          <a:p>
            <a:pPr algn="ctr"/>
            <a:r>
              <a:rPr lang="en-US" sz="1200"/>
              <a:t>1 . 9 | </a:t>
            </a:r>
            <a:r>
              <a:rPr lang="en-US" sz="1200" u="sng"/>
              <a:t>5</a:t>
            </a:r>
            <a:r>
              <a:rPr lang="en-US" sz="1200"/>
              <a:t>   </a:t>
            </a:r>
          </a:p>
          <a:p>
            <a:pPr algn="ctr"/>
            <a:endParaRPr lang="en-US" sz="1200" u="sng"/>
          </a:p>
        </p:txBody>
      </p:sp>
      <p:sp>
        <p:nvSpPr>
          <p:cNvPr id="144" name="TextBox 143"/>
          <p:cNvSpPr txBox="1"/>
          <p:nvPr/>
        </p:nvSpPr>
        <p:spPr>
          <a:xfrm>
            <a:off x="3479406" y="7257475"/>
            <a:ext cx="1627060" cy="461665"/>
          </a:xfrm>
          <a:prstGeom prst="rect">
            <a:avLst/>
          </a:prstGeom>
          <a:noFill/>
        </p:spPr>
        <p:txBody>
          <a:bodyPr wrap="square" rtlCol="0">
            <a:spAutoFit/>
          </a:bodyPr>
          <a:lstStyle/>
          <a:p>
            <a:pPr algn="ctr"/>
            <a:r>
              <a:rPr lang="en-US" sz="1200"/>
              <a:t>Round 3.96 to one decimal place</a:t>
            </a:r>
          </a:p>
        </p:txBody>
      </p:sp>
      <p:sp>
        <p:nvSpPr>
          <p:cNvPr id="145" name="TextBox 144"/>
          <p:cNvSpPr txBox="1"/>
          <p:nvPr/>
        </p:nvSpPr>
        <p:spPr>
          <a:xfrm>
            <a:off x="5248944" y="7247499"/>
            <a:ext cx="1321082" cy="461665"/>
          </a:xfrm>
          <a:prstGeom prst="rect">
            <a:avLst/>
          </a:prstGeom>
          <a:noFill/>
        </p:spPr>
        <p:txBody>
          <a:bodyPr wrap="square" rtlCol="0">
            <a:spAutoFit/>
          </a:bodyPr>
          <a:lstStyle/>
          <a:p>
            <a:pPr algn="ctr"/>
            <a:r>
              <a:rPr lang="en-US" sz="1200"/>
              <a:t>Round 4.98 to one decimal place</a:t>
            </a:r>
          </a:p>
        </p:txBody>
      </p:sp>
      <p:sp>
        <p:nvSpPr>
          <p:cNvPr id="146" name="Rectangle 145">
            <a:extLst>
              <a:ext uri="{FF2B5EF4-FFF2-40B4-BE49-F238E27FC236}">
                <a16:creationId xmlns:a16="http://schemas.microsoft.com/office/drawing/2014/main" id="{CEEF23AD-EA17-135A-DB95-1D1FECB286F3}"/>
              </a:ext>
            </a:extLst>
          </p:cNvPr>
          <p:cNvSpPr/>
          <p:nvPr/>
        </p:nvSpPr>
        <p:spPr>
          <a:xfrm>
            <a:off x="1932268" y="807674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CEEF23AD-EA17-135A-DB95-1D1FECB286F3}"/>
              </a:ext>
            </a:extLst>
          </p:cNvPr>
          <p:cNvSpPr/>
          <p:nvPr/>
        </p:nvSpPr>
        <p:spPr>
          <a:xfrm>
            <a:off x="3556743" y="807207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8" name="Rectangle 147">
            <a:extLst>
              <a:ext uri="{FF2B5EF4-FFF2-40B4-BE49-F238E27FC236}">
                <a16:creationId xmlns:a16="http://schemas.microsoft.com/office/drawing/2014/main" id="{CEEF23AD-EA17-135A-DB95-1D1FECB286F3}"/>
              </a:ext>
            </a:extLst>
          </p:cNvPr>
          <p:cNvSpPr/>
          <p:nvPr/>
        </p:nvSpPr>
        <p:spPr>
          <a:xfrm>
            <a:off x="5199659" y="807207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9" name="TextBox 148"/>
          <p:cNvSpPr txBox="1"/>
          <p:nvPr/>
        </p:nvSpPr>
        <p:spPr>
          <a:xfrm>
            <a:off x="1947035" y="8498930"/>
            <a:ext cx="1419715" cy="1015663"/>
          </a:xfrm>
          <a:prstGeom prst="rect">
            <a:avLst/>
          </a:prstGeom>
          <a:noFill/>
        </p:spPr>
        <p:txBody>
          <a:bodyPr wrap="square" rtlCol="0">
            <a:spAutoFit/>
          </a:bodyPr>
          <a:lstStyle/>
          <a:p>
            <a:pPr algn="ctr"/>
            <a:r>
              <a:rPr lang="en-US" sz="1200"/>
              <a:t>Round 2.99 to one decimal place</a:t>
            </a:r>
          </a:p>
          <a:p>
            <a:pPr algn="ctr"/>
            <a:endParaRPr lang="en-US" sz="1200"/>
          </a:p>
          <a:p>
            <a:pPr algn="ctr"/>
            <a:r>
              <a:rPr lang="en-US" sz="1200"/>
              <a:t>2 . 9 | </a:t>
            </a:r>
            <a:r>
              <a:rPr lang="en-US" sz="1200" u="sng"/>
              <a:t>9</a:t>
            </a:r>
            <a:r>
              <a:rPr lang="en-US" sz="1200"/>
              <a:t>   </a:t>
            </a:r>
          </a:p>
          <a:p>
            <a:pPr algn="ctr"/>
            <a:endParaRPr lang="en-US" sz="1200" u="sng"/>
          </a:p>
        </p:txBody>
      </p:sp>
      <p:sp>
        <p:nvSpPr>
          <p:cNvPr id="150" name="TextBox 149"/>
          <p:cNvSpPr txBox="1"/>
          <p:nvPr/>
        </p:nvSpPr>
        <p:spPr>
          <a:xfrm>
            <a:off x="3479406" y="8508906"/>
            <a:ext cx="1627060" cy="461665"/>
          </a:xfrm>
          <a:prstGeom prst="rect">
            <a:avLst/>
          </a:prstGeom>
          <a:noFill/>
        </p:spPr>
        <p:txBody>
          <a:bodyPr wrap="square" rtlCol="0">
            <a:spAutoFit/>
          </a:bodyPr>
          <a:lstStyle/>
          <a:p>
            <a:pPr algn="ctr"/>
            <a:r>
              <a:rPr lang="en-US" sz="1200"/>
              <a:t>Round 5.95 to one decimal place</a:t>
            </a:r>
          </a:p>
        </p:txBody>
      </p:sp>
      <p:sp>
        <p:nvSpPr>
          <p:cNvPr id="151" name="TextBox 150"/>
          <p:cNvSpPr txBox="1"/>
          <p:nvPr/>
        </p:nvSpPr>
        <p:spPr>
          <a:xfrm>
            <a:off x="5248944" y="8498930"/>
            <a:ext cx="1321082" cy="461665"/>
          </a:xfrm>
          <a:prstGeom prst="rect">
            <a:avLst/>
          </a:prstGeom>
          <a:noFill/>
        </p:spPr>
        <p:txBody>
          <a:bodyPr wrap="square" rtlCol="0">
            <a:spAutoFit/>
          </a:bodyPr>
          <a:lstStyle/>
          <a:p>
            <a:pPr algn="ctr"/>
            <a:r>
              <a:rPr lang="en-US" sz="1200"/>
              <a:t>Round 7.97 to one decimal place</a:t>
            </a:r>
          </a:p>
        </p:txBody>
      </p:sp>
      <p:sp>
        <p:nvSpPr>
          <p:cNvPr id="152" name="Rectangle 151">
            <a:extLst>
              <a:ext uri="{FF2B5EF4-FFF2-40B4-BE49-F238E27FC236}">
                <a16:creationId xmlns:a16="http://schemas.microsoft.com/office/drawing/2014/main" id="{CEEF23AD-EA17-135A-DB95-1D1FECB286F3}"/>
              </a:ext>
            </a:extLst>
          </p:cNvPr>
          <p:cNvSpPr/>
          <p:nvPr/>
        </p:nvSpPr>
        <p:spPr>
          <a:xfrm>
            <a:off x="1932268" y="932817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3" name="Rectangle 152">
            <a:extLst>
              <a:ext uri="{FF2B5EF4-FFF2-40B4-BE49-F238E27FC236}">
                <a16:creationId xmlns:a16="http://schemas.microsoft.com/office/drawing/2014/main" id="{CEEF23AD-EA17-135A-DB95-1D1FECB286F3}"/>
              </a:ext>
            </a:extLst>
          </p:cNvPr>
          <p:cNvSpPr/>
          <p:nvPr/>
        </p:nvSpPr>
        <p:spPr>
          <a:xfrm>
            <a:off x="3556743" y="93235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4" name="Rectangle 153">
            <a:extLst>
              <a:ext uri="{FF2B5EF4-FFF2-40B4-BE49-F238E27FC236}">
                <a16:creationId xmlns:a16="http://schemas.microsoft.com/office/drawing/2014/main" id="{CEEF23AD-EA17-135A-DB95-1D1FECB286F3}"/>
              </a:ext>
            </a:extLst>
          </p:cNvPr>
          <p:cNvSpPr/>
          <p:nvPr/>
        </p:nvSpPr>
        <p:spPr>
          <a:xfrm>
            <a:off x="5199659" y="93235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5"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17</a:t>
            </a:fld>
            <a:endParaRPr lang="en-GB"/>
          </a:p>
        </p:txBody>
      </p:sp>
      <p:sp>
        <p:nvSpPr>
          <p:cNvPr id="10" name="Rectangle 9">
            <a:extLst>
              <a:ext uri="{FF2B5EF4-FFF2-40B4-BE49-F238E27FC236}">
                <a16:creationId xmlns:a16="http://schemas.microsoft.com/office/drawing/2014/main" id="{0501D5D4-BC8A-2E8C-B3B2-37FCF408A3FE}"/>
              </a:ext>
            </a:extLst>
          </p:cNvPr>
          <p:cNvSpPr/>
          <p:nvPr/>
        </p:nvSpPr>
        <p:spPr>
          <a:xfrm>
            <a:off x="156015" y="339706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11" name="Rectangle 10">
            <a:extLst>
              <a:ext uri="{FF2B5EF4-FFF2-40B4-BE49-F238E27FC236}">
                <a16:creationId xmlns:a16="http://schemas.microsoft.com/office/drawing/2014/main" id="{02E8A77D-2499-681F-7483-A76D9B6CCEEE}"/>
              </a:ext>
            </a:extLst>
          </p:cNvPr>
          <p:cNvSpPr/>
          <p:nvPr/>
        </p:nvSpPr>
        <p:spPr>
          <a:xfrm>
            <a:off x="135657" y="26292"/>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without using a number line</a:t>
            </a:r>
            <a:endParaRPr lang="en-GB" sz="1200">
              <a:solidFill>
                <a:schemeClr val="bg1"/>
              </a:solidFill>
            </a:endParaRPr>
          </a:p>
        </p:txBody>
      </p:sp>
    </p:spTree>
    <p:extLst>
      <p:ext uri="{BB962C8B-B14F-4D97-AF65-F5344CB8AC3E}">
        <p14:creationId xmlns:p14="http://schemas.microsoft.com/office/powerpoint/2010/main" val="767224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46502" y="66588"/>
            <a:ext cx="3015762" cy="276999"/>
          </a:xfrm>
          <a:prstGeom prst="rect">
            <a:avLst/>
          </a:prstGeom>
          <a:noFill/>
        </p:spPr>
        <p:txBody>
          <a:bodyPr wrap="none" rtlCol="0">
            <a:spAutoFit/>
          </a:bodyPr>
          <a:lstStyle/>
          <a:p>
            <a:r>
              <a:rPr lang="en-US" sz="1200"/>
              <a:t>3. Round each number to one decimal place. </a:t>
            </a:r>
            <a:endParaRPr lang="en-GB" sz="1200"/>
          </a:p>
        </p:txBody>
      </p:sp>
      <p:sp>
        <p:nvSpPr>
          <p:cNvPr id="61" name="TextBox 60"/>
          <p:cNvSpPr txBox="1"/>
          <p:nvPr/>
        </p:nvSpPr>
        <p:spPr>
          <a:xfrm>
            <a:off x="393011" y="435939"/>
            <a:ext cx="614271" cy="276999"/>
          </a:xfrm>
          <a:prstGeom prst="rect">
            <a:avLst/>
          </a:prstGeom>
          <a:noFill/>
        </p:spPr>
        <p:txBody>
          <a:bodyPr wrap="none" rtlCol="0">
            <a:spAutoFit/>
          </a:bodyPr>
          <a:lstStyle/>
          <a:p>
            <a:r>
              <a:rPr lang="en-US" sz="1200"/>
              <a:t>a) 0.95</a:t>
            </a:r>
            <a:endParaRPr lang="en-GB" sz="1200"/>
          </a:p>
        </p:txBody>
      </p:sp>
      <p:sp>
        <p:nvSpPr>
          <p:cNvPr id="62" name="TextBox 61"/>
          <p:cNvSpPr txBox="1"/>
          <p:nvPr/>
        </p:nvSpPr>
        <p:spPr>
          <a:xfrm>
            <a:off x="1445268" y="427236"/>
            <a:ext cx="620683" cy="276999"/>
          </a:xfrm>
          <a:prstGeom prst="rect">
            <a:avLst/>
          </a:prstGeom>
          <a:noFill/>
        </p:spPr>
        <p:txBody>
          <a:bodyPr wrap="none" rtlCol="0">
            <a:spAutoFit/>
          </a:bodyPr>
          <a:lstStyle/>
          <a:p>
            <a:r>
              <a:rPr lang="en-US" sz="1200"/>
              <a:t>b) 1.95</a:t>
            </a:r>
            <a:endParaRPr lang="en-GB" sz="1200"/>
          </a:p>
        </p:txBody>
      </p:sp>
      <p:sp>
        <p:nvSpPr>
          <p:cNvPr id="63" name="TextBox 62"/>
          <p:cNvSpPr txBox="1"/>
          <p:nvPr/>
        </p:nvSpPr>
        <p:spPr>
          <a:xfrm>
            <a:off x="2521927" y="427237"/>
            <a:ext cx="606256" cy="276999"/>
          </a:xfrm>
          <a:prstGeom prst="rect">
            <a:avLst/>
          </a:prstGeom>
          <a:noFill/>
        </p:spPr>
        <p:txBody>
          <a:bodyPr wrap="none" rtlCol="0">
            <a:spAutoFit/>
          </a:bodyPr>
          <a:lstStyle/>
          <a:p>
            <a:r>
              <a:rPr lang="en-US" sz="1200"/>
              <a:t>c) 2.95</a:t>
            </a:r>
            <a:endParaRPr lang="en-GB" sz="1200"/>
          </a:p>
        </p:txBody>
      </p:sp>
      <p:sp>
        <p:nvSpPr>
          <p:cNvPr id="64" name="TextBox 63"/>
          <p:cNvSpPr txBox="1"/>
          <p:nvPr/>
        </p:nvSpPr>
        <p:spPr>
          <a:xfrm>
            <a:off x="3528973" y="450329"/>
            <a:ext cx="620683" cy="276999"/>
          </a:xfrm>
          <a:prstGeom prst="rect">
            <a:avLst/>
          </a:prstGeom>
          <a:noFill/>
        </p:spPr>
        <p:txBody>
          <a:bodyPr wrap="none" rtlCol="0">
            <a:spAutoFit/>
          </a:bodyPr>
          <a:lstStyle/>
          <a:p>
            <a:r>
              <a:rPr lang="en-US" sz="1200"/>
              <a:t>d) 3.92</a:t>
            </a:r>
            <a:endParaRPr lang="en-GB" sz="1200"/>
          </a:p>
        </p:txBody>
      </p:sp>
      <p:sp>
        <p:nvSpPr>
          <p:cNvPr id="65" name="TextBox 64"/>
          <p:cNvSpPr txBox="1"/>
          <p:nvPr/>
        </p:nvSpPr>
        <p:spPr>
          <a:xfrm>
            <a:off x="4632736" y="446849"/>
            <a:ext cx="617477" cy="276999"/>
          </a:xfrm>
          <a:prstGeom prst="rect">
            <a:avLst/>
          </a:prstGeom>
          <a:noFill/>
        </p:spPr>
        <p:txBody>
          <a:bodyPr wrap="none" rtlCol="0">
            <a:spAutoFit/>
          </a:bodyPr>
          <a:lstStyle/>
          <a:p>
            <a:r>
              <a:rPr lang="en-US" sz="1200"/>
              <a:t>e) 3.94</a:t>
            </a:r>
            <a:endParaRPr lang="en-GB" sz="1200"/>
          </a:p>
        </p:txBody>
      </p:sp>
      <p:sp>
        <p:nvSpPr>
          <p:cNvPr id="66" name="Rectangle 65">
            <a:extLst>
              <a:ext uri="{FF2B5EF4-FFF2-40B4-BE49-F238E27FC236}">
                <a16:creationId xmlns:a16="http://schemas.microsoft.com/office/drawing/2014/main" id="{CEEF23AD-EA17-135A-DB95-1D1FECB286F3}"/>
              </a:ext>
            </a:extLst>
          </p:cNvPr>
          <p:cNvSpPr/>
          <p:nvPr/>
        </p:nvSpPr>
        <p:spPr>
          <a:xfrm>
            <a:off x="424769"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468724"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524608"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3598806"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4650470"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5727749" y="472496"/>
            <a:ext cx="589264" cy="276999"/>
          </a:xfrm>
          <a:prstGeom prst="rect">
            <a:avLst/>
          </a:prstGeom>
          <a:noFill/>
        </p:spPr>
        <p:txBody>
          <a:bodyPr wrap="none" rtlCol="0">
            <a:spAutoFit/>
          </a:bodyPr>
          <a:lstStyle/>
          <a:p>
            <a:r>
              <a:rPr lang="en-US" sz="1200"/>
              <a:t>f) 3.95</a:t>
            </a:r>
            <a:endParaRPr lang="en-GB" sz="1200"/>
          </a:p>
        </p:txBody>
      </p:sp>
      <p:sp>
        <p:nvSpPr>
          <p:cNvPr id="72" name="Rectangle 71">
            <a:extLst>
              <a:ext uri="{FF2B5EF4-FFF2-40B4-BE49-F238E27FC236}">
                <a16:creationId xmlns:a16="http://schemas.microsoft.com/office/drawing/2014/main" id="{CEEF23AD-EA17-135A-DB95-1D1FECB286F3}"/>
              </a:ext>
            </a:extLst>
          </p:cNvPr>
          <p:cNvSpPr/>
          <p:nvPr/>
        </p:nvSpPr>
        <p:spPr>
          <a:xfrm>
            <a:off x="5699572" y="100862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TextBox 72"/>
          <p:cNvSpPr txBox="1"/>
          <p:nvPr/>
        </p:nvSpPr>
        <p:spPr>
          <a:xfrm>
            <a:off x="424769" y="1407507"/>
            <a:ext cx="612668" cy="276999"/>
          </a:xfrm>
          <a:prstGeom prst="rect">
            <a:avLst/>
          </a:prstGeom>
          <a:noFill/>
        </p:spPr>
        <p:txBody>
          <a:bodyPr wrap="none" rtlCol="0">
            <a:spAutoFit/>
          </a:bodyPr>
          <a:lstStyle/>
          <a:p>
            <a:r>
              <a:rPr lang="en-US" sz="1200"/>
              <a:t>g) 4.99</a:t>
            </a:r>
            <a:endParaRPr lang="en-GB" sz="1200"/>
          </a:p>
        </p:txBody>
      </p:sp>
      <p:sp>
        <p:nvSpPr>
          <p:cNvPr id="74" name="TextBox 73"/>
          <p:cNvSpPr txBox="1"/>
          <p:nvPr/>
        </p:nvSpPr>
        <p:spPr>
          <a:xfrm>
            <a:off x="1477026" y="1398804"/>
            <a:ext cx="620683" cy="276999"/>
          </a:xfrm>
          <a:prstGeom prst="rect">
            <a:avLst/>
          </a:prstGeom>
          <a:noFill/>
        </p:spPr>
        <p:txBody>
          <a:bodyPr wrap="none" rtlCol="0">
            <a:spAutoFit/>
          </a:bodyPr>
          <a:lstStyle/>
          <a:p>
            <a:r>
              <a:rPr lang="en-US" sz="1200"/>
              <a:t>h) 9.95</a:t>
            </a:r>
            <a:endParaRPr lang="en-GB" sz="1200"/>
          </a:p>
        </p:txBody>
      </p:sp>
      <p:sp>
        <p:nvSpPr>
          <p:cNvPr id="75" name="TextBox 74"/>
          <p:cNvSpPr txBox="1"/>
          <p:nvPr/>
        </p:nvSpPr>
        <p:spPr>
          <a:xfrm>
            <a:off x="2553685" y="1398805"/>
            <a:ext cx="575799" cy="276999"/>
          </a:xfrm>
          <a:prstGeom prst="rect">
            <a:avLst/>
          </a:prstGeom>
          <a:noFill/>
        </p:spPr>
        <p:txBody>
          <a:bodyPr wrap="none" rtlCol="0">
            <a:spAutoFit/>
          </a:bodyPr>
          <a:lstStyle/>
          <a:p>
            <a:r>
              <a:rPr lang="en-US" sz="1200"/>
              <a:t>i) 5.97</a:t>
            </a:r>
            <a:endParaRPr lang="en-GB" sz="1200"/>
          </a:p>
        </p:txBody>
      </p:sp>
      <p:sp>
        <p:nvSpPr>
          <p:cNvPr id="76" name="TextBox 75"/>
          <p:cNvSpPr txBox="1"/>
          <p:nvPr/>
        </p:nvSpPr>
        <p:spPr>
          <a:xfrm>
            <a:off x="3560731" y="1421897"/>
            <a:ext cx="577402" cy="276999"/>
          </a:xfrm>
          <a:prstGeom prst="rect">
            <a:avLst/>
          </a:prstGeom>
          <a:noFill/>
        </p:spPr>
        <p:txBody>
          <a:bodyPr wrap="none" rtlCol="0">
            <a:spAutoFit/>
          </a:bodyPr>
          <a:lstStyle/>
          <a:p>
            <a:r>
              <a:rPr lang="en-US" sz="1200"/>
              <a:t>j) 5.99</a:t>
            </a:r>
            <a:endParaRPr lang="en-GB" sz="1200"/>
          </a:p>
        </p:txBody>
      </p:sp>
      <p:sp>
        <p:nvSpPr>
          <p:cNvPr id="77" name="TextBox 76"/>
          <p:cNvSpPr txBox="1"/>
          <p:nvPr/>
        </p:nvSpPr>
        <p:spPr>
          <a:xfrm>
            <a:off x="4664494" y="1418417"/>
            <a:ext cx="611065" cy="276999"/>
          </a:xfrm>
          <a:prstGeom prst="rect">
            <a:avLst/>
          </a:prstGeom>
          <a:noFill/>
        </p:spPr>
        <p:txBody>
          <a:bodyPr wrap="none" rtlCol="0">
            <a:spAutoFit/>
          </a:bodyPr>
          <a:lstStyle/>
          <a:p>
            <a:r>
              <a:rPr lang="en-US" sz="1200"/>
              <a:t>k) 7.96</a:t>
            </a:r>
            <a:endParaRPr lang="en-GB" sz="1200"/>
          </a:p>
        </p:txBody>
      </p:sp>
      <p:sp>
        <p:nvSpPr>
          <p:cNvPr id="78" name="Rectangle 77">
            <a:extLst>
              <a:ext uri="{FF2B5EF4-FFF2-40B4-BE49-F238E27FC236}">
                <a16:creationId xmlns:a16="http://schemas.microsoft.com/office/drawing/2014/main" id="{CEEF23AD-EA17-135A-DB95-1D1FECB286F3}"/>
              </a:ext>
            </a:extLst>
          </p:cNvPr>
          <p:cNvSpPr/>
          <p:nvPr/>
        </p:nvSpPr>
        <p:spPr>
          <a:xfrm>
            <a:off x="424769"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1468724"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2524608"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3598806"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4650470"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TextBox 82"/>
          <p:cNvSpPr txBox="1"/>
          <p:nvPr/>
        </p:nvSpPr>
        <p:spPr>
          <a:xfrm>
            <a:off x="5759507" y="1444064"/>
            <a:ext cx="575799" cy="276999"/>
          </a:xfrm>
          <a:prstGeom prst="rect">
            <a:avLst/>
          </a:prstGeom>
          <a:noFill/>
        </p:spPr>
        <p:txBody>
          <a:bodyPr wrap="none" rtlCol="0">
            <a:spAutoFit/>
          </a:bodyPr>
          <a:lstStyle/>
          <a:p>
            <a:r>
              <a:rPr lang="en-US" sz="1200"/>
              <a:t>l) 8.99</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5699572" y="196103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TextBox 84"/>
          <p:cNvSpPr txBox="1"/>
          <p:nvPr/>
        </p:nvSpPr>
        <p:spPr>
          <a:xfrm>
            <a:off x="406263" y="2363582"/>
            <a:ext cx="663964" cy="276999"/>
          </a:xfrm>
          <a:prstGeom prst="rect">
            <a:avLst/>
          </a:prstGeom>
          <a:noFill/>
        </p:spPr>
        <p:txBody>
          <a:bodyPr wrap="none" rtlCol="0">
            <a:spAutoFit/>
          </a:bodyPr>
          <a:lstStyle/>
          <a:p>
            <a:r>
              <a:rPr lang="en-US" sz="1200"/>
              <a:t>m) 9.98</a:t>
            </a:r>
            <a:endParaRPr lang="en-GB" sz="1200"/>
          </a:p>
        </p:txBody>
      </p:sp>
      <p:sp>
        <p:nvSpPr>
          <p:cNvPr id="86" name="TextBox 85"/>
          <p:cNvSpPr txBox="1"/>
          <p:nvPr/>
        </p:nvSpPr>
        <p:spPr>
          <a:xfrm>
            <a:off x="1458520" y="2354879"/>
            <a:ext cx="699230" cy="276999"/>
          </a:xfrm>
          <a:prstGeom prst="rect">
            <a:avLst/>
          </a:prstGeom>
          <a:noFill/>
        </p:spPr>
        <p:txBody>
          <a:bodyPr wrap="none" rtlCol="0">
            <a:spAutoFit/>
          </a:bodyPr>
          <a:lstStyle/>
          <a:p>
            <a:r>
              <a:rPr lang="en-US" sz="1200"/>
              <a:t>n) 10.98</a:t>
            </a:r>
            <a:endParaRPr lang="en-GB" sz="1200"/>
          </a:p>
        </p:txBody>
      </p:sp>
      <p:sp>
        <p:nvSpPr>
          <p:cNvPr id="87" name="TextBox 86"/>
          <p:cNvSpPr txBox="1"/>
          <p:nvPr/>
        </p:nvSpPr>
        <p:spPr>
          <a:xfrm>
            <a:off x="2535179" y="2354880"/>
            <a:ext cx="700833" cy="276999"/>
          </a:xfrm>
          <a:prstGeom prst="rect">
            <a:avLst/>
          </a:prstGeom>
          <a:noFill/>
        </p:spPr>
        <p:txBody>
          <a:bodyPr wrap="none" rtlCol="0">
            <a:spAutoFit/>
          </a:bodyPr>
          <a:lstStyle/>
          <a:p>
            <a:r>
              <a:rPr lang="en-US" sz="1200"/>
              <a:t>o) 12.97</a:t>
            </a:r>
            <a:endParaRPr lang="en-GB" sz="1200"/>
          </a:p>
        </p:txBody>
      </p:sp>
      <p:sp>
        <p:nvSpPr>
          <p:cNvPr id="88" name="TextBox 87"/>
          <p:cNvSpPr txBox="1"/>
          <p:nvPr/>
        </p:nvSpPr>
        <p:spPr>
          <a:xfrm>
            <a:off x="3542225" y="2377972"/>
            <a:ext cx="699230" cy="276999"/>
          </a:xfrm>
          <a:prstGeom prst="rect">
            <a:avLst/>
          </a:prstGeom>
          <a:noFill/>
        </p:spPr>
        <p:txBody>
          <a:bodyPr wrap="none" rtlCol="0">
            <a:spAutoFit/>
          </a:bodyPr>
          <a:lstStyle/>
          <a:p>
            <a:r>
              <a:rPr lang="en-US" sz="1200"/>
              <a:t>p) 21.98</a:t>
            </a:r>
            <a:endParaRPr lang="en-GB" sz="1200"/>
          </a:p>
        </p:txBody>
      </p:sp>
      <p:sp>
        <p:nvSpPr>
          <p:cNvPr id="89" name="TextBox 88"/>
          <p:cNvSpPr txBox="1"/>
          <p:nvPr/>
        </p:nvSpPr>
        <p:spPr>
          <a:xfrm>
            <a:off x="4645988" y="2374492"/>
            <a:ext cx="699230" cy="276999"/>
          </a:xfrm>
          <a:prstGeom prst="rect">
            <a:avLst/>
          </a:prstGeom>
          <a:noFill/>
        </p:spPr>
        <p:txBody>
          <a:bodyPr wrap="none" rtlCol="0">
            <a:spAutoFit/>
          </a:bodyPr>
          <a:lstStyle/>
          <a:p>
            <a:r>
              <a:rPr lang="en-US" sz="1200"/>
              <a:t>q) 27.99</a:t>
            </a:r>
            <a:endParaRPr lang="en-GB" sz="1200"/>
          </a:p>
        </p:txBody>
      </p:sp>
      <p:sp>
        <p:nvSpPr>
          <p:cNvPr id="90" name="Rectangle 89">
            <a:extLst>
              <a:ext uri="{FF2B5EF4-FFF2-40B4-BE49-F238E27FC236}">
                <a16:creationId xmlns:a16="http://schemas.microsoft.com/office/drawing/2014/main" id="{CEEF23AD-EA17-135A-DB95-1D1FECB286F3}"/>
              </a:ext>
            </a:extLst>
          </p:cNvPr>
          <p:cNvSpPr/>
          <p:nvPr/>
        </p:nvSpPr>
        <p:spPr>
          <a:xfrm>
            <a:off x="438021"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1" name="Rectangle 90">
            <a:extLst>
              <a:ext uri="{FF2B5EF4-FFF2-40B4-BE49-F238E27FC236}">
                <a16:creationId xmlns:a16="http://schemas.microsoft.com/office/drawing/2014/main" id="{CEEF23AD-EA17-135A-DB95-1D1FECB286F3}"/>
              </a:ext>
            </a:extLst>
          </p:cNvPr>
          <p:cNvSpPr/>
          <p:nvPr/>
        </p:nvSpPr>
        <p:spPr>
          <a:xfrm>
            <a:off x="1481976"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Rectangle 91">
            <a:extLst>
              <a:ext uri="{FF2B5EF4-FFF2-40B4-BE49-F238E27FC236}">
                <a16:creationId xmlns:a16="http://schemas.microsoft.com/office/drawing/2014/main" id="{CEEF23AD-EA17-135A-DB95-1D1FECB286F3}"/>
              </a:ext>
            </a:extLst>
          </p:cNvPr>
          <p:cNvSpPr/>
          <p:nvPr/>
        </p:nvSpPr>
        <p:spPr>
          <a:xfrm>
            <a:off x="2537860"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3" name="Rectangle 92">
            <a:extLst>
              <a:ext uri="{FF2B5EF4-FFF2-40B4-BE49-F238E27FC236}">
                <a16:creationId xmlns:a16="http://schemas.microsoft.com/office/drawing/2014/main" id="{CEEF23AD-EA17-135A-DB95-1D1FECB286F3}"/>
              </a:ext>
            </a:extLst>
          </p:cNvPr>
          <p:cNvSpPr/>
          <p:nvPr/>
        </p:nvSpPr>
        <p:spPr>
          <a:xfrm>
            <a:off x="3612058"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4" name="Rectangle 93">
            <a:extLst>
              <a:ext uri="{FF2B5EF4-FFF2-40B4-BE49-F238E27FC236}">
                <a16:creationId xmlns:a16="http://schemas.microsoft.com/office/drawing/2014/main" id="{CEEF23AD-EA17-135A-DB95-1D1FECB286F3}"/>
              </a:ext>
            </a:extLst>
          </p:cNvPr>
          <p:cNvSpPr/>
          <p:nvPr/>
        </p:nvSpPr>
        <p:spPr>
          <a:xfrm>
            <a:off x="4663722"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5" name="TextBox 94"/>
          <p:cNvSpPr txBox="1"/>
          <p:nvPr/>
        </p:nvSpPr>
        <p:spPr>
          <a:xfrm>
            <a:off x="5741001" y="2400139"/>
            <a:ext cx="671979" cy="276999"/>
          </a:xfrm>
          <a:prstGeom prst="rect">
            <a:avLst/>
          </a:prstGeom>
          <a:noFill/>
        </p:spPr>
        <p:txBody>
          <a:bodyPr wrap="none" rtlCol="0">
            <a:spAutoFit/>
          </a:bodyPr>
          <a:lstStyle/>
          <a:p>
            <a:r>
              <a:rPr lang="en-US" sz="1200"/>
              <a:t>r) 36.99</a:t>
            </a:r>
            <a:endParaRPr lang="en-GB" sz="1200"/>
          </a:p>
        </p:txBody>
      </p:sp>
      <p:sp>
        <p:nvSpPr>
          <p:cNvPr id="96" name="Rectangle 95">
            <a:extLst>
              <a:ext uri="{FF2B5EF4-FFF2-40B4-BE49-F238E27FC236}">
                <a16:creationId xmlns:a16="http://schemas.microsoft.com/office/drawing/2014/main" id="{CEEF23AD-EA17-135A-DB95-1D1FECB286F3}"/>
              </a:ext>
            </a:extLst>
          </p:cNvPr>
          <p:cNvSpPr/>
          <p:nvPr/>
        </p:nvSpPr>
        <p:spPr>
          <a:xfrm>
            <a:off x="5712824" y="293053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18</a:t>
            </a:fld>
            <a:endParaRPr lang="en-GB"/>
          </a:p>
        </p:txBody>
      </p:sp>
      <p:sp>
        <p:nvSpPr>
          <p:cNvPr id="2" name="Rectangle 1">
            <a:extLst>
              <a:ext uri="{FF2B5EF4-FFF2-40B4-BE49-F238E27FC236}">
                <a16:creationId xmlns:a16="http://schemas.microsoft.com/office/drawing/2014/main" id="{BDB95F71-0335-BF9D-6775-7056F4FC75E9}"/>
              </a:ext>
            </a:extLst>
          </p:cNvPr>
          <p:cNvSpPr/>
          <p:nvPr/>
        </p:nvSpPr>
        <p:spPr>
          <a:xfrm>
            <a:off x="117204" y="3626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5" name="Rectangle 4">
            <a:extLst>
              <a:ext uri="{FF2B5EF4-FFF2-40B4-BE49-F238E27FC236}">
                <a16:creationId xmlns:a16="http://schemas.microsoft.com/office/drawing/2014/main" id="{18A8F47A-AF22-7041-87DA-ED68FE8CA627}"/>
              </a:ext>
            </a:extLst>
          </p:cNvPr>
          <p:cNvSpPr/>
          <p:nvPr/>
        </p:nvSpPr>
        <p:spPr>
          <a:xfrm>
            <a:off x="1682862" y="4437412"/>
            <a:ext cx="4943539"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6" name="TextBox 5">
            <a:extLst>
              <a:ext uri="{FF2B5EF4-FFF2-40B4-BE49-F238E27FC236}">
                <a16:creationId xmlns:a16="http://schemas.microsoft.com/office/drawing/2014/main" id="{BCDC1A2B-2D26-C945-B722-18950FA49879}"/>
              </a:ext>
            </a:extLst>
          </p:cNvPr>
          <p:cNvSpPr txBox="1"/>
          <p:nvPr/>
        </p:nvSpPr>
        <p:spPr>
          <a:xfrm>
            <a:off x="3392019" y="4178876"/>
            <a:ext cx="1387046" cy="276999"/>
          </a:xfrm>
          <a:prstGeom prst="rect">
            <a:avLst/>
          </a:prstGeom>
          <a:noFill/>
          <a:ln>
            <a:noFill/>
          </a:ln>
        </p:spPr>
        <p:txBody>
          <a:bodyPr wrap="none" rtlCol="0">
            <a:spAutoFit/>
          </a:bodyPr>
          <a:lstStyle/>
          <a:p>
            <a:r>
              <a:rPr lang="en-GB" sz="1200" b="1" i="1">
                <a:solidFill>
                  <a:srgbClr val="FF0000"/>
                </a:solidFill>
              </a:rPr>
              <a:t>Example 16 - I do…</a:t>
            </a:r>
          </a:p>
        </p:txBody>
      </p:sp>
      <p:sp>
        <p:nvSpPr>
          <p:cNvPr id="7" name="TextBox 6">
            <a:extLst>
              <a:ext uri="{FF2B5EF4-FFF2-40B4-BE49-F238E27FC236}">
                <a16:creationId xmlns:a16="http://schemas.microsoft.com/office/drawing/2014/main" id="{4AF4150A-9218-D640-8777-2ECCBC4D10FB}"/>
              </a:ext>
            </a:extLst>
          </p:cNvPr>
          <p:cNvSpPr txBox="1"/>
          <p:nvPr/>
        </p:nvSpPr>
        <p:spPr>
          <a:xfrm>
            <a:off x="4205351" y="6449733"/>
            <a:ext cx="1577355" cy="276999"/>
          </a:xfrm>
          <a:prstGeom prst="rect">
            <a:avLst/>
          </a:prstGeom>
          <a:noFill/>
          <a:ln>
            <a:noFill/>
          </a:ln>
        </p:spPr>
        <p:txBody>
          <a:bodyPr wrap="none" rtlCol="0">
            <a:spAutoFit/>
          </a:bodyPr>
          <a:lstStyle/>
          <a:p>
            <a:r>
              <a:rPr lang="en-GB" sz="1200" b="1" i="1">
                <a:solidFill>
                  <a:srgbClr val="00B050"/>
                </a:solidFill>
              </a:rPr>
              <a:t>Example 18 - You do…</a:t>
            </a:r>
          </a:p>
        </p:txBody>
      </p:sp>
      <p:sp>
        <p:nvSpPr>
          <p:cNvPr id="8" name="Rectangle 7">
            <a:extLst>
              <a:ext uri="{FF2B5EF4-FFF2-40B4-BE49-F238E27FC236}">
                <a16:creationId xmlns:a16="http://schemas.microsoft.com/office/drawing/2014/main" id="{769D737F-0229-C443-B78C-5EA2F6EA4EC2}"/>
              </a:ext>
            </a:extLst>
          </p:cNvPr>
          <p:cNvSpPr/>
          <p:nvPr/>
        </p:nvSpPr>
        <p:spPr>
          <a:xfrm>
            <a:off x="3526082" y="6726732"/>
            <a:ext cx="3122613" cy="2324375"/>
          </a:xfrm>
          <a:prstGeom prst="rect">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sp>
        <p:nvSpPr>
          <p:cNvPr id="9" name="TextBox 8">
            <a:extLst>
              <a:ext uri="{FF2B5EF4-FFF2-40B4-BE49-F238E27FC236}">
                <a16:creationId xmlns:a16="http://schemas.microsoft.com/office/drawing/2014/main" id="{BCDC1A2B-2D26-C945-B722-18950FA49879}"/>
              </a:ext>
            </a:extLst>
          </p:cNvPr>
          <p:cNvSpPr txBox="1"/>
          <p:nvPr/>
        </p:nvSpPr>
        <p:spPr>
          <a:xfrm>
            <a:off x="1206822" y="6478767"/>
            <a:ext cx="1554336"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10" name="Rectangle 9">
            <a:extLst>
              <a:ext uri="{FF2B5EF4-FFF2-40B4-BE49-F238E27FC236}">
                <a16:creationId xmlns:a16="http://schemas.microsoft.com/office/drawing/2014/main" id="{18A8F47A-AF22-7041-87DA-ED68FE8CA627}"/>
              </a:ext>
            </a:extLst>
          </p:cNvPr>
          <p:cNvSpPr/>
          <p:nvPr/>
        </p:nvSpPr>
        <p:spPr>
          <a:xfrm>
            <a:off x="129883" y="6732212"/>
            <a:ext cx="3299117" cy="231429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rgbClr val="00B0F0"/>
              </a:solidFill>
            </a:endParaRPr>
          </a:p>
        </p:txBody>
      </p:sp>
      <p:grpSp>
        <p:nvGrpSpPr>
          <p:cNvPr id="11" name="Group 10"/>
          <p:cNvGrpSpPr/>
          <p:nvPr/>
        </p:nvGrpSpPr>
        <p:grpSpPr>
          <a:xfrm>
            <a:off x="2625198" y="4968393"/>
            <a:ext cx="3245093" cy="1441063"/>
            <a:chOff x="79513" y="1832599"/>
            <a:chExt cx="3245093" cy="1441063"/>
          </a:xfrm>
        </p:grpSpPr>
        <p:pic>
          <p:nvPicPr>
            <p:cNvPr id="12" name="Picture 11"/>
            <p:cNvPicPr>
              <a:picLocks noChangeAspect="1"/>
            </p:cNvPicPr>
            <p:nvPr/>
          </p:nvPicPr>
          <p:blipFill>
            <a:blip r:embed="rId2"/>
            <a:stretch>
              <a:fillRect/>
            </a:stretch>
          </p:blipFill>
          <p:spPr>
            <a:xfrm>
              <a:off x="241395" y="2204589"/>
              <a:ext cx="2921329" cy="744162"/>
            </a:xfrm>
            <a:prstGeom prst="rect">
              <a:avLst/>
            </a:prstGeom>
          </p:spPr>
        </p:pic>
        <p:sp>
          <p:nvSpPr>
            <p:cNvPr id="13" name="TextBox 12"/>
            <p:cNvSpPr txBox="1"/>
            <p:nvPr/>
          </p:nvSpPr>
          <p:spPr>
            <a:xfrm>
              <a:off x="79513" y="2089696"/>
              <a:ext cx="458780" cy="276999"/>
            </a:xfrm>
            <a:prstGeom prst="rect">
              <a:avLst/>
            </a:prstGeom>
            <a:noFill/>
          </p:spPr>
          <p:txBody>
            <a:bodyPr wrap="none" rtlCol="0">
              <a:spAutoFit/>
            </a:bodyPr>
            <a:lstStyle/>
            <a:p>
              <a:r>
                <a:rPr lang="en-US" sz="1200"/>
                <a:t>2.35</a:t>
              </a:r>
              <a:endParaRPr lang="en-GB" sz="1200"/>
            </a:p>
          </p:txBody>
        </p:sp>
        <p:sp>
          <p:nvSpPr>
            <p:cNvPr id="14" name="TextBox 13"/>
            <p:cNvSpPr txBox="1"/>
            <p:nvPr/>
          </p:nvSpPr>
          <p:spPr>
            <a:xfrm>
              <a:off x="2865826" y="2089696"/>
              <a:ext cx="458780" cy="276999"/>
            </a:xfrm>
            <a:prstGeom prst="rect">
              <a:avLst/>
            </a:prstGeom>
            <a:noFill/>
          </p:spPr>
          <p:txBody>
            <a:bodyPr wrap="none" rtlCol="0">
              <a:spAutoFit/>
            </a:bodyPr>
            <a:lstStyle/>
            <a:p>
              <a:r>
                <a:rPr lang="en-US" sz="1200"/>
                <a:t>2.36</a:t>
              </a:r>
              <a:endParaRPr lang="en-GB" sz="1200"/>
            </a:p>
          </p:txBody>
        </p:sp>
        <p:grpSp>
          <p:nvGrpSpPr>
            <p:cNvPr id="15" name="Group 14"/>
            <p:cNvGrpSpPr/>
            <p:nvPr/>
          </p:nvGrpSpPr>
          <p:grpSpPr>
            <a:xfrm>
              <a:off x="845349" y="1832599"/>
              <a:ext cx="540146" cy="567844"/>
              <a:chOff x="2552080" y="5058580"/>
              <a:chExt cx="540146" cy="567844"/>
            </a:xfrm>
          </p:grpSpPr>
          <p:sp>
            <p:nvSpPr>
              <p:cNvPr id="18" name="Rectangle 17">
                <a:extLst>
                  <a:ext uri="{FF2B5EF4-FFF2-40B4-BE49-F238E27FC236}">
                    <a16:creationId xmlns:a16="http://schemas.microsoft.com/office/drawing/2014/main" id="{CEEF23AD-EA17-135A-DB95-1D1FECB286F3}"/>
                  </a:ext>
                </a:extLst>
              </p:cNvPr>
              <p:cNvSpPr/>
              <p:nvPr/>
            </p:nvSpPr>
            <p:spPr>
              <a:xfrm>
                <a:off x="2552080" y="5058580"/>
                <a:ext cx="54014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2.353</a:t>
                </a:r>
                <a:endParaRPr lang="en-GB" sz="1100">
                  <a:solidFill>
                    <a:schemeClr val="tx1"/>
                  </a:solidFill>
                </a:endParaRPr>
              </a:p>
            </p:txBody>
          </p:sp>
          <p:cxnSp>
            <p:nvCxnSpPr>
              <p:cNvPr id="19" name="Straight Arrow Connector 18"/>
              <p:cNvCxnSpPr/>
              <p:nvPr/>
            </p:nvCxnSpPr>
            <p:spPr>
              <a:xfrm>
                <a:off x="2830519" y="5411384"/>
                <a:ext cx="0" cy="2150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6" name="TextBox 15"/>
            <p:cNvSpPr txBox="1"/>
            <p:nvPr/>
          </p:nvSpPr>
          <p:spPr>
            <a:xfrm>
              <a:off x="138983" y="2996663"/>
              <a:ext cx="2468176" cy="276999"/>
            </a:xfrm>
            <a:prstGeom prst="rect">
              <a:avLst/>
            </a:prstGeom>
            <a:noFill/>
          </p:spPr>
          <p:txBody>
            <a:bodyPr wrap="none" rtlCol="0">
              <a:spAutoFit/>
            </a:bodyPr>
            <a:lstStyle/>
            <a:p>
              <a:r>
                <a:rPr lang="en-US" sz="1200"/>
                <a:t>2.353 rounded to 2 decimal places is</a:t>
              </a:r>
              <a:endParaRPr lang="en-GB" sz="1200"/>
            </a:p>
          </p:txBody>
        </p:sp>
        <p:sp>
          <p:nvSpPr>
            <p:cNvPr id="17" name="Rectangle 16">
              <a:extLst>
                <a:ext uri="{FF2B5EF4-FFF2-40B4-BE49-F238E27FC236}">
                  <a16:creationId xmlns:a16="http://schemas.microsoft.com/office/drawing/2014/main" id="{CEEF23AD-EA17-135A-DB95-1D1FECB286F3}"/>
                </a:ext>
              </a:extLst>
            </p:cNvPr>
            <p:cNvSpPr/>
            <p:nvPr/>
          </p:nvSpPr>
          <p:spPr>
            <a:xfrm>
              <a:off x="2593754" y="2942642"/>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nvGrpSpPr>
          <p:cNvPr id="20" name="Group 19"/>
          <p:cNvGrpSpPr/>
          <p:nvPr/>
        </p:nvGrpSpPr>
        <p:grpSpPr>
          <a:xfrm>
            <a:off x="3504568" y="7451686"/>
            <a:ext cx="3219064" cy="1333406"/>
            <a:chOff x="72369" y="1685354"/>
            <a:chExt cx="3219064" cy="1333406"/>
          </a:xfrm>
        </p:grpSpPr>
        <p:pic>
          <p:nvPicPr>
            <p:cNvPr id="21" name="Picture 20"/>
            <p:cNvPicPr>
              <a:picLocks noChangeAspect="1"/>
            </p:cNvPicPr>
            <p:nvPr/>
          </p:nvPicPr>
          <p:blipFill>
            <a:blip r:embed="rId2"/>
            <a:stretch>
              <a:fillRect/>
            </a:stretch>
          </p:blipFill>
          <p:spPr>
            <a:xfrm>
              <a:off x="207000" y="1823854"/>
              <a:ext cx="2921329" cy="744162"/>
            </a:xfrm>
            <a:prstGeom prst="rect">
              <a:avLst/>
            </a:prstGeom>
          </p:spPr>
        </p:pic>
        <p:sp>
          <p:nvSpPr>
            <p:cNvPr id="22" name="TextBox 21"/>
            <p:cNvSpPr txBox="1"/>
            <p:nvPr/>
          </p:nvSpPr>
          <p:spPr>
            <a:xfrm>
              <a:off x="72369" y="1685354"/>
              <a:ext cx="458780" cy="276999"/>
            </a:xfrm>
            <a:prstGeom prst="rect">
              <a:avLst/>
            </a:prstGeom>
            <a:noFill/>
          </p:spPr>
          <p:txBody>
            <a:bodyPr wrap="none" rtlCol="0">
              <a:spAutoFit/>
            </a:bodyPr>
            <a:lstStyle/>
            <a:p>
              <a:r>
                <a:rPr lang="en-US" sz="1200"/>
                <a:t>4.78</a:t>
              </a:r>
              <a:endParaRPr lang="en-GB" sz="1200"/>
            </a:p>
          </p:txBody>
        </p:sp>
        <p:sp>
          <p:nvSpPr>
            <p:cNvPr id="23" name="TextBox 22"/>
            <p:cNvSpPr txBox="1"/>
            <p:nvPr/>
          </p:nvSpPr>
          <p:spPr>
            <a:xfrm>
              <a:off x="2832653" y="1690976"/>
              <a:ext cx="458780" cy="276999"/>
            </a:xfrm>
            <a:prstGeom prst="rect">
              <a:avLst/>
            </a:prstGeom>
            <a:noFill/>
          </p:spPr>
          <p:txBody>
            <a:bodyPr wrap="none" rtlCol="0">
              <a:spAutoFit/>
            </a:bodyPr>
            <a:lstStyle/>
            <a:p>
              <a:r>
                <a:rPr lang="en-US" sz="1200"/>
                <a:t>4.79</a:t>
              </a:r>
              <a:endParaRPr lang="en-GB" sz="1200"/>
            </a:p>
          </p:txBody>
        </p:sp>
        <p:sp>
          <p:nvSpPr>
            <p:cNvPr id="24" name="Rectangle 23">
              <a:extLst>
                <a:ext uri="{FF2B5EF4-FFF2-40B4-BE49-F238E27FC236}">
                  <a16:creationId xmlns:a16="http://schemas.microsoft.com/office/drawing/2014/main" id="{CEEF23AD-EA17-135A-DB95-1D1FECB286F3}"/>
                </a:ext>
              </a:extLst>
            </p:cNvPr>
            <p:cNvSpPr/>
            <p:nvPr/>
          </p:nvSpPr>
          <p:spPr>
            <a:xfrm>
              <a:off x="2624471" y="268774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25" name="Rectangle 24">
            <a:extLst>
              <a:ext uri="{FF2B5EF4-FFF2-40B4-BE49-F238E27FC236}">
                <a16:creationId xmlns:a16="http://schemas.microsoft.com/office/drawing/2014/main" id="{CEEF23AD-EA17-135A-DB95-1D1FECB286F3}"/>
              </a:ext>
            </a:extLst>
          </p:cNvPr>
          <p:cNvSpPr/>
          <p:nvPr/>
        </p:nvSpPr>
        <p:spPr>
          <a:xfrm>
            <a:off x="3636951" y="8425361"/>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3455904" y="4460401"/>
            <a:ext cx="1513625" cy="461665"/>
          </a:xfrm>
          <a:prstGeom prst="rect">
            <a:avLst/>
          </a:prstGeom>
          <a:noFill/>
        </p:spPr>
        <p:txBody>
          <a:bodyPr wrap="square" rtlCol="0">
            <a:spAutoFit/>
          </a:bodyPr>
          <a:lstStyle/>
          <a:p>
            <a:pPr algn="ctr"/>
            <a:r>
              <a:rPr lang="en-US" sz="1200"/>
              <a:t>Round 2.353 to two decimal places</a:t>
            </a:r>
            <a:endParaRPr lang="en-GB" sz="1200"/>
          </a:p>
        </p:txBody>
      </p:sp>
      <p:grpSp>
        <p:nvGrpSpPr>
          <p:cNvPr id="30" name="Group 29"/>
          <p:cNvGrpSpPr/>
          <p:nvPr/>
        </p:nvGrpSpPr>
        <p:grpSpPr>
          <a:xfrm>
            <a:off x="246917" y="7496273"/>
            <a:ext cx="3280168" cy="1270685"/>
            <a:chOff x="79513" y="2084865"/>
            <a:chExt cx="3280168" cy="1270685"/>
          </a:xfrm>
        </p:grpSpPr>
        <p:pic>
          <p:nvPicPr>
            <p:cNvPr id="31" name="Picture 30"/>
            <p:cNvPicPr>
              <a:picLocks noChangeAspect="1"/>
            </p:cNvPicPr>
            <p:nvPr/>
          </p:nvPicPr>
          <p:blipFill>
            <a:blip r:embed="rId2"/>
            <a:stretch>
              <a:fillRect/>
            </a:stretch>
          </p:blipFill>
          <p:spPr>
            <a:xfrm>
              <a:off x="241395" y="2204589"/>
              <a:ext cx="2921329" cy="744162"/>
            </a:xfrm>
            <a:prstGeom prst="rect">
              <a:avLst/>
            </a:prstGeom>
          </p:spPr>
        </p:pic>
        <p:sp>
          <p:nvSpPr>
            <p:cNvPr id="32" name="TextBox 31"/>
            <p:cNvSpPr txBox="1"/>
            <p:nvPr/>
          </p:nvSpPr>
          <p:spPr>
            <a:xfrm>
              <a:off x="79513" y="2089696"/>
              <a:ext cx="458780" cy="276999"/>
            </a:xfrm>
            <a:prstGeom prst="rect">
              <a:avLst/>
            </a:prstGeom>
            <a:noFill/>
          </p:spPr>
          <p:txBody>
            <a:bodyPr wrap="none" rtlCol="0">
              <a:spAutoFit/>
            </a:bodyPr>
            <a:lstStyle/>
            <a:p>
              <a:r>
                <a:rPr lang="en-US" sz="1200"/>
                <a:t>3.12</a:t>
              </a:r>
              <a:endParaRPr lang="en-GB" sz="1200"/>
            </a:p>
          </p:txBody>
        </p:sp>
        <p:sp>
          <p:nvSpPr>
            <p:cNvPr id="33" name="TextBox 32"/>
            <p:cNvSpPr txBox="1"/>
            <p:nvPr/>
          </p:nvSpPr>
          <p:spPr>
            <a:xfrm>
              <a:off x="2900901" y="2084865"/>
              <a:ext cx="458780" cy="276999"/>
            </a:xfrm>
            <a:prstGeom prst="rect">
              <a:avLst/>
            </a:prstGeom>
            <a:noFill/>
          </p:spPr>
          <p:txBody>
            <a:bodyPr wrap="none" rtlCol="0">
              <a:spAutoFit/>
            </a:bodyPr>
            <a:lstStyle/>
            <a:p>
              <a:r>
                <a:rPr lang="en-US" sz="1200"/>
                <a:t>3.13</a:t>
              </a:r>
              <a:endParaRPr lang="en-GB" sz="1200"/>
            </a:p>
          </p:txBody>
        </p:sp>
        <p:sp>
          <p:nvSpPr>
            <p:cNvPr id="34" name="TextBox 33"/>
            <p:cNvSpPr txBox="1"/>
            <p:nvPr/>
          </p:nvSpPr>
          <p:spPr>
            <a:xfrm>
              <a:off x="138983" y="3064903"/>
              <a:ext cx="2468176" cy="276999"/>
            </a:xfrm>
            <a:prstGeom prst="rect">
              <a:avLst/>
            </a:prstGeom>
            <a:noFill/>
          </p:spPr>
          <p:txBody>
            <a:bodyPr wrap="none" rtlCol="0">
              <a:spAutoFit/>
            </a:bodyPr>
            <a:lstStyle/>
            <a:p>
              <a:r>
                <a:rPr lang="en-US" sz="1200"/>
                <a:t>3.129 rounded to 2 decimal places is</a:t>
              </a:r>
              <a:endParaRPr lang="en-GB" sz="1200"/>
            </a:p>
          </p:txBody>
        </p:sp>
        <p:sp>
          <p:nvSpPr>
            <p:cNvPr id="35" name="Rectangle 34">
              <a:extLst>
                <a:ext uri="{FF2B5EF4-FFF2-40B4-BE49-F238E27FC236}">
                  <a16:creationId xmlns:a16="http://schemas.microsoft.com/office/drawing/2014/main" id="{CEEF23AD-EA17-135A-DB95-1D1FECB286F3}"/>
                </a:ext>
              </a:extLst>
            </p:cNvPr>
            <p:cNvSpPr/>
            <p:nvPr/>
          </p:nvSpPr>
          <p:spPr>
            <a:xfrm>
              <a:off x="2593754" y="3024530"/>
              <a:ext cx="614295"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sp>
        <p:nvSpPr>
          <p:cNvPr id="36" name="TextBox 35"/>
          <p:cNvSpPr txBox="1"/>
          <p:nvPr/>
        </p:nvSpPr>
        <p:spPr>
          <a:xfrm>
            <a:off x="1062805" y="6792903"/>
            <a:ext cx="1513625" cy="461665"/>
          </a:xfrm>
          <a:prstGeom prst="rect">
            <a:avLst/>
          </a:prstGeom>
          <a:noFill/>
        </p:spPr>
        <p:txBody>
          <a:bodyPr wrap="square" rtlCol="0">
            <a:spAutoFit/>
          </a:bodyPr>
          <a:lstStyle/>
          <a:p>
            <a:pPr algn="ctr"/>
            <a:r>
              <a:rPr lang="en-US" sz="1200"/>
              <a:t>Round 3.129 to two decimal places</a:t>
            </a:r>
            <a:endParaRPr lang="en-GB" sz="1200"/>
          </a:p>
        </p:txBody>
      </p:sp>
      <p:sp>
        <p:nvSpPr>
          <p:cNvPr id="37" name="TextBox 36"/>
          <p:cNvSpPr txBox="1"/>
          <p:nvPr/>
        </p:nvSpPr>
        <p:spPr>
          <a:xfrm>
            <a:off x="4224688" y="6718582"/>
            <a:ext cx="1513625" cy="461665"/>
          </a:xfrm>
          <a:prstGeom prst="rect">
            <a:avLst/>
          </a:prstGeom>
          <a:noFill/>
        </p:spPr>
        <p:txBody>
          <a:bodyPr wrap="square" rtlCol="0">
            <a:spAutoFit/>
          </a:bodyPr>
          <a:lstStyle/>
          <a:p>
            <a:pPr algn="ctr"/>
            <a:r>
              <a:rPr lang="en-US" sz="1200"/>
              <a:t>Round 4.782 to two decimal places</a:t>
            </a:r>
            <a:endParaRPr lang="en-GB" sz="1200"/>
          </a:p>
        </p:txBody>
      </p:sp>
      <p:sp>
        <p:nvSpPr>
          <p:cNvPr id="39" name="Rectangle 38"/>
          <p:cNvSpPr/>
          <p:nvPr/>
        </p:nvSpPr>
        <p:spPr>
          <a:xfrm>
            <a:off x="4064373" y="8474132"/>
            <a:ext cx="2080249" cy="276999"/>
          </a:xfrm>
          <a:prstGeom prst="rect">
            <a:avLst/>
          </a:prstGeom>
        </p:spPr>
        <p:txBody>
          <a:bodyPr wrap="none">
            <a:spAutoFit/>
          </a:bodyPr>
          <a:lstStyle/>
          <a:p>
            <a:r>
              <a:rPr lang="en-US" sz="1200"/>
              <a:t>rounded to 2 decimal places is</a:t>
            </a:r>
            <a:endParaRPr lang="en-GB" sz="1200"/>
          </a:p>
        </p:txBody>
      </p:sp>
      <p:sp>
        <p:nvSpPr>
          <p:cNvPr id="42" name="Rectangle 41">
            <a:extLst>
              <a:ext uri="{FF2B5EF4-FFF2-40B4-BE49-F238E27FC236}">
                <a16:creationId xmlns:a16="http://schemas.microsoft.com/office/drawing/2014/main" id="{1E8D51BA-1099-CAF3-C942-E6160CB100BD}"/>
              </a:ext>
            </a:extLst>
          </p:cNvPr>
          <p:cNvSpPr/>
          <p:nvPr/>
        </p:nvSpPr>
        <p:spPr>
          <a:xfrm>
            <a:off x="95946" y="3957694"/>
            <a:ext cx="4943540" cy="2353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two decimal places</a:t>
            </a:r>
            <a:endParaRPr lang="en-GB" sz="1200">
              <a:solidFill>
                <a:schemeClr val="bg1"/>
              </a:solidFill>
            </a:endParaRPr>
          </a:p>
        </p:txBody>
      </p:sp>
      <p:sp>
        <p:nvSpPr>
          <p:cNvPr id="26" name="Rectangle 25">
            <a:extLst>
              <a:ext uri="{FF2B5EF4-FFF2-40B4-BE49-F238E27FC236}">
                <a16:creationId xmlns:a16="http://schemas.microsoft.com/office/drawing/2014/main" id="{0873779A-3300-6DA3-9351-7011CB33D5D6}"/>
              </a:ext>
            </a:extLst>
          </p:cNvPr>
          <p:cNvSpPr/>
          <p:nvPr/>
        </p:nvSpPr>
        <p:spPr>
          <a:xfrm>
            <a:off x="140400" y="4437017"/>
            <a:ext cx="1530387" cy="2017810"/>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Steps:</a:t>
            </a:r>
          </a:p>
          <a:p>
            <a:pPr algn="ctr"/>
            <a:endParaRPr lang="en-GB" sz="900">
              <a:solidFill>
                <a:schemeClr val="tx1"/>
              </a:solidFill>
            </a:endParaRPr>
          </a:p>
          <a:p>
            <a:pPr marL="228600" indent="-228600" algn="ctr">
              <a:buAutoNum type="arabicParenR"/>
            </a:pPr>
            <a:r>
              <a:rPr lang="en-GB" sz="900">
                <a:solidFill>
                  <a:schemeClr val="tx1"/>
                </a:solidFill>
              </a:rPr>
              <a:t>Place the number on the number line.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See if the number is closer to the lower value or the upper value.</a:t>
            </a:r>
          </a:p>
          <a:p>
            <a:pPr marL="228600" indent="-228600" algn="ctr">
              <a:buAutoNum type="arabicParenR"/>
            </a:pPr>
            <a:endParaRPr lang="en-GB" sz="900">
              <a:solidFill>
                <a:schemeClr val="tx1"/>
              </a:solidFill>
            </a:endParaRPr>
          </a:p>
          <a:p>
            <a:pPr marL="228600" indent="-228600" algn="ctr">
              <a:buAutoNum type="arabicParenR"/>
            </a:pPr>
            <a:r>
              <a:rPr lang="en-GB" sz="900">
                <a:solidFill>
                  <a:schemeClr val="tx1"/>
                </a:solidFill>
              </a:rPr>
              <a:t>Write down what the number rounds to.</a:t>
            </a:r>
          </a:p>
        </p:txBody>
      </p:sp>
    </p:spTree>
    <p:extLst>
      <p:ext uri="{BB962C8B-B14F-4D97-AF65-F5344CB8AC3E}">
        <p14:creationId xmlns:p14="http://schemas.microsoft.com/office/powerpoint/2010/main" val="2345233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2074655" y="230652"/>
            <a:ext cx="3080074" cy="276999"/>
          </a:xfrm>
          <a:prstGeom prst="rect">
            <a:avLst/>
          </a:prstGeom>
          <a:noFill/>
        </p:spPr>
        <p:txBody>
          <a:bodyPr wrap="none" rtlCol="0">
            <a:spAutoFit/>
          </a:bodyPr>
          <a:lstStyle/>
          <a:p>
            <a:r>
              <a:rPr lang="en-US" sz="1200"/>
              <a:t>6. Round each number to two decimal places. </a:t>
            </a:r>
            <a:endParaRPr lang="en-GB" sz="1200"/>
          </a:p>
        </p:txBody>
      </p:sp>
      <p:grpSp>
        <p:nvGrpSpPr>
          <p:cNvPr id="45" name="Group 44"/>
          <p:cNvGrpSpPr/>
          <p:nvPr/>
        </p:nvGrpSpPr>
        <p:grpSpPr>
          <a:xfrm>
            <a:off x="21035" y="684497"/>
            <a:ext cx="2309188" cy="1039517"/>
            <a:chOff x="78902" y="5821182"/>
            <a:chExt cx="2309188" cy="1039517"/>
          </a:xfrm>
        </p:grpSpPr>
        <p:sp>
          <p:nvSpPr>
            <p:cNvPr id="46" name="TextBox 45"/>
            <p:cNvSpPr txBox="1"/>
            <p:nvPr/>
          </p:nvSpPr>
          <p:spPr>
            <a:xfrm>
              <a:off x="96145" y="5821182"/>
              <a:ext cx="692818" cy="276999"/>
            </a:xfrm>
            <a:prstGeom prst="rect">
              <a:avLst/>
            </a:prstGeom>
            <a:noFill/>
          </p:spPr>
          <p:txBody>
            <a:bodyPr wrap="none" rtlCol="0">
              <a:spAutoFit/>
            </a:bodyPr>
            <a:lstStyle/>
            <a:p>
              <a:r>
                <a:rPr lang="en-US" sz="1200"/>
                <a:t>a) 0.435</a:t>
              </a:r>
              <a:endParaRPr lang="en-GB" sz="1200"/>
            </a:p>
          </p:txBody>
        </p:sp>
        <p:grpSp>
          <p:nvGrpSpPr>
            <p:cNvPr id="47" name="Group 46"/>
            <p:cNvGrpSpPr/>
            <p:nvPr/>
          </p:nvGrpSpPr>
          <p:grpSpPr>
            <a:xfrm>
              <a:off x="78902" y="6183908"/>
              <a:ext cx="2309188" cy="676791"/>
              <a:chOff x="78902" y="6183908"/>
              <a:chExt cx="2309188" cy="676791"/>
            </a:xfrm>
          </p:grpSpPr>
          <p:pic>
            <p:nvPicPr>
              <p:cNvPr id="48" name="Picture 47"/>
              <p:cNvPicPr>
                <a:picLocks noChangeAspect="1"/>
              </p:cNvPicPr>
              <p:nvPr/>
            </p:nvPicPr>
            <p:blipFill>
              <a:blip r:embed="rId2"/>
              <a:stretch>
                <a:fillRect/>
              </a:stretch>
            </p:blipFill>
            <p:spPr>
              <a:xfrm>
                <a:off x="248591" y="6380767"/>
                <a:ext cx="1884050" cy="479932"/>
              </a:xfrm>
              <a:prstGeom prst="rect">
                <a:avLst/>
              </a:prstGeom>
            </p:spPr>
          </p:pic>
          <p:sp>
            <p:nvSpPr>
              <p:cNvPr id="49" name="TextBox 48"/>
              <p:cNvSpPr txBox="1"/>
              <p:nvPr/>
            </p:nvSpPr>
            <p:spPr>
              <a:xfrm>
                <a:off x="78902" y="6183908"/>
                <a:ext cx="458780" cy="276999"/>
              </a:xfrm>
              <a:prstGeom prst="rect">
                <a:avLst/>
              </a:prstGeom>
              <a:noFill/>
            </p:spPr>
            <p:txBody>
              <a:bodyPr wrap="none" rtlCol="0">
                <a:spAutoFit/>
              </a:bodyPr>
              <a:lstStyle/>
              <a:p>
                <a:r>
                  <a:rPr lang="en-US" sz="1200"/>
                  <a:t>0.43</a:t>
                </a:r>
                <a:endParaRPr lang="en-GB" sz="1200"/>
              </a:p>
            </p:txBody>
          </p:sp>
          <p:sp>
            <p:nvSpPr>
              <p:cNvPr id="50" name="TextBox 49"/>
              <p:cNvSpPr txBox="1"/>
              <p:nvPr/>
            </p:nvSpPr>
            <p:spPr>
              <a:xfrm>
                <a:off x="1929310" y="6183908"/>
                <a:ext cx="458780" cy="276999"/>
              </a:xfrm>
              <a:prstGeom prst="rect">
                <a:avLst/>
              </a:prstGeom>
              <a:noFill/>
            </p:spPr>
            <p:txBody>
              <a:bodyPr wrap="none" rtlCol="0">
                <a:spAutoFit/>
              </a:bodyPr>
              <a:lstStyle/>
              <a:p>
                <a:r>
                  <a:rPr lang="en-US" sz="1200"/>
                  <a:t>0.44</a:t>
                </a:r>
                <a:endParaRPr lang="en-GB" sz="1200"/>
              </a:p>
            </p:txBody>
          </p:sp>
        </p:grpSp>
      </p:grpSp>
      <p:grpSp>
        <p:nvGrpSpPr>
          <p:cNvPr id="51" name="Group 50"/>
          <p:cNvGrpSpPr/>
          <p:nvPr/>
        </p:nvGrpSpPr>
        <p:grpSpPr>
          <a:xfrm>
            <a:off x="2279542" y="665963"/>
            <a:ext cx="2036496" cy="1039517"/>
            <a:chOff x="96145" y="5821182"/>
            <a:chExt cx="2036496" cy="1039517"/>
          </a:xfrm>
        </p:grpSpPr>
        <p:sp>
          <p:nvSpPr>
            <p:cNvPr id="52" name="TextBox 51"/>
            <p:cNvSpPr txBox="1"/>
            <p:nvPr/>
          </p:nvSpPr>
          <p:spPr>
            <a:xfrm>
              <a:off x="96145" y="5821182"/>
              <a:ext cx="699230" cy="276999"/>
            </a:xfrm>
            <a:prstGeom prst="rect">
              <a:avLst/>
            </a:prstGeom>
            <a:noFill/>
          </p:spPr>
          <p:txBody>
            <a:bodyPr wrap="none" rtlCol="0">
              <a:spAutoFit/>
            </a:bodyPr>
            <a:lstStyle/>
            <a:p>
              <a:r>
                <a:rPr lang="en-US" sz="1200"/>
                <a:t>b) 2.483</a:t>
              </a:r>
              <a:endParaRPr lang="en-GB" sz="1200"/>
            </a:p>
          </p:txBody>
        </p:sp>
        <p:pic>
          <p:nvPicPr>
            <p:cNvPr id="53" name="Picture 52"/>
            <p:cNvPicPr>
              <a:picLocks noChangeAspect="1"/>
            </p:cNvPicPr>
            <p:nvPr/>
          </p:nvPicPr>
          <p:blipFill>
            <a:blip r:embed="rId2"/>
            <a:stretch>
              <a:fillRect/>
            </a:stretch>
          </p:blipFill>
          <p:spPr>
            <a:xfrm>
              <a:off x="248591" y="6380767"/>
              <a:ext cx="1884050" cy="479932"/>
            </a:xfrm>
            <a:prstGeom prst="rect">
              <a:avLst/>
            </a:prstGeom>
          </p:spPr>
        </p:pic>
      </p:grpSp>
      <p:grpSp>
        <p:nvGrpSpPr>
          <p:cNvPr id="54" name="Group 53"/>
          <p:cNvGrpSpPr/>
          <p:nvPr/>
        </p:nvGrpSpPr>
        <p:grpSpPr>
          <a:xfrm>
            <a:off x="4518153" y="616311"/>
            <a:ext cx="2051386" cy="1074824"/>
            <a:chOff x="81255" y="5785875"/>
            <a:chExt cx="2051386" cy="1074824"/>
          </a:xfrm>
        </p:grpSpPr>
        <p:sp>
          <p:nvSpPr>
            <p:cNvPr id="55" name="TextBox 54"/>
            <p:cNvSpPr txBox="1"/>
            <p:nvPr/>
          </p:nvSpPr>
          <p:spPr>
            <a:xfrm>
              <a:off x="81255" y="5785875"/>
              <a:ext cx="684803" cy="276999"/>
            </a:xfrm>
            <a:prstGeom prst="rect">
              <a:avLst/>
            </a:prstGeom>
            <a:noFill/>
          </p:spPr>
          <p:txBody>
            <a:bodyPr wrap="none" rtlCol="0">
              <a:spAutoFit/>
            </a:bodyPr>
            <a:lstStyle/>
            <a:p>
              <a:r>
                <a:rPr lang="en-US" sz="1200"/>
                <a:t>c) 3.883</a:t>
              </a:r>
              <a:endParaRPr lang="en-GB" sz="1200"/>
            </a:p>
          </p:txBody>
        </p:sp>
        <p:pic>
          <p:nvPicPr>
            <p:cNvPr id="56" name="Picture 55"/>
            <p:cNvPicPr>
              <a:picLocks noChangeAspect="1"/>
            </p:cNvPicPr>
            <p:nvPr/>
          </p:nvPicPr>
          <p:blipFill>
            <a:blip r:embed="rId2"/>
            <a:stretch>
              <a:fillRect/>
            </a:stretch>
          </p:blipFill>
          <p:spPr>
            <a:xfrm>
              <a:off x="248591" y="6380767"/>
              <a:ext cx="1884050" cy="479932"/>
            </a:xfrm>
            <a:prstGeom prst="rect">
              <a:avLst/>
            </a:prstGeom>
          </p:spPr>
        </p:pic>
      </p:grpSp>
      <p:grpSp>
        <p:nvGrpSpPr>
          <p:cNvPr id="57" name="Group 56"/>
          <p:cNvGrpSpPr/>
          <p:nvPr/>
        </p:nvGrpSpPr>
        <p:grpSpPr>
          <a:xfrm>
            <a:off x="67429" y="2545648"/>
            <a:ext cx="2236616" cy="1039517"/>
            <a:chOff x="80698" y="5821182"/>
            <a:chExt cx="2236616" cy="1039517"/>
          </a:xfrm>
        </p:grpSpPr>
        <p:sp>
          <p:nvSpPr>
            <p:cNvPr id="58" name="TextBox 57"/>
            <p:cNvSpPr txBox="1"/>
            <p:nvPr/>
          </p:nvSpPr>
          <p:spPr>
            <a:xfrm>
              <a:off x="96145" y="5821182"/>
              <a:ext cx="699230" cy="276999"/>
            </a:xfrm>
            <a:prstGeom prst="rect">
              <a:avLst/>
            </a:prstGeom>
            <a:noFill/>
          </p:spPr>
          <p:txBody>
            <a:bodyPr wrap="none" rtlCol="0">
              <a:spAutoFit/>
            </a:bodyPr>
            <a:lstStyle/>
            <a:p>
              <a:r>
                <a:rPr lang="en-US" sz="1200"/>
                <a:t>d) 5.582</a:t>
              </a:r>
              <a:endParaRPr lang="en-GB" sz="1200"/>
            </a:p>
          </p:txBody>
        </p:sp>
        <p:grpSp>
          <p:nvGrpSpPr>
            <p:cNvPr id="59" name="Group 58"/>
            <p:cNvGrpSpPr/>
            <p:nvPr/>
          </p:nvGrpSpPr>
          <p:grpSpPr>
            <a:xfrm>
              <a:off x="80698" y="6205199"/>
              <a:ext cx="2236616" cy="655500"/>
              <a:chOff x="80698" y="6205199"/>
              <a:chExt cx="2236616" cy="655500"/>
            </a:xfrm>
          </p:grpSpPr>
          <p:pic>
            <p:nvPicPr>
              <p:cNvPr id="60" name="Picture 59"/>
              <p:cNvPicPr>
                <a:picLocks noChangeAspect="1"/>
              </p:cNvPicPr>
              <p:nvPr/>
            </p:nvPicPr>
            <p:blipFill>
              <a:blip r:embed="rId2"/>
              <a:stretch>
                <a:fillRect/>
              </a:stretch>
            </p:blipFill>
            <p:spPr>
              <a:xfrm>
                <a:off x="248591" y="6380767"/>
                <a:ext cx="1884050" cy="479932"/>
              </a:xfrm>
              <a:prstGeom prst="rect">
                <a:avLst/>
              </a:prstGeom>
            </p:spPr>
          </p:pic>
          <p:sp>
            <p:nvSpPr>
              <p:cNvPr id="61" name="TextBox 60"/>
              <p:cNvSpPr txBox="1"/>
              <p:nvPr/>
            </p:nvSpPr>
            <p:spPr>
              <a:xfrm>
                <a:off x="80698" y="6205755"/>
                <a:ext cx="458780" cy="276999"/>
              </a:xfrm>
              <a:prstGeom prst="rect">
                <a:avLst/>
              </a:prstGeom>
              <a:noFill/>
            </p:spPr>
            <p:txBody>
              <a:bodyPr wrap="none" rtlCol="0">
                <a:spAutoFit/>
              </a:bodyPr>
              <a:lstStyle/>
              <a:p>
                <a:r>
                  <a:rPr lang="en-US" sz="1200"/>
                  <a:t>5.58</a:t>
                </a:r>
                <a:endParaRPr lang="en-GB" sz="1200"/>
              </a:p>
            </p:txBody>
          </p:sp>
          <p:sp>
            <p:nvSpPr>
              <p:cNvPr id="62" name="TextBox 61"/>
              <p:cNvSpPr txBox="1"/>
              <p:nvPr/>
            </p:nvSpPr>
            <p:spPr>
              <a:xfrm>
                <a:off x="1858534" y="6205199"/>
                <a:ext cx="458780" cy="276999"/>
              </a:xfrm>
              <a:prstGeom prst="rect">
                <a:avLst/>
              </a:prstGeom>
              <a:noFill/>
            </p:spPr>
            <p:txBody>
              <a:bodyPr wrap="none" rtlCol="0">
                <a:spAutoFit/>
              </a:bodyPr>
              <a:lstStyle/>
              <a:p>
                <a:r>
                  <a:rPr lang="en-US" sz="1200"/>
                  <a:t>5.59</a:t>
                </a:r>
                <a:endParaRPr lang="en-GB" sz="1200"/>
              </a:p>
            </p:txBody>
          </p:sp>
        </p:grpSp>
      </p:grpSp>
      <p:grpSp>
        <p:nvGrpSpPr>
          <p:cNvPr id="63" name="Group 62"/>
          <p:cNvGrpSpPr/>
          <p:nvPr/>
        </p:nvGrpSpPr>
        <p:grpSpPr>
          <a:xfrm>
            <a:off x="2289451" y="2527114"/>
            <a:ext cx="2278962" cy="1039517"/>
            <a:chOff x="61456" y="5821182"/>
            <a:chExt cx="2278962" cy="1039517"/>
          </a:xfrm>
        </p:grpSpPr>
        <p:sp>
          <p:nvSpPr>
            <p:cNvPr id="64" name="TextBox 63"/>
            <p:cNvSpPr txBox="1"/>
            <p:nvPr/>
          </p:nvSpPr>
          <p:spPr>
            <a:xfrm>
              <a:off x="96145" y="5821182"/>
              <a:ext cx="696024" cy="276999"/>
            </a:xfrm>
            <a:prstGeom prst="rect">
              <a:avLst/>
            </a:prstGeom>
            <a:noFill/>
          </p:spPr>
          <p:txBody>
            <a:bodyPr wrap="none" rtlCol="0">
              <a:spAutoFit/>
            </a:bodyPr>
            <a:lstStyle/>
            <a:p>
              <a:r>
                <a:rPr lang="en-US" sz="1200"/>
                <a:t>e) 7.682</a:t>
              </a:r>
              <a:endParaRPr lang="en-GB" sz="1200"/>
            </a:p>
          </p:txBody>
        </p:sp>
        <p:grpSp>
          <p:nvGrpSpPr>
            <p:cNvPr id="65" name="Group 64"/>
            <p:cNvGrpSpPr/>
            <p:nvPr/>
          </p:nvGrpSpPr>
          <p:grpSpPr>
            <a:xfrm>
              <a:off x="61456" y="6183908"/>
              <a:ext cx="2278962" cy="676791"/>
              <a:chOff x="61456" y="6183908"/>
              <a:chExt cx="2278962" cy="676791"/>
            </a:xfrm>
          </p:grpSpPr>
          <p:pic>
            <p:nvPicPr>
              <p:cNvPr id="66" name="Picture 65"/>
              <p:cNvPicPr>
                <a:picLocks noChangeAspect="1"/>
              </p:cNvPicPr>
              <p:nvPr/>
            </p:nvPicPr>
            <p:blipFill>
              <a:blip r:embed="rId2"/>
              <a:stretch>
                <a:fillRect/>
              </a:stretch>
            </p:blipFill>
            <p:spPr>
              <a:xfrm>
                <a:off x="248591" y="6380767"/>
                <a:ext cx="1884050" cy="479932"/>
              </a:xfrm>
              <a:prstGeom prst="rect">
                <a:avLst/>
              </a:prstGeom>
            </p:spPr>
          </p:pic>
          <p:sp>
            <p:nvSpPr>
              <p:cNvPr id="67" name="TextBox 66"/>
              <p:cNvSpPr txBox="1"/>
              <p:nvPr/>
            </p:nvSpPr>
            <p:spPr>
              <a:xfrm>
                <a:off x="61456" y="6206256"/>
                <a:ext cx="458780" cy="276999"/>
              </a:xfrm>
              <a:prstGeom prst="rect">
                <a:avLst/>
              </a:prstGeom>
              <a:noFill/>
            </p:spPr>
            <p:txBody>
              <a:bodyPr wrap="none" rtlCol="0">
                <a:spAutoFit/>
              </a:bodyPr>
              <a:lstStyle/>
              <a:p>
                <a:r>
                  <a:rPr lang="en-US" sz="1200"/>
                  <a:t>7.68</a:t>
                </a:r>
                <a:endParaRPr lang="en-GB" sz="1200"/>
              </a:p>
            </p:txBody>
          </p:sp>
          <p:sp>
            <p:nvSpPr>
              <p:cNvPr id="68" name="TextBox 67"/>
              <p:cNvSpPr txBox="1"/>
              <p:nvPr/>
            </p:nvSpPr>
            <p:spPr>
              <a:xfrm>
                <a:off x="1881638" y="6183908"/>
                <a:ext cx="458780" cy="276999"/>
              </a:xfrm>
              <a:prstGeom prst="rect">
                <a:avLst/>
              </a:prstGeom>
              <a:noFill/>
            </p:spPr>
            <p:txBody>
              <a:bodyPr wrap="none" rtlCol="0">
                <a:spAutoFit/>
              </a:bodyPr>
              <a:lstStyle/>
              <a:p>
                <a:r>
                  <a:rPr lang="en-US" sz="1200"/>
                  <a:t>7.69</a:t>
                </a:r>
                <a:endParaRPr lang="en-GB" sz="1200"/>
              </a:p>
            </p:txBody>
          </p:sp>
        </p:grpSp>
      </p:grpSp>
      <p:grpSp>
        <p:nvGrpSpPr>
          <p:cNvPr id="69" name="Group 68"/>
          <p:cNvGrpSpPr/>
          <p:nvPr/>
        </p:nvGrpSpPr>
        <p:grpSpPr>
          <a:xfrm>
            <a:off x="4566557" y="2508580"/>
            <a:ext cx="2291443" cy="1039517"/>
            <a:chOff x="81407" y="5821182"/>
            <a:chExt cx="2291443" cy="1039517"/>
          </a:xfrm>
        </p:grpSpPr>
        <p:sp>
          <p:nvSpPr>
            <p:cNvPr id="70" name="TextBox 69"/>
            <p:cNvSpPr txBox="1"/>
            <p:nvPr/>
          </p:nvSpPr>
          <p:spPr>
            <a:xfrm>
              <a:off x="96145" y="5821182"/>
              <a:ext cx="667812" cy="276999"/>
            </a:xfrm>
            <a:prstGeom prst="rect">
              <a:avLst/>
            </a:prstGeom>
            <a:noFill/>
          </p:spPr>
          <p:txBody>
            <a:bodyPr wrap="none" rtlCol="0">
              <a:spAutoFit/>
            </a:bodyPr>
            <a:lstStyle/>
            <a:p>
              <a:r>
                <a:rPr lang="en-US" sz="1200"/>
                <a:t>f) 9.214</a:t>
              </a:r>
              <a:endParaRPr lang="en-GB" sz="1200"/>
            </a:p>
          </p:txBody>
        </p:sp>
        <p:grpSp>
          <p:nvGrpSpPr>
            <p:cNvPr id="71" name="Group 70"/>
            <p:cNvGrpSpPr/>
            <p:nvPr/>
          </p:nvGrpSpPr>
          <p:grpSpPr>
            <a:xfrm>
              <a:off x="81407" y="6193965"/>
              <a:ext cx="2291443" cy="666734"/>
              <a:chOff x="81407" y="6193965"/>
              <a:chExt cx="2291443" cy="666734"/>
            </a:xfrm>
          </p:grpSpPr>
          <p:pic>
            <p:nvPicPr>
              <p:cNvPr id="72" name="Picture 71"/>
              <p:cNvPicPr>
                <a:picLocks noChangeAspect="1"/>
              </p:cNvPicPr>
              <p:nvPr/>
            </p:nvPicPr>
            <p:blipFill>
              <a:blip r:embed="rId2"/>
              <a:stretch>
                <a:fillRect/>
              </a:stretch>
            </p:blipFill>
            <p:spPr>
              <a:xfrm>
                <a:off x="248591" y="6380767"/>
                <a:ext cx="1884050" cy="479932"/>
              </a:xfrm>
              <a:prstGeom prst="rect">
                <a:avLst/>
              </a:prstGeom>
            </p:spPr>
          </p:pic>
          <p:sp>
            <p:nvSpPr>
              <p:cNvPr id="73" name="TextBox 72"/>
              <p:cNvSpPr txBox="1"/>
              <p:nvPr/>
            </p:nvSpPr>
            <p:spPr>
              <a:xfrm>
                <a:off x="81407" y="6193965"/>
                <a:ext cx="458780" cy="276999"/>
              </a:xfrm>
              <a:prstGeom prst="rect">
                <a:avLst/>
              </a:prstGeom>
              <a:noFill/>
            </p:spPr>
            <p:txBody>
              <a:bodyPr wrap="none" rtlCol="0">
                <a:spAutoFit/>
              </a:bodyPr>
              <a:lstStyle/>
              <a:p>
                <a:r>
                  <a:rPr lang="en-US" sz="1200"/>
                  <a:t>9.21</a:t>
                </a:r>
                <a:endParaRPr lang="en-GB" sz="1200"/>
              </a:p>
            </p:txBody>
          </p:sp>
          <p:sp>
            <p:nvSpPr>
              <p:cNvPr id="74" name="TextBox 73"/>
              <p:cNvSpPr txBox="1"/>
              <p:nvPr/>
            </p:nvSpPr>
            <p:spPr>
              <a:xfrm>
                <a:off x="1914070" y="6222983"/>
                <a:ext cx="458780" cy="276999"/>
              </a:xfrm>
              <a:prstGeom prst="rect">
                <a:avLst/>
              </a:prstGeom>
              <a:noFill/>
            </p:spPr>
            <p:txBody>
              <a:bodyPr wrap="none" rtlCol="0">
                <a:spAutoFit/>
              </a:bodyPr>
              <a:lstStyle/>
              <a:p>
                <a:r>
                  <a:rPr lang="en-US" sz="1200"/>
                  <a:t>9.22</a:t>
                </a:r>
                <a:endParaRPr lang="en-GB" sz="1200"/>
              </a:p>
            </p:txBody>
          </p:sp>
        </p:grpSp>
      </p:grpSp>
      <p:sp>
        <p:nvSpPr>
          <p:cNvPr id="75" name="TextBox 74"/>
          <p:cNvSpPr txBox="1"/>
          <p:nvPr/>
        </p:nvSpPr>
        <p:spPr>
          <a:xfrm>
            <a:off x="527010" y="1699680"/>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76" name="Rectangle 75">
            <a:extLst>
              <a:ext uri="{FF2B5EF4-FFF2-40B4-BE49-F238E27FC236}">
                <a16:creationId xmlns:a16="http://schemas.microsoft.com/office/drawing/2014/main" id="{CEEF23AD-EA17-135A-DB95-1D1FECB286F3}"/>
              </a:ext>
            </a:extLst>
          </p:cNvPr>
          <p:cNvSpPr/>
          <p:nvPr/>
        </p:nvSpPr>
        <p:spPr>
          <a:xfrm>
            <a:off x="1671927" y="1849321"/>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83636" y="1845633"/>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3958129" y="183336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2369838" y="182968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6214150" y="1838447"/>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4625859" y="1834759"/>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1676819" y="3653953"/>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Rectangle 82">
            <a:extLst>
              <a:ext uri="{FF2B5EF4-FFF2-40B4-BE49-F238E27FC236}">
                <a16:creationId xmlns:a16="http://schemas.microsoft.com/office/drawing/2014/main" id="{CEEF23AD-EA17-135A-DB95-1D1FECB286F3}"/>
              </a:ext>
            </a:extLst>
          </p:cNvPr>
          <p:cNvSpPr/>
          <p:nvPr/>
        </p:nvSpPr>
        <p:spPr>
          <a:xfrm>
            <a:off x="88528" y="3650265"/>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4" name="Rectangle 83">
            <a:extLst>
              <a:ext uri="{FF2B5EF4-FFF2-40B4-BE49-F238E27FC236}">
                <a16:creationId xmlns:a16="http://schemas.microsoft.com/office/drawing/2014/main" id="{CEEF23AD-EA17-135A-DB95-1D1FECB286F3}"/>
              </a:ext>
            </a:extLst>
          </p:cNvPr>
          <p:cNvSpPr/>
          <p:nvPr/>
        </p:nvSpPr>
        <p:spPr>
          <a:xfrm>
            <a:off x="3958129" y="3691800"/>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Rectangle 84">
            <a:extLst>
              <a:ext uri="{FF2B5EF4-FFF2-40B4-BE49-F238E27FC236}">
                <a16:creationId xmlns:a16="http://schemas.microsoft.com/office/drawing/2014/main" id="{CEEF23AD-EA17-135A-DB95-1D1FECB286F3}"/>
              </a:ext>
            </a:extLst>
          </p:cNvPr>
          <p:cNvSpPr/>
          <p:nvPr/>
        </p:nvSpPr>
        <p:spPr>
          <a:xfrm>
            <a:off x="2369838" y="3688112"/>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CEEF23AD-EA17-135A-DB95-1D1FECB286F3}"/>
              </a:ext>
            </a:extLst>
          </p:cNvPr>
          <p:cNvSpPr/>
          <p:nvPr/>
        </p:nvSpPr>
        <p:spPr>
          <a:xfrm>
            <a:off x="6214150" y="3679938"/>
            <a:ext cx="50385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CEEF23AD-EA17-135A-DB95-1D1FECB286F3}"/>
              </a:ext>
            </a:extLst>
          </p:cNvPr>
          <p:cNvSpPr/>
          <p:nvPr/>
        </p:nvSpPr>
        <p:spPr>
          <a:xfrm>
            <a:off x="4625859" y="3676250"/>
            <a:ext cx="440356"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88" name="Straight Connector 87"/>
          <p:cNvCxnSpPr/>
          <p:nvPr/>
        </p:nvCxnSpPr>
        <p:spPr>
          <a:xfrm>
            <a:off x="2264464" y="651618"/>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p:cNvCxnSpPr/>
          <p:nvPr/>
        </p:nvCxnSpPr>
        <p:spPr>
          <a:xfrm>
            <a:off x="4529085" y="659497"/>
            <a:ext cx="0" cy="3472436"/>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p:cNvCxnSpPr/>
          <p:nvPr/>
        </p:nvCxnSpPr>
        <p:spPr>
          <a:xfrm flipH="1">
            <a:off x="46804" y="2389312"/>
            <a:ext cx="6779455" cy="0"/>
          </a:xfrm>
          <a:prstGeom prst="line">
            <a:avLst/>
          </a:prstGeom>
        </p:spPr>
        <p:style>
          <a:lnRef idx="1">
            <a:schemeClr val="dk1"/>
          </a:lnRef>
          <a:fillRef idx="0">
            <a:schemeClr val="dk1"/>
          </a:fillRef>
          <a:effectRef idx="0">
            <a:schemeClr val="dk1"/>
          </a:effectRef>
          <a:fontRef idx="minor">
            <a:schemeClr val="tx1"/>
          </a:fontRef>
        </p:style>
      </p:cxnSp>
      <p:sp>
        <p:nvSpPr>
          <p:cNvPr id="117" name="TextBox 116"/>
          <p:cNvSpPr txBox="1"/>
          <p:nvPr/>
        </p:nvSpPr>
        <p:spPr>
          <a:xfrm>
            <a:off x="2269385" y="1067219"/>
            <a:ext cx="458780" cy="276999"/>
          </a:xfrm>
          <a:prstGeom prst="rect">
            <a:avLst/>
          </a:prstGeom>
          <a:noFill/>
        </p:spPr>
        <p:txBody>
          <a:bodyPr wrap="none" rtlCol="0">
            <a:spAutoFit/>
          </a:bodyPr>
          <a:lstStyle/>
          <a:p>
            <a:r>
              <a:rPr lang="en-US" sz="1200"/>
              <a:t>2.48</a:t>
            </a:r>
            <a:endParaRPr lang="en-GB" sz="1200"/>
          </a:p>
        </p:txBody>
      </p:sp>
      <p:sp>
        <p:nvSpPr>
          <p:cNvPr id="118" name="TextBox 117"/>
          <p:cNvSpPr txBox="1"/>
          <p:nvPr/>
        </p:nvSpPr>
        <p:spPr>
          <a:xfrm>
            <a:off x="4119793" y="1067219"/>
            <a:ext cx="458780" cy="276999"/>
          </a:xfrm>
          <a:prstGeom prst="rect">
            <a:avLst/>
          </a:prstGeom>
          <a:noFill/>
        </p:spPr>
        <p:txBody>
          <a:bodyPr wrap="none" rtlCol="0">
            <a:spAutoFit/>
          </a:bodyPr>
          <a:lstStyle/>
          <a:p>
            <a:r>
              <a:rPr lang="en-US" sz="1200"/>
              <a:t>2.49</a:t>
            </a:r>
            <a:endParaRPr lang="en-GB" sz="1200"/>
          </a:p>
        </p:txBody>
      </p:sp>
      <p:sp>
        <p:nvSpPr>
          <p:cNvPr id="119" name="TextBox 118"/>
          <p:cNvSpPr txBox="1"/>
          <p:nvPr/>
        </p:nvSpPr>
        <p:spPr>
          <a:xfrm>
            <a:off x="4474265" y="1052188"/>
            <a:ext cx="458780" cy="276999"/>
          </a:xfrm>
          <a:prstGeom prst="rect">
            <a:avLst/>
          </a:prstGeom>
          <a:noFill/>
        </p:spPr>
        <p:txBody>
          <a:bodyPr wrap="none" rtlCol="0">
            <a:spAutoFit/>
          </a:bodyPr>
          <a:lstStyle/>
          <a:p>
            <a:r>
              <a:rPr lang="en-US" sz="1200"/>
              <a:t>3.88</a:t>
            </a:r>
            <a:endParaRPr lang="en-GB" sz="1200"/>
          </a:p>
        </p:txBody>
      </p:sp>
      <p:sp>
        <p:nvSpPr>
          <p:cNvPr id="120" name="TextBox 119"/>
          <p:cNvSpPr txBox="1"/>
          <p:nvPr/>
        </p:nvSpPr>
        <p:spPr>
          <a:xfrm>
            <a:off x="6367479" y="1078953"/>
            <a:ext cx="458780" cy="276999"/>
          </a:xfrm>
          <a:prstGeom prst="rect">
            <a:avLst/>
          </a:prstGeom>
          <a:noFill/>
        </p:spPr>
        <p:txBody>
          <a:bodyPr wrap="none" rtlCol="0">
            <a:spAutoFit/>
          </a:bodyPr>
          <a:lstStyle/>
          <a:p>
            <a:r>
              <a:rPr lang="en-US" sz="1200"/>
              <a:t>2.89</a:t>
            </a:r>
            <a:endParaRPr lang="en-GB" sz="1200"/>
          </a:p>
        </p:txBody>
      </p:sp>
      <p:sp>
        <p:nvSpPr>
          <p:cNvPr id="121" name="TextBox 120"/>
          <p:cNvSpPr txBox="1"/>
          <p:nvPr/>
        </p:nvSpPr>
        <p:spPr>
          <a:xfrm>
            <a:off x="2852561" y="1617891"/>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2" name="TextBox 121"/>
          <p:cNvSpPr txBox="1"/>
          <p:nvPr/>
        </p:nvSpPr>
        <p:spPr>
          <a:xfrm>
            <a:off x="5120031" y="1667010"/>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3" name="TextBox 122"/>
          <p:cNvSpPr txBox="1"/>
          <p:nvPr/>
        </p:nvSpPr>
        <p:spPr>
          <a:xfrm>
            <a:off x="498666" y="3524725"/>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4" name="TextBox 123"/>
          <p:cNvSpPr txBox="1"/>
          <p:nvPr/>
        </p:nvSpPr>
        <p:spPr>
          <a:xfrm>
            <a:off x="2824217" y="3442936"/>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5" name="TextBox 124"/>
          <p:cNvSpPr txBox="1"/>
          <p:nvPr/>
        </p:nvSpPr>
        <p:spPr>
          <a:xfrm>
            <a:off x="5091687" y="3492055"/>
            <a:ext cx="1118893" cy="646331"/>
          </a:xfrm>
          <a:prstGeom prst="rect">
            <a:avLst/>
          </a:prstGeom>
          <a:noFill/>
        </p:spPr>
        <p:txBody>
          <a:bodyPr wrap="square" rtlCol="0">
            <a:spAutoFit/>
          </a:bodyPr>
          <a:lstStyle/>
          <a:p>
            <a:pPr algn="ctr"/>
            <a:r>
              <a:rPr lang="en-US" sz="1200"/>
              <a:t>  rounded to the 2 decimal places is</a:t>
            </a:r>
            <a:endParaRPr lang="en-GB" sz="1200"/>
          </a:p>
        </p:txBody>
      </p:sp>
      <p:sp>
        <p:nvSpPr>
          <p:cNvPr id="12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19</a:t>
            </a:fld>
            <a:endParaRPr lang="en-GB"/>
          </a:p>
        </p:txBody>
      </p:sp>
      <p:sp>
        <p:nvSpPr>
          <p:cNvPr id="28" name="Rectangle 27">
            <a:extLst>
              <a:ext uri="{FF2B5EF4-FFF2-40B4-BE49-F238E27FC236}">
                <a16:creationId xmlns:a16="http://schemas.microsoft.com/office/drawing/2014/main" id="{A7175FD4-5AE1-D68B-5D8A-B0156BA844A7}"/>
              </a:ext>
            </a:extLst>
          </p:cNvPr>
          <p:cNvSpPr/>
          <p:nvPr/>
        </p:nvSpPr>
        <p:spPr>
          <a:xfrm>
            <a:off x="199841" y="127557"/>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23" name="Straight Connector 22">
            <a:extLst>
              <a:ext uri="{FF2B5EF4-FFF2-40B4-BE49-F238E27FC236}">
                <a16:creationId xmlns:a16="http://schemas.microsoft.com/office/drawing/2014/main" id="{B4A988A4-03CD-D549-9F12-81AFECBDEF37}"/>
              </a:ext>
            </a:extLst>
          </p:cNvPr>
          <p:cNvCxnSpPr>
            <a:cxnSpLocks/>
          </p:cNvCxnSpPr>
          <p:nvPr/>
        </p:nvCxnSpPr>
        <p:spPr>
          <a:xfrm>
            <a:off x="955419" y="5947889"/>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4" name="Table 23"/>
          <p:cNvGraphicFramePr>
            <a:graphicFrameLocks noGrp="1"/>
          </p:cNvGraphicFramePr>
          <p:nvPr>
            <p:extLst>
              <p:ext uri="{D42A27DB-BD31-4B8C-83A1-F6EECF244321}">
                <p14:modId xmlns:p14="http://schemas.microsoft.com/office/powerpoint/2010/main" val="3810353239"/>
              </p:ext>
            </p:extLst>
          </p:nvPr>
        </p:nvGraphicFramePr>
        <p:xfrm>
          <a:off x="157160" y="4503516"/>
          <a:ext cx="6543680" cy="302043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284436">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Round each number to two decimal places.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836576">
                <a:tc>
                  <a:txBody>
                    <a:bodyPr/>
                    <a:lstStyle/>
                    <a:p>
                      <a:pPr marL="0" indent="0">
                        <a:buNone/>
                      </a:pPr>
                      <a:r>
                        <a:rPr lang="en-US" sz="1100"/>
                        <a:t>1)</a:t>
                      </a:r>
                      <a:r>
                        <a:rPr lang="en-US" sz="1100" baseline="0"/>
                        <a:t> </a:t>
                      </a:r>
                      <a:r>
                        <a:rPr lang="en-US" sz="1100"/>
                        <a:t>Draw a line between the value in the hundredths column and the thousandths</a:t>
                      </a:r>
                      <a:r>
                        <a:rPr lang="en-US" sz="1100" baseline="0"/>
                        <a:t> column.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468483">
                <a:tc>
                  <a:txBody>
                    <a:bodyPr/>
                    <a:lstStyle/>
                    <a:p>
                      <a:pPr marL="0" indent="0">
                        <a:buNone/>
                      </a:pPr>
                      <a:r>
                        <a:rPr lang="en-US" sz="1100"/>
                        <a:t>2) Underline the number in the </a:t>
                      </a:r>
                      <a:r>
                        <a:rPr lang="en-US" sz="1100" b="1"/>
                        <a:t>thousandths</a:t>
                      </a:r>
                      <a:r>
                        <a:rPr lang="en-US" sz="1100" b="1" baseline="0"/>
                        <a:t> </a:t>
                      </a:r>
                      <a:r>
                        <a:rPr lang="en-US" sz="1100"/>
                        <a:t>column.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652529">
                <a:tc>
                  <a:txBody>
                    <a:bodyPr/>
                    <a:lstStyle/>
                    <a:p>
                      <a:pPr marL="0" indent="0">
                        <a:buNone/>
                      </a:pPr>
                      <a:r>
                        <a:rPr lang="en-US" sz="1100"/>
                        <a:t>3) If it is </a:t>
                      </a:r>
                      <a:r>
                        <a:rPr lang="en-US" sz="1100" b="1"/>
                        <a:t>below 5</a:t>
                      </a:r>
                      <a:r>
                        <a:rPr lang="en-US" sz="1100"/>
                        <a:t>, then the hundredths column stays the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r h="65252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a:solidFill>
                            <a:schemeClr val="tx1"/>
                          </a:solidFill>
                        </a:rPr>
                        <a:t>4)</a:t>
                      </a:r>
                      <a:r>
                        <a:rPr lang="en-US" sz="1100"/>
                        <a:t> If it is </a:t>
                      </a:r>
                      <a:r>
                        <a:rPr lang="en-US" sz="1100" b="1"/>
                        <a:t>5 or above</a:t>
                      </a:r>
                      <a:r>
                        <a:rPr lang="en-US" sz="1100"/>
                        <a:t>, then the hundredths column is rounded up</a:t>
                      </a:r>
                      <a:endParaRPr lang="en-GB"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9025439"/>
                  </a:ext>
                </a:extLst>
              </a:tr>
            </a:tbl>
          </a:graphicData>
        </a:graphic>
      </p:graphicFrame>
      <p:sp>
        <p:nvSpPr>
          <p:cNvPr id="25" name="TextBox 24">
            <a:extLst>
              <a:ext uri="{FF2B5EF4-FFF2-40B4-BE49-F238E27FC236}">
                <a16:creationId xmlns:a16="http://schemas.microsoft.com/office/drawing/2014/main" id="{BCDC1A2B-2D26-C945-B722-18950FA49879}"/>
              </a:ext>
            </a:extLst>
          </p:cNvPr>
          <p:cNvSpPr txBox="1"/>
          <p:nvPr/>
        </p:nvSpPr>
        <p:spPr>
          <a:xfrm>
            <a:off x="1938779" y="4246232"/>
            <a:ext cx="1410704" cy="276999"/>
          </a:xfrm>
          <a:prstGeom prst="rect">
            <a:avLst/>
          </a:prstGeom>
          <a:noFill/>
          <a:ln>
            <a:noFill/>
          </a:ln>
        </p:spPr>
        <p:txBody>
          <a:bodyPr wrap="square" rtlCol="0">
            <a:spAutoFit/>
          </a:bodyPr>
          <a:lstStyle/>
          <a:p>
            <a:r>
              <a:rPr lang="en-GB" sz="1200" b="1" i="1">
                <a:solidFill>
                  <a:srgbClr val="FF0000"/>
                </a:solidFill>
              </a:rPr>
              <a:t>Example 19 - I do…</a:t>
            </a:r>
          </a:p>
        </p:txBody>
      </p:sp>
      <p:sp>
        <p:nvSpPr>
          <p:cNvPr id="26" name="TextBox 25">
            <a:extLst>
              <a:ext uri="{FF2B5EF4-FFF2-40B4-BE49-F238E27FC236}">
                <a16:creationId xmlns:a16="http://schemas.microsoft.com/office/drawing/2014/main" id="{4AF4150A-9218-D640-8777-2ECCBC4D10FB}"/>
              </a:ext>
            </a:extLst>
          </p:cNvPr>
          <p:cNvSpPr txBox="1"/>
          <p:nvPr/>
        </p:nvSpPr>
        <p:spPr>
          <a:xfrm>
            <a:off x="5072676" y="4224124"/>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27" name="TextBox 26">
            <a:extLst>
              <a:ext uri="{FF2B5EF4-FFF2-40B4-BE49-F238E27FC236}">
                <a16:creationId xmlns:a16="http://schemas.microsoft.com/office/drawing/2014/main" id="{BCDC1A2B-2D26-C945-B722-18950FA49879}"/>
              </a:ext>
            </a:extLst>
          </p:cNvPr>
          <p:cNvSpPr txBox="1"/>
          <p:nvPr/>
        </p:nvSpPr>
        <p:spPr>
          <a:xfrm>
            <a:off x="3463497" y="4236225"/>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p:sp>
        <p:nvSpPr>
          <p:cNvPr id="38" name="TextBox 37"/>
          <p:cNvSpPr txBox="1"/>
          <p:nvPr/>
        </p:nvSpPr>
        <p:spPr>
          <a:xfrm>
            <a:off x="1913245" y="4790523"/>
            <a:ext cx="1419715" cy="1015663"/>
          </a:xfrm>
          <a:prstGeom prst="rect">
            <a:avLst/>
          </a:prstGeom>
          <a:noFill/>
        </p:spPr>
        <p:txBody>
          <a:bodyPr wrap="square" rtlCol="0">
            <a:spAutoFit/>
          </a:bodyPr>
          <a:lstStyle/>
          <a:p>
            <a:pPr algn="ctr"/>
            <a:r>
              <a:rPr lang="en-US" sz="1200"/>
              <a:t>Round 3.588 to two decimal places.</a:t>
            </a:r>
          </a:p>
          <a:p>
            <a:pPr algn="ctr"/>
            <a:endParaRPr lang="en-US" sz="1200"/>
          </a:p>
          <a:p>
            <a:pPr algn="ctr"/>
            <a:r>
              <a:rPr lang="en-US" sz="1200"/>
              <a:t>3 . 5  8 | </a:t>
            </a:r>
            <a:r>
              <a:rPr lang="en-US" sz="1200" u="sng"/>
              <a:t>8</a:t>
            </a:r>
            <a:r>
              <a:rPr lang="en-US" sz="1200"/>
              <a:t>     </a:t>
            </a:r>
          </a:p>
          <a:p>
            <a:pPr algn="ctr"/>
            <a:endParaRPr lang="en-US" sz="1200" u="sng"/>
          </a:p>
        </p:txBody>
      </p:sp>
      <p:sp>
        <p:nvSpPr>
          <p:cNvPr id="40" name="TextBox 39"/>
          <p:cNvSpPr txBox="1"/>
          <p:nvPr/>
        </p:nvSpPr>
        <p:spPr>
          <a:xfrm>
            <a:off x="3445616" y="4833326"/>
            <a:ext cx="1627060" cy="461665"/>
          </a:xfrm>
          <a:prstGeom prst="rect">
            <a:avLst/>
          </a:prstGeom>
          <a:noFill/>
        </p:spPr>
        <p:txBody>
          <a:bodyPr wrap="square" rtlCol="0">
            <a:spAutoFit/>
          </a:bodyPr>
          <a:lstStyle/>
          <a:p>
            <a:pPr algn="ctr"/>
            <a:r>
              <a:rPr lang="en-US" sz="1200"/>
              <a:t>Round 4.491 to two decimal places.</a:t>
            </a:r>
          </a:p>
        </p:txBody>
      </p:sp>
      <p:sp>
        <p:nvSpPr>
          <p:cNvPr id="41" name="TextBox 40"/>
          <p:cNvSpPr txBox="1"/>
          <p:nvPr/>
        </p:nvSpPr>
        <p:spPr>
          <a:xfrm>
            <a:off x="5185332" y="4790523"/>
            <a:ext cx="1485686" cy="461665"/>
          </a:xfrm>
          <a:prstGeom prst="rect">
            <a:avLst/>
          </a:prstGeom>
          <a:noFill/>
        </p:spPr>
        <p:txBody>
          <a:bodyPr wrap="square" rtlCol="0">
            <a:spAutoFit/>
          </a:bodyPr>
          <a:lstStyle/>
          <a:p>
            <a:pPr algn="ctr"/>
            <a:r>
              <a:rPr lang="en-US" sz="1200"/>
              <a:t>Round 7.693 to two decimal places.</a:t>
            </a:r>
          </a:p>
        </p:txBody>
      </p:sp>
      <p:sp>
        <p:nvSpPr>
          <p:cNvPr id="126" name="TextBox 125"/>
          <p:cNvSpPr txBox="1"/>
          <p:nvPr/>
        </p:nvSpPr>
        <p:spPr>
          <a:xfrm>
            <a:off x="1929768" y="6009928"/>
            <a:ext cx="1419715" cy="830997"/>
          </a:xfrm>
          <a:prstGeom prst="rect">
            <a:avLst/>
          </a:prstGeom>
          <a:noFill/>
        </p:spPr>
        <p:txBody>
          <a:bodyPr wrap="square" rtlCol="0">
            <a:spAutoFit/>
          </a:bodyPr>
          <a:lstStyle/>
          <a:p>
            <a:pPr algn="ctr"/>
            <a:r>
              <a:rPr lang="en-US" sz="1200"/>
              <a:t>Round 19.997 to two decimal places. </a:t>
            </a:r>
          </a:p>
          <a:p>
            <a:pPr algn="ctr"/>
            <a:endParaRPr lang="en-US" sz="1200"/>
          </a:p>
          <a:p>
            <a:pPr algn="ctr"/>
            <a:endParaRPr lang="en-US" sz="1200" u="sng"/>
          </a:p>
        </p:txBody>
      </p:sp>
      <p:sp>
        <p:nvSpPr>
          <p:cNvPr id="127" name="TextBox 126"/>
          <p:cNvSpPr txBox="1"/>
          <p:nvPr/>
        </p:nvSpPr>
        <p:spPr>
          <a:xfrm>
            <a:off x="3572461" y="6004521"/>
            <a:ext cx="1419715" cy="830997"/>
          </a:xfrm>
          <a:prstGeom prst="rect">
            <a:avLst/>
          </a:prstGeom>
          <a:noFill/>
        </p:spPr>
        <p:txBody>
          <a:bodyPr wrap="square" rtlCol="0">
            <a:spAutoFit/>
          </a:bodyPr>
          <a:lstStyle/>
          <a:p>
            <a:pPr algn="ctr"/>
            <a:r>
              <a:rPr lang="en-US" sz="1200"/>
              <a:t>Round 67.592 to two decimal places.</a:t>
            </a:r>
          </a:p>
          <a:p>
            <a:pPr algn="ctr"/>
            <a:endParaRPr lang="en-US" sz="1200"/>
          </a:p>
          <a:p>
            <a:pPr algn="ctr"/>
            <a:endParaRPr lang="en-US" sz="1200" u="sng"/>
          </a:p>
        </p:txBody>
      </p:sp>
      <p:sp>
        <p:nvSpPr>
          <p:cNvPr id="128" name="TextBox 127"/>
          <p:cNvSpPr txBox="1"/>
          <p:nvPr/>
        </p:nvSpPr>
        <p:spPr>
          <a:xfrm>
            <a:off x="5215154" y="6009928"/>
            <a:ext cx="1419715" cy="1015663"/>
          </a:xfrm>
          <a:prstGeom prst="rect">
            <a:avLst/>
          </a:prstGeom>
          <a:noFill/>
        </p:spPr>
        <p:txBody>
          <a:bodyPr wrap="square" rtlCol="0">
            <a:spAutoFit/>
          </a:bodyPr>
          <a:lstStyle/>
          <a:p>
            <a:pPr algn="ctr"/>
            <a:r>
              <a:rPr lang="en-US" sz="1200"/>
              <a:t>Round 71.395 to two decimal places.</a:t>
            </a:r>
          </a:p>
          <a:p>
            <a:pPr algn="ctr"/>
            <a:endParaRPr lang="en-US" sz="1200"/>
          </a:p>
          <a:p>
            <a:pPr algn="ctr"/>
            <a:endParaRPr lang="en-US" sz="1200"/>
          </a:p>
          <a:p>
            <a:pPr algn="ctr"/>
            <a:endParaRPr lang="en-US" sz="1200" u="sng"/>
          </a:p>
        </p:txBody>
      </p:sp>
      <p:sp>
        <p:nvSpPr>
          <p:cNvPr id="43" name="Rectangle 42">
            <a:extLst>
              <a:ext uri="{FF2B5EF4-FFF2-40B4-BE49-F238E27FC236}">
                <a16:creationId xmlns:a16="http://schemas.microsoft.com/office/drawing/2014/main" id="{CEEF23AD-EA17-135A-DB95-1D1FECB286F3}"/>
              </a:ext>
            </a:extLst>
          </p:cNvPr>
          <p:cNvSpPr/>
          <p:nvPr/>
        </p:nvSpPr>
        <p:spPr>
          <a:xfrm>
            <a:off x="1898478" y="56197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0" name="Rectangle 129">
            <a:extLst>
              <a:ext uri="{FF2B5EF4-FFF2-40B4-BE49-F238E27FC236}">
                <a16:creationId xmlns:a16="http://schemas.microsoft.com/office/drawing/2014/main" id="{CEEF23AD-EA17-135A-DB95-1D1FECB286F3}"/>
              </a:ext>
            </a:extLst>
          </p:cNvPr>
          <p:cNvSpPr/>
          <p:nvPr/>
        </p:nvSpPr>
        <p:spPr>
          <a:xfrm>
            <a:off x="1898478" y="697384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1" name="Rectangle 130">
            <a:extLst>
              <a:ext uri="{FF2B5EF4-FFF2-40B4-BE49-F238E27FC236}">
                <a16:creationId xmlns:a16="http://schemas.microsoft.com/office/drawing/2014/main" id="{CEEF23AD-EA17-135A-DB95-1D1FECB286F3}"/>
              </a:ext>
            </a:extLst>
          </p:cNvPr>
          <p:cNvSpPr/>
          <p:nvPr/>
        </p:nvSpPr>
        <p:spPr>
          <a:xfrm>
            <a:off x="3522953" y="56150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2" name="Rectangle 131">
            <a:extLst>
              <a:ext uri="{FF2B5EF4-FFF2-40B4-BE49-F238E27FC236}">
                <a16:creationId xmlns:a16="http://schemas.microsoft.com/office/drawing/2014/main" id="{CEEF23AD-EA17-135A-DB95-1D1FECB286F3}"/>
              </a:ext>
            </a:extLst>
          </p:cNvPr>
          <p:cNvSpPr/>
          <p:nvPr/>
        </p:nvSpPr>
        <p:spPr>
          <a:xfrm>
            <a:off x="3522953" y="696916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3" name="Rectangle 132">
            <a:extLst>
              <a:ext uri="{FF2B5EF4-FFF2-40B4-BE49-F238E27FC236}">
                <a16:creationId xmlns:a16="http://schemas.microsoft.com/office/drawing/2014/main" id="{CEEF23AD-EA17-135A-DB95-1D1FECB286F3}"/>
              </a:ext>
            </a:extLst>
          </p:cNvPr>
          <p:cNvSpPr/>
          <p:nvPr/>
        </p:nvSpPr>
        <p:spPr>
          <a:xfrm>
            <a:off x="5165869" y="561509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4" name="Rectangle 133">
            <a:extLst>
              <a:ext uri="{FF2B5EF4-FFF2-40B4-BE49-F238E27FC236}">
                <a16:creationId xmlns:a16="http://schemas.microsoft.com/office/drawing/2014/main" id="{CEEF23AD-EA17-135A-DB95-1D1FECB286F3}"/>
              </a:ext>
            </a:extLst>
          </p:cNvPr>
          <p:cNvSpPr/>
          <p:nvPr/>
        </p:nvSpPr>
        <p:spPr>
          <a:xfrm>
            <a:off x="5165869" y="696916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3" name="TextBox 92">
            <a:extLst>
              <a:ext uri="{FF2B5EF4-FFF2-40B4-BE49-F238E27FC236}">
                <a16:creationId xmlns:a16="http://schemas.microsoft.com/office/drawing/2014/main" id="{000DE7F8-2777-FC57-CBDF-432CDF1B08C7}"/>
              </a:ext>
            </a:extLst>
          </p:cNvPr>
          <p:cNvSpPr txBox="1"/>
          <p:nvPr/>
        </p:nvSpPr>
        <p:spPr>
          <a:xfrm>
            <a:off x="1977752" y="7507404"/>
            <a:ext cx="3080074" cy="276999"/>
          </a:xfrm>
          <a:prstGeom prst="rect">
            <a:avLst/>
          </a:prstGeom>
          <a:noFill/>
        </p:spPr>
        <p:txBody>
          <a:bodyPr wrap="none" rtlCol="0">
            <a:spAutoFit/>
          </a:bodyPr>
          <a:lstStyle/>
          <a:p>
            <a:r>
              <a:rPr lang="en-US" sz="1200"/>
              <a:t>7. Round each number to two decimal places. </a:t>
            </a:r>
            <a:endParaRPr lang="en-GB" sz="1200"/>
          </a:p>
        </p:txBody>
      </p:sp>
      <p:sp>
        <p:nvSpPr>
          <p:cNvPr id="94" name="TextBox 93">
            <a:extLst>
              <a:ext uri="{FF2B5EF4-FFF2-40B4-BE49-F238E27FC236}">
                <a16:creationId xmlns:a16="http://schemas.microsoft.com/office/drawing/2014/main" id="{3C1F378F-A21C-4445-8E03-84CEA7E4EF00}"/>
              </a:ext>
            </a:extLst>
          </p:cNvPr>
          <p:cNvSpPr txBox="1"/>
          <p:nvPr/>
        </p:nvSpPr>
        <p:spPr>
          <a:xfrm>
            <a:off x="241260" y="7955859"/>
            <a:ext cx="692818" cy="276999"/>
          </a:xfrm>
          <a:prstGeom prst="rect">
            <a:avLst/>
          </a:prstGeom>
          <a:noFill/>
        </p:spPr>
        <p:txBody>
          <a:bodyPr wrap="none" rtlCol="0">
            <a:spAutoFit/>
          </a:bodyPr>
          <a:lstStyle/>
          <a:p>
            <a:r>
              <a:rPr lang="en-US" sz="1200"/>
              <a:t>a) 1.594</a:t>
            </a:r>
            <a:endParaRPr lang="en-GB" sz="1200"/>
          </a:p>
        </p:txBody>
      </p:sp>
      <p:sp>
        <p:nvSpPr>
          <p:cNvPr id="95" name="TextBox 94">
            <a:extLst>
              <a:ext uri="{FF2B5EF4-FFF2-40B4-BE49-F238E27FC236}">
                <a16:creationId xmlns:a16="http://schemas.microsoft.com/office/drawing/2014/main" id="{E753950E-7296-848E-A025-96ED3612E345}"/>
              </a:ext>
            </a:extLst>
          </p:cNvPr>
          <p:cNvSpPr txBox="1"/>
          <p:nvPr/>
        </p:nvSpPr>
        <p:spPr>
          <a:xfrm>
            <a:off x="1293517" y="7947156"/>
            <a:ext cx="699230" cy="276999"/>
          </a:xfrm>
          <a:prstGeom prst="rect">
            <a:avLst/>
          </a:prstGeom>
          <a:noFill/>
        </p:spPr>
        <p:txBody>
          <a:bodyPr wrap="none" rtlCol="0">
            <a:spAutoFit/>
          </a:bodyPr>
          <a:lstStyle/>
          <a:p>
            <a:r>
              <a:rPr lang="en-US" sz="1200"/>
              <a:t>b) 1.954</a:t>
            </a:r>
            <a:endParaRPr lang="en-GB" sz="1200"/>
          </a:p>
        </p:txBody>
      </p:sp>
      <p:sp>
        <p:nvSpPr>
          <p:cNvPr id="96" name="TextBox 95">
            <a:extLst>
              <a:ext uri="{FF2B5EF4-FFF2-40B4-BE49-F238E27FC236}">
                <a16:creationId xmlns:a16="http://schemas.microsoft.com/office/drawing/2014/main" id="{273A101E-1896-F9D8-F418-8AFDA399F265}"/>
              </a:ext>
            </a:extLst>
          </p:cNvPr>
          <p:cNvSpPr txBox="1"/>
          <p:nvPr/>
        </p:nvSpPr>
        <p:spPr>
          <a:xfrm>
            <a:off x="2370176" y="7947157"/>
            <a:ext cx="684803" cy="276999"/>
          </a:xfrm>
          <a:prstGeom prst="rect">
            <a:avLst/>
          </a:prstGeom>
          <a:noFill/>
        </p:spPr>
        <p:txBody>
          <a:bodyPr wrap="none" rtlCol="0">
            <a:spAutoFit/>
          </a:bodyPr>
          <a:lstStyle/>
          <a:p>
            <a:r>
              <a:rPr lang="en-US" sz="1200"/>
              <a:t>c) 1.495</a:t>
            </a:r>
            <a:endParaRPr lang="en-GB" sz="1200"/>
          </a:p>
        </p:txBody>
      </p:sp>
      <p:sp>
        <p:nvSpPr>
          <p:cNvPr id="114" name="TextBox 113">
            <a:extLst>
              <a:ext uri="{FF2B5EF4-FFF2-40B4-BE49-F238E27FC236}">
                <a16:creationId xmlns:a16="http://schemas.microsoft.com/office/drawing/2014/main" id="{75F0FA0B-100F-310A-B69E-C58536853269}"/>
              </a:ext>
            </a:extLst>
          </p:cNvPr>
          <p:cNvSpPr txBox="1"/>
          <p:nvPr/>
        </p:nvSpPr>
        <p:spPr>
          <a:xfrm>
            <a:off x="3377222" y="7970249"/>
            <a:ext cx="699230" cy="276999"/>
          </a:xfrm>
          <a:prstGeom prst="rect">
            <a:avLst/>
          </a:prstGeom>
          <a:noFill/>
        </p:spPr>
        <p:txBody>
          <a:bodyPr wrap="none" rtlCol="0">
            <a:spAutoFit/>
          </a:bodyPr>
          <a:lstStyle/>
          <a:p>
            <a:r>
              <a:rPr lang="en-US" sz="1200"/>
              <a:t>d) 2.495</a:t>
            </a:r>
            <a:endParaRPr lang="en-GB" sz="1200"/>
          </a:p>
        </p:txBody>
      </p:sp>
      <p:sp>
        <p:nvSpPr>
          <p:cNvPr id="115" name="TextBox 114">
            <a:extLst>
              <a:ext uri="{FF2B5EF4-FFF2-40B4-BE49-F238E27FC236}">
                <a16:creationId xmlns:a16="http://schemas.microsoft.com/office/drawing/2014/main" id="{062B15B8-09A7-7026-E654-039968B4F291}"/>
              </a:ext>
            </a:extLst>
          </p:cNvPr>
          <p:cNvSpPr txBox="1"/>
          <p:nvPr/>
        </p:nvSpPr>
        <p:spPr>
          <a:xfrm>
            <a:off x="4480985" y="7966769"/>
            <a:ext cx="696024" cy="276999"/>
          </a:xfrm>
          <a:prstGeom prst="rect">
            <a:avLst/>
          </a:prstGeom>
          <a:noFill/>
        </p:spPr>
        <p:txBody>
          <a:bodyPr wrap="none" rtlCol="0">
            <a:spAutoFit/>
          </a:bodyPr>
          <a:lstStyle/>
          <a:p>
            <a:r>
              <a:rPr lang="en-US" sz="1200"/>
              <a:t>e) 2.954</a:t>
            </a:r>
            <a:endParaRPr lang="en-GB" sz="1200"/>
          </a:p>
        </p:txBody>
      </p:sp>
      <p:sp>
        <p:nvSpPr>
          <p:cNvPr id="116" name="Rectangle 115">
            <a:extLst>
              <a:ext uri="{FF2B5EF4-FFF2-40B4-BE49-F238E27FC236}">
                <a16:creationId xmlns:a16="http://schemas.microsoft.com/office/drawing/2014/main" id="{44C9A2ED-5728-733D-B176-D2CB5C1A2AF3}"/>
              </a:ext>
            </a:extLst>
          </p:cNvPr>
          <p:cNvSpPr/>
          <p:nvPr/>
        </p:nvSpPr>
        <p:spPr>
          <a:xfrm>
            <a:off x="273018"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5" name="Rectangle 134">
            <a:extLst>
              <a:ext uri="{FF2B5EF4-FFF2-40B4-BE49-F238E27FC236}">
                <a16:creationId xmlns:a16="http://schemas.microsoft.com/office/drawing/2014/main" id="{E062A0F6-19DC-63D8-518E-6DD32B3E66EB}"/>
              </a:ext>
            </a:extLst>
          </p:cNvPr>
          <p:cNvSpPr/>
          <p:nvPr/>
        </p:nvSpPr>
        <p:spPr>
          <a:xfrm>
            <a:off x="1316973"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6" name="Rectangle 135">
            <a:extLst>
              <a:ext uri="{FF2B5EF4-FFF2-40B4-BE49-F238E27FC236}">
                <a16:creationId xmlns:a16="http://schemas.microsoft.com/office/drawing/2014/main" id="{66D30FEB-D269-F766-5075-F17D413DF73C}"/>
              </a:ext>
            </a:extLst>
          </p:cNvPr>
          <p:cNvSpPr/>
          <p:nvPr/>
        </p:nvSpPr>
        <p:spPr>
          <a:xfrm>
            <a:off x="2372857"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7" name="Rectangle 136">
            <a:extLst>
              <a:ext uri="{FF2B5EF4-FFF2-40B4-BE49-F238E27FC236}">
                <a16:creationId xmlns:a16="http://schemas.microsoft.com/office/drawing/2014/main" id="{AB24A281-7138-316E-A3C9-AA3EE2D9838E}"/>
              </a:ext>
            </a:extLst>
          </p:cNvPr>
          <p:cNvSpPr/>
          <p:nvPr/>
        </p:nvSpPr>
        <p:spPr>
          <a:xfrm>
            <a:off x="3447055"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8" name="Rectangle 137">
            <a:extLst>
              <a:ext uri="{FF2B5EF4-FFF2-40B4-BE49-F238E27FC236}">
                <a16:creationId xmlns:a16="http://schemas.microsoft.com/office/drawing/2014/main" id="{3C4E0463-F392-6D33-D147-E307E0F2A1FD}"/>
              </a:ext>
            </a:extLst>
          </p:cNvPr>
          <p:cNvSpPr/>
          <p:nvPr/>
        </p:nvSpPr>
        <p:spPr>
          <a:xfrm>
            <a:off x="4498719"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9" name="TextBox 138">
            <a:extLst>
              <a:ext uri="{FF2B5EF4-FFF2-40B4-BE49-F238E27FC236}">
                <a16:creationId xmlns:a16="http://schemas.microsoft.com/office/drawing/2014/main" id="{7957B300-AE07-B26B-6B1E-573F0B9C6475}"/>
              </a:ext>
            </a:extLst>
          </p:cNvPr>
          <p:cNvSpPr txBox="1"/>
          <p:nvPr/>
        </p:nvSpPr>
        <p:spPr>
          <a:xfrm>
            <a:off x="5575998" y="7992416"/>
            <a:ext cx="667812" cy="276999"/>
          </a:xfrm>
          <a:prstGeom prst="rect">
            <a:avLst/>
          </a:prstGeom>
          <a:noFill/>
        </p:spPr>
        <p:txBody>
          <a:bodyPr wrap="none" rtlCol="0">
            <a:spAutoFit/>
          </a:bodyPr>
          <a:lstStyle/>
          <a:p>
            <a:r>
              <a:rPr lang="en-US" sz="1200"/>
              <a:t>f) 2.495</a:t>
            </a:r>
            <a:endParaRPr lang="en-GB" sz="1200"/>
          </a:p>
        </p:txBody>
      </p:sp>
      <p:sp>
        <p:nvSpPr>
          <p:cNvPr id="140" name="Rectangle 139">
            <a:extLst>
              <a:ext uri="{FF2B5EF4-FFF2-40B4-BE49-F238E27FC236}">
                <a16:creationId xmlns:a16="http://schemas.microsoft.com/office/drawing/2014/main" id="{8A200A57-CB23-A635-A90C-F3B02DB1CD14}"/>
              </a:ext>
            </a:extLst>
          </p:cNvPr>
          <p:cNvSpPr/>
          <p:nvPr/>
        </p:nvSpPr>
        <p:spPr>
          <a:xfrm>
            <a:off x="5547821" y="852854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1" name="TextBox 140">
            <a:extLst>
              <a:ext uri="{FF2B5EF4-FFF2-40B4-BE49-F238E27FC236}">
                <a16:creationId xmlns:a16="http://schemas.microsoft.com/office/drawing/2014/main" id="{D0CEDB94-C5CF-9693-43EC-A7ABD1A78653}"/>
              </a:ext>
            </a:extLst>
          </p:cNvPr>
          <p:cNvSpPr txBox="1"/>
          <p:nvPr/>
        </p:nvSpPr>
        <p:spPr>
          <a:xfrm>
            <a:off x="273018" y="8927427"/>
            <a:ext cx="691215" cy="276999"/>
          </a:xfrm>
          <a:prstGeom prst="rect">
            <a:avLst/>
          </a:prstGeom>
          <a:noFill/>
        </p:spPr>
        <p:txBody>
          <a:bodyPr wrap="none" rtlCol="0">
            <a:spAutoFit/>
          </a:bodyPr>
          <a:lstStyle/>
          <a:p>
            <a:r>
              <a:rPr lang="en-US" sz="1200"/>
              <a:t>g) 3.159</a:t>
            </a:r>
            <a:endParaRPr lang="en-GB" sz="1200"/>
          </a:p>
        </p:txBody>
      </p:sp>
      <p:sp>
        <p:nvSpPr>
          <p:cNvPr id="142" name="TextBox 141">
            <a:extLst>
              <a:ext uri="{FF2B5EF4-FFF2-40B4-BE49-F238E27FC236}">
                <a16:creationId xmlns:a16="http://schemas.microsoft.com/office/drawing/2014/main" id="{7D71F98D-CA9F-E58E-311B-909245D76302}"/>
              </a:ext>
            </a:extLst>
          </p:cNvPr>
          <p:cNvSpPr txBox="1"/>
          <p:nvPr/>
        </p:nvSpPr>
        <p:spPr>
          <a:xfrm>
            <a:off x="1325275" y="8918724"/>
            <a:ext cx="699230" cy="276999"/>
          </a:xfrm>
          <a:prstGeom prst="rect">
            <a:avLst/>
          </a:prstGeom>
          <a:noFill/>
        </p:spPr>
        <p:txBody>
          <a:bodyPr wrap="none" rtlCol="0">
            <a:spAutoFit/>
          </a:bodyPr>
          <a:lstStyle/>
          <a:p>
            <a:r>
              <a:rPr lang="en-US" sz="1200"/>
              <a:t>h) 3.259</a:t>
            </a:r>
            <a:endParaRPr lang="en-GB" sz="1200"/>
          </a:p>
        </p:txBody>
      </p:sp>
      <p:sp>
        <p:nvSpPr>
          <p:cNvPr id="143" name="TextBox 142">
            <a:extLst>
              <a:ext uri="{FF2B5EF4-FFF2-40B4-BE49-F238E27FC236}">
                <a16:creationId xmlns:a16="http://schemas.microsoft.com/office/drawing/2014/main" id="{ACD1CB3D-DE84-EAB1-851C-4D54C64B7BED}"/>
              </a:ext>
            </a:extLst>
          </p:cNvPr>
          <p:cNvSpPr txBox="1"/>
          <p:nvPr/>
        </p:nvSpPr>
        <p:spPr>
          <a:xfrm>
            <a:off x="2401934" y="8918725"/>
            <a:ext cx="654346" cy="276999"/>
          </a:xfrm>
          <a:prstGeom prst="rect">
            <a:avLst/>
          </a:prstGeom>
          <a:noFill/>
        </p:spPr>
        <p:txBody>
          <a:bodyPr wrap="none" rtlCol="0">
            <a:spAutoFit/>
          </a:bodyPr>
          <a:lstStyle/>
          <a:p>
            <a:r>
              <a:rPr lang="en-US" sz="1200"/>
              <a:t>i) 3.952</a:t>
            </a:r>
            <a:endParaRPr lang="en-GB" sz="1200"/>
          </a:p>
        </p:txBody>
      </p:sp>
      <p:sp>
        <p:nvSpPr>
          <p:cNvPr id="144" name="TextBox 143">
            <a:extLst>
              <a:ext uri="{FF2B5EF4-FFF2-40B4-BE49-F238E27FC236}">
                <a16:creationId xmlns:a16="http://schemas.microsoft.com/office/drawing/2014/main" id="{D510D8B8-BCF0-274E-F492-EDE909BFCB70}"/>
              </a:ext>
            </a:extLst>
          </p:cNvPr>
          <p:cNvSpPr txBox="1"/>
          <p:nvPr/>
        </p:nvSpPr>
        <p:spPr>
          <a:xfrm>
            <a:off x="3408980" y="8941817"/>
            <a:ext cx="655949" cy="276999"/>
          </a:xfrm>
          <a:prstGeom prst="rect">
            <a:avLst/>
          </a:prstGeom>
          <a:noFill/>
        </p:spPr>
        <p:txBody>
          <a:bodyPr wrap="none" rtlCol="0">
            <a:spAutoFit/>
          </a:bodyPr>
          <a:lstStyle/>
          <a:p>
            <a:r>
              <a:rPr lang="en-US" sz="1200"/>
              <a:t>j) 4.952</a:t>
            </a:r>
            <a:endParaRPr lang="en-GB" sz="1200"/>
          </a:p>
        </p:txBody>
      </p:sp>
      <p:sp>
        <p:nvSpPr>
          <p:cNvPr id="145" name="TextBox 144">
            <a:extLst>
              <a:ext uri="{FF2B5EF4-FFF2-40B4-BE49-F238E27FC236}">
                <a16:creationId xmlns:a16="http://schemas.microsoft.com/office/drawing/2014/main" id="{0CA13745-3E65-5904-AAA3-F9EC09FBA59C}"/>
              </a:ext>
            </a:extLst>
          </p:cNvPr>
          <p:cNvSpPr txBox="1"/>
          <p:nvPr/>
        </p:nvSpPr>
        <p:spPr>
          <a:xfrm>
            <a:off x="4512743" y="8938337"/>
            <a:ext cx="689612" cy="276999"/>
          </a:xfrm>
          <a:prstGeom prst="rect">
            <a:avLst/>
          </a:prstGeom>
          <a:noFill/>
        </p:spPr>
        <p:txBody>
          <a:bodyPr wrap="none" rtlCol="0">
            <a:spAutoFit/>
          </a:bodyPr>
          <a:lstStyle/>
          <a:p>
            <a:r>
              <a:rPr lang="en-US" sz="1200"/>
              <a:t>k) 7.925</a:t>
            </a:r>
            <a:endParaRPr lang="en-GB" sz="1200"/>
          </a:p>
        </p:txBody>
      </p:sp>
      <p:sp>
        <p:nvSpPr>
          <p:cNvPr id="146" name="Rectangle 145">
            <a:extLst>
              <a:ext uri="{FF2B5EF4-FFF2-40B4-BE49-F238E27FC236}">
                <a16:creationId xmlns:a16="http://schemas.microsoft.com/office/drawing/2014/main" id="{F92BAAFD-6D2F-CD85-7A87-1FB5F1456596}"/>
              </a:ext>
            </a:extLst>
          </p:cNvPr>
          <p:cNvSpPr/>
          <p:nvPr/>
        </p:nvSpPr>
        <p:spPr>
          <a:xfrm>
            <a:off x="273018"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7" name="Rectangle 146">
            <a:extLst>
              <a:ext uri="{FF2B5EF4-FFF2-40B4-BE49-F238E27FC236}">
                <a16:creationId xmlns:a16="http://schemas.microsoft.com/office/drawing/2014/main" id="{2FA27B6B-E081-D2A7-5A6D-30BC8134D1F4}"/>
              </a:ext>
            </a:extLst>
          </p:cNvPr>
          <p:cNvSpPr/>
          <p:nvPr/>
        </p:nvSpPr>
        <p:spPr>
          <a:xfrm>
            <a:off x="1316973"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8" name="Rectangle 147">
            <a:extLst>
              <a:ext uri="{FF2B5EF4-FFF2-40B4-BE49-F238E27FC236}">
                <a16:creationId xmlns:a16="http://schemas.microsoft.com/office/drawing/2014/main" id="{DCB35A92-1B9C-6117-B596-820F7B812271}"/>
              </a:ext>
            </a:extLst>
          </p:cNvPr>
          <p:cNvSpPr/>
          <p:nvPr/>
        </p:nvSpPr>
        <p:spPr>
          <a:xfrm>
            <a:off x="2372857"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9" name="Rectangle 148">
            <a:extLst>
              <a:ext uri="{FF2B5EF4-FFF2-40B4-BE49-F238E27FC236}">
                <a16:creationId xmlns:a16="http://schemas.microsoft.com/office/drawing/2014/main" id="{4A3AD4EA-891F-0A04-D8BC-8D99A4E1DA3D}"/>
              </a:ext>
            </a:extLst>
          </p:cNvPr>
          <p:cNvSpPr/>
          <p:nvPr/>
        </p:nvSpPr>
        <p:spPr>
          <a:xfrm>
            <a:off x="3447055"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0" name="Rectangle 149">
            <a:extLst>
              <a:ext uri="{FF2B5EF4-FFF2-40B4-BE49-F238E27FC236}">
                <a16:creationId xmlns:a16="http://schemas.microsoft.com/office/drawing/2014/main" id="{BC6AEAB0-8905-6CDA-5B7E-A955E14D8DED}"/>
              </a:ext>
            </a:extLst>
          </p:cNvPr>
          <p:cNvSpPr/>
          <p:nvPr/>
        </p:nvSpPr>
        <p:spPr>
          <a:xfrm>
            <a:off x="4498719"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1" name="TextBox 150">
            <a:extLst>
              <a:ext uri="{FF2B5EF4-FFF2-40B4-BE49-F238E27FC236}">
                <a16:creationId xmlns:a16="http://schemas.microsoft.com/office/drawing/2014/main" id="{0757A6D4-E31A-B598-E284-E7D1B3E2078A}"/>
              </a:ext>
            </a:extLst>
          </p:cNvPr>
          <p:cNvSpPr txBox="1"/>
          <p:nvPr/>
        </p:nvSpPr>
        <p:spPr>
          <a:xfrm>
            <a:off x="5607756" y="8963984"/>
            <a:ext cx="654346" cy="276999"/>
          </a:xfrm>
          <a:prstGeom prst="rect">
            <a:avLst/>
          </a:prstGeom>
          <a:noFill/>
        </p:spPr>
        <p:txBody>
          <a:bodyPr wrap="none" rtlCol="0">
            <a:spAutoFit/>
          </a:bodyPr>
          <a:lstStyle/>
          <a:p>
            <a:r>
              <a:rPr lang="en-US" sz="1200"/>
              <a:t>l) 7.239</a:t>
            </a:r>
            <a:endParaRPr lang="en-GB" sz="1200"/>
          </a:p>
        </p:txBody>
      </p:sp>
      <p:sp>
        <p:nvSpPr>
          <p:cNvPr id="152" name="Rectangle 151">
            <a:extLst>
              <a:ext uri="{FF2B5EF4-FFF2-40B4-BE49-F238E27FC236}">
                <a16:creationId xmlns:a16="http://schemas.microsoft.com/office/drawing/2014/main" id="{9EE7DACB-3D47-E7A6-6FBE-E51672BA46C7}"/>
              </a:ext>
            </a:extLst>
          </p:cNvPr>
          <p:cNvSpPr/>
          <p:nvPr/>
        </p:nvSpPr>
        <p:spPr>
          <a:xfrm>
            <a:off x="5547821" y="946319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3" name="Rectangle 152">
            <a:extLst>
              <a:ext uri="{FF2B5EF4-FFF2-40B4-BE49-F238E27FC236}">
                <a16:creationId xmlns:a16="http://schemas.microsoft.com/office/drawing/2014/main" id="{9C2231B8-9772-E88D-2EE5-A19EC7DFC947}"/>
              </a:ext>
            </a:extLst>
          </p:cNvPr>
          <p:cNvSpPr/>
          <p:nvPr/>
        </p:nvSpPr>
        <p:spPr>
          <a:xfrm>
            <a:off x="95988" y="753701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798923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 name="Table 66"/>
          <p:cNvGraphicFramePr>
            <a:graphicFrameLocks noGrp="1"/>
          </p:cNvGraphicFramePr>
          <p:nvPr/>
        </p:nvGraphicFramePr>
        <p:xfrm>
          <a:off x="151212" y="593173"/>
          <a:ext cx="6555576" cy="3484668"/>
        </p:xfrm>
        <a:graphic>
          <a:graphicData uri="http://schemas.openxmlformats.org/drawingml/2006/table">
            <a:tbl>
              <a:tblPr firstRow="1" bandRow="1">
                <a:tableStyleId>{5C22544A-7EE6-4342-B048-85BDC9FD1C3A}</a:tableStyleId>
              </a:tblPr>
              <a:tblGrid>
                <a:gridCol w="1638894">
                  <a:extLst>
                    <a:ext uri="{9D8B030D-6E8A-4147-A177-3AD203B41FA5}">
                      <a16:colId xmlns:a16="http://schemas.microsoft.com/office/drawing/2014/main" val="3183964300"/>
                    </a:ext>
                  </a:extLst>
                </a:gridCol>
                <a:gridCol w="1638894">
                  <a:extLst>
                    <a:ext uri="{9D8B030D-6E8A-4147-A177-3AD203B41FA5}">
                      <a16:colId xmlns:a16="http://schemas.microsoft.com/office/drawing/2014/main" val="3461607869"/>
                    </a:ext>
                  </a:extLst>
                </a:gridCol>
                <a:gridCol w="1638894">
                  <a:extLst>
                    <a:ext uri="{9D8B030D-6E8A-4147-A177-3AD203B41FA5}">
                      <a16:colId xmlns:a16="http://schemas.microsoft.com/office/drawing/2014/main" val="536052972"/>
                    </a:ext>
                  </a:extLst>
                </a:gridCol>
                <a:gridCol w="1638894">
                  <a:extLst>
                    <a:ext uri="{9D8B030D-6E8A-4147-A177-3AD203B41FA5}">
                      <a16:colId xmlns:a16="http://schemas.microsoft.com/office/drawing/2014/main" val="3206477790"/>
                    </a:ext>
                  </a:extLst>
                </a:gridCol>
              </a:tblGrid>
              <a:tr h="316788">
                <a:tc>
                  <a:txBody>
                    <a:bodyPr/>
                    <a:lstStyle/>
                    <a:p>
                      <a:pPr algn="ctr"/>
                      <a:r>
                        <a:rPr lang="en-GB" sz="1200">
                          <a:solidFill>
                            <a:schemeClr val="tx1"/>
                          </a:solidFill>
                        </a:rPr>
                        <a:t>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1 decimal 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2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200">
                          <a:solidFill>
                            <a:schemeClr val="tx1"/>
                          </a:solidFill>
                        </a:rPr>
                        <a:t>3 decimal places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660539"/>
                  </a:ext>
                </a:extLst>
              </a:tr>
              <a:tr h="316788">
                <a:tc>
                  <a:txBody>
                    <a:bodyPr/>
                    <a:lstStyle/>
                    <a:p>
                      <a:r>
                        <a:rPr lang="en-GB" sz="1200">
                          <a:solidFill>
                            <a:schemeClr val="tx1"/>
                          </a:solidFill>
                        </a:rPr>
                        <a:t>1.  0.1234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37769"/>
                  </a:ext>
                </a:extLst>
              </a:tr>
              <a:tr h="316788">
                <a:tc>
                  <a:txBody>
                    <a:bodyPr/>
                    <a:lstStyle/>
                    <a:p>
                      <a:r>
                        <a:rPr lang="en-GB" sz="1200">
                          <a:solidFill>
                            <a:schemeClr val="tx1"/>
                          </a:solidFill>
                        </a:rPr>
                        <a:t>2.  0.2345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8698579"/>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3.  0.3456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9020854"/>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4.  0.4567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1988231"/>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5.  0.04567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54844"/>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6.  0.40567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0872940"/>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7.  0.45067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0678759"/>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8.  9.45067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2078203"/>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9.  9.45967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06072"/>
                  </a:ext>
                </a:extLst>
              </a:tr>
              <a:tr h="316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tx1"/>
                          </a:solidFill>
                        </a:rPr>
                        <a:t>10.  9.95967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0462795"/>
                  </a:ext>
                </a:extLst>
              </a:tr>
            </a:tbl>
          </a:graphicData>
        </a:graphic>
      </p:graphicFrame>
      <p:sp>
        <p:nvSpPr>
          <p:cNvPr id="68" name="TextBox 67"/>
          <p:cNvSpPr txBox="1"/>
          <p:nvPr/>
        </p:nvSpPr>
        <p:spPr>
          <a:xfrm>
            <a:off x="194834" y="238765"/>
            <a:ext cx="4076693" cy="276999"/>
          </a:xfrm>
          <a:prstGeom prst="rect">
            <a:avLst/>
          </a:prstGeom>
          <a:noFill/>
        </p:spPr>
        <p:txBody>
          <a:bodyPr wrap="none" rtlCol="0">
            <a:spAutoFit/>
          </a:bodyPr>
          <a:lstStyle/>
          <a:p>
            <a:r>
              <a:rPr lang="en-US" sz="1200" dirty="0"/>
              <a:t>9. Round each number to one, two and three decimal places. </a:t>
            </a:r>
            <a:endParaRPr lang="en-GB" sz="1200" dirty="0"/>
          </a:p>
        </p:txBody>
      </p:sp>
      <p:sp>
        <p:nvSpPr>
          <p:cNvPr id="6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20</a:t>
            </a:fld>
            <a:endParaRPr lang="en-GB"/>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ADACB53-D3DF-10FC-3064-4BF0359A02A1}"/>
                  </a:ext>
                </a:extLst>
              </p:cNvPr>
              <p:cNvSpPr txBox="1"/>
              <p:nvPr/>
            </p:nvSpPr>
            <p:spPr>
              <a:xfrm>
                <a:off x="1776859" y="4705968"/>
                <a:ext cx="2880320" cy="276999"/>
              </a:xfrm>
              <a:prstGeom prst="rect">
                <a:avLst/>
              </a:prstGeom>
              <a:noFill/>
            </p:spPr>
            <p:txBody>
              <a:bodyPr wrap="square" rtlCol="0">
                <a:spAutoFit/>
              </a:bodyPr>
              <a:lstStyle/>
              <a:p>
                <a:pPr algn="ctr"/>
                <a:r>
                  <a:rPr lang="en-GB" sz="1200" b="0"/>
                  <a:t>b) </a:t>
                </a:r>
                <a14:m>
                  <m:oMath xmlns:m="http://schemas.openxmlformats.org/officeDocument/2006/math">
                    <m:r>
                      <a:rPr lang="en-GB" sz="1200" b="0" i="1" smtClean="0">
                        <a:latin typeface="Cambria Math" panose="02040503050406030204" pitchFamily="18" charset="0"/>
                      </a:rPr>
                      <m:t>13.49581</m:t>
                    </m:r>
                  </m:oMath>
                </a14:m>
                <a:endParaRPr lang="en-GB" sz="1200"/>
              </a:p>
            </p:txBody>
          </p:sp>
        </mc:Choice>
        <mc:Fallback xmlns="">
          <p:sp>
            <p:nvSpPr>
              <p:cNvPr id="70" name="TextBox 69">
                <a:extLst>
                  <a:ext uri="{FF2B5EF4-FFF2-40B4-BE49-F238E27FC236}">
                    <a16:creationId xmlns:a16="http://schemas.microsoft.com/office/drawing/2014/main" id="{3ADACB53-D3DF-10FC-3064-4BF0359A02A1}"/>
                  </a:ext>
                </a:extLst>
              </p:cNvPr>
              <p:cNvSpPr txBox="1">
                <a:spLocks noRot="1" noChangeAspect="1" noMove="1" noResize="1" noEditPoints="1" noAdjustHandles="1" noChangeArrowheads="1" noChangeShapeType="1" noTextEdit="1"/>
              </p:cNvSpPr>
              <p:nvPr/>
            </p:nvSpPr>
            <p:spPr>
              <a:xfrm>
                <a:off x="1776859" y="4705968"/>
                <a:ext cx="2880320" cy="276999"/>
              </a:xfrm>
              <a:prstGeom prst="rect">
                <a:avLst/>
              </a:prstGeom>
              <a:blipFill>
                <a:blip r:embed="rId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EBC16F2-5E71-E272-B53D-97A03DA677FA}"/>
                  </a:ext>
                </a:extLst>
              </p:cNvPr>
              <p:cNvSpPr txBox="1"/>
              <p:nvPr/>
            </p:nvSpPr>
            <p:spPr>
              <a:xfrm>
                <a:off x="-314014" y="4615483"/>
                <a:ext cx="2880320" cy="276999"/>
              </a:xfrm>
              <a:prstGeom prst="rect">
                <a:avLst/>
              </a:prstGeom>
              <a:noFill/>
            </p:spPr>
            <p:txBody>
              <a:bodyPr wrap="square" rtlCol="0">
                <a:spAutoFit/>
              </a:bodyPr>
              <a:lstStyle/>
              <a:p>
                <a:pPr algn="ctr"/>
                <a:r>
                  <a:rPr lang="en-GB" sz="1200" b="0"/>
                  <a:t>a) </a:t>
                </a:r>
                <a14:m>
                  <m:oMath xmlns:m="http://schemas.openxmlformats.org/officeDocument/2006/math">
                    <m:r>
                      <a:rPr lang="en-GB" sz="1200" b="0" i="1" smtClean="0">
                        <a:latin typeface="Cambria Math" panose="02040503050406030204" pitchFamily="18" charset="0"/>
                      </a:rPr>
                      <m:t>7.74026</m:t>
                    </m:r>
                  </m:oMath>
                </a14:m>
                <a:endParaRPr lang="en-GB" sz="1200"/>
              </a:p>
            </p:txBody>
          </p:sp>
        </mc:Choice>
        <mc:Fallback xmlns="">
          <p:sp>
            <p:nvSpPr>
              <p:cNvPr id="71" name="TextBox 70">
                <a:extLst>
                  <a:ext uri="{FF2B5EF4-FFF2-40B4-BE49-F238E27FC236}">
                    <a16:creationId xmlns:a16="http://schemas.microsoft.com/office/drawing/2014/main" id="{0EBC16F2-5E71-E272-B53D-97A03DA677FA}"/>
                  </a:ext>
                </a:extLst>
              </p:cNvPr>
              <p:cNvSpPr txBox="1">
                <a:spLocks noRot="1" noChangeAspect="1" noMove="1" noResize="1" noEditPoints="1" noAdjustHandles="1" noChangeArrowheads="1" noChangeShapeType="1" noTextEdit="1"/>
              </p:cNvSpPr>
              <p:nvPr/>
            </p:nvSpPr>
            <p:spPr>
              <a:xfrm>
                <a:off x="-314014" y="4615483"/>
                <a:ext cx="2880320" cy="276999"/>
              </a:xfrm>
              <a:prstGeom prst="rect">
                <a:avLst/>
              </a:prstGeom>
              <a:blipFill>
                <a:blip r:embed="rId3"/>
                <a:stretch>
                  <a:fillRect b="-15217"/>
                </a:stretch>
              </a:blipFill>
            </p:spPr>
            <p:txBody>
              <a:bodyPr/>
              <a:lstStyle/>
              <a:p>
                <a:r>
                  <a:rPr lang="en-US">
                    <a:noFill/>
                  </a:rPr>
                  <a:t> </a:t>
                </a:r>
              </a:p>
            </p:txBody>
          </p:sp>
        </mc:Fallback>
      </mc:AlternateContent>
      <p:graphicFrame>
        <p:nvGraphicFramePr>
          <p:cNvPr id="72" name="Table 71">
            <a:extLst>
              <a:ext uri="{FF2B5EF4-FFF2-40B4-BE49-F238E27FC236}">
                <a16:creationId xmlns:a16="http://schemas.microsoft.com/office/drawing/2014/main" id="{5D91BA67-5EB5-634F-E5E1-0E53D4993C19}"/>
              </a:ext>
            </a:extLst>
          </p:cNvPr>
          <p:cNvGraphicFramePr>
            <a:graphicFrameLocks noGrp="1"/>
          </p:cNvGraphicFramePr>
          <p:nvPr/>
        </p:nvGraphicFramePr>
        <p:xfrm>
          <a:off x="93758" y="4982967"/>
          <a:ext cx="1726077" cy="1483360"/>
        </p:xfrm>
        <a:graphic>
          <a:graphicData uri="http://schemas.openxmlformats.org/drawingml/2006/table">
            <a:tbl>
              <a:tblPr bandRow="1">
                <a:tableStyleId>{073A0DAA-6AF3-43AB-8588-CEC1D06C72B9}</a:tableStyleId>
              </a:tblPr>
              <a:tblGrid>
                <a:gridCol w="586866">
                  <a:extLst>
                    <a:ext uri="{9D8B030D-6E8A-4147-A177-3AD203B41FA5}">
                      <a16:colId xmlns:a16="http://schemas.microsoft.com/office/drawing/2014/main" val="20000"/>
                    </a:ext>
                  </a:extLst>
                </a:gridCol>
                <a:gridCol w="1139211">
                  <a:extLst>
                    <a:ext uri="{9D8B030D-6E8A-4147-A177-3AD203B41FA5}">
                      <a16:colId xmlns:a16="http://schemas.microsoft.com/office/drawing/2014/main" val="20001"/>
                    </a:ext>
                  </a:extLst>
                </a:gridCol>
              </a:tblGrid>
              <a:tr h="370840">
                <a:tc>
                  <a:txBody>
                    <a:bodyPr/>
                    <a:lstStyle/>
                    <a:p>
                      <a:r>
                        <a:rPr lang="en-GB" sz="1200"/>
                        <a:t>1dp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2dp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3dp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4dp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EE77EB-B3C8-239A-9CD5-B110E48B1B2B}"/>
                  </a:ext>
                </a:extLst>
              </p:cNvPr>
              <p:cNvSpPr txBox="1"/>
              <p:nvPr/>
            </p:nvSpPr>
            <p:spPr>
              <a:xfrm>
                <a:off x="3977680" y="4705967"/>
                <a:ext cx="2880320" cy="276999"/>
              </a:xfrm>
              <a:prstGeom prst="rect">
                <a:avLst/>
              </a:prstGeom>
              <a:noFill/>
            </p:spPr>
            <p:txBody>
              <a:bodyPr wrap="square" rtlCol="0">
                <a:spAutoFit/>
              </a:bodyPr>
              <a:lstStyle/>
              <a:p>
                <a:pPr algn="ctr"/>
                <a:r>
                  <a:rPr lang="en-GB" sz="1200" b="0"/>
                  <a:t>c) </a:t>
                </a:r>
                <a14:m>
                  <m:oMath xmlns:m="http://schemas.openxmlformats.org/officeDocument/2006/math">
                    <m:r>
                      <a:rPr lang="en-GB" sz="1200" b="0" i="1" smtClean="0">
                        <a:latin typeface="Cambria Math" panose="02040503050406030204" pitchFamily="18" charset="0"/>
                      </a:rPr>
                      <m:t>9.990099009</m:t>
                    </m:r>
                  </m:oMath>
                </a14:m>
                <a:endParaRPr lang="en-GB" sz="1200"/>
              </a:p>
            </p:txBody>
          </p:sp>
        </mc:Choice>
        <mc:Fallback xmlns="">
          <p:sp>
            <p:nvSpPr>
              <p:cNvPr id="73" name="TextBox 72">
                <a:extLst>
                  <a:ext uri="{FF2B5EF4-FFF2-40B4-BE49-F238E27FC236}">
                    <a16:creationId xmlns:a16="http://schemas.microsoft.com/office/drawing/2014/main" id="{DDEE77EB-B3C8-239A-9CD5-B110E48B1B2B}"/>
                  </a:ext>
                </a:extLst>
              </p:cNvPr>
              <p:cNvSpPr txBox="1">
                <a:spLocks noRot="1" noChangeAspect="1" noMove="1" noResize="1" noEditPoints="1" noAdjustHandles="1" noChangeArrowheads="1" noChangeShapeType="1" noTextEdit="1"/>
              </p:cNvSpPr>
              <p:nvPr/>
            </p:nvSpPr>
            <p:spPr>
              <a:xfrm>
                <a:off x="3977680" y="4705967"/>
                <a:ext cx="2880320" cy="276999"/>
              </a:xfrm>
              <a:prstGeom prst="rect">
                <a:avLst/>
              </a:prstGeom>
              <a:blipFill>
                <a:blip r:embed="rId4"/>
                <a:stretch>
                  <a:fillRect t="-2222" b="-17778"/>
                </a:stretch>
              </a:blipFill>
            </p:spPr>
            <p:txBody>
              <a:bodyPr/>
              <a:lstStyle/>
              <a:p>
                <a:r>
                  <a:rPr lang="en-US">
                    <a:noFill/>
                  </a:rPr>
                  <a:t> </a:t>
                </a:r>
              </a:p>
            </p:txBody>
          </p:sp>
        </mc:Fallback>
      </mc:AlternateContent>
      <p:graphicFrame>
        <p:nvGraphicFramePr>
          <p:cNvPr id="74" name="Table 73">
            <a:extLst>
              <a:ext uri="{FF2B5EF4-FFF2-40B4-BE49-F238E27FC236}">
                <a16:creationId xmlns:a16="http://schemas.microsoft.com/office/drawing/2014/main" id="{9E70A74D-B33B-BE41-EEC6-BCEB6A9D56E7}"/>
              </a:ext>
            </a:extLst>
          </p:cNvPr>
          <p:cNvGraphicFramePr>
            <a:graphicFrameLocks noGrp="1"/>
          </p:cNvGraphicFramePr>
          <p:nvPr/>
        </p:nvGraphicFramePr>
        <p:xfrm>
          <a:off x="4288907" y="4982966"/>
          <a:ext cx="2365419" cy="1483360"/>
        </p:xfrm>
        <a:graphic>
          <a:graphicData uri="http://schemas.openxmlformats.org/drawingml/2006/table">
            <a:tbl>
              <a:tblPr bandRow="1">
                <a:tableStyleId>{073A0DAA-6AF3-43AB-8588-CEC1D06C72B9}</a:tableStyleId>
              </a:tblPr>
              <a:tblGrid>
                <a:gridCol w="985779">
                  <a:extLst>
                    <a:ext uri="{9D8B030D-6E8A-4147-A177-3AD203B41FA5}">
                      <a16:colId xmlns:a16="http://schemas.microsoft.com/office/drawing/2014/main" val="20000"/>
                    </a:ext>
                  </a:extLst>
                </a:gridCol>
                <a:gridCol w="1379640">
                  <a:extLst>
                    <a:ext uri="{9D8B030D-6E8A-4147-A177-3AD203B41FA5}">
                      <a16:colId xmlns:a16="http://schemas.microsoft.com/office/drawing/2014/main" val="20001"/>
                    </a:ext>
                  </a:extLst>
                </a:gridCol>
              </a:tblGrid>
              <a:tr h="370840">
                <a:tc>
                  <a:txBody>
                    <a:bodyPr/>
                    <a:lstStyle/>
                    <a:p>
                      <a:r>
                        <a:rPr lang="en-GB" sz="1200"/>
                        <a:t>5dp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6dp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7dp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8dp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5" name="TextBox 74">
            <a:extLst>
              <a:ext uri="{FF2B5EF4-FFF2-40B4-BE49-F238E27FC236}">
                <a16:creationId xmlns:a16="http://schemas.microsoft.com/office/drawing/2014/main" id="{AAE8FD93-BEED-B22F-5179-B7E7F3F194FA}"/>
              </a:ext>
            </a:extLst>
          </p:cNvPr>
          <p:cNvSpPr txBox="1"/>
          <p:nvPr/>
        </p:nvSpPr>
        <p:spPr>
          <a:xfrm>
            <a:off x="122950" y="4245227"/>
            <a:ext cx="3682611" cy="276999"/>
          </a:xfrm>
          <a:prstGeom prst="rect">
            <a:avLst/>
          </a:prstGeom>
          <a:noFill/>
        </p:spPr>
        <p:txBody>
          <a:bodyPr wrap="none" rtlCol="0">
            <a:spAutoFit/>
          </a:bodyPr>
          <a:lstStyle/>
          <a:p>
            <a:r>
              <a:rPr lang="en-US" sz="1200" dirty="0"/>
              <a:t>10. Round each number to the decimal places specified. </a:t>
            </a:r>
            <a:endParaRPr lang="en-GB" sz="1200" dirty="0"/>
          </a:p>
        </p:txBody>
      </p:sp>
      <p:graphicFrame>
        <p:nvGraphicFramePr>
          <p:cNvPr id="76" name="Table 75">
            <a:extLst>
              <a:ext uri="{FF2B5EF4-FFF2-40B4-BE49-F238E27FC236}">
                <a16:creationId xmlns:a16="http://schemas.microsoft.com/office/drawing/2014/main" id="{994DC10E-7915-710F-3E7C-558ECAB542FC}"/>
              </a:ext>
            </a:extLst>
          </p:cNvPr>
          <p:cNvGraphicFramePr>
            <a:graphicFrameLocks noGrp="1"/>
          </p:cNvGraphicFramePr>
          <p:nvPr/>
        </p:nvGraphicFramePr>
        <p:xfrm>
          <a:off x="2158534" y="4982967"/>
          <a:ext cx="1726077" cy="1483360"/>
        </p:xfrm>
        <a:graphic>
          <a:graphicData uri="http://schemas.openxmlformats.org/drawingml/2006/table">
            <a:tbl>
              <a:tblPr bandRow="1">
                <a:tableStyleId>{073A0DAA-6AF3-43AB-8588-CEC1D06C72B9}</a:tableStyleId>
              </a:tblPr>
              <a:tblGrid>
                <a:gridCol w="586866">
                  <a:extLst>
                    <a:ext uri="{9D8B030D-6E8A-4147-A177-3AD203B41FA5}">
                      <a16:colId xmlns:a16="http://schemas.microsoft.com/office/drawing/2014/main" val="20000"/>
                    </a:ext>
                  </a:extLst>
                </a:gridCol>
                <a:gridCol w="1139211">
                  <a:extLst>
                    <a:ext uri="{9D8B030D-6E8A-4147-A177-3AD203B41FA5}">
                      <a16:colId xmlns:a16="http://schemas.microsoft.com/office/drawing/2014/main" val="20001"/>
                    </a:ext>
                  </a:extLst>
                </a:gridCol>
              </a:tblGrid>
              <a:tr h="370840">
                <a:tc>
                  <a:txBody>
                    <a:bodyPr/>
                    <a:lstStyle/>
                    <a:p>
                      <a:r>
                        <a:rPr lang="en-GB" sz="1200"/>
                        <a:t>1dp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sz="1200"/>
                        <a:t>2dp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sz="1200"/>
                        <a:t>3dp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sz="1200"/>
                        <a:t>4dp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7" name="TextBox 76">
            <a:extLst>
              <a:ext uri="{FF2B5EF4-FFF2-40B4-BE49-F238E27FC236}">
                <a16:creationId xmlns:a16="http://schemas.microsoft.com/office/drawing/2014/main" id="{91F2FC92-C125-7F4B-C7A5-93E53C9DB81C}"/>
              </a:ext>
            </a:extLst>
          </p:cNvPr>
          <p:cNvSpPr txBox="1"/>
          <p:nvPr/>
        </p:nvSpPr>
        <p:spPr>
          <a:xfrm>
            <a:off x="95468" y="6743326"/>
            <a:ext cx="6611320" cy="1569660"/>
          </a:xfrm>
          <a:prstGeom prst="rect">
            <a:avLst/>
          </a:prstGeom>
          <a:noFill/>
        </p:spPr>
        <p:txBody>
          <a:bodyPr wrap="square">
            <a:spAutoFit/>
          </a:bodyPr>
          <a:lstStyle/>
          <a:p>
            <a:r>
              <a:rPr lang="en-US" sz="1200"/>
              <a:t>11: 51.26% of the people living in a town are female. Round this figure to one decimal place. </a:t>
            </a:r>
          </a:p>
          <a:p>
            <a:endParaRPr lang="en-US" sz="1200"/>
          </a:p>
          <a:p>
            <a:endParaRPr lang="en-US" sz="1200"/>
          </a:p>
          <a:p>
            <a:endParaRPr lang="en-US" sz="1200"/>
          </a:p>
          <a:p>
            <a:endParaRPr lang="en-US" sz="1200"/>
          </a:p>
          <a:p>
            <a:r>
              <a:rPr lang="en-US" sz="1200"/>
              <a:t>12. Walter has worked out a calculation on a calculator. </a:t>
            </a:r>
          </a:p>
          <a:p>
            <a:r>
              <a:rPr lang="en-US" sz="1200"/>
              <a:t>Shown on the calculator is the answer. (a) Round the answer to one decimal place (b) Round the answer to two decimal places </a:t>
            </a:r>
          </a:p>
        </p:txBody>
      </p:sp>
      <p:sp>
        <p:nvSpPr>
          <p:cNvPr id="78" name="Rectangle 77">
            <a:extLst>
              <a:ext uri="{FF2B5EF4-FFF2-40B4-BE49-F238E27FC236}">
                <a16:creationId xmlns:a16="http://schemas.microsoft.com/office/drawing/2014/main" id="{A37F4AD8-A307-854F-963A-94F532864206}"/>
              </a:ext>
            </a:extLst>
          </p:cNvPr>
          <p:cNvSpPr/>
          <p:nvPr/>
        </p:nvSpPr>
        <p:spPr>
          <a:xfrm>
            <a:off x="151215" y="7024182"/>
            <a:ext cx="6464121" cy="51803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34">
            <a:extLst>
              <a:ext uri="{FF2B5EF4-FFF2-40B4-BE49-F238E27FC236}">
                <a16:creationId xmlns:a16="http://schemas.microsoft.com/office/drawing/2014/main" id="{E005C492-9022-0290-52DA-ADE27A5A94F3}"/>
              </a:ext>
            </a:extLst>
          </p:cNvPr>
          <p:cNvSpPr/>
          <p:nvPr/>
        </p:nvSpPr>
        <p:spPr>
          <a:xfrm>
            <a:off x="151212" y="8338050"/>
            <a:ext cx="4466977" cy="974777"/>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pic>
        <p:nvPicPr>
          <p:cNvPr id="80" name="Picture 79">
            <a:extLst>
              <a:ext uri="{FF2B5EF4-FFF2-40B4-BE49-F238E27FC236}">
                <a16:creationId xmlns:a16="http://schemas.microsoft.com/office/drawing/2014/main" id="{F7C389D2-AEFE-6A6A-A222-061C6C365162}"/>
              </a:ext>
            </a:extLst>
          </p:cNvPr>
          <p:cNvPicPr>
            <a:picLocks noChangeAspect="1"/>
          </p:cNvPicPr>
          <p:nvPr/>
        </p:nvPicPr>
        <p:blipFill>
          <a:blip r:embed="rId5"/>
          <a:stretch>
            <a:fillRect/>
          </a:stretch>
        </p:blipFill>
        <p:spPr>
          <a:xfrm>
            <a:off x="4669516" y="8338050"/>
            <a:ext cx="1813343" cy="1152480"/>
          </a:xfrm>
          <a:prstGeom prst="rect">
            <a:avLst/>
          </a:prstGeom>
        </p:spPr>
      </p:pic>
    </p:spTree>
    <p:extLst>
      <p:ext uri="{BB962C8B-B14F-4D97-AF65-F5344CB8AC3E}">
        <p14:creationId xmlns:p14="http://schemas.microsoft.com/office/powerpoint/2010/main" val="384831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B31203-9840-BF41-BC21-9BBDC9FD889E}"/>
              </a:ext>
            </a:extLst>
          </p:cNvPr>
          <p:cNvSpPr/>
          <p:nvPr/>
        </p:nvSpPr>
        <p:spPr>
          <a:xfrm>
            <a:off x="62231" y="349311"/>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1A70DB0-E034-5E48-820B-5C1AA0BA9573}"/>
              </a:ext>
            </a:extLst>
          </p:cNvPr>
          <p:cNvSpPr txBox="1"/>
          <p:nvPr/>
        </p:nvSpPr>
        <p:spPr>
          <a:xfrm>
            <a:off x="32528" y="721564"/>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36530E70-874D-7543-8430-2F865F81EB0F}"/>
              </a:ext>
            </a:extLst>
          </p:cNvPr>
          <p:cNvSpPr txBox="1"/>
          <p:nvPr/>
        </p:nvSpPr>
        <p:spPr>
          <a:xfrm>
            <a:off x="902330" y="416060"/>
            <a:ext cx="5048103"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round decimals to a given degree of accuracy.</a:t>
            </a:r>
          </a:p>
        </p:txBody>
      </p:sp>
      <p:sp>
        <p:nvSpPr>
          <p:cNvPr id="8" name="TextBox 7">
            <a:extLst>
              <a:ext uri="{FF2B5EF4-FFF2-40B4-BE49-F238E27FC236}">
                <a16:creationId xmlns:a16="http://schemas.microsoft.com/office/drawing/2014/main" id="{169B8EF0-B913-6D41-A23F-4869CF21BF26}"/>
              </a:ext>
            </a:extLst>
          </p:cNvPr>
          <p:cNvSpPr txBox="1"/>
          <p:nvPr/>
        </p:nvSpPr>
        <p:spPr>
          <a:xfrm>
            <a:off x="5489759" y="824218"/>
            <a:ext cx="1233799"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significant figure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Approximate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000">
                <a:solidFill>
                  <a:prstClr val="black"/>
                </a:solidFill>
                <a:latin typeface="Calibri" panose="020F0502020204030204"/>
              </a:rPr>
              <a:t>estimate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lide Number Placeholder 1">
            <a:extLst>
              <a:ext uri="{FF2B5EF4-FFF2-40B4-BE49-F238E27FC236}">
                <a16:creationId xmlns:a16="http://schemas.microsoft.com/office/drawing/2014/main" id="{7AED5B24-E8CB-254F-AF98-D924432534A4}"/>
              </a:ext>
            </a:extLst>
          </p:cNvPr>
          <p:cNvSpPr txBox="1">
            <a:spLocks/>
          </p:cNvSpPr>
          <p:nvPr/>
        </p:nvSpPr>
        <p:spPr>
          <a:xfrm>
            <a:off x="5371986" y="9543590"/>
            <a:ext cx="1543050" cy="527403"/>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9F1D9CC-7119-45EC-A96C-D8C0660F3AAB}" type="slidenum">
              <a:rPr kumimoji="0" lang="en-GB"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8F39A130-8099-1D64-347C-E9696BE9198C}"/>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Subtopic 9 – Rounding to significant figures</a:t>
            </a:r>
          </a:p>
        </p:txBody>
      </p:sp>
      <p:sp>
        <p:nvSpPr>
          <p:cNvPr id="17" name="TextBox 1">
            <a:extLst>
              <a:ext uri="{FF2B5EF4-FFF2-40B4-BE49-F238E27FC236}">
                <a16:creationId xmlns:a16="http://schemas.microsoft.com/office/drawing/2014/main" id="{B69EA680-BCE1-00DB-1E68-3616EC928688}"/>
              </a:ext>
            </a:extLst>
          </p:cNvPr>
          <p:cNvSpPr txBox="1"/>
          <p:nvPr/>
        </p:nvSpPr>
        <p:spPr>
          <a:xfrm>
            <a:off x="902330" y="858782"/>
            <a:ext cx="4667990"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mj-lt"/>
              <a:buAutoNum type="arabicPeriod"/>
            </a:pPr>
            <a:r>
              <a:rPr lang="en-GB" sz="1200"/>
              <a:t>To be able to identify significant figures.</a:t>
            </a:r>
          </a:p>
          <a:p>
            <a:pPr marL="342900" indent="-342900">
              <a:buFont typeface="+mj-lt"/>
              <a:buAutoNum type="arabicPeriod"/>
            </a:pPr>
            <a:r>
              <a:rPr lang="en-GB" sz="1200"/>
              <a:t>To be able to round to a given number of decimal places.</a:t>
            </a:r>
          </a:p>
          <a:p>
            <a:pPr marL="342900" indent="-342900">
              <a:buFont typeface="+mj-lt"/>
              <a:buAutoNum type="arabicPeriod"/>
            </a:pPr>
            <a:r>
              <a:rPr lang="en-GB" sz="1200"/>
              <a:t>To be able to round to a given number of significant figures.</a:t>
            </a:r>
          </a:p>
        </p:txBody>
      </p:sp>
      <p:cxnSp>
        <p:nvCxnSpPr>
          <p:cNvPr id="22" name="Straight Connector 21">
            <a:extLst>
              <a:ext uri="{FF2B5EF4-FFF2-40B4-BE49-F238E27FC236}">
                <a16:creationId xmlns:a16="http://schemas.microsoft.com/office/drawing/2014/main" id="{7D7E2F86-796A-4B82-D9EA-E7C903718AC8}"/>
              </a:ext>
            </a:extLst>
          </p:cNvPr>
          <p:cNvCxnSpPr>
            <a:cxnSpLocks/>
          </p:cNvCxnSpPr>
          <p:nvPr/>
        </p:nvCxnSpPr>
        <p:spPr>
          <a:xfrm>
            <a:off x="1006901" y="6900223"/>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3" name="Table 22">
            <a:extLst>
              <a:ext uri="{FF2B5EF4-FFF2-40B4-BE49-F238E27FC236}">
                <a16:creationId xmlns:a16="http://schemas.microsoft.com/office/drawing/2014/main" id="{3555ACF4-F2AD-3318-8EC7-9F2FB257A1CE}"/>
              </a:ext>
            </a:extLst>
          </p:cNvPr>
          <p:cNvGraphicFramePr>
            <a:graphicFrameLocks noGrp="1"/>
          </p:cNvGraphicFramePr>
          <p:nvPr>
            <p:extLst>
              <p:ext uri="{D42A27DB-BD31-4B8C-83A1-F6EECF244321}">
                <p14:modId xmlns:p14="http://schemas.microsoft.com/office/powerpoint/2010/main" val="3737814199"/>
              </p:ext>
            </p:extLst>
          </p:nvPr>
        </p:nvGraphicFramePr>
        <p:xfrm>
          <a:off x="208641" y="5455850"/>
          <a:ext cx="6558921" cy="3204042"/>
        </p:xfrm>
        <a:graphic>
          <a:graphicData uri="http://schemas.openxmlformats.org/drawingml/2006/table">
            <a:tbl>
              <a:tblPr firstRow="1" bandRow="1">
                <a:tableStyleId>{5C22544A-7EE6-4342-B048-85BDC9FD1C3A}</a:tableStyleId>
              </a:tblPr>
              <a:tblGrid>
                <a:gridCol w="1455714">
                  <a:extLst>
                    <a:ext uri="{9D8B030D-6E8A-4147-A177-3AD203B41FA5}">
                      <a16:colId xmlns:a16="http://schemas.microsoft.com/office/drawing/2014/main" val="4294787734"/>
                    </a:ext>
                  </a:extLst>
                </a:gridCol>
                <a:gridCol w="1701069">
                  <a:extLst>
                    <a:ext uri="{9D8B030D-6E8A-4147-A177-3AD203B41FA5}">
                      <a16:colId xmlns:a16="http://schemas.microsoft.com/office/drawing/2014/main" val="609968388"/>
                    </a:ext>
                  </a:extLst>
                </a:gridCol>
                <a:gridCol w="1701069">
                  <a:extLst>
                    <a:ext uri="{9D8B030D-6E8A-4147-A177-3AD203B41FA5}">
                      <a16:colId xmlns:a16="http://schemas.microsoft.com/office/drawing/2014/main" val="3207776717"/>
                    </a:ext>
                  </a:extLst>
                </a:gridCol>
                <a:gridCol w="1701069">
                  <a:extLst>
                    <a:ext uri="{9D8B030D-6E8A-4147-A177-3AD203B41FA5}">
                      <a16:colId xmlns:a16="http://schemas.microsoft.com/office/drawing/2014/main" val="1889420402"/>
                    </a:ext>
                  </a:extLst>
                </a:gridCol>
              </a:tblGrid>
              <a:tr h="359428">
                <a:tc grid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Identify which</a:t>
                      </a:r>
                      <a:r>
                        <a:rPr lang="en-US" sz="1200" b="0" baseline="0" dirty="0">
                          <a:solidFill>
                            <a:schemeClr val="tx1"/>
                          </a:solidFill>
                        </a:rPr>
                        <a:t> digit is the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Identify which</a:t>
                      </a:r>
                      <a:r>
                        <a:rPr lang="en-US" sz="1100" b="1" baseline="0">
                          <a:solidFill>
                            <a:schemeClr val="tx1"/>
                          </a:solidFill>
                        </a:rPr>
                        <a:t> digit is the significant figure</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22307">
                <a:tc>
                  <a:txBody>
                    <a:bodyPr/>
                    <a:lstStyle/>
                    <a:p>
                      <a:pPr marL="0" indent="0">
                        <a:buNone/>
                      </a:pPr>
                      <a:r>
                        <a:rPr lang="en-US" sz="1100">
                          <a:solidFill>
                            <a:schemeClr val="tx1"/>
                          </a:solidFill>
                        </a:rPr>
                        <a:t>1) Identify the position of the first non-zero digit, starting from the left.</a:t>
                      </a:r>
                    </a:p>
                    <a:p>
                      <a:pPr marL="228600" indent="-228600">
                        <a:buAutoNum type="arabicParenR"/>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22307">
                <a:tc>
                  <a:txBody>
                    <a:bodyPr/>
                    <a:lstStyle/>
                    <a:p>
                      <a:pPr marL="0" indent="0">
                        <a:buNone/>
                      </a:pPr>
                      <a:r>
                        <a:rPr lang="en-US" sz="1100" dirty="0">
                          <a:solidFill>
                            <a:schemeClr val="tx1"/>
                          </a:solidFill>
                        </a:rPr>
                        <a:t>2) Count until you reach the required digit.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28910507"/>
                  </a:ext>
                </a:extLst>
              </a:tr>
            </a:tbl>
          </a:graphicData>
        </a:graphic>
      </p:graphicFrame>
      <p:sp>
        <p:nvSpPr>
          <p:cNvPr id="24" name="TextBox 23">
            <a:extLst>
              <a:ext uri="{FF2B5EF4-FFF2-40B4-BE49-F238E27FC236}">
                <a16:creationId xmlns:a16="http://schemas.microsoft.com/office/drawing/2014/main" id="{BEA41BC9-3C07-3CB0-069C-E90FF3DBCB7F}"/>
              </a:ext>
            </a:extLst>
          </p:cNvPr>
          <p:cNvSpPr txBox="1"/>
          <p:nvPr/>
        </p:nvSpPr>
        <p:spPr>
          <a:xfrm>
            <a:off x="719917" y="5141267"/>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25" name="TextBox 24">
            <a:extLst>
              <a:ext uri="{FF2B5EF4-FFF2-40B4-BE49-F238E27FC236}">
                <a16:creationId xmlns:a16="http://schemas.microsoft.com/office/drawing/2014/main" id="{E5385075-6BBC-AD63-7C52-4966A3DA6608}"/>
              </a:ext>
            </a:extLst>
          </p:cNvPr>
          <p:cNvSpPr txBox="1"/>
          <p:nvPr/>
        </p:nvSpPr>
        <p:spPr>
          <a:xfrm>
            <a:off x="4920922" y="5141267"/>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26" name="TextBox 25">
            <a:extLst>
              <a:ext uri="{FF2B5EF4-FFF2-40B4-BE49-F238E27FC236}">
                <a16:creationId xmlns:a16="http://schemas.microsoft.com/office/drawing/2014/main" id="{01317B0F-BEDE-CA59-EC9C-CDBCEA7CEB32}"/>
              </a:ext>
            </a:extLst>
          </p:cNvPr>
          <p:cNvSpPr txBox="1"/>
          <p:nvPr/>
        </p:nvSpPr>
        <p:spPr>
          <a:xfrm>
            <a:off x="2788721" y="5132428"/>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27" name="TextBox 26">
            <a:extLst>
              <a:ext uri="{FF2B5EF4-FFF2-40B4-BE49-F238E27FC236}">
                <a16:creationId xmlns:a16="http://schemas.microsoft.com/office/drawing/2014/main" id="{FC34730D-830A-F761-4728-9C4C4127A59B}"/>
              </a:ext>
            </a:extLst>
          </p:cNvPr>
          <p:cNvSpPr txBox="1"/>
          <p:nvPr/>
        </p:nvSpPr>
        <p:spPr>
          <a:xfrm>
            <a:off x="1784888" y="5829358"/>
            <a:ext cx="1419715" cy="2677656"/>
          </a:xfrm>
          <a:prstGeom prst="rect">
            <a:avLst/>
          </a:prstGeom>
          <a:noFill/>
        </p:spPr>
        <p:txBody>
          <a:bodyPr wrap="square" rtlCol="0">
            <a:spAutoFit/>
          </a:bodyPr>
          <a:lstStyle/>
          <a:p>
            <a:pPr algn="ctr"/>
            <a:r>
              <a:rPr lang="en-US" sz="1200"/>
              <a:t>Which significant figure is the 5?</a:t>
            </a:r>
          </a:p>
          <a:p>
            <a:pPr algn="ctr"/>
            <a:endParaRPr lang="en-US" sz="1200"/>
          </a:p>
          <a:p>
            <a:pPr algn="ctr"/>
            <a:r>
              <a:rPr lang="en-US" sz="1200"/>
              <a:t>560</a:t>
            </a:r>
          </a:p>
          <a:p>
            <a:pPr algn="ctr"/>
            <a:endParaRPr lang="en-US" sz="1200"/>
          </a:p>
          <a:p>
            <a:pPr algn="ctr"/>
            <a:endParaRPr lang="en-US" sz="1200"/>
          </a:p>
          <a:p>
            <a:pPr algn="ctr"/>
            <a:endParaRPr lang="en-US" sz="1200"/>
          </a:p>
          <a:p>
            <a:pPr algn="ctr"/>
            <a:r>
              <a:rPr lang="en-US" sz="1200"/>
              <a:t>0.05</a:t>
            </a:r>
          </a:p>
          <a:p>
            <a:pPr algn="ctr"/>
            <a:endParaRPr lang="en-US" sz="1200"/>
          </a:p>
          <a:p>
            <a:pPr algn="ctr"/>
            <a:endParaRPr lang="en-US" sz="1200"/>
          </a:p>
          <a:p>
            <a:pPr algn="ctr"/>
            <a:endParaRPr lang="en-US" sz="1200"/>
          </a:p>
          <a:p>
            <a:pPr algn="ctr"/>
            <a:r>
              <a:rPr lang="en-US" sz="1200"/>
              <a:t>0.00475</a:t>
            </a:r>
          </a:p>
          <a:p>
            <a:pPr algn="ctr"/>
            <a:endParaRPr lang="en-US" sz="1200"/>
          </a:p>
          <a:p>
            <a:pPr algn="ctr"/>
            <a:endParaRPr lang="en-US" sz="1200" u="sng"/>
          </a:p>
        </p:txBody>
      </p:sp>
      <p:sp>
        <p:nvSpPr>
          <p:cNvPr id="28" name="Rectangle 27">
            <a:extLst>
              <a:ext uri="{FF2B5EF4-FFF2-40B4-BE49-F238E27FC236}">
                <a16:creationId xmlns:a16="http://schemas.microsoft.com/office/drawing/2014/main" id="{BAA2267A-C1F2-D644-0A31-68A8FDE54DF0}"/>
              </a:ext>
            </a:extLst>
          </p:cNvPr>
          <p:cNvSpPr/>
          <p:nvPr/>
        </p:nvSpPr>
        <p:spPr>
          <a:xfrm>
            <a:off x="1781066" y="665154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60B19DDE-10E1-EAE0-1662-D5A2EF1D8D97}"/>
              </a:ext>
            </a:extLst>
          </p:cNvPr>
          <p:cNvSpPr/>
          <p:nvPr/>
        </p:nvSpPr>
        <p:spPr>
          <a:xfrm>
            <a:off x="1788537" y="736417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502F6F51-37E0-2D3A-937F-E429089769F2}"/>
              </a:ext>
            </a:extLst>
          </p:cNvPr>
          <p:cNvSpPr/>
          <p:nvPr/>
        </p:nvSpPr>
        <p:spPr>
          <a:xfrm>
            <a:off x="1770121" y="8138218"/>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1" name="Straight Connector 30">
            <a:extLst>
              <a:ext uri="{FF2B5EF4-FFF2-40B4-BE49-F238E27FC236}">
                <a16:creationId xmlns:a16="http://schemas.microsoft.com/office/drawing/2014/main" id="{33CB9E62-A8BA-270D-69F5-AAF365F83DE6}"/>
              </a:ext>
            </a:extLst>
          </p:cNvPr>
          <p:cNvCxnSpPr>
            <a:cxnSpLocks/>
          </p:cNvCxnSpPr>
          <p:nvPr/>
        </p:nvCxnSpPr>
        <p:spPr>
          <a:xfrm>
            <a:off x="3312475" y="6923316"/>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DBD1BBE-BE56-AE41-7419-C77A5764DEEF}"/>
              </a:ext>
            </a:extLst>
          </p:cNvPr>
          <p:cNvSpPr txBox="1"/>
          <p:nvPr/>
        </p:nvSpPr>
        <p:spPr>
          <a:xfrm>
            <a:off x="3518962" y="5852451"/>
            <a:ext cx="1419715" cy="2677656"/>
          </a:xfrm>
          <a:prstGeom prst="rect">
            <a:avLst/>
          </a:prstGeom>
          <a:noFill/>
        </p:spPr>
        <p:txBody>
          <a:bodyPr wrap="square" rtlCol="0">
            <a:spAutoFit/>
          </a:bodyPr>
          <a:lstStyle/>
          <a:p>
            <a:pPr algn="ctr"/>
            <a:r>
              <a:rPr lang="en-US" sz="1200"/>
              <a:t>Which significant figure is the 6?</a:t>
            </a:r>
          </a:p>
          <a:p>
            <a:pPr algn="ctr"/>
            <a:endParaRPr lang="en-US" sz="1200"/>
          </a:p>
          <a:p>
            <a:pPr algn="ctr"/>
            <a:r>
              <a:rPr lang="en-US" sz="1200"/>
              <a:t>260</a:t>
            </a:r>
          </a:p>
          <a:p>
            <a:pPr algn="ctr"/>
            <a:endParaRPr lang="en-US" sz="1200"/>
          </a:p>
          <a:p>
            <a:pPr algn="ctr"/>
            <a:endParaRPr lang="en-US" sz="1200"/>
          </a:p>
          <a:p>
            <a:pPr algn="ctr"/>
            <a:endParaRPr lang="en-US" sz="1200"/>
          </a:p>
          <a:p>
            <a:pPr algn="ctr"/>
            <a:r>
              <a:rPr lang="en-US" sz="1200"/>
              <a:t>0.61</a:t>
            </a:r>
          </a:p>
          <a:p>
            <a:pPr algn="ctr"/>
            <a:endParaRPr lang="en-US" sz="1200"/>
          </a:p>
          <a:p>
            <a:pPr algn="ctr"/>
            <a:endParaRPr lang="en-US" sz="1200"/>
          </a:p>
          <a:p>
            <a:pPr algn="ctr"/>
            <a:endParaRPr lang="en-US" sz="1200"/>
          </a:p>
          <a:p>
            <a:pPr algn="ctr"/>
            <a:r>
              <a:rPr lang="en-US" sz="1200"/>
              <a:t>0.00672</a:t>
            </a:r>
          </a:p>
          <a:p>
            <a:pPr algn="ctr"/>
            <a:endParaRPr lang="en-US" sz="1200"/>
          </a:p>
          <a:p>
            <a:pPr algn="ctr"/>
            <a:endParaRPr lang="en-US" sz="1200" u="sng"/>
          </a:p>
        </p:txBody>
      </p:sp>
      <p:sp>
        <p:nvSpPr>
          <p:cNvPr id="34" name="Rectangle 33">
            <a:extLst>
              <a:ext uri="{FF2B5EF4-FFF2-40B4-BE49-F238E27FC236}">
                <a16:creationId xmlns:a16="http://schemas.microsoft.com/office/drawing/2014/main" id="{9E9C396A-2207-BDAD-11E1-2E6AFDB7D80E}"/>
              </a:ext>
            </a:extLst>
          </p:cNvPr>
          <p:cNvSpPr/>
          <p:nvPr/>
        </p:nvSpPr>
        <p:spPr>
          <a:xfrm>
            <a:off x="3515140" y="6674635"/>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FE756CCB-166A-C680-CE1D-50F4DBE94D66}"/>
              </a:ext>
            </a:extLst>
          </p:cNvPr>
          <p:cNvSpPr/>
          <p:nvPr/>
        </p:nvSpPr>
        <p:spPr>
          <a:xfrm>
            <a:off x="3522611" y="738726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3D3B54F3-CDC0-D548-E43D-62E8189B9C28}"/>
              </a:ext>
            </a:extLst>
          </p:cNvPr>
          <p:cNvSpPr/>
          <p:nvPr/>
        </p:nvSpPr>
        <p:spPr>
          <a:xfrm>
            <a:off x="3504195" y="816131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7" name="Straight Connector 36">
            <a:extLst>
              <a:ext uri="{FF2B5EF4-FFF2-40B4-BE49-F238E27FC236}">
                <a16:creationId xmlns:a16="http://schemas.microsoft.com/office/drawing/2014/main" id="{7C23A99A-457B-0CEC-8CA5-6BDDA41547DB}"/>
              </a:ext>
            </a:extLst>
          </p:cNvPr>
          <p:cNvCxnSpPr>
            <a:cxnSpLocks/>
          </p:cNvCxnSpPr>
          <p:nvPr/>
        </p:nvCxnSpPr>
        <p:spPr>
          <a:xfrm>
            <a:off x="5581218" y="6936305"/>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B2D38C4-DF4B-E107-9EBB-C7975A5522D0}"/>
              </a:ext>
            </a:extLst>
          </p:cNvPr>
          <p:cNvSpPr txBox="1"/>
          <p:nvPr/>
        </p:nvSpPr>
        <p:spPr>
          <a:xfrm>
            <a:off x="5244780" y="5865440"/>
            <a:ext cx="1419715" cy="2677656"/>
          </a:xfrm>
          <a:prstGeom prst="rect">
            <a:avLst/>
          </a:prstGeom>
          <a:noFill/>
        </p:spPr>
        <p:txBody>
          <a:bodyPr wrap="square" rtlCol="0">
            <a:spAutoFit/>
          </a:bodyPr>
          <a:lstStyle/>
          <a:p>
            <a:pPr algn="ctr"/>
            <a:r>
              <a:rPr lang="en-US" sz="1200"/>
              <a:t>Which significant figure is the 4?</a:t>
            </a:r>
          </a:p>
          <a:p>
            <a:pPr algn="ctr"/>
            <a:endParaRPr lang="en-US" sz="1200"/>
          </a:p>
          <a:p>
            <a:pPr algn="ctr"/>
            <a:r>
              <a:rPr lang="en-US" sz="1200"/>
              <a:t>425</a:t>
            </a:r>
          </a:p>
          <a:p>
            <a:pPr algn="ctr"/>
            <a:endParaRPr lang="en-US" sz="1200"/>
          </a:p>
          <a:p>
            <a:pPr algn="ctr"/>
            <a:endParaRPr lang="en-US" sz="1200"/>
          </a:p>
          <a:p>
            <a:pPr algn="ctr"/>
            <a:endParaRPr lang="en-US" sz="1200"/>
          </a:p>
          <a:p>
            <a:pPr algn="ctr"/>
            <a:r>
              <a:rPr lang="en-US" sz="1200"/>
              <a:t>0.041</a:t>
            </a:r>
          </a:p>
          <a:p>
            <a:pPr algn="ctr"/>
            <a:endParaRPr lang="en-US" sz="1200"/>
          </a:p>
          <a:p>
            <a:pPr algn="ctr"/>
            <a:endParaRPr lang="en-US" sz="1200"/>
          </a:p>
          <a:p>
            <a:pPr algn="ctr"/>
            <a:endParaRPr lang="en-US" sz="1200"/>
          </a:p>
          <a:p>
            <a:pPr algn="ctr"/>
            <a:r>
              <a:rPr lang="en-US" sz="1200"/>
              <a:t>0.07041</a:t>
            </a:r>
          </a:p>
          <a:p>
            <a:pPr algn="ctr"/>
            <a:endParaRPr lang="en-US" sz="1200"/>
          </a:p>
          <a:p>
            <a:pPr algn="ctr"/>
            <a:endParaRPr lang="en-US" sz="1200" u="sng"/>
          </a:p>
        </p:txBody>
      </p:sp>
      <p:sp>
        <p:nvSpPr>
          <p:cNvPr id="39" name="Rectangle 38">
            <a:extLst>
              <a:ext uri="{FF2B5EF4-FFF2-40B4-BE49-F238E27FC236}">
                <a16:creationId xmlns:a16="http://schemas.microsoft.com/office/drawing/2014/main" id="{730F7EE9-6CC5-2F74-ABFF-CE4A99852AEB}"/>
              </a:ext>
            </a:extLst>
          </p:cNvPr>
          <p:cNvSpPr/>
          <p:nvPr/>
        </p:nvSpPr>
        <p:spPr>
          <a:xfrm>
            <a:off x="5240958" y="668762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0" name="Rectangle 39">
            <a:extLst>
              <a:ext uri="{FF2B5EF4-FFF2-40B4-BE49-F238E27FC236}">
                <a16:creationId xmlns:a16="http://schemas.microsoft.com/office/drawing/2014/main" id="{2C26DFE0-DFEA-A2DB-94DE-DAC9F2C10F43}"/>
              </a:ext>
            </a:extLst>
          </p:cNvPr>
          <p:cNvSpPr/>
          <p:nvPr/>
        </p:nvSpPr>
        <p:spPr>
          <a:xfrm>
            <a:off x="5248429" y="740025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95EEEC8C-60F4-A3CB-8158-846F078D869E}"/>
              </a:ext>
            </a:extLst>
          </p:cNvPr>
          <p:cNvSpPr/>
          <p:nvPr/>
        </p:nvSpPr>
        <p:spPr>
          <a:xfrm>
            <a:off x="5230013" y="817430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2A9D6F1-B8E7-1FC2-D314-415AF129923D}"/>
              </a:ext>
            </a:extLst>
          </p:cNvPr>
          <p:cNvSpPr/>
          <p:nvPr/>
        </p:nvSpPr>
        <p:spPr>
          <a:xfrm>
            <a:off x="107607" y="4821009"/>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Identifying significant figures.</a:t>
            </a:r>
            <a:endParaRPr lang="en-GB" sz="1200">
              <a:solidFill>
                <a:schemeClr val="bg1"/>
              </a:solidFill>
            </a:endParaRPr>
          </a:p>
        </p:txBody>
      </p:sp>
      <p:cxnSp>
        <p:nvCxnSpPr>
          <p:cNvPr id="86" name="Straight Connector 85">
            <a:extLst>
              <a:ext uri="{FF2B5EF4-FFF2-40B4-BE49-F238E27FC236}">
                <a16:creationId xmlns:a16="http://schemas.microsoft.com/office/drawing/2014/main" id="{BEED737A-B355-56AA-94BB-73F1A759A29C}"/>
              </a:ext>
            </a:extLst>
          </p:cNvPr>
          <p:cNvCxnSpPr/>
          <p:nvPr/>
        </p:nvCxnSpPr>
        <p:spPr>
          <a:xfrm flipV="1">
            <a:off x="933267" y="3990012"/>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9136F971-062E-CF77-ABA6-4BE40B10969B}"/>
              </a:ext>
            </a:extLst>
          </p:cNvPr>
          <p:cNvSpPr/>
          <p:nvPr/>
        </p:nvSpPr>
        <p:spPr>
          <a:xfrm>
            <a:off x="78586" y="2059417"/>
            <a:ext cx="6699219" cy="2459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8" name="Straight Connector 87">
            <a:extLst>
              <a:ext uri="{FF2B5EF4-FFF2-40B4-BE49-F238E27FC236}">
                <a16:creationId xmlns:a16="http://schemas.microsoft.com/office/drawing/2014/main" id="{F09375BC-74D8-E824-91D5-9B280A81981D}"/>
              </a:ext>
            </a:extLst>
          </p:cNvPr>
          <p:cNvCxnSpPr>
            <a:stCxn id="87" idx="1"/>
            <a:endCxn id="87" idx="3"/>
          </p:cNvCxnSpPr>
          <p:nvPr/>
        </p:nvCxnSpPr>
        <p:spPr>
          <a:xfrm>
            <a:off x="78586" y="3289059"/>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DF7FF265-FCF6-5C56-4C0F-27ADB7D4AF91}"/>
              </a:ext>
            </a:extLst>
          </p:cNvPr>
          <p:cNvCxnSpPr>
            <a:stCxn id="87" idx="2"/>
            <a:endCxn id="87" idx="0"/>
          </p:cNvCxnSpPr>
          <p:nvPr/>
        </p:nvCxnSpPr>
        <p:spPr>
          <a:xfrm flipV="1">
            <a:off x="3428196" y="2059417"/>
            <a:ext cx="0" cy="2459284"/>
          </a:xfrm>
          <a:prstGeom prst="line">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7914AE47-CDBF-33D2-1E20-BB17DF5BF534}"/>
              </a:ext>
            </a:extLst>
          </p:cNvPr>
          <p:cNvSpPr txBox="1"/>
          <p:nvPr/>
        </p:nvSpPr>
        <p:spPr>
          <a:xfrm>
            <a:off x="96341" y="2059416"/>
            <a:ext cx="824713" cy="461665"/>
          </a:xfrm>
          <a:prstGeom prst="rect">
            <a:avLst/>
          </a:prstGeom>
          <a:noFill/>
        </p:spPr>
        <p:txBody>
          <a:bodyPr wrap="none" rtlCol="0">
            <a:spAutoFit/>
          </a:bodyPr>
          <a:lstStyle/>
          <a:p>
            <a:r>
              <a:rPr lang="en-US" sz="1200" b="1"/>
              <a:t>Definition</a:t>
            </a:r>
          </a:p>
          <a:p>
            <a:endParaRPr lang="en-US" sz="1200"/>
          </a:p>
        </p:txBody>
      </p:sp>
      <p:sp>
        <p:nvSpPr>
          <p:cNvPr id="91" name="TextBox 90">
            <a:extLst>
              <a:ext uri="{FF2B5EF4-FFF2-40B4-BE49-F238E27FC236}">
                <a16:creationId xmlns:a16="http://schemas.microsoft.com/office/drawing/2014/main" id="{1EEB0497-D340-DEB9-8961-256AE9634DB4}"/>
              </a:ext>
            </a:extLst>
          </p:cNvPr>
          <p:cNvSpPr txBox="1"/>
          <p:nvPr/>
        </p:nvSpPr>
        <p:spPr>
          <a:xfrm>
            <a:off x="5620392" y="2027030"/>
            <a:ext cx="1112228" cy="276999"/>
          </a:xfrm>
          <a:prstGeom prst="rect">
            <a:avLst/>
          </a:prstGeom>
          <a:noFill/>
        </p:spPr>
        <p:txBody>
          <a:bodyPr wrap="none" rtlCol="0">
            <a:spAutoFit/>
          </a:bodyPr>
          <a:lstStyle/>
          <a:p>
            <a:r>
              <a:rPr lang="en-US" sz="1200" b="1"/>
              <a:t>Characteristics</a:t>
            </a:r>
            <a:endParaRPr lang="en-GB" sz="1200" b="1"/>
          </a:p>
        </p:txBody>
      </p:sp>
      <p:sp>
        <p:nvSpPr>
          <p:cNvPr id="92" name="TextBox 91">
            <a:extLst>
              <a:ext uri="{FF2B5EF4-FFF2-40B4-BE49-F238E27FC236}">
                <a16:creationId xmlns:a16="http://schemas.microsoft.com/office/drawing/2014/main" id="{AED2589C-4A72-6529-48D7-192B2F4DED90}"/>
              </a:ext>
            </a:extLst>
          </p:cNvPr>
          <p:cNvSpPr txBox="1"/>
          <p:nvPr/>
        </p:nvSpPr>
        <p:spPr>
          <a:xfrm>
            <a:off x="111488" y="3317424"/>
            <a:ext cx="788164" cy="276999"/>
          </a:xfrm>
          <a:prstGeom prst="rect">
            <a:avLst/>
          </a:prstGeom>
          <a:noFill/>
        </p:spPr>
        <p:txBody>
          <a:bodyPr wrap="none" rtlCol="0">
            <a:spAutoFit/>
          </a:bodyPr>
          <a:lstStyle/>
          <a:p>
            <a:r>
              <a:rPr lang="en-US" sz="1200" b="1"/>
              <a:t>Examples</a:t>
            </a:r>
            <a:endParaRPr lang="en-GB" sz="1200" b="1"/>
          </a:p>
        </p:txBody>
      </p:sp>
      <p:sp>
        <p:nvSpPr>
          <p:cNvPr id="93" name="TextBox 92">
            <a:extLst>
              <a:ext uri="{FF2B5EF4-FFF2-40B4-BE49-F238E27FC236}">
                <a16:creationId xmlns:a16="http://schemas.microsoft.com/office/drawing/2014/main" id="{E9935EC7-4C90-C44E-F4BF-0519C0CD4CB6}"/>
              </a:ext>
            </a:extLst>
          </p:cNvPr>
          <p:cNvSpPr txBox="1"/>
          <p:nvPr/>
        </p:nvSpPr>
        <p:spPr>
          <a:xfrm>
            <a:off x="5548905" y="3293043"/>
            <a:ext cx="1172885" cy="276999"/>
          </a:xfrm>
          <a:prstGeom prst="rect">
            <a:avLst/>
          </a:prstGeom>
          <a:noFill/>
        </p:spPr>
        <p:txBody>
          <a:bodyPr wrap="none" rtlCol="0">
            <a:spAutoFit/>
          </a:bodyPr>
          <a:lstStyle/>
          <a:p>
            <a:r>
              <a:rPr lang="en-US" sz="1200" b="1"/>
              <a:t>Non - Examples</a:t>
            </a:r>
            <a:endParaRPr lang="en-GB" sz="1200" b="1"/>
          </a:p>
        </p:txBody>
      </p:sp>
      <p:sp>
        <p:nvSpPr>
          <p:cNvPr id="94" name="TextBox 93">
            <a:extLst>
              <a:ext uri="{FF2B5EF4-FFF2-40B4-BE49-F238E27FC236}">
                <a16:creationId xmlns:a16="http://schemas.microsoft.com/office/drawing/2014/main" id="{9804C343-5BBB-D16B-7EE8-E39E88F07A7F}"/>
              </a:ext>
            </a:extLst>
          </p:cNvPr>
          <p:cNvSpPr txBox="1"/>
          <p:nvPr/>
        </p:nvSpPr>
        <p:spPr>
          <a:xfrm>
            <a:off x="208641" y="2451329"/>
            <a:ext cx="3230335" cy="461665"/>
          </a:xfrm>
          <a:prstGeom prst="rect">
            <a:avLst/>
          </a:prstGeom>
          <a:noFill/>
        </p:spPr>
        <p:txBody>
          <a:bodyPr wrap="square" rtlCol="0">
            <a:spAutoFit/>
          </a:bodyPr>
          <a:lstStyle/>
          <a:p>
            <a:r>
              <a:rPr lang="en-US" sz="1200"/>
              <a:t>The process of finding an approximation for a number to a given accuracy</a:t>
            </a:r>
          </a:p>
        </p:txBody>
      </p:sp>
      <p:sp>
        <p:nvSpPr>
          <p:cNvPr id="95" name="TextBox 94">
            <a:extLst>
              <a:ext uri="{FF2B5EF4-FFF2-40B4-BE49-F238E27FC236}">
                <a16:creationId xmlns:a16="http://schemas.microsoft.com/office/drawing/2014/main" id="{E340B2B8-7830-132A-9213-CD92CE8137D4}"/>
              </a:ext>
            </a:extLst>
          </p:cNvPr>
          <p:cNvSpPr txBox="1"/>
          <p:nvPr/>
        </p:nvSpPr>
        <p:spPr>
          <a:xfrm>
            <a:off x="3493223" y="2222118"/>
            <a:ext cx="3230335" cy="1015663"/>
          </a:xfrm>
          <a:prstGeom prst="rect">
            <a:avLst/>
          </a:prstGeom>
          <a:noFill/>
        </p:spPr>
        <p:txBody>
          <a:bodyPr wrap="square" rtlCol="0">
            <a:spAutoFit/>
          </a:bodyPr>
          <a:lstStyle/>
          <a:p>
            <a:r>
              <a:rPr lang="en-US" sz="1200"/>
              <a:t>Numbers round up or down depending on the value they are closer to (and exactly halfway between rounds up).</a:t>
            </a:r>
          </a:p>
          <a:p>
            <a:r>
              <a:rPr lang="en-US" sz="1200"/>
              <a:t>The first significant figure is the first non-zero digit. All following digits count as significant.</a:t>
            </a:r>
          </a:p>
        </p:txBody>
      </p:sp>
      <p:sp>
        <p:nvSpPr>
          <p:cNvPr id="96" name="TextBox 95">
            <a:extLst>
              <a:ext uri="{FF2B5EF4-FFF2-40B4-BE49-F238E27FC236}">
                <a16:creationId xmlns:a16="http://schemas.microsoft.com/office/drawing/2014/main" id="{6887FD1B-68A2-8D3A-2DE7-27DADA0C02C0}"/>
              </a:ext>
            </a:extLst>
          </p:cNvPr>
          <p:cNvSpPr txBox="1"/>
          <p:nvPr/>
        </p:nvSpPr>
        <p:spPr>
          <a:xfrm>
            <a:off x="2914470" y="3179261"/>
            <a:ext cx="1076000" cy="369332"/>
          </a:xfrm>
          <a:prstGeom prst="rect">
            <a:avLst/>
          </a:prstGeom>
          <a:solidFill>
            <a:schemeClr val="bg1"/>
          </a:solidFill>
          <a:ln>
            <a:solidFill>
              <a:schemeClr val="tx1"/>
            </a:solidFill>
          </a:ln>
        </p:spPr>
        <p:txBody>
          <a:bodyPr wrap="none" rtlCol="0">
            <a:spAutoFit/>
          </a:bodyPr>
          <a:lstStyle/>
          <a:p>
            <a:r>
              <a:rPr lang="en-US"/>
              <a:t>Rounding</a:t>
            </a:r>
            <a:endParaRPr lang="en-GB"/>
          </a:p>
        </p:txBody>
      </p:sp>
      <p:sp>
        <p:nvSpPr>
          <p:cNvPr id="97" name="TextBox 96">
            <a:extLst>
              <a:ext uri="{FF2B5EF4-FFF2-40B4-BE49-F238E27FC236}">
                <a16:creationId xmlns:a16="http://schemas.microsoft.com/office/drawing/2014/main" id="{767E6D51-70C7-6907-2A90-69111CE2F28D}"/>
              </a:ext>
            </a:extLst>
          </p:cNvPr>
          <p:cNvSpPr txBox="1"/>
          <p:nvPr/>
        </p:nvSpPr>
        <p:spPr>
          <a:xfrm>
            <a:off x="187082" y="3600105"/>
            <a:ext cx="3230335" cy="830997"/>
          </a:xfrm>
          <a:prstGeom prst="rect">
            <a:avLst/>
          </a:prstGeom>
          <a:noFill/>
        </p:spPr>
        <p:txBody>
          <a:bodyPr wrap="square" rtlCol="0">
            <a:spAutoFit/>
          </a:bodyPr>
          <a:lstStyle/>
          <a:p>
            <a:r>
              <a:rPr lang="en-US" sz="1200"/>
              <a:t>170.8 = 200 to 1 significant figure</a:t>
            </a:r>
          </a:p>
          <a:p>
            <a:r>
              <a:rPr lang="en-US" sz="1200"/>
              <a:t>107.8 = 110 to 2 significant figures</a:t>
            </a:r>
          </a:p>
          <a:p>
            <a:r>
              <a:rPr lang="en-US" sz="1200"/>
              <a:t>0.01079 = 0.0108 to 3 significant figures</a:t>
            </a:r>
          </a:p>
          <a:p>
            <a:r>
              <a:rPr lang="en-US" sz="1200"/>
              <a:t>0.01038 = 0.010 to 2 significant figures</a:t>
            </a:r>
          </a:p>
        </p:txBody>
      </p:sp>
      <p:sp>
        <p:nvSpPr>
          <p:cNvPr id="2" name="Rectangle 1">
            <a:extLst>
              <a:ext uri="{FF2B5EF4-FFF2-40B4-BE49-F238E27FC236}">
                <a16:creationId xmlns:a16="http://schemas.microsoft.com/office/drawing/2014/main" id="{AFB924ED-B345-CEB5-C316-712496271260}"/>
              </a:ext>
            </a:extLst>
          </p:cNvPr>
          <p:cNvSpPr/>
          <p:nvPr/>
        </p:nvSpPr>
        <p:spPr>
          <a:xfrm>
            <a:off x="0" y="0"/>
            <a:ext cx="6858000" cy="2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GB" sz="1600" dirty="0">
                <a:solidFill>
                  <a:prstClr val="white"/>
                </a:solidFill>
              </a:rPr>
              <a:t>Subtopic 2b </a:t>
            </a:r>
            <a:r>
              <a:rPr kumimoji="0" lang="en-GB" sz="1600" i="0" u="none" strike="noStrike" kern="1200" cap="none" spc="0" normalizeH="0" baseline="0" noProof="0" dirty="0">
                <a:ln>
                  <a:noFill/>
                </a:ln>
                <a:solidFill>
                  <a:prstClr val="white"/>
                </a:solidFill>
                <a:effectLst/>
                <a:uLnTx/>
                <a:uFillTx/>
                <a:latin typeface="Calibri" panose="020F0502020204030204"/>
              </a:rPr>
              <a:t>– </a:t>
            </a:r>
            <a:r>
              <a:rPr lang="en-GB" sz="1600" dirty="0">
                <a:solidFill>
                  <a:prstClr val="white"/>
                </a:solidFill>
              </a:rPr>
              <a:t>Rounding to Significant Figures</a:t>
            </a:r>
          </a:p>
        </p:txBody>
      </p:sp>
    </p:spTree>
    <p:extLst>
      <p:ext uri="{BB962C8B-B14F-4D97-AF65-F5344CB8AC3E}">
        <p14:creationId xmlns:p14="http://schemas.microsoft.com/office/powerpoint/2010/main" val="262385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02342" y="102878"/>
            <a:ext cx="2547557" cy="276999"/>
          </a:xfrm>
          <a:prstGeom prst="rect">
            <a:avLst/>
          </a:prstGeom>
          <a:noFill/>
        </p:spPr>
        <p:txBody>
          <a:bodyPr wrap="none" rtlCol="0">
            <a:spAutoFit/>
          </a:bodyPr>
          <a:lstStyle/>
          <a:p>
            <a:r>
              <a:rPr lang="en-US" sz="1200"/>
              <a:t>1. Which significant figure is the four?</a:t>
            </a:r>
            <a:endParaRPr lang="en-GB" sz="1200"/>
          </a:p>
        </p:txBody>
      </p:sp>
      <p:sp>
        <p:nvSpPr>
          <p:cNvPr id="6" name="TextBox 5"/>
          <p:cNvSpPr txBox="1"/>
          <p:nvPr/>
        </p:nvSpPr>
        <p:spPr>
          <a:xfrm>
            <a:off x="362982" y="509461"/>
            <a:ext cx="575799" cy="276999"/>
          </a:xfrm>
          <a:prstGeom prst="rect">
            <a:avLst/>
          </a:prstGeom>
          <a:noFill/>
        </p:spPr>
        <p:txBody>
          <a:bodyPr wrap="none" rtlCol="0">
            <a:spAutoFit/>
          </a:bodyPr>
          <a:lstStyle/>
          <a:p>
            <a:r>
              <a:rPr lang="en-US" sz="1200"/>
              <a:t>a) 450</a:t>
            </a:r>
            <a:endParaRPr lang="en-GB" sz="1200"/>
          </a:p>
        </p:txBody>
      </p:sp>
      <p:sp>
        <p:nvSpPr>
          <p:cNvPr id="7" name="TextBox 6"/>
          <p:cNvSpPr txBox="1"/>
          <p:nvPr/>
        </p:nvSpPr>
        <p:spPr>
          <a:xfrm>
            <a:off x="1415239" y="500758"/>
            <a:ext cx="582211" cy="276999"/>
          </a:xfrm>
          <a:prstGeom prst="rect">
            <a:avLst/>
          </a:prstGeom>
          <a:noFill/>
        </p:spPr>
        <p:txBody>
          <a:bodyPr wrap="none" rtlCol="0">
            <a:spAutoFit/>
          </a:bodyPr>
          <a:lstStyle/>
          <a:p>
            <a:r>
              <a:rPr lang="en-US" sz="1200"/>
              <a:t>b) 540</a:t>
            </a:r>
            <a:endParaRPr lang="en-GB" sz="1200"/>
          </a:p>
        </p:txBody>
      </p:sp>
      <p:sp>
        <p:nvSpPr>
          <p:cNvPr id="8" name="TextBox 7"/>
          <p:cNvSpPr txBox="1"/>
          <p:nvPr/>
        </p:nvSpPr>
        <p:spPr>
          <a:xfrm>
            <a:off x="2491898" y="500759"/>
            <a:ext cx="646331" cy="276999"/>
          </a:xfrm>
          <a:prstGeom prst="rect">
            <a:avLst/>
          </a:prstGeom>
          <a:noFill/>
        </p:spPr>
        <p:txBody>
          <a:bodyPr wrap="none" rtlCol="0">
            <a:spAutoFit/>
          </a:bodyPr>
          <a:lstStyle/>
          <a:p>
            <a:r>
              <a:rPr lang="en-US" sz="1200"/>
              <a:t>c) 5400</a:t>
            </a:r>
            <a:endParaRPr lang="en-GB" sz="1200"/>
          </a:p>
        </p:txBody>
      </p:sp>
      <p:sp>
        <p:nvSpPr>
          <p:cNvPr id="9" name="TextBox 8"/>
          <p:cNvSpPr txBox="1"/>
          <p:nvPr/>
        </p:nvSpPr>
        <p:spPr>
          <a:xfrm>
            <a:off x="3498944" y="523851"/>
            <a:ext cx="739305" cy="276999"/>
          </a:xfrm>
          <a:prstGeom prst="rect">
            <a:avLst/>
          </a:prstGeom>
          <a:noFill/>
        </p:spPr>
        <p:txBody>
          <a:bodyPr wrap="none" rtlCol="0">
            <a:spAutoFit/>
          </a:bodyPr>
          <a:lstStyle/>
          <a:p>
            <a:r>
              <a:rPr lang="en-US" sz="1200"/>
              <a:t>d) 50400</a:t>
            </a:r>
            <a:endParaRPr lang="en-GB" sz="1200"/>
          </a:p>
        </p:txBody>
      </p:sp>
      <p:sp>
        <p:nvSpPr>
          <p:cNvPr id="10" name="TextBox 9"/>
          <p:cNvSpPr txBox="1"/>
          <p:nvPr/>
        </p:nvSpPr>
        <p:spPr>
          <a:xfrm>
            <a:off x="4602707" y="520371"/>
            <a:ext cx="736099" cy="276999"/>
          </a:xfrm>
          <a:prstGeom prst="rect">
            <a:avLst/>
          </a:prstGeom>
          <a:noFill/>
        </p:spPr>
        <p:txBody>
          <a:bodyPr wrap="none" rtlCol="0">
            <a:spAutoFit/>
          </a:bodyPr>
          <a:lstStyle/>
          <a:p>
            <a:r>
              <a:rPr lang="en-US" sz="1200"/>
              <a:t>e) 50040</a:t>
            </a:r>
            <a:endParaRPr lang="en-GB" sz="1200"/>
          </a:p>
        </p:txBody>
      </p:sp>
      <p:sp>
        <p:nvSpPr>
          <p:cNvPr id="11" name="Rectangle 10">
            <a:extLst>
              <a:ext uri="{FF2B5EF4-FFF2-40B4-BE49-F238E27FC236}">
                <a16:creationId xmlns:a16="http://schemas.microsoft.com/office/drawing/2014/main" id="{CEEF23AD-EA17-135A-DB95-1D1FECB286F3}"/>
              </a:ext>
            </a:extLst>
          </p:cNvPr>
          <p:cNvSpPr/>
          <p:nvPr/>
        </p:nvSpPr>
        <p:spPr>
          <a:xfrm>
            <a:off x="422917"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CEEF23AD-EA17-135A-DB95-1D1FECB286F3}"/>
              </a:ext>
            </a:extLst>
          </p:cNvPr>
          <p:cNvSpPr/>
          <p:nvPr/>
        </p:nvSpPr>
        <p:spPr>
          <a:xfrm>
            <a:off x="1466872"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2522756"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3596954"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 name="Rectangle 14">
            <a:extLst>
              <a:ext uri="{FF2B5EF4-FFF2-40B4-BE49-F238E27FC236}">
                <a16:creationId xmlns:a16="http://schemas.microsoft.com/office/drawing/2014/main" id="{CEEF23AD-EA17-135A-DB95-1D1FECB286F3}"/>
              </a:ext>
            </a:extLst>
          </p:cNvPr>
          <p:cNvSpPr/>
          <p:nvPr/>
        </p:nvSpPr>
        <p:spPr>
          <a:xfrm>
            <a:off x="4648618" y="84295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6" name="TextBox 15"/>
          <p:cNvSpPr txBox="1"/>
          <p:nvPr/>
        </p:nvSpPr>
        <p:spPr>
          <a:xfrm>
            <a:off x="5697720" y="546018"/>
            <a:ext cx="707886" cy="276999"/>
          </a:xfrm>
          <a:prstGeom prst="rect">
            <a:avLst/>
          </a:prstGeom>
          <a:noFill/>
        </p:spPr>
        <p:txBody>
          <a:bodyPr wrap="none" rtlCol="0">
            <a:spAutoFit/>
          </a:bodyPr>
          <a:lstStyle/>
          <a:p>
            <a:r>
              <a:rPr lang="en-US" sz="1200"/>
              <a:t>f) 54000</a:t>
            </a:r>
            <a:endParaRPr lang="en-GB" sz="1200"/>
          </a:p>
        </p:txBody>
      </p:sp>
      <p:sp>
        <p:nvSpPr>
          <p:cNvPr id="17" name="Rectangle 16">
            <a:extLst>
              <a:ext uri="{FF2B5EF4-FFF2-40B4-BE49-F238E27FC236}">
                <a16:creationId xmlns:a16="http://schemas.microsoft.com/office/drawing/2014/main" id="{CEEF23AD-EA17-135A-DB95-1D1FECB286F3}"/>
              </a:ext>
            </a:extLst>
          </p:cNvPr>
          <p:cNvSpPr/>
          <p:nvPr/>
        </p:nvSpPr>
        <p:spPr>
          <a:xfrm>
            <a:off x="5697720" y="842958"/>
            <a:ext cx="981055"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8" name="TextBox 17"/>
          <p:cNvSpPr txBox="1"/>
          <p:nvPr/>
        </p:nvSpPr>
        <p:spPr>
          <a:xfrm>
            <a:off x="333414" y="1250232"/>
            <a:ext cx="534121" cy="276999"/>
          </a:xfrm>
          <a:prstGeom prst="rect">
            <a:avLst/>
          </a:prstGeom>
          <a:noFill/>
        </p:spPr>
        <p:txBody>
          <a:bodyPr wrap="none" rtlCol="0">
            <a:spAutoFit/>
          </a:bodyPr>
          <a:lstStyle/>
          <a:p>
            <a:r>
              <a:rPr lang="en-US" sz="1200"/>
              <a:t>g) 0.4</a:t>
            </a:r>
            <a:endParaRPr lang="en-GB" sz="1200"/>
          </a:p>
        </p:txBody>
      </p:sp>
      <p:sp>
        <p:nvSpPr>
          <p:cNvPr id="19" name="TextBox 18"/>
          <p:cNvSpPr txBox="1"/>
          <p:nvPr/>
        </p:nvSpPr>
        <p:spPr>
          <a:xfrm>
            <a:off x="1385671" y="1241529"/>
            <a:ext cx="699230" cy="276999"/>
          </a:xfrm>
          <a:prstGeom prst="rect">
            <a:avLst/>
          </a:prstGeom>
          <a:noFill/>
        </p:spPr>
        <p:txBody>
          <a:bodyPr wrap="none" rtlCol="0">
            <a:spAutoFit/>
          </a:bodyPr>
          <a:lstStyle/>
          <a:p>
            <a:r>
              <a:rPr lang="en-US" sz="1200"/>
              <a:t>h) 0.504</a:t>
            </a:r>
            <a:endParaRPr lang="en-GB" sz="1200"/>
          </a:p>
        </p:txBody>
      </p:sp>
      <p:sp>
        <p:nvSpPr>
          <p:cNvPr id="20" name="TextBox 19"/>
          <p:cNvSpPr txBox="1"/>
          <p:nvPr/>
        </p:nvSpPr>
        <p:spPr>
          <a:xfrm>
            <a:off x="2462330" y="1241530"/>
            <a:ext cx="732893" cy="276999"/>
          </a:xfrm>
          <a:prstGeom prst="rect">
            <a:avLst/>
          </a:prstGeom>
          <a:noFill/>
        </p:spPr>
        <p:txBody>
          <a:bodyPr wrap="none" rtlCol="0">
            <a:spAutoFit/>
          </a:bodyPr>
          <a:lstStyle/>
          <a:p>
            <a:r>
              <a:rPr lang="en-US" sz="1200"/>
              <a:t>i) 0.0504</a:t>
            </a:r>
            <a:endParaRPr lang="en-GB" sz="1200"/>
          </a:p>
        </p:txBody>
      </p:sp>
      <p:sp>
        <p:nvSpPr>
          <p:cNvPr id="21" name="TextBox 20"/>
          <p:cNvSpPr txBox="1"/>
          <p:nvPr/>
        </p:nvSpPr>
        <p:spPr>
          <a:xfrm>
            <a:off x="3469376" y="1264622"/>
            <a:ext cx="813043" cy="276999"/>
          </a:xfrm>
          <a:prstGeom prst="rect">
            <a:avLst/>
          </a:prstGeom>
          <a:noFill/>
        </p:spPr>
        <p:txBody>
          <a:bodyPr wrap="none" rtlCol="0">
            <a:spAutoFit/>
          </a:bodyPr>
          <a:lstStyle/>
          <a:p>
            <a:r>
              <a:rPr lang="en-US" sz="1200"/>
              <a:t>j) 0.05043</a:t>
            </a:r>
            <a:endParaRPr lang="en-GB" sz="1200"/>
          </a:p>
        </p:txBody>
      </p:sp>
      <p:sp>
        <p:nvSpPr>
          <p:cNvPr id="22" name="TextBox 21"/>
          <p:cNvSpPr txBox="1"/>
          <p:nvPr/>
        </p:nvSpPr>
        <p:spPr>
          <a:xfrm>
            <a:off x="4573139" y="1261142"/>
            <a:ext cx="768159" cy="276999"/>
          </a:xfrm>
          <a:prstGeom prst="rect">
            <a:avLst/>
          </a:prstGeom>
          <a:noFill/>
        </p:spPr>
        <p:txBody>
          <a:bodyPr wrap="none" rtlCol="0">
            <a:spAutoFit/>
          </a:bodyPr>
          <a:lstStyle/>
          <a:p>
            <a:r>
              <a:rPr lang="en-US" sz="1200"/>
              <a:t>k) 1.5004</a:t>
            </a:r>
            <a:endParaRPr lang="en-GB" sz="1200"/>
          </a:p>
        </p:txBody>
      </p:sp>
      <p:sp>
        <p:nvSpPr>
          <p:cNvPr id="23" name="Rectangle 22">
            <a:extLst>
              <a:ext uri="{FF2B5EF4-FFF2-40B4-BE49-F238E27FC236}">
                <a16:creationId xmlns:a16="http://schemas.microsoft.com/office/drawing/2014/main" id="{CEEF23AD-EA17-135A-DB95-1D1FECB286F3}"/>
              </a:ext>
            </a:extLst>
          </p:cNvPr>
          <p:cNvSpPr/>
          <p:nvPr/>
        </p:nvSpPr>
        <p:spPr>
          <a:xfrm>
            <a:off x="393349"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1437304"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2493188"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3567386"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Rectangle 26">
            <a:extLst>
              <a:ext uri="{FF2B5EF4-FFF2-40B4-BE49-F238E27FC236}">
                <a16:creationId xmlns:a16="http://schemas.microsoft.com/office/drawing/2014/main" id="{CEEF23AD-EA17-135A-DB95-1D1FECB286F3}"/>
              </a:ext>
            </a:extLst>
          </p:cNvPr>
          <p:cNvSpPr/>
          <p:nvPr/>
        </p:nvSpPr>
        <p:spPr>
          <a:xfrm>
            <a:off x="4619050" y="158372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TextBox 27"/>
          <p:cNvSpPr txBox="1"/>
          <p:nvPr/>
        </p:nvSpPr>
        <p:spPr>
          <a:xfrm>
            <a:off x="5668152" y="1286789"/>
            <a:ext cx="968535" cy="276999"/>
          </a:xfrm>
          <a:prstGeom prst="rect">
            <a:avLst/>
          </a:prstGeom>
          <a:noFill/>
        </p:spPr>
        <p:txBody>
          <a:bodyPr wrap="none" rtlCol="0">
            <a:spAutoFit/>
          </a:bodyPr>
          <a:lstStyle/>
          <a:p>
            <a:r>
              <a:rPr lang="en-US" sz="1200"/>
              <a:t>l) 0.0050042</a:t>
            </a:r>
            <a:endParaRPr lang="en-GB" sz="1200"/>
          </a:p>
        </p:txBody>
      </p:sp>
      <p:sp>
        <p:nvSpPr>
          <p:cNvPr id="29" name="Rectangle 28">
            <a:extLst>
              <a:ext uri="{FF2B5EF4-FFF2-40B4-BE49-F238E27FC236}">
                <a16:creationId xmlns:a16="http://schemas.microsoft.com/office/drawing/2014/main" id="{CEEF23AD-EA17-135A-DB95-1D1FECB286F3}"/>
              </a:ext>
            </a:extLst>
          </p:cNvPr>
          <p:cNvSpPr/>
          <p:nvPr/>
        </p:nvSpPr>
        <p:spPr>
          <a:xfrm>
            <a:off x="5668152" y="1583729"/>
            <a:ext cx="1010623"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30" name="Straight Connector 29">
            <a:extLst>
              <a:ext uri="{FF2B5EF4-FFF2-40B4-BE49-F238E27FC236}">
                <a16:creationId xmlns:a16="http://schemas.microsoft.com/office/drawing/2014/main" id="{B4A988A4-03CD-D549-9F12-81AFECBDEF37}"/>
              </a:ext>
            </a:extLst>
          </p:cNvPr>
          <p:cNvCxnSpPr>
            <a:cxnSpLocks/>
          </p:cNvCxnSpPr>
          <p:nvPr/>
        </p:nvCxnSpPr>
        <p:spPr>
          <a:xfrm>
            <a:off x="933354" y="396973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1" name="Table 30"/>
          <p:cNvGraphicFramePr>
            <a:graphicFrameLocks noGrp="1"/>
          </p:cNvGraphicFramePr>
          <p:nvPr>
            <p:extLst>
              <p:ext uri="{D42A27DB-BD31-4B8C-83A1-F6EECF244321}">
                <p14:modId xmlns:p14="http://schemas.microsoft.com/office/powerpoint/2010/main" val="734999288"/>
              </p:ext>
            </p:extLst>
          </p:nvPr>
        </p:nvGraphicFramePr>
        <p:xfrm>
          <a:off x="135095" y="2525358"/>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a:t>
                      </a:r>
                      <a:r>
                        <a:rPr lang="en-US" sz="1200" b="0" baseline="0" dirty="0">
                          <a:solidFill>
                            <a:schemeClr val="tx1"/>
                          </a:solidFill>
                        </a:rPr>
                        <a:t> </a:t>
                      </a:r>
                      <a:r>
                        <a:rPr lang="en-US" sz="1200" b="0" dirty="0">
                          <a:solidFill>
                            <a:schemeClr val="tx1"/>
                          </a:solidFill>
                        </a:rPr>
                        <a:t>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32" name="TextBox 31">
            <a:extLst>
              <a:ext uri="{FF2B5EF4-FFF2-40B4-BE49-F238E27FC236}">
                <a16:creationId xmlns:a16="http://schemas.microsoft.com/office/drawing/2014/main" id="{BCDC1A2B-2D26-C945-B722-18950FA49879}"/>
              </a:ext>
            </a:extLst>
          </p:cNvPr>
          <p:cNvSpPr txBox="1"/>
          <p:nvPr/>
        </p:nvSpPr>
        <p:spPr>
          <a:xfrm>
            <a:off x="1916714" y="2268074"/>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33" name="TextBox 32">
            <a:extLst>
              <a:ext uri="{FF2B5EF4-FFF2-40B4-BE49-F238E27FC236}">
                <a16:creationId xmlns:a16="http://schemas.microsoft.com/office/drawing/2014/main" id="{4AF4150A-9218-D640-8777-2ECCBC4D10FB}"/>
              </a:ext>
            </a:extLst>
          </p:cNvPr>
          <p:cNvSpPr txBox="1"/>
          <p:nvPr/>
        </p:nvSpPr>
        <p:spPr>
          <a:xfrm>
            <a:off x="5050611" y="2245966"/>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34" name="TextBox 33">
            <a:extLst>
              <a:ext uri="{FF2B5EF4-FFF2-40B4-BE49-F238E27FC236}">
                <a16:creationId xmlns:a16="http://schemas.microsoft.com/office/drawing/2014/main" id="{BCDC1A2B-2D26-C945-B722-18950FA49879}"/>
              </a:ext>
            </a:extLst>
          </p:cNvPr>
          <p:cNvSpPr txBox="1"/>
          <p:nvPr/>
        </p:nvSpPr>
        <p:spPr>
          <a:xfrm>
            <a:off x="3441432" y="2258067"/>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35" name="TextBox 34"/>
          <p:cNvSpPr txBox="1"/>
          <p:nvPr/>
        </p:nvSpPr>
        <p:spPr>
          <a:xfrm>
            <a:off x="1891180" y="2812365"/>
            <a:ext cx="1419715" cy="1384995"/>
          </a:xfrm>
          <a:prstGeom prst="rect">
            <a:avLst/>
          </a:prstGeom>
          <a:noFill/>
        </p:spPr>
        <p:txBody>
          <a:bodyPr wrap="square" rtlCol="0">
            <a:spAutoFit/>
          </a:bodyPr>
          <a:lstStyle/>
          <a:p>
            <a:pPr algn="ctr"/>
            <a:r>
              <a:rPr lang="en-US" sz="1200"/>
              <a:t>Round 36 to one significant figure</a:t>
            </a:r>
          </a:p>
          <a:p>
            <a:pPr algn="ctr"/>
            <a:endParaRPr lang="en-US" sz="1200"/>
          </a:p>
          <a:p>
            <a:pPr algn="ctr"/>
            <a:r>
              <a:rPr lang="en-US" sz="1200"/>
              <a:t>3  |  </a:t>
            </a:r>
            <a:r>
              <a:rPr lang="en-US" sz="1200" u="sng"/>
              <a:t>6</a:t>
            </a:r>
          </a:p>
          <a:p>
            <a:pPr algn="ctr"/>
            <a:endParaRPr lang="en-US" sz="1200"/>
          </a:p>
          <a:p>
            <a:pPr algn="ctr"/>
            <a:endParaRPr lang="en-US" sz="1200"/>
          </a:p>
          <a:p>
            <a:pPr algn="ctr"/>
            <a:endParaRPr lang="en-US" sz="1200" u="sng"/>
          </a:p>
        </p:txBody>
      </p:sp>
      <p:sp>
        <p:nvSpPr>
          <p:cNvPr id="37" name="Rectangle 36">
            <a:extLst>
              <a:ext uri="{FF2B5EF4-FFF2-40B4-BE49-F238E27FC236}">
                <a16:creationId xmlns:a16="http://schemas.microsoft.com/office/drawing/2014/main" id="{CEEF23AD-EA17-135A-DB95-1D1FECB286F3}"/>
              </a:ext>
            </a:extLst>
          </p:cNvPr>
          <p:cNvSpPr/>
          <p:nvPr/>
        </p:nvSpPr>
        <p:spPr>
          <a:xfrm>
            <a:off x="1876413" y="364161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CEEF23AD-EA17-135A-DB95-1D1FECB286F3}"/>
              </a:ext>
            </a:extLst>
          </p:cNvPr>
          <p:cNvSpPr/>
          <p:nvPr/>
        </p:nvSpPr>
        <p:spPr>
          <a:xfrm>
            <a:off x="1876413" y="499568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Rectangle 38">
            <a:extLst>
              <a:ext uri="{FF2B5EF4-FFF2-40B4-BE49-F238E27FC236}">
                <a16:creationId xmlns:a16="http://schemas.microsoft.com/office/drawing/2014/main" id="{CEEF23AD-EA17-135A-DB95-1D1FECB286F3}"/>
              </a:ext>
            </a:extLst>
          </p:cNvPr>
          <p:cNvSpPr/>
          <p:nvPr/>
        </p:nvSpPr>
        <p:spPr>
          <a:xfrm>
            <a:off x="3500888" y="363693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0" name="Rectangle 39">
            <a:extLst>
              <a:ext uri="{FF2B5EF4-FFF2-40B4-BE49-F238E27FC236}">
                <a16:creationId xmlns:a16="http://schemas.microsoft.com/office/drawing/2014/main" id="{CEEF23AD-EA17-135A-DB95-1D1FECB286F3}"/>
              </a:ext>
            </a:extLst>
          </p:cNvPr>
          <p:cNvSpPr/>
          <p:nvPr/>
        </p:nvSpPr>
        <p:spPr>
          <a:xfrm>
            <a:off x="3500888" y="499100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CEEF23AD-EA17-135A-DB95-1D1FECB286F3}"/>
              </a:ext>
            </a:extLst>
          </p:cNvPr>
          <p:cNvSpPr/>
          <p:nvPr/>
        </p:nvSpPr>
        <p:spPr>
          <a:xfrm>
            <a:off x="5143804" y="363693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EEF23AD-EA17-135A-DB95-1D1FECB286F3}"/>
              </a:ext>
            </a:extLst>
          </p:cNvPr>
          <p:cNvSpPr/>
          <p:nvPr/>
        </p:nvSpPr>
        <p:spPr>
          <a:xfrm>
            <a:off x="5143804" y="499100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TextBox 46"/>
          <p:cNvSpPr txBox="1"/>
          <p:nvPr/>
        </p:nvSpPr>
        <p:spPr>
          <a:xfrm>
            <a:off x="1886481" y="4002310"/>
            <a:ext cx="1419715" cy="1384995"/>
          </a:xfrm>
          <a:prstGeom prst="rect">
            <a:avLst/>
          </a:prstGeom>
          <a:noFill/>
        </p:spPr>
        <p:txBody>
          <a:bodyPr wrap="square" rtlCol="0">
            <a:spAutoFit/>
          </a:bodyPr>
          <a:lstStyle/>
          <a:p>
            <a:pPr algn="ctr"/>
            <a:r>
              <a:rPr lang="en-US" sz="1200"/>
              <a:t>Round 453 to one significant figure</a:t>
            </a:r>
          </a:p>
          <a:p>
            <a:pPr algn="ctr"/>
            <a:endParaRPr lang="en-US" sz="1200"/>
          </a:p>
          <a:p>
            <a:pPr algn="ctr"/>
            <a:r>
              <a:rPr lang="en-US" sz="1200"/>
              <a:t>4  |  </a:t>
            </a:r>
            <a:r>
              <a:rPr lang="en-US" sz="1200" u="sng"/>
              <a:t>5</a:t>
            </a:r>
            <a:r>
              <a:rPr lang="en-US" sz="1200"/>
              <a:t>    3</a:t>
            </a:r>
            <a:endParaRPr lang="en-US" sz="1200" u="sng"/>
          </a:p>
          <a:p>
            <a:pPr algn="ctr"/>
            <a:endParaRPr lang="en-US" sz="1200"/>
          </a:p>
          <a:p>
            <a:pPr algn="ctr"/>
            <a:endParaRPr lang="en-US" sz="1200"/>
          </a:p>
          <a:p>
            <a:pPr algn="ctr"/>
            <a:endParaRPr lang="en-US" sz="1200" u="sng"/>
          </a:p>
        </p:txBody>
      </p:sp>
      <p:sp>
        <p:nvSpPr>
          <p:cNvPr id="48" name="TextBox 47"/>
          <p:cNvSpPr txBox="1"/>
          <p:nvPr/>
        </p:nvSpPr>
        <p:spPr>
          <a:xfrm>
            <a:off x="3502401" y="2852169"/>
            <a:ext cx="1419715" cy="1015663"/>
          </a:xfrm>
          <a:prstGeom prst="rect">
            <a:avLst/>
          </a:prstGeom>
          <a:noFill/>
        </p:spPr>
        <p:txBody>
          <a:bodyPr wrap="square" rtlCol="0">
            <a:spAutoFit/>
          </a:bodyPr>
          <a:lstStyle/>
          <a:p>
            <a:pPr algn="ctr"/>
            <a:r>
              <a:rPr lang="en-US" sz="1200"/>
              <a:t>Round 49 to one significant figure</a:t>
            </a:r>
          </a:p>
          <a:p>
            <a:pPr algn="ctr"/>
            <a:endParaRPr lang="en-US" sz="1200"/>
          </a:p>
          <a:p>
            <a:pPr algn="ctr"/>
            <a:endParaRPr lang="en-US" sz="1200"/>
          </a:p>
          <a:p>
            <a:pPr algn="ctr"/>
            <a:endParaRPr lang="en-US" sz="1200" u="sng"/>
          </a:p>
        </p:txBody>
      </p:sp>
      <p:sp>
        <p:nvSpPr>
          <p:cNvPr id="49" name="TextBox 48"/>
          <p:cNvSpPr txBox="1"/>
          <p:nvPr/>
        </p:nvSpPr>
        <p:spPr>
          <a:xfrm>
            <a:off x="3481423" y="4011403"/>
            <a:ext cx="1419715" cy="1015663"/>
          </a:xfrm>
          <a:prstGeom prst="rect">
            <a:avLst/>
          </a:prstGeom>
          <a:noFill/>
        </p:spPr>
        <p:txBody>
          <a:bodyPr wrap="square" rtlCol="0">
            <a:spAutoFit/>
          </a:bodyPr>
          <a:lstStyle/>
          <a:p>
            <a:pPr algn="ctr"/>
            <a:r>
              <a:rPr lang="en-US" sz="1200"/>
              <a:t>Round 4353 to one significant figure</a:t>
            </a:r>
          </a:p>
          <a:p>
            <a:pPr algn="ctr"/>
            <a:endParaRPr lang="en-US" sz="1200"/>
          </a:p>
          <a:p>
            <a:pPr algn="ctr"/>
            <a:endParaRPr lang="en-US" sz="1200"/>
          </a:p>
          <a:p>
            <a:pPr algn="ctr"/>
            <a:endParaRPr lang="en-US" sz="1200" u="sng"/>
          </a:p>
        </p:txBody>
      </p:sp>
      <p:sp>
        <p:nvSpPr>
          <p:cNvPr id="50" name="TextBox 49"/>
          <p:cNvSpPr txBox="1"/>
          <p:nvPr/>
        </p:nvSpPr>
        <p:spPr>
          <a:xfrm>
            <a:off x="5178036" y="2844465"/>
            <a:ext cx="1419715" cy="1015663"/>
          </a:xfrm>
          <a:prstGeom prst="rect">
            <a:avLst/>
          </a:prstGeom>
          <a:noFill/>
        </p:spPr>
        <p:txBody>
          <a:bodyPr wrap="square" rtlCol="0">
            <a:spAutoFit/>
          </a:bodyPr>
          <a:lstStyle/>
          <a:p>
            <a:pPr algn="ctr"/>
            <a:r>
              <a:rPr lang="en-US" sz="1200"/>
              <a:t>Round 75 to one significant figure</a:t>
            </a:r>
          </a:p>
          <a:p>
            <a:pPr algn="ctr"/>
            <a:endParaRPr lang="en-US" sz="1200"/>
          </a:p>
          <a:p>
            <a:pPr algn="ctr"/>
            <a:endParaRPr lang="en-US" sz="1200"/>
          </a:p>
          <a:p>
            <a:pPr algn="ctr"/>
            <a:endParaRPr lang="en-US" sz="1200" u="sng"/>
          </a:p>
        </p:txBody>
      </p:sp>
      <p:sp>
        <p:nvSpPr>
          <p:cNvPr id="51" name="TextBox 50"/>
          <p:cNvSpPr txBox="1"/>
          <p:nvPr/>
        </p:nvSpPr>
        <p:spPr>
          <a:xfrm>
            <a:off x="5173337" y="4034410"/>
            <a:ext cx="1419715" cy="1015663"/>
          </a:xfrm>
          <a:prstGeom prst="rect">
            <a:avLst/>
          </a:prstGeom>
          <a:noFill/>
        </p:spPr>
        <p:txBody>
          <a:bodyPr wrap="square" rtlCol="0">
            <a:spAutoFit/>
          </a:bodyPr>
          <a:lstStyle/>
          <a:p>
            <a:pPr algn="ctr"/>
            <a:r>
              <a:rPr lang="en-US" sz="1200"/>
              <a:t>Round 4531 to one significant figure</a:t>
            </a:r>
          </a:p>
          <a:p>
            <a:pPr algn="ctr"/>
            <a:endParaRPr lang="en-US" sz="1200"/>
          </a:p>
          <a:p>
            <a:pPr algn="ctr"/>
            <a:endParaRPr lang="en-US" sz="1200"/>
          </a:p>
          <a:p>
            <a:pPr algn="ctr"/>
            <a:endParaRPr lang="en-US" sz="1200" u="sng"/>
          </a:p>
        </p:txBody>
      </p:sp>
      <p:sp>
        <p:nvSpPr>
          <p:cNvPr id="54" name="TextBox 53"/>
          <p:cNvSpPr txBox="1"/>
          <p:nvPr/>
        </p:nvSpPr>
        <p:spPr>
          <a:xfrm>
            <a:off x="1388238" y="5501139"/>
            <a:ext cx="3028650" cy="276999"/>
          </a:xfrm>
          <a:prstGeom prst="rect">
            <a:avLst/>
          </a:prstGeom>
          <a:noFill/>
        </p:spPr>
        <p:txBody>
          <a:bodyPr wrap="none" rtlCol="0">
            <a:spAutoFit/>
          </a:bodyPr>
          <a:lstStyle/>
          <a:p>
            <a:r>
              <a:rPr lang="en-US" sz="1200"/>
              <a:t>2. Round each number to 1 significant figure. </a:t>
            </a:r>
            <a:endParaRPr lang="en-GB" sz="1200"/>
          </a:p>
        </p:txBody>
      </p:sp>
      <p:sp>
        <p:nvSpPr>
          <p:cNvPr id="56" name="TextBox 55"/>
          <p:cNvSpPr txBox="1"/>
          <p:nvPr/>
        </p:nvSpPr>
        <p:spPr>
          <a:xfrm>
            <a:off x="367452" y="5772661"/>
            <a:ext cx="497252" cy="276999"/>
          </a:xfrm>
          <a:prstGeom prst="rect">
            <a:avLst/>
          </a:prstGeom>
          <a:noFill/>
        </p:spPr>
        <p:txBody>
          <a:bodyPr wrap="none" rtlCol="0">
            <a:spAutoFit/>
          </a:bodyPr>
          <a:lstStyle/>
          <a:p>
            <a:r>
              <a:rPr lang="en-US" sz="1200"/>
              <a:t>a) 12</a:t>
            </a:r>
            <a:endParaRPr lang="en-GB" sz="1200"/>
          </a:p>
        </p:txBody>
      </p:sp>
      <p:sp>
        <p:nvSpPr>
          <p:cNvPr id="57" name="TextBox 56"/>
          <p:cNvSpPr txBox="1"/>
          <p:nvPr/>
        </p:nvSpPr>
        <p:spPr>
          <a:xfrm>
            <a:off x="1419709" y="5763958"/>
            <a:ext cx="503664" cy="276999"/>
          </a:xfrm>
          <a:prstGeom prst="rect">
            <a:avLst/>
          </a:prstGeom>
          <a:noFill/>
        </p:spPr>
        <p:txBody>
          <a:bodyPr wrap="none" rtlCol="0">
            <a:spAutoFit/>
          </a:bodyPr>
          <a:lstStyle/>
          <a:p>
            <a:r>
              <a:rPr lang="en-US" sz="1200"/>
              <a:t>b) 15</a:t>
            </a:r>
            <a:endParaRPr lang="en-GB" sz="1200"/>
          </a:p>
        </p:txBody>
      </p:sp>
      <p:sp>
        <p:nvSpPr>
          <p:cNvPr id="58" name="TextBox 57"/>
          <p:cNvSpPr txBox="1"/>
          <p:nvPr/>
        </p:nvSpPr>
        <p:spPr>
          <a:xfrm>
            <a:off x="2496368" y="5763959"/>
            <a:ext cx="489236" cy="276999"/>
          </a:xfrm>
          <a:prstGeom prst="rect">
            <a:avLst/>
          </a:prstGeom>
          <a:noFill/>
        </p:spPr>
        <p:txBody>
          <a:bodyPr wrap="none" rtlCol="0">
            <a:spAutoFit/>
          </a:bodyPr>
          <a:lstStyle/>
          <a:p>
            <a:r>
              <a:rPr lang="en-US" sz="1200"/>
              <a:t>c) 24</a:t>
            </a:r>
            <a:endParaRPr lang="en-GB" sz="1200"/>
          </a:p>
        </p:txBody>
      </p:sp>
      <p:sp>
        <p:nvSpPr>
          <p:cNvPr id="59" name="TextBox 58"/>
          <p:cNvSpPr txBox="1"/>
          <p:nvPr/>
        </p:nvSpPr>
        <p:spPr>
          <a:xfrm>
            <a:off x="3503414" y="5787051"/>
            <a:ext cx="503664" cy="276999"/>
          </a:xfrm>
          <a:prstGeom prst="rect">
            <a:avLst/>
          </a:prstGeom>
          <a:noFill/>
        </p:spPr>
        <p:txBody>
          <a:bodyPr wrap="none" rtlCol="0">
            <a:spAutoFit/>
          </a:bodyPr>
          <a:lstStyle/>
          <a:p>
            <a:r>
              <a:rPr lang="en-US" sz="1200"/>
              <a:t>d) 27</a:t>
            </a:r>
            <a:endParaRPr lang="en-GB" sz="1200"/>
          </a:p>
        </p:txBody>
      </p:sp>
      <p:sp>
        <p:nvSpPr>
          <p:cNvPr id="60" name="TextBox 59"/>
          <p:cNvSpPr txBox="1"/>
          <p:nvPr/>
        </p:nvSpPr>
        <p:spPr>
          <a:xfrm>
            <a:off x="4607177" y="5783571"/>
            <a:ext cx="500458" cy="276999"/>
          </a:xfrm>
          <a:prstGeom prst="rect">
            <a:avLst/>
          </a:prstGeom>
          <a:noFill/>
        </p:spPr>
        <p:txBody>
          <a:bodyPr wrap="none" rtlCol="0">
            <a:spAutoFit/>
          </a:bodyPr>
          <a:lstStyle/>
          <a:p>
            <a:r>
              <a:rPr lang="en-US" sz="1200"/>
              <a:t>e) 35</a:t>
            </a:r>
            <a:endParaRPr lang="en-GB" sz="1200"/>
          </a:p>
        </p:txBody>
      </p:sp>
      <p:sp>
        <p:nvSpPr>
          <p:cNvPr id="61" name="Rectangle 60">
            <a:extLst>
              <a:ext uri="{FF2B5EF4-FFF2-40B4-BE49-F238E27FC236}">
                <a16:creationId xmlns:a16="http://schemas.microsoft.com/office/drawing/2014/main" id="{CEEF23AD-EA17-135A-DB95-1D1FECB286F3}"/>
              </a:ext>
            </a:extLst>
          </p:cNvPr>
          <p:cNvSpPr/>
          <p:nvPr/>
        </p:nvSpPr>
        <p:spPr>
          <a:xfrm>
            <a:off x="399210"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CEEF23AD-EA17-135A-DB95-1D1FECB286F3}"/>
              </a:ext>
            </a:extLst>
          </p:cNvPr>
          <p:cNvSpPr/>
          <p:nvPr/>
        </p:nvSpPr>
        <p:spPr>
          <a:xfrm>
            <a:off x="1443165"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3" name="Rectangle 62">
            <a:extLst>
              <a:ext uri="{FF2B5EF4-FFF2-40B4-BE49-F238E27FC236}">
                <a16:creationId xmlns:a16="http://schemas.microsoft.com/office/drawing/2014/main" id="{CEEF23AD-EA17-135A-DB95-1D1FECB286F3}"/>
              </a:ext>
            </a:extLst>
          </p:cNvPr>
          <p:cNvSpPr/>
          <p:nvPr/>
        </p:nvSpPr>
        <p:spPr>
          <a:xfrm>
            <a:off x="2499049"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CEEF23AD-EA17-135A-DB95-1D1FECB286F3}"/>
              </a:ext>
            </a:extLst>
          </p:cNvPr>
          <p:cNvSpPr/>
          <p:nvPr/>
        </p:nvSpPr>
        <p:spPr>
          <a:xfrm>
            <a:off x="3573247"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4624911"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TextBox 65"/>
          <p:cNvSpPr txBox="1"/>
          <p:nvPr/>
        </p:nvSpPr>
        <p:spPr>
          <a:xfrm>
            <a:off x="5702190" y="5809218"/>
            <a:ext cx="472245" cy="276999"/>
          </a:xfrm>
          <a:prstGeom prst="rect">
            <a:avLst/>
          </a:prstGeom>
          <a:noFill/>
        </p:spPr>
        <p:txBody>
          <a:bodyPr wrap="none" rtlCol="0">
            <a:spAutoFit/>
          </a:bodyPr>
          <a:lstStyle/>
          <a:p>
            <a:r>
              <a:rPr lang="en-US" sz="1200"/>
              <a:t>f) 39</a:t>
            </a:r>
            <a:endParaRPr lang="en-GB" sz="1200"/>
          </a:p>
        </p:txBody>
      </p:sp>
      <p:sp>
        <p:nvSpPr>
          <p:cNvPr id="67" name="Rectangle 66">
            <a:extLst>
              <a:ext uri="{FF2B5EF4-FFF2-40B4-BE49-F238E27FC236}">
                <a16:creationId xmlns:a16="http://schemas.microsoft.com/office/drawing/2014/main" id="{CEEF23AD-EA17-135A-DB95-1D1FECB286F3}"/>
              </a:ext>
            </a:extLst>
          </p:cNvPr>
          <p:cNvSpPr/>
          <p:nvPr/>
        </p:nvSpPr>
        <p:spPr>
          <a:xfrm>
            <a:off x="5674013" y="634535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TextBox 67"/>
          <p:cNvSpPr txBox="1"/>
          <p:nvPr/>
        </p:nvSpPr>
        <p:spPr>
          <a:xfrm>
            <a:off x="399210" y="6806984"/>
            <a:ext cx="574196" cy="276999"/>
          </a:xfrm>
          <a:prstGeom prst="rect">
            <a:avLst/>
          </a:prstGeom>
          <a:noFill/>
        </p:spPr>
        <p:txBody>
          <a:bodyPr wrap="none" rtlCol="0">
            <a:spAutoFit/>
          </a:bodyPr>
          <a:lstStyle/>
          <a:p>
            <a:r>
              <a:rPr lang="en-US" sz="1200"/>
              <a:t>g) 390</a:t>
            </a:r>
            <a:endParaRPr lang="en-GB" sz="1200"/>
          </a:p>
        </p:txBody>
      </p:sp>
      <p:sp>
        <p:nvSpPr>
          <p:cNvPr id="69" name="TextBox 68"/>
          <p:cNvSpPr txBox="1"/>
          <p:nvPr/>
        </p:nvSpPr>
        <p:spPr>
          <a:xfrm>
            <a:off x="1451467" y="6798281"/>
            <a:ext cx="582211" cy="276999"/>
          </a:xfrm>
          <a:prstGeom prst="rect">
            <a:avLst/>
          </a:prstGeom>
          <a:noFill/>
        </p:spPr>
        <p:txBody>
          <a:bodyPr wrap="none" rtlCol="0">
            <a:spAutoFit/>
          </a:bodyPr>
          <a:lstStyle/>
          <a:p>
            <a:r>
              <a:rPr lang="en-US" sz="1200"/>
              <a:t>h) 395</a:t>
            </a:r>
            <a:endParaRPr lang="en-GB" sz="1200"/>
          </a:p>
        </p:txBody>
      </p:sp>
      <p:sp>
        <p:nvSpPr>
          <p:cNvPr id="70" name="TextBox 69"/>
          <p:cNvSpPr txBox="1"/>
          <p:nvPr/>
        </p:nvSpPr>
        <p:spPr>
          <a:xfrm>
            <a:off x="2528126" y="6798282"/>
            <a:ext cx="537327" cy="276999"/>
          </a:xfrm>
          <a:prstGeom prst="rect">
            <a:avLst/>
          </a:prstGeom>
          <a:noFill/>
        </p:spPr>
        <p:txBody>
          <a:bodyPr wrap="none" rtlCol="0">
            <a:spAutoFit/>
          </a:bodyPr>
          <a:lstStyle/>
          <a:p>
            <a:r>
              <a:rPr lang="en-US" sz="1200"/>
              <a:t>i) 401</a:t>
            </a:r>
            <a:endParaRPr lang="en-GB" sz="1200"/>
          </a:p>
        </p:txBody>
      </p:sp>
      <p:sp>
        <p:nvSpPr>
          <p:cNvPr id="71" name="TextBox 70"/>
          <p:cNvSpPr txBox="1"/>
          <p:nvPr/>
        </p:nvSpPr>
        <p:spPr>
          <a:xfrm>
            <a:off x="3535172" y="6821374"/>
            <a:ext cx="538930" cy="276999"/>
          </a:xfrm>
          <a:prstGeom prst="rect">
            <a:avLst/>
          </a:prstGeom>
          <a:noFill/>
        </p:spPr>
        <p:txBody>
          <a:bodyPr wrap="none" rtlCol="0">
            <a:spAutoFit/>
          </a:bodyPr>
          <a:lstStyle/>
          <a:p>
            <a:r>
              <a:rPr lang="en-US" sz="1200"/>
              <a:t>j) 450</a:t>
            </a:r>
            <a:endParaRPr lang="en-GB" sz="1200"/>
          </a:p>
        </p:txBody>
      </p:sp>
      <p:sp>
        <p:nvSpPr>
          <p:cNvPr id="72" name="TextBox 71"/>
          <p:cNvSpPr txBox="1"/>
          <p:nvPr/>
        </p:nvSpPr>
        <p:spPr>
          <a:xfrm>
            <a:off x="4638935" y="6817894"/>
            <a:ext cx="572593" cy="276999"/>
          </a:xfrm>
          <a:prstGeom prst="rect">
            <a:avLst/>
          </a:prstGeom>
          <a:noFill/>
        </p:spPr>
        <p:txBody>
          <a:bodyPr wrap="none" rtlCol="0">
            <a:spAutoFit/>
          </a:bodyPr>
          <a:lstStyle/>
          <a:p>
            <a:r>
              <a:rPr lang="en-US" sz="1200"/>
              <a:t>k) 570</a:t>
            </a:r>
            <a:endParaRPr lang="en-GB" sz="1200"/>
          </a:p>
        </p:txBody>
      </p:sp>
      <p:sp>
        <p:nvSpPr>
          <p:cNvPr id="73" name="Rectangle 72">
            <a:extLst>
              <a:ext uri="{FF2B5EF4-FFF2-40B4-BE49-F238E27FC236}">
                <a16:creationId xmlns:a16="http://schemas.microsoft.com/office/drawing/2014/main" id="{CEEF23AD-EA17-135A-DB95-1D1FECB286F3}"/>
              </a:ext>
            </a:extLst>
          </p:cNvPr>
          <p:cNvSpPr/>
          <p:nvPr/>
        </p:nvSpPr>
        <p:spPr>
          <a:xfrm>
            <a:off x="399210"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CEEF23AD-EA17-135A-DB95-1D1FECB286F3}"/>
              </a:ext>
            </a:extLst>
          </p:cNvPr>
          <p:cNvSpPr/>
          <p:nvPr/>
        </p:nvSpPr>
        <p:spPr>
          <a:xfrm>
            <a:off x="1443165"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5" name="Rectangle 74">
            <a:extLst>
              <a:ext uri="{FF2B5EF4-FFF2-40B4-BE49-F238E27FC236}">
                <a16:creationId xmlns:a16="http://schemas.microsoft.com/office/drawing/2014/main" id="{CEEF23AD-EA17-135A-DB95-1D1FECB286F3}"/>
              </a:ext>
            </a:extLst>
          </p:cNvPr>
          <p:cNvSpPr/>
          <p:nvPr/>
        </p:nvSpPr>
        <p:spPr>
          <a:xfrm>
            <a:off x="2499049"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6" name="Rectangle 75">
            <a:extLst>
              <a:ext uri="{FF2B5EF4-FFF2-40B4-BE49-F238E27FC236}">
                <a16:creationId xmlns:a16="http://schemas.microsoft.com/office/drawing/2014/main" id="{CEEF23AD-EA17-135A-DB95-1D1FECB286F3}"/>
              </a:ext>
            </a:extLst>
          </p:cNvPr>
          <p:cNvSpPr/>
          <p:nvPr/>
        </p:nvSpPr>
        <p:spPr>
          <a:xfrm>
            <a:off x="3573247"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4624911"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TextBox 77"/>
          <p:cNvSpPr txBox="1"/>
          <p:nvPr/>
        </p:nvSpPr>
        <p:spPr>
          <a:xfrm>
            <a:off x="5733948" y="6843541"/>
            <a:ext cx="537327" cy="276999"/>
          </a:xfrm>
          <a:prstGeom prst="rect">
            <a:avLst/>
          </a:prstGeom>
          <a:noFill/>
        </p:spPr>
        <p:txBody>
          <a:bodyPr wrap="none" rtlCol="0">
            <a:spAutoFit/>
          </a:bodyPr>
          <a:lstStyle/>
          <a:p>
            <a:r>
              <a:rPr lang="en-US" sz="1200"/>
              <a:t>l) 690</a:t>
            </a:r>
            <a:endParaRPr lang="en-GB" sz="1200"/>
          </a:p>
        </p:txBody>
      </p:sp>
      <p:sp>
        <p:nvSpPr>
          <p:cNvPr id="79" name="Rectangle 78">
            <a:extLst>
              <a:ext uri="{FF2B5EF4-FFF2-40B4-BE49-F238E27FC236}">
                <a16:creationId xmlns:a16="http://schemas.microsoft.com/office/drawing/2014/main" id="{CEEF23AD-EA17-135A-DB95-1D1FECB286F3}"/>
              </a:ext>
            </a:extLst>
          </p:cNvPr>
          <p:cNvSpPr/>
          <p:nvPr/>
        </p:nvSpPr>
        <p:spPr>
          <a:xfrm>
            <a:off x="5674013" y="7342753"/>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TextBox 79"/>
          <p:cNvSpPr txBox="1"/>
          <p:nvPr/>
        </p:nvSpPr>
        <p:spPr>
          <a:xfrm>
            <a:off x="380704" y="7753572"/>
            <a:ext cx="704039" cy="276999"/>
          </a:xfrm>
          <a:prstGeom prst="rect">
            <a:avLst/>
          </a:prstGeom>
          <a:noFill/>
        </p:spPr>
        <p:txBody>
          <a:bodyPr wrap="none" rtlCol="0">
            <a:spAutoFit/>
          </a:bodyPr>
          <a:lstStyle/>
          <a:p>
            <a:r>
              <a:rPr lang="en-US" sz="1200"/>
              <a:t>m) 1200</a:t>
            </a:r>
            <a:endParaRPr lang="en-GB" sz="1200"/>
          </a:p>
        </p:txBody>
      </p:sp>
      <p:sp>
        <p:nvSpPr>
          <p:cNvPr id="81" name="TextBox 80"/>
          <p:cNvSpPr txBox="1"/>
          <p:nvPr/>
        </p:nvSpPr>
        <p:spPr>
          <a:xfrm>
            <a:off x="1425065" y="7740804"/>
            <a:ext cx="660758" cy="276999"/>
          </a:xfrm>
          <a:prstGeom prst="rect">
            <a:avLst/>
          </a:prstGeom>
          <a:noFill/>
        </p:spPr>
        <p:txBody>
          <a:bodyPr wrap="none" rtlCol="0">
            <a:spAutoFit/>
          </a:bodyPr>
          <a:lstStyle/>
          <a:p>
            <a:r>
              <a:rPr lang="en-US" sz="1200"/>
              <a:t>n) 1500</a:t>
            </a:r>
            <a:endParaRPr lang="en-GB" sz="1200"/>
          </a:p>
        </p:txBody>
      </p:sp>
      <p:sp>
        <p:nvSpPr>
          <p:cNvPr id="82" name="TextBox 81"/>
          <p:cNvSpPr txBox="1"/>
          <p:nvPr/>
        </p:nvSpPr>
        <p:spPr>
          <a:xfrm>
            <a:off x="2481789" y="7764481"/>
            <a:ext cx="662361" cy="276999"/>
          </a:xfrm>
          <a:prstGeom prst="rect">
            <a:avLst/>
          </a:prstGeom>
          <a:noFill/>
        </p:spPr>
        <p:txBody>
          <a:bodyPr wrap="none" rtlCol="0">
            <a:spAutoFit/>
          </a:bodyPr>
          <a:lstStyle/>
          <a:p>
            <a:r>
              <a:rPr lang="en-US" sz="1200"/>
              <a:t>o) 1005</a:t>
            </a:r>
            <a:endParaRPr lang="en-GB" sz="1200"/>
          </a:p>
        </p:txBody>
      </p:sp>
      <p:sp>
        <p:nvSpPr>
          <p:cNvPr id="83" name="TextBox 82"/>
          <p:cNvSpPr txBox="1"/>
          <p:nvPr/>
        </p:nvSpPr>
        <p:spPr>
          <a:xfrm>
            <a:off x="3516666" y="7767962"/>
            <a:ext cx="660758" cy="276999"/>
          </a:xfrm>
          <a:prstGeom prst="rect">
            <a:avLst/>
          </a:prstGeom>
          <a:noFill/>
        </p:spPr>
        <p:txBody>
          <a:bodyPr wrap="none" rtlCol="0">
            <a:spAutoFit/>
          </a:bodyPr>
          <a:lstStyle/>
          <a:p>
            <a:r>
              <a:rPr lang="en-US" sz="1200"/>
              <a:t>p) 1050</a:t>
            </a:r>
            <a:endParaRPr lang="en-GB" sz="1200"/>
          </a:p>
        </p:txBody>
      </p:sp>
      <p:sp>
        <p:nvSpPr>
          <p:cNvPr id="84" name="TextBox 83"/>
          <p:cNvSpPr txBox="1"/>
          <p:nvPr/>
        </p:nvSpPr>
        <p:spPr>
          <a:xfrm>
            <a:off x="4603971" y="7753572"/>
            <a:ext cx="660758" cy="276999"/>
          </a:xfrm>
          <a:prstGeom prst="rect">
            <a:avLst/>
          </a:prstGeom>
          <a:noFill/>
        </p:spPr>
        <p:txBody>
          <a:bodyPr wrap="none" rtlCol="0">
            <a:spAutoFit/>
          </a:bodyPr>
          <a:lstStyle/>
          <a:p>
            <a:r>
              <a:rPr lang="en-US" sz="1200"/>
              <a:t>q) 2950</a:t>
            </a:r>
            <a:endParaRPr lang="en-GB" sz="1200"/>
          </a:p>
        </p:txBody>
      </p:sp>
      <p:sp>
        <p:nvSpPr>
          <p:cNvPr id="85" name="Rectangle 84">
            <a:extLst>
              <a:ext uri="{FF2B5EF4-FFF2-40B4-BE49-F238E27FC236}">
                <a16:creationId xmlns:a16="http://schemas.microsoft.com/office/drawing/2014/main" id="{CEEF23AD-EA17-135A-DB95-1D1FECB286F3}"/>
              </a:ext>
            </a:extLst>
          </p:cNvPr>
          <p:cNvSpPr/>
          <p:nvPr/>
        </p:nvSpPr>
        <p:spPr>
          <a:xfrm>
            <a:off x="412462"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6" name="Rectangle 85">
            <a:extLst>
              <a:ext uri="{FF2B5EF4-FFF2-40B4-BE49-F238E27FC236}">
                <a16:creationId xmlns:a16="http://schemas.microsoft.com/office/drawing/2014/main" id="{CEEF23AD-EA17-135A-DB95-1D1FECB286F3}"/>
              </a:ext>
            </a:extLst>
          </p:cNvPr>
          <p:cNvSpPr/>
          <p:nvPr/>
        </p:nvSpPr>
        <p:spPr>
          <a:xfrm>
            <a:off x="1456417"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CEEF23AD-EA17-135A-DB95-1D1FECB286F3}"/>
              </a:ext>
            </a:extLst>
          </p:cNvPr>
          <p:cNvSpPr/>
          <p:nvPr/>
        </p:nvSpPr>
        <p:spPr>
          <a:xfrm>
            <a:off x="2512301"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CEEF23AD-EA17-135A-DB95-1D1FECB286F3}"/>
              </a:ext>
            </a:extLst>
          </p:cNvPr>
          <p:cNvSpPr/>
          <p:nvPr/>
        </p:nvSpPr>
        <p:spPr>
          <a:xfrm>
            <a:off x="3586499"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9" name="Rectangle 88">
            <a:extLst>
              <a:ext uri="{FF2B5EF4-FFF2-40B4-BE49-F238E27FC236}">
                <a16:creationId xmlns:a16="http://schemas.microsoft.com/office/drawing/2014/main" id="{CEEF23AD-EA17-135A-DB95-1D1FECB286F3}"/>
              </a:ext>
            </a:extLst>
          </p:cNvPr>
          <p:cNvSpPr/>
          <p:nvPr/>
        </p:nvSpPr>
        <p:spPr>
          <a:xfrm>
            <a:off x="4638163"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0" name="TextBox 89"/>
          <p:cNvSpPr txBox="1"/>
          <p:nvPr/>
        </p:nvSpPr>
        <p:spPr>
          <a:xfrm>
            <a:off x="5650766" y="7748583"/>
            <a:ext cx="633507" cy="276999"/>
          </a:xfrm>
          <a:prstGeom prst="rect">
            <a:avLst/>
          </a:prstGeom>
          <a:noFill/>
        </p:spPr>
        <p:txBody>
          <a:bodyPr wrap="none" rtlCol="0">
            <a:spAutoFit/>
          </a:bodyPr>
          <a:lstStyle/>
          <a:p>
            <a:r>
              <a:rPr lang="en-US" sz="1200"/>
              <a:t>r) 2095</a:t>
            </a:r>
            <a:endParaRPr lang="en-GB" sz="1200"/>
          </a:p>
        </p:txBody>
      </p:sp>
      <p:sp>
        <p:nvSpPr>
          <p:cNvPr id="91" name="Rectangle 90">
            <a:extLst>
              <a:ext uri="{FF2B5EF4-FFF2-40B4-BE49-F238E27FC236}">
                <a16:creationId xmlns:a16="http://schemas.microsoft.com/office/drawing/2014/main" id="{CEEF23AD-EA17-135A-DB95-1D1FECB286F3}"/>
              </a:ext>
            </a:extLst>
          </p:cNvPr>
          <p:cNvSpPr/>
          <p:nvPr/>
        </p:nvSpPr>
        <p:spPr>
          <a:xfrm>
            <a:off x="5687265" y="832052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2" name="TextBox 91"/>
          <p:cNvSpPr txBox="1"/>
          <p:nvPr/>
        </p:nvSpPr>
        <p:spPr>
          <a:xfrm>
            <a:off x="361591" y="8810988"/>
            <a:ext cx="641522" cy="276999"/>
          </a:xfrm>
          <a:prstGeom prst="rect">
            <a:avLst/>
          </a:prstGeom>
          <a:noFill/>
        </p:spPr>
        <p:txBody>
          <a:bodyPr wrap="none" rtlCol="0">
            <a:spAutoFit/>
          </a:bodyPr>
          <a:lstStyle/>
          <a:p>
            <a:r>
              <a:rPr lang="en-US" sz="1200"/>
              <a:t>s) 2495</a:t>
            </a:r>
            <a:endParaRPr lang="en-GB" sz="1200"/>
          </a:p>
        </p:txBody>
      </p:sp>
      <p:sp>
        <p:nvSpPr>
          <p:cNvPr id="93" name="TextBox 92"/>
          <p:cNvSpPr txBox="1"/>
          <p:nvPr/>
        </p:nvSpPr>
        <p:spPr>
          <a:xfrm>
            <a:off x="1381085" y="8805999"/>
            <a:ext cx="631904" cy="276999"/>
          </a:xfrm>
          <a:prstGeom prst="rect">
            <a:avLst/>
          </a:prstGeom>
          <a:noFill/>
        </p:spPr>
        <p:txBody>
          <a:bodyPr wrap="none" rtlCol="0">
            <a:spAutoFit/>
          </a:bodyPr>
          <a:lstStyle/>
          <a:p>
            <a:r>
              <a:rPr lang="en-US" sz="1200"/>
              <a:t>t) 2945</a:t>
            </a:r>
            <a:endParaRPr lang="en-GB" sz="1200"/>
          </a:p>
        </p:txBody>
      </p:sp>
      <p:sp>
        <p:nvSpPr>
          <p:cNvPr id="94" name="TextBox 93"/>
          <p:cNvSpPr txBox="1"/>
          <p:nvPr/>
        </p:nvSpPr>
        <p:spPr>
          <a:xfrm>
            <a:off x="2462676" y="8821897"/>
            <a:ext cx="660758" cy="276999"/>
          </a:xfrm>
          <a:prstGeom prst="rect">
            <a:avLst/>
          </a:prstGeom>
          <a:noFill/>
        </p:spPr>
        <p:txBody>
          <a:bodyPr wrap="none" rtlCol="0">
            <a:spAutoFit/>
          </a:bodyPr>
          <a:lstStyle/>
          <a:p>
            <a:r>
              <a:rPr lang="en-US" sz="1200"/>
              <a:t>u) 3059</a:t>
            </a:r>
            <a:endParaRPr lang="en-GB" sz="1200"/>
          </a:p>
        </p:txBody>
      </p:sp>
      <p:sp>
        <p:nvSpPr>
          <p:cNvPr id="95" name="TextBox 94"/>
          <p:cNvSpPr txBox="1"/>
          <p:nvPr/>
        </p:nvSpPr>
        <p:spPr>
          <a:xfrm>
            <a:off x="3497553" y="8825378"/>
            <a:ext cx="649537" cy="276999"/>
          </a:xfrm>
          <a:prstGeom prst="rect">
            <a:avLst/>
          </a:prstGeom>
          <a:noFill/>
        </p:spPr>
        <p:txBody>
          <a:bodyPr wrap="none" rtlCol="0">
            <a:spAutoFit/>
          </a:bodyPr>
          <a:lstStyle/>
          <a:p>
            <a:r>
              <a:rPr lang="en-US" sz="1200"/>
              <a:t>v) 3595</a:t>
            </a:r>
            <a:endParaRPr lang="en-GB" sz="1200"/>
          </a:p>
        </p:txBody>
      </p:sp>
      <p:sp>
        <p:nvSpPr>
          <p:cNvPr id="96" name="TextBox 95"/>
          <p:cNvSpPr txBox="1"/>
          <p:nvPr/>
        </p:nvSpPr>
        <p:spPr>
          <a:xfrm>
            <a:off x="4584858" y="8810988"/>
            <a:ext cx="691215" cy="276999"/>
          </a:xfrm>
          <a:prstGeom prst="rect">
            <a:avLst/>
          </a:prstGeom>
          <a:noFill/>
        </p:spPr>
        <p:txBody>
          <a:bodyPr wrap="none" rtlCol="0">
            <a:spAutoFit/>
          </a:bodyPr>
          <a:lstStyle/>
          <a:p>
            <a:r>
              <a:rPr lang="en-US" sz="1200"/>
              <a:t>w) 8099</a:t>
            </a:r>
            <a:endParaRPr lang="en-GB" sz="1200"/>
          </a:p>
        </p:txBody>
      </p:sp>
      <p:sp>
        <p:nvSpPr>
          <p:cNvPr id="97" name="Rectangle 96">
            <a:extLst>
              <a:ext uri="{FF2B5EF4-FFF2-40B4-BE49-F238E27FC236}">
                <a16:creationId xmlns:a16="http://schemas.microsoft.com/office/drawing/2014/main" id="{CEEF23AD-EA17-135A-DB95-1D1FECB286F3}"/>
              </a:ext>
            </a:extLst>
          </p:cNvPr>
          <p:cNvSpPr/>
          <p:nvPr/>
        </p:nvSpPr>
        <p:spPr>
          <a:xfrm>
            <a:off x="393349"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8" name="Rectangle 97">
            <a:extLst>
              <a:ext uri="{FF2B5EF4-FFF2-40B4-BE49-F238E27FC236}">
                <a16:creationId xmlns:a16="http://schemas.microsoft.com/office/drawing/2014/main" id="{CEEF23AD-EA17-135A-DB95-1D1FECB286F3}"/>
              </a:ext>
            </a:extLst>
          </p:cNvPr>
          <p:cNvSpPr/>
          <p:nvPr/>
        </p:nvSpPr>
        <p:spPr>
          <a:xfrm>
            <a:off x="1437304"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9" name="Rectangle 98">
            <a:extLst>
              <a:ext uri="{FF2B5EF4-FFF2-40B4-BE49-F238E27FC236}">
                <a16:creationId xmlns:a16="http://schemas.microsoft.com/office/drawing/2014/main" id="{CEEF23AD-EA17-135A-DB95-1D1FECB286F3}"/>
              </a:ext>
            </a:extLst>
          </p:cNvPr>
          <p:cNvSpPr/>
          <p:nvPr/>
        </p:nvSpPr>
        <p:spPr>
          <a:xfrm>
            <a:off x="2493188"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Rectangle 99">
            <a:extLst>
              <a:ext uri="{FF2B5EF4-FFF2-40B4-BE49-F238E27FC236}">
                <a16:creationId xmlns:a16="http://schemas.microsoft.com/office/drawing/2014/main" id="{CEEF23AD-EA17-135A-DB95-1D1FECB286F3}"/>
              </a:ext>
            </a:extLst>
          </p:cNvPr>
          <p:cNvSpPr/>
          <p:nvPr/>
        </p:nvSpPr>
        <p:spPr>
          <a:xfrm>
            <a:off x="3567386"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1" name="Rectangle 100">
            <a:extLst>
              <a:ext uri="{FF2B5EF4-FFF2-40B4-BE49-F238E27FC236}">
                <a16:creationId xmlns:a16="http://schemas.microsoft.com/office/drawing/2014/main" id="{CEEF23AD-EA17-135A-DB95-1D1FECB286F3}"/>
              </a:ext>
            </a:extLst>
          </p:cNvPr>
          <p:cNvSpPr/>
          <p:nvPr/>
        </p:nvSpPr>
        <p:spPr>
          <a:xfrm>
            <a:off x="4619050"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2" name="TextBox 101"/>
          <p:cNvSpPr txBox="1"/>
          <p:nvPr/>
        </p:nvSpPr>
        <p:spPr>
          <a:xfrm>
            <a:off x="5631653" y="8805999"/>
            <a:ext cx="647934" cy="276999"/>
          </a:xfrm>
          <a:prstGeom prst="rect">
            <a:avLst/>
          </a:prstGeom>
          <a:noFill/>
        </p:spPr>
        <p:txBody>
          <a:bodyPr wrap="none" rtlCol="0">
            <a:spAutoFit/>
          </a:bodyPr>
          <a:lstStyle/>
          <a:p>
            <a:r>
              <a:rPr lang="en-US" sz="1200"/>
              <a:t>x) 6499</a:t>
            </a:r>
            <a:endParaRPr lang="en-GB" sz="1200"/>
          </a:p>
        </p:txBody>
      </p:sp>
      <p:sp>
        <p:nvSpPr>
          <p:cNvPr id="103" name="Rectangle 102">
            <a:extLst>
              <a:ext uri="{FF2B5EF4-FFF2-40B4-BE49-F238E27FC236}">
                <a16:creationId xmlns:a16="http://schemas.microsoft.com/office/drawing/2014/main" id="{CEEF23AD-EA17-135A-DB95-1D1FECB286F3}"/>
              </a:ext>
            </a:extLst>
          </p:cNvPr>
          <p:cNvSpPr/>
          <p:nvPr/>
        </p:nvSpPr>
        <p:spPr>
          <a:xfrm>
            <a:off x="5668152" y="937793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22</a:t>
            </a:fld>
            <a:endParaRPr lang="en-GB"/>
          </a:p>
        </p:txBody>
      </p:sp>
      <p:sp>
        <p:nvSpPr>
          <p:cNvPr id="2" name="Rectangle 1">
            <a:extLst>
              <a:ext uri="{FF2B5EF4-FFF2-40B4-BE49-F238E27FC236}">
                <a16:creationId xmlns:a16="http://schemas.microsoft.com/office/drawing/2014/main" id="{5C609556-485E-D7FC-E3BC-6E52AFE92B75}"/>
              </a:ext>
            </a:extLst>
          </p:cNvPr>
          <p:cNvSpPr/>
          <p:nvPr/>
        </p:nvSpPr>
        <p:spPr>
          <a:xfrm>
            <a:off x="47101" y="5056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6" name="Rectangle 35">
            <a:extLst>
              <a:ext uri="{FF2B5EF4-FFF2-40B4-BE49-F238E27FC236}">
                <a16:creationId xmlns:a16="http://schemas.microsoft.com/office/drawing/2014/main" id="{55045F7A-F120-4728-0DCE-30BB6DA6466D}"/>
              </a:ext>
            </a:extLst>
          </p:cNvPr>
          <p:cNvSpPr/>
          <p:nvPr/>
        </p:nvSpPr>
        <p:spPr>
          <a:xfrm>
            <a:off x="104897" y="547514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F13433E1-C16F-56D3-7237-76F8D4E1BDDC}"/>
              </a:ext>
            </a:extLst>
          </p:cNvPr>
          <p:cNvSpPr/>
          <p:nvPr/>
        </p:nvSpPr>
        <p:spPr>
          <a:xfrm>
            <a:off x="83431" y="2090207"/>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one significant figure.</a:t>
            </a:r>
            <a:endParaRPr lang="en-GB" sz="1200">
              <a:solidFill>
                <a:schemeClr val="bg1"/>
              </a:solidFill>
            </a:endParaRPr>
          </a:p>
        </p:txBody>
      </p:sp>
    </p:spTree>
    <p:extLst>
      <p:ext uri="{BB962C8B-B14F-4D97-AF65-F5344CB8AC3E}">
        <p14:creationId xmlns:p14="http://schemas.microsoft.com/office/powerpoint/2010/main" val="2748859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9536" y="167389"/>
            <a:ext cx="728084" cy="276999"/>
          </a:xfrm>
          <a:prstGeom prst="rect">
            <a:avLst/>
          </a:prstGeom>
          <a:noFill/>
        </p:spPr>
        <p:txBody>
          <a:bodyPr wrap="none" rtlCol="0">
            <a:spAutoFit/>
          </a:bodyPr>
          <a:lstStyle/>
          <a:p>
            <a:r>
              <a:rPr lang="en-US" sz="1200"/>
              <a:t>y) 12100</a:t>
            </a:r>
            <a:endParaRPr lang="en-GB" sz="1200"/>
          </a:p>
        </p:txBody>
      </p:sp>
      <p:sp>
        <p:nvSpPr>
          <p:cNvPr id="3" name="TextBox 2"/>
          <p:cNvSpPr txBox="1"/>
          <p:nvPr/>
        </p:nvSpPr>
        <p:spPr>
          <a:xfrm>
            <a:off x="1513897" y="154621"/>
            <a:ext cx="720069" cy="276999"/>
          </a:xfrm>
          <a:prstGeom prst="rect">
            <a:avLst/>
          </a:prstGeom>
          <a:noFill/>
        </p:spPr>
        <p:txBody>
          <a:bodyPr wrap="none" rtlCol="0">
            <a:spAutoFit/>
          </a:bodyPr>
          <a:lstStyle/>
          <a:p>
            <a:r>
              <a:rPr lang="en-US" sz="1200"/>
              <a:t>z) 46100</a:t>
            </a:r>
            <a:endParaRPr lang="en-GB" sz="1200"/>
          </a:p>
        </p:txBody>
      </p:sp>
      <p:sp>
        <p:nvSpPr>
          <p:cNvPr id="4" name="TextBox 3"/>
          <p:cNvSpPr txBox="1"/>
          <p:nvPr/>
        </p:nvSpPr>
        <p:spPr>
          <a:xfrm>
            <a:off x="2514011" y="176672"/>
            <a:ext cx="811441" cy="276999"/>
          </a:xfrm>
          <a:prstGeom prst="rect">
            <a:avLst/>
          </a:prstGeom>
          <a:noFill/>
        </p:spPr>
        <p:txBody>
          <a:bodyPr wrap="none" rtlCol="0">
            <a:spAutoFit/>
          </a:bodyPr>
          <a:lstStyle/>
          <a:p>
            <a:r>
              <a:rPr lang="en-US" sz="1200"/>
              <a:t>a1) 65400</a:t>
            </a:r>
            <a:endParaRPr lang="en-GB" sz="1200"/>
          </a:p>
        </p:txBody>
      </p:sp>
      <p:sp>
        <p:nvSpPr>
          <p:cNvPr id="5" name="TextBox 4"/>
          <p:cNvSpPr txBox="1"/>
          <p:nvPr/>
        </p:nvSpPr>
        <p:spPr>
          <a:xfrm>
            <a:off x="3575181" y="185689"/>
            <a:ext cx="817853" cy="276999"/>
          </a:xfrm>
          <a:prstGeom prst="rect">
            <a:avLst/>
          </a:prstGeom>
          <a:noFill/>
        </p:spPr>
        <p:txBody>
          <a:bodyPr wrap="none" rtlCol="0">
            <a:spAutoFit/>
          </a:bodyPr>
          <a:lstStyle/>
          <a:p>
            <a:r>
              <a:rPr lang="en-US" sz="1200"/>
              <a:t>b1) 95120</a:t>
            </a:r>
            <a:endParaRPr lang="en-GB" sz="1200"/>
          </a:p>
        </p:txBody>
      </p:sp>
      <p:sp>
        <p:nvSpPr>
          <p:cNvPr id="6" name="TextBox 5"/>
          <p:cNvSpPr txBox="1"/>
          <p:nvPr/>
        </p:nvSpPr>
        <p:spPr>
          <a:xfrm>
            <a:off x="4597198" y="172599"/>
            <a:ext cx="803425" cy="276999"/>
          </a:xfrm>
          <a:prstGeom prst="rect">
            <a:avLst/>
          </a:prstGeom>
          <a:noFill/>
        </p:spPr>
        <p:txBody>
          <a:bodyPr wrap="none" rtlCol="0">
            <a:spAutoFit/>
          </a:bodyPr>
          <a:lstStyle/>
          <a:p>
            <a:r>
              <a:rPr lang="en-US" sz="1200"/>
              <a:t>c1) 96290</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501294"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545249"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601133"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75331"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726995"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88684" y="167389"/>
            <a:ext cx="896399" cy="276999"/>
          </a:xfrm>
          <a:prstGeom prst="rect">
            <a:avLst/>
          </a:prstGeom>
          <a:noFill/>
        </p:spPr>
        <p:txBody>
          <a:bodyPr wrap="none" rtlCol="0">
            <a:spAutoFit/>
          </a:bodyPr>
          <a:lstStyle/>
          <a:p>
            <a:r>
              <a:rPr lang="en-US" sz="1200"/>
              <a:t>d1) 863000</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76097" y="73433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15" name="Straight Connector 14">
            <a:extLst>
              <a:ext uri="{FF2B5EF4-FFF2-40B4-BE49-F238E27FC236}">
                <a16:creationId xmlns:a16="http://schemas.microsoft.com/office/drawing/2014/main" id="{B4A988A4-03CD-D549-9F12-81AFECBDEF37}"/>
              </a:ext>
            </a:extLst>
          </p:cNvPr>
          <p:cNvCxnSpPr>
            <a:cxnSpLocks/>
          </p:cNvCxnSpPr>
          <p:nvPr/>
        </p:nvCxnSpPr>
        <p:spPr>
          <a:xfrm>
            <a:off x="957941" y="3130178"/>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6" name="Table 15"/>
          <p:cNvGraphicFramePr>
            <a:graphicFrameLocks noGrp="1"/>
          </p:cNvGraphicFramePr>
          <p:nvPr>
            <p:extLst>
              <p:ext uri="{D42A27DB-BD31-4B8C-83A1-F6EECF244321}">
                <p14:modId xmlns:p14="http://schemas.microsoft.com/office/powerpoint/2010/main" val="1684008846"/>
              </p:ext>
            </p:extLst>
          </p:nvPr>
        </p:nvGraphicFramePr>
        <p:xfrm>
          <a:off x="159682" y="1685805"/>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 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17" name="TextBox 16">
            <a:extLst>
              <a:ext uri="{FF2B5EF4-FFF2-40B4-BE49-F238E27FC236}">
                <a16:creationId xmlns:a16="http://schemas.microsoft.com/office/drawing/2014/main" id="{BCDC1A2B-2D26-C945-B722-18950FA49879}"/>
              </a:ext>
            </a:extLst>
          </p:cNvPr>
          <p:cNvSpPr txBox="1"/>
          <p:nvPr/>
        </p:nvSpPr>
        <p:spPr>
          <a:xfrm>
            <a:off x="1941301" y="1428521"/>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18" name="TextBox 17">
            <a:extLst>
              <a:ext uri="{FF2B5EF4-FFF2-40B4-BE49-F238E27FC236}">
                <a16:creationId xmlns:a16="http://schemas.microsoft.com/office/drawing/2014/main" id="{4AF4150A-9218-D640-8777-2ECCBC4D10FB}"/>
              </a:ext>
            </a:extLst>
          </p:cNvPr>
          <p:cNvSpPr txBox="1"/>
          <p:nvPr/>
        </p:nvSpPr>
        <p:spPr>
          <a:xfrm>
            <a:off x="5075198" y="1406413"/>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19" name="TextBox 18">
            <a:extLst>
              <a:ext uri="{FF2B5EF4-FFF2-40B4-BE49-F238E27FC236}">
                <a16:creationId xmlns:a16="http://schemas.microsoft.com/office/drawing/2014/main" id="{BCDC1A2B-2D26-C945-B722-18950FA49879}"/>
              </a:ext>
            </a:extLst>
          </p:cNvPr>
          <p:cNvSpPr txBox="1"/>
          <p:nvPr/>
        </p:nvSpPr>
        <p:spPr>
          <a:xfrm>
            <a:off x="3466019" y="1418514"/>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20" name="TextBox 19"/>
          <p:cNvSpPr txBox="1"/>
          <p:nvPr/>
        </p:nvSpPr>
        <p:spPr>
          <a:xfrm>
            <a:off x="1915767" y="1999316"/>
            <a:ext cx="1419715" cy="1384995"/>
          </a:xfrm>
          <a:prstGeom prst="rect">
            <a:avLst/>
          </a:prstGeom>
          <a:noFill/>
        </p:spPr>
        <p:txBody>
          <a:bodyPr wrap="square" rtlCol="0">
            <a:spAutoFit/>
          </a:bodyPr>
          <a:lstStyle/>
          <a:p>
            <a:pPr algn="ctr"/>
            <a:r>
              <a:rPr lang="en-US" sz="1200"/>
              <a:t>Round 1.25 to one significant figure</a:t>
            </a:r>
          </a:p>
          <a:p>
            <a:pPr algn="ctr"/>
            <a:endParaRPr lang="en-US" sz="1200"/>
          </a:p>
          <a:p>
            <a:pPr algn="ctr"/>
            <a:r>
              <a:rPr lang="en-US" sz="1200"/>
              <a:t>1  |  </a:t>
            </a:r>
            <a:r>
              <a:rPr lang="en-US" sz="1200" u="sng"/>
              <a:t>2</a:t>
            </a:r>
            <a:r>
              <a:rPr lang="en-US" sz="1200"/>
              <a:t>    5    </a:t>
            </a:r>
            <a:endParaRPr lang="en-US" sz="1200" u="sng"/>
          </a:p>
          <a:p>
            <a:pPr algn="ctr"/>
            <a:endParaRPr lang="en-US" sz="1200"/>
          </a:p>
          <a:p>
            <a:pPr algn="ctr"/>
            <a:endParaRPr lang="en-US" sz="1200"/>
          </a:p>
          <a:p>
            <a:pPr algn="ctr"/>
            <a:endParaRPr lang="en-US" sz="1200" u="sng"/>
          </a:p>
        </p:txBody>
      </p:sp>
      <p:sp>
        <p:nvSpPr>
          <p:cNvPr id="21" name="Rectangle 20">
            <a:extLst>
              <a:ext uri="{FF2B5EF4-FFF2-40B4-BE49-F238E27FC236}">
                <a16:creationId xmlns:a16="http://schemas.microsoft.com/office/drawing/2014/main" id="{CEEF23AD-EA17-135A-DB95-1D1FECB286F3}"/>
              </a:ext>
            </a:extLst>
          </p:cNvPr>
          <p:cNvSpPr/>
          <p:nvPr/>
        </p:nvSpPr>
        <p:spPr>
          <a:xfrm>
            <a:off x="1901000" y="280206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1901000" y="415613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3525475" y="27973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3525475" y="415145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5168391" y="279738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5168391" y="415145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TextBox 26"/>
          <p:cNvSpPr txBox="1"/>
          <p:nvPr/>
        </p:nvSpPr>
        <p:spPr>
          <a:xfrm>
            <a:off x="1838695" y="3171850"/>
            <a:ext cx="1579701" cy="1384995"/>
          </a:xfrm>
          <a:prstGeom prst="rect">
            <a:avLst/>
          </a:prstGeom>
          <a:noFill/>
        </p:spPr>
        <p:txBody>
          <a:bodyPr wrap="square" rtlCol="0">
            <a:spAutoFit/>
          </a:bodyPr>
          <a:lstStyle/>
          <a:p>
            <a:pPr algn="ctr"/>
            <a:r>
              <a:rPr lang="en-US" sz="1200"/>
              <a:t>Round 17.68 to one significant figure</a:t>
            </a:r>
          </a:p>
          <a:p>
            <a:pPr algn="ctr"/>
            <a:endParaRPr lang="en-US" sz="1200"/>
          </a:p>
          <a:p>
            <a:pPr algn="ctr"/>
            <a:r>
              <a:rPr lang="en-US" sz="1200"/>
              <a:t>1  |  7  . 6   8</a:t>
            </a:r>
            <a:endParaRPr lang="en-US" sz="1200" u="sng"/>
          </a:p>
          <a:p>
            <a:pPr algn="ctr"/>
            <a:endParaRPr lang="en-US" sz="1200"/>
          </a:p>
          <a:p>
            <a:pPr algn="ctr"/>
            <a:endParaRPr lang="en-US" sz="1200"/>
          </a:p>
          <a:p>
            <a:pPr algn="ctr"/>
            <a:endParaRPr lang="en-US" sz="1200" u="sng"/>
          </a:p>
        </p:txBody>
      </p:sp>
      <p:sp>
        <p:nvSpPr>
          <p:cNvPr id="28" name="TextBox 27"/>
          <p:cNvSpPr txBox="1"/>
          <p:nvPr/>
        </p:nvSpPr>
        <p:spPr>
          <a:xfrm>
            <a:off x="3526988" y="2012616"/>
            <a:ext cx="1419715" cy="830997"/>
          </a:xfrm>
          <a:prstGeom prst="rect">
            <a:avLst/>
          </a:prstGeom>
          <a:noFill/>
        </p:spPr>
        <p:txBody>
          <a:bodyPr wrap="square" rtlCol="0">
            <a:spAutoFit/>
          </a:bodyPr>
          <a:lstStyle/>
          <a:p>
            <a:pPr algn="ctr"/>
            <a:r>
              <a:rPr lang="en-US" sz="1200"/>
              <a:t>Round 3.95 to one significant figure</a:t>
            </a:r>
          </a:p>
          <a:p>
            <a:pPr algn="ctr"/>
            <a:endParaRPr lang="en-US" sz="1200"/>
          </a:p>
          <a:p>
            <a:pPr algn="ctr"/>
            <a:endParaRPr lang="en-US" sz="1200"/>
          </a:p>
        </p:txBody>
      </p:sp>
      <p:sp>
        <p:nvSpPr>
          <p:cNvPr id="29" name="TextBox 28"/>
          <p:cNvSpPr txBox="1"/>
          <p:nvPr/>
        </p:nvSpPr>
        <p:spPr>
          <a:xfrm>
            <a:off x="3506010" y="3171850"/>
            <a:ext cx="1419715" cy="1015663"/>
          </a:xfrm>
          <a:prstGeom prst="rect">
            <a:avLst/>
          </a:prstGeom>
          <a:noFill/>
        </p:spPr>
        <p:txBody>
          <a:bodyPr wrap="square" rtlCol="0">
            <a:spAutoFit/>
          </a:bodyPr>
          <a:lstStyle/>
          <a:p>
            <a:pPr algn="ctr"/>
            <a:r>
              <a:rPr lang="en-US" sz="1200"/>
              <a:t>Round 15.98 to one significant figure</a:t>
            </a:r>
          </a:p>
          <a:p>
            <a:pPr algn="ctr"/>
            <a:endParaRPr lang="en-US" sz="1200"/>
          </a:p>
          <a:p>
            <a:pPr algn="ctr"/>
            <a:endParaRPr lang="en-US" sz="1200"/>
          </a:p>
          <a:p>
            <a:pPr algn="ctr"/>
            <a:endParaRPr lang="en-US" sz="1200" u="sng"/>
          </a:p>
        </p:txBody>
      </p:sp>
      <p:sp>
        <p:nvSpPr>
          <p:cNvPr id="30" name="TextBox 29"/>
          <p:cNvSpPr txBox="1"/>
          <p:nvPr/>
        </p:nvSpPr>
        <p:spPr>
          <a:xfrm>
            <a:off x="5202623" y="2004912"/>
            <a:ext cx="1419715" cy="1015663"/>
          </a:xfrm>
          <a:prstGeom prst="rect">
            <a:avLst/>
          </a:prstGeom>
          <a:noFill/>
        </p:spPr>
        <p:txBody>
          <a:bodyPr wrap="square" rtlCol="0">
            <a:spAutoFit/>
          </a:bodyPr>
          <a:lstStyle/>
          <a:p>
            <a:pPr algn="ctr"/>
            <a:r>
              <a:rPr lang="en-US" sz="1200"/>
              <a:t>Round 7.75 to one significant figure</a:t>
            </a:r>
          </a:p>
          <a:p>
            <a:pPr algn="ctr"/>
            <a:endParaRPr lang="en-US" sz="1200"/>
          </a:p>
          <a:p>
            <a:pPr algn="ctr"/>
            <a:endParaRPr lang="en-US" sz="1200"/>
          </a:p>
          <a:p>
            <a:pPr algn="ctr"/>
            <a:endParaRPr lang="en-US" sz="1200" u="sng"/>
          </a:p>
        </p:txBody>
      </p:sp>
      <p:sp>
        <p:nvSpPr>
          <p:cNvPr id="31" name="TextBox 30"/>
          <p:cNvSpPr txBox="1"/>
          <p:nvPr/>
        </p:nvSpPr>
        <p:spPr>
          <a:xfrm>
            <a:off x="5133624" y="3171849"/>
            <a:ext cx="1505438" cy="1015663"/>
          </a:xfrm>
          <a:prstGeom prst="rect">
            <a:avLst/>
          </a:prstGeom>
          <a:noFill/>
        </p:spPr>
        <p:txBody>
          <a:bodyPr wrap="square" rtlCol="0">
            <a:spAutoFit/>
          </a:bodyPr>
          <a:lstStyle/>
          <a:p>
            <a:pPr algn="ctr"/>
            <a:r>
              <a:rPr lang="en-US" sz="1200"/>
              <a:t>Round 17.59 to one significant figure</a:t>
            </a:r>
          </a:p>
          <a:p>
            <a:pPr algn="ctr"/>
            <a:endParaRPr lang="en-US" sz="1200"/>
          </a:p>
          <a:p>
            <a:pPr algn="ctr"/>
            <a:endParaRPr lang="en-US" sz="1200"/>
          </a:p>
          <a:p>
            <a:pPr algn="ctr"/>
            <a:endParaRPr lang="en-US" sz="1200" u="sng"/>
          </a:p>
        </p:txBody>
      </p:sp>
      <p:sp>
        <p:nvSpPr>
          <p:cNvPr id="34" name="TextBox 33"/>
          <p:cNvSpPr txBox="1"/>
          <p:nvPr/>
        </p:nvSpPr>
        <p:spPr>
          <a:xfrm>
            <a:off x="1285817" y="4696146"/>
            <a:ext cx="3028650" cy="276999"/>
          </a:xfrm>
          <a:prstGeom prst="rect">
            <a:avLst/>
          </a:prstGeom>
          <a:noFill/>
        </p:spPr>
        <p:txBody>
          <a:bodyPr wrap="none" rtlCol="0">
            <a:spAutoFit/>
          </a:bodyPr>
          <a:lstStyle/>
          <a:p>
            <a:r>
              <a:rPr lang="en-US" sz="1200" dirty="0"/>
              <a:t>3. Round each number to 1 significant figure. </a:t>
            </a:r>
            <a:endParaRPr lang="en-GB" sz="1200" dirty="0"/>
          </a:p>
        </p:txBody>
      </p:sp>
      <p:sp>
        <p:nvSpPr>
          <p:cNvPr id="35" name="TextBox 34"/>
          <p:cNvSpPr txBox="1"/>
          <p:nvPr/>
        </p:nvSpPr>
        <p:spPr>
          <a:xfrm>
            <a:off x="387984" y="5175818"/>
            <a:ext cx="535724" cy="276999"/>
          </a:xfrm>
          <a:prstGeom prst="rect">
            <a:avLst/>
          </a:prstGeom>
          <a:noFill/>
        </p:spPr>
        <p:txBody>
          <a:bodyPr wrap="none" rtlCol="0">
            <a:spAutoFit/>
          </a:bodyPr>
          <a:lstStyle/>
          <a:p>
            <a:r>
              <a:rPr lang="en-US" sz="1200"/>
              <a:t>a) 2.4</a:t>
            </a:r>
            <a:endParaRPr lang="en-GB" sz="1200"/>
          </a:p>
        </p:txBody>
      </p:sp>
      <p:sp>
        <p:nvSpPr>
          <p:cNvPr id="36" name="TextBox 35"/>
          <p:cNvSpPr txBox="1"/>
          <p:nvPr/>
        </p:nvSpPr>
        <p:spPr>
          <a:xfrm>
            <a:off x="1440241" y="5167115"/>
            <a:ext cx="542136" cy="276999"/>
          </a:xfrm>
          <a:prstGeom prst="rect">
            <a:avLst/>
          </a:prstGeom>
          <a:noFill/>
        </p:spPr>
        <p:txBody>
          <a:bodyPr wrap="none" rtlCol="0">
            <a:spAutoFit/>
          </a:bodyPr>
          <a:lstStyle/>
          <a:p>
            <a:r>
              <a:rPr lang="en-US" sz="1200"/>
              <a:t>b) 2.5</a:t>
            </a:r>
            <a:endParaRPr lang="en-GB" sz="1200"/>
          </a:p>
        </p:txBody>
      </p:sp>
      <p:sp>
        <p:nvSpPr>
          <p:cNvPr id="37" name="TextBox 36"/>
          <p:cNvSpPr txBox="1"/>
          <p:nvPr/>
        </p:nvSpPr>
        <p:spPr>
          <a:xfrm>
            <a:off x="2516900" y="5167116"/>
            <a:ext cx="527709" cy="276999"/>
          </a:xfrm>
          <a:prstGeom prst="rect">
            <a:avLst/>
          </a:prstGeom>
          <a:noFill/>
        </p:spPr>
        <p:txBody>
          <a:bodyPr wrap="none" rtlCol="0">
            <a:spAutoFit/>
          </a:bodyPr>
          <a:lstStyle/>
          <a:p>
            <a:r>
              <a:rPr lang="en-US" sz="1200"/>
              <a:t>c) 2.9</a:t>
            </a:r>
            <a:endParaRPr lang="en-GB" sz="1200"/>
          </a:p>
        </p:txBody>
      </p:sp>
      <p:sp>
        <p:nvSpPr>
          <p:cNvPr id="38" name="TextBox 37"/>
          <p:cNvSpPr txBox="1"/>
          <p:nvPr/>
        </p:nvSpPr>
        <p:spPr>
          <a:xfrm>
            <a:off x="3523946" y="5190208"/>
            <a:ext cx="542136" cy="276999"/>
          </a:xfrm>
          <a:prstGeom prst="rect">
            <a:avLst/>
          </a:prstGeom>
          <a:noFill/>
        </p:spPr>
        <p:txBody>
          <a:bodyPr wrap="none" rtlCol="0">
            <a:spAutoFit/>
          </a:bodyPr>
          <a:lstStyle/>
          <a:p>
            <a:r>
              <a:rPr lang="en-US" sz="1200"/>
              <a:t>d) 3.9</a:t>
            </a:r>
            <a:endParaRPr lang="en-GB" sz="1200"/>
          </a:p>
        </p:txBody>
      </p:sp>
      <p:sp>
        <p:nvSpPr>
          <p:cNvPr id="39" name="TextBox 38"/>
          <p:cNvSpPr txBox="1"/>
          <p:nvPr/>
        </p:nvSpPr>
        <p:spPr>
          <a:xfrm>
            <a:off x="4627709" y="5186728"/>
            <a:ext cx="538930" cy="276999"/>
          </a:xfrm>
          <a:prstGeom prst="rect">
            <a:avLst/>
          </a:prstGeom>
          <a:noFill/>
        </p:spPr>
        <p:txBody>
          <a:bodyPr wrap="none" rtlCol="0">
            <a:spAutoFit/>
          </a:bodyPr>
          <a:lstStyle/>
          <a:p>
            <a:r>
              <a:rPr lang="en-US" sz="1200"/>
              <a:t>e) 4.9</a:t>
            </a:r>
            <a:endParaRPr lang="en-GB" sz="1200"/>
          </a:p>
        </p:txBody>
      </p:sp>
      <p:sp>
        <p:nvSpPr>
          <p:cNvPr id="40" name="Rectangle 39">
            <a:extLst>
              <a:ext uri="{FF2B5EF4-FFF2-40B4-BE49-F238E27FC236}">
                <a16:creationId xmlns:a16="http://schemas.microsoft.com/office/drawing/2014/main" id="{CEEF23AD-EA17-135A-DB95-1D1FECB286F3}"/>
              </a:ext>
            </a:extLst>
          </p:cNvPr>
          <p:cNvSpPr/>
          <p:nvPr/>
        </p:nvSpPr>
        <p:spPr>
          <a:xfrm>
            <a:off x="419742"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Rectangle 40">
            <a:extLst>
              <a:ext uri="{FF2B5EF4-FFF2-40B4-BE49-F238E27FC236}">
                <a16:creationId xmlns:a16="http://schemas.microsoft.com/office/drawing/2014/main" id="{CEEF23AD-EA17-135A-DB95-1D1FECB286F3}"/>
              </a:ext>
            </a:extLst>
          </p:cNvPr>
          <p:cNvSpPr/>
          <p:nvPr/>
        </p:nvSpPr>
        <p:spPr>
          <a:xfrm>
            <a:off x="1463697"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CEEF23AD-EA17-135A-DB95-1D1FECB286F3}"/>
              </a:ext>
            </a:extLst>
          </p:cNvPr>
          <p:cNvSpPr/>
          <p:nvPr/>
        </p:nvSpPr>
        <p:spPr>
          <a:xfrm>
            <a:off x="2519581"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CEEF23AD-EA17-135A-DB95-1D1FECB286F3}"/>
              </a:ext>
            </a:extLst>
          </p:cNvPr>
          <p:cNvSpPr/>
          <p:nvPr/>
        </p:nvSpPr>
        <p:spPr>
          <a:xfrm>
            <a:off x="3593779"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4645443"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TextBox 44"/>
          <p:cNvSpPr txBox="1"/>
          <p:nvPr/>
        </p:nvSpPr>
        <p:spPr>
          <a:xfrm>
            <a:off x="5722722" y="5212375"/>
            <a:ext cx="589264" cy="276999"/>
          </a:xfrm>
          <a:prstGeom prst="rect">
            <a:avLst/>
          </a:prstGeom>
          <a:noFill/>
        </p:spPr>
        <p:txBody>
          <a:bodyPr wrap="none" rtlCol="0">
            <a:spAutoFit/>
          </a:bodyPr>
          <a:lstStyle/>
          <a:p>
            <a:r>
              <a:rPr lang="en-US" sz="1200"/>
              <a:t>f) 4.91</a:t>
            </a:r>
            <a:endParaRPr lang="en-GB" sz="1200"/>
          </a:p>
        </p:txBody>
      </p:sp>
      <p:sp>
        <p:nvSpPr>
          <p:cNvPr id="46" name="Rectangle 45">
            <a:extLst>
              <a:ext uri="{FF2B5EF4-FFF2-40B4-BE49-F238E27FC236}">
                <a16:creationId xmlns:a16="http://schemas.microsoft.com/office/drawing/2014/main" id="{CEEF23AD-EA17-135A-DB95-1D1FECB286F3}"/>
              </a:ext>
            </a:extLst>
          </p:cNvPr>
          <p:cNvSpPr/>
          <p:nvPr/>
        </p:nvSpPr>
        <p:spPr>
          <a:xfrm>
            <a:off x="5694545" y="574850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TextBox 46"/>
          <p:cNvSpPr txBox="1"/>
          <p:nvPr/>
        </p:nvSpPr>
        <p:spPr>
          <a:xfrm>
            <a:off x="419742" y="6210141"/>
            <a:ext cx="612668" cy="276999"/>
          </a:xfrm>
          <a:prstGeom prst="rect">
            <a:avLst/>
          </a:prstGeom>
          <a:noFill/>
        </p:spPr>
        <p:txBody>
          <a:bodyPr wrap="none" rtlCol="0">
            <a:spAutoFit/>
          </a:bodyPr>
          <a:lstStyle/>
          <a:p>
            <a:r>
              <a:rPr lang="en-US" sz="1200"/>
              <a:t>g) 3.91</a:t>
            </a:r>
            <a:endParaRPr lang="en-GB" sz="1200"/>
          </a:p>
        </p:txBody>
      </p:sp>
      <p:sp>
        <p:nvSpPr>
          <p:cNvPr id="48" name="TextBox 47"/>
          <p:cNvSpPr txBox="1"/>
          <p:nvPr/>
        </p:nvSpPr>
        <p:spPr>
          <a:xfrm>
            <a:off x="1471999" y="6201438"/>
            <a:ext cx="620683" cy="276999"/>
          </a:xfrm>
          <a:prstGeom prst="rect">
            <a:avLst/>
          </a:prstGeom>
          <a:noFill/>
        </p:spPr>
        <p:txBody>
          <a:bodyPr wrap="none" rtlCol="0">
            <a:spAutoFit/>
          </a:bodyPr>
          <a:lstStyle/>
          <a:p>
            <a:r>
              <a:rPr lang="en-US" sz="1200"/>
              <a:t>h) 3.95</a:t>
            </a:r>
            <a:endParaRPr lang="en-GB" sz="1200"/>
          </a:p>
        </p:txBody>
      </p:sp>
      <p:sp>
        <p:nvSpPr>
          <p:cNvPr id="49" name="TextBox 48"/>
          <p:cNvSpPr txBox="1"/>
          <p:nvPr/>
        </p:nvSpPr>
        <p:spPr>
          <a:xfrm>
            <a:off x="2548658" y="6201439"/>
            <a:ext cx="575799" cy="276999"/>
          </a:xfrm>
          <a:prstGeom prst="rect">
            <a:avLst/>
          </a:prstGeom>
          <a:noFill/>
        </p:spPr>
        <p:txBody>
          <a:bodyPr wrap="none" rtlCol="0">
            <a:spAutoFit/>
          </a:bodyPr>
          <a:lstStyle/>
          <a:p>
            <a:r>
              <a:rPr lang="en-US" sz="1200"/>
              <a:t>i) 4.15</a:t>
            </a:r>
            <a:endParaRPr lang="en-GB" sz="1200"/>
          </a:p>
        </p:txBody>
      </p:sp>
      <p:sp>
        <p:nvSpPr>
          <p:cNvPr id="50" name="TextBox 49"/>
          <p:cNvSpPr txBox="1"/>
          <p:nvPr/>
        </p:nvSpPr>
        <p:spPr>
          <a:xfrm>
            <a:off x="3555704" y="6224531"/>
            <a:ext cx="577402" cy="276999"/>
          </a:xfrm>
          <a:prstGeom prst="rect">
            <a:avLst/>
          </a:prstGeom>
          <a:noFill/>
        </p:spPr>
        <p:txBody>
          <a:bodyPr wrap="none" rtlCol="0">
            <a:spAutoFit/>
          </a:bodyPr>
          <a:lstStyle/>
          <a:p>
            <a:r>
              <a:rPr lang="en-US" sz="1200"/>
              <a:t>j) 4.55</a:t>
            </a:r>
            <a:endParaRPr lang="en-GB" sz="1200"/>
          </a:p>
        </p:txBody>
      </p:sp>
      <p:sp>
        <p:nvSpPr>
          <p:cNvPr id="51" name="TextBox 50"/>
          <p:cNvSpPr txBox="1"/>
          <p:nvPr/>
        </p:nvSpPr>
        <p:spPr>
          <a:xfrm>
            <a:off x="4659467" y="6221051"/>
            <a:ext cx="611065" cy="276999"/>
          </a:xfrm>
          <a:prstGeom prst="rect">
            <a:avLst/>
          </a:prstGeom>
          <a:noFill/>
        </p:spPr>
        <p:txBody>
          <a:bodyPr wrap="none" rtlCol="0">
            <a:spAutoFit/>
          </a:bodyPr>
          <a:lstStyle/>
          <a:p>
            <a:r>
              <a:rPr lang="en-US" sz="1200"/>
              <a:t>k) 5.75</a:t>
            </a:r>
            <a:endParaRPr lang="en-GB" sz="1200"/>
          </a:p>
        </p:txBody>
      </p:sp>
      <p:sp>
        <p:nvSpPr>
          <p:cNvPr id="52" name="Rectangle 51">
            <a:extLst>
              <a:ext uri="{FF2B5EF4-FFF2-40B4-BE49-F238E27FC236}">
                <a16:creationId xmlns:a16="http://schemas.microsoft.com/office/drawing/2014/main" id="{CEEF23AD-EA17-135A-DB95-1D1FECB286F3}"/>
              </a:ext>
            </a:extLst>
          </p:cNvPr>
          <p:cNvSpPr/>
          <p:nvPr/>
        </p:nvSpPr>
        <p:spPr>
          <a:xfrm>
            <a:off x="419742"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CEEF23AD-EA17-135A-DB95-1D1FECB286F3}"/>
              </a:ext>
            </a:extLst>
          </p:cNvPr>
          <p:cNvSpPr/>
          <p:nvPr/>
        </p:nvSpPr>
        <p:spPr>
          <a:xfrm>
            <a:off x="1463697"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CEEF23AD-EA17-135A-DB95-1D1FECB286F3}"/>
              </a:ext>
            </a:extLst>
          </p:cNvPr>
          <p:cNvSpPr/>
          <p:nvPr/>
        </p:nvSpPr>
        <p:spPr>
          <a:xfrm>
            <a:off x="2519581"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CEEF23AD-EA17-135A-DB95-1D1FECB286F3}"/>
              </a:ext>
            </a:extLst>
          </p:cNvPr>
          <p:cNvSpPr/>
          <p:nvPr/>
        </p:nvSpPr>
        <p:spPr>
          <a:xfrm>
            <a:off x="3593779"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CEEF23AD-EA17-135A-DB95-1D1FECB286F3}"/>
              </a:ext>
            </a:extLst>
          </p:cNvPr>
          <p:cNvSpPr/>
          <p:nvPr/>
        </p:nvSpPr>
        <p:spPr>
          <a:xfrm>
            <a:off x="4645443"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TextBox 56"/>
          <p:cNvSpPr txBox="1"/>
          <p:nvPr/>
        </p:nvSpPr>
        <p:spPr>
          <a:xfrm>
            <a:off x="5754480" y="6246698"/>
            <a:ext cx="575799" cy="276999"/>
          </a:xfrm>
          <a:prstGeom prst="rect">
            <a:avLst/>
          </a:prstGeom>
          <a:noFill/>
        </p:spPr>
        <p:txBody>
          <a:bodyPr wrap="none" rtlCol="0">
            <a:spAutoFit/>
          </a:bodyPr>
          <a:lstStyle/>
          <a:p>
            <a:r>
              <a:rPr lang="en-US" sz="1200"/>
              <a:t>l) 6.76</a:t>
            </a:r>
            <a:endParaRPr lang="en-GB" sz="1200"/>
          </a:p>
        </p:txBody>
      </p:sp>
      <p:sp>
        <p:nvSpPr>
          <p:cNvPr id="58" name="Rectangle 57">
            <a:extLst>
              <a:ext uri="{FF2B5EF4-FFF2-40B4-BE49-F238E27FC236}">
                <a16:creationId xmlns:a16="http://schemas.microsoft.com/office/drawing/2014/main" id="{CEEF23AD-EA17-135A-DB95-1D1FECB286F3}"/>
              </a:ext>
            </a:extLst>
          </p:cNvPr>
          <p:cNvSpPr/>
          <p:nvPr/>
        </p:nvSpPr>
        <p:spPr>
          <a:xfrm>
            <a:off x="5694545" y="674591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TextBox 58"/>
          <p:cNvSpPr txBox="1"/>
          <p:nvPr/>
        </p:nvSpPr>
        <p:spPr>
          <a:xfrm>
            <a:off x="401236" y="7156729"/>
            <a:ext cx="663964" cy="276999"/>
          </a:xfrm>
          <a:prstGeom prst="rect">
            <a:avLst/>
          </a:prstGeom>
          <a:noFill/>
        </p:spPr>
        <p:txBody>
          <a:bodyPr wrap="none" rtlCol="0">
            <a:spAutoFit/>
          </a:bodyPr>
          <a:lstStyle/>
          <a:p>
            <a:r>
              <a:rPr lang="en-US" sz="1200"/>
              <a:t>m) 12.7</a:t>
            </a:r>
            <a:endParaRPr lang="en-GB" sz="1200"/>
          </a:p>
        </p:txBody>
      </p:sp>
      <p:sp>
        <p:nvSpPr>
          <p:cNvPr id="60" name="TextBox 59"/>
          <p:cNvSpPr txBox="1"/>
          <p:nvPr/>
        </p:nvSpPr>
        <p:spPr>
          <a:xfrm>
            <a:off x="1445597" y="7143961"/>
            <a:ext cx="620683" cy="276999"/>
          </a:xfrm>
          <a:prstGeom prst="rect">
            <a:avLst/>
          </a:prstGeom>
          <a:noFill/>
        </p:spPr>
        <p:txBody>
          <a:bodyPr wrap="none" rtlCol="0">
            <a:spAutoFit/>
          </a:bodyPr>
          <a:lstStyle/>
          <a:p>
            <a:r>
              <a:rPr lang="en-US" sz="1200"/>
              <a:t>n) 15.1</a:t>
            </a:r>
            <a:endParaRPr lang="en-GB" sz="1200"/>
          </a:p>
        </p:txBody>
      </p:sp>
      <p:sp>
        <p:nvSpPr>
          <p:cNvPr id="61" name="TextBox 60"/>
          <p:cNvSpPr txBox="1"/>
          <p:nvPr/>
        </p:nvSpPr>
        <p:spPr>
          <a:xfrm>
            <a:off x="2502321" y="7167638"/>
            <a:ext cx="622286" cy="276999"/>
          </a:xfrm>
          <a:prstGeom prst="rect">
            <a:avLst/>
          </a:prstGeom>
          <a:noFill/>
        </p:spPr>
        <p:txBody>
          <a:bodyPr wrap="none" rtlCol="0">
            <a:spAutoFit/>
          </a:bodyPr>
          <a:lstStyle/>
          <a:p>
            <a:r>
              <a:rPr lang="en-US" sz="1200"/>
              <a:t>o) 15.5</a:t>
            </a:r>
            <a:endParaRPr lang="en-GB" sz="1200"/>
          </a:p>
        </p:txBody>
      </p:sp>
      <p:sp>
        <p:nvSpPr>
          <p:cNvPr id="62" name="TextBox 61"/>
          <p:cNvSpPr txBox="1"/>
          <p:nvPr/>
        </p:nvSpPr>
        <p:spPr>
          <a:xfrm>
            <a:off x="3537198" y="7171119"/>
            <a:ext cx="620683" cy="276999"/>
          </a:xfrm>
          <a:prstGeom prst="rect">
            <a:avLst/>
          </a:prstGeom>
          <a:noFill/>
        </p:spPr>
        <p:txBody>
          <a:bodyPr wrap="none" rtlCol="0">
            <a:spAutoFit/>
          </a:bodyPr>
          <a:lstStyle/>
          <a:p>
            <a:r>
              <a:rPr lang="en-US" sz="1200"/>
              <a:t>p) 15.9</a:t>
            </a:r>
            <a:endParaRPr lang="en-GB" sz="1200"/>
          </a:p>
        </p:txBody>
      </p:sp>
      <p:sp>
        <p:nvSpPr>
          <p:cNvPr id="63" name="TextBox 62"/>
          <p:cNvSpPr txBox="1"/>
          <p:nvPr/>
        </p:nvSpPr>
        <p:spPr>
          <a:xfrm>
            <a:off x="4624503" y="7156729"/>
            <a:ext cx="620683" cy="276999"/>
          </a:xfrm>
          <a:prstGeom prst="rect">
            <a:avLst/>
          </a:prstGeom>
          <a:noFill/>
        </p:spPr>
        <p:txBody>
          <a:bodyPr wrap="none" rtlCol="0">
            <a:spAutoFit/>
          </a:bodyPr>
          <a:lstStyle/>
          <a:p>
            <a:r>
              <a:rPr lang="en-US" sz="1200"/>
              <a:t>q) 17.5</a:t>
            </a:r>
            <a:endParaRPr lang="en-GB" sz="1200"/>
          </a:p>
        </p:txBody>
      </p:sp>
      <p:sp>
        <p:nvSpPr>
          <p:cNvPr id="64" name="Rectangle 63">
            <a:extLst>
              <a:ext uri="{FF2B5EF4-FFF2-40B4-BE49-F238E27FC236}">
                <a16:creationId xmlns:a16="http://schemas.microsoft.com/office/drawing/2014/main" id="{CEEF23AD-EA17-135A-DB95-1D1FECB286F3}"/>
              </a:ext>
            </a:extLst>
          </p:cNvPr>
          <p:cNvSpPr/>
          <p:nvPr/>
        </p:nvSpPr>
        <p:spPr>
          <a:xfrm>
            <a:off x="432994"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1476949"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CEEF23AD-EA17-135A-DB95-1D1FECB286F3}"/>
              </a:ext>
            </a:extLst>
          </p:cNvPr>
          <p:cNvSpPr/>
          <p:nvPr/>
        </p:nvSpPr>
        <p:spPr>
          <a:xfrm>
            <a:off x="2532833"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3607031"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4658695"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TextBox 68"/>
          <p:cNvSpPr txBox="1"/>
          <p:nvPr/>
        </p:nvSpPr>
        <p:spPr>
          <a:xfrm>
            <a:off x="5671298" y="7151740"/>
            <a:ext cx="593432" cy="276999"/>
          </a:xfrm>
          <a:prstGeom prst="rect">
            <a:avLst/>
          </a:prstGeom>
          <a:noFill/>
        </p:spPr>
        <p:txBody>
          <a:bodyPr wrap="none" rtlCol="0">
            <a:spAutoFit/>
          </a:bodyPr>
          <a:lstStyle/>
          <a:p>
            <a:r>
              <a:rPr lang="en-US" sz="1200"/>
              <a:t>r) 19.9</a:t>
            </a:r>
            <a:endParaRPr lang="en-GB" sz="1200"/>
          </a:p>
        </p:txBody>
      </p:sp>
      <p:sp>
        <p:nvSpPr>
          <p:cNvPr id="70" name="Rectangle 69">
            <a:extLst>
              <a:ext uri="{FF2B5EF4-FFF2-40B4-BE49-F238E27FC236}">
                <a16:creationId xmlns:a16="http://schemas.microsoft.com/office/drawing/2014/main" id="{CEEF23AD-EA17-135A-DB95-1D1FECB286F3}"/>
              </a:ext>
            </a:extLst>
          </p:cNvPr>
          <p:cNvSpPr/>
          <p:nvPr/>
        </p:nvSpPr>
        <p:spPr>
          <a:xfrm>
            <a:off x="5707797" y="772367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382123" y="8214145"/>
            <a:ext cx="679994" cy="276999"/>
          </a:xfrm>
          <a:prstGeom prst="rect">
            <a:avLst/>
          </a:prstGeom>
          <a:noFill/>
        </p:spPr>
        <p:txBody>
          <a:bodyPr wrap="none" rtlCol="0">
            <a:spAutoFit/>
          </a:bodyPr>
          <a:lstStyle/>
          <a:p>
            <a:r>
              <a:rPr lang="en-US" sz="1200"/>
              <a:t>s) 24.95</a:t>
            </a:r>
            <a:endParaRPr lang="en-GB" sz="1200"/>
          </a:p>
        </p:txBody>
      </p:sp>
      <p:sp>
        <p:nvSpPr>
          <p:cNvPr id="72" name="TextBox 71"/>
          <p:cNvSpPr txBox="1"/>
          <p:nvPr/>
        </p:nvSpPr>
        <p:spPr>
          <a:xfrm>
            <a:off x="1401617" y="8209156"/>
            <a:ext cx="670376" cy="276999"/>
          </a:xfrm>
          <a:prstGeom prst="rect">
            <a:avLst/>
          </a:prstGeom>
          <a:noFill/>
        </p:spPr>
        <p:txBody>
          <a:bodyPr wrap="none" rtlCol="0">
            <a:spAutoFit/>
          </a:bodyPr>
          <a:lstStyle/>
          <a:p>
            <a:r>
              <a:rPr lang="en-US" sz="1200"/>
              <a:t>t) 29.45</a:t>
            </a:r>
            <a:endParaRPr lang="en-GB" sz="1200"/>
          </a:p>
        </p:txBody>
      </p:sp>
      <p:sp>
        <p:nvSpPr>
          <p:cNvPr id="73" name="TextBox 72"/>
          <p:cNvSpPr txBox="1"/>
          <p:nvPr/>
        </p:nvSpPr>
        <p:spPr>
          <a:xfrm>
            <a:off x="2483208" y="8225054"/>
            <a:ext cx="699230" cy="276999"/>
          </a:xfrm>
          <a:prstGeom prst="rect">
            <a:avLst/>
          </a:prstGeom>
          <a:noFill/>
        </p:spPr>
        <p:txBody>
          <a:bodyPr wrap="none" rtlCol="0">
            <a:spAutoFit/>
          </a:bodyPr>
          <a:lstStyle/>
          <a:p>
            <a:r>
              <a:rPr lang="en-US" sz="1200"/>
              <a:t>u) 30.59</a:t>
            </a:r>
            <a:endParaRPr lang="en-GB" sz="1200"/>
          </a:p>
        </p:txBody>
      </p:sp>
      <p:sp>
        <p:nvSpPr>
          <p:cNvPr id="74" name="TextBox 73"/>
          <p:cNvSpPr txBox="1"/>
          <p:nvPr/>
        </p:nvSpPr>
        <p:spPr>
          <a:xfrm>
            <a:off x="3518085" y="8228535"/>
            <a:ext cx="688009" cy="276999"/>
          </a:xfrm>
          <a:prstGeom prst="rect">
            <a:avLst/>
          </a:prstGeom>
          <a:noFill/>
        </p:spPr>
        <p:txBody>
          <a:bodyPr wrap="none" rtlCol="0">
            <a:spAutoFit/>
          </a:bodyPr>
          <a:lstStyle/>
          <a:p>
            <a:r>
              <a:rPr lang="en-US" sz="1200"/>
              <a:t>v) 35.95</a:t>
            </a:r>
            <a:endParaRPr lang="en-GB" sz="1200"/>
          </a:p>
        </p:txBody>
      </p:sp>
      <p:sp>
        <p:nvSpPr>
          <p:cNvPr id="75" name="TextBox 74"/>
          <p:cNvSpPr txBox="1"/>
          <p:nvPr/>
        </p:nvSpPr>
        <p:spPr>
          <a:xfrm>
            <a:off x="4605390" y="8214145"/>
            <a:ext cx="729687" cy="276999"/>
          </a:xfrm>
          <a:prstGeom prst="rect">
            <a:avLst/>
          </a:prstGeom>
          <a:noFill/>
        </p:spPr>
        <p:txBody>
          <a:bodyPr wrap="none" rtlCol="0">
            <a:spAutoFit/>
          </a:bodyPr>
          <a:lstStyle/>
          <a:p>
            <a:r>
              <a:rPr lang="en-US" sz="1200"/>
              <a:t>w) 80.99</a:t>
            </a:r>
            <a:endParaRPr lang="en-GB" sz="1200"/>
          </a:p>
        </p:txBody>
      </p:sp>
      <p:sp>
        <p:nvSpPr>
          <p:cNvPr id="76" name="Rectangle 75">
            <a:extLst>
              <a:ext uri="{FF2B5EF4-FFF2-40B4-BE49-F238E27FC236}">
                <a16:creationId xmlns:a16="http://schemas.microsoft.com/office/drawing/2014/main" id="{CEEF23AD-EA17-135A-DB95-1D1FECB286F3}"/>
              </a:ext>
            </a:extLst>
          </p:cNvPr>
          <p:cNvSpPr/>
          <p:nvPr/>
        </p:nvSpPr>
        <p:spPr>
          <a:xfrm>
            <a:off x="413881"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1457836"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2513720"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3587918"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4639582"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TextBox 80"/>
          <p:cNvSpPr txBox="1"/>
          <p:nvPr/>
        </p:nvSpPr>
        <p:spPr>
          <a:xfrm>
            <a:off x="5652185" y="8209156"/>
            <a:ext cx="686406" cy="276999"/>
          </a:xfrm>
          <a:prstGeom prst="rect">
            <a:avLst/>
          </a:prstGeom>
          <a:noFill/>
        </p:spPr>
        <p:txBody>
          <a:bodyPr wrap="none" rtlCol="0">
            <a:spAutoFit/>
          </a:bodyPr>
          <a:lstStyle/>
          <a:p>
            <a:r>
              <a:rPr lang="en-US" sz="1200"/>
              <a:t>x) 64.99</a:t>
            </a:r>
            <a:endParaRPr lang="en-GB" sz="1200"/>
          </a:p>
        </p:txBody>
      </p:sp>
      <p:sp>
        <p:nvSpPr>
          <p:cNvPr id="82" name="Rectangle 81">
            <a:extLst>
              <a:ext uri="{FF2B5EF4-FFF2-40B4-BE49-F238E27FC236}">
                <a16:creationId xmlns:a16="http://schemas.microsoft.com/office/drawing/2014/main" id="{CEEF23AD-EA17-135A-DB95-1D1FECB286F3}"/>
              </a:ext>
            </a:extLst>
          </p:cNvPr>
          <p:cNvSpPr/>
          <p:nvPr/>
        </p:nvSpPr>
        <p:spPr>
          <a:xfrm>
            <a:off x="5688684" y="878109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23</a:t>
            </a:fld>
            <a:endParaRPr lang="en-GB"/>
          </a:p>
        </p:txBody>
      </p:sp>
      <p:sp>
        <p:nvSpPr>
          <p:cNvPr id="14" name="Rectangle 13">
            <a:extLst>
              <a:ext uri="{FF2B5EF4-FFF2-40B4-BE49-F238E27FC236}">
                <a16:creationId xmlns:a16="http://schemas.microsoft.com/office/drawing/2014/main" id="{DC2DDAD4-E6F5-5E2D-EEAB-57445D1E968C}"/>
              </a:ext>
            </a:extLst>
          </p:cNvPr>
          <p:cNvSpPr/>
          <p:nvPr/>
        </p:nvSpPr>
        <p:spPr>
          <a:xfrm>
            <a:off x="106316" y="471293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505183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B4A988A4-03CD-D549-9F12-81AFECBDEF37}"/>
              </a:ext>
            </a:extLst>
          </p:cNvPr>
          <p:cNvCxnSpPr>
            <a:cxnSpLocks/>
          </p:cNvCxnSpPr>
          <p:nvPr/>
        </p:nvCxnSpPr>
        <p:spPr>
          <a:xfrm>
            <a:off x="977077" y="1854166"/>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0" name="Table 19"/>
          <p:cNvGraphicFramePr>
            <a:graphicFrameLocks noGrp="1"/>
          </p:cNvGraphicFramePr>
          <p:nvPr>
            <p:extLst>
              <p:ext uri="{D42A27DB-BD31-4B8C-83A1-F6EECF244321}">
                <p14:modId xmlns:p14="http://schemas.microsoft.com/office/powerpoint/2010/main" val="3489905190"/>
              </p:ext>
            </p:extLst>
          </p:nvPr>
        </p:nvGraphicFramePr>
        <p:xfrm>
          <a:off x="178818" y="409793"/>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 to 1 significant figure</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first and second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2</a:t>
                      </a:r>
                      <a:r>
                        <a:rPr lang="en-US" sz="1100" baseline="30000"/>
                        <a:t>nd</a:t>
                      </a:r>
                      <a:r>
                        <a:rPr lang="en-US" sz="1100" baseline="0"/>
                        <a:t> significant figure is </a:t>
                      </a:r>
                      <a:r>
                        <a:rPr lang="en-US" sz="1100" b="1" baseline="0"/>
                        <a:t>5 or above</a:t>
                      </a:r>
                      <a:r>
                        <a:rPr lang="en-US" sz="1100" baseline="0"/>
                        <a:t>, the 1</a:t>
                      </a:r>
                      <a:r>
                        <a:rPr lang="en-US" sz="1100" baseline="30000"/>
                        <a:t>st</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dirty="0"/>
                        <a:t>3) If the </a:t>
                      </a:r>
                      <a:r>
                        <a:rPr lang="en-US" sz="1100" baseline="0" dirty="0"/>
                        <a:t>2</a:t>
                      </a:r>
                      <a:r>
                        <a:rPr lang="en-US" sz="1100" baseline="30000" dirty="0"/>
                        <a:t>nd</a:t>
                      </a:r>
                      <a:r>
                        <a:rPr lang="en-US" sz="1100" baseline="0" dirty="0"/>
                        <a:t> significant figure is </a:t>
                      </a:r>
                      <a:r>
                        <a:rPr lang="en-US" sz="1100" b="1" baseline="0" dirty="0"/>
                        <a:t>4 or below</a:t>
                      </a:r>
                      <a:r>
                        <a:rPr lang="en-US" sz="1100" baseline="0" dirty="0"/>
                        <a:t>, the 1</a:t>
                      </a:r>
                      <a:r>
                        <a:rPr lang="en-US" sz="1100" baseline="30000" dirty="0"/>
                        <a:t>st</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21" name="TextBox 20">
            <a:extLst>
              <a:ext uri="{FF2B5EF4-FFF2-40B4-BE49-F238E27FC236}">
                <a16:creationId xmlns:a16="http://schemas.microsoft.com/office/drawing/2014/main" id="{BCDC1A2B-2D26-C945-B722-18950FA49879}"/>
              </a:ext>
            </a:extLst>
          </p:cNvPr>
          <p:cNvSpPr txBox="1"/>
          <p:nvPr/>
        </p:nvSpPr>
        <p:spPr>
          <a:xfrm>
            <a:off x="1960437" y="152509"/>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22" name="TextBox 21">
            <a:extLst>
              <a:ext uri="{FF2B5EF4-FFF2-40B4-BE49-F238E27FC236}">
                <a16:creationId xmlns:a16="http://schemas.microsoft.com/office/drawing/2014/main" id="{4AF4150A-9218-D640-8777-2ECCBC4D10FB}"/>
              </a:ext>
            </a:extLst>
          </p:cNvPr>
          <p:cNvSpPr txBox="1"/>
          <p:nvPr/>
        </p:nvSpPr>
        <p:spPr>
          <a:xfrm>
            <a:off x="5094334" y="130401"/>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23" name="TextBox 22">
            <a:extLst>
              <a:ext uri="{FF2B5EF4-FFF2-40B4-BE49-F238E27FC236}">
                <a16:creationId xmlns:a16="http://schemas.microsoft.com/office/drawing/2014/main" id="{BCDC1A2B-2D26-C945-B722-18950FA49879}"/>
              </a:ext>
            </a:extLst>
          </p:cNvPr>
          <p:cNvSpPr txBox="1"/>
          <p:nvPr/>
        </p:nvSpPr>
        <p:spPr>
          <a:xfrm>
            <a:off x="3485155" y="142502"/>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24" name="TextBox 23"/>
          <p:cNvSpPr txBox="1"/>
          <p:nvPr/>
        </p:nvSpPr>
        <p:spPr>
          <a:xfrm>
            <a:off x="1934903" y="696800"/>
            <a:ext cx="1419715" cy="1384995"/>
          </a:xfrm>
          <a:prstGeom prst="rect">
            <a:avLst/>
          </a:prstGeom>
          <a:noFill/>
        </p:spPr>
        <p:txBody>
          <a:bodyPr wrap="square" rtlCol="0">
            <a:spAutoFit/>
          </a:bodyPr>
          <a:lstStyle/>
          <a:p>
            <a:pPr algn="ctr"/>
            <a:r>
              <a:rPr lang="en-US" sz="1200"/>
              <a:t>Round 0.25 to one significant figure</a:t>
            </a:r>
          </a:p>
          <a:p>
            <a:pPr algn="ctr"/>
            <a:endParaRPr lang="en-US" sz="1200"/>
          </a:p>
          <a:p>
            <a:pPr algn="ctr"/>
            <a:r>
              <a:rPr lang="en-US" sz="1200"/>
              <a:t>0  . 2  |  </a:t>
            </a:r>
            <a:r>
              <a:rPr lang="en-US" sz="1200" u="sng"/>
              <a:t>5</a:t>
            </a:r>
          </a:p>
          <a:p>
            <a:pPr algn="ctr"/>
            <a:endParaRPr lang="en-US" sz="1200"/>
          </a:p>
          <a:p>
            <a:pPr algn="ctr"/>
            <a:endParaRPr lang="en-US" sz="1200"/>
          </a:p>
          <a:p>
            <a:pPr algn="ctr"/>
            <a:endParaRPr lang="en-US" sz="1200" u="sng"/>
          </a:p>
        </p:txBody>
      </p:sp>
      <p:sp>
        <p:nvSpPr>
          <p:cNvPr id="25" name="Rectangle 24">
            <a:extLst>
              <a:ext uri="{FF2B5EF4-FFF2-40B4-BE49-F238E27FC236}">
                <a16:creationId xmlns:a16="http://schemas.microsoft.com/office/drawing/2014/main" id="{CEEF23AD-EA17-135A-DB95-1D1FECB286F3}"/>
              </a:ext>
            </a:extLst>
          </p:cNvPr>
          <p:cNvSpPr/>
          <p:nvPr/>
        </p:nvSpPr>
        <p:spPr>
          <a:xfrm>
            <a:off x="1920136" y="152604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1920136" y="288011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Rectangle 26">
            <a:extLst>
              <a:ext uri="{FF2B5EF4-FFF2-40B4-BE49-F238E27FC236}">
                <a16:creationId xmlns:a16="http://schemas.microsoft.com/office/drawing/2014/main" id="{CEEF23AD-EA17-135A-DB95-1D1FECB286F3}"/>
              </a:ext>
            </a:extLst>
          </p:cNvPr>
          <p:cNvSpPr/>
          <p:nvPr/>
        </p:nvSpPr>
        <p:spPr>
          <a:xfrm>
            <a:off x="3544611" y="15213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3544611" y="28754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5187527" y="15213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5187527" y="287544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TextBox 30"/>
          <p:cNvSpPr txBox="1"/>
          <p:nvPr/>
        </p:nvSpPr>
        <p:spPr>
          <a:xfrm>
            <a:off x="1857831" y="1895838"/>
            <a:ext cx="1579701" cy="1384995"/>
          </a:xfrm>
          <a:prstGeom prst="rect">
            <a:avLst/>
          </a:prstGeom>
          <a:noFill/>
        </p:spPr>
        <p:txBody>
          <a:bodyPr wrap="square" rtlCol="0">
            <a:spAutoFit/>
          </a:bodyPr>
          <a:lstStyle/>
          <a:p>
            <a:pPr algn="ctr"/>
            <a:r>
              <a:rPr lang="en-US" sz="1200"/>
              <a:t>Round 0.0378 to one significant figure</a:t>
            </a:r>
          </a:p>
          <a:p>
            <a:pPr algn="ctr"/>
            <a:endParaRPr lang="en-US" sz="1200"/>
          </a:p>
          <a:p>
            <a:pPr algn="ctr"/>
            <a:r>
              <a:rPr lang="en-US" sz="1200"/>
              <a:t>0  .  0   3 |  </a:t>
            </a:r>
            <a:r>
              <a:rPr lang="en-US" sz="1200" u="sng"/>
              <a:t>7</a:t>
            </a:r>
            <a:r>
              <a:rPr lang="en-US" sz="1200"/>
              <a:t>   8</a:t>
            </a:r>
            <a:endParaRPr lang="en-US" sz="1200" u="sng"/>
          </a:p>
          <a:p>
            <a:pPr algn="ctr"/>
            <a:endParaRPr lang="en-US" sz="1200"/>
          </a:p>
          <a:p>
            <a:pPr algn="ctr"/>
            <a:endParaRPr lang="en-US" sz="1200"/>
          </a:p>
          <a:p>
            <a:pPr algn="ctr"/>
            <a:endParaRPr lang="en-US" sz="1200" u="sng"/>
          </a:p>
        </p:txBody>
      </p:sp>
      <p:sp>
        <p:nvSpPr>
          <p:cNvPr id="32" name="TextBox 31"/>
          <p:cNvSpPr txBox="1"/>
          <p:nvPr/>
        </p:nvSpPr>
        <p:spPr>
          <a:xfrm>
            <a:off x="3546124" y="736604"/>
            <a:ext cx="1419715" cy="1015663"/>
          </a:xfrm>
          <a:prstGeom prst="rect">
            <a:avLst/>
          </a:prstGeom>
          <a:noFill/>
        </p:spPr>
        <p:txBody>
          <a:bodyPr wrap="square" rtlCol="0">
            <a:spAutoFit/>
          </a:bodyPr>
          <a:lstStyle/>
          <a:p>
            <a:pPr algn="ctr"/>
            <a:r>
              <a:rPr lang="en-US" sz="1200"/>
              <a:t>Round 0.31 to one significant figure</a:t>
            </a:r>
          </a:p>
          <a:p>
            <a:pPr algn="ctr"/>
            <a:endParaRPr lang="en-US" sz="1200"/>
          </a:p>
          <a:p>
            <a:pPr algn="ctr"/>
            <a:endParaRPr lang="en-US" sz="1200"/>
          </a:p>
          <a:p>
            <a:pPr algn="ctr"/>
            <a:endParaRPr lang="en-US" sz="1200" u="sng"/>
          </a:p>
        </p:txBody>
      </p:sp>
      <p:sp>
        <p:nvSpPr>
          <p:cNvPr id="33" name="TextBox 32"/>
          <p:cNvSpPr txBox="1"/>
          <p:nvPr/>
        </p:nvSpPr>
        <p:spPr>
          <a:xfrm>
            <a:off x="3429000" y="1895838"/>
            <a:ext cx="1515861" cy="1015663"/>
          </a:xfrm>
          <a:prstGeom prst="rect">
            <a:avLst/>
          </a:prstGeom>
          <a:noFill/>
        </p:spPr>
        <p:txBody>
          <a:bodyPr wrap="square" rtlCol="0">
            <a:spAutoFit/>
          </a:bodyPr>
          <a:lstStyle/>
          <a:p>
            <a:pPr algn="ctr"/>
            <a:r>
              <a:rPr lang="en-US" sz="1200"/>
              <a:t>Round 0.0392 to one significant figure</a:t>
            </a:r>
          </a:p>
          <a:p>
            <a:pPr algn="ctr"/>
            <a:endParaRPr lang="en-US" sz="1200"/>
          </a:p>
          <a:p>
            <a:pPr algn="ctr"/>
            <a:endParaRPr lang="en-US" sz="1200"/>
          </a:p>
          <a:p>
            <a:pPr algn="ctr"/>
            <a:endParaRPr lang="en-US" sz="1200" u="sng"/>
          </a:p>
        </p:txBody>
      </p:sp>
      <p:sp>
        <p:nvSpPr>
          <p:cNvPr id="34" name="TextBox 33"/>
          <p:cNvSpPr txBox="1"/>
          <p:nvPr/>
        </p:nvSpPr>
        <p:spPr>
          <a:xfrm>
            <a:off x="5221759" y="728900"/>
            <a:ext cx="1419715" cy="1015663"/>
          </a:xfrm>
          <a:prstGeom prst="rect">
            <a:avLst/>
          </a:prstGeom>
          <a:noFill/>
        </p:spPr>
        <p:txBody>
          <a:bodyPr wrap="square" rtlCol="0">
            <a:spAutoFit/>
          </a:bodyPr>
          <a:lstStyle/>
          <a:p>
            <a:pPr algn="ctr"/>
            <a:r>
              <a:rPr lang="en-US" sz="1200"/>
              <a:t>Round 0.75 to one significant figure</a:t>
            </a:r>
          </a:p>
          <a:p>
            <a:pPr algn="ctr"/>
            <a:endParaRPr lang="en-US" sz="1200"/>
          </a:p>
          <a:p>
            <a:pPr algn="ctr"/>
            <a:endParaRPr lang="en-US" sz="1200"/>
          </a:p>
          <a:p>
            <a:pPr algn="ctr"/>
            <a:endParaRPr lang="en-US" sz="1200" u="sng"/>
          </a:p>
        </p:txBody>
      </p:sp>
      <p:sp>
        <p:nvSpPr>
          <p:cNvPr id="35" name="TextBox 34"/>
          <p:cNvSpPr txBox="1"/>
          <p:nvPr/>
        </p:nvSpPr>
        <p:spPr>
          <a:xfrm>
            <a:off x="5152760" y="1895837"/>
            <a:ext cx="1505438" cy="1015663"/>
          </a:xfrm>
          <a:prstGeom prst="rect">
            <a:avLst/>
          </a:prstGeom>
          <a:noFill/>
        </p:spPr>
        <p:txBody>
          <a:bodyPr wrap="square" rtlCol="0">
            <a:spAutoFit/>
          </a:bodyPr>
          <a:lstStyle/>
          <a:p>
            <a:pPr algn="ctr"/>
            <a:r>
              <a:rPr lang="en-US" sz="1200"/>
              <a:t>Round 0.0431 to one significant figure</a:t>
            </a:r>
          </a:p>
          <a:p>
            <a:pPr algn="ctr"/>
            <a:endParaRPr lang="en-US" sz="1200"/>
          </a:p>
          <a:p>
            <a:pPr algn="ctr"/>
            <a:endParaRPr lang="en-US" sz="1200"/>
          </a:p>
          <a:p>
            <a:pPr algn="ctr"/>
            <a:endParaRPr lang="en-US" sz="1200" u="sng"/>
          </a:p>
        </p:txBody>
      </p:sp>
      <p:sp>
        <p:nvSpPr>
          <p:cNvPr id="39" name="TextBox 38"/>
          <p:cNvSpPr txBox="1"/>
          <p:nvPr/>
        </p:nvSpPr>
        <p:spPr>
          <a:xfrm>
            <a:off x="2085416" y="3440047"/>
            <a:ext cx="3028650" cy="276999"/>
          </a:xfrm>
          <a:prstGeom prst="rect">
            <a:avLst/>
          </a:prstGeom>
          <a:noFill/>
        </p:spPr>
        <p:txBody>
          <a:bodyPr wrap="none" rtlCol="0">
            <a:spAutoFit/>
          </a:bodyPr>
          <a:lstStyle/>
          <a:p>
            <a:r>
              <a:rPr lang="en-US" sz="1200"/>
              <a:t>4. Round each number to 1 significant figure. </a:t>
            </a:r>
            <a:endParaRPr lang="en-GB" sz="1200"/>
          </a:p>
        </p:txBody>
      </p:sp>
      <p:sp>
        <p:nvSpPr>
          <p:cNvPr id="40" name="TextBox 39"/>
          <p:cNvSpPr txBox="1"/>
          <p:nvPr/>
        </p:nvSpPr>
        <p:spPr>
          <a:xfrm>
            <a:off x="407120" y="3920438"/>
            <a:ext cx="614271" cy="276999"/>
          </a:xfrm>
          <a:prstGeom prst="rect">
            <a:avLst/>
          </a:prstGeom>
          <a:noFill/>
        </p:spPr>
        <p:txBody>
          <a:bodyPr wrap="none" rtlCol="0">
            <a:spAutoFit/>
          </a:bodyPr>
          <a:lstStyle/>
          <a:p>
            <a:r>
              <a:rPr lang="en-US" sz="1200"/>
              <a:t>a) 0.41</a:t>
            </a:r>
            <a:endParaRPr lang="en-GB" sz="1200"/>
          </a:p>
        </p:txBody>
      </p:sp>
      <p:sp>
        <p:nvSpPr>
          <p:cNvPr id="41" name="TextBox 40"/>
          <p:cNvSpPr txBox="1"/>
          <p:nvPr/>
        </p:nvSpPr>
        <p:spPr>
          <a:xfrm>
            <a:off x="1459377" y="3911735"/>
            <a:ext cx="620683" cy="276999"/>
          </a:xfrm>
          <a:prstGeom prst="rect">
            <a:avLst/>
          </a:prstGeom>
          <a:noFill/>
        </p:spPr>
        <p:txBody>
          <a:bodyPr wrap="none" rtlCol="0">
            <a:spAutoFit/>
          </a:bodyPr>
          <a:lstStyle/>
          <a:p>
            <a:r>
              <a:rPr lang="en-US" sz="1200"/>
              <a:t>b) 0.45</a:t>
            </a:r>
            <a:endParaRPr lang="en-GB" sz="1200"/>
          </a:p>
        </p:txBody>
      </p:sp>
      <p:sp>
        <p:nvSpPr>
          <p:cNvPr id="42" name="TextBox 41"/>
          <p:cNvSpPr txBox="1"/>
          <p:nvPr/>
        </p:nvSpPr>
        <p:spPr>
          <a:xfrm>
            <a:off x="2536036" y="3911736"/>
            <a:ext cx="606256" cy="276999"/>
          </a:xfrm>
          <a:prstGeom prst="rect">
            <a:avLst/>
          </a:prstGeom>
          <a:noFill/>
        </p:spPr>
        <p:txBody>
          <a:bodyPr wrap="none" rtlCol="0">
            <a:spAutoFit/>
          </a:bodyPr>
          <a:lstStyle/>
          <a:p>
            <a:r>
              <a:rPr lang="en-US" sz="1200"/>
              <a:t>c) 0.49</a:t>
            </a:r>
            <a:endParaRPr lang="en-GB" sz="1200"/>
          </a:p>
        </p:txBody>
      </p:sp>
      <p:sp>
        <p:nvSpPr>
          <p:cNvPr id="43" name="TextBox 42"/>
          <p:cNvSpPr txBox="1"/>
          <p:nvPr/>
        </p:nvSpPr>
        <p:spPr>
          <a:xfrm>
            <a:off x="3543082" y="3934828"/>
            <a:ext cx="620683" cy="276999"/>
          </a:xfrm>
          <a:prstGeom prst="rect">
            <a:avLst/>
          </a:prstGeom>
          <a:noFill/>
        </p:spPr>
        <p:txBody>
          <a:bodyPr wrap="none" rtlCol="0">
            <a:spAutoFit/>
          </a:bodyPr>
          <a:lstStyle/>
          <a:p>
            <a:r>
              <a:rPr lang="en-US" sz="1200"/>
              <a:t>d) 0.55</a:t>
            </a:r>
            <a:endParaRPr lang="en-GB" sz="1200"/>
          </a:p>
        </p:txBody>
      </p:sp>
      <p:sp>
        <p:nvSpPr>
          <p:cNvPr id="44" name="TextBox 43"/>
          <p:cNvSpPr txBox="1"/>
          <p:nvPr/>
        </p:nvSpPr>
        <p:spPr>
          <a:xfrm>
            <a:off x="4646845" y="3931348"/>
            <a:ext cx="617477" cy="276999"/>
          </a:xfrm>
          <a:prstGeom prst="rect">
            <a:avLst/>
          </a:prstGeom>
          <a:noFill/>
        </p:spPr>
        <p:txBody>
          <a:bodyPr wrap="none" rtlCol="0">
            <a:spAutoFit/>
          </a:bodyPr>
          <a:lstStyle/>
          <a:p>
            <a:r>
              <a:rPr lang="en-US" sz="1200"/>
              <a:t>e) 0.59</a:t>
            </a:r>
            <a:endParaRPr lang="en-GB" sz="1200"/>
          </a:p>
        </p:txBody>
      </p:sp>
      <p:sp>
        <p:nvSpPr>
          <p:cNvPr id="45" name="Rectangle 44">
            <a:extLst>
              <a:ext uri="{FF2B5EF4-FFF2-40B4-BE49-F238E27FC236}">
                <a16:creationId xmlns:a16="http://schemas.microsoft.com/office/drawing/2014/main" id="{CEEF23AD-EA17-135A-DB95-1D1FECB286F3}"/>
              </a:ext>
            </a:extLst>
          </p:cNvPr>
          <p:cNvSpPr/>
          <p:nvPr/>
        </p:nvSpPr>
        <p:spPr>
          <a:xfrm>
            <a:off x="438878"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1482833"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2538717"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Rectangle 47">
            <a:extLst>
              <a:ext uri="{FF2B5EF4-FFF2-40B4-BE49-F238E27FC236}">
                <a16:creationId xmlns:a16="http://schemas.microsoft.com/office/drawing/2014/main" id="{CEEF23AD-EA17-135A-DB95-1D1FECB286F3}"/>
              </a:ext>
            </a:extLst>
          </p:cNvPr>
          <p:cNvSpPr/>
          <p:nvPr/>
        </p:nvSpPr>
        <p:spPr>
          <a:xfrm>
            <a:off x="3612915"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Rectangle 48">
            <a:extLst>
              <a:ext uri="{FF2B5EF4-FFF2-40B4-BE49-F238E27FC236}">
                <a16:creationId xmlns:a16="http://schemas.microsoft.com/office/drawing/2014/main" id="{CEEF23AD-EA17-135A-DB95-1D1FECB286F3}"/>
              </a:ext>
            </a:extLst>
          </p:cNvPr>
          <p:cNvSpPr/>
          <p:nvPr/>
        </p:nvSpPr>
        <p:spPr>
          <a:xfrm>
            <a:off x="4664579"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TextBox 49"/>
          <p:cNvSpPr txBox="1"/>
          <p:nvPr/>
        </p:nvSpPr>
        <p:spPr>
          <a:xfrm>
            <a:off x="5741858" y="3956995"/>
            <a:ext cx="589264" cy="276999"/>
          </a:xfrm>
          <a:prstGeom prst="rect">
            <a:avLst/>
          </a:prstGeom>
          <a:noFill/>
        </p:spPr>
        <p:txBody>
          <a:bodyPr wrap="none" rtlCol="0">
            <a:spAutoFit/>
          </a:bodyPr>
          <a:lstStyle/>
          <a:p>
            <a:r>
              <a:rPr lang="en-US" sz="1200"/>
              <a:t>f) 0.91</a:t>
            </a:r>
            <a:endParaRPr lang="en-GB" sz="1200"/>
          </a:p>
        </p:txBody>
      </p:sp>
      <p:sp>
        <p:nvSpPr>
          <p:cNvPr id="51" name="Rectangle 50">
            <a:extLst>
              <a:ext uri="{FF2B5EF4-FFF2-40B4-BE49-F238E27FC236}">
                <a16:creationId xmlns:a16="http://schemas.microsoft.com/office/drawing/2014/main" id="{CEEF23AD-EA17-135A-DB95-1D1FECB286F3}"/>
              </a:ext>
            </a:extLst>
          </p:cNvPr>
          <p:cNvSpPr/>
          <p:nvPr/>
        </p:nvSpPr>
        <p:spPr>
          <a:xfrm>
            <a:off x="5713681" y="4493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TextBox 51"/>
          <p:cNvSpPr txBox="1"/>
          <p:nvPr/>
        </p:nvSpPr>
        <p:spPr>
          <a:xfrm>
            <a:off x="438878" y="4954761"/>
            <a:ext cx="612668" cy="276999"/>
          </a:xfrm>
          <a:prstGeom prst="rect">
            <a:avLst/>
          </a:prstGeom>
          <a:noFill/>
        </p:spPr>
        <p:txBody>
          <a:bodyPr wrap="none" rtlCol="0">
            <a:spAutoFit/>
          </a:bodyPr>
          <a:lstStyle/>
          <a:p>
            <a:r>
              <a:rPr lang="en-US" sz="1200"/>
              <a:t>g) 0.95</a:t>
            </a:r>
            <a:endParaRPr lang="en-GB" sz="1200"/>
          </a:p>
        </p:txBody>
      </p:sp>
      <p:sp>
        <p:nvSpPr>
          <p:cNvPr id="53" name="TextBox 52"/>
          <p:cNvSpPr txBox="1"/>
          <p:nvPr/>
        </p:nvSpPr>
        <p:spPr>
          <a:xfrm>
            <a:off x="1491135" y="4946058"/>
            <a:ext cx="699230" cy="276999"/>
          </a:xfrm>
          <a:prstGeom prst="rect">
            <a:avLst/>
          </a:prstGeom>
          <a:noFill/>
        </p:spPr>
        <p:txBody>
          <a:bodyPr wrap="none" rtlCol="0">
            <a:spAutoFit/>
          </a:bodyPr>
          <a:lstStyle/>
          <a:p>
            <a:r>
              <a:rPr lang="en-US" sz="1200"/>
              <a:t>h) 0.905</a:t>
            </a:r>
            <a:endParaRPr lang="en-GB" sz="1200"/>
          </a:p>
        </p:txBody>
      </p:sp>
      <p:sp>
        <p:nvSpPr>
          <p:cNvPr id="54" name="TextBox 53"/>
          <p:cNvSpPr txBox="1"/>
          <p:nvPr/>
        </p:nvSpPr>
        <p:spPr>
          <a:xfrm>
            <a:off x="2567794" y="4946059"/>
            <a:ext cx="654346" cy="276999"/>
          </a:xfrm>
          <a:prstGeom prst="rect">
            <a:avLst/>
          </a:prstGeom>
          <a:noFill/>
        </p:spPr>
        <p:txBody>
          <a:bodyPr wrap="none" rtlCol="0">
            <a:spAutoFit/>
          </a:bodyPr>
          <a:lstStyle/>
          <a:p>
            <a:r>
              <a:rPr lang="en-US" sz="1200"/>
              <a:t>i) 0.951</a:t>
            </a:r>
            <a:endParaRPr lang="en-GB" sz="1200"/>
          </a:p>
        </p:txBody>
      </p:sp>
      <p:sp>
        <p:nvSpPr>
          <p:cNvPr id="55" name="TextBox 54"/>
          <p:cNvSpPr txBox="1"/>
          <p:nvPr/>
        </p:nvSpPr>
        <p:spPr>
          <a:xfrm>
            <a:off x="3574840" y="4969151"/>
            <a:ext cx="655949" cy="276999"/>
          </a:xfrm>
          <a:prstGeom prst="rect">
            <a:avLst/>
          </a:prstGeom>
          <a:noFill/>
        </p:spPr>
        <p:txBody>
          <a:bodyPr wrap="none" rtlCol="0">
            <a:spAutoFit/>
          </a:bodyPr>
          <a:lstStyle/>
          <a:p>
            <a:r>
              <a:rPr lang="en-US" sz="1200"/>
              <a:t>j) 0.091</a:t>
            </a:r>
            <a:endParaRPr lang="en-GB" sz="1200"/>
          </a:p>
        </p:txBody>
      </p:sp>
      <p:sp>
        <p:nvSpPr>
          <p:cNvPr id="56" name="TextBox 55"/>
          <p:cNvSpPr txBox="1"/>
          <p:nvPr/>
        </p:nvSpPr>
        <p:spPr>
          <a:xfrm>
            <a:off x="4678603" y="4965671"/>
            <a:ext cx="689612" cy="276999"/>
          </a:xfrm>
          <a:prstGeom prst="rect">
            <a:avLst/>
          </a:prstGeom>
          <a:noFill/>
        </p:spPr>
        <p:txBody>
          <a:bodyPr wrap="none" rtlCol="0">
            <a:spAutoFit/>
          </a:bodyPr>
          <a:lstStyle/>
          <a:p>
            <a:r>
              <a:rPr lang="en-US" sz="1200"/>
              <a:t>k) 0.095</a:t>
            </a:r>
            <a:endParaRPr lang="en-GB" sz="1200"/>
          </a:p>
        </p:txBody>
      </p:sp>
      <p:sp>
        <p:nvSpPr>
          <p:cNvPr id="57" name="Rectangle 56">
            <a:extLst>
              <a:ext uri="{FF2B5EF4-FFF2-40B4-BE49-F238E27FC236}">
                <a16:creationId xmlns:a16="http://schemas.microsoft.com/office/drawing/2014/main" id="{CEEF23AD-EA17-135A-DB95-1D1FECB286F3}"/>
              </a:ext>
            </a:extLst>
          </p:cNvPr>
          <p:cNvSpPr/>
          <p:nvPr/>
        </p:nvSpPr>
        <p:spPr>
          <a:xfrm>
            <a:off x="438878"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CEEF23AD-EA17-135A-DB95-1D1FECB286F3}"/>
              </a:ext>
            </a:extLst>
          </p:cNvPr>
          <p:cNvSpPr/>
          <p:nvPr/>
        </p:nvSpPr>
        <p:spPr>
          <a:xfrm>
            <a:off x="1482833"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CEEF23AD-EA17-135A-DB95-1D1FECB286F3}"/>
              </a:ext>
            </a:extLst>
          </p:cNvPr>
          <p:cNvSpPr/>
          <p:nvPr/>
        </p:nvSpPr>
        <p:spPr>
          <a:xfrm>
            <a:off x="2538717"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0" name="Rectangle 59">
            <a:extLst>
              <a:ext uri="{FF2B5EF4-FFF2-40B4-BE49-F238E27FC236}">
                <a16:creationId xmlns:a16="http://schemas.microsoft.com/office/drawing/2014/main" id="{CEEF23AD-EA17-135A-DB95-1D1FECB286F3}"/>
              </a:ext>
            </a:extLst>
          </p:cNvPr>
          <p:cNvSpPr/>
          <p:nvPr/>
        </p:nvSpPr>
        <p:spPr>
          <a:xfrm>
            <a:off x="3612915"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1" name="Rectangle 60">
            <a:extLst>
              <a:ext uri="{FF2B5EF4-FFF2-40B4-BE49-F238E27FC236}">
                <a16:creationId xmlns:a16="http://schemas.microsoft.com/office/drawing/2014/main" id="{CEEF23AD-EA17-135A-DB95-1D1FECB286F3}"/>
              </a:ext>
            </a:extLst>
          </p:cNvPr>
          <p:cNvSpPr/>
          <p:nvPr/>
        </p:nvSpPr>
        <p:spPr>
          <a:xfrm>
            <a:off x="4664579"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TextBox 61"/>
          <p:cNvSpPr txBox="1"/>
          <p:nvPr/>
        </p:nvSpPr>
        <p:spPr>
          <a:xfrm>
            <a:off x="5773616" y="4991318"/>
            <a:ext cx="654346" cy="276999"/>
          </a:xfrm>
          <a:prstGeom prst="rect">
            <a:avLst/>
          </a:prstGeom>
          <a:noFill/>
        </p:spPr>
        <p:txBody>
          <a:bodyPr wrap="none" rtlCol="0">
            <a:spAutoFit/>
          </a:bodyPr>
          <a:lstStyle/>
          <a:p>
            <a:r>
              <a:rPr lang="en-US" sz="1200"/>
              <a:t>l) 0.059</a:t>
            </a:r>
            <a:endParaRPr lang="en-GB" sz="1200"/>
          </a:p>
        </p:txBody>
      </p:sp>
      <p:sp>
        <p:nvSpPr>
          <p:cNvPr id="63" name="Rectangle 62">
            <a:extLst>
              <a:ext uri="{FF2B5EF4-FFF2-40B4-BE49-F238E27FC236}">
                <a16:creationId xmlns:a16="http://schemas.microsoft.com/office/drawing/2014/main" id="{CEEF23AD-EA17-135A-DB95-1D1FECB286F3}"/>
              </a:ext>
            </a:extLst>
          </p:cNvPr>
          <p:cNvSpPr/>
          <p:nvPr/>
        </p:nvSpPr>
        <p:spPr>
          <a:xfrm>
            <a:off x="5713681" y="5490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TextBox 63"/>
          <p:cNvSpPr txBox="1"/>
          <p:nvPr/>
        </p:nvSpPr>
        <p:spPr>
          <a:xfrm>
            <a:off x="420372" y="5901349"/>
            <a:ext cx="821059" cy="276999"/>
          </a:xfrm>
          <a:prstGeom prst="rect">
            <a:avLst/>
          </a:prstGeom>
          <a:noFill/>
        </p:spPr>
        <p:txBody>
          <a:bodyPr wrap="none" rtlCol="0">
            <a:spAutoFit/>
          </a:bodyPr>
          <a:lstStyle/>
          <a:p>
            <a:r>
              <a:rPr lang="en-US" sz="1200"/>
              <a:t>m) 0.0591</a:t>
            </a:r>
            <a:endParaRPr lang="en-GB" sz="1200"/>
          </a:p>
        </p:txBody>
      </p:sp>
      <p:sp>
        <p:nvSpPr>
          <p:cNvPr id="65" name="TextBox 64"/>
          <p:cNvSpPr txBox="1"/>
          <p:nvPr/>
        </p:nvSpPr>
        <p:spPr>
          <a:xfrm>
            <a:off x="1464733" y="5888581"/>
            <a:ext cx="777777" cy="276999"/>
          </a:xfrm>
          <a:prstGeom prst="rect">
            <a:avLst/>
          </a:prstGeom>
          <a:noFill/>
        </p:spPr>
        <p:txBody>
          <a:bodyPr wrap="none" rtlCol="0">
            <a:spAutoFit/>
          </a:bodyPr>
          <a:lstStyle/>
          <a:p>
            <a:r>
              <a:rPr lang="en-US" sz="1200"/>
              <a:t>n) 0.0045</a:t>
            </a:r>
            <a:endParaRPr lang="en-GB" sz="1200"/>
          </a:p>
        </p:txBody>
      </p:sp>
      <p:sp>
        <p:nvSpPr>
          <p:cNvPr id="66" name="TextBox 65"/>
          <p:cNvSpPr txBox="1"/>
          <p:nvPr/>
        </p:nvSpPr>
        <p:spPr>
          <a:xfrm>
            <a:off x="2521457" y="5912258"/>
            <a:ext cx="779381" cy="276999"/>
          </a:xfrm>
          <a:prstGeom prst="rect">
            <a:avLst/>
          </a:prstGeom>
          <a:noFill/>
        </p:spPr>
        <p:txBody>
          <a:bodyPr wrap="none" rtlCol="0">
            <a:spAutoFit/>
          </a:bodyPr>
          <a:lstStyle/>
          <a:p>
            <a:r>
              <a:rPr lang="en-US" sz="1200"/>
              <a:t>o) 0.0054</a:t>
            </a:r>
            <a:endParaRPr lang="en-GB" sz="1200"/>
          </a:p>
        </p:txBody>
      </p:sp>
      <p:sp>
        <p:nvSpPr>
          <p:cNvPr id="67" name="TextBox 66"/>
          <p:cNvSpPr txBox="1"/>
          <p:nvPr/>
        </p:nvSpPr>
        <p:spPr>
          <a:xfrm>
            <a:off x="3556334" y="5915739"/>
            <a:ext cx="856325" cy="276999"/>
          </a:xfrm>
          <a:prstGeom prst="rect">
            <a:avLst/>
          </a:prstGeom>
          <a:noFill/>
        </p:spPr>
        <p:txBody>
          <a:bodyPr wrap="none" rtlCol="0">
            <a:spAutoFit/>
          </a:bodyPr>
          <a:lstStyle/>
          <a:p>
            <a:r>
              <a:rPr lang="en-US" sz="1200"/>
              <a:t>p) 0.00501</a:t>
            </a:r>
            <a:endParaRPr lang="en-GB" sz="1200"/>
          </a:p>
        </p:txBody>
      </p:sp>
      <p:sp>
        <p:nvSpPr>
          <p:cNvPr id="68" name="TextBox 67"/>
          <p:cNvSpPr txBox="1"/>
          <p:nvPr/>
        </p:nvSpPr>
        <p:spPr>
          <a:xfrm>
            <a:off x="4643639" y="5901349"/>
            <a:ext cx="777777" cy="276999"/>
          </a:xfrm>
          <a:prstGeom prst="rect">
            <a:avLst/>
          </a:prstGeom>
          <a:noFill/>
        </p:spPr>
        <p:txBody>
          <a:bodyPr wrap="none" rtlCol="0">
            <a:spAutoFit/>
          </a:bodyPr>
          <a:lstStyle/>
          <a:p>
            <a:r>
              <a:rPr lang="en-US" sz="1200"/>
              <a:t>q) 0.0505</a:t>
            </a:r>
            <a:endParaRPr lang="en-GB" sz="1200"/>
          </a:p>
        </p:txBody>
      </p:sp>
      <p:sp>
        <p:nvSpPr>
          <p:cNvPr id="69" name="Rectangle 68">
            <a:extLst>
              <a:ext uri="{FF2B5EF4-FFF2-40B4-BE49-F238E27FC236}">
                <a16:creationId xmlns:a16="http://schemas.microsoft.com/office/drawing/2014/main" id="{CEEF23AD-EA17-135A-DB95-1D1FECB286F3}"/>
              </a:ext>
            </a:extLst>
          </p:cNvPr>
          <p:cNvSpPr/>
          <p:nvPr/>
        </p:nvSpPr>
        <p:spPr>
          <a:xfrm>
            <a:off x="452130"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1496085"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CEEF23AD-EA17-135A-DB95-1D1FECB286F3}"/>
              </a:ext>
            </a:extLst>
          </p:cNvPr>
          <p:cNvSpPr/>
          <p:nvPr/>
        </p:nvSpPr>
        <p:spPr>
          <a:xfrm>
            <a:off x="2551969"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CEEF23AD-EA17-135A-DB95-1D1FECB286F3}"/>
              </a:ext>
            </a:extLst>
          </p:cNvPr>
          <p:cNvSpPr/>
          <p:nvPr/>
        </p:nvSpPr>
        <p:spPr>
          <a:xfrm>
            <a:off x="3626167"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Rectangle 72">
            <a:extLst>
              <a:ext uri="{FF2B5EF4-FFF2-40B4-BE49-F238E27FC236}">
                <a16:creationId xmlns:a16="http://schemas.microsoft.com/office/drawing/2014/main" id="{CEEF23AD-EA17-135A-DB95-1D1FECB286F3}"/>
              </a:ext>
            </a:extLst>
          </p:cNvPr>
          <p:cNvSpPr/>
          <p:nvPr/>
        </p:nvSpPr>
        <p:spPr>
          <a:xfrm>
            <a:off x="4677831"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TextBox 73"/>
          <p:cNvSpPr txBox="1"/>
          <p:nvPr/>
        </p:nvSpPr>
        <p:spPr>
          <a:xfrm>
            <a:off x="5690434" y="5896360"/>
            <a:ext cx="907621" cy="276999"/>
          </a:xfrm>
          <a:prstGeom prst="rect">
            <a:avLst/>
          </a:prstGeom>
          <a:noFill/>
        </p:spPr>
        <p:txBody>
          <a:bodyPr wrap="none" rtlCol="0">
            <a:spAutoFit/>
          </a:bodyPr>
          <a:lstStyle/>
          <a:p>
            <a:r>
              <a:rPr lang="en-US" sz="1200"/>
              <a:t>r) 0.005905</a:t>
            </a:r>
            <a:endParaRPr lang="en-GB" sz="1200"/>
          </a:p>
        </p:txBody>
      </p:sp>
      <p:sp>
        <p:nvSpPr>
          <p:cNvPr id="75" name="Rectangle 74">
            <a:extLst>
              <a:ext uri="{FF2B5EF4-FFF2-40B4-BE49-F238E27FC236}">
                <a16:creationId xmlns:a16="http://schemas.microsoft.com/office/drawing/2014/main" id="{CEEF23AD-EA17-135A-DB95-1D1FECB286F3}"/>
              </a:ext>
            </a:extLst>
          </p:cNvPr>
          <p:cNvSpPr/>
          <p:nvPr/>
        </p:nvSpPr>
        <p:spPr>
          <a:xfrm>
            <a:off x="5726933" y="6468298"/>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88" name="Straight Connector 87">
            <a:extLst>
              <a:ext uri="{FF2B5EF4-FFF2-40B4-BE49-F238E27FC236}">
                <a16:creationId xmlns:a16="http://schemas.microsoft.com/office/drawing/2014/main" id="{B4A988A4-03CD-D549-9F12-81AFECBDEF37}"/>
              </a:ext>
            </a:extLst>
          </p:cNvPr>
          <p:cNvCxnSpPr>
            <a:cxnSpLocks/>
          </p:cNvCxnSpPr>
          <p:nvPr/>
        </p:nvCxnSpPr>
        <p:spPr>
          <a:xfrm>
            <a:off x="912777" y="8828832"/>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89" name="Table 88"/>
          <p:cNvGraphicFramePr>
            <a:graphicFrameLocks noGrp="1"/>
          </p:cNvGraphicFramePr>
          <p:nvPr>
            <p:extLst>
              <p:ext uri="{D42A27DB-BD31-4B8C-83A1-F6EECF244321}">
                <p14:modId xmlns:p14="http://schemas.microsoft.com/office/powerpoint/2010/main" val="1673789452"/>
              </p:ext>
            </p:extLst>
          </p:nvPr>
        </p:nvGraphicFramePr>
        <p:xfrm>
          <a:off x="114518" y="7384459"/>
          <a:ext cx="6543680" cy="2392680"/>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18707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Round</a:t>
                      </a:r>
                      <a:r>
                        <a:rPr lang="en-US" sz="1200" b="0" baseline="0" dirty="0">
                          <a:solidFill>
                            <a:schemeClr val="tx1"/>
                          </a:solidFill>
                        </a:rPr>
                        <a:t> </a:t>
                      </a:r>
                      <a:r>
                        <a:rPr lang="en-US" sz="1200" b="0" dirty="0">
                          <a:solidFill>
                            <a:schemeClr val="tx1"/>
                          </a:solidFill>
                        </a:rPr>
                        <a:t>to 2 significant figures</a:t>
                      </a:r>
                      <a:endParaRPr lang="en-GB"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550207">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50115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433565">
                <a:tc>
                  <a:txBody>
                    <a:bodyPr/>
                    <a:lstStyle/>
                    <a:p>
                      <a:pPr marL="0" indent="0">
                        <a:buNone/>
                      </a:pPr>
                      <a:r>
                        <a:rPr lang="en-US" sz="1100" dirty="0"/>
                        <a:t>3) If the </a:t>
                      </a:r>
                      <a:r>
                        <a:rPr lang="en-US" sz="1100" baseline="0" dirty="0"/>
                        <a:t>3</a:t>
                      </a:r>
                      <a:r>
                        <a:rPr lang="en-US" sz="1100" baseline="30000" dirty="0"/>
                        <a:t>rd</a:t>
                      </a:r>
                      <a:r>
                        <a:rPr lang="en-US" sz="1100" baseline="0" dirty="0"/>
                        <a:t> significant figure is </a:t>
                      </a:r>
                      <a:r>
                        <a:rPr lang="en-US" sz="1100" b="1" baseline="0" dirty="0"/>
                        <a:t>4 or below</a:t>
                      </a:r>
                      <a:r>
                        <a:rPr lang="en-US" sz="1100" baseline="0" dirty="0"/>
                        <a:t>, the 2</a:t>
                      </a:r>
                      <a:r>
                        <a:rPr lang="en-US" sz="1100" baseline="30000" dirty="0"/>
                        <a:t>nd</a:t>
                      </a:r>
                      <a:r>
                        <a:rPr lang="en-US" sz="1100" baseline="0" dirty="0"/>
                        <a:t> significant figure stays the same.</a:t>
                      </a:r>
                      <a:endParaRPr lang="en-US" sz="11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92" name="TextBox 91"/>
          <p:cNvSpPr txBox="1"/>
          <p:nvPr/>
        </p:nvSpPr>
        <p:spPr>
          <a:xfrm>
            <a:off x="1870603" y="7671466"/>
            <a:ext cx="1419715" cy="1569660"/>
          </a:xfrm>
          <a:prstGeom prst="rect">
            <a:avLst/>
          </a:prstGeom>
          <a:noFill/>
        </p:spPr>
        <p:txBody>
          <a:bodyPr wrap="square" rtlCol="0">
            <a:spAutoFit/>
          </a:bodyPr>
          <a:lstStyle/>
          <a:p>
            <a:pPr algn="ctr"/>
            <a:r>
              <a:rPr lang="en-US" sz="1200"/>
              <a:t>Round 467 to two significant figures</a:t>
            </a:r>
          </a:p>
          <a:p>
            <a:pPr algn="ctr"/>
            <a:endParaRPr lang="en-US" sz="1200"/>
          </a:p>
          <a:p>
            <a:pPr algn="ctr"/>
            <a:endParaRPr lang="en-US" sz="1200"/>
          </a:p>
          <a:p>
            <a:pPr algn="ctr"/>
            <a:r>
              <a:rPr lang="en-US" sz="1200"/>
              <a:t>4    6  |  </a:t>
            </a:r>
            <a:r>
              <a:rPr lang="en-US" sz="1200" u="sng"/>
              <a:t>7</a:t>
            </a:r>
          </a:p>
          <a:p>
            <a:pPr algn="ctr"/>
            <a:endParaRPr lang="en-US" sz="1200"/>
          </a:p>
          <a:p>
            <a:pPr algn="ctr"/>
            <a:endParaRPr lang="en-US" sz="1200"/>
          </a:p>
          <a:p>
            <a:pPr algn="ctr"/>
            <a:endParaRPr lang="en-US" sz="1200" u="sng"/>
          </a:p>
        </p:txBody>
      </p:sp>
      <p:sp>
        <p:nvSpPr>
          <p:cNvPr id="93" name="Rectangle 92">
            <a:extLst>
              <a:ext uri="{FF2B5EF4-FFF2-40B4-BE49-F238E27FC236}">
                <a16:creationId xmlns:a16="http://schemas.microsoft.com/office/drawing/2014/main" id="{CEEF23AD-EA17-135A-DB95-1D1FECB286F3}"/>
              </a:ext>
            </a:extLst>
          </p:cNvPr>
          <p:cNvSpPr/>
          <p:nvPr/>
        </p:nvSpPr>
        <p:spPr>
          <a:xfrm>
            <a:off x="1767098" y="9368302"/>
            <a:ext cx="1449248" cy="30749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5" name="Rectangle 94">
            <a:extLst>
              <a:ext uri="{FF2B5EF4-FFF2-40B4-BE49-F238E27FC236}">
                <a16:creationId xmlns:a16="http://schemas.microsoft.com/office/drawing/2014/main" id="{CEEF23AD-EA17-135A-DB95-1D1FECB286F3}"/>
              </a:ext>
            </a:extLst>
          </p:cNvPr>
          <p:cNvSpPr/>
          <p:nvPr/>
        </p:nvSpPr>
        <p:spPr>
          <a:xfrm>
            <a:off x="3469914" y="9368302"/>
            <a:ext cx="1449248" cy="31438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0" name="TextBox 99"/>
          <p:cNvSpPr txBox="1"/>
          <p:nvPr/>
        </p:nvSpPr>
        <p:spPr>
          <a:xfrm>
            <a:off x="3481824" y="7711270"/>
            <a:ext cx="1419715" cy="1015663"/>
          </a:xfrm>
          <a:prstGeom prst="rect">
            <a:avLst/>
          </a:prstGeom>
          <a:noFill/>
        </p:spPr>
        <p:txBody>
          <a:bodyPr wrap="square" rtlCol="0">
            <a:spAutoFit/>
          </a:bodyPr>
          <a:lstStyle/>
          <a:p>
            <a:pPr algn="ctr"/>
            <a:r>
              <a:rPr lang="en-US" sz="1200"/>
              <a:t>Round 4670 to two significant figures</a:t>
            </a:r>
          </a:p>
          <a:p>
            <a:pPr algn="ctr"/>
            <a:endParaRPr lang="en-US" sz="1200"/>
          </a:p>
          <a:p>
            <a:pPr algn="ctr"/>
            <a:endParaRPr lang="en-US" sz="1200"/>
          </a:p>
          <a:p>
            <a:pPr algn="ctr"/>
            <a:endParaRPr lang="en-US" sz="1200" u="sng"/>
          </a:p>
        </p:txBody>
      </p:sp>
      <p:sp>
        <p:nvSpPr>
          <p:cNvPr id="102" name="TextBox 101"/>
          <p:cNvSpPr txBox="1"/>
          <p:nvPr/>
        </p:nvSpPr>
        <p:spPr>
          <a:xfrm>
            <a:off x="5123752" y="7697859"/>
            <a:ext cx="1419715" cy="1015663"/>
          </a:xfrm>
          <a:prstGeom prst="rect">
            <a:avLst/>
          </a:prstGeom>
          <a:noFill/>
        </p:spPr>
        <p:txBody>
          <a:bodyPr wrap="square" rtlCol="0">
            <a:spAutoFit/>
          </a:bodyPr>
          <a:lstStyle/>
          <a:p>
            <a:pPr algn="ctr"/>
            <a:r>
              <a:rPr lang="en-US" sz="1200"/>
              <a:t>Round 7592 to two significant figures</a:t>
            </a:r>
          </a:p>
          <a:p>
            <a:pPr algn="ctr"/>
            <a:endParaRPr lang="en-US" sz="1200"/>
          </a:p>
          <a:p>
            <a:pPr algn="ctr"/>
            <a:endParaRPr lang="en-US" sz="1200"/>
          </a:p>
          <a:p>
            <a:pPr algn="ctr"/>
            <a:endParaRPr lang="en-US" sz="1200" u="sng"/>
          </a:p>
        </p:txBody>
      </p:sp>
      <p:sp>
        <p:nvSpPr>
          <p:cNvPr id="104" name="TextBox 103">
            <a:extLst>
              <a:ext uri="{FF2B5EF4-FFF2-40B4-BE49-F238E27FC236}">
                <a16:creationId xmlns:a16="http://schemas.microsoft.com/office/drawing/2014/main" id="{BCDC1A2B-2D26-C945-B722-18950FA49879}"/>
              </a:ext>
            </a:extLst>
          </p:cNvPr>
          <p:cNvSpPr txBox="1"/>
          <p:nvPr/>
        </p:nvSpPr>
        <p:spPr>
          <a:xfrm>
            <a:off x="1945196" y="7089471"/>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105" name="TextBox 104">
            <a:extLst>
              <a:ext uri="{FF2B5EF4-FFF2-40B4-BE49-F238E27FC236}">
                <a16:creationId xmlns:a16="http://schemas.microsoft.com/office/drawing/2014/main" id="{4AF4150A-9218-D640-8777-2ECCBC4D10FB}"/>
              </a:ext>
            </a:extLst>
          </p:cNvPr>
          <p:cNvSpPr txBox="1"/>
          <p:nvPr/>
        </p:nvSpPr>
        <p:spPr>
          <a:xfrm>
            <a:off x="5079093" y="7067363"/>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106" name="TextBox 105">
            <a:extLst>
              <a:ext uri="{FF2B5EF4-FFF2-40B4-BE49-F238E27FC236}">
                <a16:creationId xmlns:a16="http://schemas.microsoft.com/office/drawing/2014/main" id="{BCDC1A2B-2D26-C945-B722-18950FA49879}"/>
              </a:ext>
            </a:extLst>
          </p:cNvPr>
          <p:cNvSpPr txBox="1"/>
          <p:nvPr/>
        </p:nvSpPr>
        <p:spPr>
          <a:xfrm>
            <a:off x="3469914" y="7079464"/>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p:sp>
        <p:nvSpPr>
          <p:cNvPr id="107" name="Rectangle 106">
            <a:extLst>
              <a:ext uri="{FF2B5EF4-FFF2-40B4-BE49-F238E27FC236}">
                <a16:creationId xmlns:a16="http://schemas.microsoft.com/office/drawing/2014/main" id="{CEEF23AD-EA17-135A-DB95-1D1FECB286F3}"/>
              </a:ext>
            </a:extLst>
          </p:cNvPr>
          <p:cNvSpPr/>
          <p:nvPr/>
        </p:nvSpPr>
        <p:spPr>
          <a:xfrm>
            <a:off x="5064056" y="9368302"/>
            <a:ext cx="1449248" cy="325479"/>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8"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24</a:t>
            </a:fld>
            <a:endParaRPr lang="en-GB"/>
          </a:p>
        </p:txBody>
      </p:sp>
      <p:sp>
        <p:nvSpPr>
          <p:cNvPr id="2" name="Rectangle 1">
            <a:extLst>
              <a:ext uri="{FF2B5EF4-FFF2-40B4-BE49-F238E27FC236}">
                <a16:creationId xmlns:a16="http://schemas.microsoft.com/office/drawing/2014/main" id="{872E73B1-4537-4AB5-F353-194B87E1ECEE}"/>
              </a:ext>
            </a:extLst>
          </p:cNvPr>
          <p:cNvSpPr/>
          <p:nvPr/>
        </p:nvSpPr>
        <p:spPr>
          <a:xfrm>
            <a:off x="112607" y="3432140"/>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3" name="Rectangle 2">
            <a:extLst>
              <a:ext uri="{FF2B5EF4-FFF2-40B4-BE49-F238E27FC236}">
                <a16:creationId xmlns:a16="http://schemas.microsoft.com/office/drawing/2014/main" id="{23566326-E16C-5925-0A38-ED29CD9CFDD3}"/>
              </a:ext>
            </a:extLst>
          </p:cNvPr>
          <p:cNvSpPr/>
          <p:nvPr/>
        </p:nvSpPr>
        <p:spPr>
          <a:xfrm>
            <a:off x="108597" y="6915579"/>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two significant figures.</a:t>
            </a:r>
            <a:endParaRPr lang="en-GB" sz="1200">
              <a:solidFill>
                <a:schemeClr val="bg1"/>
              </a:solidFill>
            </a:endParaRPr>
          </a:p>
        </p:txBody>
      </p:sp>
    </p:spTree>
    <p:extLst>
      <p:ext uri="{BB962C8B-B14F-4D97-AF65-F5344CB8AC3E}">
        <p14:creationId xmlns:p14="http://schemas.microsoft.com/office/powerpoint/2010/main" val="1441230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34616" y="138047"/>
            <a:ext cx="3089564" cy="276999"/>
          </a:xfrm>
          <a:prstGeom prst="rect">
            <a:avLst/>
          </a:prstGeom>
          <a:noFill/>
        </p:spPr>
        <p:txBody>
          <a:bodyPr wrap="none" rtlCol="0">
            <a:spAutoFit/>
          </a:bodyPr>
          <a:lstStyle/>
          <a:p>
            <a:r>
              <a:rPr lang="en-US" sz="1200"/>
              <a:t>5. Round each number to 2 significant figures. </a:t>
            </a:r>
            <a:endParaRPr lang="en-GB" sz="1200"/>
          </a:p>
        </p:txBody>
      </p:sp>
      <p:sp>
        <p:nvSpPr>
          <p:cNvPr id="5" name="TextBox 4"/>
          <p:cNvSpPr txBox="1"/>
          <p:nvPr/>
        </p:nvSpPr>
        <p:spPr>
          <a:xfrm>
            <a:off x="356320" y="618438"/>
            <a:ext cx="575799" cy="276999"/>
          </a:xfrm>
          <a:prstGeom prst="rect">
            <a:avLst/>
          </a:prstGeom>
          <a:noFill/>
        </p:spPr>
        <p:txBody>
          <a:bodyPr wrap="none" rtlCol="0">
            <a:spAutoFit/>
          </a:bodyPr>
          <a:lstStyle/>
          <a:p>
            <a:r>
              <a:rPr lang="en-US" sz="1200"/>
              <a:t>a) 314</a:t>
            </a:r>
            <a:endParaRPr lang="en-GB" sz="1200"/>
          </a:p>
        </p:txBody>
      </p:sp>
      <p:sp>
        <p:nvSpPr>
          <p:cNvPr id="6" name="TextBox 5"/>
          <p:cNvSpPr txBox="1"/>
          <p:nvPr/>
        </p:nvSpPr>
        <p:spPr>
          <a:xfrm>
            <a:off x="1408577" y="609735"/>
            <a:ext cx="582211" cy="276999"/>
          </a:xfrm>
          <a:prstGeom prst="rect">
            <a:avLst/>
          </a:prstGeom>
          <a:noFill/>
        </p:spPr>
        <p:txBody>
          <a:bodyPr wrap="none" rtlCol="0">
            <a:spAutoFit/>
          </a:bodyPr>
          <a:lstStyle/>
          <a:p>
            <a:r>
              <a:rPr lang="en-US" sz="1200"/>
              <a:t>b) 351</a:t>
            </a:r>
            <a:endParaRPr lang="en-GB" sz="1200"/>
          </a:p>
        </p:txBody>
      </p:sp>
      <p:sp>
        <p:nvSpPr>
          <p:cNvPr id="7" name="TextBox 6"/>
          <p:cNvSpPr txBox="1"/>
          <p:nvPr/>
        </p:nvSpPr>
        <p:spPr>
          <a:xfrm>
            <a:off x="2485236" y="609736"/>
            <a:ext cx="567784" cy="276999"/>
          </a:xfrm>
          <a:prstGeom prst="rect">
            <a:avLst/>
          </a:prstGeom>
          <a:noFill/>
        </p:spPr>
        <p:txBody>
          <a:bodyPr wrap="none" rtlCol="0">
            <a:spAutoFit/>
          </a:bodyPr>
          <a:lstStyle/>
          <a:p>
            <a:r>
              <a:rPr lang="en-US" sz="1200"/>
              <a:t>c) 392</a:t>
            </a:r>
            <a:endParaRPr lang="en-GB" sz="1200"/>
          </a:p>
        </p:txBody>
      </p:sp>
      <p:sp>
        <p:nvSpPr>
          <p:cNvPr id="8" name="TextBox 7"/>
          <p:cNvSpPr txBox="1"/>
          <p:nvPr/>
        </p:nvSpPr>
        <p:spPr>
          <a:xfrm>
            <a:off x="3492282" y="632828"/>
            <a:ext cx="582211" cy="276999"/>
          </a:xfrm>
          <a:prstGeom prst="rect">
            <a:avLst/>
          </a:prstGeom>
          <a:noFill/>
        </p:spPr>
        <p:txBody>
          <a:bodyPr wrap="none" rtlCol="0">
            <a:spAutoFit/>
          </a:bodyPr>
          <a:lstStyle/>
          <a:p>
            <a:r>
              <a:rPr lang="en-US" sz="1200"/>
              <a:t>d) 395</a:t>
            </a:r>
            <a:endParaRPr lang="en-GB" sz="1200"/>
          </a:p>
        </p:txBody>
      </p:sp>
      <p:sp>
        <p:nvSpPr>
          <p:cNvPr id="9" name="TextBox 8"/>
          <p:cNvSpPr txBox="1"/>
          <p:nvPr/>
        </p:nvSpPr>
        <p:spPr>
          <a:xfrm>
            <a:off x="4596045" y="629348"/>
            <a:ext cx="579005" cy="276999"/>
          </a:xfrm>
          <a:prstGeom prst="rect">
            <a:avLst/>
          </a:prstGeom>
          <a:noFill/>
        </p:spPr>
        <p:txBody>
          <a:bodyPr wrap="none" rtlCol="0">
            <a:spAutoFit/>
          </a:bodyPr>
          <a:lstStyle/>
          <a:p>
            <a:r>
              <a:rPr lang="en-US" sz="1200"/>
              <a:t>e) 405</a:t>
            </a:r>
            <a:endParaRPr lang="en-GB" sz="1200"/>
          </a:p>
        </p:txBody>
      </p:sp>
      <p:sp>
        <p:nvSpPr>
          <p:cNvPr id="10" name="Rectangle 9">
            <a:extLst>
              <a:ext uri="{FF2B5EF4-FFF2-40B4-BE49-F238E27FC236}">
                <a16:creationId xmlns:a16="http://schemas.microsoft.com/office/drawing/2014/main" id="{CEEF23AD-EA17-135A-DB95-1D1FECB286F3}"/>
              </a:ext>
            </a:extLst>
          </p:cNvPr>
          <p:cNvSpPr/>
          <p:nvPr/>
        </p:nvSpPr>
        <p:spPr>
          <a:xfrm>
            <a:off x="388078"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1432033"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Rectangle 11">
            <a:extLst>
              <a:ext uri="{FF2B5EF4-FFF2-40B4-BE49-F238E27FC236}">
                <a16:creationId xmlns:a16="http://schemas.microsoft.com/office/drawing/2014/main" id="{CEEF23AD-EA17-135A-DB95-1D1FECB286F3}"/>
              </a:ext>
            </a:extLst>
          </p:cNvPr>
          <p:cNvSpPr/>
          <p:nvPr/>
        </p:nvSpPr>
        <p:spPr>
          <a:xfrm>
            <a:off x="2487917"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3562115"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4613779"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5" name="TextBox 14"/>
          <p:cNvSpPr txBox="1"/>
          <p:nvPr/>
        </p:nvSpPr>
        <p:spPr>
          <a:xfrm>
            <a:off x="5691058" y="654995"/>
            <a:ext cx="550792" cy="276999"/>
          </a:xfrm>
          <a:prstGeom prst="rect">
            <a:avLst/>
          </a:prstGeom>
          <a:noFill/>
        </p:spPr>
        <p:txBody>
          <a:bodyPr wrap="none" rtlCol="0">
            <a:spAutoFit/>
          </a:bodyPr>
          <a:lstStyle/>
          <a:p>
            <a:r>
              <a:rPr lang="en-US" sz="1200"/>
              <a:t>f) 455</a:t>
            </a:r>
            <a:endParaRPr lang="en-GB" sz="1200"/>
          </a:p>
        </p:txBody>
      </p:sp>
      <p:sp>
        <p:nvSpPr>
          <p:cNvPr id="16" name="Rectangle 15">
            <a:extLst>
              <a:ext uri="{FF2B5EF4-FFF2-40B4-BE49-F238E27FC236}">
                <a16:creationId xmlns:a16="http://schemas.microsoft.com/office/drawing/2014/main" id="{CEEF23AD-EA17-135A-DB95-1D1FECB286F3}"/>
              </a:ext>
            </a:extLst>
          </p:cNvPr>
          <p:cNvSpPr/>
          <p:nvPr/>
        </p:nvSpPr>
        <p:spPr>
          <a:xfrm>
            <a:off x="5662881" y="11911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p:cNvSpPr txBox="1"/>
          <p:nvPr/>
        </p:nvSpPr>
        <p:spPr>
          <a:xfrm>
            <a:off x="388078" y="1652761"/>
            <a:ext cx="652743" cy="276999"/>
          </a:xfrm>
          <a:prstGeom prst="rect">
            <a:avLst/>
          </a:prstGeom>
          <a:noFill/>
        </p:spPr>
        <p:txBody>
          <a:bodyPr wrap="none" rtlCol="0">
            <a:spAutoFit/>
          </a:bodyPr>
          <a:lstStyle/>
          <a:p>
            <a:r>
              <a:rPr lang="en-US" sz="1200"/>
              <a:t>g) 1200</a:t>
            </a:r>
            <a:endParaRPr lang="en-GB" sz="1200"/>
          </a:p>
        </p:txBody>
      </p:sp>
      <p:sp>
        <p:nvSpPr>
          <p:cNvPr id="18" name="TextBox 17"/>
          <p:cNvSpPr txBox="1"/>
          <p:nvPr/>
        </p:nvSpPr>
        <p:spPr>
          <a:xfrm>
            <a:off x="1440335" y="1644058"/>
            <a:ext cx="660758" cy="276999"/>
          </a:xfrm>
          <a:prstGeom prst="rect">
            <a:avLst/>
          </a:prstGeom>
          <a:noFill/>
        </p:spPr>
        <p:txBody>
          <a:bodyPr wrap="none" rtlCol="0">
            <a:spAutoFit/>
          </a:bodyPr>
          <a:lstStyle/>
          <a:p>
            <a:r>
              <a:rPr lang="en-US" sz="1200"/>
              <a:t>h) 1250</a:t>
            </a:r>
            <a:endParaRPr lang="en-GB" sz="1200"/>
          </a:p>
        </p:txBody>
      </p:sp>
      <p:sp>
        <p:nvSpPr>
          <p:cNvPr id="19" name="TextBox 18"/>
          <p:cNvSpPr txBox="1"/>
          <p:nvPr/>
        </p:nvSpPr>
        <p:spPr>
          <a:xfrm>
            <a:off x="2516994" y="1644059"/>
            <a:ext cx="615874" cy="276999"/>
          </a:xfrm>
          <a:prstGeom prst="rect">
            <a:avLst/>
          </a:prstGeom>
          <a:noFill/>
        </p:spPr>
        <p:txBody>
          <a:bodyPr wrap="none" rtlCol="0">
            <a:spAutoFit/>
          </a:bodyPr>
          <a:lstStyle/>
          <a:p>
            <a:r>
              <a:rPr lang="en-US" sz="1200"/>
              <a:t>i) 1255</a:t>
            </a:r>
            <a:endParaRPr lang="en-GB" sz="1200"/>
          </a:p>
        </p:txBody>
      </p:sp>
      <p:sp>
        <p:nvSpPr>
          <p:cNvPr id="20" name="TextBox 19"/>
          <p:cNvSpPr txBox="1"/>
          <p:nvPr/>
        </p:nvSpPr>
        <p:spPr>
          <a:xfrm>
            <a:off x="3524040" y="1667151"/>
            <a:ext cx="617477" cy="276999"/>
          </a:xfrm>
          <a:prstGeom prst="rect">
            <a:avLst/>
          </a:prstGeom>
          <a:noFill/>
        </p:spPr>
        <p:txBody>
          <a:bodyPr wrap="none" rtlCol="0">
            <a:spAutoFit/>
          </a:bodyPr>
          <a:lstStyle/>
          <a:p>
            <a:r>
              <a:rPr lang="en-US" sz="1200"/>
              <a:t>j) 2359</a:t>
            </a:r>
            <a:endParaRPr lang="en-GB" sz="1200"/>
          </a:p>
        </p:txBody>
      </p:sp>
      <p:sp>
        <p:nvSpPr>
          <p:cNvPr id="21" name="TextBox 20"/>
          <p:cNvSpPr txBox="1"/>
          <p:nvPr/>
        </p:nvSpPr>
        <p:spPr>
          <a:xfrm>
            <a:off x="4627803" y="1663671"/>
            <a:ext cx="651140" cy="276999"/>
          </a:xfrm>
          <a:prstGeom prst="rect">
            <a:avLst/>
          </a:prstGeom>
          <a:noFill/>
        </p:spPr>
        <p:txBody>
          <a:bodyPr wrap="none" rtlCol="0">
            <a:spAutoFit/>
          </a:bodyPr>
          <a:lstStyle/>
          <a:p>
            <a:r>
              <a:rPr lang="en-US" sz="1200"/>
              <a:t>k) 4395</a:t>
            </a:r>
            <a:endParaRPr lang="en-GB" sz="1200"/>
          </a:p>
        </p:txBody>
      </p:sp>
      <p:sp>
        <p:nvSpPr>
          <p:cNvPr id="22" name="Rectangle 21">
            <a:extLst>
              <a:ext uri="{FF2B5EF4-FFF2-40B4-BE49-F238E27FC236}">
                <a16:creationId xmlns:a16="http://schemas.microsoft.com/office/drawing/2014/main" id="{CEEF23AD-EA17-135A-DB95-1D1FECB286F3}"/>
              </a:ext>
            </a:extLst>
          </p:cNvPr>
          <p:cNvSpPr/>
          <p:nvPr/>
        </p:nvSpPr>
        <p:spPr>
          <a:xfrm>
            <a:off x="388078"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1432033"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Rectangle 23">
            <a:extLst>
              <a:ext uri="{FF2B5EF4-FFF2-40B4-BE49-F238E27FC236}">
                <a16:creationId xmlns:a16="http://schemas.microsoft.com/office/drawing/2014/main" id="{CEEF23AD-EA17-135A-DB95-1D1FECB286F3}"/>
              </a:ext>
            </a:extLst>
          </p:cNvPr>
          <p:cNvSpPr/>
          <p:nvPr/>
        </p:nvSpPr>
        <p:spPr>
          <a:xfrm>
            <a:off x="2487917"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Rectangle 24">
            <a:extLst>
              <a:ext uri="{FF2B5EF4-FFF2-40B4-BE49-F238E27FC236}">
                <a16:creationId xmlns:a16="http://schemas.microsoft.com/office/drawing/2014/main" id="{CEEF23AD-EA17-135A-DB95-1D1FECB286F3}"/>
              </a:ext>
            </a:extLst>
          </p:cNvPr>
          <p:cNvSpPr/>
          <p:nvPr/>
        </p:nvSpPr>
        <p:spPr>
          <a:xfrm>
            <a:off x="3562115"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6" name="Rectangle 25">
            <a:extLst>
              <a:ext uri="{FF2B5EF4-FFF2-40B4-BE49-F238E27FC236}">
                <a16:creationId xmlns:a16="http://schemas.microsoft.com/office/drawing/2014/main" id="{CEEF23AD-EA17-135A-DB95-1D1FECB286F3}"/>
              </a:ext>
            </a:extLst>
          </p:cNvPr>
          <p:cNvSpPr/>
          <p:nvPr/>
        </p:nvSpPr>
        <p:spPr>
          <a:xfrm>
            <a:off x="4613779"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7" name="TextBox 26"/>
          <p:cNvSpPr txBox="1"/>
          <p:nvPr/>
        </p:nvSpPr>
        <p:spPr>
          <a:xfrm>
            <a:off x="5722816" y="1689318"/>
            <a:ext cx="615874" cy="276999"/>
          </a:xfrm>
          <a:prstGeom prst="rect">
            <a:avLst/>
          </a:prstGeom>
          <a:noFill/>
        </p:spPr>
        <p:txBody>
          <a:bodyPr wrap="none" rtlCol="0">
            <a:spAutoFit/>
          </a:bodyPr>
          <a:lstStyle/>
          <a:p>
            <a:r>
              <a:rPr lang="en-US" sz="1200"/>
              <a:t>l) 5095</a:t>
            </a:r>
            <a:endParaRPr lang="en-GB" sz="1200"/>
          </a:p>
        </p:txBody>
      </p:sp>
      <p:sp>
        <p:nvSpPr>
          <p:cNvPr id="28" name="Rectangle 27">
            <a:extLst>
              <a:ext uri="{FF2B5EF4-FFF2-40B4-BE49-F238E27FC236}">
                <a16:creationId xmlns:a16="http://schemas.microsoft.com/office/drawing/2014/main" id="{CEEF23AD-EA17-135A-DB95-1D1FECB286F3}"/>
              </a:ext>
            </a:extLst>
          </p:cNvPr>
          <p:cNvSpPr/>
          <p:nvPr/>
        </p:nvSpPr>
        <p:spPr>
          <a:xfrm>
            <a:off x="5662881" y="2188530"/>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369572" y="2654213"/>
            <a:ext cx="704039" cy="276999"/>
          </a:xfrm>
          <a:prstGeom prst="rect">
            <a:avLst/>
          </a:prstGeom>
          <a:noFill/>
        </p:spPr>
        <p:txBody>
          <a:bodyPr wrap="none" rtlCol="0">
            <a:spAutoFit/>
          </a:bodyPr>
          <a:lstStyle/>
          <a:p>
            <a:r>
              <a:rPr lang="en-US" sz="1200"/>
              <a:t>m) 7059</a:t>
            </a:r>
            <a:endParaRPr lang="en-GB" sz="1200"/>
          </a:p>
        </p:txBody>
      </p:sp>
      <p:sp>
        <p:nvSpPr>
          <p:cNvPr id="30" name="TextBox 29"/>
          <p:cNvSpPr txBox="1"/>
          <p:nvPr/>
        </p:nvSpPr>
        <p:spPr>
          <a:xfrm>
            <a:off x="1415541" y="2661559"/>
            <a:ext cx="660758" cy="276999"/>
          </a:xfrm>
          <a:prstGeom prst="rect">
            <a:avLst/>
          </a:prstGeom>
          <a:noFill/>
        </p:spPr>
        <p:txBody>
          <a:bodyPr wrap="none" rtlCol="0">
            <a:spAutoFit/>
          </a:bodyPr>
          <a:lstStyle/>
          <a:p>
            <a:r>
              <a:rPr lang="en-US" sz="1200"/>
              <a:t>n) 8679</a:t>
            </a:r>
            <a:endParaRPr lang="en-GB" sz="1200"/>
          </a:p>
        </p:txBody>
      </p:sp>
      <p:sp>
        <p:nvSpPr>
          <p:cNvPr id="31" name="TextBox 30"/>
          <p:cNvSpPr txBox="1"/>
          <p:nvPr/>
        </p:nvSpPr>
        <p:spPr>
          <a:xfrm>
            <a:off x="2457135" y="2674842"/>
            <a:ext cx="740908" cy="276999"/>
          </a:xfrm>
          <a:prstGeom prst="rect">
            <a:avLst/>
          </a:prstGeom>
          <a:noFill/>
        </p:spPr>
        <p:txBody>
          <a:bodyPr wrap="none" rtlCol="0">
            <a:spAutoFit/>
          </a:bodyPr>
          <a:lstStyle/>
          <a:p>
            <a:r>
              <a:rPr lang="en-US" sz="1200"/>
              <a:t>o) 12500</a:t>
            </a:r>
            <a:endParaRPr lang="en-GB" sz="1200"/>
          </a:p>
        </p:txBody>
      </p:sp>
      <p:sp>
        <p:nvSpPr>
          <p:cNvPr id="32" name="TextBox 31"/>
          <p:cNvSpPr txBox="1"/>
          <p:nvPr/>
        </p:nvSpPr>
        <p:spPr>
          <a:xfrm>
            <a:off x="3505534" y="2668603"/>
            <a:ext cx="739305" cy="276999"/>
          </a:xfrm>
          <a:prstGeom prst="rect">
            <a:avLst/>
          </a:prstGeom>
          <a:noFill/>
        </p:spPr>
        <p:txBody>
          <a:bodyPr wrap="none" rtlCol="0">
            <a:spAutoFit/>
          </a:bodyPr>
          <a:lstStyle/>
          <a:p>
            <a:r>
              <a:rPr lang="en-US" sz="1200"/>
              <a:t>p) 13550</a:t>
            </a:r>
            <a:endParaRPr lang="en-GB" sz="1200"/>
          </a:p>
        </p:txBody>
      </p:sp>
      <p:sp>
        <p:nvSpPr>
          <p:cNvPr id="33" name="TextBox 32"/>
          <p:cNvSpPr txBox="1"/>
          <p:nvPr/>
        </p:nvSpPr>
        <p:spPr>
          <a:xfrm>
            <a:off x="4592839" y="2654213"/>
            <a:ext cx="739305" cy="276999"/>
          </a:xfrm>
          <a:prstGeom prst="rect">
            <a:avLst/>
          </a:prstGeom>
          <a:noFill/>
        </p:spPr>
        <p:txBody>
          <a:bodyPr wrap="none" rtlCol="0">
            <a:spAutoFit/>
          </a:bodyPr>
          <a:lstStyle/>
          <a:p>
            <a:r>
              <a:rPr lang="en-US" sz="1200"/>
              <a:t>q) 14609</a:t>
            </a:r>
            <a:endParaRPr lang="en-GB" sz="1200"/>
          </a:p>
        </p:txBody>
      </p:sp>
      <p:sp>
        <p:nvSpPr>
          <p:cNvPr id="34" name="Rectangle 33">
            <a:extLst>
              <a:ext uri="{FF2B5EF4-FFF2-40B4-BE49-F238E27FC236}">
                <a16:creationId xmlns:a16="http://schemas.microsoft.com/office/drawing/2014/main" id="{CEEF23AD-EA17-135A-DB95-1D1FECB286F3}"/>
              </a:ext>
            </a:extLst>
          </p:cNvPr>
          <p:cNvSpPr/>
          <p:nvPr/>
        </p:nvSpPr>
        <p:spPr>
          <a:xfrm>
            <a:off x="401330"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1445285"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2501169"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3575367"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CEEF23AD-EA17-135A-DB95-1D1FECB286F3}"/>
              </a:ext>
            </a:extLst>
          </p:cNvPr>
          <p:cNvSpPr/>
          <p:nvPr/>
        </p:nvSpPr>
        <p:spPr>
          <a:xfrm>
            <a:off x="4627031"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TextBox 38"/>
          <p:cNvSpPr txBox="1"/>
          <p:nvPr/>
        </p:nvSpPr>
        <p:spPr>
          <a:xfrm>
            <a:off x="5639634" y="2649224"/>
            <a:ext cx="790601" cy="276999"/>
          </a:xfrm>
          <a:prstGeom prst="rect">
            <a:avLst/>
          </a:prstGeom>
          <a:noFill/>
        </p:spPr>
        <p:txBody>
          <a:bodyPr wrap="none" rtlCol="0">
            <a:spAutoFit/>
          </a:bodyPr>
          <a:lstStyle/>
          <a:p>
            <a:r>
              <a:rPr lang="en-US" sz="1200"/>
              <a:t>r) 156500</a:t>
            </a:r>
            <a:endParaRPr lang="en-GB" sz="1200"/>
          </a:p>
        </p:txBody>
      </p:sp>
      <p:sp>
        <p:nvSpPr>
          <p:cNvPr id="40" name="Rectangle 39">
            <a:extLst>
              <a:ext uri="{FF2B5EF4-FFF2-40B4-BE49-F238E27FC236}">
                <a16:creationId xmlns:a16="http://schemas.microsoft.com/office/drawing/2014/main" id="{CEEF23AD-EA17-135A-DB95-1D1FECB286F3}"/>
              </a:ext>
            </a:extLst>
          </p:cNvPr>
          <p:cNvSpPr/>
          <p:nvPr/>
        </p:nvSpPr>
        <p:spPr>
          <a:xfrm>
            <a:off x="5676133" y="322116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41" name="Straight Connector 40">
            <a:extLst>
              <a:ext uri="{FF2B5EF4-FFF2-40B4-BE49-F238E27FC236}">
                <a16:creationId xmlns:a16="http://schemas.microsoft.com/office/drawing/2014/main" id="{B4A988A4-03CD-D549-9F12-81AFECBDEF37}"/>
              </a:ext>
            </a:extLst>
          </p:cNvPr>
          <p:cNvCxnSpPr>
            <a:cxnSpLocks/>
          </p:cNvCxnSpPr>
          <p:nvPr/>
        </p:nvCxnSpPr>
        <p:spPr>
          <a:xfrm>
            <a:off x="948497" y="5477518"/>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2" name="Table 41"/>
          <p:cNvGraphicFramePr>
            <a:graphicFrameLocks noGrp="1"/>
          </p:cNvGraphicFramePr>
          <p:nvPr/>
        </p:nvGraphicFramePr>
        <p:xfrm>
          <a:off x="150238" y="4033145"/>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2</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a:t>3) If the </a:t>
                      </a:r>
                      <a:r>
                        <a:rPr lang="en-US" sz="1100" baseline="0"/>
                        <a:t>3</a:t>
                      </a:r>
                      <a:r>
                        <a:rPr lang="en-US" sz="1100" baseline="30000"/>
                        <a:t>rd</a:t>
                      </a:r>
                      <a:r>
                        <a:rPr lang="en-US" sz="1100" baseline="0"/>
                        <a:t> significant figure is </a:t>
                      </a:r>
                      <a:r>
                        <a:rPr lang="en-US" sz="1100" b="1" baseline="0"/>
                        <a:t>4 or below</a:t>
                      </a:r>
                      <a:r>
                        <a:rPr lang="en-US" sz="1100" baseline="0"/>
                        <a:t>, the 2</a:t>
                      </a:r>
                      <a:r>
                        <a:rPr lang="en-US" sz="1100" baseline="30000"/>
                        <a:t>nd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43" name="TextBox 42">
            <a:extLst>
              <a:ext uri="{FF2B5EF4-FFF2-40B4-BE49-F238E27FC236}">
                <a16:creationId xmlns:a16="http://schemas.microsoft.com/office/drawing/2014/main" id="{BCDC1A2B-2D26-C945-B722-18950FA49879}"/>
              </a:ext>
            </a:extLst>
          </p:cNvPr>
          <p:cNvSpPr txBox="1"/>
          <p:nvPr/>
        </p:nvSpPr>
        <p:spPr>
          <a:xfrm>
            <a:off x="1931857" y="3775861"/>
            <a:ext cx="1410704" cy="276999"/>
          </a:xfrm>
          <a:prstGeom prst="rect">
            <a:avLst/>
          </a:prstGeom>
          <a:noFill/>
          <a:ln>
            <a:noFill/>
          </a:ln>
        </p:spPr>
        <p:txBody>
          <a:bodyPr wrap="square" rtlCol="0">
            <a:spAutoFit/>
          </a:bodyPr>
          <a:lstStyle/>
          <a:p>
            <a:r>
              <a:rPr lang="en-GB" sz="1200" b="1" i="1">
                <a:solidFill>
                  <a:srgbClr val="FF0000"/>
                </a:solidFill>
              </a:rPr>
              <a:t>Example 16 - I do…</a:t>
            </a:r>
          </a:p>
        </p:txBody>
      </p:sp>
      <p:sp>
        <p:nvSpPr>
          <p:cNvPr id="44" name="TextBox 43">
            <a:extLst>
              <a:ext uri="{FF2B5EF4-FFF2-40B4-BE49-F238E27FC236}">
                <a16:creationId xmlns:a16="http://schemas.microsoft.com/office/drawing/2014/main" id="{4AF4150A-9218-D640-8777-2ECCBC4D10FB}"/>
              </a:ext>
            </a:extLst>
          </p:cNvPr>
          <p:cNvSpPr txBox="1"/>
          <p:nvPr/>
        </p:nvSpPr>
        <p:spPr>
          <a:xfrm>
            <a:off x="5065754" y="3753753"/>
            <a:ext cx="1643405" cy="276999"/>
          </a:xfrm>
          <a:prstGeom prst="rect">
            <a:avLst/>
          </a:prstGeom>
          <a:noFill/>
          <a:ln>
            <a:noFill/>
          </a:ln>
        </p:spPr>
        <p:txBody>
          <a:bodyPr wrap="square" rtlCol="0">
            <a:spAutoFit/>
          </a:bodyPr>
          <a:lstStyle/>
          <a:p>
            <a:r>
              <a:rPr lang="en-GB" sz="1200" b="1" i="1">
                <a:solidFill>
                  <a:srgbClr val="00B050"/>
                </a:solidFill>
              </a:rPr>
              <a:t>Example 18 – You do…</a:t>
            </a:r>
          </a:p>
        </p:txBody>
      </p:sp>
      <p:sp>
        <p:nvSpPr>
          <p:cNvPr id="45" name="TextBox 44">
            <a:extLst>
              <a:ext uri="{FF2B5EF4-FFF2-40B4-BE49-F238E27FC236}">
                <a16:creationId xmlns:a16="http://schemas.microsoft.com/office/drawing/2014/main" id="{BCDC1A2B-2D26-C945-B722-18950FA49879}"/>
              </a:ext>
            </a:extLst>
          </p:cNvPr>
          <p:cNvSpPr txBox="1"/>
          <p:nvPr/>
        </p:nvSpPr>
        <p:spPr>
          <a:xfrm>
            <a:off x="3456575" y="3765854"/>
            <a:ext cx="1667605" cy="276999"/>
          </a:xfrm>
          <a:prstGeom prst="rect">
            <a:avLst/>
          </a:prstGeom>
          <a:noFill/>
          <a:ln>
            <a:noFill/>
          </a:ln>
        </p:spPr>
        <p:txBody>
          <a:bodyPr wrap="square" rtlCol="0">
            <a:spAutoFit/>
          </a:bodyPr>
          <a:lstStyle/>
          <a:p>
            <a:r>
              <a:rPr lang="en-GB" sz="1200" b="1" i="1">
                <a:solidFill>
                  <a:schemeClr val="accent2"/>
                </a:solidFill>
              </a:rPr>
              <a:t>Example 17 - We do…</a:t>
            </a:r>
          </a:p>
        </p:txBody>
      </p:sp>
      <p:sp>
        <p:nvSpPr>
          <p:cNvPr id="46" name="TextBox 45"/>
          <p:cNvSpPr txBox="1"/>
          <p:nvPr/>
        </p:nvSpPr>
        <p:spPr>
          <a:xfrm>
            <a:off x="1906323" y="4320152"/>
            <a:ext cx="1419715" cy="1384995"/>
          </a:xfrm>
          <a:prstGeom prst="rect">
            <a:avLst/>
          </a:prstGeom>
          <a:noFill/>
        </p:spPr>
        <p:txBody>
          <a:bodyPr wrap="square" rtlCol="0">
            <a:spAutoFit/>
          </a:bodyPr>
          <a:lstStyle/>
          <a:p>
            <a:pPr algn="ctr"/>
            <a:r>
              <a:rPr lang="en-US" sz="1200"/>
              <a:t>Round 1.25 to two significant figures</a:t>
            </a:r>
          </a:p>
          <a:p>
            <a:pPr algn="ctr"/>
            <a:endParaRPr lang="en-US" sz="1200"/>
          </a:p>
          <a:p>
            <a:pPr algn="ctr"/>
            <a:r>
              <a:rPr lang="en-US" sz="1200"/>
              <a:t>1  . 2  |  </a:t>
            </a:r>
            <a:r>
              <a:rPr lang="en-US" sz="1200" u="sng"/>
              <a:t>5</a:t>
            </a:r>
          </a:p>
          <a:p>
            <a:pPr algn="ctr"/>
            <a:endParaRPr lang="en-US" sz="1200"/>
          </a:p>
          <a:p>
            <a:pPr algn="ctr"/>
            <a:endParaRPr lang="en-US" sz="1200"/>
          </a:p>
          <a:p>
            <a:pPr algn="ctr"/>
            <a:endParaRPr lang="en-US" sz="1200" u="sng"/>
          </a:p>
        </p:txBody>
      </p:sp>
      <p:sp>
        <p:nvSpPr>
          <p:cNvPr id="47" name="Rectangle 46">
            <a:extLst>
              <a:ext uri="{FF2B5EF4-FFF2-40B4-BE49-F238E27FC236}">
                <a16:creationId xmlns:a16="http://schemas.microsoft.com/office/drawing/2014/main" id="{CEEF23AD-EA17-135A-DB95-1D1FECB286F3}"/>
              </a:ext>
            </a:extLst>
          </p:cNvPr>
          <p:cNvSpPr/>
          <p:nvPr/>
        </p:nvSpPr>
        <p:spPr>
          <a:xfrm>
            <a:off x="1891556" y="51494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Rectangle 47">
            <a:extLst>
              <a:ext uri="{FF2B5EF4-FFF2-40B4-BE49-F238E27FC236}">
                <a16:creationId xmlns:a16="http://schemas.microsoft.com/office/drawing/2014/main" id="{CEEF23AD-EA17-135A-DB95-1D1FECB286F3}"/>
              </a:ext>
            </a:extLst>
          </p:cNvPr>
          <p:cNvSpPr/>
          <p:nvPr/>
        </p:nvSpPr>
        <p:spPr>
          <a:xfrm>
            <a:off x="1891556" y="650347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Rectangle 48">
            <a:extLst>
              <a:ext uri="{FF2B5EF4-FFF2-40B4-BE49-F238E27FC236}">
                <a16:creationId xmlns:a16="http://schemas.microsoft.com/office/drawing/2014/main" id="{CEEF23AD-EA17-135A-DB95-1D1FECB286F3}"/>
              </a:ext>
            </a:extLst>
          </p:cNvPr>
          <p:cNvSpPr/>
          <p:nvPr/>
        </p:nvSpPr>
        <p:spPr>
          <a:xfrm>
            <a:off x="3516031" y="51447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CEEF23AD-EA17-135A-DB95-1D1FECB286F3}"/>
              </a:ext>
            </a:extLst>
          </p:cNvPr>
          <p:cNvSpPr/>
          <p:nvPr/>
        </p:nvSpPr>
        <p:spPr>
          <a:xfrm>
            <a:off x="3516031" y="64987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CEEF23AD-EA17-135A-DB95-1D1FECB286F3}"/>
              </a:ext>
            </a:extLst>
          </p:cNvPr>
          <p:cNvSpPr/>
          <p:nvPr/>
        </p:nvSpPr>
        <p:spPr>
          <a:xfrm>
            <a:off x="5158947" y="514472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CEEF23AD-EA17-135A-DB95-1D1FECB286F3}"/>
              </a:ext>
            </a:extLst>
          </p:cNvPr>
          <p:cNvSpPr/>
          <p:nvPr/>
        </p:nvSpPr>
        <p:spPr>
          <a:xfrm>
            <a:off x="5158947" y="6498793"/>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TextBox 52"/>
          <p:cNvSpPr txBox="1"/>
          <p:nvPr/>
        </p:nvSpPr>
        <p:spPr>
          <a:xfrm>
            <a:off x="1829251" y="5519190"/>
            <a:ext cx="1579701" cy="1384995"/>
          </a:xfrm>
          <a:prstGeom prst="rect">
            <a:avLst/>
          </a:prstGeom>
          <a:noFill/>
        </p:spPr>
        <p:txBody>
          <a:bodyPr wrap="square" rtlCol="0">
            <a:spAutoFit/>
          </a:bodyPr>
          <a:lstStyle/>
          <a:p>
            <a:pPr algn="ctr"/>
            <a:r>
              <a:rPr lang="en-US" sz="1200"/>
              <a:t>Round 17.68 to two significant figures</a:t>
            </a:r>
          </a:p>
          <a:p>
            <a:pPr algn="ctr"/>
            <a:endParaRPr lang="en-US" sz="1200"/>
          </a:p>
          <a:p>
            <a:pPr algn="ctr"/>
            <a:r>
              <a:rPr lang="en-US" sz="1200"/>
              <a:t>1   7  |  6   8</a:t>
            </a:r>
            <a:endParaRPr lang="en-US" sz="1200" u="sng"/>
          </a:p>
          <a:p>
            <a:pPr algn="ctr"/>
            <a:endParaRPr lang="en-US" sz="1200"/>
          </a:p>
          <a:p>
            <a:pPr algn="ctr"/>
            <a:endParaRPr lang="en-US" sz="1200"/>
          </a:p>
          <a:p>
            <a:pPr algn="ctr"/>
            <a:endParaRPr lang="en-US" sz="1200" u="sng"/>
          </a:p>
        </p:txBody>
      </p:sp>
      <p:sp>
        <p:nvSpPr>
          <p:cNvPr id="54" name="TextBox 53"/>
          <p:cNvSpPr txBox="1"/>
          <p:nvPr/>
        </p:nvSpPr>
        <p:spPr>
          <a:xfrm>
            <a:off x="3517544" y="4359956"/>
            <a:ext cx="1419715" cy="830997"/>
          </a:xfrm>
          <a:prstGeom prst="rect">
            <a:avLst/>
          </a:prstGeom>
          <a:noFill/>
        </p:spPr>
        <p:txBody>
          <a:bodyPr wrap="square" rtlCol="0">
            <a:spAutoFit/>
          </a:bodyPr>
          <a:lstStyle/>
          <a:p>
            <a:pPr algn="ctr"/>
            <a:r>
              <a:rPr lang="en-US" sz="1200"/>
              <a:t>Round 3.98 to two significant figures</a:t>
            </a:r>
          </a:p>
          <a:p>
            <a:pPr algn="ctr"/>
            <a:endParaRPr lang="en-US" sz="1200"/>
          </a:p>
          <a:p>
            <a:pPr algn="ctr"/>
            <a:endParaRPr lang="en-US" sz="1200"/>
          </a:p>
        </p:txBody>
      </p:sp>
      <p:sp>
        <p:nvSpPr>
          <p:cNvPr id="55" name="TextBox 54"/>
          <p:cNvSpPr txBox="1"/>
          <p:nvPr/>
        </p:nvSpPr>
        <p:spPr>
          <a:xfrm>
            <a:off x="3496566" y="5519190"/>
            <a:ext cx="1419715" cy="1015663"/>
          </a:xfrm>
          <a:prstGeom prst="rect">
            <a:avLst/>
          </a:prstGeom>
          <a:noFill/>
        </p:spPr>
        <p:txBody>
          <a:bodyPr wrap="square" rtlCol="0">
            <a:spAutoFit/>
          </a:bodyPr>
          <a:lstStyle/>
          <a:p>
            <a:pPr algn="ctr"/>
            <a:r>
              <a:rPr lang="en-US" sz="1200"/>
              <a:t>Round 13.98 to two significant figures</a:t>
            </a:r>
          </a:p>
          <a:p>
            <a:pPr algn="ctr"/>
            <a:endParaRPr lang="en-US" sz="1200"/>
          </a:p>
          <a:p>
            <a:pPr algn="ctr"/>
            <a:endParaRPr lang="en-US" sz="1200"/>
          </a:p>
          <a:p>
            <a:pPr algn="ctr"/>
            <a:endParaRPr lang="en-US" sz="1200" u="sng"/>
          </a:p>
        </p:txBody>
      </p:sp>
      <p:sp>
        <p:nvSpPr>
          <p:cNvPr id="56" name="TextBox 55"/>
          <p:cNvSpPr txBox="1"/>
          <p:nvPr/>
        </p:nvSpPr>
        <p:spPr>
          <a:xfrm>
            <a:off x="5193179" y="4352252"/>
            <a:ext cx="1419715" cy="1015663"/>
          </a:xfrm>
          <a:prstGeom prst="rect">
            <a:avLst/>
          </a:prstGeom>
          <a:noFill/>
        </p:spPr>
        <p:txBody>
          <a:bodyPr wrap="square" rtlCol="0">
            <a:spAutoFit/>
          </a:bodyPr>
          <a:lstStyle/>
          <a:p>
            <a:pPr algn="ctr"/>
            <a:r>
              <a:rPr lang="en-US" sz="1200"/>
              <a:t>Round 7.75 to two significant figures</a:t>
            </a:r>
          </a:p>
          <a:p>
            <a:pPr algn="ctr"/>
            <a:endParaRPr lang="en-US" sz="1200"/>
          </a:p>
          <a:p>
            <a:pPr algn="ctr"/>
            <a:endParaRPr lang="en-US" sz="1200"/>
          </a:p>
          <a:p>
            <a:pPr algn="ctr"/>
            <a:endParaRPr lang="en-US" sz="1200" u="sng"/>
          </a:p>
        </p:txBody>
      </p:sp>
      <p:sp>
        <p:nvSpPr>
          <p:cNvPr id="57" name="TextBox 56"/>
          <p:cNvSpPr txBox="1"/>
          <p:nvPr/>
        </p:nvSpPr>
        <p:spPr>
          <a:xfrm>
            <a:off x="5124180" y="5519189"/>
            <a:ext cx="1505438" cy="1015663"/>
          </a:xfrm>
          <a:prstGeom prst="rect">
            <a:avLst/>
          </a:prstGeom>
          <a:noFill/>
        </p:spPr>
        <p:txBody>
          <a:bodyPr wrap="square" rtlCol="0">
            <a:spAutoFit/>
          </a:bodyPr>
          <a:lstStyle/>
          <a:p>
            <a:pPr algn="ctr"/>
            <a:r>
              <a:rPr lang="en-US" sz="1200"/>
              <a:t>Round 27.95 to two significant figures</a:t>
            </a:r>
          </a:p>
          <a:p>
            <a:pPr algn="ctr"/>
            <a:endParaRPr lang="en-US" sz="1200"/>
          </a:p>
          <a:p>
            <a:pPr algn="ctr"/>
            <a:endParaRPr lang="en-US" sz="1200"/>
          </a:p>
          <a:p>
            <a:pPr algn="ctr"/>
            <a:endParaRPr lang="en-US" sz="1200" u="sng"/>
          </a:p>
        </p:txBody>
      </p:sp>
      <p:sp>
        <p:nvSpPr>
          <p:cNvPr id="60" name="TextBox 59"/>
          <p:cNvSpPr txBox="1"/>
          <p:nvPr/>
        </p:nvSpPr>
        <p:spPr>
          <a:xfrm>
            <a:off x="2224522" y="7042983"/>
            <a:ext cx="3081549" cy="276999"/>
          </a:xfrm>
          <a:prstGeom prst="rect">
            <a:avLst/>
          </a:prstGeom>
          <a:noFill/>
        </p:spPr>
        <p:txBody>
          <a:bodyPr wrap="none" rtlCol="0">
            <a:spAutoFit/>
          </a:bodyPr>
          <a:lstStyle/>
          <a:p>
            <a:r>
              <a:rPr lang="en-US" sz="1200"/>
              <a:t>6. Round each number to 2 significant figures. </a:t>
            </a:r>
            <a:endParaRPr lang="en-GB" sz="1200"/>
          </a:p>
        </p:txBody>
      </p:sp>
      <p:sp>
        <p:nvSpPr>
          <p:cNvPr id="61" name="TextBox 60"/>
          <p:cNvSpPr txBox="1"/>
          <p:nvPr/>
        </p:nvSpPr>
        <p:spPr>
          <a:xfrm>
            <a:off x="369572" y="7484235"/>
            <a:ext cx="614271" cy="276999"/>
          </a:xfrm>
          <a:prstGeom prst="rect">
            <a:avLst/>
          </a:prstGeom>
          <a:noFill/>
        </p:spPr>
        <p:txBody>
          <a:bodyPr wrap="none" rtlCol="0">
            <a:spAutoFit/>
          </a:bodyPr>
          <a:lstStyle/>
          <a:p>
            <a:r>
              <a:rPr lang="en-US" sz="1200"/>
              <a:t>a) 1.31</a:t>
            </a:r>
            <a:endParaRPr lang="en-GB" sz="1200"/>
          </a:p>
        </p:txBody>
      </p:sp>
      <p:sp>
        <p:nvSpPr>
          <p:cNvPr id="62" name="TextBox 61"/>
          <p:cNvSpPr txBox="1"/>
          <p:nvPr/>
        </p:nvSpPr>
        <p:spPr>
          <a:xfrm>
            <a:off x="1421829" y="7475532"/>
            <a:ext cx="620683" cy="276999"/>
          </a:xfrm>
          <a:prstGeom prst="rect">
            <a:avLst/>
          </a:prstGeom>
          <a:noFill/>
        </p:spPr>
        <p:txBody>
          <a:bodyPr wrap="none" rtlCol="0">
            <a:spAutoFit/>
          </a:bodyPr>
          <a:lstStyle/>
          <a:p>
            <a:r>
              <a:rPr lang="en-US" sz="1200"/>
              <a:t>b) 1.35</a:t>
            </a:r>
            <a:endParaRPr lang="en-GB" sz="1200"/>
          </a:p>
        </p:txBody>
      </p:sp>
      <p:sp>
        <p:nvSpPr>
          <p:cNvPr id="63" name="TextBox 62"/>
          <p:cNvSpPr txBox="1"/>
          <p:nvPr/>
        </p:nvSpPr>
        <p:spPr>
          <a:xfrm>
            <a:off x="2498488" y="7475533"/>
            <a:ext cx="606256" cy="276999"/>
          </a:xfrm>
          <a:prstGeom prst="rect">
            <a:avLst/>
          </a:prstGeom>
          <a:noFill/>
        </p:spPr>
        <p:txBody>
          <a:bodyPr wrap="none" rtlCol="0">
            <a:spAutoFit/>
          </a:bodyPr>
          <a:lstStyle/>
          <a:p>
            <a:r>
              <a:rPr lang="en-US" sz="1200"/>
              <a:t>c) 2.39</a:t>
            </a:r>
            <a:endParaRPr lang="en-GB" sz="1200"/>
          </a:p>
        </p:txBody>
      </p:sp>
      <p:sp>
        <p:nvSpPr>
          <p:cNvPr id="64" name="TextBox 63"/>
          <p:cNvSpPr txBox="1"/>
          <p:nvPr/>
        </p:nvSpPr>
        <p:spPr>
          <a:xfrm>
            <a:off x="3505534" y="7498625"/>
            <a:ext cx="620683" cy="276999"/>
          </a:xfrm>
          <a:prstGeom prst="rect">
            <a:avLst/>
          </a:prstGeom>
          <a:noFill/>
        </p:spPr>
        <p:txBody>
          <a:bodyPr wrap="none" rtlCol="0">
            <a:spAutoFit/>
          </a:bodyPr>
          <a:lstStyle/>
          <a:p>
            <a:r>
              <a:rPr lang="en-US" sz="1200"/>
              <a:t>d) 7.93</a:t>
            </a:r>
            <a:endParaRPr lang="en-GB" sz="1200"/>
          </a:p>
        </p:txBody>
      </p:sp>
      <p:sp>
        <p:nvSpPr>
          <p:cNvPr id="65" name="TextBox 64"/>
          <p:cNvSpPr txBox="1"/>
          <p:nvPr/>
        </p:nvSpPr>
        <p:spPr>
          <a:xfrm>
            <a:off x="4609297" y="7495145"/>
            <a:ext cx="617477" cy="276999"/>
          </a:xfrm>
          <a:prstGeom prst="rect">
            <a:avLst/>
          </a:prstGeom>
          <a:noFill/>
        </p:spPr>
        <p:txBody>
          <a:bodyPr wrap="none" rtlCol="0">
            <a:spAutoFit/>
          </a:bodyPr>
          <a:lstStyle/>
          <a:p>
            <a:r>
              <a:rPr lang="en-US" sz="1200"/>
              <a:t>e) 9.19</a:t>
            </a:r>
            <a:endParaRPr lang="en-GB" sz="1200"/>
          </a:p>
        </p:txBody>
      </p:sp>
      <p:sp>
        <p:nvSpPr>
          <p:cNvPr id="66" name="Rectangle 65">
            <a:extLst>
              <a:ext uri="{FF2B5EF4-FFF2-40B4-BE49-F238E27FC236}">
                <a16:creationId xmlns:a16="http://schemas.microsoft.com/office/drawing/2014/main" id="{CEEF23AD-EA17-135A-DB95-1D1FECB286F3}"/>
              </a:ext>
            </a:extLst>
          </p:cNvPr>
          <p:cNvSpPr/>
          <p:nvPr/>
        </p:nvSpPr>
        <p:spPr>
          <a:xfrm>
            <a:off x="401330"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445285"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501169"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3575367"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4627031"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TextBox 70"/>
          <p:cNvSpPr txBox="1"/>
          <p:nvPr/>
        </p:nvSpPr>
        <p:spPr>
          <a:xfrm>
            <a:off x="5704310" y="7520792"/>
            <a:ext cx="589264" cy="276999"/>
          </a:xfrm>
          <a:prstGeom prst="rect">
            <a:avLst/>
          </a:prstGeom>
          <a:noFill/>
        </p:spPr>
        <p:txBody>
          <a:bodyPr wrap="none" rtlCol="0">
            <a:spAutoFit/>
          </a:bodyPr>
          <a:lstStyle/>
          <a:p>
            <a:r>
              <a:rPr lang="en-US" sz="1200"/>
              <a:t>f) 9.99</a:t>
            </a:r>
            <a:endParaRPr lang="en-GB" sz="1200"/>
          </a:p>
        </p:txBody>
      </p:sp>
      <p:sp>
        <p:nvSpPr>
          <p:cNvPr id="72" name="Rectangle 71">
            <a:extLst>
              <a:ext uri="{FF2B5EF4-FFF2-40B4-BE49-F238E27FC236}">
                <a16:creationId xmlns:a16="http://schemas.microsoft.com/office/drawing/2014/main" id="{CEEF23AD-EA17-135A-DB95-1D1FECB286F3}"/>
              </a:ext>
            </a:extLst>
          </p:cNvPr>
          <p:cNvSpPr/>
          <p:nvPr/>
        </p:nvSpPr>
        <p:spPr>
          <a:xfrm>
            <a:off x="5676133" y="805692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TextBox 72"/>
          <p:cNvSpPr txBox="1"/>
          <p:nvPr/>
        </p:nvSpPr>
        <p:spPr>
          <a:xfrm>
            <a:off x="401330" y="8518558"/>
            <a:ext cx="612668" cy="276999"/>
          </a:xfrm>
          <a:prstGeom prst="rect">
            <a:avLst/>
          </a:prstGeom>
          <a:noFill/>
        </p:spPr>
        <p:txBody>
          <a:bodyPr wrap="none" rtlCol="0">
            <a:spAutoFit/>
          </a:bodyPr>
          <a:lstStyle/>
          <a:p>
            <a:r>
              <a:rPr lang="en-US" sz="1200"/>
              <a:t>g) 10.5</a:t>
            </a:r>
            <a:endParaRPr lang="en-GB" sz="1200"/>
          </a:p>
        </p:txBody>
      </p:sp>
      <p:sp>
        <p:nvSpPr>
          <p:cNvPr id="74" name="TextBox 73"/>
          <p:cNvSpPr txBox="1"/>
          <p:nvPr/>
        </p:nvSpPr>
        <p:spPr>
          <a:xfrm>
            <a:off x="1453587" y="8509855"/>
            <a:ext cx="620683" cy="276999"/>
          </a:xfrm>
          <a:prstGeom prst="rect">
            <a:avLst/>
          </a:prstGeom>
          <a:noFill/>
        </p:spPr>
        <p:txBody>
          <a:bodyPr wrap="none" rtlCol="0">
            <a:spAutoFit/>
          </a:bodyPr>
          <a:lstStyle/>
          <a:p>
            <a:r>
              <a:rPr lang="en-US" sz="1200"/>
              <a:t>h) 10.9</a:t>
            </a:r>
            <a:endParaRPr lang="en-GB" sz="1200"/>
          </a:p>
        </p:txBody>
      </p:sp>
      <p:sp>
        <p:nvSpPr>
          <p:cNvPr id="75" name="TextBox 74"/>
          <p:cNvSpPr txBox="1"/>
          <p:nvPr/>
        </p:nvSpPr>
        <p:spPr>
          <a:xfrm>
            <a:off x="2530246" y="8509856"/>
            <a:ext cx="575799" cy="276999"/>
          </a:xfrm>
          <a:prstGeom prst="rect">
            <a:avLst/>
          </a:prstGeom>
          <a:noFill/>
        </p:spPr>
        <p:txBody>
          <a:bodyPr wrap="none" rtlCol="0">
            <a:spAutoFit/>
          </a:bodyPr>
          <a:lstStyle/>
          <a:p>
            <a:r>
              <a:rPr lang="en-US" sz="1200"/>
              <a:t>i) 12.5</a:t>
            </a:r>
            <a:endParaRPr lang="en-GB" sz="1200"/>
          </a:p>
        </p:txBody>
      </p:sp>
      <p:sp>
        <p:nvSpPr>
          <p:cNvPr id="76" name="TextBox 75"/>
          <p:cNvSpPr txBox="1"/>
          <p:nvPr/>
        </p:nvSpPr>
        <p:spPr>
          <a:xfrm>
            <a:off x="3537292" y="8532948"/>
            <a:ext cx="655949" cy="276999"/>
          </a:xfrm>
          <a:prstGeom prst="rect">
            <a:avLst/>
          </a:prstGeom>
          <a:noFill/>
        </p:spPr>
        <p:txBody>
          <a:bodyPr wrap="none" rtlCol="0">
            <a:spAutoFit/>
          </a:bodyPr>
          <a:lstStyle/>
          <a:p>
            <a:r>
              <a:rPr lang="en-US" sz="1200"/>
              <a:t>j) 12.55</a:t>
            </a:r>
            <a:endParaRPr lang="en-GB" sz="1200"/>
          </a:p>
        </p:txBody>
      </p:sp>
      <p:sp>
        <p:nvSpPr>
          <p:cNvPr id="77" name="TextBox 76"/>
          <p:cNvSpPr txBox="1"/>
          <p:nvPr/>
        </p:nvSpPr>
        <p:spPr>
          <a:xfrm>
            <a:off x="4641055" y="8529468"/>
            <a:ext cx="689612" cy="276999"/>
          </a:xfrm>
          <a:prstGeom prst="rect">
            <a:avLst/>
          </a:prstGeom>
          <a:noFill/>
        </p:spPr>
        <p:txBody>
          <a:bodyPr wrap="none" rtlCol="0">
            <a:spAutoFit/>
          </a:bodyPr>
          <a:lstStyle/>
          <a:p>
            <a:r>
              <a:rPr lang="en-US" sz="1200"/>
              <a:t>k) 12.99</a:t>
            </a:r>
            <a:endParaRPr lang="en-GB" sz="1200"/>
          </a:p>
        </p:txBody>
      </p:sp>
      <p:sp>
        <p:nvSpPr>
          <p:cNvPr id="78" name="Rectangle 77">
            <a:extLst>
              <a:ext uri="{FF2B5EF4-FFF2-40B4-BE49-F238E27FC236}">
                <a16:creationId xmlns:a16="http://schemas.microsoft.com/office/drawing/2014/main" id="{CEEF23AD-EA17-135A-DB95-1D1FECB286F3}"/>
              </a:ext>
            </a:extLst>
          </p:cNvPr>
          <p:cNvSpPr/>
          <p:nvPr/>
        </p:nvSpPr>
        <p:spPr>
          <a:xfrm>
            <a:off x="401330"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1445285"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Rectangle 79">
            <a:extLst>
              <a:ext uri="{FF2B5EF4-FFF2-40B4-BE49-F238E27FC236}">
                <a16:creationId xmlns:a16="http://schemas.microsoft.com/office/drawing/2014/main" id="{CEEF23AD-EA17-135A-DB95-1D1FECB286F3}"/>
              </a:ext>
            </a:extLst>
          </p:cNvPr>
          <p:cNvSpPr/>
          <p:nvPr/>
        </p:nvSpPr>
        <p:spPr>
          <a:xfrm>
            <a:off x="2501169"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1" name="Rectangle 80">
            <a:extLst>
              <a:ext uri="{FF2B5EF4-FFF2-40B4-BE49-F238E27FC236}">
                <a16:creationId xmlns:a16="http://schemas.microsoft.com/office/drawing/2014/main" id="{CEEF23AD-EA17-135A-DB95-1D1FECB286F3}"/>
              </a:ext>
            </a:extLst>
          </p:cNvPr>
          <p:cNvSpPr/>
          <p:nvPr/>
        </p:nvSpPr>
        <p:spPr>
          <a:xfrm>
            <a:off x="3575367"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Rectangle 81">
            <a:extLst>
              <a:ext uri="{FF2B5EF4-FFF2-40B4-BE49-F238E27FC236}">
                <a16:creationId xmlns:a16="http://schemas.microsoft.com/office/drawing/2014/main" id="{CEEF23AD-EA17-135A-DB95-1D1FECB286F3}"/>
              </a:ext>
            </a:extLst>
          </p:cNvPr>
          <p:cNvSpPr/>
          <p:nvPr/>
        </p:nvSpPr>
        <p:spPr>
          <a:xfrm>
            <a:off x="4627031"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TextBox 82"/>
          <p:cNvSpPr txBox="1"/>
          <p:nvPr/>
        </p:nvSpPr>
        <p:spPr>
          <a:xfrm>
            <a:off x="5736068" y="8555115"/>
            <a:ext cx="654346" cy="276999"/>
          </a:xfrm>
          <a:prstGeom prst="rect">
            <a:avLst/>
          </a:prstGeom>
          <a:noFill/>
        </p:spPr>
        <p:txBody>
          <a:bodyPr wrap="none" rtlCol="0">
            <a:spAutoFit/>
          </a:bodyPr>
          <a:lstStyle/>
          <a:p>
            <a:r>
              <a:rPr lang="en-US" sz="1200"/>
              <a:t>l) 15.37</a:t>
            </a:r>
            <a:endParaRPr lang="en-GB" sz="1200"/>
          </a:p>
        </p:txBody>
      </p:sp>
      <p:sp>
        <p:nvSpPr>
          <p:cNvPr id="84" name="Rectangle 83">
            <a:extLst>
              <a:ext uri="{FF2B5EF4-FFF2-40B4-BE49-F238E27FC236}">
                <a16:creationId xmlns:a16="http://schemas.microsoft.com/office/drawing/2014/main" id="{CEEF23AD-EA17-135A-DB95-1D1FECB286F3}"/>
              </a:ext>
            </a:extLst>
          </p:cNvPr>
          <p:cNvSpPr/>
          <p:nvPr/>
        </p:nvSpPr>
        <p:spPr>
          <a:xfrm>
            <a:off x="5676133" y="905432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5"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25</a:t>
            </a:fld>
            <a:endParaRPr lang="en-GB"/>
          </a:p>
        </p:txBody>
      </p:sp>
      <p:sp>
        <p:nvSpPr>
          <p:cNvPr id="86" name="Rectangle 85">
            <a:extLst>
              <a:ext uri="{FF2B5EF4-FFF2-40B4-BE49-F238E27FC236}">
                <a16:creationId xmlns:a16="http://schemas.microsoft.com/office/drawing/2014/main" id="{CFAA3896-C99F-5B72-4848-C0E11794D2C8}"/>
              </a:ext>
            </a:extLst>
          </p:cNvPr>
          <p:cNvSpPr/>
          <p:nvPr/>
        </p:nvSpPr>
        <p:spPr>
          <a:xfrm>
            <a:off x="107730" y="80202"/>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87" name="Rectangle 86">
            <a:extLst>
              <a:ext uri="{FF2B5EF4-FFF2-40B4-BE49-F238E27FC236}">
                <a16:creationId xmlns:a16="http://schemas.microsoft.com/office/drawing/2014/main" id="{DBC3E8F4-D26C-91B2-11C5-665A1F8E65C5}"/>
              </a:ext>
            </a:extLst>
          </p:cNvPr>
          <p:cNvSpPr/>
          <p:nvPr/>
        </p:nvSpPr>
        <p:spPr>
          <a:xfrm>
            <a:off x="138687" y="707603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425293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611" y="126603"/>
            <a:ext cx="742511" cy="276999"/>
          </a:xfrm>
          <a:prstGeom prst="rect">
            <a:avLst/>
          </a:prstGeom>
          <a:noFill/>
        </p:spPr>
        <p:txBody>
          <a:bodyPr wrap="none" rtlCol="0">
            <a:spAutoFit/>
          </a:bodyPr>
          <a:lstStyle/>
          <a:p>
            <a:r>
              <a:rPr lang="en-US" sz="1200"/>
              <a:t>m) 16.37</a:t>
            </a:r>
            <a:endParaRPr lang="en-GB" sz="1200"/>
          </a:p>
        </p:txBody>
      </p:sp>
      <p:sp>
        <p:nvSpPr>
          <p:cNvPr id="3" name="TextBox 2"/>
          <p:cNvSpPr txBox="1"/>
          <p:nvPr/>
        </p:nvSpPr>
        <p:spPr>
          <a:xfrm>
            <a:off x="1467580" y="133949"/>
            <a:ext cx="699230" cy="276999"/>
          </a:xfrm>
          <a:prstGeom prst="rect">
            <a:avLst/>
          </a:prstGeom>
          <a:noFill/>
        </p:spPr>
        <p:txBody>
          <a:bodyPr wrap="none" rtlCol="0">
            <a:spAutoFit/>
          </a:bodyPr>
          <a:lstStyle/>
          <a:p>
            <a:r>
              <a:rPr lang="en-US" sz="1200"/>
              <a:t>n) 19.79</a:t>
            </a:r>
            <a:endParaRPr lang="en-GB" sz="1200"/>
          </a:p>
        </p:txBody>
      </p:sp>
      <p:sp>
        <p:nvSpPr>
          <p:cNvPr id="4" name="TextBox 3"/>
          <p:cNvSpPr txBox="1"/>
          <p:nvPr/>
        </p:nvSpPr>
        <p:spPr>
          <a:xfrm>
            <a:off x="2509174" y="147232"/>
            <a:ext cx="700833" cy="276999"/>
          </a:xfrm>
          <a:prstGeom prst="rect">
            <a:avLst/>
          </a:prstGeom>
          <a:noFill/>
        </p:spPr>
        <p:txBody>
          <a:bodyPr wrap="none" rtlCol="0">
            <a:spAutoFit/>
          </a:bodyPr>
          <a:lstStyle/>
          <a:p>
            <a:r>
              <a:rPr lang="en-US" sz="1200"/>
              <a:t>o) 19.59</a:t>
            </a:r>
            <a:endParaRPr lang="en-GB" sz="1200"/>
          </a:p>
        </p:txBody>
      </p:sp>
      <p:sp>
        <p:nvSpPr>
          <p:cNvPr id="5" name="TextBox 4"/>
          <p:cNvSpPr txBox="1"/>
          <p:nvPr/>
        </p:nvSpPr>
        <p:spPr>
          <a:xfrm>
            <a:off x="3557573" y="140993"/>
            <a:ext cx="699230" cy="276999"/>
          </a:xfrm>
          <a:prstGeom prst="rect">
            <a:avLst/>
          </a:prstGeom>
          <a:noFill/>
        </p:spPr>
        <p:txBody>
          <a:bodyPr wrap="none" rtlCol="0">
            <a:spAutoFit/>
          </a:bodyPr>
          <a:lstStyle/>
          <a:p>
            <a:r>
              <a:rPr lang="en-US" sz="1200"/>
              <a:t>p) 24.95</a:t>
            </a:r>
            <a:endParaRPr lang="en-GB" sz="1200"/>
          </a:p>
        </p:txBody>
      </p:sp>
      <p:sp>
        <p:nvSpPr>
          <p:cNvPr id="6" name="TextBox 5"/>
          <p:cNvSpPr txBox="1"/>
          <p:nvPr/>
        </p:nvSpPr>
        <p:spPr>
          <a:xfrm>
            <a:off x="4644878" y="126603"/>
            <a:ext cx="777777" cy="276999"/>
          </a:xfrm>
          <a:prstGeom prst="rect">
            <a:avLst/>
          </a:prstGeom>
          <a:noFill/>
        </p:spPr>
        <p:txBody>
          <a:bodyPr wrap="none" rtlCol="0">
            <a:spAutoFit/>
          </a:bodyPr>
          <a:lstStyle/>
          <a:p>
            <a:r>
              <a:rPr lang="en-US" sz="1200"/>
              <a:t>q) 24.955</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453369"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497324"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553208"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27406"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679070"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91673" y="121614"/>
            <a:ext cx="750526" cy="276999"/>
          </a:xfrm>
          <a:prstGeom prst="rect">
            <a:avLst/>
          </a:prstGeom>
          <a:noFill/>
        </p:spPr>
        <p:txBody>
          <a:bodyPr wrap="none" rtlCol="0">
            <a:spAutoFit/>
          </a:bodyPr>
          <a:lstStyle/>
          <a:p>
            <a:r>
              <a:rPr lang="en-US" sz="1200"/>
              <a:t>r) 25.095</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28172" y="69355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TextBox 13"/>
          <p:cNvSpPr txBox="1"/>
          <p:nvPr/>
        </p:nvSpPr>
        <p:spPr>
          <a:xfrm>
            <a:off x="421611" y="1200837"/>
            <a:ext cx="715260" cy="276999"/>
          </a:xfrm>
          <a:prstGeom prst="rect">
            <a:avLst/>
          </a:prstGeom>
          <a:noFill/>
        </p:spPr>
        <p:txBody>
          <a:bodyPr wrap="none" rtlCol="0">
            <a:spAutoFit/>
          </a:bodyPr>
          <a:lstStyle/>
          <a:p>
            <a:r>
              <a:rPr lang="en-US" sz="1200"/>
              <a:t>s) 126.4 </a:t>
            </a:r>
            <a:endParaRPr lang="en-GB" sz="1200"/>
          </a:p>
        </p:txBody>
      </p:sp>
      <p:sp>
        <p:nvSpPr>
          <p:cNvPr id="15" name="TextBox 14"/>
          <p:cNvSpPr txBox="1"/>
          <p:nvPr/>
        </p:nvSpPr>
        <p:spPr>
          <a:xfrm>
            <a:off x="1467580" y="1208183"/>
            <a:ext cx="670376" cy="276999"/>
          </a:xfrm>
          <a:prstGeom prst="rect">
            <a:avLst/>
          </a:prstGeom>
          <a:noFill/>
        </p:spPr>
        <p:txBody>
          <a:bodyPr wrap="none" rtlCol="0">
            <a:spAutoFit/>
          </a:bodyPr>
          <a:lstStyle/>
          <a:p>
            <a:r>
              <a:rPr lang="en-US" sz="1200"/>
              <a:t>t) 196.4</a:t>
            </a:r>
            <a:endParaRPr lang="en-GB" sz="1200"/>
          </a:p>
        </p:txBody>
      </p:sp>
      <p:sp>
        <p:nvSpPr>
          <p:cNvPr id="16" name="TextBox 15"/>
          <p:cNvSpPr txBox="1"/>
          <p:nvPr/>
        </p:nvSpPr>
        <p:spPr>
          <a:xfrm>
            <a:off x="2509174" y="1221466"/>
            <a:ext cx="699230" cy="276999"/>
          </a:xfrm>
          <a:prstGeom prst="rect">
            <a:avLst/>
          </a:prstGeom>
          <a:noFill/>
        </p:spPr>
        <p:txBody>
          <a:bodyPr wrap="none" rtlCol="0">
            <a:spAutoFit/>
          </a:bodyPr>
          <a:lstStyle/>
          <a:p>
            <a:r>
              <a:rPr lang="en-US" sz="1200"/>
              <a:t>u) 125.5</a:t>
            </a:r>
            <a:endParaRPr lang="en-GB" sz="1200"/>
          </a:p>
        </p:txBody>
      </p:sp>
      <p:sp>
        <p:nvSpPr>
          <p:cNvPr id="17" name="TextBox 16"/>
          <p:cNvSpPr txBox="1"/>
          <p:nvPr/>
        </p:nvSpPr>
        <p:spPr>
          <a:xfrm>
            <a:off x="3557573" y="1215227"/>
            <a:ext cx="688009" cy="276999"/>
          </a:xfrm>
          <a:prstGeom prst="rect">
            <a:avLst/>
          </a:prstGeom>
          <a:noFill/>
        </p:spPr>
        <p:txBody>
          <a:bodyPr wrap="none" rtlCol="0">
            <a:spAutoFit/>
          </a:bodyPr>
          <a:lstStyle/>
          <a:p>
            <a:r>
              <a:rPr lang="en-US" sz="1200"/>
              <a:t>v) 135.5</a:t>
            </a:r>
            <a:endParaRPr lang="en-GB" sz="1200"/>
          </a:p>
        </p:txBody>
      </p:sp>
      <p:sp>
        <p:nvSpPr>
          <p:cNvPr id="18" name="TextBox 17"/>
          <p:cNvSpPr txBox="1"/>
          <p:nvPr/>
        </p:nvSpPr>
        <p:spPr>
          <a:xfrm>
            <a:off x="4644878" y="1200837"/>
            <a:ext cx="808235" cy="276999"/>
          </a:xfrm>
          <a:prstGeom prst="rect">
            <a:avLst/>
          </a:prstGeom>
          <a:noFill/>
        </p:spPr>
        <p:txBody>
          <a:bodyPr wrap="none" rtlCol="0">
            <a:spAutoFit/>
          </a:bodyPr>
          <a:lstStyle/>
          <a:p>
            <a:r>
              <a:rPr lang="en-US" sz="1200"/>
              <a:t>w) 135.55</a:t>
            </a:r>
            <a:endParaRPr lang="en-GB" sz="1200"/>
          </a:p>
        </p:txBody>
      </p:sp>
      <p:sp>
        <p:nvSpPr>
          <p:cNvPr id="19" name="Rectangle 18">
            <a:extLst>
              <a:ext uri="{FF2B5EF4-FFF2-40B4-BE49-F238E27FC236}">
                <a16:creationId xmlns:a16="http://schemas.microsoft.com/office/drawing/2014/main" id="{CEEF23AD-EA17-135A-DB95-1D1FECB286F3}"/>
              </a:ext>
            </a:extLst>
          </p:cNvPr>
          <p:cNvSpPr/>
          <p:nvPr/>
        </p:nvSpPr>
        <p:spPr>
          <a:xfrm>
            <a:off x="453369"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CEEF23AD-EA17-135A-DB95-1D1FECB286F3}"/>
              </a:ext>
            </a:extLst>
          </p:cNvPr>
          <p:cNvSpPr/>
          <p:nvPr/>
        </p:nvSpPr>
        <p:spPr>
          <a:xfrm>
            <a:off x="1497324"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Rectangle 20">
            <a:extLst>
              <a:ext uri="{FF2B5EF4-FFF2-40B4-BE49-F238E27FC236}">
                <a16:creationId xmlns:a16="http://schemas.microsoft.com/office/drawing/2014/main" id="{CEEF23AD-EA17-135A-DB95-1D1FECB286F3}"/>
              </a:ext>
            </a:extLst>
          </p:cNvPr>
          <p:cNvSpPr/>
          <p:nvPr/>
        </p:nvSpPr>
        <p:spPr>
          <a:xfrm>
            <a:off x="2553208"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3627406"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4679070"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TextBox 23"/>
          <p:cNvSpPr txBox="1"/>
          <p:nvPr/>
        </p:nvSpPr>
        <p:spPr>
          <a:xfrm>
            <a:off x="5691673" y="1195848"/>
            <a:ext cx="764953" cy="276999"/>
          </a:xfrm>
          <a:prstGeom prst="rect">
            <a:avLst/>
          </a:prstGeom>
          <a:noFill/>
        </p:spPr>
        <p:txBody>
          <a:bodyPr wrap="none" rtlCol="0">
            <a:spAutoFit/>
          </a:bodyPr>
          <a:lstStyle/>
          <a:p>
            <a:r>
              <a:rPr lang="en-US" sz="1200"/>
              <a:t>x) 195.89</a:t>
            </a:r>
            <a:endParaRPr lang="en-GB" sz="1200"/>
          </a:p>
        </p:txBody>
      </p:sp>
      <p:sp>
        <p:nvSpPr>
          <p:cNvPr id="25" name="Rectangle 24">
            <a:extLst>
              <a:ext uri="{FF2B5EF4-FFF2-40B4-BE49-F238E27FC236}">
                <a16:creationId xmlns:a16="http://schemas.microsoft.com/office/drawing/2014/main" id="{CEEF23AD-EA17-135A-DB95-1D1FECB286F3}"/>
              </a:ext>
            </a:extLst>
          </p:cNvPr>
          <p:cNvSpPr/>
          <p:nvPr/>
        </p:nvSpPr>
        <p:spPr>
          <a:xfrm>
            <a:off x="5728172" y="1767786"/>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cxnSp>
        <p:nvCxnSpPr>
          <p:cNvPr id="26" name="Straight Connector 25">
            <a:extLst>
              <a:ext uri="{FF2B5EF4-FFF2-40B4-BE49-F238E27FC236}">
                <a16:creationId xmlns:a16="http://schemas.microsoft.com/office/drawing/2014/main" id="{B4A988A4-03CD-D549-9F12-81AFECBDEF37}"/>
              </a:ext>
            </a:extLst>
          </p:cNvPr>
          <p:cNvCxnSpPr>
            <a:cxnSpLocks/>
          </p:cNvCxnSpPr>
          <p:nvPr/>
        </p:nvCxnSpPr>
        <p:spPr>
          <a:xfrm>
            <a:off x="1008102" y="4161297"/>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7" name="Table 26"/>
          <p:cNvGraphicFramePr>
            <a:graphicFrameLocks noGrp="1"/>
          </p:cNvGraphicFramePr>
          <p:nvPr/>
        </p:nvGraphicFramePr>
        <p:xfrm>
          <a:off x="209843" y="2716924"/>
          <a:ext cx="6543680" cy="2938582"/>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328781">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2</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67002">
                <a:tc>
                  <a:txBody>
                    <a:bodyPr/>
                    <a:lstStyle/>
                    <a:p>
                      <a:pPr marL="0" indent="0">
                        <a:buNone/>
                      </a:pPr>
                      <a:r>
                        <a:rPr lang="en-US" sz="1100"/>
                        <a:t>1)</a:t>
                      </a:r>
                      <a:r>
                        <a:rPr lang="en-US" sz="1100" baseline="0"/>
                        <a:t> </a:t>
                      </a:r>
                      <a:r>
                        <a:rPr lang="en-US" sz="1100"/>
                        <a:t>Draw a line between</a:t>
                      </a:r>
                      <a:r>
                        <a:rPr lang="en-US" sz="1100" baseline="0"/>
                        <a:t> the </a:t>
                      </a:r>
                      <a:r>
                        <a:rPr lang="en-US" sz="1100" b="1" baseline="0"/>
                        <a:t>second and third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0799">
                <a:tc>
                  <a:txBody>
                    <a:bodyPr/>
                    <a:lstStyle/>
                    <a:p>
                      <a:pPr marL="0" indent="0">
                        <a:buNone/>
                      </a:pPr>
                      <a:r>
                        <a:rPr lang="en-US" sz="1100"/>
                        <a:t>2) If the </a:t>
                      </a:r>
                      <a:r>
                        <a:rPr lang="en-US" sz="1100" baseline="0"/>
                        <a:t>3</a:t>
                      </a:r>
                      <a:r>
                        <a:rPr lang="en-US" sz="1100" baseline="30000"/>
                        <a:t>rd</a:t>
                      </a:r>
                      <a:r>
                        <a:rPr lang="en-US" sz="1100" baseline="0"/>
                        <a:t> significant figure is </a:t>
                      </a:r>
                      <a:r>
                        <a:rPr lang="en-US" sz="1100" b="1" baseline="0"/>
                        <a:t>5 or above</a:t>
                      </a:r>
                      <a:r>
                        <a:rPr lang="en-US" sz="1100" baseline="0"/>
                        <a:t>, the 2</a:t>
                      </a:r>
                      <a:r>
                        <a:rPr lang="en-US" sz="1100" baseline="30000"/>
                        <a:t>nd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754261">
                <a:tc>
                  <a:txBody>
                    <a:bodyPr/>
                    <a:lstStyle/>
                    <a:p>
                      <a:pPr marL="0" indent="0">
                        <a:buNone/>
                      </a:pPr>
                      <a:r>
                        <a:rPr lang="en-US" sz="1100"/>
                        <a:t>3) If the </a:t>
                      </a:r>
                      <a:r>
                        <a:rPr lang="en-US" sz="1100" baseline="0"/>
                        <a:t>3</a:t>
                      </a:r>
                      <a:r>
                        <a:rPr lang="en-US" sz="1100" baseline="30000"/>
                        <a:t>rd</a:t>
                      </a:r>
                      <a:r>
                        <a:rPr lang="en-US" sz="1100" baseline="0"/>
                        <a:t> significant figure is </a:t>
                      </a:r>
                      <a:r>
                        <a:rPr lang="en-US" sz="1100" b="1" baseline="0"/>
                        <a:t>4 or below</a:t>
                      </a:r>
                      <a:r>
                        <a:rPr lang="en-US" sz="1100" baseline="0"/>
                        <a:t>, the 2</a:t>
                      </a:r>
                      <a:r>
                        <a:rPr lang="en-US" sz="1100" baseline="30000"/>
                        <a:t>nd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28" name="TextBox 27">
            <a:extLst>
              <a:ext uri="{FF2B5EF4-FFF2-40B4-BE49-F238E27FC236}">
                <a16:creationId xmlns:a16="http://schemas.microsoft.com/office/drawing/2014/main" id="{BCDC1A2B-2D26-C945-B722-18950FA49879}"/>
              </a:ext>
            </a:extLst>
          </p:cNvPr>
          <p:cNvSpPr txBox="1"/>
          <p:nvPr/>
        </p:nvSpPr>
        <p:spPr>
          <a:xfrm>
            <a:off x="1991462" y="2459640"/>
            <a:ext cx="1410704" cy="276999"/>
          </a:xfrm>
          <a:prstGeom prst="rect">
            <a:avLst/>
          </a:prstGeom>
          <a:noFill/>
          <a:ln>
            <a:noFill/>
          </a:ln>
        </p:spPr>
        <p:txBody>
          <a:bodyPr wrap="square" rtlCol="0">
            <a:spAutoFit/>
          </a:bodyPr>
          <a:lstStyle/>
          <a:p>
            <a:r>
              <a:rPr lang="en-GB" sz="1200" b="1" i="1">
                <a:solidFill>
                  <a:srgbClr val="FF0000"/>
                </a:solidFill>
              </a:rPr>
              <a:t>Example 19 - I do…</a:t>
            </a:r>
          </a:p>
        </p:txBody>
      </p:sp>
      <p:sp>
        <p:nvSpPr>
          <p:cNvPr id="29" name="TextBox 28">
            <a:extLst>
              <a:ext uri="{FF2B5EF4-FFF2-40B4-BE49-F238E27FC236}">
                <a16:creationId xmlns:a16="http://schemas.microsoft.com/office/drawing/2014/main" id="{4AF4150A-9218-D640-8777-2ECCBC4D10FB}"/>
              </a:ext>
            </a:extLst>
          </p:cNvPr>
          <p:cNvSpPr txBox="1"/>
          <p:nvPr/>
        </p:nvSpPr>
        <p:spPr>
          <a:xfrm>
            <a:off x="5125359" y="2437532"/>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30" name="TextBox 29">
            <a:extLst>
              <a:ext uri="{FF2B5EF4-FFF2-40B4-BE49-F238E27FC236}">
                <a16:creationId xmlns:a16="http://schemas.microsoft.com/office/drawing/2014/main" id="{BCDC1A2B-2D26-C945-B722-18950FA49879}"/>
              </a:ext>
            </a:extLst>
          </p:cNvPr>
          <p:cNvSpPr txBox="1"/>
          <p:nvPr/>
        </p:nvSpPr>
        <p:spPr>
          <a:xfrm>
            <a:off x="3516180" y="2449633"/>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p:sp>
        <p:nvSpPr>
          <p:cNvPr id="31" name="TextBox 30"/>
          <p:cNvSpPr txBox="1"/>
          <p:nvPr/>
        </p:nvSpPr>
        <p:spPr>
          <a:xfrm>
            <a:off x="1965928" y="3003931"/>
            <a:ext cx="1419715" cy="1384995"/>
          </a:xfrm>
          <a:prstGeom prst="rect">
            <a:avLst/>
          </a:prstGeom>
          <a:noFill/>
        </p:spPr>
        <p:txBody>
          <a:bodyPr wrap="square" rtlCol="0">
            <a:spAutoFit/>
          </a:bodyPr>
          <a:lstStyle/>
          <a:p>
            <a:pPr algn="ctr"/>
            <a:r>
              <a:rPr lang="en-US" sz="1200"/>
              <a:t>Round 0.253 to two significant figures</a:t>
            </a:r>
          </a:p>
          <a:p>
            <a:pPr algn="ctr"/>
            <a:endParaRPr lang="en-US" sz="1200"/>
          </a:p>
          <a:p>
            <a:pPr algn="ctr"/>
            <a:r>
              <a:rPr lang="en-US" sz="1200"/>
              <a:t>0  . 2   5  |  </a:t>
            </a:r>
            <a:r>
              <a:rPr lang="en-US" sz="1200" u="sng"/>
              <a:t>3</a:t>
            </a:r>
          </a:p>
          <a:p>
            <a:pPr algn="ctr"/>
            <a:endParaRPr lang="en-US" sz="1200"/>
          </a:p>
          <a:p>
            <a:pPr algn="ctr"/>
            <a:endParaRPr lang="en-US" sz="1200"/>
          </a:p>
          <a:p>
            <a:pPr algn="ctr"/>
            <a:endParaRPr lang="en-US" sz="1200" u="sng"/>
          </a:p>
        </p:txBody>
      </p:sp>
      <p:sp>
        <p:nvSpPr>
          <p:cNvPr id="32" name="Rectangle 31">
            <a:extLst>
              <a:ext uri="{FF2B5EF4-FFF2-40B4-BE49-F238E27FC236}">
                <a16:creationId xmlns:a16="http://schemas.microsoft.com/office/drawing/2014/main" id="{CEEF23AD-EA17-135A-DB95-1D1FECB286F3}"/>
              </a:ext>
            </a:extLst>
          </p:cNvPr>
          <p:cNvSpPr/>
          <p:nvPr/>
        </p:nvSpPr>
        <p:spPr>
          <a:xfrm>
            <a:off x="1951161" y="383318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CEEF23AD-EA17-135A-DB95-1D1FECB286F3}"/>
              </a:ext>
            </a:extLst>
          </p:cNvPr>
          <p:cNvSpPr/>
          <p:nvPr/>
        </p:nvSpPr>
        <p:spPr>
          <a:xfrm>
            <a:off x="1951161" y="5187250"/>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EEF23AD-EA17-135A-DB95-1D1FECB286F3}"/>
              </a:ext>
            </a:extLst>
          </p:cNvPr>
          <p:cNvSpPr/>
          <p:nvPr/>
        </p:nvSpPr>
        <p:spPr>
          <a:xfrm>
            <a:off x="3575636" y="382850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3575636" y="51825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5218552" y="382850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5218552" y="518257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TextBox 37"/>
          <p:cNvSpPr txBox="1"/>
          <p:nvPr/>
        </p:nvSpPr>
        <p:spPr>
          <a:xfrm>
            <a:off x="1888856" y="4202969"/>
            <a:ext cx="1579701" cy="1384995"/>
          </a:xfrm>
          <a:prstGeom prst="rect">
            <a:avLst/>
          </a:prstGeom>
          <a:noFill/>
        </p:spPr>
        <p:txBody>
          <a:bodyPr wrap="square" rtlCol="0">
            <a:spAutoFit/>
          </a:bodyPr>
          <a:lstStyle/>
          <a:p>
            <a:pPr algn="ctr"/>
            <a:r>
              <a:rPr lang="en-US" sz="1200"/>
              <a:t>Round 0.0685 to two significant figures</a:t>
            </a:r>
          </a:p>
          <a:p>
            <a:pPr algn="ctr"/>
            <a:endParaRPr lang="en-US" sz="1200"/>
          </a:p>
          <a:p>
            <a:pPr algn="ctr"/>
            <a:r>
              <a:rPr lang="en-US" sz="1200"/>
              <a:t>0  .  0    6   8   5</a:t>
            </a:r>
            <a:endParaRPr lang="en-US" sz="1200" u="sng"/>
          </a:p>
          <a:p>
            <a:pPr algn="ctr"/>
            <a:endParaRPr lang="en-US" sz="1200"/>
          </a:p>
          <a:p>
            <a:pPr algn="ctr"/>
            <a:endParaRPr lang="en-US" sz="1200"/>
          </a:p>
          <a:p>
            <a:pPr algn="ctr"/>
            <a:endParaRPr lang="en-US" sz="1200" u="sng"/>
          </a:p>
        </p:txBody>
      </p:sp>
      <p:sp>
        <p:nvSpPr>
          <p:cNvPr id="39" name="TextBox 38"/>
          <p:cNvSpPr txBox="1"/>
          <p:nvPr/>
        </p:nvSpPr>
        <p:spPr>
          <a:xfrm>
            <a:off x="3577149" y="3043735"/>
            <a:ext cx="1419715" cy="830997"/>
          </a:xfrm>
          <a:prstGeom prst="rect">
            <a:avLst/>
          </a:prstGeom>
          <a:noFill/>
        </p:spPr>
        <p:txBody>
          <a:bodyPr wrap="square" rtlCol="0">
            <a:spAutoFit/>
          </a:bodyPr>
          <a:lstStyle/>
          <a:p>
            <a:pPr algn="ctr"/>
            <a:r>
              <a:rPr lang="en-US" sz="1200"/>
              <a:t>Round 0.937 to two significant figures</a:t>
            </a:r>
          </a:p>
          <a:p>
            <a:pPr algn="ctr"/>
            <a:endParaRPr lang="en-US" sz="1200"/>
          </a:p>
          <a:p>
            <a:pPr algn="ctr"/>
            <a:endParaRPr lang="en-US" sz="1200"/>
          </a:p>
        </p:txBody>
      </p:sp>
      <p:sp>
        <p:nvSpPr>
          <p:cNvPr id="40" name="TextBox 39"/>
          <p:cNvSpPr txBox="1"/>
          <p:nvPr/>
        </p:nvSpPr>
        <p:spPr>
          <a:xfrm>
            <a:off x="3516180" y="4199852"/>
            <a:ext cx="1559466" cy="1015663"/>
          </a:xfrm>
          <a:prstGeom prst="rect">
            <a:avLst/>
          </a:prstGeom>
          <a:noFill/>
        </p:spPr>
        <p:txBody>
          <a:bodyPr wrap="square" rtlCol="0">
            <a:spAutoFit/>
          </a:bodyPr>
          <a:lstStyle/>
          <a:p>
            <a:pPr algn="ctr"/>
            <a:r>
              <a:rPr lang="en-US" sz="1200"/>
              <a:t>Round 0.0817 to two significant figures</a:t>
            </a:r>
          </a:p>
          <a:p>
            <a:pPr algn="ctr"/>
            <a:endParaRPr lang="en-US" sz="1200"/>
          </a:p>
          <a:p>
            <a:pPr algn="ctr"/>
            <a:endParaRPr lang="en-US" sz="1200"/>
          </a:p>
          <a:p>
            <a:pPr algn="ctr"/>
            <a:endParaRPr lang="en-US" sz="1200" u="sng"/>
          </a:p>
        </p:txBody>
      </p:sp>
      <p:sp>
        <p:nvSpPr>
          <p:cNvPr id="41" name="TextBox 40"/>
          <p:cNvSpPr txBox="1"/>
          <p:nvPr/>
        </p:nvSpPr>
        <p:spPr>
          <a:xfrm>
            <a:off x="5252784" y="3036031"/>
            <a:ext cx="1419715" cy="1015663"/>
          </a:xfrm>
          <a:prstGeom prst="rect">
            <a:avLst/>
          </a:prstGeom>
          <a:noFill/>
        </p:spPr>
        <p:txBody>
          <a:bodyPr wrap="square" rtlCol="0">
            <a:spAutoFit/>
          </a:bodyPr>
          <a:lstStyle/>
          <a:p>
            <a:pPr algn="ctr"/>
            <a:r>
              <a:rPr lang="en-US" sz="1200"/>
              <a:t>Round 0.751 to two significant figures</a:t>
            </a:r>
          </a:p>
          <a:p>
            <a:pPr algn="ctr"/>
            <a:endParaRPr lang="en-US" sz="1200"/>
          </a:p>
          <a:p>
            <a:pPr algn="ctr"/>
            <a:endParaRPr lang="en-US" sz="1200"/>
          </a:p>
          <a:p>
            <a:pPr algn="ctr"/>
            <a:endParaRPr lang="en-US" sz="1200" u="sng"/>
          </a:p>
        </p:txBody>
      </p:sp>
      <p:sp>
        <p:nvSpPr>
          <p:cNvPr id="42" name="TextBox 41"/>
          <p:cNvSpPr txBox="1"/>
          <p:nvPr/>
        </p:nvSpPr>
        <p:spPr>
          <a:xfrm>
            <a:off x="5183785" y="4202968"/>
            <a:ext cx="1505438" cy="1015663"/>
          </a:xfrm>
          <a:prstGeom prst="rect">
            <a:avLst/>
          </a:prstGeom>
          <a:noFill/>
        </p:spPr>
        <p:txBody>
          <a:bodyPr wrap="square" rtlCol="0">
            <a:spAutoFit/>
          </a:bodyPr>
          <a:lstStyle/>
          <a:p>
            <a:pPr algn="ctr"/>
            <a:r>
              <a:rPr lang="en-US" sz="1200"/>
              <a:t>Round 0.0952 to two significant figures</a:t>
            </a:r>
          </a:p>
          <a:p>
            <a:pPr algn="ctr"/>
            <a:endParaRPr lang="en-US" sz="1200"/>
          </a:p>
          <a:p>
            <a:pPr algn="ctr"/>
            <a:endParaRPr lang="en-US" sz="1200"/>
          </a:p>
          <a:p>
            <a:pPr algn="ctr"/>
            <a:endParaRPr lang="en-US" sz="1200" u="sng"/>
          </a:p>
        </p:txBody>
      </p:sp>
      <p:sp>
        <p:nvSpPr>
          <p:cNvPr id="45" name="TextBox 44"/>
          <p:cNvSpPr txBox="1"/>
          <p:nvPr/>
        </p:nvSpPr>
        <p:spPr>
          <a:xfrm>
            <a:off x="2284127" y="5726762"/>
            <a:ext cx="3089564" cy="276999"/>
          </a:xfrm>
          <a:prstGeom prst="rect">
            <a:avLst/>
          </a:prstGeom>
          <a:noFill/>
        </p:spPr>
        <p:txBody>
          <a:bodyPr wrap="none" rtlCol="0">
            <a:spAutoFit/>
          </a:bodyPr>
          <a:lstStyle/>
          <a:p>
            <a:r>
              <a:rPr lang="en-US" sz="1200"/>
              <a:t>7. Round each number to 2 significant figures. </a:t>
            </a:r>
            <a:endParaRPr lang="en-GB" sz="1200"/>
          </a:p>
        </p:txBody>
      </p:sp>
      <p:sp>
        <p:nvSpPr>
          <p:cNvPr id="46" name="TextBox 45"/>
          <p:cNvSpPr txBox="1"/>
          <p:nvPr/>
        </p:nvSpPr>
        <p:spPr>
          <a:xfrm>
            <a:off x="387419" y="6083720"/>
            <a:ext cx="692818" cy="276999"/>
          </a:xfrm>
          <a:prstGeom prst="rect">
            <a:avLst/>
          </a:prstGeom>
          <a:noFill/>
        </p:spPr>
        <p:txBody>
          <a:bodyPr wrap="none" rtlCol="0">
            <a:spAutoFit/>
          </a:bodyPr>
          <a:lstStyle/>
          <a:p>
            <a:r>
              <a:rPr lang="en-US" sz="1200"/>
              <a:t>a) 0.315</a:t>
            </a:r>
            <a:endParaRPr lang="en-GB" sz="1200"/>
          </a:p>
        </p:txBody>
      </p:sp>
      <p:sp>
        <p:nvSpPr>
          <p:cNvPr id="47" name="TextBox 46"/>
          <p:cNvSpPr txBox="1"/>
          <p:nvPr/>
        </p:nvSpPr>
        <p:spPr>
          <a:xfrm>
            <a:off x="1439676" y="6075017"/>
            <a:ext cx="699230" cy="276999"/>
          </a:xfrm>
          <a:prstGeom prst="rect">
            <a:avLst/>
          </a:prstGeom>
          <a:noFill/>
        </p:spPr>
        <p:txBody>
          <a:bodyPr wrap="none" rtlCol="0">
            <a:spAutoFit/>
          </a:bodyPr>
          <a:lstStyle/>
          <a:p>
            <a:r>
              <a:rPr lang="en-US" sz="1200"/>
              <a:t>b) 0.351</a:t>
            </a:r>
            <a:endParaRPr lang="en-GB" sz="1200"/>
          </a:p>
        </p:txBody>
      </p:sp>
      <p:sp>
        <p:nvSpPr>
          <p:cNvPr id="48" name="TextBox 47"/>
          <p:cNvSpPr txBox="1"/>
          <p:nvPr/>
        </p:nvSpPr>
        <p:spPr>
          <a:xfrm>
            <a:off x="2516335" y="6075018"/>
            <a:ext cx="684803" cy="276999"/>
          </a:xfrm>
          <a:prstGeom prst="rect">
            <a:avLst/>
          </a:prstGeom>
          <a:noFill/>
        </p:spPr>
        <p:txBody>
          <a:bodyPr wrap="none" rtlCol="0">
            <a:spAutoFit/>
          </a:bodyPr>
          <a:lstStyle/>
          <a:p>
            <a:r>
              <a:rPr lang="en-US" sz="1200"/>
              <a:t>c) 0.359</a:t>
            </a:r>
            <a:endParaRPr lang="en-GB" sz="1200"/>
          </a:p>
        </p:txBody>
      </p:sp>
      <p:sp>
        <p:nvSpPr>
          <p:cNvPr id="49" name="TextBox 48"/>
          <p:cNvSpPr txBox="1"/>
          <p:nvPr/>
        </p:nvSpPr>
        <p:spPr>
          <a:xfrm>
            <a:off x="3523381" y="6098110"/>
            <a:ext cx="699230" cy="276999"/>
          </a:xfrm>
          <a:prstGeom prst="rect">
            <a:avLst/>
          </a:prstGeom>
          <a:noFill/>
        </p:spPr>
        <p:txBody>
          <a:bodyPr wrap="none" rtlCol="0">
            <a:spAutoFit/>
          </a:bodyPr>
          <a:lstStyle/>
          <a:p>
            <a:r>
              <a:rPr lang="en-US" sz="1200"/>
              <a:t>d) 0.399</a:t>
            </a:r>
            <a:endParaRPr lang="en-GB" sz="1200"/>
          </a:p>
        </p:txBody>
      </p:sp>
      <p:sp>
        <p:nvSpPr>
          <p:cNvPr id="50" name="TextBox 49"/>
          <p:cNvSpPr txBox="1"/>
          <p:nvPr/>
        </p:nvSpPr>
        <p:spPr>
          <a:xfrm>
            <a:off x="4627144" y="6094630"/>
            <a:ext cx="696024" cy="276999"/>
          </a:xfrm>
          <a:prstGeom prst="rect">
            <a:avLst/>
          </a:prstGeom>
          <a:noFill/>
        </p:spPr>
        <p:txBody>
          <a:bodyPr wrap="none" rtlCol="0">
            <a:spAutoFit/>
          </a:bodyPr>
          <a:lstStyle/>
          <a:p>
            <a:r>
              <a:rPr lang="en-US" sz="1200"/>
              <a:t>e) 0.193</a:t>
            </a:r>
            <a:endParaRPr lang="en-GB" sz="1200"/>
          </a:p>
        </p:txBody>
      </p:sp>
      <p:sp>
        <p:nvSpPr>
          <p:cNvPr id="51" name="Rectangle 50">
            <a:extLst>
              <a:ext uri="{FF2B5EF4-FFF2-40B4-BE49-F238E27FC236}">
                <a16:creationId xmlns:a16="http://schemas.microsoft.com/office/drawing/2014/main" id="{CEEF23AD-EA17-135A-DB95-1D1FECB286F3}"/>
              </a:ext>
            </a:extLst>
          </p:cNvPr>
          <p:cNvSpPr/>
          <p:nvPr/>
        </p:nvSpPr>
        <p:spPr>
          <a:xfrm>
            <a:off x="419177"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CEEF23AD-EA17-135A-DB95-1D1FECB286F3}"/>
              </a:ext>
            </a:extLst>
          </p:cNvPr>
          <p:cNvSpPr/>
          <p:nvPr/>
        </p:nvSpPr>
        <p:spPr>
          <a:xfrm>
            <a:off x="1463132"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Rectangle 52">
            <a:extLst>
              <a:ext uri="{FF2B5EF4-FFF2-40B4-BE49-F238E27FC236}">
                <a16:creationId xmlns:a16="http://schemas.microsoft.com/office/drawing/2014/main" id="{CEEF23AD-EA17-135A-DB95-1D1FECB286F3}"/>
              </a:ext>
            </a:extLst>
          </p:cNvPr>
          <p:cNvSpPr/>
          <p:nvPr/>
        </p:nvSpPr>
        <p:spPr>
          <a:xfrm>
            <a:off x="2519016"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CEEF23AD-EA17-135A-DB95-1D1FECB286F3}"/>
              </a:ext>
            </a:extLst>
          </p:cNvPr>
          <p:cNvSpPr/>
          <p:nvPr/>
        </p:nvSpPr>
        <p:spPr>
          <a:xfrm>
            <a:off x="3593214"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5" name="Rectangle 54">
            <a:extLst>
              <a:ext uri="{FF2B5EF4-FFF2-40B4-BE49-F238E27FC236}">
                <a16:creationId xmlns:a16="http://schemas.microsoft.com/office/drawing/2014/main" id="{CEEF23AD-EA17-135A-DB95-1D1FECB286F3}"/>
              </a:ext>
            </a:extLst>
          </p:cNvPr>
          <p:cNvSpPr/>
          <p:nvPr/>
        </p:nvSpPr>
        <p:spPr>
          <a:xfrm>
            <a:off x="4644878"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TextBox 55"/>
          <p:cNvSpPr txBox="1"/>
          <p:nvPr/>
        </p:nvSpPr>
        <p:spPr>
          <a:xfrm>
            <a:off x="5722157" y="6120277"/>
            <a:ext cx="746358" cy="276999"/>
          </a:xfrm>
          <a:prstGeom prst="rect">
            <a:avLst/>
          </a:prstGeom>
          <a:noFill/>
        </p:spPr>
        <p:txBody>
          <a:bodyPr wrap="none" rtlCol="0">
            <a:spAutoFit/>
          </a:bodyPr>
          <a:lstStyle/>
          <a:p>
            <a:r>
              <a:rPr lang="en-US" sz="1200"/>
              <a:t>f) 0.1931</a:t>
            </a:r>
            <a:endParaRPr lang="en-GB" sz="1200"/>
          </a:p>
        </p:txBody>
      </p:sp>
      <p:sp>
        <p:nvSpPr>
          <p:cNvPr id="57" name="Rectangle 56">
            <a:extLst>
              <a:ext uri="{FF2B5EF4-FFF2-40B4-BE49-F238E27FC236}">
                <a16:creationId xmlns:a16="http://schemas.microsoft.com/office/drawing/2014/main" id="{CEEF23AD-EA17-135A-DB95-1D1FECB286F3}"/>
              </a:ext>
            </a:extLst>
          </p:cNvPr>
          <p:cNvSpPr/>
          <p:nvPr/>
        </p:nvSpPr>
        <p:spPr>
          <a:xfrm>
            <a:off x="5693980" y="66564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TextBox 57"/>
          <p:cNvSpPr txBox="1"/>
          <p:nvPr/>
        </p:nvSpPr>
        <p:spPr>
          <a:xfrm>
            <a:off x="419177" y="7118043"/>
            <a:ext cx="769763" cy="276999"/>
          </a:xfrm>
          <a:prstGeom prst="rect">
            <a:avLst/>
          </a:prstGeom>
          <a:noFill/>
        </p:spPr>
        <p:txBody>
          <a:bodyPr wrap="none" rtlCol="0">
            <a:spAutoFit/>
          </a:bodyPr>
          <a:lstStyle/>
          <a:p>
            <a:r>
              <a:rPr lang="en-US" sz="1200"/>
              <a:t>g) 0.1913</a:t>
            </a:r>
            <a:endParaRPr lang="en-GB" sz="1200"/>
          </a:p>
        </p:txBody>
      </p:sp>
      <p:sp>
        <p:nvSpPr>
          <p:cNvPr id="59" name="TextBox 58"/>
          <p:cNvSpPr txBox="1"/>
          <p:nvPr/>
        </p:nvSpPr>
        <p:spPr>
          <a:xfrm>
            <a:off x="1471434" y="7109340"/>
            <a:ext cx="777777" cy="276999"/>
          </a:xfrm>
          <a:prstGeom prst="rect">
            <a:avLst/>
          </a:prstGeom>
          <a:noFill/>
        </p:spPr>
        <p:txBody>
          <a:bodyPr wrap="none" rtlCol="0">
            <a:spAutoFit/>
          </a:bodyPr>
          <a:lstStyle/>
          <a:p>
            <a:r>
              <a:rPr lang="en-US" sz="1200"/>
              <a:t>h) 0.1935</a:t>
            </a:r>
            <a:endParaRPr lang="en-GB" sz="1200"/>
          </a:p>
        </p:txBody>
      </p:sp>
      <p:sp>
        <p:nvSpPr>
          <p:cNvPr id="60" name="TextBox 59"/>
          <p:cNvSpPr txBox="1"/>
          <p:nvPr/>
        </p:nvSpPr>
        <p:spPr>
          <a:xfrm>
            <a:off x="2548093" y="7109341"/>
            <a:ext cx="732893" cy="276999"/>
          </a:xfrm>
          <a:prstGeom prst="rect">
            <a:avLst/>
          </a:prstGeom>
          <a:noFill/>
        </p:spPr>
        <p:txBody>
          <a:bodyPr wrap="none" rtlCol="0">
            <a:spAutoFit/>
          </a:bodyPr>
          <a:lstStyle/>
          <a:p>
            <a:r>
              <a:rPr lang="en-US" sz="1200"/>
              <a:t>i) 0.1953</a:t>
            </a:r>
            <a:endParaRPr lang="en-GB" sz="1200"/>
          </a:p>
        </p:txBody>
      </p:sp>
      <p:sp>
        <p:nvSpPr>
          <p:cNvPr id="61" name="TextBox 60"/>
          <p:cNvSpPr txBox="1"/>
          <p:nvPr/>
        </p:nvSpPr>
        <p:spPr>
          <a:xfrm>
            <a:off x="3555139" y="7132433"/>
            <a:ext cx="734496" cy="276999"/>
          </a:xfrm>
          <a:prstGeom prst="rect">
            <a:avLst/>
          </a:prstGeom>
          <a:noFill/>
        </p:spPr>
        <p:txBody>
          <a:bodyPr wrap="none" rtlCol="0">
            <a:spAutoFit/>
          </a:bodyPr>
          <a:lstStyle/>
          <a:p>
            <a:r>
              <a:rPr lang="en-US" sz="1200"/>
              <a:t>j) 0.1955</a:t>
            </a:r>
            <a:endParaRPr lang="en-GB" sz="1200"/>
          </a:p>
        </p:txBody>
      </p:sp>
      <p:sp>
        <p:nvSpPr>
          <p:cNvPr id="62" name="TextBox 61"/>
          <p:cNvSpPr txBox="1"/>
          <p:nvPr/>
        </p:nvSpPr>
        <p:spPr>
          <a:xfrm>
            <a:off x="4658902" y="7128953"/>
            <a:ext cx="768159" cy="276999"/>
          </a:xfrm>
          <a:prstGeom prst="rect">
            <a:avLst/>
          </a:prstGeom>
          <a:noFill/>
        </p:spPr>
        <p:txBody>
          <a:bodyPr wrap="none" rtlCol="0">
            <a:spAutoFit/>
          </a:bodyPr>
          <a:lstStyle/>
          <a:p>
            <a:r>
              <a:rPr lang="en-US" sz="1200"/>
              <a:t>k) 0.1995</a:t>
            </a:r>
            <a:endParaRPr lang="en-GB" sz="1200"/>
          </a:p>
        </p:txBody>
      </p:sp>
      <p:sp>
        <p:nvSpPr>
          <p:cNvPr id="63" name="Rectangle 62">
            <a:extLst>
              <a:ext uri="{FF2B5EF4-FFF2-40B4-BE49-F238E27FC236}">
                <a16:creationId xmlns:a16="http://schemas.microsoft.com/office/drawing/2014/main" id="{CEEF23AD-EA17-135A-DB95-1D1FECB286F3}"/>
              </a:ext>
            </a:extLst>
          </p:cNvPr>
          <p:cNvSpPr/>
          <p:nvPr/>
        </p:nvSpPr>
        <p:spPr>
          <a:xfrm>
            <a:off x="419177"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CEEF23AD-EA17-135A-DB95-1D1FECB286F3}"/>
              </a:ext>
            </a:extLst>
          </p:cNvPr>
          <p:cNvSpPr/>
          <p:nvPr/>
        </p:nvSpPr>
        <p:spPr>
          <a:xfrm>
            <a:off x="1463132"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CEEF23AD-EA17-135A-DB95-1D1FECB286F3}"/>
              </a:ext>
            </a:extLst>
          </p:cNvPr>
          <p:cNvSpPr/>
          <p:nvPr/>
        </p:nvSpPr>
        <p:spPr>
          <a:xfrm>
            <a:off x="2519016"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CEEF23AD-EA17-135A-DB95-1D1FECB286F3}"/>
              </a:ext>
            </a:extLst>
          </p:cNvPr>
          <p:cNvSpPr/>
          <p:nvPr/>
        </p:nvSpPr>
        <p:spPr>
          <a:xfrm>
            <a:off x="3593214"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4644878"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TextBox 67"/>
          <p:cNvSpPr txBox="1"/>
          <p:nvPr/>
        </p:nvSpPr>
        <p:spPr>
          <a:xfrm>
            <a:off x="5753915" y="7154600"/>
            <a:ext cx="732893" cy="276999"/>
          </a:xfrm>
          <a:prstGeom prst="rect">
            <a:avLst/>
          </a:prstGeom>
          <a:noFill/>
        </p:spPr>
        <p:txBody>
          <a:bodyPr wrap="none" rtlCol="0">
            <a:spAutoFit/>
          </a:bodyPr>
          <a:lstStyle/>
          <a:p>
            <a:r>
              <a:rPr lang="en-US" sz="1200"/>
              <a:t>l) 0.1999</a:t>
            </a:r>
            <a:endParaRPr lang="en-GB" sz="1200"/>
          </a:p>
        </p:txBody>
      </p:sp>
      <p:sp>
        <p:nvSpPr>
          <p:cNvPr id="69" name="Rectangle 68">
            <a:extLst>
              <a:ext uri="{FF2B5EF4-FFF2-40B4-BE49-F238E27FC236}">
                <a16:creationId xmlns:a16="http://schemas.microsoft.com/office/drawing/2014/main" id="{CEEF23AD-EA17-135A-DB95-1D1FECB286F3}"/>
              </a:ext>
            </a:extLst>
          </p:cNvPr>
          <p:cNvSpPr/>
          <p:nvPr/>
        </p:nvSpPr>
        <p:spPr>
          <a:xfrm>
            <a:off x="5693980" y="76538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TextBox 69"/>
          <p:cNvSpPr txBox="1"/>
          <p:nvPr/>
        </p:nvSpPr>
        <p:spPr>
          <a:xfrm>
            <a:off x="369685" y="8217112"/>
            <a:ext cx="821059" cy="276999"/>
          </a:xfrm>
          <a:prstGeom prst="rect">
            <a:avLst/>
          </a:prstGeom>
          <a:noFill/>
        </p:spPr>
        <p:txBody>
          <a:bodyPr wrap="none" rtlCol="0">
            <a:spAutoFit/>
          </a:bodyPr>
          <a:lstStyle/>
          <a:p>
            <a:r>
              <a:rPr lang="en-US" sz="1200"/>
              <a:t>m) 0.0156</a:t>
            </a:r>
            <a:endParaRPr lang="en-GB" sz="1200"/>
          </a:p>
        </p:txBody>
      </p:sp>
      <p:sp>
        <p:nvSpPr>
          <p:cNvPr id="71" name="TextBox 70"/>
          <p:cNvSpPr txBox="1"/>
          <p:nvPr/>
        </p:nvSpPr>
        <p:spPr>
          <a:xfrm>
            <a:off x="1415654" y="8224458"/>
            <a:ext cx="777777" cy="276999"/>
          </a:xfrm>
          <a:prstGeom prst="rect">
            <a:avLst/>
          </a:prstGeom>
          <a:noFill/>
        </p:spPr>
        <p:txBody>
          <a:bodyPr wrap="none" rtlCol="0">
            <a:spAutoFit/>
          </a:bodyPr>
          <a:lstStyle/>
          <a:p>
            <a:r>
              <a:rPr lang="en-US" sz="1200"/>
              <a:t>n) 0.0165</a:t>
            </a:r>
            <a:endParaRPr lang="en-GB" sz="1200"/>
          </a:p>
        </p:txBody>
      </p:sp>
      <p:sp>
        <p:nvSpPr>
          <p:cNvPr id="72" name="TextBox 71"/>
          <p:cNvSpPr txBox="1"/>
          <p:nvPr/>
        </p:nvSpPr>
        <p:spPr>
          <a:xfrm>
            <a:off x="2457248" y="8237741"/>
            <a:ext cx="779381" cy="276999"/>
          </a:xfrm>
          <a:prstGeom prst="rect">
            <a:avLst/>
          </a:prstGeom>
          <a:noFill/>
        </p:spPr>
        <p:txBody>
          <a:bodyPr wrap="none" rtlCol="0">
            <a:spAutoFit/>
          </a:bodyPr>
          <a:lstStyle/>
          <a:p>
            <a:r>
              <a:rPr lang="en-US" sz="1200"/>
              <a:t>o) 0.0564</a:t>
            </a:r>
            <a:endParaRPr lang="en-GB" sz="1200"/>
          </a:p>
        </p:txBody>
      </p:sp>
      <p:sp>
        <p:nvSpPr>
          <p:cNvPr id="73" name="TextBox 72"/>
          <p:cNvSpPr txBox="1"/>
          <p:nvPr/>
        </p:nvSpPr>
        <p:spPr>
          <a:xfrm>
            <a:off x="3505647" y="8231502"/>
            <a:ext cx="777777" cy="276999"/>
          </a:xfrm>
          <a:prstGeom prst="rect">
            <a:avLst/>
          </a:prstGeom>
          <a:noFill/>
        </p:spPr>
        <p:txBody>
          <a:bodyPr wrap="none" rtlCol="0">
            <a:spAutoFit/>
          </a:bodyPr>
          <a:lstStyle/>
          <a:p>
            <a:r>
              <a:rPr lang="en-US" sz="1200"/>
              <a:t>p) 0.0565</a:t>
            </a:r>
            <a:endParaRPr lang="en-GB" sz="1200"/>
          </a:p>
        </p:txBody>
      </p:sp>
      <p:sp>
        <p:nvSpPr>
          <p:cNvPr id="74" name="TextBox 73"/>
          <p:cNvSpPr txBox="1"/>
          <p:nvPr/>
        </p:nvSpPr>
        <p:spPr>
          <a:xfrm>
            <a:off x="4592952" y="8217112"/>
            <a:ext cx="777777" cy="276999"/>
          </a:xfrm>
          <a:prstGeom prst="rect">
            <a:avLst/>
          </a:prstGeom>
          <a:noFill/>
        </p:spPr>
        <p:txBody>
          <a:bodyPr wrap="none" rtlCol="0">
            <a:spAutoFit/>
          </a:bodyPr>
          <a:lstStyle/>
          <a:p>
            <a:r>
              <a:rPr lang="en-US" sz="1200"/>
              <a:t>q) 0.0599</a:t>
            </a:r>
            <a:endParaRPr lang="en-GB" sz="1200"/>
          </a:p>
        </p:txBody>
      </p:sp>
      <p:sp>
        <p:nvSpPr>
          <p:cNvPr id="75" name="Rectangle 74">
            <a:extLst>
              <a:ext uri="{FF2B5EF4-FFF2-40B4-BE49-F238E27FC236}">
                <a16:creationId xmlns:a16="http://schemas.microsoft.com/office/drawing/2014/main" id="{CEEF23AD-EA17-135A-DB95-1D1FECB286F3}"/>
              </a:ext>
            </a:extLst>
          </p:cNvPr>
          <p:cNvSpPr/>
          <p:nvPr/>
        </p:nvSpPr>
        <p:spPr>
          <a:xfrm>
            <a:off x="401443"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6" name="Rectangle 75">
            <a:extLst>
              <a:ext uri="{FF2B5EF4-FFF2-40B4-BE49-F238E27FC236}">
                <a16:creationId xmlns:a16="http://schemas.microsoft.com/office/drawing/2014/main" id="{CEEF23AD-EA17-135A-DB95-1D1FECB286F3}"/>
              </a:ext>
            </a:extLst>
          </p:cNvPr>
          <p:cNvSpPr/>
          <p:nvPr/>
        </p:nvSpPr>
        <p:spPr>
          <a:xfrm>
            <a:off x="1445398"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7" name="Rectangle 76">
            <a:extLst>
              <a:ext uri="{FF2B5EF4-FFF2-40B4-BE49-F238E27FC236}">
                <a16:creationId xmlns:a16="http://schemas.microsoft.com/office/drawing/2014/main" id="{CEEF23AD-EA17-135A-DB95-1D1FECB286F3}"/>
              </a:ext>
            </a:extLst>
          </p:cNvPr>
          <p:cNvSpPr/>
          <p:nvPr/>
        </p:nvSpPr>
        <p:spPr>
          <a:xfrm>
            <a:off x="2501282"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8" name="Rectangle 77">
            <a:extLst>
              <a:ext uri="{FF2B5EF4-FFF2-40B4-BE49-F238E27FC236}">
                <a16:creationId xmlns:a16="http://schemas.microsoft.com/office/drawing/2014/main" id="{CEEF23AD-EA17-135A-DB95-1D1FECB286F3}"/>
              </a:ext>
            </a:extLst>
          </p:cNvPr>
          <p:cNvSpPr/>
          <p:nvPr/>
        </p:nvSpPr>
        <p:spPr>
          <a:xfrm>
            <a:off x="3575480"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9" name="Rectangle 78">
            <a:extLst>
              <a:ext uri="{FF2B5EF4-FFF2-40B4-BE49-F238E27FC236}">
                <a16:creationId xmlns:a16="http://schemas.microsoft.com/office/drawing/2014/main" id="{CEEF23AD-EA17-135A-DB95-1D1FECB286F3}"/>
              </a:ext>
            </a:extLst>
          </p:cNvPr>
          <p:cNvSpPr/>
          <p:nvPr/>
        </p:nvSpPr>
        <p:spPr>
          <a:xfrm>
            <a:off x="4627144"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0" name="TextBox 79"/>
          <p:cNvSpPr txBox="1"/>
          <p:nvPr/>
        </p:nvSpPr>
        <p:spPr>
          <a:xfrm>
            <a:off x="5639747" y="8212123"/>
            <a:ext cx="907621" cy="276999"/>
          </a:xfrm>
          <a:prstGeom prst="rect">
            <a:avLst/>
          </a:prstGeom>
          <a:noFill/>
        </p:spPr>
        <p:txBody>
          <a:bodyPr wrap="none" rtlCol="0">
            <a:spAutoFit/>
          </a:bodyPr>
          <a:lstStyle/>
          <a:p>
            <a:r>
              <a:rPr lang="en-US" sz="1200"/>
              <a:t>r) 0.009559</a:t>
            </a:r>
            <a:endParaRPr lang="en-GB" sz="1200"/>
          </a:p>
        </p:txBody>
      </p:sp>
      <p:sp>
        <p:nvSpPr>
          <p:cNvPr id="81" name="Rectangle 80">
            <a:extLst>
              <a:ext uri="{FF2B5EF4-FFF2-40B4-BE49-F238E27FC236}">
                <a16:creationId xmlns:a16="http://schemas.microsoft.com/office/drawing/2014/main" id="{CEEF23AD-EA17-135A-DB95-1D1FECB286F3}"/>
              </a:ext>
            </a:extLst>
          </p:cNvPr>
          <p:cNvSpPr/>
          <p:nvPr/>
        </p:nvSpPr>
        <p:spPr>
          <a:xfrm>
            <a:off x="5676246" y="8784061"/>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2"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26</a:t>
            </a:fld>
            <a:endParaRPr lang="en-GB"/>
          </a:p>
        </p:txBody>
      </p:sp>
      <p:sp>
        <p:nvSpPr>
          <p:cNvPr id="83" name="Rectangle 82">
            <a:extLst>
              <a:ext uri="{FF2B5EF4-FFF2-40B4-BE49-F238E27FC236}">
                <a16:creationId xmlns:a16="http://schemas.microsoft.com/office/drawing/2014/main" id="{9AA0D900-1D32-6442-D3F6-93670CE3C0D1}"/>
              </a:ext>
            </a:extLst>
          </p:cNvPr>
          <p:cNvSpPr/>
          <p:nvPr/>
        </p:nvSpPr>
        <p:spPr>
          <a:xfrm>
            <a:off x="93878" y="567771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2171972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945480" y="2030231"/>
            <a:ext cx="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 name="Table 2"/>
          <p:cNvGraphicFramePr>
            <a:graphicFrameLocks noGrp="1"/>
          </p:cNvGraphicFramePr>
          <p:nvPr/>
        </p:nvGraphicFramePr>
        <p:xfrm>
          <a:off x="147221" y="585857"/>
          <a:ext cx="6543680" cy="5076085"/>
        </p:xfrm>
        <a:graphic>
          <a:graphicData uri="http://schemas.openxmlformats.org/drawingml/2006/table">
            <a:tbl>
              <a:tblPr firstRow="1" bandRow="1">
                <a:tableStyleId>{5C22544A-7EE6-4342-B048-85BDC9FD1C3A}</a:tableStyleId>
              </a:tblPr>
              <a:tblGrid>
                <a:gridCol w="1635920">
                  <a:extLst>
                    <a:ext uri="{9D8B030D-6E8A-4147-A177-3AD203B41FA5}">
                      <a16:colId xmlns:a16="http://schemas.microsoft.com/office/drawing/2014/main" val="1568142362"/>
                    </a:ext>
                  </a:extLst>
                </a:gridCol>
                <a:gridCol w="1635920">
                  <a:extLst>
                    <a:ext uri="{9D8B030D-6E8A-4147-A177-3AD203B41FA5}">
                      <a16:colId xmlns:a16="http://schemas.microsoft.com/office/drawing/2014/main" val="609968388"/>
                    </a:ext>
                  </a:extLst>
                </a:gridCol>
                <a:gridCol w="1635920">
                  <a:extLst>
                    <a:ext uri="{9D8B030D-6E8A-4147-A177-3AD203B41FA5}">
                      <a16:colId xmlns:a16="http://schemas.microsoft.com/office/drawing/2014/main" val="3207776717"/>
                    </a:ext>
                  </a:extLst>
                </a:gridCol>
                <a:gridCol w="1635920">
                  <a:extLst>
                    <a:ext uri="{9D8B030D-6E8A-4147-A177-3AD203B41FA5}">
                      <a16:colId xmlns:a16="http://schemas.microsoft.com/office/drawing/2014/main" val="1889420402"/>
                    </a:ext>
                  </a:extLst>
                </a:gridCol>
              </a:tblGrid>
              <a:tr h="254009">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schemeClr val="tx1"/>
                          </a:solidFill>
                        </a:rPr>
                        <a:t>Round to 3</a:t>
                      </a:r>
                      <a:r>
                        <a:rPr lang="en-US" sz="1100" b="1" baseline="0">
                          <a:solidFill>
                            <a:schemeClr val="tx1"/>
                          </a:solidFill>
                        </a:rPr>
                        <a:t> </a:t>
                      </a:r>
                      <a:r>
                        <a:rPr lang="en-US" sz="1100" b="1">
                          <a:solidFill>
                            <a:schemeClr val="tx1"/>
                          </a:solidFill>
                        </a:rPr>
                        <a:t>significant figures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784831">
                <a:tc>
                  <a:txBody>
                    <a:bodyPr/>
                    <a:lstStyle/>
                    <a:p>
                      <a:pPr marL="0" indent="0">
                        <a:buNone/>
                      </a:pPr>
                      <a:r>
                        <a:rPr lang="en-US" sz="1100"/>
                        <a:t>1)</a:t>
                      </a:r>
                      <a:r>
                        <a:rPr lang="en-US" sz="1100" baseline="0"/>
                        <a:t> </a:t>
                      </a:r>
                      <a:r>
                        <a:rPr lang="en-US" sz="1100"/>
                        <a:t>Draw a line between</a:t>
                      </a:r>
                      <a:r>
                        <a:rPr lang="en-US" sz="1100" baseline="0"/>
                        <a:t> the </a:t>
                      </a:r>
                      <a:r>
                        <a:rPr lang="en-US" sz="1100" b="1" baseline="0"/>
                        <a:t>third and forth </a:t>
                      </a:r>
                      <a:r>
                        <a:rPr lang="en-US" sz="1100" baseline="0"/>
                        <a:t>significant figure.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625722">
                <a:tc>
                  <a:txBody>
                    <a:bodyPr/>
                    <a:lstStyle/>
                    <a:p>
                      <a:pPr marL="0" indent="0">
                        <a:buNone/>
                      </a:pPr>
                      <a:r>
                        <a:rPr lang="en-US" sz="1100"/>
                        <a:t>2) If the </a:t>
                      </a:r>
                      <a:r>
                        <a:rPr lang="en-US" sz="1100" baseline="0"/>
                        <a:t>4</a:t>
                      </a:r>
                      <a:r>
                        <a:rPr lang="en-US" sz="1100" baseline="30000"/>
                        <a:t>th</a:t>
                      </a:r>
                      <a:r>
                        <a:rPr lang="en-US" sz="1100" baseline="0"/>
                        <a:t> significant figure is </a:t>
                      </a:r>
                      <a:r>
                        <a:rPr lang="en-US" sz="1100" b="1" baseline="0"/>
                        <a:t>5 or above</a:t>
                      </a:r>
                      <a:r>
                        <a:rPr lang="en-US" sz="1100" baseline="0"/>
                        <a:t>, the 3</a:t>
                      </a:r>
                      <a:r>
                        <a:rPr lang="en-US" sz="1100" baseline="30000"/>
                        <a:t>rd</a:t>
                      </a:r>
                      <a:r>
                        <a:rPr lang="en-US" sz="1100" baseline="0"/>
                        <a:t> significant figure rounds </a:t>
                      </a:r>
                      <a:r>
                        <a:rPr lang="en-US" sz="1100" b="1" baseline="0"/>
                        <a:t>up.  </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06452">
                <a:tc>
                  <a:txBody>
                    <a:bodyPr/>
                    <a:lstStyle/>
                    <a:p>
                      <a:pPr marL="0" indent="0">
                        <a:buNone/>
                      </a:pPr>
                      <a:r>
                        <a:rPr lang="en-US" sz="1100"/>
                        <a:t>3) If the </a:t>
                      </a:r>
                      <a:r>
                        <a:rPr lang="en-US" sz="1100" baseline="0"/>
                        <a:t>4</a:t>
                      </a:r>
                      <a:r>
                        <a:rPr lang="en-US" sz="1100" baseline="30000"/>
                        <a:t>th</a:t>
                      </a:r>
                      <a:r>
                        <a:rPr lang="en-US" sz="1100" baseline="0"/>
                        <a:t> significant figure is </a:t>
                      </a:r>
                      <a:r>
                        <a:rPr lang="en-US" sz="1100" b="1" baseline="0"/>
                        <a:t>4 or below</a:t>
                      </a:r>
                      <a:r>
                        <a:rPr lang="en-US" sz="1100" baseline="0"/>
                        <a:t>, the 3</a:t>
                      </a:r>
                      <a:r>
                        <a:rPr lang="en-US" sz="1100" baseline="30000"/>
                        <a:t>rd</a:t>
                      </a:r>
                      <a:r>
                        <a:rPr lang="en-US" sz="1100" baseline="0"/>
                        <a:t> significant figure stays the same.</a:t>
                      </a:r>
                      <a:endParaRPr lang="en-US" sz="11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p:sp>
        <p:nvSpPr>
          <p:cNvPr id="4" name="TextBox 3">
            <a:extLst>
              <a:ext uri="{FF2B5EF4-FFF2-40B4-BE49-F238E27FC236}">
                <a16:creationId xmlns:a16="http://schemas.microsoft.com/office/drawing/2014/main" id="{BCDC1A2B-2D26-C945-B722-18950FA49879}"/>
              </a:ext>
            </a:extLst>
          </p:cNvPr>
          <p:cNvSpPr txBox="1"/>
          <p:nvPr/>
        </p:nvSpPr>
        <p:spPr>
          <a:xfrm>
            <a:off x="1928840" y="328574"/>
            <a:ext cx="1410704" cy="276999"/>
          </a:xfrm>
          <a:prstGeom prst="rect">
            <a:avLst/>
          </a:prstGeom>
          <a:noFill/>
          <a:ln>
            <a:noFill/>
          </a:ln>
        </p:spPr>
        <p:txBody>
          <a:bodyPr wrap="square" rtlCol="0">
            <a:spAutoFit/>
          </a:bodyPr>
          <a:lstStyle/>
          <a:p>
            <a:r>
              <a:rPr lang="en-GB" sz="1200" b="1" i="1">
                <a:solidFill>
                  <a:srgbClr val="FF0000"/>
                </a:solidFill>
              </a:rPr>
              <a:t>Example 22 -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062737" y="306466"/>
            <a:ext cx="1643405" cy="276999"/>
          </a:xfrm>
          <a:prstGeom prst="rect">
            <a:avLst/>
          </a:prstGeom>
          <a:noFill/>
          <a:ln>
            <a:noFill/>
          </a:ln>
        </p:spPr>
        <p:txBody>
          <a:bodyPr wrap="square" rtlCol="0">
            <a:spAutoFit/>
          </a:bodyPr>
          <a:lstStyle/>
          <a:p>
            <a:r>
              <a:rPr lang="en-GB" sz="1200" b="1" i="1">
                <a:solidFill>
                  <a:srgbClr val="00B050"/>
                </a:solidFill>
              </a:rPr>
              <a:t>Example 24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53558" y="318567"/>
            <a:ext cx="1667605" cy="276999"/>
          </a:xfrm>
          <a:prstGeom prst="rect">
            <a:avLst/>
          </a:prstGeom>
          <a:noFill/>
          <a:ln>
            <a:noFill/>
          </a:ln>
        </p:spPr>
        <p:txBody>
          <a:bodyPr wrap="square" rtlCol="0">
            <a:spAutoFit/>
          </a:bodyPr>
          <a:lstStyle/>
          <a:p>
            <a:r>
              <a:rPr lang="en-GB" sz="1200" b="1" i="1">
                <a:solidFill>
                  <a:schemeClr val="accent2"/>
                </a:solidFill>
              </a:rPr>
              <a:t>Example 23 - We do…</a:t>
            </a:r>
          </a:p>
        </p:txBody>
      </p:sp>
      <p:sp>
        <p:nvSpPr>
          <p:cNvPr id="7" name="TextBox 6"/>
          <p:cNvSpPr txBox="1"/>
          <p:nvPr/>
        </p:nvSpPr>
        <p:spPr>
          <a:xfrm>
            <a:off x="1885549" y="856164"/>
            <a:ext cx="1419715" cy="1046440"/>
          </a:xfrm>
          <a:prstGeom prst="rect">
            <a:avLst/>
          </a:prstGeom>
          <a:noFill/>
        </p:spPr>
        <p:txBody>
          <a:bodyPr wrap="square" rtlCol="0">
            <a:spAutoFit/>
          </a:bodyPr>
          <a:lstStyle/>
          <a:p>
            <a:pPr algn="ctr"/>
            <a:r>
              <a:rPr lang="en-US" sz="1200"/>
              <a:t>Round 16740 to three significant figures</a:t>
            </a:r>
          </a:p>
          <a:p>
            <a:pPr algn="ctr"/>
            <a:endParaRPr lang="en-US" sz="1200"/>
          </a:p>
          <a:p>
            <a:pPr algn="ctr"/>
            <a:r>
              <a:rPr lang="en-US" sz="1400"/>
              <a:t>1  6  7  4  0</a:t>
            </a:r>
          </a:p>
        </p:txBody>
      </p:sp>
      <p:sp>
        <p:nvSpPr>
          <p:cNvPr id="12" name="Rectangle 11">
            <a:extLst>
              <a:ext uri="{FF2B5EF4-FFF2-40B4-BE49-F238E27FC236}">
                <a16:creationId xmlns:a16="http://schemas.microsoft.com/office/drawing/2014/main" id="{CEEF23AD-EA17-135A-DB95-1D1FECB286F3}"/>
              </a:ext>
            </a:extLst>
          </p:cNvPr>
          <p:cNvSpPr/>
          <p:nvPr/>
        </p:nvSpPr>
        <p:spPr>
          <a:xfrm>
            <a:off x="1890296" y="2166004"/>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9" name="TextBox 18"/>
          <p:cNvSpPr txBox="1"/>
          <p:nvPr/>
        </p:nvSpPr>
        <p:spPr>
          <a:xfrm>
            <a:off x="1885550" y="2477568"/>
            <a:ext cx="1419715" cy="1015663"/>
          </a:xfrm>
          <a:prstGeom prst="rect">
            <a:avLst/>
          </a:prstGeom>
          <a:noFill/>
        </p:spPr>
        <p:txBody>
          <a:bodyPr wrap="square" rtlCol="0">
            <a:spAutoFit/>
          </a:bodyPr>
          <a:lstStyle/>
          <a:p>
            <a:pPr algn="ctr"/>
            <a:r>
              <a:rPr lang="en-US" sz="1200"/>
              <a:t>Round 1.674 to three significant figures</a:t>
            </a:r>
          </a:p>
          <a:p>
            <a:pPr algn="ctr"/>
            <a:endParaRPr lang="en-US" sz="1200"/>
          </a:p>
          <a:p>
            <a:pPr algn="ctr"/>
            <a:r>
              <a:rPr lang="en-US" sz="1200"/>
              <a:t>1  .  6   7   4</a:t>
            </a:r>
          </a:p>
        </p:txBody>
      </p:sp>
      <p:sp>
        <p:nvSpPr>
          <p:cNvPr id="20" name="TextBox 19"/>
          <p:cNvSpPr txBox="1"/>
          <p:nvPr/>
        </p:nvSpPr>
        <p:spPr>
          <a:xfrm>
            <a:off x="1888129" y="3994674"/>
            <a:ext cx="1419715" cy="1015663"/>
          </a:xfrm>
          <a:prstGeom prst="rect">
            <a:avLst/>
          </a:prstGeom>
          <a:noFill/>
        </p:spPr>
        <p:txBody>
          <a:bodyPr wrap="square" rtlCol="0">
            <a:spAutoFit/>
          </a:bodyPr>
          <a:lstStyle/>
          <a:p>
            <a:pPr algn="ctr"/>
            <a:r>
              <a:rPr lang="en-US" sz="1200"/>
              <a:t>Round 0.1674 to three significant figures</a:t>
            </a:r>
          </a:p>
          <a:p>
            <a:pPr algn="ctr"/>
            <a:endParaRPr lang="en-US" sz="1200"/>
          </a:p>
          <a:p>
            <a:pPr algn="ctr"/>
            <a:r>
              <a:rPr lang="en-US" sz="1200"/>
              <a:t>0  .  1  6  7  4</a:t>
            </a:r>
          </a:p>
        </p:txBody>
      </p:sp>
      <p:sp>
        <p:nvSpPr>
          <p:cNvPr id="21" name="Rectangle 20">
            <a:extLst>
              <a:ext uri="{FF2B5EF4-FFF2-40B4-BE49-F238E27FC236}">
                <a16:creationId xmlns:a16="http://schemas.microsoft.com/office/drawing/2014/main" id="{CEEF23AD-EA17-135A-DB95-1D1FECB286F3}"/>
              </a:ext>
            </a:extLst>
          </p:cNvPr>
          <p:cNvSpPr/>
          <p:nvPr/>
        </p:nvSpPr>
        <p:spPr>
          <a:xfrm>
            <a:off x="1885549" y="3639727"/>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1870782" y="5148616"/>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TextBox 22"/>
          <p:cNvSpPr txBox="1"/>
          <p:nvPr/>
        </p:nvSpPr>
        <p:spPr>
          <a:xfrm>
            <a:off x="3536703" y="852849"/>
            <a:ext cx="1419715" cy="830997"/>
          </a:xfrm>
          <a:prstGeom prst="rect">
            <a:avLst/>
          </a:prstGeom>
          <a:noFill/>
        </p:spPr>
        <p:txBody>
          <a:bodyPr wrap="square" rtlCol="0">
            <a:spAutoFit/>
          </a:bodyPr>
          <a:lstStyle/>
          <a:p>
            <a:pPr algn="ctr"/>
            <a:r>
              <a:rPr lang="en-US" sz="1200"/>
              <a:t>Round 24520 to three significant figures</a:t>
            </a:r>
          </a:p>
          <a:p>
            <a:pPr algn="ctr"/>
            <a:endParaRPr lang="en-US" sz="1200"/>
          </a:p>
        </p:txBody>
      </p:sp>
      <p:sp>
        <p:nvSpPr>
          <p:cNvPr id="24" name="Rectangle 23">
            <a:extLst>
              <a:ext uri="{FF2B5EF4-FFF2-40B4-BE49-F238E27FC236}">
                <a16:creationId xmlns:a16="http://schemas.microsoft.com/office/drawing/2014/main" id="{CEEF23AD-EA17-135A-DB95-1D1FECB286F3}"/>
              </a:ext>
            </a:extLst>
          </p:cNvPr>
          <p:cNvSpPr/>
          <p:nvPr/>
        </p:nvSpPr>
        <p:spPr>
          <a:xfrm>
            <a:off x="3541450" y="216268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5" name="TextBox 24"/>
          <p:cNvSpPr txBox="1"/>
          <p:nvPr/>
        </p:nvSpPr>
        <p:spPr>
          <a:xfrm>
            <a:off x="3536704" y="2474253"/>
            <a:ext cx="1419715" cy="830997"/>
          </a:xfrm>
          <a:prstGeom prst="rect">
            <a:avLst/>
          </a:prstGeom>
          <a:noFill/>
        </p:spPr>
        <p:txBody>
          <a:bodyPr wrap="square" rtlCol="0">
            <a:spAutoFit/>
          </a:bodyPr>
          <a:lstStyle/>
          <a:p>
            <a:pPr algn="ctr"/>
            <a:r>
              <a:rPr lang="en-US" sz="1200"/>
              <a:t>Round 3.065 to three significant figures</a:t>
            </a:r>
          </a:p>
          <a:p>
            <a:pPr algn="ctr"/>
            <a:endParaRPr lang="en-US" sz="1200"/>
          </a:p>
        </p:txBody>
      </p:sp>
      <p:sp>
        <p:nvSpPr>
          <p:cNvPr id="26" name="TextBox 25"/>
          <p:cNvSpPr txBox="1"/>
          <p:nvPr/>
        </p:nvSpPr>
        <p:spPr>
          <a:xfrm>
            <a:off x="3539283" y="3991359"/>
            <a:ext cx="1419715" cy="830997"/>
          </a:xfrm>
          <a:prstGeom prst="rect">
            <a:avLst/>
          </a:prstGeom>
          <a:noFill/>
        </p:spPr>
        <p:txBody>
          <a:bodyPr wrap="square" rtlCol="0">
            <a:spAutoFit/>
          </a:bodyPr>
          <a:lstStyle/>
          <a:p>
            <a:pPr algn="ctr"/>
            <a:r>
              <a:rPr lang="en-US" sz="1200"/>
              <a:t>Round 0.8295 to three significant figures</a:t>
            </a:r>
          </a:p>
          <a:p>
            <a:pPr algn="ctr"/>
            <a:endParaRPr lang="en-US" sz="1200"/>
          </a:p>
        </p:txBody>
      </p:sp>
      <p:sp>
        <p:nvSpPr>
          <p:cNvPr id="27" name="Rectangle 26">
            <a:extLst>
              <a:ext uri="{FF2B5EF4-FFF2-40B4-BE49-F238E27FC236}">
                <a16:creationId xmlns:a16="http://schemas.microsoft.com/office/drawing/2014/main" id="{CEEF23AD-EA17-135A-DB95-1D1FECB286F3}"/>
              </a:ext>
            </a:extLst>
          </p:cNvPr>
          <p:cNvSpPr/>
          <p:nvPr/>
        </p:nvSpPr>
        <p:spPr>
          <a:xfrm>
            <a:off x="3536703" y="363641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8" name="Rectangle 27">
            <a:extLst>
              <a:ext uri="{FF2B5EF4-FFF2-40B4-BE49-F238E27FC236}">
                <a16:creationId xmlns:a16="http://schemas.microsoft.com/office/drawing/2014/main" id="{CEEF23AD-EA17-135A-DB95-1D1FECB286F3}"/>
              </a:ext>
            </a:extLst>
          </p:cNvPr>
          <p:cNvSpPr/>
          <p:nvPr/>
        </p:nvSpPr>
        <p:spPr>
          <a:xfrm>
            <a:off x="3521936" y="51453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TextBox 28"/>
          <p:cNvSpPr txBox="1"/>
          <p:nvPr/>
        </p:nvSpPr>
        <p:spPr>
          <a:xfrm>
            <a:off x="5168345" y="852849"/>
            <a:ext cx="1419715" cy="830997"/>
          </a:xfrm>
          <a:prstGeom prst="rect">
            <a:avLst/>
          </a:prstGeom>
          <a:noFill/>
        </p:spPr>
        <p:txBody>
          <a:bodyPr wrap="square" rtlCol="0">
            <a:spAutoFit/>
          </a:bodyPr>
          <a:lstStyle/>
          <a:p>
            <a:pPr algn="ctr"/>
            <a:r>
              <a:rPr lang="en-US" sz="1200"/>
              <a:t>Round 26380 to three significant figures</a:t>
            </a:r>
          </a:p>
          <a:p>
            <a:pPr algn="ctr"/>
            <a:endParaRPr lang="en-US" sz="1200"/>
          </a:p>
        </p:txBody>
      </p:sp>
      <p:sp>
        <p:nvSpPr>
          <p:cNvPr id="30" name="Rectangle 29">
            <a:extLst>
              <a:ext uri="{FF2B5EF4-FFF2-40B4-BE49-F238E27FC236}">
                <a16:creationId xmlns:a16="http://schemas.microsoft.com/office/drawing/2014/main" id="{CEEF23AD-EA17-135A-DB95-1D1FECB286F3}"/>
              </a:ext>
            </a:extLst>
          </p:cNvPr>
          <p:cNvSpPr/>
          <p:nvPr/>
        </p:nvSpPr>
        <p:spPr>
          <a:xfrm>
            <a:off x="5173092" y="2162689"/>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TextBox 30"/>
          <p:cNvSpPr txBox="1"/>
          <p:nvPr/>
        </p:nvSpPr>
        <p:spPr>
          <a:xfrm>
            <a:off x="5168346" y="2474253"/>
            <a:ext cx="1419715" cy="830997"/>
          </a:xfrm>
          <a:prstGeom prst="rect">
            <a:avLst/>
          </a:prstGeom>
          <a:noFill/>
        </p:spPr>
        <p:txBody>
          <a:bodyPr wrap="square" rtlCol="0">
            <a:spAutoFit/>
          </a:bodyPr>
          <a:lstStyle/>
          <a:p>
            <a:pPr algn="ctr"/>
            <a:r>
              <a:rPr lang="en-US" sz="1200"/>
              <a:t>Round 7.507 to three significant figures</a:t>
            </a:r>
          </a:p>
          <a:p>
            <a:pPr algn="ctr"/>
            <a:endParaRPr lang="en-US" sz="1200"/>
          </a:p>
        </p:txBody>
      </p:sp>
      <p:sp>
        <p:nvSpPr>
          <p:cNvPr id="32" name="TextBox 31"/>
          <p:cNvSpPr txBox="1"/>
          <p:nvPr/>
        </p:nvSpPr>
        <p:spPr>
          <a:xfrm>
            <a:off x="5170925" y="3991359"/>
            <a:ext cx="1419715" cy="830997"/>
          </a:xfrm>
          <a:prstGeom prst="rect">
            <a:avLst/>
          </a:prstGeom>
          <a:noFill/>
        </p:spPr>
        <p:txBody>
          <a:bodyPr wrap="square" rtlCol="0">
            <a:spAutoFit/>
          </a:bodyPr>
          <a:lstStyle/>
          <a:p>
            <a:pPr algn="ctr"/>
            <a:r>
              <a:rPr lang="en-US" sz="1200"/>
              <a:t>Round 0.7975 to three significant figures</a:t>
            </a:r>
          </a:p>
          <a:p>
            <a:pPr algn="ctr"/>
            <a:endParaRPr lang="en-US" sz="1200"/>
          </a:p>
        </p:txBody>
      </p:sp>
      <p:sp>
        <p:nvSpPr>
          <p:cNvPr id="33" name="Rectangle 32">
            <a:extLst>
              <a:ext uri="{FF2B5EF4-FFF2-40B4-BE49-F238E27FC236}">
                <a16:creationId xmlns:a16="http://schemas.microsoft.com/office/drawing/2014/main" id="{CEEF23AD-EA17-135A-DB95-1D1FECB286F3}"/>
              </a:ext>
            </a:extLst>
          </p:cNvPr>
          <p:cNvSpPr/>
          <p:nvPr/>
        </p:nvSpPr>
        <p:spPr>
          <a:xfrm>
            <a:off x="5168345" y="3636412"/>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EEF23AD-EA17-135A-DB95-1D1FECB286F3}"/>
              </a:ext>
            </a:extLst>
          </p:cNvPr>
          <p:cNvSpPr/>
          <p:nvPr/>
        </p:nvSpPr>
        <p:spPr>
          <a:xfrm>
            <a:off x="5153578" y="5145301"/>
            <a:ext cx="1449248" cy="331020"/>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TextBox 36"/>
          <p:cNvSpPr txBox="1"/>
          <p:nvPr/>
        </p:nvSpPr>
        <p:spPr>
          <a:xfrm>
            <a:off x="2247793" y="5718509"/>
            <a:ext cx="3089564" cy="276999"/>
          </a:xfrm>
          <a:prstGeom prst="rect">
            <a:avLst/>
          </a:prstGeom>
          <a:noFill/>
        </p:spPr>
        <p:txBody>
          <a:bodyPr wrap="none" rtlCol="0">
            <a:spAutoFit/>
          </a:bodyPr>
          <a:lstStyle/>
          <a:p>
            <a:r>
              <a:rPr lang="en-US" sz="1200"/>
              <a:t>8. Round each number to 3 significant figures. </a:t>
            </a:r>
            <a:endParaRPr lang="en-GB" sz="1200"/>
          </a:p>
        </p:txBody>
      </p:sp>
      <p:sp>
        <p:nvSpPr>
          <p:cNvPr id="38" name="TextBox 37"/>
          <p:cNvSpPr txBox="1"/>
          <p:nvPr/>
        </p:nvSpPr>
        <p:spPr>
          <a:xfrm>
            <a:off x="423028" y="6072185"/>
            <a:ext cx="732893" cy="276999"/>
          </a:xfrm>
          <a:prstGeom prst="rect">
            <a:avLst/>
          </a:prstGeom>
          <a:noFill/>
        </p:spPr>
        <p:txBody>
          <a:bodyPr wrap="none" rtlCol="0">
            <a:spAutoFit/>
          </a:bodyPr>
          <a:lstStyle/>
          <a:p>
            <a:r>
              <a:rPr lang="en-US" sz="1200"/>
              <a:t>a) 15560</a:t>
            </a:r>
            <a:endParaRPr lang="en-GB" sz="1200"/>
          </a:p>
        </p:txBody>
      </p:sp>
      <p:sp>
        <p:nvSpPr>
          <p:cNvPr id="39" name="TextBox 38"/>
          <p:cNvSpPr txBox="1"/>
          <p:nvPr/>
        </p:nvSpPr>
        <p:spPr>
          <a:xfrm>
            <a:off x="1475285" y="6063482"/>
            <a:ext cx="739305" cy="276999"/>
          </a:xfrm>
          <a:prstGeom prst="rect">
            <a:avLst/>
          </a:prstGeom>
          <a:noFill/>
        </p:spPr>
        <p:txBody>
          <a:bodyPr wrap="none" rtlCol="0">
            <a:spAutoFit/>
          </a:bodyPr>
          <a:lstStyle/>
          <a:p>
            <a:r>
              <a:rPr lang="en-US" sz="1200"/>
              <a:t>b) 15780</a:t>
            </a:r>
            <a:endParaRPr lang="en-GB" sz="1200"/>
          </a:p>
        </p:txBody>
      </p:sp>
      <p:sp>
        <p:nvSpPr>
          <p:cNvPr id="40" name="TextBox 39"/>
          <p:cNvSpPr txBox="1"/>
          <p:nvPr/>
        </p:nvSpPr>
        <p:spPr>
          <a:xfrm>
            <a:off x="2551944" y="6063483"/>
            <a:ext cx="724878" cy="276999"/>
          </a:xfrm>
          <a:prstGeom prst="rect">
            <a:avLst/>
          </a:prstGeom>
          <a:noFill/>
        </p:spPr>
        <p:txBody>
          <a:bodyPr wrap="none" rtlCol="0">
            <a:spAutoFit/>
          </a:bodyPr>
          <a:lstStyle/>
          <a:p>
            <a:r>
              <a:rPr lang="en-US" sz="1200"/>
              <a:t>c) 16790</a:t>
            </a:r>
            <a:endParaRPr lang="en-GB" sz="1200"/>
          </a:p>
        </p:txBody>
      </p:sp>
      <p:sp>
        <p:nvSpPr>
          <p:cNvPr id="41" name="TextBox 40"/>
          <p:cNvSpPr txBox="1"/>
          <p:nvPr/>
        </p:nvSpPr>
        <p:spPr>
          <a:xfrm>
            <a:off x="3558990" y="6086575"/>
            <a:ext cx="739305" cy="276999"/>
          </a:xfrm>
          <a:prstGeom prst="rect">
            <a:avLst/>
          </a:prstGeom>
          <a:noFill/>
        </p:spPr>
        <p:txBody>
          <a:bodyPr wrap="none" rtlCol="0">
            <a:spAutoFit/>
          </a:bodyPr>
          <a:lstStyle/>
          <a:p>
            <a:r>
              <a:rPr lang="en-US" sz="1200"/>
              <a:t>d) 16850</a:t>
            </a:r>
            <a:endParaRPr lang="en-GB" sz="1200"/>
          </a:p>
        </p:txBody>
      </p:sp>
      <p:sp>
        <p:nvSpPr>
          <p:cNvPr id="42" name="TextBox 41"/>
          <p:cNvSpPr txBox="1"/>
          <p:nvPr/>
        </p:nvSpPr>
        <p:spPr>
          <a:xfrm>
            <a:off x="4662753" y="6083095"/>
            <a:ext cx="736099" cy="276999"/>
          </a:xfrm>
          <a:prstGeom prst="rect">
            <a:avLst/>
          </a:prstGeom>
          <a:noFill/>
        </p:spPr>
        <p:txBody>
          <a:bodyPr wrap="none" rtlCol="0">
            <a:spAutoFit/>
          </a:bodyPr>
          <a:lstStyle/>
          <a:p>
            <a:r>
              <a:rPr lang="en-US" sz="1200"/>
              <a:t>e) 16855</a:t>
            </a:r>
            <a:endParaRPr lang="en-GB" sz="1200"/>
          </a:p>
        </p:txBody>
      </p:sp>
      <p:sp>
        <p:nvSpPr>
          <p:cNvPr id="43" name="Rectangle 42">
            <a:extLst>
              <a:ext uri="{FF2B5EF4-FFF2-40B4-BE49-F238E27FC236}">
                <a16:creationId xmlns:a16="http://schemas.microsoft.com/office/drawing/2014/main" id="{CEEF23AD-EA17-135A-DB95-1D1FECB286F3}"/>
              </a:ext>
            </a:extLst>
          </p:cNvPr>
          <p:cNvSpPr/>
          <p:nvPr/>
        </p:nvSpPr>
        <p:spPr>
          <a:xfrm>
            <a:off x="454786"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1498741"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2554625"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3628823"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4680487"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8" name="TextBox 47"/>
          <p:cNvSpPr txBox="1"/>
          <p:nvPr/>
        </p:nvSpPr>
        <p:spPr>
          <a:xfrm>
            <a:off x="5757766" y="6108742"/>
            <a:ext cx="707886" cy="276999"/>
          </a:xfrm>
          <a:prstGeom prst="rect">
            <a:avLst/>
          </a:prstGeom>
          <a:noFill/>
        </p:spPr>
        <p:txBody>
          <a:bodyPr wrap="none" rtlCol="0">
            <a:spAutoFit/>
          </a:bodyPr>
          <a:lstStyle/>
          <a:p>
            <a:r>
              <a:rPr lang="en-US" sz="1200"/>
              <a:t>f) 16899</a:t>
            </a:r>
            <a:endParaRPr lang="en-GB" sz="1200"/>
          </a:p>
        </p:txBody>
      </p:sp>
      <p:sp>
        <p:nvSpPr>
          <p:cNvPr id="49" name="Rectangle 48">
            <a:extLst>
              <a:ext uri="{FF2B5EF4-FFF2-40B4-BE49-F238E27FC236}">
                <a16:creationId xmlns:a16="http://schemas.microsoft.com/office/drawing/2014/main" id="{CEEF23AD-EA17-135A-DB95-1D1FECB286F3}"/>
              </a:ext>
            </a:extLst>
          </p:cNvPr>
          <p:cNvSpPr/>
          <p:nvPr/>
        </p:nvSpPr>
        <p:spPr>
          <a:xfrm>
            <a:off x="5729589" y="6644874"/>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TextBox 49"/>
          <p:cNvSpPr txBox="1"/>
          <p:nvPr/>
        </p:nvSpPr>
        <p:spPr>
          <a:xfrm>
            <a:off x="454786" y="7106508"/>
            <a:ext cx="731290" cy="276999"/>
          </a:xfrm>
          <a:prstGeom prst="rect">
            <a:avLst/>
          </a:prstGeom>
          <a:noFill/>
        </p:spPr>
        <p:txBody>
          <a:bodyPr wrap="none" rtlCol="0">
            <a:spAutoFit/>
          </a:bodyPr>
          <a:lstStyle/>
          <a:p>
            <a:r>
              <a:rPr lang="en-US" sz="1200"/>
              <a:t>g) 24689</a:t>
            </a:r>
            <a:endParaRPr lang="en-GB" sz="1200"/>
          </a:p>
        </p:txBody>
      </p:sp>
      <p:sp>
        <p:nvSpPr>
          <p:cNvPr id="51" name="TextBox 50"/>
          <p:cNvSpPr txBox="1"/>
          <p:nvPr/>
        </p:nvSpPr>
        <p:spPr>
          <a:xfrm>
            <a:off x="1507043" y="7097805"/>
            <a:ext cx="739305" cy="276999"/>
          </a:xfrm>
          <a:prstGeom prst="rect">
            <a:avLst/>
          </a:prstGeom>
          <a:noFill/>
        </p:spPr>
        <p:txBody>
          <a:bodyPr wrap="none" rtlCol="0">
            <a:spAutoFit/>
          </a:bodyPr>
          <a:lstStyle/>
          <a:p>
            <a:r>
              <a:rPr lang="en-US" sz="1200"/>
              <a:t>h) 25789</a:t>
            </a:r>
            <a:endParaRPr lang="en-GB" sz="1200"/>
          </a:p>
        </p:txBody>
      </p:sp>
      <p:sp>
        <p:nvSpPr>
          <p:cNvPr id="52" name="TextBox 51"/>
          <p:cNvSpPr txBox="1"/>
          <p:nvPr/>
        </p:nvSpPr>
        <p:spPr>
          <a:xfrm>
            <a:off x="2583702" y="7097806"/>
            <a:ext cx="694421" cy="276999"/>
          </a:xfrm>
          <a:prstGeom prst="rect">
            <a:avLst/>
          </a:prstGeom>
          <a:noFill/>
        </p:spPr>
        <p:txBody>
          <a:bodyPr wrap="none" rtlCol="0">
            <a:spAutoFit/>
          </a:bodyPr>
          <a:lstStyle/>
          <a:p>
            <a:r>
              <a:rPr lang="en-US" sz="1200"/>
              <a:t>i) 18649</a:t>
            </a:r>
            <a:endParaRPr lang="en-GB" sz="1200"/>
          </a:p>
        </p:txBody>
      </p:sp>
      <p:sp>
        <p:nvSpPr>
          <p:cNvPr id="53" name="TextBox 52"/>
          <p:cNvSpPr txBox="1"/>
          <p:nvPr/>
        </p:nvSpPr>
        <p:spPr>
          <a:xfrm>
            <a:off x="3590748" y="7120898"/>
            <a:ext cx="655949" cy="276999"/>
          </a:xfrm>
          <a:prstGeom prst="rect">
            <a:avLst/>
          </a:prstGeom>
          <a:noFill/>
        </p:spPr>
        <p:txBody>
          <a:bodyPr wrap="none" rtlCol="0">
            <a:spAutoFit/>
          </a:bodyPr>
          <a:lstStyle/>
          <a:p>
            <a:r>
              <a:rPr lang="en-US" sz="1200"/>
              <a:t>j) 2.359</a:t>
            </a:r>
            <a:endParaRPr lang="en-GB" sz="1200"/>
          </a:p>
        </p:txBody>
      </p:sp>
      <p:sp>
        <p:nvSpPr>
          <p:cNvPr id="54" name="TextBox 53"/>
          <p:cNvSpPr txBox="1"/>
          <p:nvPr/>
        </p:nvSpPr>
        <p:spPr>
          <a:xfrm>
            <a:off x="4694511" y="7117418"/>
            <a:ext cx="689612" cy="276999"/>
          </a:xfrm>
          <a:prstGeom prst="rect">
            <a:avLst/>
          </a:prstGeom>
          <a:noFill/>
        </p:spPr>
        <p:txBody>
          <a:bodyPr wrap="none" rtlCol="0">
            <a:spAutoFit/>
          </a:bodyPr>
          <a:lstStyle/>
          <a:p>
            <a:r>
              <a:rPr lang="en-US" sz="1200"/>
              <a:t>k) 4.395</a:t>
            </a:r>
            <a:endParaRPr lang="en-GB" sz="1200"/>
          </a:p>
        </p:txBody>
      </p:sp>
      <p:sp>
        <p:nvSpPr>
          <p:cNvPr id="55" name="Rectangle 54">
            <a:extLst>
              <a:ext uri="{FF2B5EF4-FFF2-40B4-BE49-F238E27FC236}">
                <a16:creationId xmlns:a16="http://schemas.microsoft.com/office/drawing/2014/main" id="{CEEF23AD-EA17-135A-DB95-1D1FECB286F3}"/>
              </a:ext>
            </a:extLst>
          </p:cNvPr>
          <p:cNvSpPr/>
          <p:nvPr/>
        </p:nvSpPr>
        <p:spPr>
          <a:xfrm>
            <a:off x="454786"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Rectangle 55">
            <a:extLst>
              <a:ext uri="{FF2B5EF4-FFF2-40B4-BE49-F238E27FC236}">
                <a16:creationId xmlns:a16="http://schemas.microsoft.com/office/drawing/2014/main" id="{CEEF23AD-EA17-135A-DB95-1D1FECB286F3}"/>
              </a:ext>
            </a:extLst>
          </p:cNvPr>
          <p:cNvSpPr/>
          <p:nvPr/>
        </p:nvSpPr>
        <p:spPr>
          <a:xfrm>
            <a:off x="1498741"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7" name="Rectangle 56">
            <a:extLst>
              <a:ext uri="{FF2B5EF4-FFF2-40B4-BE49-F238E27FC236}">
                <a16:creationId xmlns:a16="http://schemas.microsoft.com/office/drawing/2014/main" id="{CEEF23AD-EA17-135A-DB95-1D1FECB286F3}"/>
              </a:ext>
            </a:extLst>
          </p:cNvPr>
          <p:cNvSpPr/>
          <p:nvPr/>
        </p:nvSpPr>
        <p:spPr>
          <a:xfrm>
            <a:off x="2554625"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CEEF23AD-EA17-135A-DB95-1D1FECB286F3}"/>
              </a:ext>
            </a:extLst>
          </p:cNvPr>
          <p:cNvSpPr/>
          <p:nvPr/>
        </p:nvSpPr>
        <p:spPr>
          <a:xfrm>
            <a:off x="3628823"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CEEF23AD-EA17-135A-DB95-1D1FECB286F3}"/>
              </a:ext>
            </a:extLst>
          </p:cNvPr>
          <p:cNvSpPr/>
          <p:nvPr/>
        </p:nvSpPr>
        <p:spPr>
          <a:xfrm>
            <a:off x="4680487"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0" name="TextBox 59"/>
          <p:cNvSpPr txBox="1"/>
          <p:nvPr/>
        </p:nvSpPr>
        <p:spPr>
          <a:xfrm>
            <a:off x="5789524" y="7143065"/>
            <a:ext cx="654346" cy="276999"/>
          </a:xfrm>
          <a:prstGeom prst="rect">
            <a:avLst/>
          </a:prstGeom>
          <a:noFill/>
        </p:spPr>
        <p:txBody>
          <a:bodyPr wrap="none" rtlCol="0">
            <a:spAutoFit/>
          </a:bodyPr>
          <a:lstStyle/>
          <a:p>
            <a:r>
              <a:rPr lang="en-US" sz="1200"/>
              <a:t>l) 5.095</a:t>
            </a:r>
            <a:endParaRPr lang="en-GB" sz="1200"/>
          </a:p>
        </p:txBody>
      </p:sp>
      <p:sp>
        <p:nvSpPr>
          <p:cNvPr id="61" name="Rectangle 60">
            <a:extLst>
              <a:ext uri="{FF2B5EF4-FFF2-40B4-BE49-F238E27FC236}">
                <a16:creationId xmlns:a16="http://schemas.microsoft.com/office/drawing/2014/main" id="{CEEF23AD-EA17-135A-DB95-1D1FECB286F3}"/>
              </a:ext>
            </a:extLst>
          </p:cNvPr>
          <p:cNvSpPr/>
          <p:nvPr/>
        </p:nvSpPr>
        <p:spPr>
          <a:xfrm>
            <a:off x="5729589" y="7642277"/>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TextBox 61"/>
          <p:cNvSpPr txBox="1"/>
          <p:nvPr/>
        </p:nvSpPr>
        <p:spPr>
          <a:xfrm>
            <a:off x="436280" y="8107960"/>
            <a:ext cx="742511" cy="276999"/>
          </a:xfrm>
          <a:prstGeom prst="rect">
            <a:avLst/>
          </a:prstGeom>
          <a:noFill/>
        </p:spPr>
        <p:txBody>
          <a:bodyPr wrap="none" rtlCol="0">
            <a:spAutoFit/>
          </a:bodyPr>
          <a:lstStyle/>
          <a:p>
            <a:r>
              <a:rPr lang="en-US" sz="1200"/>
              <a:t>m) 7.059</a:t>
            </a:r>
            <a:endParaRPr lang="en-GB" sz="1200"/>
          </a:p>
        </p:txBody>
      </p:sp>
      <p:sp>
        <p:nvSpPr>
          <p:cNvPr id="63" name="TextBox 62"/>
          <p:cNvSpPr txBox="1"/>
          <p:nvPr/>
        </p:nvSpPr>
        <p:spPr>
          <a:xfrm>
            <a:off x="1482249" y="8115306"/>
            <a:ext cx="699230" cy="276999"/>
          </a:xfrm>
          <a:prstGeom prst="rect">
            <a:avLst/>
          </a:prstGeom>
          <a:noFill/>
        </p:spPr>
        <p:txBody>
          <a:bodyPr wrap="none" rtlCol="0">
            <a:spAutoFit/>
          </a:bodyPr>
          <a:lstStyle/>
          <a:p>
            <a:r>
              <a:rPr lang="en-US" sz="1200"/>
              <a:t>n) 8.679</a:t>
            </a:r>
            <a:endParaRPr lang="en-GB" sz="1200"/>
          </a:p>
        </p:txBody>
      </p:sp>
      <p:sp>
        <p:nvSpPr>
          <p:cNvPr id="64" name="TextBox 63"/>
          <p:cNvSpPr txBox="1"/>
          <p:nvPr/>
        </p:nvSpPr>
        <p:spPr>
          <a:xfrm>
            <a:off x="2523843" y="8128589"/>
            <a:ext cx="700833" cy="276999"/>
          </a:xfrm>
          <a:prstGeom prst="rect">
            <a:avLst/>
          </a:prstGeom>
          <a:noFill/>
        </p:spPr>
        <p:txBody>
          <a:bodyPr wrap="none" rtlCol="0">
            <a:spAutoFit/>
          </a:bodyPr>
          <a:lstStyle/>
          <a:p>
            <a:r>
              <a:rPr lang="en-US" sz="1200"/>
              <a:t>o) 12.59</a:t>
            </a:r>
            <a:endParaRPr lang="en-GB" sz="1200"/>
          </a:p>
        </p:txBody>
      </p:sp>
      <p:sp>
        <p:nvSpPr>
          <p:cNvPr id="65" name="TextBox 64"/>
          <p:cNvSpPr txBox="1"/>
          <p:nvPr/>
        </p:nvSpPr>
        <p:spPr>
          <a:xfrm>
            <a:off x="3572242" y="8122350"/>
            <a:ext cx="777777" cy="276999"/>
          </a:xfrm>
          <a:prstGeom prst="rect">
            <a:avLst/>
          </a:prstGeom>
          <a:noFill/>
        </p:spPr>
        <p:txBody>
          <a:bodyPr wrap="none" rtlCol="0">
            <a:spAutoFit/>
          </a:bodyPr>
          <a:lstStyle/>
          <a:p>
            <a:r>
              <a:rPr lang="en-US" sz="1200"/>
              <a:t>p) 13.554</a:t>
            </a:r>
            <a:endParaRPr lang="en-GB" sz="1200"/>
          </a:p>
        </p:txBody>
      </p:sp>
      <p:sp>
        <p:nvSpPr>
          <p:cNvPr id="66" name="TextBox 65"/>
          <p:cNvSpPr txBox="1"/>
          <p:nvPr/>
        </p:nvSpPr>
        <p:spPr>
          <a:xfrm>
            <a:off x="4659547" y="8107960"/>
            <a:ext cx="777777" cy="276999"/>
          </a:xfrm>
          <a:prstGeom prst="rect">
            <a:avLst/>
          </a:prstGeom>
          <a:noFill/>
        </p:spPr>
        <p:txBody>
          <a:bodyPr wrap="none" rtlCol="0">
            <a:spAutoFit/>
          </a:bodyPr>
          <a:lstStyle/>
          <a:p>
            <a:r>
              <a:rPr lang="en-US" sz="1200"/>
              <a:t>q) 14.609</a:t>
            </a:r>
            <a:endParaRPr lang="en-GB" sz="1200"/>
          </a:p>
        </p:txBody>
      </p:sp>
      <p:sp>
        <p:nvSpPr>
          <p:cNvPr id="67" name="Rectangle 66">
            <a:extLst>
              <a:ext uri="{FF2B5EF4-FFF2-40B4-BE49-F238E27FC236}">
                <a16:creationId xmlns:a16="http://schemas.microsoft.com/office/drawing/2014/main" id="{CEEF23AD-EA17-135A-DB95-1D1FECB286F3}"/>
              </a:ext>
            </a:extLst>
          </p:cNvPr>
          <p:cNvSpPr/>
          <p:nvPr/>
        </p:nvSpPr>
        <p:spPr>
          <a:xfrm>
            <a:off x="468038"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1511993"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2567877"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3642075"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CEEF23AD-EA17-135A-DB95-1D1FECB286F3}"/>
              </a:ext>
            </a:extLst>
          </p:cNvPr>
          <p:cNvSpPr/>
          <p:nvPr/>
        </p:nvSpPr>
        <p:spPr>
          <a:xfrm>
            <a:off x="4693739"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TextBox 71"/>
          <p:cNvSpPr txBox="1"/>
          <p:nvPr/>
        </p:nvSpPr>
        <p:spPr>
          <a:xfrm>
            <a:off x="5706342" y="8102971"/>
            <a:ext cx="750526" cy="276999"/>
          </a:xfrm>
          <a:prstGeom prst="rect">
            <a:avLst/>
          </a:prstGeom>
          <a:noFill/>
        </p:spPr>
        <p:txBody>
          <a:bodyPr wrap="none" rtlCol="0">
            <a:spAutoFit/>
          </a:bodyPr>
          <a:lstStyle/>
          <a:p>
            <a:r>
              <a:rPr lang="en-US" sz="1200"/>
              <a:t>r) 156.53</a:t>
            </a:r>
            <a:endParaRPr lang="en-GB" sz="1200"/>
          </a:p>
        </p:txBody>
      </p:sp>
      <p:sp>
        <p:nvSpPr>
          <p:cNvPr id="73" name="Rectangle 72">
            <a:extLst>
              <a:ext uri="{FF2B5EF4-FFF2-40B4-BE49-F238E27FC236}">
                <a16:creationId xmlns:a16="http://schemas.microsoft.com/office/drawing/2014/main" id="{CEEF23AD-EA17-135A-DB95-1D1FECB286F3}"/>
              </a:ext>
            </a:extLst>
          </p:cNvPr>
          <p:cNvSpPr/>
          <p:nvPr/>
        </p:nvSpPr>
        <p:spPr>
          <a:xfrm>
            <a:off x="5742841" y="8674909"/>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27</a:t>
            </a:fld>
            <a:endParaRPr lang="en-GB"/>
          </a:p>
        </p:txBody>
      </p:sp>
      <p:sp>
        <p:nvSpPr>
          <p:cNvPr id="8" name="Rectangle 7">
            <a:extLst>
              <a:ext uri="{FF2B5EF4-FFF2-40B4-BE49-F238E27FC236}">
                <a16:creationId xmlns:a16="http://schemas.microsoft.com/office/drawing/2014/main" id="{7837BE1E-63E6-29CF-6A65-43F11682A4A2}"/>
              </a:ext>
            </a:extLst>
          </p:cNvPr>
          <p:cNvSpPr/>
          <p:nvPr/>
        </p:nvSpPr>
        <p:spPr>
          <a:xfrm>
            <a:off x="147221" y="5702869"/>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9" name="Rectangle 8">
            <a:extLst>
              <a:ext uri="{FF2B5EF4-FFF2-40B4-BE49-F238E27FC236}">
                <a16:creationId xmlns:a16="http://schemas.microsoft.com/office/drawing/2014/main" id="{F046FD0F-02AC-61DC-9F11-C9A834CAA843}"/>
              </a:ext>
            </a:extLst>
          </p:cNvPr>
          <p:cNvSpPr/>
          <p:nvPr/>
        </p:nvSpPr>
        <p:spPr>
          <a:xfrm>
            <a:off x="124502" y="66503"/>
            <a:ext cx="6691138" cy="1965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rPr>
              <a:t>Rounding to three significant figures.</a:t>
            </a:r>
            <a:endParaRPr lang="en-GB" sz="1200">
              <a:solidFill>
                <a:schemeClr val="bg1"/>
              </a:solidFill>
            </a:endParaRPr>
          </a:p>
        </p:txBody>
      </p:sp>
    </p:spTree>
    <p:extLst>
      <p:ext uri="{BB962C8B-B14F-4D97-AF65-F5344CB8AC3E}">
        <p14:creationId xmlns:p14="http://schemas.microsoft.com/office/powerpoint/2010/main" val="749046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107" y="153916"/>
            <a:ext cx="793807" cy="276999"/>
          </a:xfrm>
          <a:prstGeom prst="rect">
            <a:avLst/>
          </a:prstGeom>
          <a:noFill/>
        </p:spPr>
        <p:txBody>
          <a:bodyPr wrap="none" rtlCol="0">
            <a:spAutoFit/>
          </a:bodyPr>
          <a:lstStyle/>
          <a:p>
            <a:r>
              <a:rPr lang="en-US" sz="1200"/>
              <a:t>s) 126.49 </a:t>
            </a:r>
            <a:endParaRPr lang="en-GB" sz="1200"/>
          </a:p>
        </p:txBody>
      </p:sp>
      <p:sp>
        <p:nvSpPr>
          <p:cNvPr id="3" name="TextBox 2"/>
          <p:cNvSpPr txBox="1"/>
          <p:nvPr/>
        </p:nvSpPr>
        <p:spPr>
          <a:xfrm>
            <a:off x="1441076" y="161262"/>
            <a:ext cx="748923" cy="276999"/>
          </a:xfrm>
          <a:prstGeom prst="rect">
            <a:avLst/>
          </a:prstGeom>
          <a:noFill/>
        </p:spPr>
        <p:txBody>
          <a:bodyPr wrap="none" rtlCol="0">
            <a:spAutoFit/>
          </a:bodyPr>
          <a:lstStyle/>
          <a:p>
            <a:r>
              <a:rPr lang="en-US" sz="1200"/>
              <a:t>t) 196.45</a:t>
            </a:r>
            <a:endParaRPr lang="en-GB" sz="1200"/>
          </a:p>
        </p:txBody>
      </p:sp>
      <p:sp>
        <p:nvSpPr>
          <p:cNvPr id="4" name="TextBox 3"/>
          <p:cNvSpPr txBox="1"/>
          <p:nvPr/>
        </p:nvSpPr>
        <p:spPr>
          <a:xfrm>
            <a:off x="2482670" y="174545"/>
            <a:ext cx="856325" cy="276999"/>
          </a:xfrm>
          <a:prstGeom prst="rect">
            <a:avLst/>
          </a:prstGeom>
          <a:noFill/>
        </p:spPr>
        <p:txBody>
          <a:bodyPr wrap="none" rtlCol="0">
            <a:spAutoFit/>
          </a:bodyPr>
          <a:lstStyle/>
          <a:p>
            <a:r>
              <a:rPr lang="en-US" sz="1200"/>
              <a:t>u) 125.505</a:t>
            </a:r>
            <a:endParaRPr lang="en-GB" sz="1200"/>
          </a:p>
        </p:txBody>
      </p:sp>
      <p:sp>
        <p:nvSpPr>
          <p:cNvPr id="5" name="TextBox 4"/>
          <p:cNvSpPr txBox="1"/>
          <p:nvPr/>
        </p:nvSpPr>
        <p:spPr>
          <a:xfrm>
            <a:off x="3531069" y="168306"/>
            <a:ext cx="845103" cy="276999"/>
          </a:xfrm>
          <a:prstGeom prst="rect">
            <a:avLst/>
          </a:prstGeom>
          <a:noFill/>
        </p:spPr>
        <p:txBody>
          <a:bodyPr wrap="none" rtlCol="0">
            <a:spAutoFit/>
          </a:bodyPr>
          <a:lstStyle/>
          <a:p>
            <a:r>
              <a:rPr lang="en-US" sz="1200"/>
              <a:t>v) 139.509</a:t>
            </a:r>
            <a:endParaRPr lang="en-GB" sz="1200"/>
          </a:p>
        </p:txBody>
      </p:sp>
      <p:sp>
        <p:nvSpPr>
          <p:cNvPr id="6" name="TextBox 5"/>
          <p:cNvSpPr txBox="1"/>
          <p:nvPr/>
        </p:nvSpPr>
        <p:spPr>
          <a:xfrm>
            <a:off x="4618374" y="153916"/>
            <a:ext cx="886781" cy="276999"/>
          </a:xfrm>
          <a:prstGeom prst="rect">
            <a:avLst/>
          </a:prstGeom>
          <a:noFill/>
        </p:spPr>
        <p:txBody>
          <a:bodyPr wrap="none" rtlCol="0">
            <a:spAutoFit/>
          </a:bodyPr>
          <a:lstStyle/>
          <a:p>
            <a:r>
              <a:rPr lang="en-US" sz="1200"/>
              <a:t>w) 199.502</a:t>
            </a:r>
            <a:endParaRPr lang="en-GB" sz="1200"/>
          </a:p>
        </p:txBody>
      </p:sp>
      <p:sp>
        <p:nvSpPr>
          <p:cNvPr id="7" name="Rectangle 6">
            <a:extLst>
              <a:ext uri="{FF2B5EF4-FFF2-40B4-BE49-F238E27FC236}">
                <a16:creationId xmlns:a16="http://schemas.microsoft.com/office/drawing/2014/main" id="{CEEF23AD-EA17-135A-DB95-1D1FECB286F3}"/>
              </a:ext>
            </a:extLst>
          </p:cNvPr>
          <p:cNvSpPr/>
          <p:nvPr/>
        </p:nvSpPr>
        <p:spPr>
          <a:xfrm>
            <a:off x="426865"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1470820"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2526704"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EEF23AD-EA17-135A-DB95-1D1FECB286F3}"/>
              </a:ext>
            </a:extLst>
          </p:cNvPr>
          <p:cNvSpPr/>
          <p:nvPr/>
        </p:nvSpPr>
        <p:spPr>
          <a:xfrm>
            <a:off x="3600902"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1" name="Rectangle 10">
            <a:extLst>
              <a:ext uri="{FF2B5EF4-FFF2-40B4-BE49-F238E27FC236}">
                <a16:creationId xmlns:a16="http://schemas.microsoft.com/office/drawing/2014/main" id="{CEEF23AD-EA17-135A-DB95-1D1FECB286F3}"/>
              </a:ext>
            </a:extLst>
          </p:cNvPr>
          <p:cNvSpPr/>
          <p:nvPr/>
        </p:nvSpPr>
        <p:spPr>
          <a:xfrm>
            <a:off x="4652566"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2" name="TextBox 11"/>
          <p:cNvSpPr txBox="1"/>
          <p:nvPr/>
        </p:nvSpPr>
        <p:spPr>
          <a:xfrm>
            <a:off x="5665169" y="148927"/>
            <a:ext cx="764953" cy="276999"/>
          </a:xfrm>
          <a:prstGeom prst="rect">
            <a:avLst/>
          </a:prstGeom>
          <a:noFill/>
        </p:spPr>
        <p:txBody>
          <a:bodyPr wrap="none" rtlCol="0">
            <a:spAutoFit/>
          </a:bodyPr>
          <a:lstStyle/>
          <a:p>
            <a:r>
              <a:rPr lang="en-US" sz="1200"/>
              <a:t>x) 199.99</a:t>
            </a:r>
            <a:endParaRPr lang="en-GB" sz="1200"/>
          </a:p>
        </p:txBody>
      </p:sp>
      <p:sp>
        <p:nvSpPr>
          <p:cNvPr id="13" name="Rectangle 12">
            <a:extLst>
              <a:ext uri="{FF2B5EF4-FFF2-40B4-BE49-F238E27FC236}">
                <a16:creationId xmlns:a16="http://schemas.microsoft.com/office/drawing/2014/main" id="{CEEF23AD-EA17-135A-DB95-1D1FECB286F3}"/>
              </a:ext>
            </a:extLst>
          </p:cNvPr>
          <p:cNvSpPr/>
          <p:nvPr/>
        </p:nvSpPr>
        <p:spPr>
          <a:xfrm>
            <a:off x="5701668" y="720865"/>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TextBox 13"/>
          <p:cNvSpPr txBox="1"/>
          <p:nvPr/>
        </p:nvSpPr>
        <p:spPr>
          <a:xfrm>
            <a:off x="360915" y="1227563"/>
            <a:ext cx="688009" cy="276999"/>
          </a:xfrm>
          <a:prstGeom prst="rect">
            <a:avLst/>
          </a:prstGeom>
          <a:noFill/>
        </p:spPr>
        <p:txBody>
          <a:bodyPr wrap="none" rtlCol="0">
            <a:spAutoFit/>
          </a:bodyPr>
          <a:lstStyle/>
          <a:p>
            <a:r>
              <a:rPr lang="en-US" sz="1200"/>
              <a:t>y) 0.573</a:t>
            </a:r>
            <a:endParaRPr lang="en-GB" sz="1200"/>
          </a:p>
        </p:txBody>
      </p:sp>
      <p:sp>
        <p:nvSpPr>
          <p:cNvPr id="15" name="TextBox 14"/>
          <p:cNvSpPr txBox="1"/>
          <p:nvPr/>
        </p:nvSpPr>
        <p:spPr>
          <a:xfrm>
            <a:off x="1405276" y="1214795"/>
            <a:ext cx="758541" cy="276999"/>
          </a:xfrm>
          <a:prstGeom prst="rect">
            <a:avLst/>
          </a:prstGeom>
          <a:noFill/>
        </p:spPr>
        <p:txBody>
          <a:bodyPr wrap="none" rtlCol="0">
            <a:spAutoFit/>
          </a:bodyPr>
          <a:lstStyle/>
          <a:p>
            <a:r>
              <a:rPr lang="en-US" sz="1200"/>
              <a:t>z) 0.4675</a:t>
            </a:r>
            <a:endParaRPr lang="en-GB" sz="1200"/>
          </a:p>
        </p:txBody>
      </p:sp>
      <p:sp>
        <p:nvSpPr>
          <p:cNvPr id="16" name="TextBox 15"/>
          <p:cNvSpPr txBox="1"/>
          <p:nvPr/>
        </p:nvSpPr>
        <p:spPr>
          <a:xfrm>
            <a:off x="2405390" y="1236846"/>
            <a:ext cx="849913" cy="276999"/>
          </a:xfrm>
          <a:prstGeom prst="rect">
            <a:avLst/>
          </a:prstGeom>
          <a:noFill/>
        </p:spPr>
        <p:txBody>
          <a:bodyPr wrap="none" rtlCol="0">
            <a:spAutoFit/>
          </a:bodyPr>
          <a:lstStyle/>
          <a:p>
            <a:r>
              <a:rPr lang="en-US" sz="1200"/>
              <a:t>a1) 0.0574</a:t>
            </a:r>
            <a:endParaRPr lang="en-GB" sz="1200"/>
          </a:p>
        </p:txBody>
      </p:sp>
      <p:sp>
        <p:nvSpPr>
          <p:cNvPr id="17" name="TextBox 16"/>
          <p:cNvSpPr txBox="1"/>
          <p:nvPr/>
        </p:nvSpPr>
        <p:spPr>
          <a:xfrm>
            <a:off x="3466560" y="1245863"/>
            <a:ext cx="934871" cy="276999"/>
          </a:xfrm>
          <a:prstGeom prst="rect">
            <a:avLst/>
          </a:prstGeom>
          <a:noFill/>
        </p:spPr>
        <p:txBody>
          <a:bodyPr wrap="none" rtlCol="0">
            <a:spAutoFit/>
          </a:bodyPr>
          <a:lstStyle/>
          <a:p>
            <a:r>
              <a:rPr lang="en-US" sz="1200"/>
              <a:t>b1) 0.05866</a:t>
            </a:r>
            <a:endParaRPr lang="en-GB" sz="1200"/>
          </a:p>
        </p:txBody>
      </p:sp>
      <p:sp>
        <p:nvSpPr>
          <p:cNvPr id="18" name="TextBox 17"/>
          <p:cNvSpPr txBox="1"/>
          <p:nvPr/>
        </p:nvSpPr>
        <p:spPr>
          <a:xfrm>
            <a:off x="4488577" y="1232773"/>
            <a:ext cx="920445" cy="276999"/>
          </a:xfrm>
          <a:prstGeom prst="rect">
            <a:avLst/>
          </a:prstGeom>
          <a:noFill/>
        </p:spPr>
        <p:txBody>
          <a:bodyPr wrap="none" rtlCol="0">
            <a:spAutoFit/>
          </a:bodyPr>
          <a:lstStyle/>
          <a:p>
            <a:r>
              <a:rPr lang="en-US" sz="1200"/>
              <a:t>c1) 0.09095</a:t>
            </a:r>
            <a:endParaRPr lang="en-GB" sz="1200"/>
          </a:p>
        </p:txBody>
      </p:sp>
      <p:sp>
        <p:nvSpPr>
          <p:cNvPr id="19" name="Rectangle 18">
            <a:extLst>
              <a:ext uri="{FF2B5EF4-FFF2-40B4-BE49-F238E27FC236}">
                <a16:creationId xmlns:a16="http://schemas.microsoft.com/office/drawing/2014/main" id="{CEEF23AD-EA17-135A-DB95-1D1FECB286F3}"/>
              </a:ext>
            </a:extLst>
          </p:cNvPr>
          <p:cNvSpPr/>
          <p:nvPr/>
        </p:nvSpPr>
        <p:spPr>
          <a:xfrm>
            <a:off x="392673"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0" name="Rectangle 19">
            <a:extLst>
              <a:ext uri="{FF2B5EF4-FFF2-40B4-BE49-F238E27FC236}">
                <a16:creationId xmlns:a16="http://schemas.microsoft.com/office/drawing/2014/main" id="{CEEF23AD-EA17-135A-DB95-1D1FECB286F3}"/>
              </a:ext>
            </a:extLst>
          </p:cNvPr>
          <p:cNvSpPr/>
          <p:nvPr/>
        </p:nvSpPr>
        <p:spPr>
          <a:xfrm>
            <a:off x="1436628"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1" name="Rectangle 20">
            <a:extLst>
              <a:ext uri="{FF2B5EF4-FFF2-40B4-BE49-F238E27FC236}">
                <a16:creationId xmlns:a16="http://schemas.microsoft.com/office/drawing/2014/main" id="{CEEF23AD-EA17-135A-DB95-1D1FECB286F3}"/>
              </a:ext>
            </a:extLst>
          </p:cNvPr>
          <p:cNvSpPr/>
          <p:nvPr/>
        </p:nvSpPr>
        <p:spPr>
          <a:xfrm>
            <a:off x="2492512"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2" name="Rectangle 21">
            <a:extLst>
              <a:ext uri="{FF2B5EF4-FFF2-40B4-BE49-F238E27FC236}">
                <a16:creationId xmlns:a16="http://schemas.microsoft.com/office/drawing/2014/main" id="{CEEF23AD-EA17-135A-DB95-1D1FECB286F3}"/>
              </a:ext>
            </a:extLst>
          </p:cNvPr>
          <p:cNvSpPr/>
          <p:nvPr/>
        </p:nvSpPr>
        <p:spPr>
          <a:xfrm>
            <a:off x="3566710"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3" name="Rectangle 22">
            <a:extLst>
              <a:ext uri="{FF2B5EF4-FFF2-40B4-BE49-F238E27FC236}">
                <a16:creationId xmlns:a16="http://schemas.microsoft.com/office/drawing/2014/main" id="{CEEF23AD-EA17-135A-DB95-1D1FECB286F3}"/>
              </a:ext>
            </a:extLst>
          </p:cNvPr>
          <p:cNvSpPr/>
          <p:nvPr/>
        </p:nvSpPr>
        <p:spPr>
          <a:xfrm>
            <a:off x="4618374"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4" name="TextBox 23"/>
          <p:cNvSpPr txBox="1"/>
          <p:nvPr/>
        </p:nvSpPr>
        <p:spPr>
          <a:xfrm>
            <a:off x="5580063" y="1227563"/>
            <a:ext cx="934871" cy="276999"/>
          </a:xfrm>
          <a:prstGeom prst="rect">
            <a:avLst/>
          </a:prstGeom>
          <a:noFill/>
        </p:spPr>
        <p:txBody>
          <a:bodyPr wrap="none" rtlCol="0">
            <a:spAutoFit/>
          </a:bodyPr>
          <a:lstStyle/>
          <a:p>
            <a:r>
              <a:rPr lang="en-US" sz="1200"/>
              <a:t>d1) 0.01999</a:t>
            </a:r>
            <a:endParaRPr lang="en-GB" sz="1200"/>
          </a:p>
        </p:txBody>
      </p:sp>
      <p:sp>
        <p:nvSpPr>
          <p:cNvPr id="25" name="Rectangle 24">
            <a:extLst>
              <a:ext uri="{FF2B5EF4-FFF2-40B4-BE49-F238E27FC236}">
                <a16:creationId xmlns:a16="http://schemas.microsoft.com/office/drawing/2014/main" id="{CEEF23AD-EA17-135A-DB95-1D1FECB286F3}"/>
              </a:ext>
            </a:extLst>
          </p:cNvPr>
          <p:cNvSpPr/>
          <p:nvPr/>
        </p:nvSpPr>
        <p:spPr>
          <a:xfrm>
            <a:off x="5667476" y="1794512"/>
            <a:ext cx="830389" cy="40042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1" name="TextBox 40"/>
          <p:cNvSpPr txBox="1"/>
          <p:nvPr/>
        </p:nvSpPr>
        <p:spPr>
          <a:xfrm>
            <a:off x="631547" y="2390892"/>
            <a:ext cx="5870325" cy="276999"/>
          </a:xfrm>
          <a:prstGeom prst="rect">
            <a:avLst/>
          </a:prstGeom>
          <a:noFill/>
        </p:spPr>
        <p:txBody>
          <a:bodyPr wrap="none" rtlCol="0">
            <a:spAutoFit/>
          </a:bodyPr>
          <a:lstStyle/>
          <a:p>
            <a:r>
              <a:rPr lang="en-US" sz="1200"/>
              <a:t>9. Complete the following table by rounding each number to 1, 2 and 3 significant figures</a:t>
            </a:r>
            <a:endParaRPr lang="en-GB" sz="1200"/>
          </a:p>
        </p:txBody>
      </p:sp>
      <p:graphicFrame>
        <p:nvGraphicFramePr>
          <p:cNvPr id="42" name="Table 41"/>
          <p:cNvGraphicFramePr>
            <a:graphicFrameLocks noGrp="1"/>
          </p:cNvGraphicFramePr>
          <p:nvPr/>
        </p:nvGraphicFramePr>
        <p:xfrm>
          <a:off x="124240" y="2761394"/>
          <a:ext cx="6684640" cy="3998390"/>
        </p:xfrm>
        <a:graphic>
          <a:graphicData uri="http://schemas.openxmlformats.org/drawingml/2006/table">
            <a:tbl>
              <a:tblPr firstRow="1" bandRow="1">
                <a:tableStyleId>{073A0DAA-6AF3-43AB-8588-CEC1D06C72B9}</a:tableStyleId>
              </a:tblPr>
              <a:tblGrid>
                <a:gridCol w="2049117">
                  <a:extLst>
                    <a:ext uri="{9D8B030D-6E8A-4147-A177-3AD203B41FA5}">
                      <a16:colId xmlns:a16="http://schemas.microsoft.com/office/drawing/2014/main" val="20000"/>
                    </a:ext>
                  </a:extLst>
                </a:gridCol>
                <a:gridCol w="1563275">
                  <a:extLst>
                    <a:ext uri="{9D8B030D-6E8A-4147-A177-3AD203B41FA5}">
                      <a16:colId xmlns:a16="http://schemas.microsoft.com/office/drawing/2014/main" val="20003"/>
                    </a:ext>
                  </a:extLst>
                </a:gridCol>
                <a:gridCol w="1536124">
                  <a:extLst>
                    <a:ext uri="{9D8B030D-6E8A-4147-A177-3AD203B41FA5}">
                      <a16:colId xmlns:a16="http://schemas.microsoft.com/office/drawing/2014/main" val="20004"/>
                    </a:ext>
                  </a:extLst>
                </a:gridCol>
                <a:gridCol w="1536124">
                  <a:extLst>
                    <a:ext uri="{9D8B030D-6E8A-4147-A177-3AD203B41FA5}">
                      <a16:colId xmlns:a16="http://schemas.microsoft.com/office/drawing/2014/main" val="20005"/>
                    </a:ext>
                  </a:extLst>
                </a:gridCol>
              </a:tblGrid>
              <a:tr h="399839">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1sf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2sf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a:solidFill>
                            <a:schemeClr val="tx1"/>
                          </a:solidFill>
                        </a:rPr>
                        <a:t>3sf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839">
                <a:tc>
                  <a:txBody>
                    <a:bodyPr/>
                    <a:lstStyle/>
                    <a:p>
                      <a:r>
                        <a:rPr lang="en-GB" sz="1200">
                          <a:solidFill>
                            <a:schemeClr val="tx1"/>
                          </a:solidFill>
                        </a:rPr>
                        <a:t>123.456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839">
                <a:tc>
                  <a:txBody>
                    <a:bodyPr/>
                    <a:lstStyle/>
                    <a:p>
                      <a:r>
                        <a:rPr lang="en-GB" sz="1200">
                          <a:solidFill>
                            <a:schemeClr val="tx1"/>
                          </a:solidFill>
                        </a:rPr>
                        <a:t>144.402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839">
                <a:tc>
                  <a:txBody>
                    <a:bodyPr/>
                    <a:lstStyle/>
                    <a:p>
                      <a:r>
                        <a:rPr lang="en-GB" sz="1200">
                          <a:solidFill>
                            <a:schemeClr val="tx1"/>
                          </a:solidFill>
                        </a:rPr>
                        <a:t>8888.888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839">
                <a:tc>
                  <a:txBody>
                    <a:bodyPr/>
                    <a:lstStyle/>
                    <a:p>
                      <a:r>
                        <a:rPr lang="en-GB" sz="1200">
                          <a:solidFill>
                            <a:schemeClr val="tx1"/>
                          </a:solidFill>
                        </a:rPr>
                        <a:t>437.3946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839">
                <a:tc>
                  <a:txBody>
                    <a:bodyPr/>
                    <a:lstStyle/>
                    <a:p>
                      <a:r>
                        <a:rPr lang="en-GB" sz="1200">
                          <a:solidFill>
                            <a:schemeClr val="tx1"/>
                          </a:solidFill>
                        </a:rPr>
                        <a:t>987.654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9839">
                <a:tc>
                  <a:txBody>
                    <a:bodyPr/>
                    <a:lstStyle/>
                    <a:p>
                      <a:r>
                        <a:rPr lang="en-GB" sz="1200">
                          <a:solidFill>
                            <a:schemeClr val="tx1"/>
                          </a:solidFill>
                        </a:rPr>
                        <a:t>3</a:t>
                      </a:r>
                      <a:r>
                        <a:rPr lang="en-GB" sz="1200" baseline="0">
                          <a:solidFill>
                            <a:schemeClr val="tx1"/>
                          </a:solidFill>
                        </a:rPr>
                        <a:t> 809 830.492</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99839">
                <a:tc>
                  <a:txBody>
                    <a:bodyPr/>
                    <a:lstStyle/>
                    <a:p>
                      <a:r>
                        <a:rPr lang="en-GB" sz="1200">
                          <a:solidFill>
                            <a:schemeClr val="tx1"/>
                          </a:solidFill>
                        </a:rPr>
                        <a:t>1.98043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9839">
                <a:tc>
                  <a:txBody>
                    <a:bodyPr/>
                    <a:lstStyle/>
                    <a:p>
                      <a:r>
                        <a:rPr lang="en-GB" sz="1200">
                          <a:solidFill>
                            <a:schemeClr val="tx1"/>
                          </a:solidFill>
                        </a:rPr>
                        <a:t>4.80808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99839">
                <a:tc>
                  <a:txBody>
                    <a:bodyPr/>
                    <a:lstStyle/>
                    <a:p>
                      <a:r>
                        <a:rPr lang="en-GB" sz="1200">
                          <a:solidFill>
                            <a:schemeClr val="tx1"/>
                          </a:solidFill>
                        </a:rPr>
                        <a:t>99.009900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43" name="Rectangle 42"/>
          <p:cNvSpPr/>
          <p:nvPr/>
        </p:nvSpPr>
        <p:spPr>
          <a:xfrm>
            <a:off x="124240" y="7232739"/>
            <a:ext cx="6554856" cy="1938992"/>
          </a:xfrm>
          <a:prstGeom prst="rect">
            <a:avLst/>
          </a:prstGeom>
        </p:spPr>
        <p:txBody>
          <a:bodyPr wrap="square">
            <a:spAutoFit/>
          </a:bodyPr>
          <a:lstStyle/>
          <a:p>
            <a:r>
              <a:rPr lang="en-US" sz="1200"/>
              <a:t>10. In an election 43.86% of people voted for a candidate. Round this figure to one significant figure</a:t>
            </a:r>
          </a:p>
          <a:p>
            <a:r>
              <a:rPr lang="en-US" sz="1200"/>
              <a:t> </a:t>
            </a:r>
          </a:p>
          <a:p>
            <a:endParaRPr lang="en-US" sz="1200"/>
          </a:p>
          <a:p>
            <a:endParaRPr lang="en-US" sz="1200"/>
          </a:p>
          <a:p>
            <a:endParaRPr lang="en-US" sz="1200"/>
          </a:p>
          <a:p>
            <a:r>
              <a:rPr lang="en-US" sz="1200"/>
              <a:t>11. 32641 people watch a rugby match between Italy and Argentina. Round this number to 2 significant figures. </a:t>
            </a:r>
          </a:p>
          <a:p>
            <a:endParaRPr lang="en-US" sz="1200"/>
          </a:p>
          <a:p>
            <a:endParaRPr lang="en-US" sz="1200"/>
          </a:p>
          <a:p>
            <a:endParaRPr lang="en-US" sz="1200"/>
          </a:p>
        </p:txBody>
      </p:sp>
      <p:sp>
        <p:nvSpPr>
          <p:cNvPr id="44" name="Rectangle 43">
            <a:extLst>
              <a:ext uri="{FF2B5EF4-FFF2-40B4-BE49-F238E27FC236}">
                <a16:creationId xmlns:a16="http://schemas.microsoft.com/office/drawing/2014/main" id="{CEEF23AD-EA17-135A-DB95-1D1FECB286F3}"/>
              </a:ext>
            </a:extLst>
          </p:cNvPr>
          <p:cNvSpPr/>
          <p:nvPr/>
        </p:nvSpPr>
        <p:spPr>
          <a:xfrm>
            <a:off x="1449883" y="7518631"/>
            <a:ext cx="5114592" cy="585724"/>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1458800" y="8577310"/>
            <a:ext cx="5114592" cy="594421"/>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28</a:t>
            </a:fld>
            <a:endParaRPr lang="en-GB"/>
          </a:p>
        </p:txBody>
      </p:sp>
    </p:spTree>
    <p:extLst>
      <p:ext uri="{BB962C8B-B14F-4D97-AF65-F5344CB8AC3E}">
        <p14:creationId xmlns:p14="http://schemas.microsoft.com/office/powerpoint/2010/main" val="3670830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29</a:t>
            </a:fld>
            <a:endParaRPr lang="en-GB">
              <a:solidFill>
                <a:schemeClr val="tx1"/>
              </a:solidFill>
            </a:endParaRPr>
          </a:p>
        </p:txBody>
      </p:sp>
      <p:sp>
        <p:nvSpPr>
          <p:cNvPr id="52" name="Slide Number Placeholder 2"/>
          <p:cNvSpPr txBox="1">
            <a:spLocks/>
          </p:cNvSpPr>
          <p:nvPr/>
        </p:nvSpPr>
        <p:spPr>
          <a:xfrm>
            <a:off x="5395716" y="95901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F1D9CC-7119-45EC-A96C-D8C0660F3AAB}" type="slidenum">
              <a:rPr lang="en-GB" smtClean="0"/>
              <a:pPr/>
              <a:t>29</a:t>
            </a:fld>
            <a:endParaRPr lang="en-GB"/>
          </a:p>
        </p:txBody>
      </p:sp>
      <p:sp>
        <p:nvSpPr>
          <p:cNvPr id="4" name="Rectangle 3">
            <a:extLst>
              <a:ext uri="{FF2B5EF4-FFF2-40B4-BE49-F238E27FC236}">
                <a16:creationId xmlns:a16="http://schemas.microsoft.com/office/drawing/2014/main" id="{457C3927-CBEC-AC26-8EF1-4EDE8B997F47}"/>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Subtopic 3 – Estimation</a:t>
            </a:r>
          </a:p>
        </p:txBody>
      </p:sp>
      <p:sp>
        <p:nvSpPr>
          <p:cNvPr id="10" name="Rectangle 9">
            <a:extLst>
              <a:ext uri="{FF2B5EF4-FFF2-40B4-BE49-F238E27FC236}">
                <a16:creationId xmlns:a16="http://schemas.microsoft.com/office/drawing/2014/main" id="{3F3C26E9-3D48-46EF-4CAA-9E5EA30A4167}"/>
              </a:ext>
            </a:extLst>
          </p:cNvPr>
          <p:cNvSpPr/>
          <p:nvPr/>
        </p:nvSpPr>
        <p:spPr>
          <a:xfrm>
            <a:off x="78403" y="396700"/>
            <a:ext cx="6728829" cy="14174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61EBF87-57E8-DACD-B915-C60C660125EE}"/>
              </a:ext>
            </a:extLst>
          </p:cNvPr>
          <p:cNvSpPr txBox="1"/>
          <p:nvPr/>
        </p:nvSpPr>
        <p:spPr>
          <a:xfrm>
            <a:off x="35146" y="783689"/>
            <a:ext cx="114939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Calibri" panose="020F0502020204030204"/>
                <a:ea typeface="+mn-ea"/>
                <a:cs typeface="+mn-cs"/>
              </a:rPr>
              <a:t>Objectives</a:t>
            </a:r>
            <a:r>
              <a:rPr kumimoji="0" lang="en-GB" sz="1400" b="1" i="0" u="none" strike="noStrike" kern="1200" cap="none" spc="0" normalizeH="0" baseline="0" noProof="0">
                <a:ln>
                  <a:noFill/>
                </a:ln>
                <a:solidFill>
                  <a:srgbClr val="0070C0"/>
                </a:solidFill>
                <a:effectLst/>
                <a:uLnTx/>
                <a:uFillTx/>
                <a:latin typeface="Calibri" panose="020F0502020204030204"/>
                <a:ea typeface="+mn-ea"/>
                <a:cs typeface="+mn-cs"/>
              </a:rPr>
              <a:t>:</a:t>
            </a:r>
          </a:p>
        </p:txBody>
      </p:sp>
      <p:sp>
        <p:nvSpPr>
          <p:cNvPr id="12" name="TextBox 11">
            <a:extLst>
              <a:ext uri="{FF2B5EF4-FFF2-40B4-BE49-F238E27FC236}">
                <a16:creationId xmlns:a16="http://schemas.microsoft.com/office/drawing/2014/main" id="{57C07EAA-19A4-AC3E-01EB-B04BF7B9AE68}"/>
              </a:ext>
            </a:extLst>
          </p:cNvPr>
          <p:cNvSpPr txBox="1"/>
          <p:nvPr/>
        </p:nvSpPr>
        <p:spPr>
          <a:xfrm>
            <a:off x="904948" y="478185"/>
            <a:ext cx="5048103" cy="27699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Calibri" panose="020F0502020204030204"/>
                <a:ea typeface="+mn-ea"/>
                <a:cs typeface="+mn-cs"/>
              </a:rPr>
              <a:t>LEARNING OUTCOME:</a:t>
            </a: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 To use estimation to solve problems.</a:t>
            </a:r>
          </a:p>
        </p:txBody>
      </p:sp>
      <p:sp>
        <p:nvSpPr>
          <p:cNvPr id="13" name="TextBox 12">
            <a:extLst>
              <a:ext uri="{FF2B5EF4-FFF2-40B4-BE49-F238E27FC236}">
                <a16:creationId xmlns:a16="http://schemas.microsoft.com/office/drawing/2014/main" id="{F14FFD63-ED8E-89A9-950A-34A91E146D12}"/>
              </a:ext>
            </a:extLst>
          </p:cNvPr>
          <p:cNvSpPr txBox="1"/>
          <p:nvPr/>
        </p:nvSpPr>
        <p:spPr>
          <a:xfrm>
            <a:off x="5492377" y="886343"/>
            <a:ext cx="1233799" cy="861774"/>
          </a:xfrm>
          <a:prstGeom prst="rect">
            <a:avLst/>
          </a:prstGeom>
          <a:no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Calibri" panose="020F0502020204030204"/>
                <a:ea typeface="+mn-ea"/>
                <a:cs typeface="+mn-cs"/>
              </a:rPr>
              <a:t>Keywords:</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significant figure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Approximate</a:t>
            </a:r>
          </a:p>
          <a:p>
            <a:pPr marL="285750" marR="0" lvl="0" indent="-285750" algn="l" defTabSz="914400" rtl="0" eaLnBrk="1" fontAlgn="auto" latinLnBrk="0" hangingPunct="1">
              <a:lnSpc>
                <a:spcPct val="100000"/>
              </a:lnSpc>
              <a:spcBef>
                <a:spcPts val="0"/>
              </a:spcBef>
              <a:spcAft>
                <a:spcPts val="0"/>
              </a:spcAft>
              <a:buClrTx/>
              <a:buSzTx/>
              <a:buFont typeface=".AppleSystemUIFont" charset="-120"/>
              <a:buChar char="-"/>
              <a:tabLst/>
              <a:defRPr/>
            </a:pPr>
            <a:r>
              <a:rPr lang="en-US" sz="1000">
                <a:solidFill>
                  <a:prstClr val="black"/>
                </a:solidFill>
                <a:latin typeface="Calibri" panose="020F0502020204030204"/>
              </a:rPr>
              <a:t>estimate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Box 1">
            <a:extLst>
              <a:ext uri="{FF2B5EF4-FFF2-40B4-BE49-F238E27FC236}">
                <a16:creationId xmlns:a16="http://schemas.microsoft.com/office/drawing/2014/main" id="{B0533220-804B-A045-75A3-5251B4B4704B}"/>
              </a:ext>
            </a:extLst>
          </p:cNvPr>
          <p:cNvSpPr txBox="1"/>
          <p:nvPr/>
        </p:nvSpPr>
        <p:spPr>
          <a:xfrm>
            <a:off x="904948" y="920907"/>
            <a:ext cx="466799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mj-lt"/>
              <a:buAutoNum type="arabicPeriod"/>
            </a:pPr>
            <a:r>
              <a:rPr lang="en-GB" sz="1200"/>
              <a:t>To be able to use rounding to estimate calculations.</a:t>
            </a:r>
          </a:p>
          <a:p>
            <a:pPr marL="342900" indent="-342900">
              <a:buFont typeface="+mj-lt"/>
              <a:buAutoNum type="arabicPeriod"/>
            </a:pPr>
            <a:r>
              <a:rPr lang="en-GB" sz="1200"/>
              <a:t>To estimate with powers and roots.</a:t>
            </a:r>
          </a:p>
        </p:txBody>
      </p:sp>
      <p:cxnSp>
        <p:nvCxnSpPr>
          <p:cNvPr id="23" name="Straight Connector 22">
            <a:extLst>
              <a:ext uri="{FF2B5EF4-FFF2-40B4-BE49-F238E27FC236}">
                <a16:creationId xmlns:a16="http://schemas.microsoft.com/office/drawing/2014/main" id="{948E6108-F66A-6AB3-72B3-B9FFA916F382}"/>
              </a:ext>
            </a:extLst>
          </p:cNvPr>
          <p:cNvCxnSpPr/>
          <p:nvPr/>
        </p:nvCxnSpPr>
        <p:spPr>
          <a:xfrm flipV="1">
            <a:off x="917514" y="4118138"/>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CE20077-8FB5-5408-0885-500017EC56EF}"/>
              </a:ext>
            </a:extLst>
          </p:cNvPr>
          <p:cNvSpPr/>
          <p:nvPr/>
        </p:nvSpPr>
        <p:spPr>
          <a:xfrm>
            <a:off x="62503" y="2079336"/>
            <a:ext cx="6699219" cy="26133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8" name="Straight Connector 67">
            <a:extLst>
              <a:ext uri="{FF2B5EF4-FFF2-40B4-BE49-F238E27FC236}">
                <a16:creationId xmlns:a16="http://schemas.microsoft.com/office/drawing/2014/main" id="{E5FBF7BC-6FE4-8C0F-01BC-3B65B85F59C6}"/>
              </a:ext>
            </a:extLst>
          </p:cNvPr>
          <p:cNvCxnSpPr/>
          <p:nvPr/>
        </p:nvCxnSpPr>
        <p:spPr>
          <a:xfrm>
            <a:off x="69204" y="3432916"/>
            <a:ext cx="6699219" cy="0"/>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CCF41E25-28C2-2BB7-5BC3-52B7F84EB78F}"/>
              </a:ext>
            </a:extLst>
          </p:cNvPr>
          <p:cNvCxnSpPr>
            <a:cxnSpLocks/>
            <a:stCxn id="25" idx="2"/>
            <a:endCxn id="25" idx="0"/>
          </p:cNvCxnSpPr>
          <p:nvPr/>
        </p:nvCxnSpPr>
        <p:spPr>
          <a:xfrm flipV="1">
            <a:off x="3412113" y="2079336"/>
            <a:ext cx="0" cy="2613360"/>
          </a:xfrm>
          <a:prstGeom prst="line">
            <a:avLst/>
          </a:prstGeom>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EDB3C1DB-CCF7-A3F3-982C-8D68D20F7E03}"/>
              </a:ext>
            </a:extLst>
          </p:cNvPr>
          <p:cNvSpPr txBox="1"/>
          <p:nvPr/>
        </p:nvSpPr>
        <p:spPr>
          <a:xfrm>
            <a:off x="96278" y="2067102"/>
            <a:ext cx="824713" cy="461665"/>
          </a:xfrm>
          <a:prstGeom prst="rect">
            <a:avLst/>
          </a:prstGeom>
          <a:noFill/>
        </p:spPr>
        <p:txBody>
          <a:bodyPr wrap="none" rtlCol="0">
            <a:spAutoFit/>
          </a:bodyPr>
          <a:lstStyle/>
          <a:p>
            <a:r>
              <a:rPr lang="en-US" sz="1200" b="1"/>
              <a:t>Definition</a:t>
            </a:r>
          </a:p>
          <a:p>
            <a:endParaRPr lang="en-US" sz="1200"/>
          </a:p>
        </p:txBody>
      </p:sp>
      <p:sp>
        <p:nvSpPr>
          <p:cNvPr id="71" name="TextBox 70">
            <a:extLst>
              <a:ext uri="{FF2B5EF4-FFF2-40B4-BE49-F238E27FC236}">
                <a16:creationId xmlns:a16="http://schemas.microsoft.com/office/drawing/2014/main" id="{FF9457BE-65B5-5673-226D-0B217A0BF0BD}"/>
              </a:ext>
            </a:extLst>
          </p:cNvPr>
          <p:cNvSpPr txBox="1"/>
          <p:nvPr/>
        </p:nvSpPr>
        <p:spPr>
          <a:xfrm>
            <a:off x="5619068" y="2079546"/>
            <a:ext cx="1112228" cy="276999"/>
          </a:xfrm>
          <a:prstGeom prst="rect">
            <a:avLst/>
          </a:prstGeom>
          <a:noFill/>
        </p:spPr>
        <p:txBody>
          <a:bodyPr wrap="none" rtlCol="0">
            <a:spAutoFit/>
          </a:bodyPr>
          <a:lstStyle/>
          <a:p>
            <a:r>
              <a:rPr lang="en-US" sz="1200" b="1"/>
              <a:t>Characteristics</a:t>
            </a:r>
            <a:endParaRPr lang="en-GB" sz="1200" b="1"/>
          </a:p>
        </p:txBody>
      </p:sp>
      <p:sp>
        <p:nvSpPr>
          <p:cNvPr id="72" name="TextBox 71">
            <a:extLst>
              <a:ext uri="{FF2B5EF4-FFF2-40B4-BE49-F238E27FC236}">
                <a16:creationId xmlns:a16="http://schemas.microsoft.com/office/drawing/2014/main" id="{8BADBC09-E79B-FCA0-7440-C7E760973270}"/>
              </a:ext>
            </a:extLst>
          </p:cNvPr>
          <p:cNvSpPr txBox="1"/>
          <p:nvPr/>
        </p:nvSpPr>
        <p:spPr>
          <a:xfrm>
            <a:off x="79815" y="3396757"/>
            <a:ext cx="788164" cy="276999"/>
          </a:xfrm>
          <a:prstGeom prst="rect">
            <a:avLst/>
          </a:prstGeom>
          <a:noFill/>
        </p:spPr>
        <p:txBody>
          <a:bodyPr wrap="none" rtlCol="0">
            <a:spAutoFit/>
          </a:bodyPr>
          <a:lstStyle/>
          <a:p>
            <a:r>
              <a:rPr lang="en-US" sz="1200" b="1"/>
              <a:t>Examples</a:t>
            </a:r>
            <a:endParaRPr lang="en-GB" sz="1200" b="1"/>
          </a:p>
        </p:txBody>
      </p:sp>
      <p:sp>
        <p:nvSpPr>
          <p:cNvPr id="73" name="TextBox 72">
            <a:extLst>
              <a:ext uri="{FF2B5EF4-FFF2-40B4-BE49-F238E27FC236}">
                <a16:creationId xmlns:a16="http://schemas.microsoft.com/office/drawing/2014/main" id="{0DC09AF5-77AC-79ED-4013-2BE410B097F6}"/>
              </a:ext>
            </a:extLst>
          </p:cNvPr>
          <p:cNvSpPr txBox="1"/>
          <p:nvPr/>
        </p:nvSpPr>
        <p:spPr>
          <a:xfrm>
            <a:off x="5533152" y="3421169"/>
            <a:ext cx="1172885" cy="276999"/>
          </a:xfrm>
          <a:prstGeom prst="rect">
            <a:avLst/>
          </a:prstGeom>
          <a:noFill/>
        </p:spPr>
        <p:txBody>
          <a:bodyPr wrap="none" rtlCol="0">
            <a:spAutoFit/>
          </a:bodyPr>
          <a:lstStyle/>
          <a:p>
            <a:r>
              <a:rPr lang="en-US" sz="1200" b="1"/>
              <a:t>Non - Examples</a:t>
            </a:r>
            <a:endParaRPr lang="en-GB" sz="1200" b="1"/>
          </a:p>
        </p:txBody>
      </p:sp>
      <p:sp>
        <p:nvSpPr>
          <p:cNvPr id="74" name="TextBox 73">
            <a:extLst>
              <a:ext uri="{FF2B5EF4-FFF2-40B4-BE49-F238E27FC236}">
                <a16:creationId xmlns:a16="http://schemas.microsoft.com/office/drawing/2014/main" id="{344F8C67-FBB0-06A6-A3E2-3F0993CA4C4A}"/>
              </a:ext>
            </a:extLst>
          </p:cNvPr>
          <p:cNvSpPr txBox="1"/>
          <p:nvPr/>
        </p:nvSpPr>
        <p:spPr>
          <a:xfrm>
            <a:off x="118190" y="2266789"/>
            <a:ext cx="3230335" cy="646331"/>
          </a:xfrm>
          <a:prstGeom prst="rect">
            <a:avLst/>
          </a:prstGeom>
          <a:noFill/>
        </p:spPr>
        <p:txBody>
          <a:bodyPr wrap="square" rtlCol="0">
            <a:spAutoFit/>
          </a:bodyPr>
          <a:lstStyle/>
          <a:p>
            <a:r>
              <a:rPr lang="en-US" sz="1200"/>
              <a:t>Calculating an approximate answer to a calculation by rounding the numbers used in the calculation prior to carrying the calculation.</a:t>
            </a:r>
          </a:p>
        </p:txBody>
      </p:sp>
      <p:sp>
        <p:nvSpPr>
          <p:cNvPr id="75" name="TextBox 74">
            <a:extLst>
              <a:ext uri="{FF2B5EF4-FFF2-40B4-BE49-F238E27FC236}">
                <a16:creationId xmlns:a16="http://schemas.microsoft.com/office/drawing/2014/main" id="{2C06B35E-5872-7074-9418-D210247E5C72}"/>
              </a:ext>
            </a:extLst>
          </p:cNvPr>
          <p:cNvSpPr txBox="1"/>
          <p:nvPr/>
        </p:nvSpPr>
        <p:spPr>
          <a:xfrm>
            <a:off x="3509475" y="2268636"/>
            <a:ext cx="3230335"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t>Typically, number used in the calculation will be rounded to 1 significant figure</a:t>
            </a:r>
          </a:p>
          <a:p>
            <a:pPr marL="171450" indent="-171450">
              <a:buFont typeface="Arial" panose="020B0604020202020204" pitchFamily="34" charset="0"/>
              <a:buChar char="•"/>
            </a:pPr>
            <a:r>
              <a:rPr lang="en-US" sz="1200" dirty="0"/>
              <a:t>The result of the calculation will be close to the real answer</a:t>
            </a:r>
          </a:p>
          <a:p>
            <a:pPr marL="171450" indent="-171450">
              <a:buFont typeface="Arial" panose="020B0604020202020204" pitchFamily="34" charset="0"/>
              <a:buChar char="•"/>
            </a:pPr>
            <a:endParaRPr lang="en-US" sz="1200" dirty="0"/>
          </a:p>
        </p:txBody>
      </p:sp>
      <p:sp>
        <p:nvSpPr>
          <p:cNvPr id="76" name="TextBox 75">
            <a:extLst>
              <a:ext uri="{FF2B5EF4-FFF2-40B4-BE49-F238E27FC236}">
                <a16:creationId xmlns:a16="http://schemas.microsoft.com/office/drawing/2014/main" id="{2556150D-FEC2-7DB9-D31C-D88BE4E36152}"/>
              </a:ext>
            </a:extLst>
          </p:cNvPr>
          <p:cNvSpPr txBox="1"/>
          <p:nvPr/>
        </p:nvSpPr>
        <p:spPr>
          <a:xfrm>
            <a:off x="2037810" y="3239198"/>
            <a:ext cx="2538772" cy="369332"/>
          </a:xfrm>
          <a:prstGeom prst="rect">
            <a:avLst/>
          </a:prstGeom>
          <a:solidFill>
            <a:schemeClr val="bg1"/>
          </a:solidFill>
          <a:ln>
            <a:solidFill>
              <a:schemeClr val="tx1"/>
            </a:solidFill>
          </a:ln>
        </p:spPr>
        <p:txBody>
          <a:bodyPr wrap="none" rtlCol="0">
            <a:spAutoFit/>
          </a:bodyPr>
          <a:lstStyle/>
          <a:p>
            <a:r>
              <a:rPr lang="en-US"/>
              <a:t>Estimating (a calculation)</a:t>
            </a:r>
            <a:endParaRPr lang="en-GB"/>
          </a:p>
        </p:txBody>
      </p:sp>
      <p:sp>
        <p:nvSpPr>
          <p:cNvPr id="81" name="TextBox 80">
            <a:extLst>
              <a:ext uri="{FF2B5EF4-FFF2-40B4-BE49-F238E27FC236}">
                <a16:creationId xmlns:a16="http://schemas.microsoft.com/office/drawing/2014/main" id="{776E9B21-10B5-629D-38B3-C8F917228C0E}"/>
              </a:ext>
            </a:extLst>
          </p:cNvPr>
          <p:cNvSpPr txBox="1"/>
          <p:nvPr/>
        </p:nvSpPr>
        <p:spPr>
          <a:xfrm>
            <a:off x="302258" y="3605913"/>
            <a:ext cx="2484780" cy="280270"/>
          </a:xfrm>
          <a:prstGeom prst="rect">
            <a:avLst/>
          </a:prstGeom>
          <a:noFill/>
        </p:spPr>
        <p:txBody>
          <a:bodyPr wrap="square">
            <a:spAutoFit/>
          </a:bodyPr>
          <a:lstStyle/>
          <a:p>
            <a:pPr algn="ctr">
              <a:lnSpc>
                <a:spcPct val="107000"/>
              </a:lnSpc>
              <a:spcAft>
                <a:spcPts val="1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27 × 432 </a:t>
            </a:r>
            <a:r>
              <a:rPr lang="en-US" sz="1200">
                <a:effectLst/>
                <a:latin typeface="Calibri" panose="020F0502020204030204" pitchFamily="34" charset="0"/>
                <a:ea typeface="Calibri" panose="020F0502020204030204" pitchFamily="34" charset="0"/>
                <a:cs typeface="Calibri" panose="020F0502020204030204" pitchFamily="34" charset="0"/>
              </a:rPr>
              <a:t>≈</a:t>
            </a:r>
            <a:r>
              <a:rPr lang="en-US" sz="1200">
                <a:effectLst/>
                <a:latin typeface="Times New Roman" panose="02020603050405020304" pitchFamily="18" charset="0"/>
                <a:ea typeface="Calibri" panose="020F0502020204030204" pitchFamily="34" charset="0"/>
                <a:cs typeface="Times New Roman" panose="02020603050405020304" pitchFamily="18" charset="0"/>
              </a:rPr>
              <a:t> 30 × 400</a:t>
            </a:r>
            <a:endParaRPr lang="en-GB" sz="70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237BA5C3-2BE2-E5D4-477E-11AE78555FF9}"/>
                  </a:ext>
                </a:extLst>
              </p:cNvPr>
              <p:cNvSpPr txBox="1"/>
              <p:nvPr/>
            </p:nvSpPr>
            <p:spPr>
              <a:xfrm>
                <a:off x="203434" y="4034498"/>
                <a:ext cx="2946686" cy="694357"/>
              </a:xfrm>
              <a:prstGeom prst="rect">
                <a:avLst/>
              </a:prstGeom>
              <a:noFill/>
            </p:spPr>
            <p:txBody>
              <a:bodyPr wrap="square">
                <a:spAutoFit/>
              </a:bodyPr>
              <a:lstStyle/>
              <a:p>
                <a:pPr>
                  <a:lnSpc>
                    <a:spcPct val="107000"/>
                  </a:lnSpc>
                  <a:spcAft>
                    <a:spcPts val="1800"/>
                  </a:spcAft>
                </a:pPr>
                <a14:m>
                  <m:oMathPara xmlns:m="http://schemas.openxmlformats.org/officeDocument/2006/math">
                    <m:oMathParaPr>
                      <m:jc m:val="centerGroup"/>
                    </m:oMathParaPr>
                    <m:oMath xmlns:m="http://schemas.openxmlformats.org/officeDocument/2006/math">
                      <m:f>
                        <m:fPr>
                          <m:ctrlPr>
                            <a:rPr lang="en-GB" sz="1200" i="1"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i="1">
                              <a:effectLst/>
                              <a:latin typeface="Cambria Math" panose="02040503050406030204" pitchFamily="18" charset="0"/>
                              <a:ea typeface="Calibri" panose="020F0502020204030204" pitchFamily="34" charset="0"/>
                              <a:cs typeface="Times New Roman" panose="02020603050405020304" pitchFamily="18" charset="0"/>
                            </a:rPr>
                            <m:t>73.8×23.93</m:t>
                          </m:r>
                        </m:num>
                        <m:den>
                          <m:r>
                            <a:rPr lang="en-US" sz="1200" i="1">
                              <a:effectLst/>
                              <a:latin typeface="Cambria Math" panose="02040503050406030204" pitchFamily="18" charset="0"/>
                              <a:ea typeface="Calibri" panose="020F0502020204030204" pitchFamily="34" charset="0"/>
                              <a:cs typeface="Times New Roman" panose="02020603050405020304" pitchFamily="18" charset="0"/>
                            </a:rPr>
                            <m:t>0.345</m:t>
                          </m:r>
                        </m:den>
                      </m:f>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70×20</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0.3</m:t>
                          </m:r>
                        </m:den>
                      </m:f>
                    </m:oMath>
                  </m:oMathPara>
                </a14:m>
                <a:endParaRPr lang="en-GB" sz="10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3" name="TextBox 82">
                <a:extLst>
                  <a:ext uri="{FF2B5EF4-FFF2-40B4-BE49-F238E27FC236}">
                    <a16:creationId xmlns:a16="http://schemas.microsoft.com/office/drawing/2014/main" id="{237BA5C3-2BE2-E5D4-477E-11AE78555FF9}"/>
                  </a:ext>
                </a:extLst>
              </p:cNvPr>
              <p:cNvSpPr txBox="1">
                <a:spLocks noRot="1" noChangeAspect="1" noMove="1" noResize="1" noEditPoints="1" noAdjustHandles="1" noChangeArrowheads="1" noChangeShapeType="1" noTextEdit="1"/>
              </p:cNvSpPr>
              <p:nvPr/>
            </p:nvSpPr>
            <p:spPr>
              <a:xfrm>
                <a:off x="203434" y="4034498"/>
                <a:ext cx="2946686" cy="694357"/>
              </a:xfrm>
              <a:prstGeom prst="rect">
                <a:avLst/>
              </a:prstGeom>
              <a:blipFill>
                <a:blip r:embed="rId3"/>
                <a:stretch>
                  <a:fillRect/>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7EB07DBF-2158-96C9-EA3C-14E8E5FBB22D}"/>
              </a:ext>
            </a:extLst>
          </p:cNvPr>
          <p:cNvSpPr txBox="1"/>
          <p:nvPr/>
        </p:nvSpPr>
        <p:spPr>
          <a:xfrm>
            <a:off x="4238363" y="3625280"/>
            <a:ext cx="1409700" cy="276999"/>
          </a:xfrm>
          <a:prstGeom prst="rect">
            <a:avLst/>
          </a:prstGeom>
          <a:noFill/>
        </p:spPr>
        <p:txBody>
          <a:bodyPr wrap="square">
            <a:spAutoFit/>
          </a:bodyPr>
          <a:lstStyle/>
          <a:p>
            <a:r>
              <a:rPr lang="en-US" sz="1200">
                <a:effectLst/>
                <a:latin typeface="Times New Roman" panose="02020603050405020304" pitchFamily="18" charset="0"/>
                <a:ea typeface="Calibri" panose="020F0502020204030204" pitchFamily="34" charset="0"/>
              </a:rPr>
              <a:t>27 × 432 = </a:t>
            </a:r>
            <a:endParaRPr lang="en-GB" sz="1200"/>
          </a:p>
        </p:txBody>
      </p:sp>
      <p:graphicFrame>
        <p:nvGraphicFramePr>
          <p:cNvPr id="86" name="Table 85">
            <a:extLst>
              <a:ext uri="{FF2B5EF4-FFF2-40B4-BE49-F238E27FC236}">
                <a16:creationId xmlns:a16="http://schemas.microsoft.com/office/drawing/2014/main" id="{CFA0AA44-B0D6-1F89-537B-3DF4077E8CC6}"/>
              </a:ext>
            </a:extLst>
          </p:cNvPr>
          <p:cNvGraphicFramePr>
            <a:graphicFrameLocks noGrp="1"/>
          </p:cNvGraphicFramePr>
          <p:nvPr/>
        </p:nvGraphicFramePr>
        <p:xfrm>
          <a:off x="4343505" y="3931155"/>
          <a:ext cx="2023220" cy="632656"/>
        </p:xfrm>
        <a:graphic>
          <a:graphicData uri="http://schemas.openxmlformats.org/drawingml/2006/table">
            <a:tbl>
              <a:tblPr firstRow="1" firstCol="1" bandRow="1">
                <a:tableStyleId>{5C22544A-7EE6-4342-B048-85BDC9FD1C3A}</a:tableStyleId>
              </a:tblPr>
              <a:tblGrid>
                <a:gridCol w="505805">
                  <a:extLst>
                    <a:ext uri="{9D8B030D-6E8A-4147-A177-3AD203B41FA5}">
                      <a16:colId xmlns:a16="http://schemas.microsoft.com/office/drawing/2014/main" val="1585311582"/>
                    </a:ext>
                  </a:extLst>
                </a:gridCol>
                <a:gridCol w="505805">
                  <a:extLst>
                    <a:ext uri="{9D8B030D-6E8A-4147-A177-3AD203B41FA5}">
                      <a16:colId xmlns:a16="http://schemas.microsoft.com/office/drawing/2014/main" val="3121458677"/>
                    </a:ext>
                  </a:extLst>
                </a:gridCol>
                <a:gridCol w="505805">
                  <a:extLst>
                    <a:ext uri="{9D8B030D-6E8A-4147-A177-3AD203B41FA5}">
                      <a16:colId xmlns:a16="http://schemas.microsoft.com/office/drawing/2014/main" val="77838223"/>
                    </a:ext>
                  </a:extLst>
                </a:gridCol>
                <a:gridCol w="505805">
                  <a:extLst>
                    <a:ext uri="{9D8B030D-6E8A-4147-A177-3AD203B41FA5}">
                      <a16:colId xmlns:a16="http://schemas.microsoft.com/office/drawing/2014/main" val="1634582299"/>
                    </a:ext>
                  </a:extLst>
                </a:gridCol>
              </a:tblGrid>
              <a:tr h="213742">
                <a:tc>
                  <a:txBody>
                    <a:bodyPr/>
                    <a:lstStyle/>
                    <a:p>
                      <a:pPr algn="ctr">
                        <a:lnSpc>
                          <a:spcPct val="107000"/>
                        </a:lnSpc>
                        <a:spcAft>
                          <a:spcPts val="800"/>
                        </a:spcAft>
                      </a:pPr>
                      <a:r>
                        <a:rPr lang="en-US" sz="1200">
                          <a:solidFill>
                            <a:schemeClr val="tx1"/>
                          </a:solidFill>
                          <a:effectLst/>
                        </a:rPr>
                        <a:t> </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400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30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113631"/>
                  </a:ext>
                </a:extLst>
              </a:tr>
              <a:tr h="205172">
                <a:tc>
                  <a:txBody>
                    <a:bodyPr/>
                    <a:lstStyle/>
                    <a:p>
                      <a:pPr algn="ctr">
                        <a:lnSpc>
                          <a:spcPct val="107000"/>
                        </a:lnSpc>
                        <a:spcAft>
                          <a:spcPts val="800"/>
                        </a:spcAft>
                      </a:pPr>
                      <a:r>
                        <a:rPr lang="en-US" sz="1200">
                          <a:solidFill>
                            <a:schemeClr val="tx1"/>
                          </a:solidFill>
                          <a:effectLst/>
                        </a:rPr>
                        <a:t>20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8000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600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40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2663325"/>
                  </a:ext>
                </a:extLst>
              </a:tr>
              <a:tr h="213742">
                <a:tc>
                  <a:txBody>
                    <a:bodyPr/>
                    <a:lstStyle/>
                    <a:p>
                      <a:pPr algn="ctr">
                        <a:lnSpc>
                          <a:spcPct val="107000"/>
                        </a:lnSpc>
                        <a:spcAft>
                          <a:spcPts val="800"/>
                        </a:spcAft>
                      </a:pPr>
                      <a:r>
                        <a:rPr lang="en-US" sz="1200">
                          <a:solidFill>
                            <a:schemeClr val="tx1"/>
                          </a:solidFill>
                          <a:effectLst/>
                        </a:rPr>
                        <a:t>7</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2800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210</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800"/>
                        </a:spcAft>
                      </a:pPr>
                      <a:r>
                        <a:rPr lang="en-US" sz="1200">
                          <a:solidFill>
                            <a:schemeClr val="tx1"/>
                          </a:solidFill>
                          <a:effectLst/>
                        </a:rPr>
                        <a:t>14</a:t>
                      </a:r>
                      <a:endParaRPr lang="en-GB"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2897687"/>
                  </a:ext>
                </a:extLst>
              </a:tr>
            </a:tbl>
          </a:graphicData>
        </a:graphic>
      </p:graphicFrame>
      <p:cxnSp>
        <p:nvCxnSpPr>
          <p:cNvPr id="27" name="Straight Connector 26">
            <a:extLst>
              <a:ext uri="{FF2B5EF4-FFF2-40B4-BE49-F238E27FC236}">
                <a16:creationId xmlns:a16="http://schemas.microsoft.com/office/drawing/2014/main" id="{A933B632-9498-1DF2-B5D7-E3842178E377}"/>
              </a:ext>
            </a:extLst>
          </p:cNvPr>
          <p:cNvCxnSpPr>
            <a:cxnSpLocks/>
          </p:cNvCxnSpPr>
          <p:nvPr/>
        </p:nvCxnSpPr>
        <p:spPr>
          <a:xfrm>
            <a:off x="960616" y="652141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02E0B385-6FD3-6909-560E-F91F3CE19E32}"/>
                  </a:ext>
                </a:extLst>
              </p:cNvPr>
              <p:cNvGraphicFramePr>
                <a:graphicFrameLocks noGrp="1"/>
              </p:cNvGraphicFramePr>
              <p:nvPr>
                <p:extLst>
                  <p:ext uri="{D42A27DB-BD31-4B8C-83A1-F6EECF244321}">
                    <p14:modId xmlns:p14="http://schemas.microsoft.com/office/powerpoint/2010/main" val="3864170878"/>
                  </p:ext>
                </p:extLst>
              </p:nvPr>
            </p:nvGraphicFramePr>
            <p:xfrm>
              <a:off x="162357" y="5077039"/>
              <a:ext cx="6543680" cy="4564922"/>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3418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4152">
                    <a:tc>
                      <a:txBody>
                        <a:bodyPr/>
                        <a:lstStyle/>
                        <a:p>
                          <a:pPr marL="0" indent="0">
                            <a:buNone/>
                          </a:pPr>
                          <a:r>
                            <a:rPr lang="en-US" sz="1100" dirty="0"/>
                            <a:t>1) Round the</a:t>
                          </a:r>
                          <a:r>
                            <a:rPr lang="en-US" sz="1100" baseline="0" dirty="0"/>
                            <a:t> numbers, usually to 1 sig fig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a:t>
                          </a:r>
                          <a:r>
                            <a:rPr lang="en-US" sz="1200" baseline="0">
                              <a:solidFill>
                                <a:schemeClr val="tx1"/>
                              </a:solidFill>
                            </a:rPr>
                            <a:t> </a:t>
                          </a:r>
                          <a:r>
                            <a:rPr lang="en-US" sz="1200">
                              <a:solidFill>
                                <a:schemeClr val="tx1"/>
                              </a:solidFill>
                            </a:rPr>
                            <a:t>9.9</a:t>
                          </a:r>
                          <a:r>
                            <a:rPr lang="en-US" sz="1200" baseline="0">
                              <a:solidFill>
                                <a:schemeClr val="tx1"/>
                              </a:solidFill>
                            </a:rPr>
                            <a:t> by rounding to the nearest integer. </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9.9 -</a:t>
                          </a:r>
                          <a:r>
                            <a:rPr lang="en-US" sz="1200" baseline="0">
                              <a:solidFill>
                                <a:schemeClr val="tx1"/>
                              </a:solidFill>
                            </a:rPr>
                            <a:t> </a:t>
                          </a:r>
                          <a:r>
                            <a:rPr lang="en-US" sz="1200">
                              <a:solidFill>
                                <a:schemeClr val="tx1"/>
                              </a:solidFill>
                            </a:rPr>
                            <a:t>2.9</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4.5 +</a:t>
                          </a:r>
                          <a:r>
                            <a:rPr lang="en-US" sz="1200" baseline="0">
                              <a:solidFill>
                                <a:schemeClr val="tx1"/>
                              </a:solidFill>
                            </a:rPr>
                            <a:t> 1</a:t>
                          </a:r>
                          <a:r>
                            <a:rPr lang="en-US" sz="1200">
                              <a:solidFill>
                                <a:schemeClr val="tx1"/>
                              </a:solidFill>
                            </a:rPr>
                            <a:t>9.6</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19.6 -</a:t>
                          </a:r>
                          <a:r>
                            <a:rPr lang="en-US" sz="1200" baseline="0">
                              <a:solidFill>
                                <a:schemeClr val="tx1"/>
                              </a:solidFill>
                            </a:rPr>
                            <a:t> 4</a:t>
                          </a:r>
                          <a:r>
                            <a:rPr lang="en-US" sz="1200">
                              <a:solidFill>
                                <a:schemeClr val="tx1"/>
                              </a:solidFill>
                            </a:rPr>
                            <a:t>.95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12.5 +</a:t>
                          </a:r>
                          <a:r>
                            <a:rPr lang="en-US" sz="1200" baseline="0">
                              <a:solidFill>
                                <a:schemeClr val="tx1"/>
                              </a:solidFill>
                            </a:rPr>
                            <a:t> 1</a:t>
                          </a:r>
                          <a:r>
                            <a:rPr lang="en-US" sz="1200">
                              <a:solidFill>
                                <a:schemeClr val="tx1"/>
                              </a:solidFill>
                            </a:rPr>
                            <a:t>9.7</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19.7 -</a:t>
                          </a:r>
                          <a:r>
                            <a:rPr lang="en-US" sz="1200" baseline="0">
                              <a:solidFill>
                                <a:schemeClr val="tx1"/>
                              </a:solidFill>
                            </a:rPr>
                            <a:t> 12</a:t>
                          </a:r>
                          <a:r>
                            <a:rPr lang="en-US" sz="1200">
                              <a:solidFill>
                                <a:schemeClr val="tx1"/>
                              </a:solidFill>
                            </a:rPr>
                            <a:t>.5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81135">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2180555">
                    <a:tc>
                      <a:txBody>
                        <a:bodyPr/>
                        <a:lstStyle/>
                        <a:p>
                          <a:pPr marL="0" indent="0">
                            <a:buNone/>
                          </a:pPr>
                          <a:r>
                            <a:rPr lang="en-US" sz="1100" dirty="0"/>
                            <a:t>3)</a:t>
                          </a:r>
                          <a:r>
                            <a:rPr lang="en-US" sz="1100" baseline="0" dirty="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dirty="0"/>
                            <a:t> to show your solution</a:t>
                          </a:r>
                          <a:r>
                            <a:rPr lang="en-US" sz="1100" baseline="0" dirty="0"/>
                            <a:t> is an estimate. </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28" name="Table 27">
                <a:extLst>
                  <a:ext uri="{FF2B5EF4-FFF2-40B4-BE49-F238E27FC236}">
                    <a16:creationId xmlns:a16="http://schemas.microsoft.com/office/drawing/2014/main" id="{02E0B385-6FD3-6909-560E-F91F3CE19E32}"/>
                  </a:ext>
                </a:extLst>
              </p:cNvPr>
              <p:cNvGraphicFramePr>
                <a:graphicFrameLocks noGrp="1"/>
              </p:cNvGraphicFramePr>
              <p:nvPr>
                <p:extLst>
                  <p:ext uri="{D42A27DB-BD31-4B8C-83A1-F6EECF244321}">
                    <p14:modId xmlns:p14="http://schemas.microsoft.com/office/powerpoint/2010/main" val="3864170878"/>
                  </p:ext>
                </p:extLst>
              </p:nvPr>
            </p:nvGraphicFramePr>
            <p:xfrm>
              <a:off x="162357" y="5077039"/>
              <a:ext cx="6543680" cy="4564922"/>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944152">
                    <a:tc>
                      <a:txBody>
                        <a:bodyPr/>
                        <a:lstStyle/>
                        <a:p>
                          <a:pPr marL="0" indent="0">
                            <a:buNone/>
                          </a:pPr>
                          <a:r>
                            <a:rPr lang="en-US" sz="1100" dirty="0"/>
                            <a:t>1) Round the</a:t>
                          </a:r>
                          <a:r>
                            <a:rPr lang="en-US" sz="1100" baseline="0" dirty="0"/>
                            <a:t> numbers, usually to 1 sig fig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a:t>
                          </a:r>
                          <a:r>
                            <a:rPr lang="en-US" sz="1200" baseline="0">
                              <a:solidFill>
                                <a:schemeClr val="tx1"/>
                              </a:solidFill>
                            </a:rPr>
                            <a:t> </a:t>
                          </a:r>
                          <a:r>
                            <a:rPr lang="en-US" sz="1200">
                              <a:solidFill>
                                <a:schemeClr val="tx1"/>
                              </a:solidFill>
                            </a:rPr>
                            <a:t>9.9</a:t>
                          </a:r>
                          <a:r>
                            <a:rPr lang="en-US" sz="1200" baseline="0">
                              <a:solidFill>
                                <a:schemeClr val="tx1"/>
                              </a:solidFill>
                            </a:rPr>
                            <a:t> by rounding to the nearest integer. </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9.9 -</a:t>
                          </a:r>
                          <a:r>
                            <a:rPr lang="en-US" sz="1200" baseline="0">
                              <a:solidFill>
                                <a:schemeClr val="tx1"/>
                              </a:solidFill>
                            </a:rPr>
                            <a:t> </a:t>
                          </a:r>
                          <a:r>
                            <a:rPr lang="en-US" sz="1200">
                              <a:solidFill>
                                <a:schemeClr val="tx1"/>
                              </a:solidFill>
                            </a:rPr>
                            <a:t>2.9</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4.5 +</a:t>
                          </a:r>
                          <a:r>
                            <a:rPr lang="en-US" sz="1200" baseline="0">
                              <a:solidFill>
                                <a:schemeClr val="tx1"/>
                              </a:solidFill>
                            </a:rPr>
                            <a:t> 1</a:t>
                          </a:r>
                          <a:r>
                            <a:rPr lang="en-US" sz="1200">
                              <a:solidFill>
                                <a:schemeClr val="tx1"/>
                              </a:solidFill>
                            </a:rPr>
                            <a:t>9.6</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19.6 -</a:t>
                          </a:r>
                          <a:r>
                            <a:rPr lang="en-US" sz="1200" baseline="0">
                              <a:solidFill>
                                <a:schemeClr val="tx1"/>
                              </a:solidFill>
                            </a:rPr>
                            <a:t> 4</a:t>
                          </a:r>
                          <a:r>
                            <a:rPr lang="en-US" sz="1200">
                              <a:solidFill>
                                <a:schemeClr val="tx1"/>
                              </a:solidFill>
                            </a:rPr>
                            <a:t>.95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12.5 +</a:t>
                          </a:r>
                          <a:r>
                            <a:rPr lang="en-US" sz="1200" baseline="0">
                              <a:solidFill>
                                <a:schemeClr val="tx1"/>
                              </a:solidFill>
                            </a:rPr>
                            <a:t> 1</a:t>
                          </a:r>
                          <a:r>
                            <a:rPr lang="en-US" sz="1200">
                              <a:solidFill>
                                <a:schemeClr val="tx1"/>
                              </a:solidFill>
                            </a:rPr>
                            <a:t>9.7</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Estimate 19.7 -</a:t>
                          </a:r>
                          <a:r>
                            <a:rPr lang="en-US" sz="1200" baseline="0">
                              <a:solidFill>
                                <a:schemeClr val="tx1"/>
                              </a:solidFill>
                            </a:rPr>
                            <a:t> 12</a:t>
                          </a:r>
                          <a:r>
                            <a:rPr lang="en-US" sz="1200">
                              <a:solidFill>
                                <a:schemeClr val="tx1"/>
                              </a:solidFill>
                            </a:rPr>
                            <a:t>.5</a:t>
                          </a:r>
                          <a:r>
                            <a:rPr lang="en-US" sz="1200" baseline="0">
                              <a:solidFill>
                                <a:schemeClr val="tx1"/>
                              </a:solidFill>
                            </a:rPr>
                            <a:t> by rounding to the nearest integer. </a:t>
                          </a: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181135">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218055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3" t="-109777" r="-581646" b="-559"/>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29" name="TextBox 28">
            <a:extLst>
              <a:ext uri="{FF2B5EF4-FFF2-40B4-BE49-F238E27FC236}">
                <a16:creationId xmlns:a16="http://schemas.microsoft.com/office/drawing/2014/main" id="{C89CDC04-93C0-A8D8-6B54-AC6AA14D68D4}"/>
              </a:ext>
            </a:extLst>
          </p:cNvPr>
          <p:cNvSpPr txBox="1"/>
          <p:nvPr/>
        </p:nvSpPr>
        <p:spPr>
          <a:xfrm>
            <a:off x="1363531" y="4779068"/>
            <a:ext cx="1410704" cy="276999"/>
          </a:xfrm>
          <a:prstGeom prst="rect">
            <a:avLst/>
          </a:prstGeom>
          <a:noFill/>
          <a:ln>
            <a:noFill/>
          </a:ln>
        </p:spPr>
        <p:txBody>
          <a:bodyPr wrap="square" rtlCol="0">
            <a:spAutoFit/>
          </a:bodyPr>
          <a:lstStyle/>
          <a:p>
            <a:r>
              <a:rPr lang="en-GB" sz="1200" b="1" i="1">
                <a:solidFill>
                  <a:srgbClr val="FF0000"/>
                </a:solidFill>
              </a:rPr>
              <a:t>Example 1 - I do…</a:t>
            </a:r>
          </a:p>
        </p:txBody>
      </p:sp>
      <p:sp>
        <p:nvSpPr>
          <p:cNvPr id="30" name="TextBox 29">
            <a:extLst>
              <a:ext uri="{FF2B5EF4-FFF2-40B4-BE49-F238E27FC236}">
                <a16:creationId xmlns:a16="http://schemas.microsoft.com/office/drawing/2014/main" id="{2B651F68-6FB8-42E3-B4A1-1FC378AC7E85}"/>
              </a:ext>
            </a:extLst>
          </p:cNvPr>
          <p:cNvSpPr txBox="1"/>
          <p:nvPr/>
        </p:nvSpPr>
        <p:spPr>
          <a:xfrm>
            <a:off x="5011246" y="4776814"/>
            <a:ext cx="1643405" cy="276999"/>
          </a:xfrm>
          <a:prstGeom prst="rect">
            <a:avLst/>
          </a:prstGeom>
          <a:noFill/>
          <a:ln>
            <a:noFill/>
          </a:ln>
        </p:spPr>
        <p:txBody>
          <a:bodyPr wrap="square" rtlCol="0">
            <a:spAutoFit/>
          </a:bodyPr>
          <a:lstStyle/>
          <a:p>
            <a:r>
              <a:rPr lang="en-GB" sz="1200" b="1" i="1">
                <a:solidFill>
                  <a:srgbClr val="00B050"/>
                </a:solidFill>
              </a:rPr>
              <a:t>Example 3 – You do…</a:t>
            </a:r>
          </a:p>
        </p:txBody>
      </p:sp>
      <p:sp>
        <p:nvSpPr>
          <p:cNvPr id="31" name="TextBox 30">
            <a:extLst>
              <a:ext uri="{FF2B5EF4-FFF2-40B4-BE49-F238E27FC236}">
                <a16:creationId xmlns:a16="http://schemas.microsoft.com/office/drawing/2014/main" id="{C828940F-B126-F8E9-5619-47B0992577C8}"/>
              </a:ext>
            </a:extLst>
          </p:cNvPr>
          <p:cNvSpPr txBox="1"/>
          <p:nvPr/>
        </p:nvSpPr>
        <p:spPr>
          <a:xfrm>
            <a:off x="3091559" y="4791601"/>
            <a:ext cx="1667605" cy="276999"/>
          </a:xfrm>
          <a:prstGeom prst="rect">
            <a:avLst/>
          </a:prstGeom>
          <a:noFill/>
          <a:ln>
            <a:noFill/>
          </a:ln>
        </p:spPr>
        <p:txBody>
          <a:bodyPr wrap="square" rtlCol="0">
            <a:spAutoFit/>
          </a:bodyPr>
          <a:lstStyle/>
          <a:p>
            <a:r>
              <a:rPr lang="en-GB" sz="1200" b="1" i="1">
                <a:solidFill>
                  <a:schemeClr val="accent2"/>
                </a:solidFill>
              </a:rPr>
              <a:t>Example 2 - We do…</a:t>
            </a:r>
          </a:p>
        </p:txBody>
      </p:sp>
      <p:sp>
        <p:nvSpPr>
          <p:cNvPr id="32" name="Rectangle 31">
            <a:extLst>
              <a:ext uri="{FF2B5EF4-FFF2-40B4-BE49-F238E27FC236}">
                <a16:creationId xmlns:a16="http://schemas.microsoft.com/office/drawing/2014/main" id="{79EAA26D-3E2E-BE6E-D4F6-CC8B2CA70680}"/>
              </a:ext>
            </a:extLst>
          </p:cNvPr>
          <p:cNvSpPr/>
          <p:nvPr/>
        </p:nvSpPr>
        <p:spPr>
          <a:xfrm>
            <a:off x="1242547" y="700783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C81B82D7-FCC4-1318-B85C-5BDC66C96868}"/>
              </a:ext>
            </a:extLst>
          </p:cNvPr>
          <p:cNvSpPr/>
          <p:nvPr/>
        </p:nvSpPr>
        <p:spPr>
          <a:xfrm>
            <a:off x="1303033" y="925530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4F52FC7D-4041-2596-BA9F-61E9716DCA02}"/>
              </a:ext>
            </a:extLst>
          </p:cNvPr>
          <p:cNvSpPr/>
          <p:nvPr/>
        </p:nvSpPr>
        <p:spPr>
          <a:xfrm>
            <a:off x="3088563" y="700783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3E08F419-B75E-BB85-FC56-0A1DB69A2A89}"/>
              </a:ext>
            </a:extLst>
          </p:cNvPr>
          <p:cNvSpPr/>
          <p:nvPr/>
        </p:nvSpPr>
        <p:spPr>
          <a:xfrm>
            <a:off x="3090623" y="925530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E0ECB718-502A-A8DF-91F5-0BB25C3AA975}"/>
              </a:ext>
            </a:extLst>
          </p:cNvPr>
          <p:cNvSpPr/>
          <p:nvPr/>
        </p:nvSpPr>
        <p:spPr>
          <a:xfrm>
            <a:off x="5025994" y="6997221"/>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B58550F3-2885-4B83-37AE-5D0A729EA2B1}"/>
              </a:ext>
            </a:extLst>
          </p:cNvPr>
          <p:cNvSpPr/>
          <p:nvPr/>
        </p:nvSpPr>
        <p:spPr>
          <a:xfrm>
            <a:off x="5025994" y="9254457"/>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4152920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02765" y="9588917"/>
            <a:ext cx="1543050" cy="527403"/>
          </a:xfrm>
        </p:spPr>
        <p:txBody>
          <a:bodyPr/>
          <a:lstStyle/>
          <a:p>
            <a:fld id="{19F1D9CC-7119-45EC-A96C-D8C0660F3AAB}" type="slidenum">
              <a:rPr lang="en-GB" smtClean="0">
                <a:solidFill>
                  <a:schemeClr val="tx1"/>
                </a:solidFill>
              </a:rPr>
              <a:t>30</a:t>
            </a:fld>
            <a:endParaRPr lang="en-GB">
              <a:solidFill>
                <a:schemeClr val="tx1"/>
              </a:solidFill>
            </a:endParaRPr>
          </a:p>
        </p:txBody>
      </p:sp>
      <p:sp>
        <p:nvSpPr>
          <p:cNvPr id="52" name="Slide Number Placeholder 2"/>
          <p:cNvSpPr txBox="1">
            <a:spLocks/>
          </p:cNvSpPr>
          <p:nvPr/>
        </p:nvSpPr>
        <p:spPr>
          <a:xfrm>
            <a:off x="5395716" y="95901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F1D9CC-7119-45EC-A96C-D8C0660F3AAB}" type="slidenum">
              <a:rPr lang="en-GB" smtClean="0"/>
              <a:pPr/>
              <a:t>30</a:t>
            </a:fld>
            <a:endParaRPr lang="en-GB"/>
          </a:p>
        </p:txBody>
      </p:sp>
      <p:sp>
        <p:nvSpPr>
          <p:cNvPr id="24" name="TextBox 23">
            <a:extLst>
              <a:ext uri="{FF2B5EF4-FFF2-40B4-BE49-F238E27FC236}">
                <a16:creationId xmlns:a16="http://schemas.microsoft.com/office/drawing/2014/main" id="{5A4BC06E-AECC-6CF5-B10F-B467A9BA5F83}"/>
              </a:ext>
            </a:extLst>
          </p:cNvPr>
          <p:cNvSpPr txBox="1"/>
          <p:nvPr/>
        </p:nvSpPr>
        <p:spPr>
          <a:xfrm>
            <a:off x="1792323" y="210393"/>
            <a:ext cx="3300455" cy="461665"/>
          </a:xfrm>
          <a:prstGeom prst="rect">
            <a:avLst/>
          </a:prstGeom>
          <a:noFill/>
        </p:spPr>
        <p:txBody>
          <a:bodyPr wrap="none" rtlCol="0">
            <a:spAutoFit/>
          </a:bodyPr>
          <a:lstStyle/>
          <a:p>
            <a:pPr algn="ctr"/>
            <a:r>
              <a:rPr lang="en-US" sz="1200"/>
              <a:t>1. Estimate the answer to each by rounding each</a:t>
            </a:r>
          </a:p>
          <a:p>
            <a:pPr algn="ctr"/>
            <a:r>
              <a:rPr lang="en-US" sz="1200"/>
              <a:t>number to the nearest integer </a:t>
            </a:r>
            <a:endParaRPr lang="en-GB" sz="1200"/>
          </a:p>
        </p:txBody>
      </p:sp>
      <p:sp>
        <p:nvSpPr>
          <p:cNvPr id="26" name="TextBox 25">
            <a:extLst>
              <a:ext uri="{FF2B5EF4-FFF2-40B4-BE49-F238E27FC236}">
                <a16:creationId xmlns:a16="http://schemas.microsoft.com/office/drawing/2014/main" id="{BE106587-5A56-19D5-F4E0-BCBB2481246A}"/>
              </a:ext>
            </a:extLst>
          </p:cNvPr>
          <p:cNvSpPr txBox="1"/>
          <p:nvPr/>
        </p:nvSpPr>
        <p:spPr>
          <a:xfrm>
            <a:off x="309867" y="716250"/>
            <a:ext cx="1071127" cy="276999"/>
          </a:xfrm>
          <a:prstGeom prst="rect">
            <a:avLst/>
          </a:prstGeom>
          <a:noFill/>
        </p:spPr>
        <p:txBody>
          <a:bodyPr wrap="none" rtlCol="0">
            <a:spAutoFit/>
          </a:bodyPr>
          <a:lstStyle/>
          <a:p>
            <a:r>
              <a:rPr lang="en-US" sz="1200"/>
              <a:t>a) 0.99 + 17.9 </a:t>
            </a:r>
            <a:endParaRPr lang="en-GB" sz="1200"/>
          </a:p>
        </p:txBody>
      </p:sp>
      <p:sp>
        <p:nvSpPr>
          <p:cNvPr id="32" name="TextBox 31">
            <a:extLst>
              <a:ext uri="{FF2B5EF4-FFF2-40B4-BE49-F238E27FC236}">
                <a16:creationId xmlns:a16="http://schemas.microsoft.com/office/drawing/2014/main" id="{F0B4DC6C-02D4-7B2F-9D74-A1D50A3299AB}"/>
              </a:ext>
            </a:extLst>
          </p:cNvPr>
          <p:cNvSpPr txBox="1"/>
          <p:nvPr/>
        </p:nvSpPr>
        <p:spPr>
          <a:xfrm>
            <a:off x="1615894" y="716248"/>
            <a:ext cx="1077539" cy="276999"/>
          </a:xfrm>
          <a:prstGeom prst="rect">
            <a:avLst/>
          </a:prstGeom>
          <a:noFill/>
        </p:spPr>
        <p:txBody>
          <a:bodyPr wrap="none" rtlCol="0">
            <a:spAutoFit/>
          </a:bodyPr>
          <a:lstStyle/>
          <a:p>
            <a:r>
              <a:rPr lang="en-US" sz="1200"/>
              <a:t>b) 0.99 + 19.9 </a:t>
            </a:r>
            <a:endParaRPr lang="en-GB" sz="1200"/>
          </a:p>
        </p:txBody>
      </p:sp>
      <p:sp>
        <p:nvSpPr>
          <p:cNvPr id="33" name="TextBox 32">
            <a:extLst>
              <a:ext uri="{FF2B5EF4-FFF2-40B4-BE49-F238E27FC236}">
                <a16:creationId xmlns:a16="http://schemas.microsoft.com/office/drawing/2014/main" id="{F073D2B7-A5F8-904A-BE1F-8BEF9885A1FF}"/>
              </a:ext>
            </a:extLst>
          </p:cNvPr>
          <p:cNvSpPr txBox="1"/>
          <p:nvPr/>
        </p:nvSpPr>
        <p:spPr>
          <a:xfrm>
            <a:off x="2919010" y="716248"/>
            <a:ext cx="1063112" cy="276999"/>
          </a:xfrm>
          <a:prstGeom prst="rect">
            <a:avLst/>
          </a:prstGeom>
          <a:noFill/>
        </p:spPr>
        <p:txBody>
          <a:bodyPr wrap="none" rtlCol="0">
            <a:spAutoFit/>
          </a:bodyPr>
          <a:lstStyle/>
          <a:p>
            <a:r>
              <a:rPr lang="en-US" sz="1200"/>
              <a:t>c) 0.99 + 25.9 </a:t>
            </a:r>
            <a:endParaRPr lang="en-GB" sz="1200"/>
          </a:p>
        </p:txBody>
      </p:sp>
      <p:sp>
        <p:nvSpPr>
          <p:cNvPr id="34" name="TextBox 33">
            <a:extLst>
              <a:ext uri="{FF2B5EF4-FFF2-40B4-BE49-F238E27FC236}">
                <a16:creationId xmlns:a16="http://schemas.microsoft.com/office/drawing/2014/main" id="{4EA55923-BF23-E331-3FF1-AF9045FBADFA}"/>
              </a:ext>
            </a:extLst>
          </p:cNvPr>
          <p:cNvSpPr txBox="1"/>
          <p:nvPr/>
        </p:nvSpPr>
        <p:spPr>
          <a:xfrm>
            <a:off x="4237765" y="716247"/>
            <a:ext cx="1077539" cy="276999"/>
          </a:xfrm>
          <a:prstGeom prst="rect">
            <a:avLst/>
          </a:prstGeom>
          <a:noFill/>
        </p:spPr>
        <p:txBody>
          <a:bodyPr wrap="none" rtlCol="0">
            <a:spAutoFit/>
          </a:bodyPr>
          <a:lstStyle/>
          <a:p>
            <a:r>
              <a:rPr lang="en-US" sz="1200"/>
              <a:t>d) 1.95 + 17.9 </a:t>
            </a:r>
            <a:endParaRPr lang="en-GB" sz="1200"/>
          </a:p>
        </p:txBody>
      </p:sp>
      <p:sp>
        <p:nvSpPr>
          <p:cNvPr id="35" name="TextBox 34">
            <a:extLst>
              <a:ext uri="{FF2B5EF4-FFF2-40B4-BE49-F238E27FC236}">
                <a16:creationId xmlns:a16="http://schemas.microsoft.com/office/drawing/2014/main" id="{09D17EB4-08C8-87C5-3454-864953ABB530}"/>
              </a:ext>
            </a:extLst>
          </p:cNvPr>
          <p:cNvSpPr txBox="1"/>
          <p:nvPr/>
        </p:nvSpPr>
        <p:spPr>
          <a:xfrm>
            <a:off x="5534637" y="716247"/>
            <a:ext cx="1152880" cy="276999"/>
          </a:xfrm>
          <a:prstGeom prst="rect">
            <a:avLst/>
          </a:prstGeom>
          <a:noFill/>
        </p:spPr>
        <p:txBody>
          <a:bodyPr wrap="none" rtlCol="0">
            <a:spAutoFit/>
          </a:bodyPr>
          <a:lstStyle/>
          <a:p>
            <a:r>
              <a:rPr lang="en-US" sz="1200"/>
              <a:t>e) 2.95 + 17.95 </a:t>
            </a:r>
            <a:endParaRPr lang="en-GB" sz="1200"/>
          </a:p>
        </p:txBody>
      </p:sp>
      <p:sp>
        <p:nvSpPr>
          <p:cNvPr id="36" name="Rectangle 35">
            <a:extLst>
              <a:ext uri="{FF2B5EF4-FFF2-40B4-BE49-F238E27FC236}">
                <a16:creationId xmlns:a16="http://schemas.microsoft.com/office/drawing/2014/main" id="{2B33F4CE-4BA1-F32E-5B58-5F840A182317}"/>
              </a:ext>
            </a:extLst>
          </p:cNvPr>
          <p:cNvSpPr/>
          <p:nvPr/>
        </p:nvSpPr>
        <p:spPr>
          <a:xfrm>
            <a:off x="319294"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06AE0E9B-32D9-5BC3-287E-4D710D76B270}"/>
              </a:ext>
            </a:extLst>
          </p:cNvPr>
          <p:cNvSpPr/>
          <p:nvPr/>
        </p:nvSpPr>
        <p:spPr>
          <a:xfrm>
            <a:off x="1625321"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5FA24550-6227-7613-5309-2B69C99774FA}"/>
              </a:ext>
            </a:extLst>
          </p:cNvPr>
          <p:cNvSpPr/>
          <p:nvPr/>
        </p:nvSpPr>
        <p:spPr>
          <a:xfrm>
            <a:off x="2928437"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E06E1ABC-C153-C00D-CE8E-66C645C509EC}"/>
              </a:ext>
            </a:extLst>
          </p:cNvPr>
          <p:cNvSpPr/>
          <p:nvPr/>
        </p:nvSpPr>
        <p:spPr>
          <a:xfrm>
            <a:off x="4241955"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1EB9B1E6-47C1-7695-D64A-E7C6C2785605}"/>
              </a:ext>
            </a:extLst>
          </p:cNvPr>
          <p:cNvSpPr/>
          <p:nvPr/>
        </p:nvSpPr>
        <p:spPr>
          <a:xfrm>
            <a:off x="5545071" y="107782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741DC8E5-49B1-9EC0-A8B6-B820AFC9BF51}"/>
              </a:ext>
            </a:extLst>
          </p:cNvPr>
          <p:cNvSpPr/>
          <p:nvPr/>
        </p:nvSpPr>
        <p:spPr>
          <a:xfrm>
            <a:off x="401941"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D1A62154-0A6B-A445-9CCD-521918DEC64D}"/>
              </a:ext>
            </a:extLst>
          </p:cNvPr>
          <p:cNvSpPr/>
          <p:nvPr/>
        </p:nvSpPr>
        <p:spPr>
          <a:xfrm>
            <a:off x="1714380"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DD55FBB5-5E69-5875-CC25-13CEB9DAA8EE}"/>
              </a:ext>
            </a:extLst>
          </p:cNvPr>
          <p:cNvSpPr/>
          <p:nvPr/>
        </p:nvSpPr>
        <p:spPr>
          <a:xfrm>
            <a:off x="3019315"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203B0CF-9686-5A49-1E6A-42B5E1CA2CCA}"/>
              </a:ext>
            </a:extLst>
          </p:cNvPr>
          <p:cNvSpPr/>
          <p:nvPr/>
        </p:nvSpPr>
        <p:spPr>
          <a:xfrm>
            <a:off x="4336251"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828CDB14-663B-8383-21AF-31F3B22F8AED}"/>
              </a:ext>
            </a:extLst>
          </p:cNvPr>
          <p:cNvSpPr/>
          <p:nvPr/>
        </p:nvSpPr>
        <p:spPr>
          <a:xfrm>
            <a:off x="5621550" y="235987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3" name="TextBox 52">
            <a:extLst>
              <a:ext uri="{FF2B5EF4-FFF2-40B4-BE49-F238E27FC236}">
                <a16:creationId xmlns:a16="http://schemas.microsoft.com/office/drawing/2014/main" id="{39A484A4-A8FB-CD53-9764-971DB7B68A21}"/>
              </a:ext>
            </a:extLst>
          </p:cNvPr>
          <p:cNvSpPr txBox="1"/>
          <p:nvPr/>
        </p:nvSpPr>
        <p:spPr>
          <a:xfrm>
            <a:off x="309867" y="2821520"/>
            <a:ext cx="937116" cy="276999"/>
          </a:xfrm>
          <a:prstGeom prst="rect">
            <a:avLst/>
          </a:prstGeom>
          <a:noFill/>
        </p:spPr>
        <p:txBody>
          <a:bodyPr wrap="none" rtlCol="0">
            <a:spAutoFit/>
          </a:bodyPr>
          <a:lstStyle/>
          <a:p>
            <a:r>
              <a:rPr lang="en-US" sz="1200"/>
              <a:t>f) 17.9 - 0.9 </a:t>
            </a:r>
            <a:endParaRPr lang="en-GB" sz="1200"/>
          </a:p>
        </p:txBody>
      </p:sp>
      <p:sp>
        <p:nvSpPr>
          <p:cNvPr id="54" name="TextBox 53">
            <a:extLst>
              <a:ext uri="{FF2B5EF4-FFF2-40B4-BE49-F238E27FC236}">
                <a16:creationId xmlns:a16="http://schemas.microsoft.com/office/drawing/2014/main" id="{FFA84E07-38AA-7EB2-7A00-7E11B43993B0}"/>
              </a:ext>
            </a:extLst>
          </p:cNvPr>
          <p:cNvSpPr txBox="1"/>
          <p:nvPr/>
        </p:nvSpPr>
        <p:spPr>
          <a:xfrm>
            <a:off x="1615894" y="2821518"/>
            <a:ext cx="1039067" cy="276999"/>
          </a:xfrm>
          <a:prstGeom prst="rect">
            <a:avLst/>
          </a:prstGeom>
          <a:noFill/>
        </p:spPr>
        <p:txBody>
          <a:bodyPr wrap="none" rtlCol="0">
            <a:spAutoFit/>
          </a:bodyPr>
          <a:lstStyle/>
          <a:p>
            <a:r>
              <a:rPr lang="en-US" sz="1200"/>
              <a:t>g) 17.95 - 0.9 </a:t>
            </a:r>
            <a:endParaRPr lang="en-GB" sz="1200"/>
          </a:p>
        </p:txBody>
      </p:sp>
      <p:sp>
        <p:nvSpPr>
          <p:cNvPr id="55" name="TextBox 54">
            <a:extLst>
              <a:ext uri="{FF2B5EF4-FFF2-40B4-BE49-F238E27FC236}">
                <a16:creationId xmlns:a16="http://schemas.microsoft.com/office/drawing/2014/main" id="{AAF39713-B5A0-22C1-13BE-8031A8AFB471}"/>
              </a:ext>
            </a:extLst>
          </p:cNvPr>
          <p:cNvSpPr txBox="1"/>
          <p:nvPr/>
        </p:nvSpPr>
        <p:spPr>
          <a:xfrm>
            <a:off x="2919010" y="2821518"/>
            <a:ext cx="1047082" cy="276999"/>
          </a:xfrm>
          <a:prstGeom prst="rect">
            <a:avLst/>
          </a:prstGeom>
          <a:noFill/>
        </p:spPr>
        <p:txBody>
          <a:bodyPr wrap="none" rtlCol="0">
            <a:spAutoFit/>
          </a:bodyPr>
          <a:lstStyle/>
          <a:p>
            <a:r>
              <a:rPr lang="en-US" sz="1200"/>
              <a:t>h) 16.95 - 2.9 </a:t>
            </a:r>
            <a:endParaRPr lang="en-GB" sz="1200"/>
          </a:p>
        </p:txBody>
      </p:sp>
      <p:sp>
        <p:nvSpPr>
          <p:cNvPr id="56" name="TextBox 55">
            <a:extLst>
              <a:ext uri="{FF2B5EF4-FFF2-40B4-BE49-F238E27FC236}">
                <a16:creationId xmlns:a16="http://schemas.microsoft.com/office/drawing/2014/main" id="{D2874DE0-C521-9316-6EF4-87D70F43D775}"/>
              </a:ext>
            </a:extLst>
          </p:cNvPr>
          <p:cNvSpPr txBox="1"/>
          <p:nvPr/>
        </p:nvSpPr>
        <p:spPr>
          <a:xfrm>
            <a:off x="4237765" y="2821517"/>
            <a:ext cx="1032655" cy="276999"/>
          </a:xfrm>
          <a:prstGeom prst="rect">
            <a:avLst/>
          </a:prstGeom>
          <a:noFill/>
        </p:spPr>
        <p:txBody>
          <a:bodyPr wrap="none" rtlCol="0">
            <a:spAutoFit/>
          </a:bodyPr>
          <a:lstStyle/>
          <a:p>
            <a:r>
              <a:rPr lang="en-US" sz="1200"/>
              <a:t>i) 16.95 – 5.8 </a:t>
            </a:r>
            <a:endParaRPr lang="en-GB" sz="1200"/>
          </a:p>
        </p:txBody>
      </p:sp>
      <p:sp>
        <p:nvSpPr>
          <p:cNvPr id="57" name="TextBox 56">
            <a:extLst>
              <a:ext uri="{FF2B5EF4-FFF2-40B4-BE49-F238E27FC236}">
                <a16:creationId xmlns:a16="http://schemas.microsoft.com/office/drawing/2014/main" id="{9D54894D-DF21-487B-5F0A-2A51EBBC8F78}"/>
              </a:ext>
            </a:extLst>
          </p:cNvPr>
          <p:cNvSpPr txBox="1"/>
          <p:nvPr/>
        </p:nvSpPr>
        <p:spPr>
          <a:xfrm>
            <a:off x="5534637" y="2821517"/>
            <a:ext cx="1112805" cy="276999"/>
          </a:xfrm>
          <a:prstGeom prst="rect">
            <a:avLst/>
          </a:prstGeom>
          <a:noFill/>
        </p:spPr>
        <p:txBody>
          <a:bodyPr wrap="none" rtlCol="0">
            <a:spAutoFit/>
          </a:bodyPr>
          <a:lstStyle/>
          <a:p>
            <a:r>
              <a:rPr lang="en-US" sz="1200"/>
              <a:t>j) 16.95 – 5.85 </a:t>
            </a:r>
            <a:endParaRPr lang="en-GB" sz="1200"/>
          </a:p>
        </p:txBody>
      </p:sp>
      <p:sp>
        <p:nvSpPr>
          <p:cNvPr id="58" name="Rectangle 57">
            <a:extLst>
              <a:ext uri="{FF2B5EF4-FFF2-40B4-BE49-F238E27FC236}">
                <a16:creationId xmlns:a16="http://schemas.microsoft.com/office/drawing/2014/main" id="{39B15A0D-70C4-F78A-9D9C-C7FEA0D2C5D4}"/>
              </a:ext>
            </a:extLst>
          </p:cNvPr>
          <p:cNvSpPr/>
          <p:nvPr/>
        </p:nvSpPr>
        <p:spPr>
          <a:xfrm>
            <a:off x="319294"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448B1E81-D294-EBBB-34D9-8865E63AE6DA}"/>
              </a:ext>
            </a:extLst>
          </p:cNvPr>
          <p:cNvSpPr/>
          <p:nvPr/>
        </p:nvSpPr>
        <p:spPr>
          <a:xfrm>
            <a:off x="1625321"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A554988B-BD97-60A0-5153-E5E374BE3CCD}"/>
              </a:ext>
            </a:extLst>
          </p:cNvPr>
          <p:cNvSpPr/>
          <p:nvPr/>
        </p:nvSpPr>
        <p:spPr>
          <a:xfrm>
            <a:off x="2928437"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B9B7AE7D-3E9F-176E-AF6E-A6108FBE1978}"/>
              </a:ext>
            </a:extLst>
          </p:cNvPr>
          <p:cNvSpPr/>
          <p:nvPr/>
        </p:nvSpPr>
        <p:spPr>
          <a:xfrm>
            <a:off x="4241955"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D2938717-223B-5C1F-430D-6351419062F0}"/>
              </a:ext>
            </a:extLst>
          </p:cNvPr>
          <p:cNvSpPr/>
          <p:nvPr/>
        </p:nvSpPr>
        <p:spPr>
          <a:xfrm>
            <a:off x="5545071" y="3183094"/>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3E687955-29F1-B651-F9FD-EC0C7BF16553}"/>
              </a:ext>
            </a:extLst>
          </p:cNvPr>
          <p:cNvSpPr/>
          <p:nvPr/>
        </p:nvSpPr>
        <p:spPr>
          <a:xfrm>
            <a:off x="401941"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7EE3181E-CF1F-4CC7-8DBC-5A025A3A14F1}"/>
              </a:ext>
            </a:extLst>
          </p:cNvPr>
          <p:cNvSpPr/>
          <p:nvPr/>
        </p:nvSpPr>
        <p:spPr>
          <a:xfrm>
            <a:off x="1714380"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48F90C0C-C6F8-5064-C453-250639C1A6F3}"/>
              </a:ext>
            </a:extLst>
          </p:cNvPr>
          <p:cNvSpPr/>
          <p:nvPr/>
        </p:nvSpPr>
        <p:spPr>
          <a:xfrm>
            <a:off x="3019315"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4C3866BF-16FD-356A-485D-83A720B08A38}"/>
              </a:ext>
            </a:extLst>
          </p:cNvPr>
          <p:cNvSpPr/>
          <p:nvPr/>
        </p:nvSpPr>
        <p:spPr>
          <a:xfrm>
            <a:off x="4336251"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01EC40B0-7934-D402-105F-076D1A096BFA}"/>
              </a:ext>
            </a:extLst>
          </p:cNvPr>
          <p:cNvSpPr/>
          <p:nvPr/>
        </p:nvSpPr>
        <p:spPr>
          <a:xfrm>
            <a:off x="5621550" y="4465140"/>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 name="Rectangle 2">
            <a:extLst>
              <a:ext uri="{FF2B5EF4-FFF2-40B4-BE49-F238E27FC236}">
                <a16:creationId xmlns:a16="http://schemas.microsoft.com/office/drawing/2014/main" id="{21EF4435-698D-90B8-06AA-3C0CAF003156}"/>
              </a:ext>
            </a:extLst>
          </p:cNvPr>
          <p:cNvSpPr/>
          <p:nvPr/>
        </p:nvSpPr>
        <p:spPr>
          <a:xfrm>
            <a:off x="178412" y="115373"/>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68" name="Straight Connector 67">
            <a:extLst>
              <a:ext uri="{FF2B5EF4-FFF2-40B4-BE49-F238E27FC236}">
                <a16:creationId xmlns:a16="http://schemas.microsoft.com/office/drawing/2014/main" id="{D05CC0D8-A18E-B8A4-6E8F-BAD4D634F78F}"/>
              </a:ext>
            </a:extLst>
          </p:cNvPr>
          <p:cNvCxnSpPr>
            <a:cxnSpLocks/>
          </p:cNvCxnSpPr>
          <p:nvPr/>
        </p:nvCxnSpPr>
        <p:spPr>
          <a:xfrm>
            <a:off x="955419" y="686114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9" name="Table 68">
                <a:extLst>
                  <a:ext uri="{FF2B5EF4-FFF2-40B4-BE49-F238E27FC236}">
                    <a16:creationId xmlns:a16="http://schemas.microsoft.com/office/drawing/2014/main" id="{5CF6CEDB-E97F-D83C-01A0-D8C90E08C37D}"/>
                  </a:ext>
                </a:extLst>
              </p:cNvPr>
              <p:cNvGraphicFramePr>
                <a:graphicFrameLocks noGrp="1"/>
              </p:cNvGraphicFramePr>
              <p:nvPr>
                <p:extLst>
                  <p:ext uri="{D42A27DB-BD31-4B8C-83A1-F6EECF244321}">
                    <p14:modId xmlns:p14="http://schemas.microsoft.com/office/powerpoint/2010/main" val="3961884843"/>
                  </p:ext>
                </p:extLst>
              </p:nvPr>
            </p:nvGraphicFramePr>
            <p:xfrm>
              <a:off x="157160" y="5416770"/>
              <a:ext cx="6543680" cy="3750187"/>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2222">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07902">
                    <a:tc>
                      <a:txBody>
                        <a:bodyPr/>
                        <a:lstStyle/>
                        <a:p>
                          <a:pPr marL="0" indent="0">
                            <a:buNone/>
                          </a:pPr>
                          <a:r>
                            <a:rPr lang="en-US" sz="1100" dirty="0"/>
                            <a:t>1) Round the</a:t>
                          </a:r>
                          <a:r>
                            <a:rPr lang="en-US" sz="1100" baseline="0" dirty="0"/>
                            <a:t> numbers, showing your rounding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x</a:t>
                          </a:r>
                          <a:r>
                            <a:rPr lang="en-US" sz="1200" baseline="0">
                              <a:solidFill>
                                <a:schemeClr val="tx1"/>
                              </a:solidFill>
                            </a:rPr>
                            <a:t> </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4.9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9.5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558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843521">
                    <a:tc>
                      <a:txBody>
                        <a:bodyPr/>
                        <a:lstStyle/>
                        <a:p>
                          <a:pPr marL="0" indent="0">
                            <a:buNone/>
                          </a:pPr>
                          <a:r>
                            <a:rPr lang="en-US" sz="1100" dirty="0"/>
                            <a:t>3)</a:t>
                          </a:r>
                          <a:r>
                            <a:rPr lang="en-US" sz="1100" baseline="0" dirty="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dirty="0"/>
                            <a:t> to show your solution</a:t>
                          </a:r>
                          <a:r>
                            <a:rPr lang="en-US" sz="1100" baseline="0" dirty="0"/>
                            <a:t> is an estimate. </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69" name="Table 68">
                <a:extLst>
                  <a:ext uri="{FF2B5EF4-FFF2-40B4-BE49-F238E27FC236}">
                    <a16:creationId xmlns:a16="http://schemas.microsoft.com/office/drawing/2014/main" id="{5CF6CEDB-E97F-D83C-01A0-D8C90E08C37D}"/>
                  </a:ext>
                </a:extLst>
              </p:cNvPr>
              <p:cNvGraphicFramePr>
                <a:graphicFrameLocks noGrp="1"/>
              </p:cNvGraphicFramePr>
              <p:nvPr>
                <p:extLst>
                  <p:ext uri="{D42A27DB-BD31-4B8C-83A1-F6EECF244321}">
                    <p14:modId xmlns:p14="http://schemas.microsoft.com/office/powerpoint/2010/main" val="3961884843"/>
                  </p:ext>
                </p:extLst>
              </p:nvPr>
            </p:nvGraphicFramePr>
            <p:xfrm>
              <a:off x="157160" y="5416770"/>
              <a:ext cx="6543680" cy="3750187"/>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62000">
                    <a:tc>
                      <a:txBody>
                        <a:bodyPr/>
                        <a:lstStyle/>
                        <a:p>
                          <a:pPr marL="0" indent="0">
                            <a:buNone/>
                          </a:pPr>
                          <a:r>
                            <a:rPr lang="en-US" sz="1100" dirty="0"/>
                            <a:t>1) Round the</a:t>
                          </a:r>
                          <a:r>
                            <a:rPr lang="en-US" sz="1100" baseline="0" dirty="0"/>
                            <a:t> numbers, showing your rounding</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2.9 x</a:t>
                          </a:r>
                          <a:r>
                            <a:rPr lang="en-US" sz="1200" baseline="0">
                              <a:solidFill>
                                <a:schemeClr val="tx1"/>
                              </a:solidFill>
                            </a:rPr>
                            <a:t> </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4.9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9.5 x</a:t>
                          </a:r>
                          <a:r>
                            <a:rPr lang="en-US" sz="1200" baseline="0">
                              <a:solidFill>
                                <a:schemeClr val="tx1"/>
                              </a:solidFill>
                            </a:rPr>
                            <a:t> 1</a:t>
                          </a:r>
                          <a:r>
                            <a:rPr lang="en-US" sz="1200">
                              <a:solidFill>
                                <a:schemeClr val="tx1"/>
                              </a:solidFill>
                            </a:rPr>
                            <a:t>9.9</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8558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84352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33" t="-103630" r="-581646" b="-660"/>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70" name="TextBox 69">
            <a:extLst>
              <a:ext uri="{FF2B5EF4-FFF2-40B4-BE49-F238E27FC236}">
                <a16:creationId xmlns:a16="http://schemas.microsoft.com/office/drawing/2014/main" id="{730A1B06-617B-DE98-73AD-330DEE1008FF}"/>
              </a:ext>
            </a:extLst>
          </p:cNvPr>
          <p:cNvSpPr txBox="1"/>
          <p:nvPr/>
        </p:nvSpPr>
        <p:spPr>
          <a:xfrm>
            <a:off x="1358334" y="5118798"/>
            <a:ext cx="1410704" cy="276999"/>
          </a:xfrm>
          <a:prstGeom prst="rect">
            <a:avLst/>
          </a:prstGeom>
          <a:noFill/>
          <a:ln>
            <a:noFill/>
          </a:ln>
        </p:spPr>
        <p:txBody>
          <a:bodyPr wrap="square" rtlCol="0">
            <a:spAutoFit/>
          </a:bodyPr>
          <a:lstStyle/>
          <a:p>
            <a:r>
              <a:rPr lang="en-GB" sz="1200" b="1" i="1">
                <a:solidFill>
                  <a:srgbClr val="FF0000"/>
                </a:solidFill>
              </a:rPr>
              <a:t>Example 4 - I do…</a:t>
            </a:r>
          </a:p>
        </p:txBody>
      </p:sp>
      <p:sp>
        <p:nvSpPr>
          <p:cNvPr id="71" name="TextBox 70">
            <a:extLst>
              <a:ext uri="{FF2B5EF4-FFF2-40B4-BE49-F238E27FC236}">
                <a16:creationId xmlns:a16="http://schemas.microsoft.com/office/drawing/2014/main" id="{E5ECB011-663A-B002-E67B-A58DAF706207}"/>
              </a:ext>
            </a:extLst>
          </p:cNvPr>
          <p:cNvSpPr txBox="1"/>
          <p:nvPr/>
        </p:nvSpPr>
        <p:spPr>
          <a:xfrm>
            <a:off x="5006049" y="5116544"/>
            <a:ext cx="1643405" cy="276999"/>
          </a:xfrm>
          <a:prstGeom prst="rect">
            <a:avLst/>
          </a:prstGeom>
          <a:noFill/>
          <a:ln>
            <a:noFill/>
          </a:ln>
        </p:spPr>
        <p:txBody>
          <a:bodyPr wrap="square" rtlCol="0">
            <a:spAutoFit/>
          </a:bodyPr>
          <a:lstStyle/>
          <a:p>
            <a:r>
              <a:rPr lang="en-GB" sz="1200" b="1" i="1">
                <a:solidFill>
                  <a:srgbClr val="00B050"/>
                </a:solidFill>
              </a:rPr>
              <a:t>Example 6 – You do…</a:t>
            </a:r>
          </a:p>
        </p:txBody>
      </p:sp>
      <p:sp>
        <p:nvSpPr>
          <p:cNvPr id="72" name="TextBox 71">
            <a:extLst>
              <a:ext uri="{FF2B5EF4-FFF2-40B4-BE49-F238E27FC236}">
                <a16:creationId xmlns:a16="http://schemas.microsoft.com/office/drawing/2014/main" id="{8D017022-8D99-205A-DF29-BAC55EA08CCD}"/>
              </a:ext>
            </a:extLst>
          </p:cNvPr>
          <p:cNvSpPr txBox="1"/>
          <p:nvPr/>
        </p:nvSpPr>
        <p:spPr>
          <a:xfrm>
            <a:off x="3086362" y="5131331"/>
            <a:ext cx="1667605" cy="276999"/>
          </a:xfrm>
          <a:prstGeom prst="rect">
            <a:avLst/>
          </a:prstGeom>
          <a:noFill/>
          <a:ln>
            <a:noFill/>
          </a:ln>
        </p:spPr>
        <p:txBody>
          <a:bodyPr wrap="square" rtlCol="0">
            <a:spAutoFit/>
          </a:bodyPr>
          <a:lstStyle/>
          <a:p>
            <a:r>
              <a:rPr lang="en-GB" sz="1200" b="1" i="1">
                <a:solidFill>
                  <a:schemeClr val="accent2"/>
                </a:solidFill>
              </a:rPr>
              <a:t>Example 5 - We do…</a:t>
            </a:r>
          </a:p>
        </p:txBody>
      </p:sp>
      <p:sp>
        <p:nvSpPr>
          <p:cNvPr id="73" name="Rectangle 72">
            <a:extLst>
              <a:ext uri="{FF2B5EF4-FFF2-40B4-BE49-F238E27FC236}">
                <a16:creationId xmlns:a16="http://schemas.microsoft.com/office/drawing/2014/main" id="{46086EFF-A6CB-31BE-4244-CE0FCD6D9ACB}"/>
              </a:ext>
            </a:extLst>
          </p:cNvPr>
          <p:cNvSpPr/>
          <p:nvPr/>
        </p:nvSpPr>
        <p:spPr>
          <a:xfrm>
            <a:off x="1243149" y="86723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16953A61-4646-501E-7976-0947E092ECB7}"/>
              </a:ext>
            </a:extLst>
          </p:cNvPr>
          <p:cNvSpPr/>
          <p:nvPr/>
        </p:nvSpPr>
        <p:spPr>
          <a:xfrm>
            <a:off x="3139456" y="868177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5" name="Rectangle 74">
            <a:extLst>
              <a:ext uri="{FF2B5EF4-FFF2-40B4-BE49-F238E27FC236}">
                <a16:creationId xmlns:a16="http://schemas.microsoft.com/office/drawing/2014/main" id="{B75237EE-5FDB-C9F7-74E0-9D58E6731DFB}"/>
              </a:ext>
            </a:extLst>
          </p:cNvPr>
          <p:cNvSpPr/>
          <p:nvPr/>
        </p:nvSpPr>
        <p:spPr>
          <a:xfrm>
            <a:off x="5008965" y="8674159"/>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644135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31</a:t>
            </a:fld>
            <a:endParaRPr lang="en-GB"/>
          </a:p>
        </p:txBody>
      </p:sp>
      <p:sp>
        <p:nvSpPr>
          <p:cNvPr id="22" name="TextBox 21">
            <a:extLst>
              <a:ext uri="{FF2B5EF4-FFF2-40B4-BE49-F238E27FC236}">
                <a16:creationId xmlns:a16="http://schemas.microsoft.com/office/drawing/2014/main" id="{99F13054-61A8-4B7A-E344-43AE2B598F70}"/>
              </a:ext>
            </a:extLst>
          </p:cNvPr>
          <p:cNvSpPr txBox="1"/>
          <p:nvPr/>
        </p:nvSpPr>
        <p:spPr>
          <a:xfrm>
            <a:off x="1645710" y="113917"/>
            <a:ext cx="3300455" cy="461665"/>
          </a:xfrm>
          <a:prstGeom prst="rect">
            <a:avLst/>
          </a:prstGeom>
          <a:noFill/>
        </p:spPr>
        <p:txBody>
          <a:bodyPr wrap="none" rtlCol="0">
            <a:spAutoFit/>
          </a:bodyPr>
          <a:lstStyle/>
          <a:p>
            <a:pPr algn="ctr"/>
            <a:r>
              <a:rPr lang="en-US" sz="1200"/>
              <a:t>2. Estimate the answer to each by rounding each</a:t>
            </a:r>
          </a:p>
          <a:p>
            <a:pPr algn="ctr"/>
            <a:r>
              <a:rPr lang="en-US" sz="1200"/>
              <a:t>number to one significant figure.</a:t>
            </a:r>
            <a:endParaRPr lang="en-GB" sz="1200"/>
          </a:p>
        </p:txBody>
      </p:sp>
      <p:sp>
        <p:nvSpPr>
          <p:cNvPr id="23" name="TextBox 22">
            <a:extLst>
              <a:ext uri="{FF2B5EF4-FFF2-40B4-BE49-F238E27FC236}">
                <a16:creationId xmlns:a16="http://schemas.microsoft.com/office/drawing/2014/main" id="{E106D036-C50A-03D6-D957-9C8D2945A2B5}"/>
              </a:ext>
            </a:extLst>
          </p:cNvPr>
          <p:cNvSpPr txBox="1"/>
          <p:nvPr/>
        </p:nvSpPr>
        <p:spPr>
          <a:xfrm>
            <a:off x="181897" y="500566"/>
            <a:ext cx="1026243" cy="276999"/>
          </a:xfrm>
          <a:prstGeom prst="rect">
            <a:avLst/>
          </a:prstGeom>
          <a:noFill/>
        </p:spPr>
        <p:txBody>
          <a:bodyPr wrap="none" rtlCol="0">
            <a:spAutoFit/>
          </a:bodyPr>
          <a:lstStyle/>
          <a:p>
            <a:r>
              <a:rPr lang="en-US" sz="1200"/>
              <a:t>a) 0.99 x 1.99</a:t>
            </a:r>
            <a:endParaRPr lang="en-GB" sz="1200"/>
          </a:p>
        </p:txBody>
      </p:sp>
      <p:sp>
        <p:nvSpPr>
          <p:cNvPr id="24" name="TextBox 23">
            <a:extLst>
              <a:ext uri="{FF2B5EF4-FFF2-40B4-BE49-F238E27FC236}">
                <a16:creationId xmlns:a16="http://schemas.microsoft.com/office/drawing/2014/main" id="{7012BEE2-FF16-D79B-702D-C7872D94E081}"/>
              </a:ext>
            </a:extLst>
          </p:cNvPr>
          <p:cNvSpPr txBox="1"/>
          <p:nvPr/>
        </p:nvSpPr>
        <p:spPr>
          <a:xfrm>
            <a:off x="1780182" y="519832"/>
            <a:ext cx="989373" cy="276999"/>
          </a:xfrm>
          <a:prstGeom prst="rect">
            <a:avLst/>
          </a:prstGeom>
          <a:noFill/>
        </p:spPr>
        <p:txBody>
          <a:bodyPr wrap="none" rtlCol="0">
            <a:spAutoFit/>
          </a:bodyPr>
          <a:lstStyle/>
          <a:p>
            <a:r>
              <a:rPr lang="en-US" sz="1200"/>
              <a:t>b) 1.95 x 9.9 </a:t>
            </a:r>
            <a:endParaRPr lang="en-GB" sz="1200"/>
          </a:p>
        </p:txBody>
      </p:sp>
      <p:sp>
        <p:nvSpPr>
          <p:cNvPr id="25" name="TextBox 24">
            <a:extLst>
              <a:ext uri="{FF2B5EF4-FFF2-40B4-BE49-F238E27FC236}">
                <a16:creationId xmlns:a16="http://schemas.microsoft.com/office/drawing/2014/main" id="{1F93B097-3ACF-70DC-A9F2-DCF910D620E4}"/>
              </a:ext>
            </a:extLst>
          </p:cNvPr>
          <p:cNvSpPr txBox="1"/>
          <p:nvPr/>
        </p:nvSpPr>
        <p:spPr>
          <a:xfrm>
            <a:off x="3384879" y="544345"/>
            <a:ext cx="974947" cy="276999"/>
          </a:xfrm>
          <a:prstGeom prst="rect">
            <a:avLst/>
          </a:prstGeom>
          <a:noFill/>
        </p:spPr>
        <p:txBody>
          <a:bodyPr wrap="none" rtlCol="0">
            <a:spAutoFit/>
          </a:bodyPr>
          <a:lstStyle/>
          <a:p>
            <a:r>
              <a:rPr lang="en-US" sz="1200"/>
              <a:t>c) 2.99 x 9.5 </a:t>
            </a:r>
            <a:endParaRPr lang="en-GB" sz="1200"/>
          </a:p>
        </p:txBody>
      </p:sp>
      <p:sp>
        <p:nvSpPr>
          <p:cNvPr id="26" name="TextBox 25">
            <a:extLst>
              <a:ext uri="{FF2B5EF4-FFF2-40B4-BE49-F238E27FC236}">
                <a16:creationId xmlns:a16="http://schemas.microsoft.com/office/drawing/2014/main" id="{3118B5FC-B2A9-2E37-1655-C4214A0C2DC2}"/>
              </a:ext>
            </a:extLst>
          </p:cNvPr>
          <p:cNvSpPr txBox="1"/>
          <p:nvPr/>
        </p:nvSpPr>
        <p:spPr>
          <a:xfrm>
            <a:off x="5050070" y="566943"/>
            <a:ext cx="1067921" cy="276999"/>
          </a:xfrm>
          <a:prstGeom prst="rect">
            <a:avLst/>
          </a:prstGeom>
          <a:noFill/>
        </p:spPr>
        <p:txBody>
          <a:bodyPr wrap="none" rtlCol="0">
            <a:spAutoFit/>
          </a:bodyPr>
          <a:lstStyle/>
          <a:p>
            <a:r>
              <a:rPr lang="en-US" sz="1200"/>
              <a:t>d) 4.95 x 9.98 </a:t>
            </a:r>
            <a:endParaRPr lang="en-GB" sz="1200"/>
          </a:p>
        </p:txBody>
      </p:sp>
      <p:sp>
        <p:nvSpPr>
          <p:cNvPr id="27" name="Rectangle 26">
            <a:extLst>
              <a:ext uri="{FF2B5EF4-FFF2-40B4-BE49-F238E27FC236}">
                <a16:creationId xmlns:a16="http://schemas.microsoft.com/office/drawing/2014/main" id="{293E0695-43BC-62BE-C462-12B78F3E1929}"/>
              </a:ext>
            </a:extLst>
          </p:cNvPr>
          <p:cNvSpPr/>
          <p:nvPr/>
        </p:nvSpPr>
        <p:spPr>
          <a:xfrm>
            <a:off x="237361" y="84051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A8A26CC7-8D8A-EB84-E182-007447F6C02C}"/>
              </a:ext>
            </a:extLst>
          </p:cNvPr>
          <p:cNvSpPr/>
          <p:nvPr/>
        </p:nvSpPr>
        <p:spPr>
          <a:xfrm>
            <a:off x="371790" y="265575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70DFBCD5-DF07-54A0-F474-95DCBF6DB19E}"/>
              </a:ext>
            </a:extLst>
          </p:cNvPr>
          <p:cNvSpPr/>
          <p:nvPr/>
        </p:nvSpPr>
        <p:spPr>
          <a:xfrm>
            <a:off x="1861306" y="84051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20820E2-B221-D654-4ABC-EA8D225EEC33}"/>
              </a:ext>
            </a:extLst>
          </p:cNvPr>
          <p:cNvSpPr/>
          <p:nvPr/>
        </p:nvSpPr>
        <p:spPr>
          <a:xfrm>
            <a:off x="3476625" y="84051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7E8A21BD-A966-9E34-E676-A8A1CFC893FD}"/>
              </a:ext>
            </a:extLst>
          </p:cNvPr>
          <p:cNvSpPr/>
          <p:nvPr/>
        </p:nvSpPr>
        <p:spPr>
          <a:xfrm>
            <a:off x="5091944" y="84051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BB9910F2-584B-89E3-F0CD-6DF65C661F4D}"/>
              </a:ext>
            </a:extLst>
          </p:cNvPr>
          <p:cNvSpPr/>
          <p:nvPr/>
        </p:nvSpPr>
        <p:spPr>
          <a:xfrm>
            <a:off x="2001197" y="265575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3" name="Rectangle 32">
            <a:extLst>
              <a:ext uri="{FF2B5EF4-FFF2-40B4-BE49-F238E27FC236}">
                <a16:creationId xmlns:a16="http://schemas.microsoft.com/office/drawing/2014/main" id="{A4668A64-1F0A-1C1E-201C-9424066C99B2}"/>
              </a:ext>
            </a:extLst>
          </p:cNvPr>
          <p:cNvSpPr/>
          <p:nvPr/>
        </p:nvSpPr>
        <p:spPr>
          <a:xfrm>
            <a:off x="3609140" y="265575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CAEE3FB4-76FF-D9FB-52D0-3E79E46B4255}"/>
              </a:ext>
            </a:extLst>
          </p:cNvPr>
          <p:cNvSpPr/>
          <p:nvPr/>
        </p:nvSpPr>
        <p:spPr>
          <a:xfrm>
            <a:off x="5210916" y="265575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6" name="TextBox 55">
            <a:extLst>
              <a:ext uri="{FF2B5EF4-FFF2-40B4-BE49-F238E27FC236}">
                <a16:creationId xmlns:a16="http://schemas.microsoft.com/office/drawing/2014/main" id="{9B917027-07EC-E51A-59E7-84CC46A13E20}"/>
              </a:ext>
            </a:extLst>
          </p:cNvPr>
          <p:cNvSpPr txBox="1"/>
          <p:nvPr/>
        </p:nvSpPr>
        <p:spPr>
          <a:xfrm>
            <a:off x="181897" y="3095698"/>
            <a:ext cx="1029449" cy="276999"/>
          </a:xfrm>
          <a:prstGeom prst="rect">
            <a:avLst/>
          </a:prstGeom>
          <a:noFill/>
        </p:spPr>
        <p:txBody>
          <a:bodyPr wrap="none" rtlCol="0">
            <a:spAutoFit/>
          </a:bodyPr>
          <a:lstStyle/>
          <a:p>
            <a:r>
              <a:rPr lang="en-US" sz="1200"/>
              <a:t>e) 4.95 x 9.99</a:t>
            </a:r>
            <a:endParaRPr lang="en-GB" sz="1200"/>
          </a:p>
        </p:txBody>
      </p:sp>
      <p:sp>
        <p:nvSpPr>
          <p:cNvPr id="58" name="TextBox 57">
            <a:extLst>
              <a:ext uri="{FF2B5EF4-FFF2-40B4-BE49-F238E27FC236}">
                <a16:creationId xmlns:a16="http://schemas.microsoft.com/office/drawing/2014/main" id="{941BB3E2-6A87-C7F0-40BF-68AC76F8DE92}"/>
              </a:ext>
            </a:extLst>
          </p:cNvPr>
          <p:cNvSpPr txBox="1"/>
          <p:nvPr/>
        </p:nvSpPr>
        <p:spPr>
          <a:xfrm>
            <a:off x="1780182" y="3114964"/>
            <a:ext cx="957955" cy="276999"/>
          </a:xfrm>
          <a:prstGeom prst="rect">
            <a:avLst/>
          </a:prstGeom>
          <a:noFill/>
        </p:spPr>
        <p:txBody>
          <a:bodyPr wrap="none" rtlCol="0">
            <a:spAutoFit/>
          </a:bodyPr>
          <a:lstStyle/>
          <a:p>
            <a:r>
              <a:rPr lang="en-US" sz="1200"/>
              <a:t>f) 9.5 x 11.9 </a:t>
            </a:r>
            <a:endParaRPr lang="en-GB" sz="1200"/>
          </a:p>
        </p:txBody>
      </p:sp>
      <p:sp>
        <p:nvSpPr>
          <p:cNvPr id="60" name="TextBox 59">
            <a:extLst>
              <a:ext uri="{FF2B5EF4-FFF2-40B4-BE49-F238E27FC236}">
                <a16:creationId xmlns:a16="http://schemas.microsoft.com/office/drawing/2014/main" id="{81748DD2-35C8-22F5-DEB8-845F36F9936B}"/>
              </a:ext>
            </a:extLst>
          </p:cNvPr>
          <p:cNvSpPr txBox="1"/>
          <p:nvPr/>
        </p:nvSpPr>
        <p:spPr>
          <a:xfrm>
            <a:off x="3384879" y="3139477"/>
            <a:ext cx="981359" cy="276999"/>
          </a:xfrm>
          <a:prstGeom prst="rect">
            <a:avLst/>
          </a:prstGeom>
          <a:noFill/>
        </p:spPr>
        <p:txBody>
          <a:bodyPr wrap="none" rtlCol="0">
            <a:spAutoFit/>
          </a:bodyPr>
          <a:lstStyle/>
          <a:p>
            <a:r>
              <a:rPr lang="en-US" sz="1200"/>
              <a:t>g) 9.5 x 14.9 </a:t>
            </a:r>
            <a:endParaRPr lang="en-GB" sz="1200"/>
          </a:p>
        </p:txBody>
      </p:sp>
      <p:sp>
        <p:nvSpPr>
          <p:cNvPr id="61" name="TextBox 60">
            <a:extLst>
              <a:ext uri="{FF2B5EF4-FFF2-40B4-BE49-F238E27FC236}">
                <a16:creationId xmlns:a16="http://schemas.microsoft.com/office/drawing/2014/main" id="{3FA5CC61-E54B-378F-0D4A-A01B57C66365}"/>
              </a:ext>
            </a:extLst>
          </p:cNvPr>
          <p:cNvSpPr txBox="1"/>
          <p:nvPr/>
        </p:nvSpPr>
        <p:spPr>
          <a:xfrm>
            <a:off x="5050070" y="3162075"/>
            <a:ext cx="989373" cy="276999"/>
          </a:xfrm>
          <a:prstGeom prst="rect">
            <a:avLst/>
          </a:prstGeom>
          <a:noFill/>
        </p:spPr>
        <p:txBody>
          <a:bodyPr wrap="none" rtlCol="0">
            <a:spAutoFit/>
          </a:bodyPr>
          <a:lstStyle/>
          <a:p>
            <a:r>
              <a:rPr lang="en-US" sz="1200"/>
              <a:t>h) 15.1 x 9.5 </a:t>
            </a:r>
            <a:endParaRPr lang="en-GB" sz="1200"/>
          </a:p>
        </p:txBody>
      </p:sp>
      <p:sp>
        <p:nvSpPr>
          <p:cNvPr id="62" name="Rectangle 61">
            <a:extLst>
              <a:ext uri="{FF2B5EF4-FFF2-40B4-BE49-F238E27FC236}">
                <a16:creationId xmlns:a16="http://schemas.microsoft.com/office/drawing/2014/main" id="{A9A486ED-61C6-127C-3808-81EB7987E6F4}"/>
              </a:ext>
            </a:extLst>
          </p:cNvPr>
          <p:cNvSpPr/>
          <p:nvPr/>
        </p:nvSpPr>
        <p:spPr>
          <a:xfrm>
            <a:off x="237361" y="3435644"/>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BF2B23CB-07D5-CDB6-8B4E-ED8E2386CEB7}"/>
              </a:ext>
            </a:extLst>
          </p:cNvPr>
          <p:cNvSpPr/>
          <p:nvPr/>
        </p:nvSpPr>
        <p:spPr>
          <a:xfrm>
            <a:off x="371790" y="525088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5" name="Rectangle 64">
            <a:extLst>
              <a:ext uri="{FF2B5EF4-FFF2-40B4-BE49-F238E27FC236}">
                <a16:creationId xmlns:a16="http://schemas.microsoft.com/office/drawing/2014/main" id="{5A130851-0322-F871-FD7A-523C246B9009}"/>
              </a:ext>
            </a:extLst>
          </p:cNvPr>
          <p:cNvSpPr/>
          <p:nvPr/>
        </p:nvSpPr>
        <p:spPr>
          <a:xfrm>
            <a:off x="1861306" y="3435643"/>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97FD20FD-1A9D-C2D9-4C17-B7C151097CBB}"/>
              </a:ext>
            </a:extLst>
          </p:cNvPr>
          <p:cNvSpPr/>
          <p:nvPr/>
        </p:nvSpPr>
        <p:spPr>
          <a:xfrm>
            <a:off x="3476625" y="343564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6B3B39A0-9257-957B-0F2E-A6991FB2F1C8}"/>
              </a:ext>
            </a:extLst>
          </p:cNvPr>
          <p:cNvSpPr/>
          <p:nvPr/>
        </p:nvSpPr>
        <p:spPr>
          <a:xfrm>
            <a:off x="5091944" y="343564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833ECA6F-4572-0E86-99F1-87E7CE9163B6}"/>
              </a:ext>
            </a:extLst>
          </p:cNvPr>
          <p:cNvSpPr/>
          <p:nvPr/>
        </p:nvSpPr>
        <p:spPr>
          <a:xfrm>
            <a:off x="2001197" y="525088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F6B90A01-7EEC-5A30-EAFB-4BF287854851}"/>
              </a:ext>
            </a:extLst>
          </p:cNvPr>
          <p:cNvSpPr/>
          <p:nvPr/>
        </p:nvSpPr>
        <p:spPr>
          <a:xfrm>
            <a:off x="3609140" y="525088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F74F0251-A8C1-5BC4-0537-9F9C11484364}"/>
              </a:ext>
            </a:extLst>
          </p:cNvPr>
          <p:cNvSpPr/>
          <p:nvPr/>
        </p:nvSpPr>
        <p:spPr>
          <a:xfrm>
            <a:off x="5210916" y="525088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04813EEE-6212-8564-D517-76E60F8C25ED}"/>
              </a:ext>
            </a:extLst>
          </p:cNvPr>
          <p:cNvSpPr/>
          <p:nvPr/>
        </p:nvSpPr>
        <p:spPr>
          <a:xfrm>
            <a:off x="126041" y="102844"/>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cxnSp>
        <p:nvCxnSpPr>
          <p:cNvPr id="37" name="Straight Connector 36">
            <a:extLst>
              <a:ext uri="{FF2B5EF4-FFF2-40B4-BE49-F238E27FC236}">
                <a16:creationId xmlns:a16="http://schemas.microsoft.com/office/drawing/2014/main" id="{01D393B7-65C9-06D0-D487-7ECDADBCE153}"/>
              </a:ext>
            </a:extLst>
          </p:cNvPr>
          <p:cNvCxnSpPr>
            <a:cxnSpLocks/>
          </p:cNvCxnSpPr>
          <p:nvPr/>
        </p:nvCxnSpPr>
        <p:spPr>
          <a:xfrm>
            <a:off x="980156" y="7438341"/>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8" name="Table 37">
                <a:extLst>
                  <a:ext uri="{FF2B5EF4-FFF2-40B4-BE49-F238E27FC236}">
                    <a16:creationId xmlns:a16="http://schemas.microsoft.com/office/drawing/2014/main" id="{803326AA-9895-B5D1-7305-BA497ACB0506}"/>
                  </a:ext>
                </a:extLst>
              </p:cNvPr>
              <p:cNvGraphicFramePr>
                <a:graphicFrameLocks noGrp="1"/>
              </p:cNvGraphicFramePr>
              <p:nvPr/>
            </p:nvGraphicFramePr>
            <p:xfrm>
              <a:off x="181897" y="5993969"/>
              <a:ext cx="6543680" cy="3518323"/>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08308">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14662">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9.9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17.9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 32.9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m:t>
                              </m:r>
                            </m:oMath>
                          </a14:m>
                          <a:r>
                            <a:rPr lang="en-US" sz="1200" baseline="0">
                              <a:solidFill>
                                <a:schemeClr val="tx1"/>
                              </a:solidFill>
                            </a:rPr>
                            <a:t> 2</a:t>
                          </a:r>
                          <a:r>
                            <a:rPr lang="en-US" sz="1200">
                              <a:solidFill>
                                <a:schemeClr val="tx1"/>
                              </a:solidFill>
                            </a:rPr>
                            <a:t>.1</a:t>
                          </a:r>
                          <a:r>
                            <a:rPr lang="en-US" sz="1200" baseline="0">
                              <a:solidFill>
                                <a:schemeClr val="tx1"/>
                              </a:solidFill>
                            </a:rPr>
                            <a:t> by rounding each number one significant figure.</a:t>
                          </a: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894042">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650539">
                    <a:tc>
                      <a:txBody>
                        <a:bodyPr/>
                        <a:lstStyle/>
                        <a:p>
                          <a:pPr marL="0" indent="0">
                            <a:buNone/>
                          </a:pPr>
                          <a:r>
                            <a:rPr lang="en-US" sz="1100"/>
                            <a:t>3)</a:t>
                          </a:r>
                          <a:r>
                            <a:rPr lang="en-US" sz="1100" baseline="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a:t> to show your solution</a:t>
                          </a:r>
                          <a:r>
                            <a:rPr lang="en-US" sz="1100" baseline="0"/>
                            <a:t> is an estimate.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38" name="Table 37">
                <a:extLst>
                  <a:ext uri="{FF2B5EF4-FFF2-40B4-BE49-F238E27FC236}">
                    <a16:creationId xmlns:a16="http://schemas.microsoft.com/office/drawing/2014/main" id="{803326AA-9895-B5D1-7305-BA497ACB0506}"/>
                  </a:ext>
                </a:extLst>
              </p:cNvPr>
              <p:cNvGraphicFramePr>
                <a:graphicFrameLocks noGrp="1"/>
              </p:cNvGraphicFramePr>
              <p:nvPr>
                <p:extLst>
                  <p:ext uri="{D42A27DB-BD31-4B8C-83A1-F6EECF244321}">
                    <p14:modId xmlns:p14="http://schemas.microsoft.com/office/powerpoint/2010/main" val="3433575626"/>
                  </p:ext>
                </p:extLst>
              </p:nvPr>
            </p:nvGraphicFramePr>
            <p:xfrm>
              <a:off x="181897" y="5993969"/>
              <a:ext cx="6543680" cy="3518323"/>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714662">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401" t="-8224" r="-220209" b="-374"/>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54" t="-8224" r="-95062" b="-374"/>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1634" t="-8224" r="-654" b="-374"/>
                          </a:stretch>
                        </a:blipFill>
                      </a:tcPr>
                    </a:tc>
                    <a:extLst>
                      <a:ext uri="{0D108BD9-81ED-4DB2-BD59-A6C34878D82A}">
                        <a16:rowId xmlns:a16="http://schemas.microsoft.com/office/drawing/2014/main" val="3293625240"/>
                      </a:ext>
                    </a:extLst>
                  </a:tr>
                  <a:tr h="894042">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65053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33" t="-113653" r="-581646" b="-738"/>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39" name="TextBox 38">
            <a:extLst>
              <a:ext uri="{FF2B5EF4-FFF2-40B4-BE49-F238E27FC236}">
                <a16:creationId xmlns:a16="http://schemas.microsoft.com/office/drawing/2014/main" id="{68034822-7291-91C3-9FBB-D356C21BD9D8}"/>
              </a:ext>
            </a:extLst>
          </p:cNvPr>
          <p:cNvSpPr txBox="1"/>
          <p:nvPr/>
        </p:nvSpPr>
        <p:spPr>
          <a:xfrm>
            <a:off x="1383071" y="5695998"/>
            <a:ext cx="1410704" cy="276999"/>
          </a:xfrm>
          <a:prstGeom prst="rect">
            <a:avLst/>
          </a:prstGeom>
          <a:noFill/>
          <a:ln>
            <a:noFill/>
          </a:ln>
        </p:spPr>
        <p:txBody>
          <a:bodyPr wrap="square" rtlCol="0">
            <a:spAutoFit/>
          </a:bodyPr>
          <a:lstStyle/>
          <a:p>
            <a:r>
              <a:rPr lang="en-GB" sz="1200" b="1" i="1">
                <a:solidFill>
                  <a:srgbClr val="FF0000"/>
                </a:solidFill>
              </a:rPr>
              <a:t>Example 7 - I do…</a:t>
            </a:r>
          </a:p>
        </p:txBody>
      </p:sp>
      <p:sp>
        <p:nvSpPr>
          <p:cNvPr id="40" name="TextBox 39">
            <a:extLst>
              <a:ext uri="{FF2B5EF4-FFF2-40B4-BE49-F238E27FC236}">
                <a16:creationId xmlns:a16="http://schemas.microsoft.com/office/drawing/2014/main" id="{AF50ADBD-17D9-54EF-32C8-7A8FBEBE07D2}"/>
              </a:ext>
            </a:extLst>
          </p:cNvPr>
          <p:cNvSpPr txBox="1"/>
          <p:nvPr/>
        </p:nvSpPr>
        <p:spPr>
          <a:xfrm>
            <a:off x="5030786" y="5693744"/>
            <a:ext cx="1643405" cy="276999"/>
          </a:xfrm>
          <a:prstGeom prst="rect">
            <a:avLst/>
          </a:prstGeom>
          <a:noFill/>
          <a:ln>
            <a:noFill/>
          </a:ln>
        </p:spPr>
        <p:txBody>
          <a:bodyPr wrap="square" rtlCol="0">
            <a:spAutoFit/>
          </a:bodyPr>
          <a:lstStyle/>
          <a:p>
            <a:r>
              <a:rPr lang="en-GB" sz="1200" b="1" i="1">
                <a:solidFill>
                  <a:srgbClr val="00B050"/>
                </a:solidFill>
              </a:rPr>
              <a:t>Example 9 – You do…</a:t>
            </a:r>
          </a:p>
        </p:txBody>
      </p:sp>
      <p:sp>
        <p:nvSpPr>
          <p:cNvPr id="41" name="TextBox 40">
            <a:extLst>
              <a:ext uri="{FF2B5EF4-FFF2-40B4-BE49-F238E27FC236}">
                <a16:creationId xmlns:a16="http://schemas.microsoft.com/office/drawing/2014/main" id="{2D3BDD20-DB3A-2DA2-F144-C3BFDF71E3B9}"/>
              </a:ext>
            </a:extLst>
          </p:cNvPr>
          <p:cNvSpPr txBox="1"/>
          <p:nvPr/>
        </p:nvSpPr>
        <p:spPr>
          <a:xfrm>
            <a:off x="3111099" y="5708531"/>
            <a:ext cx="1667605" cy="276999"/>
          </a:xfrm>
          <a:prstGeom prst="rect">
            <a:avLst/>
          </a:prstGeom>
          <a:noFill/>
          <a:ln>
            <a:noFill/>
          </a:ln>
        </p:spPr>
        <p:txBody>
          <a:bodyPr wrap="square" rtlCol="0">
            <a:spAutoFit/>
          </a:bodyPr>
          <a:lstStyle/>
          <a:p>
            <a:r>
              <a:rPr lang="en-GB" sz="1200" b="1" i="1">
                <a:solidFill>
                  <a:schemeClr val="accent2"/>
                </a:solidFill>
              </a:rPr>
              <a:t>Example 8 - We do…</a:t>
            </a:r>
          </a:p>
        </p:txBody>
      </p:sp>
      <p:sp>
        <p:nvSpPr>
          <p:cNvPr id="42" name="Rectangle 41">
            <a:extLst>
              <a:ext uri="{FF2B5EF4-FFF2-40B4-BE49-F238E27FC236}">
                <a16:creationId xmlns:a16="http://schemas.microsoft.com/office/drawing/2014/main" id="{DEB4DD9F-32AC-E0A8-7625-AE26EB8BE211}"/>
              </a:ext>
            </a:extLst>
          </p:cNvPr>
          <p:cNvSpPr/>
          <p:nvPr/>
        </p:nvSpPr>
        <p:spPr>
          <a:xfrm>
            <a:off x="1245107" y="908376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3" name="Rectangle 42">
            <a:extLst>
              <a:ext uri="{FF2B5EF4-FFF2-40B4-BE49-F238E27FC236}">
                <a16:creationId xmlns:a16="http://schemas.microsoft.com/office/drawing/2014/main" id="{6CF654DB-8926-3D9F-11CE-DBCB3BF05CF4}"/>
              </a:ext>
            </a:extLst>
          </p:cNvPr>
          <p:cNvSpPr/>
          <p:nvPr/>
        </p:nvSpPr>
        <p:spPr>
          <a:xfrm>
            <a:off x="3137262" y="90837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F21E9075-8C34-2CFF-31BE-05D2E49CF95E}"/>
              </a:ext>
            </a:extLst>
          </p:cNvPr>
          <p:cNvSpPr/>
          <p:nvPr/>
        </p:nvSpPr>
        <p:spPr>
          <a:xfrm>
            <a:off x="5081730" y="90837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886251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32</a:t>
            </a:fld>
            <a:endParaRPr lang="en-GB"/>
          </a:p>
        </p:txBody>
      </p:sp>
      <p:sp>
        <p:nvSpPr>
          <p:cNvPr id="12" name="TextBox 11">
            <a:extLst>
              <a:ext uri="{FF2B5EF4-FFF2-40B4-BE49-F238E27FC236}">
                <a16:creationId xmlns:a16="http://schemas.microsoft.com/office/drawing/2014/main" id="{96611ED2-92FF-83F3-7B93-F566654EF224}"/>
              </a:ext>
            </a:extLst>
          </p:cNvPr>
          <p:cNvSpPr txBox="1"/>
          <p:nvPr/>
        </p:nvSpPr>
        <p:spPr>
          <a:xfrm>
            <a:off x="1936659" y="160976"/>
            <a:ext cx="3221908" cy="461665"/>
          </a:xfrm>
          <a:prstGeom prst="rect">
            <a:avLst/>
          </a:prstGeom>
          <a:noFill/>
        </p:spPr>
        <p:txBody>
          <a:bodyPr wrap="none" rtlCol="0">
            <a:spAutoFit/>
          </a:bodyPr>
          <a:lstStyle/>
          <a:p>
            <a:pPr algn="ctr"/>
            <a:r>
              <a:rPr lang="en-US" sz="1200"/>
              <a:t>3. Estimate the answer to each by rounding each</a:t>
            </a:r>
          </a:p>
          <a:p>
            <a:pPr algn="ctr"/>
            <a:r>
              <a:rPr lang="en-US" sz="1200"/>
              <a:t>number to one significant figure.</a:t>
            </a:r>
            <a:endParaRPr lang="en-GB" sz="12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02599B8-7045-2C5F-49C8-BC34EDC6944E}"/>
                  </a:ext>
                </a:extLst>
              </p:cNvPr>
              <p:cNvSpPr txBox="1"/>
              <p:nvPr/>
            </p:nvSpPr>
            <p:spPr>
              <a:xfrm>
                <a:off x="213518" y="625974"/>
                <a:ext cx="995785" cy="276999"/>
              </a:xfrm>
              <a:prstGeom prst="rect">
                <a:avLst/>
              </a:prstGeom>
              <a:noFill/>
            </p:spPr>
            <p:txBody>
              <a:bodyPr wrap="none" rtlCol="0">
                <a:spAutoFit/>
              </a:bodyPr>
              <a:lstStyle/>
              <a:p>
                <a:r>
                  <a:rPr lang="en-US" sz="1200"/>
                  <a:t>a) 7.9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oMath>
                </a14:m>
                <a:r>
                  <a:rPr lang="en-US" sz="1200"/>
                  <a:t> 1.99</a:t>
                </a:r>
                <a:endParaRPr lang="en-GB" sz="1200"/>
              </a:p>
            </p:txBody>
          </p:sp>
        </mc:Choice>
        <mc:Fallback xmlns="">
          <p:sp>
            <p:nvSpPr>
              <p:cNvPr id="14" name="TextBox 13">
                <a:extLst>
                  <a:ext uri="{FF2B5EF4-FFF2-40B4-BE49-F238E27FC236}">
                    <a16:creationId xmlns:a16="http://schemas.microsoft.com/office/drawing/2014/main" id="{802599B8-7045-2C5F-49C8-BC34EDC6944E}"/>
                  </a:ext>
                </a:extLst>
              </p:cNvPr>
              <p:cNvSpPr txBox="1">
                <a:spLocks noRot="1" noChangeAspect="1" noMove="1" noResize="1" noEditPoints="1" noAdjustHandles="1" noChangeArrowheads="1" noChangeShapeType="1" noTextEdit="1"/>
              </p:cNvSpPr>
              <p:nvPr/>
            </p:nvSpPr>
            <p:spPr>
              <a:xfrm>
                <a:off x="213518" y="625974"/>
                <a:ext cx="995785" cy="276999"/>
              </a:xfrm>
              <a:prstGeom prst="rect">
                <a:avLst/>
              </a:prstGeom>
              <a:blipFill>
                <a:blip r:embed="rId2"/>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50D13E5-22DF-CB26-0AD2-F7DFA39EB2D7}"/>
                  </a:ext>
                </a:extLst>
              </p:cNvPr>
              <p:cNvSpPr txBox="1"/>
              <p:nvPr/>
            </p:nvSpPr>
            <p:spPr>
              <a:xfrm>
                <a:off x="1811803" y="645240"/>
                <a:ext cx="1002197" cy="461665"/>
              </a:xfrm>
              <a:prstGeom prst="rect">
                <a:avLst/>
              </a:prstGeom>
              <a:noFill/>
            </p:spPr>
            <p:txBody>
              <a:bodyPr wrap="none" rtlCol="0">
                <a:spAutoFit/>
              </a:bodyPr>
              <a:lstStyle/>
              <a:p>
                <a:r>
                  <a:rPr lang="en-US" sz="1200"/>
                  <a:t>b) 9.9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1.99</a:t>
                </a:r>
                <a:endParaRPr lang="en-GB" sz="1200"/>
              </a:p>
              <a:p>
                <a:endParaRPr lang="en-GB" sz="1200"/>
              </a:p>
            </p:txBody>
          </p:sp>
        </mc:Choice>
        <mc:Fallback xmlns="">
          <p:sp>
            <p:nvSpPr>
              <p:cNvPr id="15" name="TextBox 14">
                <a:extLst>
                  <a:ext uri="{FF2B5EF4-FFF2-40B4-BE49-F238E27FC236}">
                    <a16:creationId xmlns:a16="http://schemas.microsoft.com/office/drawing/2014/main" id="{C50D13E5-22DF-CB26-0AD2-F7DFA39EB2D7}"/>
                  </a:ext>
                </a:extLst>
              </p:cNvPr>
              <p:cNvSpPr txBox="1">
                <a:spLocks noRot="1" noChangeAspect="1" noMove="1" noResize="1" noEditPoints="1" noAdjustHandles="1" noChangeArrowheads="1" noChangeShapeType="1" noTextEdit="1"/>
              </p:cNvSpPr>
              <p:nvPr/>
            </p:nvSpPr>
            <p:spPr>
              <a:xfrm>
                <a:off x="1811803" y="645240"/>
                <a:ext cx="1002197"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4B9F8-4454-F21F-E377-78A666AED3A5}"/>
                  </a:ext>
                </a:extLst>
              </p:cNvPr>
              <p:cNvSpPr txBox="1"/>
              <p:nvPr/>
            </p:nvSpPr>
            <p:spPr>
              <a:xfrm>
                <a:off x="3416500" y="669753"/>
                <a:ext cx="987771" cy="461665"/>
              </a:xfrm>
              <a:prstGeom prst="rect">
                <a:avLst/>
              </a:prstGeom>
              <a:noFill/>
            </p:spPr>
            <p:txBody>
              <a:bodyPr wrap="none" rtlCol="0">
                <a:spAutoFit/>
              </a:bodyPr>
              <a:lstStyle/>
              <a:p>
                <a:r>
                  <a:rPr lang="en-US" sz="1200"/>
                  <a:t>c) 9.9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4.95</a:t>
                </a:r>
                <a:endParaRPr lang="en-GB" sz="1200"/>
              </a:p>
              <a:p>
                <a:endParaRPr lang="en-GB" sz="1200"/>
              </a:p>
            </p:txBody>
          </p:sp>
        </mc:Choice>
        <mc:Fallback xmlns="">
          <p:sp>
            <p:nvSpPr>
              <p:cNvPr id="16" name="TextBox 15">
                <a:extLst>
                  <a:ext uri="{FF2B5EF4-FFF2-40B4-BE49-F238E27FC236}">
                    <a16:creationId xmlns:a16="http://schemas.microsoft.com/office/drawing/2014/main" id="{AE14B9F8-4454-F21F-E377-78A666AED3A5}"/>
                  </a:ext>
                </a:extLst>
              </p:cNvPr>
              <p:cNvSpPr txBox="1">
                <a:spLocks noRot="1" noChangeAspect="1" noMove="1" noResize="1" noEditPoints="1" noAdjustHandles="1" noChangeArrowheads="1" noChangeShapeType="1" noTextEdit="1"/>
              </p:cNvSpPr>
              <p:nvPr/>
            </p:nvSpPr>
            <p:spPr>
              <a:xfrm>
                <a:off x="3416500" y="669753"/>
                <a:ext cx="987771" cy="461665"/>
              </a:xfrm>
              <a:prstGeom prst="rect">
                <a:avLst/>
              </a:prstGeom>
              <a:blipFill>
                <a:blip r:embed="rId4"/>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2F06194-F175-8752-5ED6-E03A1133BC75}"/>
                  </a:ext>
                </a:extLst>
              </p:cNvPr>
              <p:cNvSpPr txBox="1"/>
              <p:nvPr/>
            </p:nvSpPr>
            <p:spPr>
              <a:xfrm>
                <a:off x="5081691" y="692351"/>
                <a:ext cx="1080745" cy="461665"/>
              </a:xfrm>
              <a:prstGeom prst="rect">
                <a:avLst/>
              </a:prstGeom>
              <a:noFill/>
            </p:spPr>
            <p:txBody>
              <a:bodyPr wrap="none" rtlCol="0">
                <a:spAutoFit/>
              </a:bodyPr>
              <a:lstStyle/>
              <a:p>
                <a:r>
                  <a:rPr lang="en-US" sz="1200"/>
                  <a:t>d)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1.99</a:t>
                </a:r>
                <a:endParaRPr lang="en-GB" sz="1200"/>
              </a:p>
              <a:p>
                <a:endParaRPr lang="en-GB" sz="1200"/>
              </a:p>
            </p:txBody>
          </p:sp>
        </mc:Choice>
        <mc:Fallback xmlns="">
          <p:sp>
            <p:nvSpPr>
              <p:cNvPr id="44" name="TextBox 43">
                <a:extLst>
                  <a:ext uri="{FF2B5EF4-FFF2-40B4-BE49-F238E27FC236}">
                    <a16:creationId xmlns:a16="http://schemas.microsoft.com/office/drawing/2014/main" id="{62F06194-F175-8752-5ED6-E03A1133BC75}"/>
                  </a:ext>
                </a:extLst>
              </p:cNvPr>
              <p:cNvSpPr txBox="1">
                <a:spLocks noRot="1" noChangeAspect="1" noMove="1" noResize="1" noEditPoints="1" noAdjustHandles="1" noChangeArrowheads="1" noChangeShapeType="1" noTextEdit="1"/>
              </p:cNvSpPr>
              <p:nvPr/>
            </p:nvSpPr>
            <p:spPr>
              <a:xfrm>
                <a:off x="5081691" y="692351"/>
                <a:ext cx="1080745" cy="461665"/>
              </a:xfrm>
              <a:prstGeom prst="rect">
                <a:avLst/>
              </a:prstGeom>
              <a:blipFill>
                <a:blip r:embed="rId5"/>
                <a:stretch>
                  <a:fillRect l="-565" t="-1333"/>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BCD925F6-396E-0A38-1D4E-D3D245464CED}"/>
              </a:ext>
            </a:extLst>
          </p:cNvPr>
          <p:cNvSpPr/>
          <p:nvPr/>
        </p:nvSpPr>
        <p:spPr>
          <a:xfrm>
            <a:off x="268982" y="96592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983C8F24-DED6-93FB-7BF3-77B759D8C791}"/>
              </a:ext>
            </a:extLst>
          </p:cNvPr>
          <p:cNvSpPr/>
          <p:nvPr/>
        </p:nvSpPr>
        <p:spPr>
          <a:xfrm>
            <a:off x="403411" y="278115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74CCC8CB-16A2-31D7-FB90-FC10DE7F8B52}"/>
              </a:ext>
            </a:extLst>
          </p:cNvPr>
          <p:cNvSpPr/>
          <p:nvPr/>
        </p:nvSpPr>
        <p:spPr>
          <a:xfrm>
            <a:off x="1892927" y="965919"/>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586F25EF-AFA3-6A74-1954-900ACC61EE26}"/>
              </a:ext>
            </a:extLst>
          </p:cNvPr>
          <p:cNvSpPr/>
          <p:nvPr/>
        </p:nvSpPr>
        <p:spPr>
          <a:xfrm>
            <a:off x="3508246" y="965918"/>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A69AAF3C-4D99-218B-3F75-4BECD4126818}"/>
              </a:ext>
            </a:extLst>
          </p:cNvPr>
          <p:cNvSpPr/>
          <p:nvPr/>
        </p:nvSpPr>
        <p:spPr>
          <a:xfrm>
            <a:off x="5123565" y="965918"/>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C1C15EAE-7389-6992-55AF-44BE0023D815}"/>
              </a:ext>
            </a:extLst>
          </p:cNvPr>
          <p:cNvSpPr/>
          <p:nvPr/>
        </p:nvSpPr>
        <p:spPr>
          <a:xfrm>
            <a:off x="2032818" y="278115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1FE19035-7711-5251-1E7A-0C69CA7598DE}"/>
              </a:ext>
            </a:extLst>
          </p:cNvPr>
          <p:cNvSpPr/>
          <p:nvPr/>
        </p:nvSpPr>
        <p:spPr>
          <a:xfrm>
            <a:off x="3640761" y="2781158"/>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99AA035D-0032-5B82-6710-1D48366E5842}"/>
              </a:ext>
            </a:extLst>
          </p:cNvPr>
          <p:cNvSpPr/>
          <p:nvPr/>
        </p:nvSpPr>
        <p:spPr>
          <a:xfrm>
            <a:off x="5242537" y="2781158"/>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3E57B318-8D75-1CF8-ABCF-E82E676A479C}"/>
                  </a:ext>
                </a:extLst>
              </p:cNvPr>
              <p:cNvSpPr txBox="1"/>
              <p:nvPr/>
            </p:nvSpPr>
            <p:spPr>
              <a:xfrm>
                <a:off x="213518" y="3221106"/>
                <a:ext cx="1077539" cy="461665"/>
              </a:xfrm>
              <a:prstGeom prst="rect">
                <a:avLst/>
              </a:prstGeom>
              <a:noFill/>
            </p:spPr>
            <p:txBody>
              <a:bodyPr wrap="none" rtlCol="0">
                <a:spAutoFit/>
              </a:bodyPr>
              <a:lstStyle/>
              <a:p>
                <a:r>
                  <a:rPr lang="en-US" sz="1200"/>
                  <a:t>e)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4.05</a:t>
                </a:r>
                <a:endParaRPr lang="en-GB" sz="1200"/>
              </a:p>
              <a:p>
                <a:endParaRPr lang="en-GB" sz="1200"/>
              </a:p>
            </p:txBody>
          </p:sp>
        </mc:Choice>
        <mc:Fallback xmlns="">
          <p:sp>
            <p:nvSpPr>
              <p:cNvPr id="53" name="TextBox 52">
                <a:extLst>
                  <a:ext uri="{FF2B5EF4-FFF2-40B4-BE49-F238E27FC236}">
                    <a16:creationId xmlns:a16="http://schemas.microsoft.com/office/drawing/2014/main" id="{3E57B318-8D75-1CF8-ABCF-E82E676A479C}"/>
                  </a:ext>
                </a:extLst>
              </p:cNvPr>
              <p:cNvSpPr txBox="1">
                <a:spLocks noRot="1" noChangeAspect="1" noMove="1" noResize="1" noEditPoints="1" noAdjustHandles="1" noChangeArrowheads="1" noChangeShapeType="1" noTextEdit="1"/>
              </p:cNvSpPr>
              <p:nvPr/>
            </p:nvSpPr>
            <p:spPr>
              <a:xfrm>
                <a:off x="213518" y="3221106"/>
                <a:ext cx="1077539"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7613D04-BECD-CC98-B198-F893DD6720B3}"/>
                  </a:ext>
                </a:extLst>
              </p:cNvPr>
              <p:cNvSpPr txBox="1"/>
              <p:nvPr/>
            </p:nvSpPr>
            <p:spPr>
              <a:xfrm>
                <a:off x="1811803" y="3240372"/>
                <a:ext cx="1049326" cy="461665"/>
              </a:xfrm>
              <a:prstGeom prst="rect">
                <a:avLst/>
              </a:prstGeom>
              <a:noFill/>
            </p:spPr>
            <p:txBody>
              <a:bodyPr wrap="none" rtlCol="0">
                <a:spAutoFit/>
              </a:bodyPr>
              <a:lstStyle/>
              <a:p>
                <a:r>
                  <a:rPr lang="en-US" sz="1200"/>
                  <a:t>f) 19.5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5.19</a:t>
                </a:r>
                <a:endParaRPr lang="en-GB" sz="1200"/>
              </a:p>
              <a:p>
                <a:endParaRPr lang="en-GB" sz="1200"/>
              </a:p>
            </p:txBody>
          </p:sp>
        </mc:Choice>
        <mc:Fallback xmlns="">
          <p:sp>
            <p:nvSpPr>
              <p:cNvPr id="54" name="TextBox 53">
                <a:extLst>
                  <a:ext uri="{FF2B5EF4-FFF2-40B4-BE49-F238E27FC236}">
                    <a16:creationId xmlns:a16="http://schemas.microsoft.com/office/drawing/2014/main" id="{97613D04-BECD-CC98-B198-F893DD6720B3}"/>
                  </a:ext>
                </a:extLst>
              </p:cNvPr>
              <p:cNvSpPr txBox="1">
                <a:spLocks noRot="1" noChangeAspect="1" noMove="1" noResize="1" noEditPoints="1" noAdjustHandles="1" noChangeArrowheads="1" noChangeShapeType="1" noTextEdit="1"/>
              </p:cNvSpPr>
              <p:nvPr/>
            </p:nvSpPr>
            <p:spPr>
              <a:xfrm>
                <a:off x="1811803" y="3240372"/>
                <a:ext cx="1049326" cy="461665"/>
              </a:xfrm>
              <a:prstGeom prst="rect">
                <a:avLst/>
              </a:prstGeom>
              <a:blipFill>
                <a:blip r:embed="rId7"/>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61B6B90-8083-A2E5-6FCB-8CB9D68B712B}"/>
                  </a:ext>
                </a:extLst>
              </p:cNvPr>
              <p:cNvSpPr txBox="1"/>
              <p:nvPr/>
            </p:nvSpPr>
            <p:spPr>
              <a:xfrm>
                <a:off x="3416500" y="3264885"/>
                <a:ext cx="1072730" cy="461665"/>
              </a:xfrm>
              <a:prstGeom prst="rect">
                <a:avLst/>
              </a:prstGeom>
              <a:noFill/>
            </p:spPr>
            <p:txBody>
              <a:bodyPr wrap="none" rtlCol="0">
                <a:spAutoFit/>
              </a:bodyPr>
              <a:lstStyle/>
              <a:p>
                <a:r>
                  <a:rPr lang="en-US" sz="1200"/>
                  <a:t>g) 24.9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4.99</a:t>
                </a:r>
                <a:endParaRPr lang="en-GB" sz="1200"/>
              </a:p>
              <a:p>
                <a:endParaRPr lang="en-GB" sz="1200"/>
              </a:p>
            </p:txBody>
          </p:sp>
        </mc:Choice>
        <mc:Fallback xmlns="">
          <p:sp>
            <p:nvSpPr>
              <p:cNvPr id="55" name="TextBox 54">
                <a:extLst>
                  <a:ext uri="{FF2B5EF4-FFF2-40B4-BE49-F238E27FC236}">
                    <a16:creationId xmlns:a16="http://schemas.microsoft.com/office/drawing/2014/main" id="{961B6B90-8083-A2E5-6FCB-8CB9D68B712B}"/>
                  </a:ext>
                </a:extLst>
              </p:cNvPr>
              <p:cNvSpPr txBox="1">
                <a:spLocks noRot="1" noChangeAspect="1" noMove="1" noResize="1" noEditPoints="1" noAdjustHandles="1" noChangeArrowheads="1" noChangeShapeType="1" noTextEdit="1"/>
              </p:cNvSpPr>
              <p:nvPr/>
            </p:nvSpPr>
            <p:spPr>
              <a:xfrm>
                <a:off x="3416500" y="3264885"/>
                <a:ext cx="1072730" cy="461665"/>
              </a:xfrm>
              <a:prstGeom prst="rect">
                <a:avLst/>
              </a:prstGeom>
              <a:blipFill>
                <a:blip r:embed="rId8"/>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6CB73B5-62BE-B38B-56A9-AC89CABA76F6}"/>
                  </a:ext>
                </a:extLst>
              </p:cNvPr>
              <p:cNvSpPr txBox="1"/>
              <p:nvPr/>
            </p:nvSpPr>
            <p:spPr>
              <a:xfrm>
                <a:off x="5081691" y="3287483"/>
                <a:ext cx="1002197" cy="461665"/>
              </a:xfrm>
              <a:prstGeom prst="rect">
                <a:avLst/>
              </a:prstGeom>
              <a:noFill/>
            </p:spPr>
            <p:txBody>
              <a:bodyPr wrap="none" rtlCol="0">
                <a:spAutoFit/>
              </a:bodyPr>
              <a:lstStyle/>
              <a:p>
                <a:r>
                  <a:rPr lang="en-US" sz="1200"/>
                  <a:t>h) 34.9 </a:t>
                </a:r>
                <a14:m>
                  <m:oMath xmlns:m="http://schemas.openxmlformats.org/officeDocument/2006/math">
                    <m:r>
                      <a:rPr lang="en-US" sz="1200" i="1">
                        <a:latin typeface="Cambria Math" panose="02040503050406030204" pitchFamily="18" charset="0"/>
                        <a:ea typeface="Cambria Math" panose="02040503050406030204" pitchFamily="18" charset="0"/>
                      </a:rPr>
                      <m:t>÷</m:t>
                    </m:r>
                  </m:oMath>
                </a14:m>
                <a:r>
                  <a:rPr lang="en-US" sz="1200"/>
                  <a:t> 6.4</a:t>
                </a:r>
                <a:endParaRPr lang="en-GB" sz="1200"/>
              </a:p>
              <a:p>
                <a:endParaRPr lang="en-GB" sz="1200"/>
              </a:p>
            </p:txBody>
          </p:sp>
        </mc:Choice>
        <mc:Fallback xmlns="">
          <p:sp>
            <p:nvSpPr>
              <p:cNvPr id="56" name="TextBox 55">
                <a:extLst>
                  <a:ext uri="{FF2B5EF4-FFF2-40B4-BE49-F238E27FC236}">
                    <a16:creationId xmlns:a16="http://schemas.microsoft.com/office/drawing/2014/main" id="{E6CB73B5-62BE-B38B-56A9-AC89CABA76F6}"/>
                  </a:ext>
                </a:extLst>
              </p:cNvPr>
              <p:cNvSpPr txBox="1">
                <a:spLocks noRot="1" noChangeAspect="1" noMove="1" noResize="1" noEditPoints="1" noAdjustHandles="1" noChangeArrowheads="1" noChangeShapeType="1" noTextEdit="1"/>
              </p:cNvSpPr>
              <p:nvPr/>
            </p:nvSpPr>
            <p:spPr>
              <a:xfrm>
                <a:off x="5081691" y="3287483"/>
                <a:ext cx="1002197" cy="461665"/>
              </a:xfrm>
              <a:prstGeom prst="rect">
                <a:avLst/>
              </a:prstGeom>
              <a:blipFill>
                <a:blip r:embed="rId9"/>
                <a:stretch>
                  <a:fillRect l="-610"/>
                </a:stretch>
              </a:blipFill>
            </p:spPr>
            <p:txBody>
              <a:bodyPr/>
              <a:lstStyle/>
              <a:p>
                <a:r>
                  <a:rPr lang="en-US">
                    <a:noFill/>
                  </a:rPr>
                  <a:t> </a:t>
                </a:r>
              </a:p>
            </p:txBody>
          </p:sp>
        </mc:Fallback>
      </mc:AlternateContent>
      <p:sp>
        <p:nvSpPr>
          <p:cNvPr id="57" name="Rectangle 56">
            <a:extLst>
              <a:ext uri="{FF2B5EF4-FFF2-40B4-BE49-F238E27FC236}">
                <a16:creationId xmlns:a16="http://schemas.microsoft.com/office/drawing/2014/main" id="{167EF5CB-1DEB-596B-92E1-BF3445C7F35E}"/>
              </a:ext>
            </a:extLst>
          </p:cNvPr>
          <p:cNvSpPr/>
          <p:nvPr/>
        </p:nvSpPr>
        <p:spPr>
          <a:xfrm>
            <a:off x="268982" y="356105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9EB9B2BC-FC18-5358-74C4-54B40262061E}"/>
              </a:ext>
            </a:extLst>
          </p:cNvPr>
          <p:cNvSpPr/>
          <p:nvPr/>
        </p:nvSpPr>
        <p:spPr>
          <a:xfrm>
            <a:off x="403411" y="537629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9" name="Rectangle 58">
            <a:extLst>
              <a:ext uri="{FF2B5EF4-FFF2-40B4-BE49-F238E27FC236}">
                <a16:creationId xmlns:a16="http://schemas.microsoft.com/office/drawing/2014/main" id="{885C5626-AC59-83E5-7938-DFE47D2FA794}"/>
              </a:ext>
            </a:extLst>
          </p:cNvPr>
          <p:cNvSpPr/>
          <p:nvPr/>
        </p:nvSpPr>
        <p:spPr>
          <a:xfrm>
            <a:off x="1892927" y="356105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B132CFB2-11E8-E670-5AC8-77CD5B24D7E0}"/>
              </a:ext>
            </a:extLst>
          </p:cNvPr>
          <p:cNvSpPr/>
          <p:nvPr/>
        </p:nvSpPr>
        <p:spPr>
          <a:xfrm>
            <a:off x="3508246" y="356105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21F289F5-CCAA-4CF6-0A39-3A8A22DCE0F0}"/>
              </a:ext>
            </a:extLst>
          </p:cNvPr>
          <p:cNvSpPr/>
          <p:nvPr/>
        </p:nvSpPr>
        <p:spPr>
          <a:xfrm>
            <a:off x="5123565" y="3561050"/>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46877107-5270-4C79-A413-05CC7E6B397A}"/>
              </a:ext>
            </a:extLst>
          </p:cNvPr>
          <p:cNvSpPr/>
          <p:nvPr/>
        </p:nvSpPr>
        <p:spPr>
          <a:xfrm>
            <a:off x="2032818" y="537629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3" name="Rectangle 62">
            <a:extLst>
              <a:ext uri="{FF2B5EF4-FFF2-40B4-BE49-F238E27FC236}">
                <a16:creationId xmlns:a16="http://schemas.microsoft.com/office/drawing/2014/main" id="{050AC9FA-9556-863B-F922-C1E6547D22C1}"/>
              </a:ext>
            </a:extLst>
          </p:cNvPr>
          <p:cNvSpPr/>
          <p:nvPr/>
        </p:nvSpPr>
        <p:spPr>
          <a:xfrm>
            <a:off x="3640761" y="537629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4" name="Rectangle 63">
            <a:extLst>
              <a:ext uri="{FF2B5EF4-FFF2-40B4-BE49-F238E27FC236}">
                <a16:creationId xmlns:a16="http://schemas.microsoft.com/office/drawing/2014/main" id="{F62AE927-BB4A-C0FE-032A-EDE163C69748}"/>
              </a:ext>
            </a:extLst>
          </p:cNvPr>
          <p:cNvSpPr/>
          <p:nvPr/>
        </p:nvSpPr>
        <p:spPr>
          <a:xfrm>
            <a:off x="5242537" y="5376290"/>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6BAB4A27-8913-9FF8-B794-4BEB15B4C574}"/>
              </a:ext>
            </a:extLst>
          </p:cNvPr>
          <p:cNvSpPr/>
          <p:nvPr/>
        </p:nvSpPr>
        <p:spPr>
          <a:xfrm>
            <a:off x="142433" y="160976"/>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9D8BA58-2DBA-662E-0CA0-43E762BF332E}"/>
                  </a:ext>
                </a:extLst>
              </p:cNvPr>
              <p:cNvSpPr txBox="1"/>
              <p:nvPr/>
            </p:nvSpPr>
            <p:spPr>
              <a:xfrm>
                <a:off x="213518" y="5929587"/>
                <a:ext cx="1072730" cy="461665"/>
              </a:xfrm>
              <a:prstGeom prst="rect">
                <a:avLst/>
              </a:prstGeom>
              <a:noFill/>
            </p:spPr>
            <p:txBody>
              <a:bodyPr wrap="none" rtlCol="0">
                <a:spAutoFit/>
              </a:bodyPr>
              <a:lstStyle/>
              <a:p>
                <a:r>
                  <a:rPr lang="en-US" sz="1200">
                    <a:solidFill>
                      <a:schemeClr val="tx1"/>
                    </a:solidFill>
                  </a:rPr>
                  <a:t>g) 104.5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4.9</a:t>
                </a:r>
                <a:endParaRPr lang="en-GB" sz="1200">
                  <a:solidFill>
                    <a:schemeClr val="tx1"/>
                  </a:solidFill>
                </a:endParaRPr>
              </a:p>
              <a:p>
                <a:endParaRPr lang="en-GB" sz="1200">
                  <a:solidFill>
                    <a:schemeClr val="tx1"/>
                  </a:solidFill>
                </a:endParaRPr>
              </a:p>
            </p:txBody>
          </p:sp>
        </mc:Choice>
        <mc:Fallback xmlns="">
          <p:sp>
            <p:nvSpPr>
              <p:cNvPr id="77" name="TextBox 76">
                <a:extLst>
                  <a:ext uri="{FF2B5EF4-FFF2-40B4-BE49-F238E27FC236}">
                    <a16:creationId xmlns:a16="http://schemas.microsoft.com/office/drawing/2014/main" id="{39D8BA58-2DBA-662E-0CA0-43E762BF332E}"/>
                  </a:ext>
                </a:extLst>
              </p:cNvPr>
              <p:cNvSpPr txBox="1">
                <a:spLocks noRot="1" noChangeAspect="1" noMove="1" noResize="1" noEditPoints="1" noAdjustHandles="1" noChangeArrowheads="1" noChangeShapeType="1" noTextEdit="1"/>
              </p:cNvSpPr>
              <p:nvPr/>
            </p:nvSpPr>
            <p:spPr>
              <a:xfrm>
                <a:off x="213518" y="5929587"/>
                <a:ext cx="1072730" cy="461665"/>
              </a:xfrm>
              <a:prstGeom prst="rect">
                <a:avLst/>
              </a:prstGeom>
              <a:blipFill>
                <a:blip r:embed="rId10"/>
                <a:stretch>
                  <a:fillRect t="-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DE8BE1D7-6D42-E66A-9353-3D8F09FCA3F9}"/>
                  </a:ext>
                </a:extLst>
              </p:cNvPr>
              <p:cNvSpPr txBox="1"/>
              <p:nvPr/>
            </p:nvSpPr>
            <p:spPr>
              <a:xfrm>
                <a:off x="1811803" y="5948853"/>
                <a:ext cx="1157689" cy="461665"/>
              </a:xfrm>
              <a:prstGeom prst="rect">
                <a:avLst/>
              </a:prstGeom>
              <a:noFill/>
            </p:spPr>
            <p:txBody>
              <a:bodyPr wrap="none" rtlCol="0">
                <a:spAutoFit/>
              </a:bodyPr>
              <a:lstStyle/>
              <a:p>
                <a:r>
                  <a:rPr lang="en-US" sz="1200">
                    <a:solidFill>
                      <a:schemeClr val="tx1"/>
                    </a:solidFill>
                  </a:rPr>
                  <a:t>h) 212.6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r>
                      <a:rPr lang="en-GB" sz="1200" b="0" i="0" smtClean="0">
                        <a:solidFill>
                          <a:schemeClr val="tx1"/>
                        </a:solidFill>
                        <a:latin typeface="Cambria Math" panose="02040503050406030204" pitchFamily="18" charset="0"/>
                        <a:ea typeface="Cambria Math" panose="02040503050406030204" pitchFamily="18" charset="0"/>
                      </a:rPr>
                      <m:t> </m:t>
                    </m:r>
                  </m:oMath>
                </a14:m>
                <a:r>
                  <a:rPr lang="en-GB" sz="1200">
                    <a:solidFill>
                      <a:schemeClr val="tx1"/>
                    </a:solidFill>
                  </a:rPr>
                  <a:t>17.8</a:t>
                </a:r>
              </a:p>
              <a:p>
                <a:endParaRPr lang="en-GB" sz="1200">
                  <a:solidFill>
                    <a:schemeClr val="tx1"/>
                  </a:solidFill>
                </a:endParaRPr>
              </a:p>
            </p:txBody>
          </p:sp>
        </mc:Choice>
        <mc:Fallback xmlns="">
          <p:sp>
            <p:nvSpPr>
              <p:cNvPr id="78" name="TextBox 77">
                <a:extLst>
                  <a:ext uri="{FF2B5EF4-FFF2-40B4-BE49-F238E27FC236}">
                    <a16:creationId xmlns:a16="http://schemas.microsoft.com/office/drawing/2014/main" id="{DE8BE1D7-6D42-E66A-9353-3D8F09FCA3F9}"/>
                  </a:ext>
                </a:extLst>
              </p:cNvPr>
              <p:cNvSpPr txBox="1">
                <a:spLocks noRot="1" noChangeAspect="1" noMove="1" noResize="1" noEditPoints="1" noAdjustHandles="1" noChangeArrowheads="1" noChangeShapeType="1" noTextEdit="1"/>
              </p:cNvSpPr>
              <p:nvPr/>
            </p:nvSpPr>
            <p:spPr>
              <a:xfrm>
                <a:off x="1811803" y="5948853"/>
                <a:ext cx="1157689" cy="461665"/>
              </a:xfrm>
              <a:prstGeom prst="rect">
                <a:avLst/>
              </a:prstGeom>
              <a:blipFill>
                <a:blip r:embed="rId11"/>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1170A0B-73EC-DA18-1CB7-B4A81E08D1D3}"/>
                  </a:ext>
                </a:extLst>
              </p:cNvPr>
              <p:cNvSpPr txBox="1"/>
              <p:nvPr/>
            </p:nvSpPr>
            <p:spPr>
              <a:xfrm>
                <a:off x="3416500" y="5973366"/>
                <a:ext cx="1114408" cy="461665"/>
              </a:xfrm>
              <a:prstGeom prst="rect">
                <a:avLst/>
              </a:prstGeom>
              <a:noFill/>
            </p:spPr>
            <p:txBody>
              <a:bodyPr wrap="none" rtlCol="0">
                <a:spAutoFit/>
              </a:bodyPr>
              <a:lstStyle/>
              <a:p>
                <a:r>
                  <a:rPr lang="en-US" sz="1200">
                    <a:solidFill>
                      <a:schemeClr val="tx1"/>
                    </a:solidFill>
                  </a:rPr>
                  <a:t>i) 147.2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9.76</a:t>
                </a:r>
                <a:endParaRPr lang="en-GB" sz="1200">
                  <a:solidFill>
                    <a:schemeClr val="tx1"/>
                  </a:solidFill>
                </a:endParaRPr>
              </a:p>
              <a:p>
                <a:endParaRPr lang="en-GB" sz="1200">
                  <a:solidFill>
                    <a:schemeClr val="tx1"/>
                  </a:solidFill>
                </a:endParaRPr>
              </a:p>
            </p:txBody>
          </p:sp>
        </mc:Choice>
        <mc:Fallback xmlns="">
          <p:sp>
            <p:nvSpPr>
              <p:cNvPr id="79" name="TextBox 78">
                <a:extLst>
                  <a:ext uri="{FF2B5EF4-FFF2-40B4-BE49-F238E27FC236}">
                    <a16:creationId xmlns:a16="http://schemas.microsoft.com/office/drawing/2014/main" id="{B1170A0B-73EC-DA18-1CB7-B4A81E08D1D3}"/>
                  </a:ext>
                </a:extLst>
              </p:cNvPr>
              <p:cNvSpPr txBox="1">
                <a:spLocks noRot="1" noChangeAspect="1" noMove="1" noResize="1" noEditPoints="1" noAdjustHandles="1" noChangeArrowheads="1" noChangeShapeType="1" noTextEdit="1"/>
              </p:cNvSpPr>
              <p:nvPr/>
            </p:nvSpPr>
            <p:spPr>
              <a:xfrm>
                <a:off x="3416500" y="5973366"/>
                <a:ext cx="1114408" cy="461665"/>
              </a:xfrm>
              <a:prstGeom prst="rect">
                <a:avLst/>
              </a:prstGeom>
              <a:blipFill>
                <a:blip r:embed="rId12"/>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7608C6CE-CEFB-E97A-3B78-5EDAD30C36A0}"/>
                  </a:ext>
                </a:extLst>
              </p:cNvPr>
              <p:cNvSpPr txBox="1"/>
              <p:nvPr/>
            </p:nvSpPr>
            <p:spPr>
              <a:xfrm>
                <a:off x="5081691" y="5995964"/>
                <a:ext cx="1116011" cy="461665"/>
              </a:xfrm>
              <a:prstGeom prst="rect">
                <a:avLst/>
              </a:prstGeom>
              <a:noFill/>
            </p:spPr>
            <p:txBody>
              <a:bodyPr wrap="none" rtlCol="0">
                <a:spAutoFit/>
              </a:bodyPr>
              <a:lstStyle/>
              <a:p>
                <a:r>
                  <a:rPr lang="en-US" sz="1200">
                    <a:solidFill>
                      <a:schemeClr val="tx1"/>
                    </a:solidFill>
                  </a:rPr>
                  <a:t>j) 134.9 </a:t>
                </a:r>
                <a14:m>
                  <m:oMath xmlns:m="http://schemas.openxmlformats.org/officeDocument/2006/math">
                    <m:r>
                      <a:rPr lang="en-US" sz="1200" i="1">
                        <a:solidFill>
                          <a:schemeClr val="tx1"/>
                        </a:solidFill>
                        <a:latin typeface="Cambria Math" panose="02040503050406030204" pitchFamily="18" charset="0"/>
                        <a:ea typeface="Cambria Math" panose="02040503050406030204" pitchFamily="18" charset="0"/>
                      </a:rPr>
                      <m:t>÷</m:t>
                    </m:r>
                  </m:oMath>
                </a14:m>
                <a:r>
                  <a:rPr lang="en-US" sz="1200">
                    <a:solidFill>
                      <a:schemeClr val="tx1"/>
                    </a:solidFill>
                  </a:rPr>
                  <a:t> 45.9</a:t>
                </a:r>
                <a:endParaRPr lang="en-GB" sz="1200">
                  <a:solidFill>
                    <a:schemeClr val="tx1"/>
                  </a:solidFill>
                </a:endParaRPr>
              </a:p>
              <a:p>
                <a:endParaRPr lang="en-GB" sz="1200">
                  <a:solidFill>
                    <a:schemeClr val="tx1"/>
                  </a:solidFill>
                </a:endParaRPr>
              </a:p>
            </p:txBody>
          </p:sp>
        </mc:Choice>
        <mc:Fallback xmlns="">
          <p:sp>
            <p:nvSpPr>
              <p:cNvPr id="80" name="TextBox 79">
                <a:extLst>
                  <a:ext uri="{FF2B5EF4-FFF2-40B4-BE49-F238E27FC236}">
                    <a16:creationId xmlns:a16="http://schemas.microsoft.com/office/drawing/2014/main" id="{7608C6CE-CEFB-E97A-3B78-5EDAD30C36A0}"/>
                  </a:ext>
                </a:extLst>
              </p:cNvPr>
              <p:cNvSpPr txBox="1">
                <a:spLocks noRot="1" noChangeAspect="1" noMove="1" noResize="1" noEditPoints="1" noAdjustHandles="1" noChangeArrowheads="1" noChangeShapeType="1" noTextEdit="1"/>
              </p:cNvSpPr>
              <p:nvPr/>
            </p:nvSpPr>
            <p:spPr>
              <a:xfrm>
                <a:off x="5081691" y="5995964"/>
                <a:ext cx="1116011" cy="461665"/>
              </a:xfrm>
              <a:prstGeom prst="rect">
                <a:avLst/>
              </a:prstGeom>
              <a:blipFill>
                <a:blip r:embed="rId13"/>
                <a:stretch>
                  <a:fillRect l="-546" t="-1333"/>
                </a:stretch>
              </a:blipFill>
            </p:spPr>
            <p:txBody>
              <a:bodyPr/>
              <a:lstStyle/>
              <a:p>
                <a:r>
                  <a:rPr lang="en-US">
                    <a:noFill/>
                  </a:rPr>
                  <a:t> </a:t>
                </a:r>
              </a:p>
            </p:txBody>
          </p:sp>
        </mc:Fallback>
      </mc:AlternateContent>
      <p:sp>
        <p:nvSpPr>
          <p:cNvPr id="81" name="Rectangle 80">
            <a:extLst>
              <a:ext uri="{FF2B5EF4-FFF2-40B4-BE49-F238E27FC236}">
                <a16:creationId xmlns:a16="http://schemas.microsoft.com/office/drawing/2014/main" id="{9258E64F-DFDA-923E-7F9E-3C874D347087}"/>
              </a:ext>
            </a:extLst>
          </p:cNvPr>
          <p:cNvSpPr/>
          <p:nvPr/>
        </p:nvSpPr>
        <p:spPr>
          <a:xfrm>
            <a:off x="268982" y="6269533"/>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a:extLst>
              <a:ext uri="{FF2B5EF4-FFF2-40B4-BE49-F238E27FC236}">
                <a16:creationId xmlns:a16="http://schemas.microsoft.com/office/drawing/2014/main" id="{1BF5D5BC-3F13-58C4-A900-D48AB1A8C93A}"/>
              </a:ext>
            </a:extLst>
          </p:cNvPr>
          <p:cNvSpPr/>
          <p:nvPr/>
        </p:nvSpPr>
        <p:spPr>
          <a:xfrm>
            <a:off x="403411" y="808477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3" name="Rectangle 82">
            <a:extLst>
              <a:ext uri="{FF2B5EF4-FFF2-40B4-BE49-F238E27FC236}">
                <a16:creationId xmlns:a16="http://schemas.microsoft.com/office/drawing/2014/main" id="{C7D35077-F472-86CD-90F1-F4474065AEC0}"/>
              </a:ext>
            </a:extLst>
          </p:cNvPr>
          <p:cNvSpPr/>
          <p:nvPr/>
        </p:nvSpPr>
        <p:spPr>
          <a:xfrm>
            <a:off x="1892927" y="6269532"/>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AF7EDEC4-458F-3A96-4471-AEA7013BA9E3}"/>
              </a:ext>
            </a:extLst>
          </p:cNvPr>
          <p:cNvSpPr/>
          <p:nvPr/>
        </p:nvSpPr>
        <p:spPr>
          <a:xfrm>
            <a:off x="3508246" y="626953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a:extLst>
              <a:ext uri="{FF2B5EF4-FFF2-40B4-BE49-F238E27FC236}">
                <a16:creationId xmlns:a16="http://schemas.microsoft.com/office/drawing/2014/main" id="{2B6F08A6-BD28-B9F2-8453-25412D283DE4}"/>
              </a:ext>
            </a:extLst>
          </p:cNvPr>
          <p:cNvSpPr/>
          <p:nvPr/>
        </p:nvSpPr>
        <p:spPr>
          <a:xfrm>
            <a:off x="5123565" y="6269531"/>
            <a:ext cx="1532685" cy="22551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a:extLst>
              <a:ext uri="{FF2B5EF4-FFF2-40B4-BE49-F238E27FC236}">
                <a16:creationId xmlns:a16="http://schemas.microsoft.com/office/drawing/2014/main" id="{34649833-EFDB-3683-E04D-DEFEFF4A9843}"/>
              </a:ext>
            </a:extLst>
          </p:cNvPr>
          <p:cNvSpPr/>
          <p:nvPr/>
        </p:nvSpPr>
        <p:spPr>
          <a:xfrm>
            <a:off x="2032818" y="808477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7" name="Rectangle 86">
            <a:extLst>
              <a:ext uri="{FF2B5EF4-FFF2-40B4-BE49-F238E27FC236}">
                <a16:creationId xmlns:a16="http://schemas.microsoft.com/office/drawing/2014/main" id="{2B1CFF50-B0D3-4FA3-D2BE-1D673E6FA2F7}"/>
              </a:ext>
            </a:extLst>
          </p:cNvPr>
          <p:cNvSpPr/>
          <p:nvPr/>
        </p:nvSpPr>
        <p:spPr>
          <a:xfrm>
            <a:off x="3640761" y="808477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8" name="Rectangle 87">
            <a:extLst>
              <a:ext uri="{FF2B5EF4-FFF2-40B4-BE49-F238E27FC236}">
                <a16:creationId xmlns:a16="http://schemas.microsoft.com/office/drawing/2014/main" id="{BE48FC32-02FB-8F59-2B18-76CBD263B160}"/>
              </a:ext>
            </a:extLst>
          </p:cNvPr>
          <p:cNvSpPr/>
          <p:nvPr/>
        </p:nvSpPr>
        <p:spPr>
          <a:xfrm>
            <a:off x="5242537" y="808477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Tree>
    <p:extLst>
      <p:ext uri="{BB962C8B-B14F-4D97-AF65-F5344CB8AC3E}">
        <p14:creationId xmlns:p14="http://schemas.microsoft.com/office/powerpoint/2010/main" val="1476577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B4A988A4-03CD-D549-9F12-81AFECBDEF37}"/>
              </a:ext>
            </a:extLst>
          </p:cNvPr>
          <p:cNvCxnSpPr>
            <a:cxnSpLocks/>
          </p:cNvCxnSpPr>
          <p:nvPr/>
        </p:nvCxnSpPr>
        <p:spPr>
          <a:xfrm>
            <a:off x="955419" y="1744597"/>
            <a:ext cx="0"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30" name="Table 29"/>
              <p:cNvGraphicFramePr>
                <a:graphicFrameLocks noGrp="1"/>
              </p:cNvGraphicFramePr>
              <p:nvPr/>
            </p:nvGraphicFramePr>
            <p:xfrm>
              <a:off x="157160" y="300225"/>
              <a:ext cx="6543680" cy="3077706"/>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24055">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18047">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5.4 </m:t>
                                  </m:r>
                                  <m:r>
                                    <a:rPr lang="en-US" sz="1600" b="0" i="1" baseline="0" smtClean="0">
                                      <a:solidFill>
                                        <a:schemeClr val="tx1"/>
                                      </a:solidFill>
                                      <a:latin typeface="Cambria Math" panose="02040503050406030204" pitchFamily="18" charset="0"/>
                                      <a:ea typeface="Cambria Math" panose="02040503050406030204" pitchFamily="18" charset="0"/>
                                    </a:rPr>
                                    <m:t>× 7.9</m:t>
                                  </m:r>
                                </m:num>
                                <m:den>
                                  <m:r>
                                    <a:rPr lang="en-US" sz="1600" b="0" i="1" baseline="0" smtClean="0">
                                      <a:solidFill>
                                        <a:schemeClr val="tx1"/>
                                      </a:solidFill>
                                      <a:latin typeface="Cambria Math" panose="02040503050406030204" pitchFamily="18" charset="0"/>
                                    </a:rPr>
                                    <m:t>2.1 </m:t>
                                  </m:r>
                                  <m:r>
                                    <a:rPr lang="en-US" sz="1600" b="0" i="1" baseline="0" smtClean="0">
                                      <a:solidFill>
                                        <a:schemeClr val="tx1"/>
                                      </a:solidFill>
                                      <a:latin typeface="Cambria Math" panose="02040503050406030204" pitchFamily="18" charset="0"/>
                                      <a:ea typeface="Cambria Math" panose="02040503050406030204" pitchFamily="18" charset="0"/>
                                    </a:rPr>
                                    <m:t>× 1.9</m:t>
                                  </m:r>
                                </m:den>
                              </m:f>
                            </m:oMath>
                          </a14:m>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baseline="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5.41 </m:t>
                                  </m:r>
                                  <m:r>
                                    <a:rPr lang="en-US" sz="1600" b="0" i="1" baseline="0" smtClean="0">
                                      <a:solidFill>
                                        <a:schemeClr val="tx1"/>
                                      </a:solidFill>
                                      <a:latin typeface="Cambria Math" panose="02040503050406030204" pitchFamily="18" charset="0"/>
                                      <a:ea typeface="Cambria Math" panose="02040503050406030204" pitchFamily="18" charset="0"/>
                                    </a:rPr>
                                    <m:t>× 9.9</m:t>
                                  </m:r>
                                </m:num>
                                <m:den>
                                  <m:r>
                                    <a:rPr lang="en-US" sz="1600" b="0" i="1" baseline="0" smtClean="0">
                                      <a:solidFill>
                                        <a:schemeClr val="tx1"/>
                                      </a:solidFill>
                                      <a:latin typeface="Cambria Math" panose="02040503050406030204" pitchFamily="18" charset="0"/>
                                      <a:ea typeface="Cambria Math" panose="02040503050406030204" pitchFamily="18" charset="0"/>
                                    </a:rPr>
                                    <m:t>1</m:t>
                                  </m:r>
                                  <m:r>
                                    <a:rPr lang="en-US" sz="1600" b="0" i="1" baseline="0" smtClean="0">
                                      <a:solidFill>
                                        <a:schemeClr val="tx1"/>
                                      </a:solidFill>
                                      <a:latin typeface="Cambria Math" panose="02040503050406030204" pitchFamily="18" charset="0"/>
                                    </a:rPr>
                                    <m:t>.1 </m:t>
                                  </m:r>
                                  <m:r>
                                    <a:rPr lang="en-US" sz="1600" b="0" i="1" baseline="0" smtClean="0">
                                      <a:solidFill>
                                        <a:schemeClr val="tx1"/>
                                      </a:solidFill>
                                      <a:latin typeface="Cambria Math" panose="02040503050406030204" pitchFamily="18" charset="0"/>
                                      <a:ea typeface="Cambria Math" panose="02040503050406030204" pitchFamily="18" charset="0"/>
                                    </a:rPr>
                                    <m:t>× 4.9</m:t>
                                  </m:r>
                                </m:den>
                              </m:f>
                            </m:oMath>
                          </a14:m>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f>
                                <m:fPr>
                                  <m:ctrlPr>
                                    <a:rPr lang="en-US" sz="1600" b="0" i="1" baseline="0" smtClean="0">
                                      <a:solidFill>
                                        <a:schemeClr val="tx1"/>
                                      </a:solidFill>
                                      <a:latin typeface="Cambria Math" panose="02040503050406030204" pitchFamily="18" charset="0"/>
                                    </a:rPr>
                                  </m:ctrlPr>
                                </m:fPr>
                                <m:num>
                                  <m:r>
                                    <a:rPr lang="en-US" sz="1600" b="0" i="1" baseline="0" smtClean="0">
                                      <a:solidFill>
                                        <a:schemeClr val="tx1"/>
                                      </a:solidFill>
                                      <a:latin typeface="Cambria Math" panose="02040503050406030204" pitchFamily="18" charset="0"/>
                                    </a:rPr>
                                    <m:t>4.51</m:t>
                                  </m:r>
                                  <m:r>
                                    <a:rPr lang="en-US" sz="1600" b="0" i="1" baseline="0" smtClean="0">
                                      <a:solidFill>
                                        <a:schemeClr val="tx1"/>
                                      </a:solidFill>
                                      <a:latin typeface="Cambria Math" panose="02040503050406030204" pitchFamily="18" charset="0"/>
                                      <a:ea typeface="Cambria Math" panose="02040503050406030204" pitchFamily="18" charset="0"/>
                                    </a:rPr>
                                    <m:t>×7.9</m:t>
                                  </m:r>
                                </m:num>
                                <m:den>
                                  <m:r>
                                    <a:rPr lang="en-US" sz="1600" b="0" i="1" baseline="0" smtClean="0">
                                      <a:solidFill>
                                        <a:schemeClr val="tx1"/>
                                      </a:solidFill>
                                      <a:latin typeface="Cambria Math" panose="02040503050406030204" pitchFamily="18" charset="0"/>
                                      <a:ea typeface="Cambria Math" panose="02040503050406030204" pitchFamily="18" charset="0"/>
                                    </a:rPr>
                                    <m:t>1</m:t>
                                  </m:r>
                                  <m:r>
                                    <a:rPr lang="en-US" sz="1600" b="0" i="1" baseline="0" smtClean="0">
                                      <a:solidFill>
                                        <a:schemeClr val="tx1"/>
                                      </a:solidFill>
                                      <a:latin typeface="Cambria Math" panose="02040503050406030204" pitchFamily="18" charset="0"/>
                                    </a:rPr>
                                    <m:t>.9</m:t>
                                  </m:r>
                                  <m:r>
                                    <a:rPr lang="en-US" sz="1600" b="0" i="1" baseline="0" smtClean="0">
                                      <a:solidFill>
                                        <a:schemeClr val="tx1"/>
                                      </a:solidFill>
                                      <a:latin typeface="Cambria Math" panose="02040503050406030204" pitchFamily="18" charset="0"/>
                                      <a:ea typeface="Cambria Math" panose="02040503050406030204" pitchFamily="18" charset="0"/>
                                    </a:rPr>
                                    <m:t>×1.9</m:t>
                                  </m:r>
                                </m:den>
                              </m:f>
                            </m:oMath>
                          </a14:m>
                          <a:endParaRPr lang="en-US" sz="16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p>
                          <a:pPr marL="0" indent="0" algn="ctr">
                            <a:buNone/>
                          </a:pP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77317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27403">
                    <a:tc>
                      <a:txBody>
                        <a:bodyPr/>
                        <a:lstStyle/>
                        <a:p>
                          <a:pPr marL="0" indent="0">
                            <a:buNone/>
                          </a:pPr>
                          <a:r>
                            <a:rPr lang="en-US" sz="1100"/>
                            <a:t>3)</a:t>
                          </a:r>
                          <a:r>
                            <a:rPr lang="en-US" sz="1100" baseline="0"/>
                            <a:t> Use the approximate symbol </a:t>
                          </a:r>
                          <a14:m>
                            <m:oMath xmlns:m="http://schemas.openxmlformats.org/officeDocument/2006/math">
                              <m:r>
                                <a:rPr lang="en-US" sz="1100" i="1" baseline="0" smtClean="0">
                                  <a:latin typeface="Cambria Math" panose="02040503050406030204" pitchFamily="18" charset="0"/>
                                  <a:ea typeface="Cambria Math" panose="02040503050406030204" pitchFamily="18" charset="0"/>
                                </a:rPr>
                                <m:t>≈</m:t>
                              </m:r>
                            </m:oMath>
                          </a14:m>
                          <a:r>
                            <a:rPr lang="en-US" sz="1100"/>
                            <a:t> to show your solution</a:t>
                          </a:r>
                          <a:r>
                            <a:rPr lang="en-US" sz="1100" baseline="0"/>
                            <a:t> is an estimate. </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Choice>
        <mc:Fallback xmlns="">
          <p:graphicFrame>
            <p:nvGraphicFramePr>
              <p:cNvPr id="30" name="Table 29"/>
              <p:cNvGraphicFramePr>
                <a:graphicFrameLocks noGrp="1"/>
              </p:cNvGraphicFramePr>
              <p:nvPr>
                <p:extLst>
                  <p:ext uri="{D42A27DB-BD31-4B8C-83A1-F6EECF244321}">
                    <p14:modId xmlns:p14="http://schemas.microsoft.com/office/powerpoint/2010/main" val="2360973718"/>
                  </p:ext>
                </p:extLst>
              </p:nvPr>
            </p:nvGraphicFramePr>
            <p:xfrm>
              <a:off x="157160" y="300225"/>
              <a:ext cx="6543680" cy="3077706"/>
            </p:xfrm>
            <a:graphic>
              <a:graphicData uri="http://schemas.openxmlformats.org/drawingml/2006/table">
                <a:tbl>
                  <a:tblPr firstRow="1" bandRow="1">
                    <a:tableStyleId>{5C22544A-7EE6-4342-B048-85BDC9FD1C3A}</a:tableStyleId>
                  </a:tblPr>
                  <a:tblGrid>
                    <a:gridCol w="959310">
                      <a:extLst>
                        <a:ext uri="{9D8B030D-6E8A-4147-A177-3AD203B41FA5}">
                          <a16:colId xmlns:a16="http://schemas.microsoft.com/office/drawing/2014/main" val="1568142362"/>
                        </a:ext>
                      </a:extLst>
                    </a:gridCol>
                    <a:gridCol w="1750828">
                      <a:extLst>
                        <a:ext uri="{9D8B030D-6E8A-4147-A177-3AD203B41FA5}">
                          <a16:colId xmlns:a16="http://schemas.microsoft.com/office/drawing/2014/main" val="609968388"/>
                        </a:ext>
                      </a:extLst>
                    </a:gridCol>
                    <a:gridCol w="1970567">
                      <a:extLst>
                        <a:ext uri="{9D8B030D-6E8A-4147-A177-3AD203B41FA5}">
                          <a16:colId xmlns:a16="http://schemas.microsoft.com/office/drawing/2014/main" val="3207776717"/>
                        </a:ext>
                      </a:extLst>
                    </a:gridCol>
                    <a:gridCol w="1862975">
                      <a:extLst>
                        <a:ext uri="{9D8B030D-6E8A-4147-A177-3AD203B41FA5}">
                          <a16:colId xmlns:a16="http://schemas.microsoft.com/office/drawing/2014/main" val="1889420402"/>
                        </a:ext>
                      </a:extLst>
                    </a:gridCol>
                  </a:tblGrid>
                  <a:tr h="259080">
                    <a:tc>
                      <a:txBody>
                        <a:bodyPr/>
                        <a:lstStyle/>
                        <a:p>
                          <a:r>
                            <a:rPr lang="en-US" sz="1100" b="1">
                              <a:solidFill>
                                <a:schemeClr val="tx1"/>
                              </a:solidFill>
                            </a:rPr>
                            <a:t>Steps</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1100" b="1">
                              <a:solidFill>
                                <a:schemeClr val="tx1"/>
                              </a:solidFill>
                            </a:rPr>
                            <a:t>Estimation</a:t>
                          </a: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11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618047">
                    <a:tc>
                      <a:txBody>
                        <a:bodyPr/>
                        <a:lstStyle/>
                        <a:p>
                          <a:pPr marL="0" indent="0">
                            <a:buNone/>
                          </a:pPr>
                          <a:r>
                            <a:rPr lang="en-US" sz="1100"/>
                            <a:t>1) Round the</a:t>
                          </a:r>
                          <a:r>
                            <a:rPr lang="en-US" sz="1100" baseline="0"/>
                            <a:t> numbers</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5401" t="-9503" r="-220209" b="-43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54" t="-9503" r="-95062" b="-432"/>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1634" t="-9503" r="-654" b="-432"/>
                          </a:stretch>
                        </a:blipFill>
                      </a:tcPr>
                    </a:tc>
                    <a:extLst>
                      <a:ext uri="{0D108BD9-81ED-4DB2-BD59-A6C34878D82A}">
                        <a16:rowId xmlns:a16="http://schemas.microsoft.com/office/drawing/2014/main" val="3293625240"/>
                      </a:ext>
                    </a:extLst>
                  </a:tr>
                  <a:tr h="773176">
                    <a:tc>
                      <a:txBody>
                        <a:bodyPr/>
                        <a:lstStyle/>
                        <a:p>
                          <a:pPr marL="0" indent="0">
                            <a:buNone/>
                          </a:pPr>
                          <a:r>
                            <a:rPr lang="en-US" sz="1100"/>
                            <a:t>2) Perform the</a:t>
                          </a:r>
                          <a:r>
                            <a:rPr lang="en-US" sz="1100" baseline="0"/>
                            <a:t> calculation</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0818243"/>
                      </a:ext>
                    </a:extLst>
                  </a:tr>
                  <a:tr h="142740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33" t="-115745" r="-581646" b="-851"/>
                          </a:stretch>
                        </a:blip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indent="0">
                            <a:buNone/>
                          </a:pPr>
                          <a:endParaRPr lang="en-US" sz="11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5454101"/>
                      </a:ext>
                    </a:extLst>
                  </a:tr>
                </a:tbl>
              </a:graphicData>
            </a:graphic>
          </p:graphicFrame>
        </mc:Fallback>
      </mc:AlternateContent>
      <p:sp>
        <p:nvSpPr>
          <p:cNvPr id="31" name="TextBox 30">
            <a:extLst>
              <a:ext uri="{FF2B5EF4-FFF2-40B4-BE49-F238E27FC236}">
                <a16:creationId xmlns:a16="http://schemas.microsoft.com/office/drawing/2014/main" id="{BCDC1A2B-2D26-C945-B722-18950FA49879}"/>
              </a:ext>
            </a:extLst>
          </p:cNvPr>
          <p:cNvSpPr txBox="1"/>
          <p:nvPr/>
        </p:nvSpPr>
        <p:spPr>
          <a:xfrm>
            <a:off x="1358334" y="2254"/>
            <a:ext cx="1410704" cy="276999"/>
          </a:xfrm>
          <a:prstGeom prst="rect">
            <a:avLst/>
          </a:prstGeom>
          <a:noFill/>
          <a:ln>
            <a:noFill/>
          </a:ln>
        </p:spPr>
        <p:txBody>
          <a:bodyPr wrap="square" rtlCol="0">
            <a:spAutoFit/>
          </a:bodyPr>
          <a:lstStyle/>
          <a:p>
            <a:r>
              <a:rPr lang="en-GB" sz="1200" b="1" i="1">
                <a:solidFill>
                  <a:srgbClr val="FF0000"/>
                </a:solidFill>
              </a:rPr>
              <a:t>Example 10 - I do…</a:t>
            </a:r>
          </a:p>
        </p:txBody>
      </p:sp>
      <p:sp>
        <p:nvSpPr>
          <p:cNvPr id="32" name="TextBox 31">
            <a:extLst>
              <a:ext uri="{FF2B5EF4-FFF2-40B4-BE49-F238E27FC236}">
                <a16:creationId xmlns:a16="http://schemas.microsoft.com/office/drawing/2014/main" id="{4AF4150A-9218-D640-8777-2ECCBC4D10FB}"/>
              </a:ext>
            </a:extLst>
          </p:cNvPr>
          <p:cNvSpPr txBox="1"/>
          <p:nvPr/>
        </p:nvSpPr>
        <p:spPr>
          <a:xfrm>
            <a:off x="5006049" y="0"/>
            <a:ext cx="1643405" cy="276999"/>
          </a:xfrm>
          <a:prstGeom prst="rect">
            <a:avLst/>
          </a:prstGeom>
          <a:noFill/>
          <a:ln>
            <a:noFill/>
          </a:ln>
        </p:spPr>
        <p:txBody>
          <a:bodyPr wrap="square" rtlCol="0">
            <a:spAutoFit/>
          </a:bodyPr>
          <a:lstStyle/>
          <a:p>
            <a:r>
              <a:rPr lang="en-GB" sz="1200" b="1" i="1">
                <a:solidFill>
                  <a:srgbClr val="00B050"/>
                </a:solidFill>
              </a:rPr>
              <a:t>Example 12 – You do…</a:t>
            </a:r>
          </a:p>
        </p:txBody>
      </p:sp>
      <p:sp>
        <p:nvSpPr>
          <p:cNvPr id="33" name="TextBox 32">
            <a:extLst>
              <a:ext uri="{FF2B5EF4-FFF2-40B4-BE49-F238E27FC236}">
                <a16:creationId xmlns:a16="http://schemas.microsoft.com/office/drawing/2014/main" id="{BCDC1A2B-2D26-C945-B722-18950FA49879}"/>
              </a:ext>
            </a:extLst>
          </p:cNvPr>
          <p:cNvSpPr txBox="1"/>
          <p:nvPr/>
        </p:nvSpPr>
        <p:spPr>
          <a:xfrm>
            <a:off x="3086362" y="14787"/>
            <a:ext cx="1667605" cy="276999"/>
          </a:xfrm>
          <a:prstGeom prst="rect">
            <a:avLst/>
          </a:prstGeom>
          <a:noFill/>
          <a:ln>
            <a:noFill/>
          </a:ln>
        </p:spPr>
        <p:txBody>
          <a:bodyPr wrap="square" rtlCol="0">
            <a:spAutoFit/>
          </a:bodyPr>
          <a:lstStyle/>
          <a:p>
            <a:r>
              <a:rPr lang="en-GB" sz="1200" b="1" i="1">
                <a:solidFill>
                  <a:schemeClr val="accent2"/>
                </a:solidFill>
              </a:rPr>
              <a:t>Example 11 - We do…</a:t>
            </a:r>
          </a:p>
        </p:txBody>
      </p:sp>
      <p:sp>
        <p:nvSpPr>
          <p:cNvPr id="34" name="Rectangle 33">
            <a:extLst>
              <a:ext uri="{FF2B5EF4-FFF2-40B4-BE49-F238E27FC236}">
                <a16:creationId xmlns:a16="http://schemas.microsoft.com/office/drawing/2014/main" id="{CEEF23AD-EA17-135A-DB95-1D1FECB286F3}"/>
              </a:ext>
            </a:extLst>
          </p:cNvPr>
          <p:cNvSpPr/>
          <p:nvPr/>
        </p:nvSpPr>
        <p:spPr>
          <a:xfrm>
            <a:off x="1237338" y="2993363"/>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5" name="Rectangle 34">
            <a:extLst>
              <a:ext uri="{FF2B5EF4-FFF2-40B4-BE49-F238E27FC236}">
                <a16:creationId xmlns:a16="http://schemas.microsoft.com/office/drawing/2014/main" id="{CEEF23AD-EA17-135A-DB95-1D1FECB286F3}"/>
              </a:ext>
            </a:extLst>
          </p:cNvPr>
          <p:cNvSpPr/>
          <p:nvPr/>
        </p:nvSpPr>
        <p:spPr>
          <a:xfrm>
            <a:off x="3086362" y="2993362"/>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4989521" y="2964814"/>
            <a:ext cx="1531700" cy="343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9"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33</a:t>
            </a:fld>
            <a:endParaRPr lang="en-GB"/>
          </a:p>
        </p:txBody>
      </p:sp>
      <p:sp>
        <p:nvSpPr>
          <p:cNvPr id="40" name="TextBox 39">
            <a:extLst>
              <a:ext uri="{FF2B5EF4-FFF2-40B4-BE49-F238E27FC236}">
                <a16:creationId xmlns:a16="http://schemas.microsoft.com/office/drawing/2014/main" id="{1408E701-401B-2EB6-0D6E-45659FD75D10}"/>
              </a:ext>
            </a:extLst>
          </p:cNvPr>
          <p:cNvSpPr txBox="1"/>
          <p:nvPr/>
        </p:nvSpPr>
        <p:spPr>
          <a:xfrm>
            <a:off x="1850735" y="3400675"/>
            <a:ext cx="3229922" cy="461665"/>
          </a:xfrm>
          <a:prstGeom prst="rect">
            <a:avLst/>
          </a:prstGeom>
          <a:noFill/>
        </p:spPr>
        <p:txBody>
          <a:bodyPr wrap="none" rtlCol="0">
            <a:spAutoFit/>
          </a:bodyPr>
          <a:lstStyle/>
          <a:p>
            <a:pPr algn="ctr"/>
            <a:r>
              <a:rPr lang="en-US" sz="1200"/>
              <a:t>4. Estimate the answer to each by rounding each</a:t>
            </a:r>
          </a:p>
          <a:p>
            <a:pPr algn="ctr"/>
            <a:r>
              <a:rPr lang="en-US" sz="1200"/>
              <a:t>number to one significant figure.</a:t>
            </a:r>
            <a:endParaRPr lang="en-GB" sz="120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E6C4643-88DF-AA67-77E0-F1604CC21903}"/>
                  </a:ext>
                </a:extLst>
              </p:cNvPr>
              <p:cNvSpPr txBox="1"/>
              <p:nvPr/>
            </p:nvSpPr>
            <p:spPr>
              <a:xfrm>
                <a:off x="131602" y="3865673"/>
                <a:ext cx="729687" cy="356188"/>
              </a:xfrm>
              <a:prstGeom prst="rect">
                <a:avLst/>
              </a:prstGeom>
              <a:noFill/>
            </p:spPr>
            <p:txBody>
              <a:bodyPr wrap="none" rtlCol="0">
                <a:spAutoFit/>
              </a:bodyPr>
              <a:lstStyle/>
              <a:p>
                <a:r>
                  <a:rPr lang="en-US" sz="1200"/>
                  <a:t>a)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15</m:t>
                        </m:r>
                      </m:num>
                      <m:den>
                        <m:r>
                          <a:rPr lang="en-US" sz="1200" b="0" i="1" smtClean="0">
                            <a:latin typeface="Cambria Math" panose="02040503050406030204" pitchFamily="18" charset="0"/>
                            <a:ea typeface="Cambria Math" panose="02040503050406030204" pitchFamily="18" charset="0"/>
                          </a:rPr>
                          <m:t>10.5</m:t>
                        </m:r>
                      </m:den>
                    </m:f>
                  </m:oMath>
                </a14:m>
                <a:endParaRPr lang="en-GB" sz="1200"/>
              </a:p>
            </p:txBody>
          </p:sp>
        </mc:Choice>
        <mc:Fallback xmlns="">
          <p:sp>
            <p:nvSpPr>
              <p:cNvPr id="41" name="TextBox 40">
                <a:extLst>
                  <a:ext uri="{FF2B5EF4-FFF2-40B4-BE49-F238E27FC236}">
                    <a16:creationId xmlns:a16="http://schemas.microsoft.com/office/drawing/2014/main" id="{5E6C4643-88DF-AA67-77E0-F1604CC21903}"/>
                  </a:ext>
                </a:extLst>
              </p:cNvPr>
              <p:cNvSpPr txBox="1">
                <a:spLocks noRot="1" noChangeAspect="1" noMove="1" noResize="1" noEditPoints="1" noAdjustHandles="1" noChangeArrowheads="1" noChangeShapeType="1" noTextEdit="1"/>
              </p:cNvSpPr>
              <p:nvPr/>
            </p:nvSpPr>
            <p:spPr>
              <a:xfrm>
                <a:off x="131602" y="3865673"/>
                <a:ext cx="729687" cy="356188"/>
              </a:xfrm>
              <a:prstGeom prst="rect">
                <a:avLst/>
              </a:prstGeom>
              <a:blipFill>
                <a:blip r:embed="rId3"/>
                <a:stretch>
                  <a:fillRect l="-840"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9AED352-0F9C-5B78-F741-99340280B76E}"/>
                  </a:ext>
                </a:extLst>
              </p:cNvPr>
              <p:cNvSpPr txBox="1"/>
              <p:nvPr/>
            </p:nvSpPr>
            <p:spPr>
              <a:xfrm>
                <a:off x="1729887" y="3884939"/>
                <a:ext cx="736099" cy="356188"/>
              </a:xfrm>
              <a:prstGeom prst="rect">
                <a:avLst/>
              </a:prstGeom>
              <a:noFill/>
            </p:spPr>
            <p:txBody>
              <a:bodyPr wrap="none" rtlCol="0">
                <a:spAutoFit/>
              </a:bodyPr>
              <a:lstStyle/>
              <a:p>
                <a:r>
                  <a:rPr lang="en-US" sz="1200"/>
                  <a:t>b)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15</m:t>
                        </m:r>
                      </m:num>
                      <m:den>
                        <m:r>
                          <a:rPr lang="en-US" sz="1200" b="0" i="1" smtClean="0">
                            <a:latin typeface="Cambria Math" panose="02040503050406030204" pitchFamily="18" charset="0"/>
                            <a:ea typeface="Cambria Math" panose="02040503050406030204" pitchFamily="18" charset="0"/>
                          </a:rPr>
                          <m:t>15</m:t>
                        </m:r>
                        <m:r>
                          <a:rPr lang="en-US" sz="1200" i="1">
                            <a:latin typeface="Cambria Math" panose="02040503050406030204" pitchFamily="18" charset="0"/>
                          </a:rPr>
                          <m:t>.</m:t>
                        </m:r>
                        <m:r>
                          <a:rPr lang="en-US" sz="1200" b="0" i="1" smtClean="0">
                            <a:latin typeface="Cambria Math" panose="02040503050406030204" pitchFamily="18" charset="0"/>
                          </a:rPr>
                          <m:t>5</m:t>
                        </m:r>
                      </m:den>
                    </m:f>
                  </m:oMath>
                </a14:m>
                <a:endParaRPr lang="en-GB" sz="1200"/>
              </a:p>
            </p:txBody>
          </p:sp>
        </mc:Choice>
        <mc:Fallback xmlns="">
          <p:sp>
            <p:nvSpPr>
              <p:cNvPr id="42" name="TextBox 41">
                <a:extLst>
                  <a:ext uri="{FF2B5EF4-FFF2-40B4-BE49-F238E27FC236}">
                    <a16:creationId xmlns:a16="http://schemas.microsoft.com/office/drawing/2014/main" id="{99AED352-0F9C-5B78-F741-99340280B76E}"/>
                  </a:ext>
                </a:extLst>
              </p:cNvPr>
              <p:cNvSpPr txBox="1">
                <a:spLocks noRot="1" noChangeAspect="1" noMove="1" noResize="1" noEditPoints="1" noAdjustHandles="1" noChangeArrowheads="1" noChangeShapeType="1" noTextEdit="1"/>
              </p:cNvSpPr>
              <p:nvPr/>
            </p:nvSpPr>
            <p:spPr>
              <a:xfrm>
                <a:off x="1729887" y="3884939"/>
                <a:ext cx="736099" cy="356188"/>
              </a:xfrm>
              <a:prstGeom prst="rect">
                <a:avLst/>
              </a:prstGeom>
              <a:blipFill>
                <a:blip r:embed="rId4"/>
                <a:stretch>
                  <a:fillRect l="-826"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10C3F79-7D20-C2F1-0CF8-36166DAAB098}"/>
                  </a:ext>
                </a:extLst>
              </p:cNvPr>
              <p:cNvSpPr txBox="1"/>
              <p:nvPr/>
            </p:nvSpPr>
            <p:spPr>
              <a:xfrm>
                <a:off x="3334584" y="3909452"/>
                <a:ext cx="764953" cy="357085"/>
              </a:xfrm>
              <a:prstGeom prst="rect">
                <a:avLst/>
              </a:prstGeom>
              <a:noFill/>
            </p:spPr>
            <p:txBody>
              <a:bodyPr wrap="none" rtlCol="0">
                <a:spAutoFit/>
              </a:bodyPr>
              <a:lstStyle/>
              <a:p>
                <a:r>
                  <a:rPr lang="en-US" sz="1200"/>
                  <a:t>c)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m:t>
                        </m:r>
                        <m:r>
                          <a:rPr lang="en-US" sz="1200" i="1">
                            <a:latin typeface="Cambria Math" panose="02040503050406030204" pitchFamily="18" charset="0"/>
                          </a:rPr>
                          <m:t>.</m:t>
                        </m:r>
                        <m:r>
                          <a:rPr lang="en-US" sz="1200" b="0" i="1" smtClean="0">
                            <a:latin typeface="Cambria Math" panose="02040503050406030204" pitchFamily="18" charset="0"/>
                          </a:rPr>
                          <m:t>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2</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3</m:t>
                        </m:r>
                      </m:num>
                      <m:den>
                        <m:r>
                          <a:rPr lang="en-US" sz="1200" i="1">
                            <a:latin typeface="Cambria Math" panose="02040503050406030204" pitchFamily="18" charset="0"/>
                          </a:rPr>
                          <m:t>2.</m:t>
                        </m:r>
                        <m:r>
                          <a:rPr lang="en-US" sz="1200" b="0" i="1" smtClean="0">
                            <a:latin typeface="Cambria Math" panose="02040503050406030204" pitchFamily="18" charset="0"/>
                          </a:rPr>
                          <m:t>3</m:t>
                        </m:r>
                      </m:den>
                    </m:f>
                  </m:oMath>
                </a14:m>
                <a:endParaRPr lang="en-GB" sz="1200"/>
              </a:p>
            </p:txBody>
          </p:sp>
        </mc:Choice>
        <mc:Fallback xmlns="">
          <p:sp>
            <p:nvSpPr>
              <p:cNvPr id="43" name="TextBox 42">
                <a:extLst>
                  <a:ext uri="{FF2B5EF4-FFF2-40B4-BE49-F238E27FC236}">
                    <a16:creationId xmlns:a16="http://schemas.microsoft.com/office/drawing/2014/main" id="{810C3F79-7D20-C2F1-0CF8-36166DAAB098}"/>
                  </a:ext>
                </a:extLst>
              </p:cNvPr>
              <p:cNvSpPr txBox="1">
                <a:spLocks noRot="1" noChangeAspect="1" noMove="1" noResize="1" noEditPoints="1" noAdjustHandles="1" noChangeArrowheads="1" noChangeShapeType="1" noTextEdit="1"/>
              </p:cNvSpPr>
              <p:nvPr/>
            </p:nvSpPr>
            <p:spPr>
              <a:xfrm>
                <a:off x="3334584" y="3909452"/>
                <a:ext cx="764953" cy="357085"/>
              </a:xfrm>
              <a:prstGeom prst="rect">
                <a:avLst/>
              </a:prstGeom>
              <a:blipFill>
                <a:blip r:embed="rId5"/>
                <a:stretch>
                  <a:fillRect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05C005F-027C-1789-56DE-44A59DBE4502}"/>
                  </a:ext>
                </a:extLst>
              </p:cNvPr>
              <p:cNvSpPr txBox="1"/>
              <p:nvPr/>
            </p:nvSpPr>
            <p:spPr>
              <a:xfrm>
                <a:off x="4999775" y="3932050"/>
                <a:ext cx="737702" cy="353558"/>
              </a:xfrm>
              <a:prstGeom prst="rect">
                <a:avLst/>
              </a:prstGeom>
              <a:noFill/>
            </p:spPr>
            <p:txBody>
              <a:bodyPr wrap="none" rtlCol="0">
                <a:spAutoFit/>
              </a:bodyPr>
              <a:lstStyle/>
              <a:p>
                <a:r>
                  <a:rPr lang="en-US" sz="1200"/>
                  <a:t>d)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b="0" i="1" smtClean="0">
                            <a:latin typeface="Cambria Math" panose="02040503050406030204" pitchFamily="18" charset="0"/>
                            <a:ea typeface="Cambria Math" panose="02040503050406030204" pitchFamily="18" charset="0"/>
                          </a:rPr>
                          <m:t>23</m:t>
                        </m:r>
                      </m:den>
                    </m:f>
                  </m:oMath>
                </a14:m>
                <a:endParaRPr lang="en-GB" sz="1200"/>
              </a:p>
            </p:txBody>
          </p:sp>
        </mc:Choice>
        <mc:Fallback xmlns="">
          <p:sp>
            <p:nvSpPr>
              <p:cNvPr id="44" name="TextBox 43">
                <a:extLst>
                  <a:ext uri="{FF2B5EF4-FFF2-40B4-BE49-F238E27FC236}">
                    <a16:creationId xmlns:a16="http://schemas.microsoft.com/office/drawing/2014/main" id="{E05C005F-027C-1789-56DE-44A59DBE4502}"/>
                  </a:ext>
                </a:extLst>
              </p:cNvPr>
              <p:cNvSpPr txBox="1">
                <a:spLocks noRot="1" noChangeAspect="1" noMove="1" noResize="1" noEditPoints="1" noAdjustHandles="1" noChangeArrowheads="1" noChangeShapeType="1" noTextEdit="1"/>
              </p:cNvSpPr>
              <p:nvPr/>
            </p:nvSpPr>
            <p:spPr>
              <a:xfrm>
                <a:off x="4999775" y="3932050"/>
                <a:ext cx="737702" cy="353558"/>
              </a:xfrm>
              <a:prstGeom prst="rect">
                <a:avLst/>
              </a:prstGeom>
              <a:blipFill>
                <a:blip r:embed="rId6"/>
                <a:stretch>
                  <a:fillRect b="-3448"/>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A42F9B35-21B6-CC31-8577-C23EF3CD8BDA}"/>
              </a:ext>
            </a:extLst>
          </p:cNvPr>
          <p:cNvSpPr/>
          <p:nvPr/>
        </p:nvSpPr>
        <p:spPr>
          <a:xfrm>
            <a:off x="151466" y="4368829"/>
            <a:ext cx="1532685" cy="2244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5F182950-BC27-CDEB-AE11-87A67199AD37}"/>
              </a:ext>
            </a:extLst>
          </p:cNvPr>
          <p:cNvSpPr/>
          <p:nvPr/>
        </p:nvSpPr>
        <p:spPr>
          <a:xfrm>
            <a:off x="274752" y="626794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B32F8646-0BC3-AD33-0495-9C1EAE264A19}"/>
              </a:ext>
            </a:extLst>
          </p:cNvPr>
          <p:cNvSpPr/>
          <p:nvPr/>
        </p:nvSpPr>
        <p:spPr>
          <a:xfrm>
            <a:off x="1775411" y="4368827"/>
            <a:ext cx="1532685" cy="22448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B1ECCBF3-A731-8962-0CF7-2805CBBA8979}"/>
              </a:ext>
            </a:extLst>
          </p:cNvPr>
          <p:cNvSpPr/>
          <p:nvPr/>
        </p:nvSpPr>
        <p:spPr>
          <a:xfrm>
            <a:off x="3390730" y="4368826"/>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44A04AFB-8695-8923-1F4F-ED88F88B0109}"/>
              </a:ext>
            </a:extLst>
          </p:cNvPr>
          <p:cNvSpPr/>
          <p:nvPr/>
        </p:nvSpPr>
        <p:spPr>
          <a:xfrm>
            <a:off x="5006049" y="4368826"/>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80DB2A7E-0850-4808-656C-8D65F823F93C}"/>
              </a:ext>
            </a:extLst>
          </p:cNvPr>
          <p:cNvSpPr/>
          <p:nvPr/>
        </p:nvSpPr>
        <p:spPr>
          <a:xfrm>
            <a:off x="1890070" y="624690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1" name="Rectangle 50">
            <a:extLst>
              <a:ext uri="{FF2B5EF4-FFF2-40B4-BE49-F238E27FC236}">
                <a16:creationId xmlns:a16="http://schemas.microsoft.com/office/drawing/2014/main" id="{96913E7D-64FF-682B-A4AB-633968106CC3}"/>
              </a:ext>
            </a:extLst>
          </p:cNvPr>
          <p:cNvSpPr/>
          <p:nvPr/>
        </p:nvSpPr>
        <p:spPr>
          <a:xfrm>
            <a:off x="3509702" y="6256289"/>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2" name="Rectangle 51">
            <a:extLst>
              <a:ext uri="{FF2B5EF4-FFF2-40B4-BE49-F238E27FC236}">
                <a16:creationId xmlns:a16="http://schemas.microsoft.com/office/drawing/2014/main" id="{E226F5C0-38A2-B21B-5D90-8417CE9BF109}"/>
              </a:ext>
            </a:extLst>
          </p:cNvPr>
          <p:cNvSpPr/>
          <p:nvPr/>
        </p:nvSpPr>
        <p:spPr>
          <a:xfrm>
            <a:off x="5125021" y="6227094"/>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0301AB2-A5CF-BC51-C754-55A31D6B3365}"/>
                  </a:ext>
                </a:extLst>
              </p:cNvPr>
              <p:cNvSpPr txBox="1"/>
              <p:nvPr/>
            </p:nvSpPr>
            <p:spPr>
              <a:xfrm>
                <a:off x="306720" y="6819084"/>
                <a:ext cx="752129" cy="539122"/>
              </a:xfrm>
              <a:prstGeom prst="rect">
                <a:avLst/>
              </a:prstGeom>
              <a:noFill/>
            </p:spPr>
            <p:txBody>
              <a:bodyPr wrap="none" rtlCol="0">
                <a:spAutoFit/>
              </a:bodyPr>
              <a:lstStyle/>
              <a:p>
                <a:r>
                  <a:rPr lang="en-US" sz="1200"/>
                  <a:t>e)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m:t>
                        </m:r>
                      </m:den>
                    </m:f>
                  </m:oMath>
                </a14:m>
                <a:endParaRPr lang="en-GB" sz="1200"/>
              </a:p>
              <a:p>
                <a:endParaRPr lang="en-GB" sz="1200"/>
              </a:p>
            </p:txBody>
          </p:sp>
        </mc:Choice>
        <mc:Fallback xmlns="">
          <p:sp>
            <p:nvSpPr>
              <p:cNvPr id="53" name="TextBox 52">
                <a:extLst>
                  <a:ext uri="{FF2B5EF4-FFF2-40B4-BE49-F238E27FC236}">
                    <a16:creationId xmlns:a16="http://schemas.microsoft.com/office/drawing/2014/main" id="{00301AB2-A5CF-BC51-C754-55A31D6B3365}"/>
                  </a:ext>
                </a:extLst>
              </p:cNvPr>
              <p:cNvSpPr txBox="1">
                <a:spLocks noRot="1" noChangeAspect="1" noMove="1" noResize="1" noEditPoints="1" noAdjustHandles="1" noChangeArrowheads="1" noChangeShapeType="1" noTextEdit="1"/>
              </p:cNvSpPr>
              <p:nvPr/>
            </p:nvSpPr>
            <p:spPr>
              <a:xfrm>
                <a:off x="306720" y="6819084"/>
                <a:ext cx="752129" cy="53912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8AFE37D-733C-450F-4F18-F0C5478A89FF}"/>
                  </a:ext>
                </a:extLst>
              </p:cNvPr>
              <p:cNvSpPr txBox="1"/>
              <p:nvPr/>
            </p:nvSpPr>
            <p:spPr>
              <a:xfrm>
                <a:off x="1905005" y="6838350"/>
                <a:ext cx="858568" cy="354777"/>
              </a:xfrm>
              <a:prstGeom prst="rect">
                <a:avLst/>
              </a:prstGeom>
              <a:noFill/>
            </p:spPr>
            <p:txBody>
              <a:bodyPr wrap="none" rtlCol="0">
                <a:spAutoFit/>
              </a:bodyPr>
              <a:lstStyle/>
              <a:p>
                <a:r>
                  <a:rPr lang="en-US" sz="1200"/>
                  <a:t>f)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4" name="TextBox 53">
                <a:extLst>
                  <a:ext uri="{FF2B5EF4-FFF2-40B4-BE49-F238E27FC236}">
                    <a16:creationId xmlns:a16="http://schemas.microsoft.com/office/drawing/2014/main" id="{88AFE37D-733C-450F-4F18-F0C5478A89FF}"/>
                  </a:ext>
                </a:extLst>
              </p:cNvPr>
              <p:cNvSpPr txBox="1">
                <a:spLocks noRot="1" noChangeAspect="1" noMove="1" noResize="1" noEditPoints="1" noAdjustHandles="1" noChangeArrowheads="1" noChangeShapeType="1" noTextEdit="1"/>
              </p:cNvSpPr>
              <p:nvPr/>
            </p:nvSpPr>
            <p:spPr>
              <a:xfrm>
                <a:off x="1905005" y="6838350"/>
                <a:ext cx="858568" cy="354777"/>
              </a:xfrm>
              <a:prstGeom prst="rect">
                <a:avLst/>
              </a:prstGeom>
              <a:blipFill>
                <a:blip r:embed="rId8"/>
                <a:stretch>
                  <a:fillRect l="-71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8638D75-4DE9-893E-83E8-096A4AE3254C}"/>
                  </a:ext>
                </a:extLst>
              </p:cNvPr>
              <p:cNvSpPr txBox="1"/>
              <p:nvPr/>
            </p:nvSpPr>
            <p:spPr>
              <a:xfrm>
                <a:off x="3509702" y="6862863"/>
                <a:ext cx="881973" cy="354777"/>
              </a:xfrm>
              <a:prstGeom prst="rect">
                <a:avLst/>
              </a:prstGeom>
              <a:noFill/>
            </p:spPr>
            <p:txBody>
              <a:bodyPr wrap="none" rtlCol="0">
                <a:spAutoFit/>
              </a:bodyPr>
              <a:lstStyle/>
              <a:p>
                <a:r>
                  <a:rPr lang="en-US" sz="1200"/>
                  <a:t>g)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5" name="TextBox 54">
                <a:extLst>
                  <a:ext uri="{FF2B5EF4-FFF2-40B4-BE49-F238E27FC236}">
                    <a16:creationId xmlns:a16="http://schemas.microsoft.com/office/drawing/2014/main" id="{B8638D75-4DE9-893E-83E8-096A4AE3254C}"/>
                  </a:ext>
                </a:extLst>
              </p:cNvPr>
              <p:cNvSpPr txBox="1">
                <a:spLocks noRot="1" noChangeAspect="1" noMove="1" noResize="1" noEditPoints="1" noAdjustHandles="1" noChangeArrowheads="1" noChangeShapeType="1" noTextEdit="1"/>
              </p:cNvSpPr>
              <p:nvPr/>
            </p:nvSpPr>
            <p:spPr>
              <a:xfrm>
                <a:off x="3509702" y="6862863"/>
                <a:ext cx="881973" cy="354777"/>
              </a:xfrm>
              <a:prstGeom prst="rect">
                <a:avLst/>
              </a:prstGeom>
              <a:blipFill>
                <a:blip r:embed="rId9"/>
                <a:stretch>
                  <a:fillRect l="-694"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5A65D09-D736-15A6-1391-778A3840BC9A}"/>
                  </a:ext>
                </a:extLst>
              </p:cNvPr>
              <p:cNvSpPr txBox="1"/>
              <p:nvPr/>
            </p:nvSpPr>
            <p:spPr>
              <a:xfrm>
                <a:off x="5174893" y="6885461"/>
                <a:ext cx="889987" cy="354777"/>
              </a:xfrm>
              <a:prstGeom prst="rect">
                <a:avLst/>
              </a:prstGeom>
              <a:noFill/>
            </p:spPr>
            <p:txBody>
              <a:bodyPr wrap="none" rtlCol="0">
                <a:spAutoFit/>
              </a:bodyPr>
              <a:lstStyle/>
              <a:p>
                <a:r>
                  <a:rPr lang="en-US" sz="1200"/>
                  <a:t>h)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4.8</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2</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3</m:t>
                        </m:r>
                      </m:num>
                      <m:den>
                        <m:r>
                          <a:rPr lang="en-US" sz="1200" i="1">
                            <a:latin typeface="Cambria Math" panose="02040503050406030204" pitchFamily="18" charset="0"/>
                          </a:rPr>
                          <m:t>2.</m:t>
                        </m:r>
                        <m:r>
                          <a:rPr lang="en-US" sz="1200" b="0" i="1" smtClean="0">
                            <a:latin typeface="Cambria Math" panose="02040503050406030204" pitchFamily="18" charset="0"/>
                          </a:rPr>
                          <m:t>35</m:t>
                        </m:r>
                        <m:r>
                          <a:rPr lang="en-US" sz="1200" i="1">
                            <a:latin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4</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87</m:t>
                        </m:r>
                      </m:den>
                    </m:f>
                  </m:oMath>
                </a14:m>
                <a:endParaRPr lang="en-GB" sz="1200"/>
              </a:p>
            </p:txBody>
          </p:sp>
        </mc:Choice>
        <mc:Fallback xmlns="">
          <p:sp>
            <p:nvSpPr>
              <p:cNvPr id="56" name="TextBox 55">
                <a:extLst>
                  <a:ext uri="{FF2B5EF4-FFF2-40B4-BE49-F238E27FC236}">
                    <a16:creationId xmlns:a16="http://schemas.microsoft.com/office/drawing/2014/main" id="{F5A65D09-D736-15A6-1391-778A3840BC9A}"/>
                  </a:ext>
                </a:extLst>
              </p:cNvPr>
              <p:cNvSpPr txBox="1">
                <a:spLocks noRot="1" noChangeAspect="1" noMove="1" noResize="1" noEditPoints="1" noAdjustHandles="1" noChangeArrowheads="1" noChangeShapeType="1" noTextEdit="1"/>
              </p:cNvSpPr>
              <p:nvPr/>
            </p:nvSpPr>
            <p:spPr>
              <a:xfrm>
                <a:off x="5174893" y="6885461"/>
                <a:ext cx="889987" cy="354777"/>
              </a:xfrm>
              <a:prstGeom prst="rect">
                <a:avLst/>
              </a:prstGeom>
              <a:blipFill>
                <a:blip r:embed="rId10"/>
                <a:stretch>
                  <a:fillRect l="-685" b="-3448"/>
                </a:stretch>
              </a:blipFill>
            </p:spPr>
            <p:txBody>
              <a:bodyPr/>
              <a:lstStyle/>
              <a:p>
                <a:r>
                  <a:rPr lang="en-US">
                    <a:noFill/>
                  </a:rPr>
                  <a:t> </a:t>
                </a:r>
              </a:p>
            </p:txBody>
          </p:sp>
        </mc:Fallback>
      </mc:AlternateContent>
      <p:sp>
        <p:nvSpPr>
          <p:cNvPr id="65" name="Rectangle 64">
            <a:extLst>
              <a:ext uri="{FF2B5EF4-FFF2-40B4-BE49-F238E27FC236}">
                <a16:creationId xmlns:a16="http://schemas.microsoft.com/office/drawing/2014/main" id="{7E9FCE55-2085-35D8-309B-0C564C7817CC}"/>
              </a:ext>
            </a:extLst>
          </p:cNvPr>
          <p:cNvSpPr/>
          <p:nvPr/>
        </p:nvSpPr>
        <p:spPr>
          <a:xfrm>
            <a:off x="151466" y="7315261"/>
            <a:ext cx="1532685" cy="2244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E9CED385-BEE5-41FE-3F4E-AFFD3BA6E535}"/>
              </a:ext>
            </a:extLst>
          </p:cNvPr>
          <p:cNvSpPr/>
          <p:nvPr/>
        </p:nvSpPr>
        <p:spPr>
          <a:xfrm>
            <a:off x="274752" y="921438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360A20EC-71F3-52A7-828F-1794760A6433}"/>
              </a:ext>
            </a:extLst>
          </p:cNvPr>
          <p:cNvSpPr/>
          <p:nvPr/>
        </p:nvSpPr>
        <p:spPr>
          <a:xfrm>
            <a:off x="1775411" y="7315259"/>
            <a:ext cx="1532685" cy="22448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87A9924A-13CF-9482-BF11-DC5E6C80F5A2}"/>
              </a:ext>
            </a:extLst>
          </p:cNvPr>
          <p:cNvSpPr/>
          <p:nvPr/>
        </p:nvSpPr>
        <p:spPr>
          <a:xfrm>
            <a:off x="3390730" y="7315258"/>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9E4476AA-F6D1-91C7-C8BF-77ACFE2990C2}"/>
              </a:ext>
            </a:extLst>
          </p:cNvPr>
          <p:cNvSpPr/>
          <p:nvPr/>
        </p:nvSpPr>
        <p:spPr>
          <a:xfrm>
            <a:off x="5006049" y="7315258"/>
            <a:ext cx="1532685" cy="22448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24243C4F-3AEE-62C3-378C-409498567A96}"/>
              </a:ext>
            </a:extLst>
          </p:cNvPr>
          <p:cNvSpPr/>
          <p:nvPr/>
        </p:nvSpPr>
        <p:spPr>
          <a:xfrm>
            <a:off x="1890070" y="9193334"/>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Rectangle 70">
            <a:extLst>
              <a:ext uri="{FF2B5EF4-FFF2-40B4-BE49-F238E27FC236}">
                <a16:creationId xmlns:a16="http://schemas.microsoft.com/office/drawing/2014/main" id="{E081944A-2930-10CB-EF41-00F2BD6E1588}"/>
              </a:ext>
            </a:extLst>
          </p:cNvPr>
          <p:cNvSpPr/>
          <p:nvPr/>
        </p:nvSpPr>
        <p:spPr>
          <a:xfrm>
            <a:off x="3509702" y="9202721"/>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31F83BB3-6B3E-E0F5-9261-5F84B3C4BA7E}"/>
              </a:ext>
            </a:extLst>
          </p:cNvPr>
          <p:cNvSpPr/>
          <p:nvPr/>
        </p:nvSpPr>
        <p:spPr>
          <a:xfrm>
            <a:off x="5125021" y="9173526"/>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 name="Rectangle 1">
            <a:extLst>
              <a:ext uri="{FF2B5EF4-FFF2-40B4-BE49-F238E27FC236}">
                <a16:creationId xmlns:a16="http://schemas.microsoft.com/office/drawing/2014/main" id="{1670FD0C-F9E7-3B65-E066-767CE9043474}"/>
              </a:ext>
            </a:extLst>
          </p:cNvPr>
          <p:cNvSpPr/>
          <p:nvPr/>
        </p:nvSpPr>
        <p:spPr>
          <a:xfrm>
            <a:off x="151466" y="3447358"/>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15408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1031172" y="1715606"/>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CDC1A2B-2D26-C945-B722-18950FA49879}"/>
              </a:ext>
            </a:extLst>
          </p:cNvPr>
          <p:cNvSpPr txBox="1"/>
          <p:nvPr/>
        </p:nvSpPr>
        <p:spPr>
          <a:xfrm>
            <a:off x="1938240" y="11978"/>
            <a:ext cx="1410704" cy="276999"/>
          </a:xfrm>
          <a:prstGeom prst="rect">
            <a:avLst/>
          </a:prstGeom>
          <a:noFill/>
          <a:ln>
            <a:noFill/>
          </a:ln>
        </p:spPr>
        <p:txBody>
          <a:bodyPr wrap="square" rtlCol="0">
            <a:spAutoFit/>
          </a:bodyPr>
          <a:lstStyle/>
          <a:p>
            <a:r>
              <a:rPr lang="en-GB" sz="1200" b="1" i="1">
                <a:solidFill>
                  <a:srgbClr val="FF0000"/>
                </a:solidFill>
              </a:rPr>
              <a:t>Example 13 - I do…</a:t>
            </a:r>
          </a:p>
        </p:txBody>
      </p:sp>
      <p:sp>
        <p:nvSpPr>
          <p:cNvPr id="5" name="TextBox 4">
            <a:extLst>
              <a:ext uri="{FF2B5EF4-FFF2-40B4-BE49-F238E27FC236}">
                <a16:creationId xmlns:a16="http://schemas.microsoft.com/office/drawing/2014/main" id="{4AF4150A-9218-D640-8777-2ECCBC4D10FB}"/>
              </a:ext>
            </a:extLst>
          </p:cNvPr>
          <p:cNvSpPr txBox="1"/>
          <p:nvPr/>
        </p:nvSpPr>
        <p:spPr>
          <a:xfrm>
            <a:off x="5140369" y="0"/>
            <a:ext cx="1643405" cy="276999"/>
          </a:xfrm>
          <a:prstGeom prst="rect">
            <a:avLst/>
          </a:prstGeom>
          <a:noFill/>
          <a:ln>
            <a:noFill/>
          </a:ln>
        </p:spPr>
        <p:txBody>
          <a:bodyPr wrap="square" rtlCol="0">
            <a:spAutoFit/>
          </a:bodyPr>
          <a:lstStyle/>
          <a:p>
            <a:r>
              <a:rPr lang="en-GB" sz="1200" b="1" i="1">
                <a:solidFill>
                  <a:srgbClr val="00B050"/>
                </a:solidFill>
              </a:rPr>
              <a:t>Example 15 – You do…</a:t>
            </a:r>
          </a:p>
        </p:txBody>
      </p:sp>
      <p:sp>
        <p:nvSpPr>
          <p:cNvPr id="6" name="TextBox 5">
            <a:extLst>
              <a:ext uri="{FF2B5EF4-FFF2-40B4-BE49-F238E27FC236}">
                <a16:creationId xmlns:a16="http://schemas.microsoft.com/office/drawing/2014/main" id="{BCDC1A2B-2D26-C945-B722-18950FA49879}"/>
              </a:ext>
            </a:extLst>
          </p:cNvPr>
          <p:cNvSpPr txBox="1"/>
          <p:nvPr/>
        </p:nvSpPr>
        <p:spPr>
          <a:xfrm>
            <a:off x="3472764" y="13627"/>
            <a:ext cx="1667605" cy="276999"/>
          </a:xfrm>
          <a:prstGeom prst="rect">
            <a:avLst/>
          </a:prstGeom>
          <a:noFill/>
          <a:ln>
            <a:noFill/>
          </a:ln>
        </p:spPr>
        <p:txBody>
          <a:bodyPr wrap="square" rtlCol="0">
            <a:spAutoFit/>
          </a:bodyPr>
          <a:lstStyle/>
          <a:p>
            <a:r>
              <a:rPr lang="en-GB" sz="1200" b="1" i="1">
                <a:solidFill>
                  <a:schemeClr val="accent2"/>
                </a:solidFill>
              </a:rPr>
              <a:t>Example 14 - We do…</a:t>
            </a:r>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nvGraphicFramePr>
            <p:xfrm>
              <a:off x="181527" y="346351"/>
              <a:ext cx="6543680" cy="268049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2605">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List the square numbers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rad>
                                <m:radPr>
                                  <m:degHide m:val="on"/>
                                  <m:ctrlPr>
                                    <a:rPr lang="en-US" sz="1600" b="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4.1</m:t>
                                  </m:r>
                                </m:e>
                              </m:rad>
                            </m:oMath>
                          </a14:m>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 xmlns:m="http://schemas.openxmlformats.org/officeDocument/2006/math">
                              <m:rad>
                                <m:radPr>
                                  <m:degHide m:val="on"/>
                                  <m:ctrlPr>
                                    <a:rPr lang="en-US" sz="160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8.9</m:t>
                                  </m:r>
                                </m:e>
                              </m:rad>
                            </m:oMath>
                          </a14:m>
                          <a:r>
                            <a:rPr lang="en-US" sz="1600" baseline="0">
                              <a:solidFill>
                                <a:schemeClr val="tx1"/>
                              </a:solidFill>
                              <a:latin typeface="Cambria Math" panose="02040503050406030204" pitchFamily="18" charset="0"/>
                              <a:ea typeface="Cambria Math" panose="02040503050406030204" pitchFamily="18" charset="0"/>
                            </a:rPr>
                            <a:t> </a:t>
                          </a:r>
                          <a:endParaRPr lang="en-US" sz="12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r>
                            <a:rPr lang="en-US" sz="1600" baseline="0">
                              <a:solidFill>
                                <a:schemeClr val="tx1"/>
                              </a:solidFill>
                            </a:rPr>
                            <a:t> </a:t>
                          </a:r>
                          <a14:m>
                            <m:oMath xmlns:m="http://schemas.openxmlformats.org/officeDocument/2006/math">
                              <m:rad>
                                <m:radPr>
                                  <m:degHide m:val="on"/>
                                  <m:ctrlPr>
                                    <a:rPr lang="en-US" sz="1600" b="0" i="1" baseline="0" smtClean="0">
                                      <a:solidFill>
                                        <a:schemeClr val="tx1"/>
                                      </a:solidFill>
                                      <a:latin typeface="Cambria Math" panose="02040503050406030204" pitchFamily="18" charset="0"/>
                                      <a:ea typeface="Cambria Math" panose="02040503050406030204" pitchFamily="18" charset="0"/>
                                    </a:rPr>
                                  </m:ctrlPr>
                                </m:radPr>
                                <m:deg/>
                                <m:e>
                                  <m:r>
                                    <a:rPr lang="en-US" sz="1600" b="0" i="1" baseline="0" smtClean="0">
                                      <a:solidFill>
                                        <a:schemeClr val="tx1"/>
                                      </a:solidFill>
                                      <a:latin typeface="Cambria Math" panose="02040503050406030204" pitchFamily="18" charset="0"/>
                                      <a:ea typeface="Cambria Math" panose="02040503050406030204" pitchFamily="18" charset="0"/>
                                    </a:rPr>
                                    <m:t>15.9</m:t>
                                  </m:r>
                                </m:e>
                              </m:rad>
                            </m:oMath>
                          </a14:m>
                          <a:endParaRPr lang="en-US" sz="16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Round to the closest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1191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3)</a:t>
                          </a:r>
                          <a:r>
                            <a:rPr lang="en-US" sz="1200" baseline="0">
                              <a:solidFill>
                                <a:schemeClr val="tx1"/>
                              </a:solidFill>
                            </a:rPr>
                            <a:t> Perform the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223070440"/>
                  </p:ext>
                </p:extLst>
              </p:nvPr>
            </p:nvGraphicFramePr>
            <p:xfrm>
              <a:off x="181527" y="346351"/>
              <a:ext cx="6543680" cy="268049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412605">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50869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List the square numbers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45" t="-18499" r="-177961" b="-536"/>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8889" t="-18499" r="-100370" b="-536"/>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8499" r="-743" b="-536"/>
                          </a:stretch>
                        </a:blipFill>
                      </a:tcPr>
                    </a:tc>
                    <a:extLst>
                      <a:ext uri="{0D108BD9-81ED-4DB2-BD59-A6C34878D82A}">
                        <a16:rowId xmlns:a16="http://schemas.microsoft.com/office/drawing/2014/main" val="2524806297"/>
                      </a:ext>
                    </a:extLst>
                  </a:tr>
                  <a:tr h="6400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Round to the closest square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11911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3)</a:t>
                          </a:r>
                          <a:r>
                            <a:rPr lang="en-US" sz="1200" baseline="0">
                              <a:solidFill>
                                <a:schemeClr val="tx1"/>
                              </a:solidFill>
                            </a:rPr>
                            <a:t> Perform the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
        <p:nvSpPr>
          <p:cNvPr id="12" name="Rectangle 11">
            <a:extLst>
              <a:ext uri="{FF2B5EF4-FFF2-40B4-BE49-F238E27FC236}">
                <a16:creationId xmlns:a16="http://schemas.microsoft.com/office/drawing/2014/main" id="{CEEF23AD-EA17-135A-DB95-1D1FECB286F3}"/>
              </a:ext>
            </a:extLst>
          </p:cNvPr>
          <p:cNvSpPr/>
          <p:nvPr/>
        </p:nvSpPr>
        <p:spPr>
          <a:xfrm>
            <a:off x="1938240" y="2464076"/>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Rectangle 12">
            <a:extLst>
              <a:ext uri="{FF2B5EF4-FFF2-40B4-BE49-F238E27FC236}">
                <a16:creationId xmlns:a16="http://schemas.microsoft.com/office/drawing/2014/main" id="{CEEF23AD-EA17-135A-DB95-1D1FECB286F3}"/>
              </a:ext>
            </a:extLst>
          </p:cNvPr>
          <p:cNvSpPr/>
          <p:nvPr/>
        </p:nvSpPr>
        <p:spPr>
          <a:xfrm>
            <a:off x="3639799" y="246407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4" name="Rectangle 13">
            <a:extLst>
              <a:ext uri="{FF2B5EF4-FFF2-40B4-BE49-F238E27FC236}">
                <a16:creationId xmlns:a16="http://schemas.microsoft.com/office/drawing/2014/main" id="{CEEF23AD-EA17-135A-DB95-1D1FECB286F3}"/>
              </a:ext>
            </a:extLst>
          </p:cNvPr>
          <p:cNvSpPr/>
          <p:nvPr/>
        </p:nvSpPr>
        <p:spPr>
          <a:xfrm>
            <a:off x="5295304" y="246407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TextBox 16"/>
          <p:cNvSpPr txBox="1"/>
          <p:nvPr/>
        </p:nvSpPr>
        <p:spPr>
          <a:xfrm>
            <a:off x="2000927" y="2999890"/>
            <a:ext cx="3229922" cy="461665"/>
          </a:xfrm>
          <a:prstGeom prst="rect">
            <a:avLst/>
          </a:prstGeom>
          <a:noFill/>
        </p:spPr>
        <p:txBody>
          <a:bodyPr wrap="none" rtlCol="0">
            <a:spAutoFit/>
          </a:bodyPr>
          <a:lstStyle/>
          <a:p>
            <a:pPr algn="ctr"/>
            <a:r>
              <a:rPr lang="en-US" sz="1200"/>
              <a:t>5. Estimate the answer to each by rounding each</a:t>
            </a:r>
          </a:p>
          <a:p>
            <a:pPr algn="ctr"/>
            <a:r>
              <a:rPr lang="en-US" sz="1200"/>
              <a:t>number to the nearest integer</a:t>
            </a:r>
            <a:endParaRPr lang="en-GB" sz="1200"/>
          </a:p>
        </p:txBody>
      </p:sp>
      <mc:AlternateContent xmlns:mc="http://schemas.openxmlformats.org/markup-compatibility/2006" xmlns:a14="http://schemas.microsoft.com/office/drawing/2010/main">
        <mc:Choice Requires="a14">
          <p:sp>
            <p:nvSpPr>
              <p:cNvPr id="18" name="TextBox 17"/>
              <p:cNvSpPr txBox="1"/>
              <p:nvPr/>
            </p:nvSpPr>
            <p:spPr>
              <a:xfrm>
                <a:off x="289407" y="3461558"/>
                <a:ext cx="643189" cy="294376"/>
              </a:xfrm>
              <a:prstGeom prst="rect">
                <a:avLst/>
              </a:prstGeom>
              <a:noFill/>
            </p:spPr>
            <p:txBody>
              <a:bodyPr wrap="none" rtlCol="0">
                <a:spAutoFit/>
              </a:bodyPr>
              <a:lstStyle/>
              <a:p>
                <a:r>
                  <a:rPr lang="en-US" sz="1200"/>
                  <a:t>a) </a:t>
                </a:r>
                <a14:m>
                  <m:oMath xmlns:m="http://schemas.openxmlformats.org/officeDocument/2006/math">
                    <m:rad>
                      <m:radPr>
                        <m:degHide m:val="on"/>
                        <m:ctrlPr>
                          <a:rPr lang="en-US" sz="1200" b="0" i="1" dirty="0" smtClean="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0.9</m:t>
                        </m:r>
                      </m:e>
                    </m:rad>
                  </m:oMath>
                </a14:m>
                <a:endParaRPr lang="en-GB" sz="1200"/>
              </a:p>
            </p:txBody>
          </p:sp>
        </mc:Choice>
        <mc:Fallback xmlns="">
          <p:sp>
            <p:nvSpPr>
              <p:cNvPr id="18" name="TextBox 17"/>
              <p:cNvSpPr txBox="1">
                <a:spLocks noRot="1" noChangeAspect="1" noMove="1" noResize="1" noEditPoints="1" noAdjustHandles="1" noChangeArrowheads="1" noChangeShapeType="1" noTextEdit="1"/>
              </p:cNvSpPr>
              <p:nvPr/>
            </p:nvSpPr>
            <p:spPr>
              <a:xfrm>
                <a:off x="289407" y="3461558"/>
                <a:ext cx="643189" cy="294376"/>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595434" y="3461556"/>
                <a:ext cx="649601" cy="295017"/>
              </a:xfrm>
              <a:prstGeom prst="rect">
                <a:avLst/>
              </a:prstGeom>
              <a:noFill/>
            </p:spPr>
            <p:txBody>
              <a:bodyPr wrap="none" rtlCol="0">
                <a:spAutoFit/>
              </a:bodyPr>
              <a:lstStyle/>
              <a:p>
                <a:r>
                  <a:rPr lang="en-US" sz="1200"/>
                  <a:t>b)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1</m:t>
                        </m:r>
                      </m:e>
                    </m:rad>
                  </m:oMath>
                </a14:m>
                <a:endParaRPr lang="en-GB" sz="1200"/>
              </a:p>
            </p:txBody>
          </p:sp>
        </mc:Choice>
        <mc:Fallback xmlns="">
          <p:sp>
            <p:nvSpPr>
              <p:cNvPr id="19" name="TextBox 18"/>
              <p:cNvSpPr txBox="1">
                <a:spLocks noRot="1" noChangeAspect="1" noMove="1" noResize="1" noEditPoints="1" noAdjustHandles="1" noChangeArrowheads="1" noChangeShapeType="1" noTextEdit="1"/>
              </p:cNvSpPr>
              <p:nvPr/>
            </p:nvSpPr>
            <p:spPr>
              <a:xfrm>
                <a:off x="1595434" y="3461556"/>
                <a:ext cx="649601" cy="295017"/>
              </a:xfrm>
              <a:prstGeom prst="rect">
                <a:avLst/>
              </a:prstGeom>
              <a:blipFill>
                <a:blip r:embed="rId4"/>
                <a:stretch>
                  <a:fillRect l="-943"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898550" y="3461556"/>
                <a:ext cx="635174" cy="294376"/>
              </a:xfrm>
              <a:prstGeom prst="rect">
                <a:avLst/>
              </a:prstGeom>
              <a:noFill/>
            </p:spPr>
            <p:txBody>
              <a:bodyPr wrap="none" rtlCol="0">
                <a:spAutoFit/>
              </a:bodyPr>
              <a:lstStyle/>
              <a:p>
                <a:r>
                  <a:rPr lang="en-US" sz="1200"/>
                  <a:t>c)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3</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8</m:t>
                        </m:r>
                      </m:e>
                    </m:rad>
                  </m:oMath>
                </a14:m>
                <a:endParaRPr lang="en-GB" sz="1200"/>
              </a:p>
            </p:txBody>
          </p:sp>
        </mc:Choice>
        <mc:Fallback xmlns="">
          <p:sp>
            <p:nvSpPr>
              <p:cNvPr id="20" name="TextBox 19"/>
              <p:cNvSpPr txBox="1">
                <a:spLocks noRot="1" noChangeAspect="1" noMove="1" noResize="1" noEditPoints="1" noAdjustHandles="1" noChangeArrowheads="1" noChangeShapeType="1" noTextEdit="1"/>
              </p:cNvSpPr>
              <p:nvPr/>
            </p:nvSpPr>
            <p:spPr>
              <a:xfrm>
                <a:off x="2898550" y="3461556"/>
                <a:ext cx="635174" cy="294376"/>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217305" y="3461555"/>
                <a:ext cx="649601" cy="294696"/>
              </a:xfrm>
              <a:prstGeom prst="rect">
                <a:avLst/>
              </a:prstGeom>
              <a:noFill/>
            </p:spPr>
            <p:txBody>
              <a:bodyPr wrap="none" rtlCol="0">
                <a:spAutoFit/>
              </a:bodyPr>
              <a:lstStyle/>
              <a:p>
                <a:r>
                  <a:rPr lang="en-US" sz="1200"/>
                  <a:t>d)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4</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4</m:t>
                        </m:r>
                      </m:e>
                    </m:rad>
                  </m:oMath>
                </a14:m>
                <a:endParaRPr lang="en-GB" sz="1200"/>
              </a:p>
            </p:txBody>
          </p:sp>
        </mc:Choice>
        <mc:Fallback xmlns="">
          <p:sp>
            <p:nvSpPr>
              <p:cNvPr id="21" name="TextBox 20"/>
              <p:cNvSpPr txBox="1">
                <a:spLocks noRot="1" noChangeAspect="1" noMove="1" noResize="1" noEditPoints="1" noAdjustHandles="1" noChangeArrowheads="1" noChangeShapeType="1" noTextEdit="1"/>
              </p:cNvSpPr>
              <p:nvPr/>
            </p:nvSpPr>
            <p:spPr>
              <a:xfrm>
                <a:off x="4217305" y="3461555"/>
                <a:ext cx="649601" cy="294696"/>
              </a:xfrm>
              <a:prstGeom prst="rect">
                <a:avLst/>
              </a:prstGeom>
              <a:blipFill>
                <a:blip r:embed="rId6"/>
                <a:stretch>
                  <a:fillRect l="-943"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514177" y="3461555"/>
                <a:ext cx="646395" cy="294376"/>
              </a:xfrm>
              <a:prstGeom prst="rect">
                <a:avLst/>
              </a:prstGeom>
              <a:noFill/>
            </p:spPr>
            <p:txBody>
              <a:bodyPr wrap="none" rtlCol="0">
                <a:spAutoFit/>
              </a:bodyPr>
              <a:lstStyle/>
              <a:p>
                <a:r>
                  <a:rPr lang="en-US" sz="1200"/>
                  <a:t>e)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9</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2</m:t>
                        </m:r>
                      </m:e>
                    </m:rad>
                  </m:oMath>
                </a14:m>
                <a:endParaRPr lang="en-GB" sz="1200"/>
              </a:p>
            </p:txBody>
          </p:sp>
        </mc:Choice>
        <mc:Fallback xmlns="">
          <p:sp>
            <p:nvSpPr>
              <p:cNvPr id="22" name="TextBox 21"/>
              <p:cNvSpPr txBox="1">
                <a:spLocks noRot="1" noChangeAspect="1" noMove="1" noResize="1" noEditPoints="1" noAdjustHandles="1" noChangeArrowheads="1" noChangeShapeType="1" noTextEdit="1"/>
              </p:cNvSpPr>
              <p:nvPr/>
            </p:nvSpPr>
            <p:spPr>
              <a:xfrm>
                <a:off x="5514177" y="3461555"/>
                <a:ext cx="646395" cy="294376"/>
              </a:xfrm>
              <a:prstGeom prst="rect">
                <a:avLst/>
              </a:prstGeom>
              <a:blipFill>
                <a:blip r:embed="rId7"/>
                <a:stretch>
                  <a:fillRect l="-943" b="-16667"/>
                </a:stretch>
              </a:blipFill>
            </p:spPr>
            <p:txBody>
              <a:bodyPr/>
              <a:lstStyle/>
              <a:p>
                <a:r>
                  <a:rPr lang="en-US">
                    <a:noFill/>
                  </a:rPr>
                  <a:t> </a:t>
                </a:r>
              </a:p>
            </p:txBody>
          </p:sp>
        </mc:Fallback>
      </mc:AlternateContent>
      <p:sp>
        <p:nvSpPr>
          <p:cNvPr id="23" name="Rectangle 22"/>
          <p:cNvSpPr/>
          <p:nvPr/>
        </p:nvSpPr>
        <p:spPr>
          <a:xfrm>
            <a:off x="298834"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1604861"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2907977"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221495"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5524611" y="382313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EEF23AD-EA17-135A-DB95-1D1FECB286F3}"/>
              </a:ext>
            </a:extLst>
          </p:cNvPr>
          <p:cNvSpPr/>
          <p:nvPr/>
        </p:nvSpPr>
        <p:spPr>
          <a:xfrm>
            <a:off x="381481"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29" name="Rectangle 28">
            <a:extLst>
              <a:ext uri="{FF2B5EF4-FFF2-40B4-BE49-F238E27FC236}">
                <a16:creationId xmlns:a16="http://schemas.microsoft.com/office/drawing/2014/main" id="{CEEF23AD-EA17-135A-DB95-1D1FECB286F3}"/>
              </a:ext>
            </a:extLst>
          </p:cNvPr>
          <p:cNvSpPr/>
          <p:nvPr/>
        </p:nvSpPr>
        <p:spPr>
          <a:xfrm>
            <a:off x="1693920"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0" name="Rectangle 29">
            <a:extLst>
              <a:ext uri="{FF2B5EF4-FFF2-40B4-BE49-F238E27FC236}">
                <a16:creationId xmlns:a16="http://schemas.microsoft.com/office/drawing/2014/main" id="{CEEF23AD-EA17-135A-DB95-1D1FECB286F3}"/>
              </a:ext>
            </a:extLst>
          </p:cNvPr>
          <p:cNvSpPr/>
          <p:nvPr/>
        </p:nvSpPr>
        <p:spPr>
          <a:xfrm>
            <a:off x="2998855"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1" name="Rectangle 30">
            <a:extLst>
              <a:ext uri="{FF2B5EF4-FFF2-40B4-BE49-F238E27FC236}">
                <a16:creationId xmlns:a16="http://schemas.microsoft.com/office/drawing/2014/main" id="{CEEF23AD-EA17-135A-DB95-1D1FECB286F3}"/>
              </a:ext>
            </a:extLst>
          </p:cNvPr>
          <p:cNvSpPr/>
          <p:nvPr/>
        </p:nvSpPr>
        <p:spPr>
          <a:xfrm>
            <a:off x="4315791"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Rectangle 31">
            <a:extLst>
              <a:ext uri="{FF2B5EF4-FFF2-40B4-BE49-F238E27FC236}">
                <a16:creationId xmlns:a16="http://schemas.microsoft.com/office/drawing/2014/main" id="{CEEF23AD-EA17-135A-DB95-1D1FECB286F3}"/>
              </a:ext>
            </a:extLst>
          </p:cNvPr>
          <p:cNvSpPr/>
          <p:nvPr/>
        </p:nvSpPr>
        <p:spPr>
          <a:xfrm>
            <a:off x="5601090" y="510517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33" name="TextBox 32"/>
              <p:cNvSpPr txBox="1"/>
              <p:nvPr/>
            </p:nvSpPr>
            <p:spPr>
              <a:xfrm>
                <a:off x="289407" y="5566828"/>
                <a:ext cx="703141" cy="294376"/>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24</m:t>
                        </m:r>
                        <m:r>
                          <a:rPr lang="en-US" sz="1200" i="1" dirty="0">
                            <a:latin typeface="Cambria Math" panose="02040503050406030204" pitchFamily="18" charset="0"/>
                            <a:ea typeface="Cambria Math" panose="02040503050406030204" pitchFamily="18" charset="0"/>
                          </a:rPr>
                          <m:t>.9</m:t>
                        </m:r>
                      </m:e>
                    </m:rad>
                  </m:oMath>
                </a14:m>
                <a:endParaRPr lang="en-GB" sz="1200"/>
              </a:p>
            </p:txBody>
          </p:sp>
        </mc:Choice>
        <mc:Fallback xmlns="">
          <p:sp>
            <p:nvSpPr>
              <p:cNvPr id="33" name="TextBox 32"/>
              <p:cNvSpPr txBox="1">
                <a:spLocks noRot="1" noChangeAspect="1" noMove="1" noResize="1" noEditPoints="1" noAdjustHandles="1" noChangeArrowheads="1" noChangeShapeType="1" noTextEdit="1"/>
              </p:cNvSpPr>
              <p:nvPr/>
            </p:nvSpPr>
            <p:spPr>
              <a:xfrm>
                <a:off x="289407" y="5566828"/>
                <a:ext cx="703141" cy="294376"/>
              </a:xfrm>
              <a:prstGeom prst="rect">
                <a:avLst/>
              </a:prstGeom>
              <a:blipFill>
                <a:blip r:embed="rId8"/>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1595434" y="5566826"/>
                <a:ext cx="726546" cy="294376"/>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36</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3</m:t>
                        </m:r>
                      </m:e>
                    </m:rad>
                  </m:oMath>
                </a14:m>
                <a:endParaRPr lang="en-GB" sz="1200"/>
              </a:p>
            </p:txBody>
          </p:sp>
        </mc:Choice>
        <mc:Fallback xmlns="">
          <p:sp>
            <p:nvSpPr>
              <p:cNvPr id="34" name="TextBox 33"/>
              <p:cNvSpPr txBox="1">
                <a:spLocks noRot="1" noChangeAspect="1" noMove="1" noResize="1" noEditPoints="1" noAdjustHandles="1" noChangeArrowheads="1" noChangeShapeType="1" noTextEdit="1"/>
              </p:cNvSpPr>
              <p:nvPr/>
            </p:nvSpPr>
            <p:spPr>
              <a:xfrm>
                <a:off x="1595434" y="5566826"/>
                <a:ext cx="726546" cy="294376"/>
              </a:xfrm>
              <a:prstGeom prst="rect">
                <a:avLst/>
              </a:prstGeom>
              <a:blipFill>
                <a:blip r:embed="rId9"/>
                <a:stretch>
                  <a:fillRect l="-840"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898550" y="5566826"/>
                <a:ext cx="734560" cy="294376"/>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48.</m:t>
                        </m:r>
                        <m:r>
                          <a:rPr lang="en-US" sz="1200" i="1" dirty="0">
                            <a:latin typeface="Cambria Math" panose="02040503050406030204" pitchFamily="18" charset="0"/>
                            <a:ea typeface="Cambria Math" panose="02040503050406030204" pitchFamily="18" charset="0"/>
                          </a:rPr>
                          <m:t>9</m:t>
                        </m:r>
                      </m:e>
                    </m:rad>
                  </m:oMath>
                </a14:m>
                <a:endParaRPr lang="en-GB" sz="1200"/>
              </a:p>
            </p:txBody>
          </p:sp>
        </mc:Choice>
        <mc:Fallback xmlns="">
          <p:sp>
            <p:nvSpPr>
              <p:cNvPr id="35" name="TextBox 34"/>
              <p:cNvSpPr txBox="1">
                <a:spLocks noRot="1" noChangeAspect="1" noMove="1" noResize="1" noEditPoints="1" noAdjustHandles="1" noChangeArrowheads="1" noChangeShapeType="1" noTextEdit="1"/>
              </p:cNvSpPr>
              <p:nvPr/>
            </p:nvSpPr>
            <p:spPr>
              <a:xfrm>
                <a:off x="2898550" y="5566826"/>
                <a:ext cx="734560" cy="294376"/>
              </a:xfrm>
              <a:prstGeom prst="rect">
                <a:avLst/>
              </a:prstGeom>
              <a:blipFill>
                <a:blip r:embed="rId10"/>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4217305" y="5566825"/>
                <a:ext cx="774636" cy="294376"/>
              </a:xfrm>
              <a:prstGeom prst="rect">
                <a:avLst/>
              </a:prstGeom>
              <a:noFill/>
            </p:spPr>
            <p:txBody>
              <a:bodyPr wrap="none" rtlCol="0">
                <a:spAutoFit/>
              </a:bodyPr>
              <a:lstStyle/>
              <a:p>
                <a:r>
                  <a:rPr lang="en-US" sz="1200"/>
                  <a:t>i)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80.94</m:t>
                        </m:r>
                      </m:e>
                    </m:rad>
                  </m:oMath>
                </a14:m>
                <a:endParaRPr lang="en-GB" sz="1200"/>
              </a:p>
            </p:txBody>
          </p:sp>
        </mc:Choice>
        <mc:Fallback xmlns="">
          <p:sp>
            <p:nvSpPr>
              <p:cNvPr id="36" name="TextBox 35"/>
              <p:cNvSpPr txBox="1">
                <a:spLocks noRot="1" noChangeAspect="1" noMove="1" noResize="1" noEditPoints="1" noAdjustHandles="1" noChangeArrowheads="1" noChangeShapeType="1" noTextEdit="1"/>
              </p:cNvSpPr>
              <p:nvPr/>
            </p:nvSpPr>
            <p:spPr>
              <a:xfrm>
                <a:off x="4217305" y="5566825"/>
                <a:ext cx="774636" cy="294376"/>
              </a:xfrm>
              <a:prstGeom prst="rect">
                <a:avLst/>
              </a:prstGeom>
              <a:blipFill>
                <a:blip r:embed="rId11"/>
                <a:stretch>
                  <a:fillRect l="-787"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5514177" y="5566825"/>
                <a:ext cx="861198" cy="296300"/>
              </a:xfrm>
              <a:prstGeom prst="rect">
                <a:avLst/>
              </a:prstGeom>
              <a:noFill/>
            </p:spPr>
            <p:txBody>
              <a:bodyPr wrap="none" rtlCol="0">
                <a:spAutoFit/>
              </a:bodyPr>
              <a:lstStyle/>
              <a:p>
                <a:r>
                  <a:rPr lang="en-US" sz="1200"/>
                  <a:t>j)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63</m:t>
                        </m:r>
                        <m:r>
                          <a:rPr lang="en-US" sz="1200" i="1" dirty="0">
                            <a:latin typeface="Cambria Math" panose="02040503050406030204" pitchFamily="18" charset="0"/>
                            <a:ea typeface="Cambria Math" panose="02040503050406030204" pitchFamily="18" charset="0"/>
                          </a:rPr>
                          <m:t>.9</m:t>
                        </m:r>
                        <m:r>
                          <a:rPr lang="en-US" sz="1200" b="0" i="1" dirty="0" smtClean="0">
                            <a:latin typeface="Cambria Math" panose="02040503050406030204" pitchFamily="18" charset="0"/>
                            <a:ea typeface="Cambria Math" panose="02040503050406030204" pitchFamily="18" charset="0"/>
                          </a:rPr>
                          <m:t>52</m:t>
                        </m:r>
                      </m:e>
                    </m:rad>
                  </m:oMath>
                </a14:m>
                <a:endParaRPr lang="en-GB" sz="1200"/>
              </a:p>
            </p:txBody>
          </p:sp>
        </mc:Choice>
        <mc:Fallback xmlns="">
          <p:sp>
            <p:nvSpPr>
              <p:cNvPr id="37" name="TextBox 36"/>
              <p:cNvSpPr txBox="1">
                <a:spLocks noRot="1" noChangeAspect="1" noMove="1" noResize="1" noEditPoints="1" noAdjustHandles="1" noChangeArrowheads="1" noChangeShapeType="1" noTextEdit="1"/>
              </p:cNvSpPr>
              <p:nvPr/>
            </p:nvSpPr>
            <p:spPr>
              <a:xfrm>
                <a:off x="5514177" y="5566825"/>
                <a:ext cx="861198" cy="296300"/>
              </a:xfrm>
              <a:prstGeom prst="rect">
                <a:avLst/>
              </a:prstGeom>
              <a:blipFill>
                <a:blip r:embed="rId12"/>
                <a:stretch>
                  <a:fillRect l="-709" b="-16327"/>
                </a:stretch>
              </a:blipFill>
            </p:spPr>
            <p:txBody>
              <a:bodyPr/>
              <a:lstStyle/>
              <a:p>
                <a:r>
                  <a:rPr lang="en-US">
                    <a:noFill/>
                  </a:rPr>
                  <a:t> </a:t>
                </a:r>
              </a:p>
            </p:txBody>
          </p:sp>
        </mc:Fallback>
      </mc:AlternateContent>
      <p:sp>
        <p:nvSpPr>
          <p:cNvPr id="38" name="Rectangle 37"/>
          <p:cNvSpPr/>
          <p:nvPr/>
        </p:nvSpPr>
        <p:spPr>
          <a:xfrm>
            <a:off x="298834"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p:cNvSpPr/>
          <p:nvPr/>
        </p:nvSpPr>
        <p:spPr>
          <a:xfrm>
            <a:off x="1604861"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2907977"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4221495"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5524611" y="5928402"/>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CEEF23AD-EA17-135A-DB95-1D1FECB286F3}"/>
              </a:ext>
            </a:extLst>
          </p:cNvPr>
          <p:cNvSpPr/>
          <p:nvPr/>
        </p:nvSpPr>
        <p:spPr>
          <a:xfrm>
            <a:off x="381481"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4" name="Rectangle 43">
            <a:extLst>
              <a:ext uri="{FF2B5EF4-FFF2-40B4-BE49-F238E27FC236}">
                <a16:creationId xmlns:a16="http://schemas.microsoft.com/office/drawing/2014/main" id="{CEEF23AD-EA17-135A-DB95-1D1FECB286F3}"/>
              </a:ext>
            </a:extLst>
          </p:cNvPr>
          <p:cNvSpPr/>
          <p:nvPr/>
        </p:nvSpPr>
        <p:spPr>
          <a:xfrm>
            <a:off x="1693920"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5" name="Rectangle 44">
            <a:extLst>
              <a:ext uri="{FF2B5EF4-FFF2-40B4-BE49-F238E27FC236}">
                <a16:creationId xmlns:a16="http://schemas.microsoft.com/office/drawing/2014/main" id="{CEEF23AD-EA17-135A-DB95-1D1FECB286F3}"/>
              </a:ext>
            </a:extLst>
          </p:cNvPr>
          <p:cNvSpPr/>
          <p:nvPr/>
        </p:nvSpPr>
        <p:spPr>
          <a:xfrm>
            <a:off x="2998855"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CEEF23AD-EA17-135A-DB95-1D1FECB286F3}"/>
              </a:ext>
            </a:extLst>
          </p:cNvPr>
          <p:cNvSpPr/>
          <p:nvPr/>
        </p:nvSpPr>
        <p:spPr>
          <a:xfrm>
            <a:off x="4315791"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7" name="Rectangle 46">
            <a:extLst>
              <a:ext uri="{FF2B5EF4-FFF2-40B4-BE49-F238E27FC236}">
                <a16:creationId xmlns:a16="http://schemas.microsoft.com/office/drawing/2014/main" id="{CEEF23AD-EA17-135A-DB95-1D1FECB286F3}"/>
              </a:ext>
            </a:extLst>
          </p:cNvPr>
          <p:cNvSpPr/>
          <p:nvPr/>
        </p:nvSpPr>
        <p:spPr>
          <a:xfrm>
            <a:off x="5601090" y="7210448"/>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56" name="TextBox 55"/>
              <p:cNvSpPr txBox="1"/>
              <p:nvPr/>
            </p:nvSpPr>
            <p:spPr>
              <a:xfrm>
                <a:off x="289407" y="7678433"/>
                <a:ext cx="788101" cy="296300"/>
              </a:xfrm>
              <a:prstGeom prst="rect">
                <a:avLst/>
              </a:prstGeom>
              <a:noFill/>
            </p:spPr>
            <p:txBody>
              <a:bodyPr wrap="none" rtlCol="0">
                <a:spAutoFit/>
              </a:bodyPr>
              <a:lstStyle/>
              <a:p>
                <a:r>
                  <a:rPr lang="en-US" sz="1200"/>
                  <a:t>f)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25.18</m:t>
                        </m:r>
                      </m:e>
                    </m:rad>
                  </m:oMath>
                </a14:m>
                <a:endParaRPr lang="en-GB" sz="1200"/>
              </a:p>
            </p:txBody>
          </p:sp>
        </mc:Choice>
        <mc:Fallback xmlns="">
          <p:sp>
            <p:nvSpPr>
              <p:cNvPr id="56" name="TextBox 55"/>
              <p:cNvSpPr txBox="1">
                <a:spLocks noRot="1" noChangeAspect="1" noMove="1" noResize="1" noEditPoints="1" noAdjustHandles="1" noChangeArrowheads="1" noChangeShapeType="1" noTextEdit="1"/>
              </p:cNvSpPr>
              <p:nvPr/>
            </p:nvSpPr>
            <p:spPr>
              <a:xfrm>
                <a:off x="289407" y="7678433"/>
                <a:ext cx="788101" cy="296300"/>
              </a:xfrm>
              <a:prstGeom prst="rect">
                <a:avLst/>
              </a:prstGeom>
              <a:blipFill>
                <a:blip r:embed="rId13"/>
                <a:stretch>
                  <a:fillRect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1595434" y="7678431"/>
                <a:ext cx="811504" cy="294376"/>
              </a:xfrm>
              <a:prstGeom prst="rect">
                <a:avLst/>
              </a:prstGeom>
              <a:noFill/>
            </p:spPr>
            <p:txBody>
              <a:bodyPr wrap="none" rtlCol="0">
                <a:spAutoFit/>
              </a:bodyPr>
              <a:lstStyle/>
              <a:p>
                <a:r>
                  <a:rPr lang="en-US" sz="1200"/>
                  <a:t>g)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99</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99</m:t>
                        </m:r>
                      </m:e>
                    </m:rad>
                  </m:oMath>
                </a14:m>
                <a:endParaRPr lang="en-GB" sz="1200"/>
              </a:p>
            </p:txBody>
          </p:sp>
        </mc:Choice>
        <mc:Fallback xmlns="">
          <p:sp>
            <p:nvSpPr>
              <p:cNvPr id="57" name="TextBox 56"/>
              <p:cNvSpPr txBox="1">
                <a:spLocks noRot="1" noChangeAspect="1" noMove="1" noResize="1" noEditPoints="1" noAdjustHandles="1" noChangeArrowheads="1" noChangeShapeType="1" noTextEdit="1"/>
              </p:cNvSpPr>
              <p:nvPr/>
            </p:nvSpPr>
            <p:spPr>
              <a:xfrm>
                <a:off x="1595434" y="7678431"/>
                <a:ext cx="811504" cy="294376"/>
              </a:xfrm>
              <a:prstGeom prst="rect">
                <a:avLst/>
              </a:prstGeom>
              <a:blipFill>
                <a:blip r:embed="rId14"/>
                <a:stretch>
                  <a:fillRect l="-752"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898550" y="7678431"/>
                <a:ext cx="904478" cy="294376"/>
              </a:xfrm>
              <a:prstGeom prst="rect">
                <a:avLst/>
              </a:prstGeom>
              <a:noFill/>
            </p:spPr>
            <p:txBody>
              <a:bodyPr wrap="none" rtlCol="0">
                <a:spAutoFit/>
              </a:bodyPr>
              <a:lstStyle/>
              <a:p>
                <a:r>
                  <a:rPr lang="en-US" sz="1200"/>
                  <a:t>h)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101.37</m:t>
                        </m:r>
                      </m:e>
                    </m:rad>
                  </m:oMath>
                </a14:m>
                <a:endParaRPr lang="en-GB" sz="1200"/>
              </a:p>
            </p:txBody>
          </p:sp>
        </mc:Choice>
        <mc:Fallback xmlns="">
          <p:sp>
            <p:nvSpPr>
              <p:cNvPr id="58" name="TextBox 57"/>
              <p:cNvSpPr txBox="1">
                <a:spLocks noRot="1" noChangeAspect="1" noMove="1" noResize="1" noEditPoints="1" noAdjustHandles="1" noChangeArrowheads="1" noChangeShapeType="1" noTextEdit="1"/>
              </p:cNvSpPr>
              <p:nvPr/>
            </p:nvSpPr>
            <p:spPr>
              <a:xfrm>
                <a:off x="2898550" y="7678431"/>
                <a:ext cx="904478" cy="294376"/>
              </a:xfrm>
              <a:prstGeom prst="rect">
                <a:avLst/>
              </a:prstGeom>
              <a:blipFill>
                <a:blip r:embed="rId1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4217305" y="7678430"/>
                <a:ext cx="859594" cy="294376"/>
              </a:xfrm>
              <a:prstGeom prst="rect">
                <a:avLst/>
              </a:prstGeom>
              <a:noFill/>
            </p:spPr>
            <p:txBody>
              <a:bodyPr wrap="none" rtlCol="0">
                <a:spAutoFit/>
              </a:bodyPr>
              <a:lstStyle/>
              <a:p>
                <a:r>
                  <a:rPr lang="en-US" sz="1200"/>
                  <a:t>i)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143.94</m:t>
                        </m:r>
                      </m:e>
                    </m:rad>
                  </m:oMath>
                </a14:m>
                <a:endParaRPr lang="en-GB" sz="1200"/>
              </a:p>
            </p:txBody>
          </p:sp>
        </mc:Choice>
        <mc:Fallback xmlns="">
          <p:sp>
            <p:nvSpPr>
              <p:cNvPr id="59" name="TextBox 58"/>
              <p:cNvSpPr txBox="1">
                <a:spLocks noRot="1" noChangeAspect="1" noMove="1" noResize="1" noEditPoints="1" noAdjustHandles="1" noChangeArrowheads="1" noChangeShapeType="1" noTextEdit="1"/>
              </p:cNvSpPr>
              <p:nvPr/>
            </p:nvSpPr>
            <p:spPr>
              <a:xfrm>
                <a:off x="4217305" y="7678430"/>
                <a:ext cx="859594" cy="294376"/>
              </a:xfrm>
              <a:prstGeom prst="rect">
                <a:avLst/>
              </a:prstGeom>
              <a:blipFill>
                <a:blip r:embed="rId16"/>
                <a:stretch>
                  <a:fillRect l="-709"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5514177" y="7678430"/>
                <a:ext cx="1031116" cy="294376"/>
              </a:xfrm>
              <a:prstGeom prst="rect">
                <a:avLst/>
              </a:prstGeom>
              <a:noFill/>
            </p:spPr>
            <p:txBody>
              <a:bodyPr wrap="none" rtlCol="0">
                <a:spAutoFit/>
              </a:bodyPr>
              <a:lstStyle/>
              <a:p>
                <a:r>
                  <a:rPr lang="en-US" sz="1200"/>
                  <a:t>j) </a:t>
                </a:r>
                <a14:m>
                  <m:oMath xmlns:m="http://schemas.openxmlformats.org/officeDocument/2006/math">
                    <m:rad>
                      <m:radPr>
                        <m:degHide m:val="on"/>
                        <m:ctrlPr>
                          <a:rPr lang="en-US" sz="1200" i="1" dirty="0">
                            <a:latin typeface="Cambria Math" panose="02040503050406030204" pitchFamily="18" charset="0"/>
                            <a:ea typeface="Cambria Math" panose="02040503050406030204" pitchFamily="18" charset="0"/>
                          </a:rPr>
                        </m:ctrlPr>
                      </m:radPr>
                      <m:deg/>
                      <m:e>
                        <m:r>
                          <a:rPr lang="en-US" sz="1200" b="0" i="1" dirty="0" smtClean="0">
                            <a:latin typeface="Cambria Math" panose="02040503050406030204" pitchFamily="18" charset="0"/>
                            <a:ea typeface="Cambria Math" panose="02040503050406030204" pitchFamily="18" charset="0"/>
                          </a:rPr>
                          <m:t>144</m:t>
                        </m:r>
                        <m:r>
                          <a:rPr lang="en-US" sz="1200" i="1" dirty="0">
                            <a:latin typeface="Cambria Math" panose="02040503050406030204" pitchFamily="18" charset="0"/>
                            <a:ea typeface="Cambria Math" panose="02040503050406030204" pitchFamily="18" charset="0"/>
                          </a:rPr>
                          <m:t>.</m:t>
                        </m:r>
                        <m:r>
                          <a:rPr lang="en-US" sz="1200" b="0" i="1" dirty="0" smtClean="0">
                            <a:latin typeface="Cambria Math" panose="02040503050406030204" pitchFamily="18" charset="0"/>
                            <a:ea typeface="Cambria Math" panose="02040503050406030204" pitchFamily="18" charset="0"/>
                          </a:rPr>
                          <m:t>0062</m:t>
                        </m:r>
                      </m:e>
                    </m:rad>
                  </m:oMath>
                </a14:m>
                <a:endParaRPr lang="en-GB" sz="1200"/>
              </a:p>
            </p:txBody>
          </p:sp>
        </mc:Choice>
        <mc:Fallback xmlns="">
          <p:sp>
            <p:nvSpPr>
              <p:cNvPr id="60" name="TextBox 59"/>
              <p:cNvSpPr txBox="1">
                <a:spLocks noRot="1" noChangeAspect="1" noMove="1" noResize="1" noEditPoints="1" noAdjustHandles="1" noChangeArrowheads="1" noChangeShapeType="1" noTextEdit="1"/>
              </p:cNvSpPr>
              <p:nvPr/>
            </p:nvSpPr>
            <p:spPr>
              <a:xfrm>
                <a:off x="5514177" y="7678430"/>
                <a:ext cx="1031116" cy="294376"/>
              </a:xfrm>
              <a:prstGeom prst="rect">
                <a:avLst/>
              </a:prstGeom>
              <a:blipFill>
                <a:blip r:embed="rId17"/>
                <a:stretch>
                  <a:fillRect l="-592" b="-16667"/>
                </a:stretch>
              </a:blipFill>
            </p:spPr>
            <p:txBody>
              <a:bodyPr/>
              <a:lstStyle/>
              <a:p>
                <a:r>
                  <a:rPr lang="en-US">
                    <a:noFill/>
                  </a:rPr>
                  <a:t> </a:t>
                </a:r>
              </a:p>
            </p:txBody>
          </p:sp>
        </mc:Fallback>
      </mc:AlternateContent>
      <p:sp>
        <p:nvSpPr>
          <p:cNvPr id="61" name="Rectangle 60"/>
          <p:cNvSpPr/>
          <p:nvPr/>
        </p:nvSpPr>
        <p:spPr>
          <a:xfrm>
            <a:off x="298834"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p:cNvSpPr/>
          <p:nvPr/>
        </p:nvSpPr>
        <p:spPr>
          <a:xfrm>
            <a:off x="1604861"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p:cNvSpPr/>
          <p:nvPr/>
        </p:nvSpPr>
        <p:spPr>
          <a:xfrm>
            <a:off x="2907977"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p:cNvSpPr/>
          <p:nvPr/>
        </p:nvSpPr>
        <p:spPr>
          <a:xfrm>
            <a:off x="4221495"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p:cNvSpPr/>
          <p:nvPr/>
        </p:nvSpPr>
        <p:spPr>
          <a:xfrm>
            <a:off x="5524611" y="8040007"/>
            <a:ext cx="1160810" cy="16591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CEEF23AD-EA17-135A-DB95-1D1FECB286F3}"/>
              </a:ext>
            </a:extLst>
          </p:cNvPr>
          <p:cNvSpPr/>
          <p:nvPr/>
        </p:nvSpPr>
        <p:spPr>
          <a:xfrm>
            <a:off x="381481"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7" name="Rectangle 66">
            <a:extLst>
              <a:ext uri="{FF2B5EF4-FFF2-40B4-BE49-F238E27FC236}">
                <a16:creationId xmlns:a16="http://schemas.microsoft.com/office/drawing/2014/main" id="{CEEF23AD-EA17-135A-DB95-1D1FECB286F3}"/>
              </a:ext>
            </a:extLst>
          </p:cNvPr>
          <p:cNvSpPr/>
          <p:nvPr/>
        </p:nvSpPr>
        <p:spPr>
          <a:xfrm>
            <a:off x="1693920"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a:extLst>
              <a:ext uri="{FF2B5EF4-FFF2-40B4-BE49-F238E27FC236}">
                <a16:creationId xmlns:a16="http://schemas.microsoft.com/office/drawing/2014/main" id="{CEEF23AD-EA17-135A-DB95-1D1FECB286F3}"/>
              </a:ext>
            </a:extLst>
          </p:cNvPr>
          <p:cNvSpPr/>
          <p:nvPr/>
        </p:nvSpPr>
        <p:spPr>
          <a:xfrm>
            <a:off x="2998855"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9" name="Rectangle 68">
            <a:extLst>
              <a:ext uri="{FF2B5EF4-FFF2-40B4-BE49-F238E27FC236}">
                <a16:creationId xmlns:a16="http://schemas.microsoft.com/office/drawing/2014/main" id="{CEEF23AD-EA17-135A-DB95-1D1FECB286F3}"/>
              </a:ext>
            </a:extLst>
          </p:cNvPr>
          <p:cNvSpPr/>
          <p:nvPr/>
        </p:nvSpPr>
        <p:spPr>
          <a:xfrm>
            <a:off x="4315791"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CEEF23AD-EA17-135A-DB95-1D1FECB286F3}"/>
              </a:ext>
            </a:extLst>
          </p:cNvPr>
          <p:cNvSpPr/>
          <p:nvPr/>
        </p:nvSpPr>
        <p:spPr>
          <a:xfrm>
            <a:off x="5601090" y="9322053"/>
            <a:ext cx="979053" cy="291163"/>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1"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34</a:t>
            </a:fld>
            <a:endParaRPr lang="en-GB"/>
          </a:p>
        </p:txBody>
      </p:sp>
      <p:sp>
        <p:nvSpPr>
          <p:cNvPr id="3" name="Rectangle 2">
            <a:extLst>
              <a:ext uri="{FF2B5EF4-FFF2-40B4-BE49-F238E27FC236}">
                <a16:creationId xmlns:a16="http://schemas.microsoft.com/office/drawing/2014/main" id="{34C0E0C6-4663-5BA1-CCCC-290F289E0D84}"/>
              </a:ext>
            </a:extLst>
          </p:cNvPr>
          <p:cNvSpPr/>
          <p:nvPr/>
        </p:nvSpPr>
        <p:spPr>
          <a:xfrm>
            <a:off x="181527" y="3045814"/>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Tree>
    <p:extLst>
      <p:ext uri="{BB962C8B-B14F-4D97-AF65-F5344CB8AC3E}">
        <p14:creationId xmlns:p14="http://schemas.microsoft.com/office/powerpoint/2010/main" val="3547202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4A988A4-03CD-D549-9F12-81AFECBDEF37}"/>
              </a:ext>
            </a:extLst>
          </p:cNvPr>
          <p:cNvCxnSpPr>
            <a:cxnSpLocks/>
          </p:cNvCxnSpPr>
          <p:nvPr/>
        </p:nvCxnSpPr>
        <p:spPr>
          <a:xfrm>
            <a:off x="1031172" y="2112199"/>
            <a:ext cx="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DC1A2B-2D26-C945-B722-18950FA49879}"/>
              </a:ext>
            </a:extLst>
          </p:cNvPr>
          <p:cNvSpPr txBox="1"/>
          <p:nvPr/>
        </p:nvSpPr>
        <p:spPr>
          <a:xfrm>
            <a:off x="1938240" y="408571"/>
            <a:ext cx="1410704" cy="276999"/>
          </a:xfrm>
          <a:prstGeom prst="rect">
            <a:avLst/>
          </a:prstGeom>
          <a:noFill/>
          <a:ln>
            <a:noFill/>
          </a:ln>
        </p:spPr>
        <p:txBody>
          <a:bodyPr wrap="square" rtlCol="0">
            <a:spAutoFit/>
          </a:bodyPr>
          <a:lstStyle/>
          <a:p>
            <a:r>
              <a:rPr lang="en-GB" sz="1200" b="1" i="1" dirty="0">
                <a:solidFill>
                  <a:srgbClr val="FF0000"/>
                </a:solidFill>
              </a:rPr>
              <a:t>Example 19 - I do…</a:t>
            </a:r>
          </a:p>
        </p:txBody>
      </p:sp>
      <p:sp>
        <p:nvSpPr>
          <p:cNvPr id="4" name="TextBox 3">
            <a:extLst>
              <a:ext uri="{FF2B5EF4-FFF2-40B4-BE49-F238E27FC236}">
                <a16:creationId xmlns:a16="http://schemas.microsoft.com/office/drawing/2014/main" id="{4AF4150A-9218-D640-8777-2ECCBC4D10FB}"/>
              </a:ext>
            </a:extLst>
          </p:cNvPr>
          <p:cNvSpPr txBox="1"/>
          <p:nvPr/>
        </p:nvSpPr>
        <p:spPr>
          <a:xfrm>
            <a:off x="5140369" y="396593"/>
            <a:ext cx="1643405" cy="276999"/>
          </a:xfrm>
          <a:prstGeom prst="rect">
            <a:avLst/>
          </a:prstGeom>
          <a:noFill/>
          <a:ln>
            <a:noFill/>
          </a:ln>
        </p:spPr>
        <p:txBody>
          <a:bodyPr wrap="square" rtlCol="0">
            <a:spAutoFit/>
          </a:bodyPr>
          <a:lstStyle/>
          <a:p>
            <a:r>
              <a:rPr lang="en-GB" sz="1200" b="1" i="1">
                <a:solidFill>
                  <a:srgbClr val="00B050"/>
                </a:solidFill>
              </a:rPr>
              <a:t>Example 21 – You do…</a:t>
            </a:r>
          </a:p>
        </p:txBody>
      </p:sp>
      <p:sp>
        <p:nvSpPr>
          <p:cNvPr id="5" name="TextBox 4">
            <a:extLst>
              <a:ext uri="{FF2B5EF4-FFF2-40B4-BE49-F238E27FC236}">
                <a16:creationId xmlns:a16="http://schemas.microsoft.com/office/drawing/2014/main" id="{BCDC1A2B-2D26-C945-B722-18950FA49879}"/>
              </a:ext>
            </a:extLst>
          </p:cNvPr>
          <p:cNvSpPr txBox="1"/>
          <p:nvPr/>
        </p:nvSpPr>
        <p:spPr>
          <a:xfrm>
            <a:off x="3472764" y="410220"/>
            <a:ext cx="1667605" cy="276999"/>
          </a:xfrm>
          <a:prstGeom prst="rect">
            <a:avLst/>
          </a:prstGeom>
          <a:noFill/>
          <a:ln>
            <a:noFill/>
          </a:ln>
        </p:spPr>
        <p:txBody>
          <a:bodyPr wrap="square" rtlCol="0">
            <a:spAutoFit/>
          </a:bodyPr>
          <a:lstStyle/>
          <a:p>
            <a:r>
              <a:rPr lang="en-GB" sz="1200" b="1" i="1">
                <a:solidFill>
                  <a:schemeClr val="accent2"/>
                </a:solidFill>
              </a:rPr>
              <a:t>Example 20 - We do…</a:t>
            </a: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850650805"/>
                  </p:ext>
                </p:extLst>
              </p:nvPr>
            </p:nvGraphicFramePr>
            <p:xfrm>
              <a:off x="181527" y="742942"/>
              <a:ext cx="6543680" cy="304933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27868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Round the</a:t>
                          </a:r>
                          <a:r>
                            <a:rPr lang="en-US" sz="1200" baseline="0">
                              <a:solidFill>
                                <a:schemeClr val="tx1"/>
                              </a:solidFill>
                            </a:rPr>
                            <a:t> numbers</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dirty="0">
                              <a:solidFill>
                                <a:schemeClr val="tx1"/>
                              </a:solidFill>
                            </a:rPr>
                            <a:t>Estimate</a:t>
                          </a:r>
                        </a:p>
                        <a:p>
                          <a:pPr marL="0" indent="0" algn="ctr">
                            <a:buNone/>
                          </a:pPr>
                          <a:endParaRPr lang="en-US" sz="1200" baseline="0" dirty="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3.9</m:t>
                                        </m:r>
                                      </m:e>
                                    </m:rad>
                                    <m:r>
                                      <a:rPr lang="en-US" sz="1200" b="0" i="1" smtClean="0">
                                        <a:solidFill>
                                          <a:schemeClr val="tx1"/>
                                        </a:solidFill>
                                        <a:latin typeface="Cambria Math" panose="02040503050406030204" pitchFamily="18" charset="0"/>
                                        <a:ea typeface="Cambria Math" panose="02040503050406030204" pitchFamily="18" charset="0"/>
                                      </a:rPr>
                                      <m:t>+9.9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1.9</m:t>
                                        </m:r>
                                      </m:e>
                                      <m:sup>
                                        <m:r>
                                          <a:rPr lang="en-US" sz="1200" b="0" i="1" smtClean="0">
                                            <a:solidFill>
                                              <a:schemeClr val="tx1"/>
                                            </a:solidFill>
                                            <a:latin typeface="Cambria Math" panose="02040503050406030204" pitchFamily="18" charset="0"/>
                                          </a:rPr>
                                          <m:t>2</m:t>
                                        </m:r>
                                      </m:sup>
                                    </m:sSup>
                                  </m:den>
                                </m:f>
                              </m:oMath>
                            </m:oMathPara>
                          </a14:m>
                          <a:endParaRPr lang="en-GB"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3.8</m:t>
                                        </m:r>
                                      </m:e>
                                    </m:rad>
                                    <m:r>
                                      <a:rPr lang="en-US" sz="1200" b="0" i="1" smtClean="0">
                                        <a:solidFill>
                                          <a:schemeClr val="tx1"/>
                                        </a:solidFill>
                                        <a:latin typeface="Cambria Math" panose="02040503050406030204" pitchFamily="18" charset="0"/>
                                        <a:ea typeface="Cambria Math" panose="02040503050406030204" pitchFamily="18" charset="0"/>
                                      </a:rPr>
                                      <m:t>+1.9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1.9</m:t>
                                        </m:r>
                                      </m:e>
                                      <m:sup>
                                        <m:r>
                                          <a:rPr lang="en-US" sz="1200" b="0" i="1" smtClean="0">
                                            <a:solidFill>
                                              <a:schemeClr val="tx1"/>
                                            </a:solidFill>
                                            <a:latin typeface="Cambria Math" panose="02040503050406030204" pitchFamily="18" charset="0"/>
                                          </a:rPr>
                                          <m:t>2</m:t>
                                        </m:r>
                                      </m:sup>
                                    </m:sSup>
                                  </m:den>
                                </m:f>
                              </m:oMath>
                            </m:oMathPara>
                          </a14:m>
                          <a:endParaRPr lang="en-US" sz="12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indent="0" algn="ctr">
                            <a:buNone/>
                          </a:pPr>
                          <a:r>
                            <a:rPr lang="en-US" sz="1200">
                              <a:solidFill>
                                <a:schemeClr val="tx1"/>
                              </a:solidFill>
                            </a:rPr>
                            <a:t>Estimate</a:t>
                          </a:r>
                        </a:p>
                        <a:p>
                          <a:pPr marL="0" indent="0" algn="ctr">
                            <a:buNone/>
                          </a:pPr>
                          <a:endParaRPr lang="en-US" sz="1200" baseline="0">
                            <a:solidFill>
                              <a:schemeClr val="tx1"/>
                            </a:solidFill>
                          </a:endParaRPr>
                        </a:p>
                        <a:p>
                          <a:pPr marL="0" indent="0" algn="ctr">
                            <a:buNone/>
                          </a:pPr>
                          <a14:m>
                            <m:oMathPara xmlns:m="http://schemas.openxmlformats.org/officeDocument/2006/math">
                              <m:oMathParaPr>
                                <m:jc m:val="centerGroup"/>
                              </m:oMathParaPr>
                              <m:oMath xmlns:m="http://schemas.openxmlformats.org/officeDocument/2006/math">
                                <m:f>
                                  <m:fPr>
                                    <m:ctrlPr>
                                      <a:rPr lang="en-US" sz="1200" b="0" i="1" smtClean="0">
                                        <a:solidFill>
                                          <a:schemeClr val="tx1"/>
                                        </a:solidFill>
                                        <a:latin typeface="Cambria Math" panose="02040503050406030204" pitchFamily="18" charset="0"/>
                                      </a:rPr>
                                    </m:ctrlPr>
                                  </m:fPr>
                                  <m:num>
                                    <m:rad>
                                      <m:radPr>
                                        <m:degHide m:val="on"/>
                                        <m:ctrlPr>
                                          <a:rPr lang="en-US" sz="1200" b="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4.1</m:t>
                                        </m:r>
                                      </m:e>
                                    </m:rad>
                                    <m:r>
                                      <a:rPr lang="en-US" sz="1200" b="0" i="1" smtClean="0">
                                        <a:solidFill>
                                          <a:schemeClr val="tx1"/>
                                        </a:solidFill>
                                        <a:latin typeface="Cambria Math" panose="02040503050406030204" pitchFamily="18" charset="0"/>
                                        <a:ea typeface="Cambria Math" panose="02040503050406030204" pitchFamily="18" charset="0"/>
                                      </a:rPr>
                                      <m:t>+9.9</m:t>
                                    </m:r>
                                  </m:num>
                                  <m:den>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1.8</m:t>
                                        </m:r>
                                      </m:e>
                                      <m:sup>
                                        <m:r>
                                          <a:rPr lang="en-US" sz="1200" b="0" i="1" smtClean="0">
                                            <a:solidFill>
                                              <a:schemeClr val="tx1"/>
                                            </a:solidFill>
                                            <a:latin typeface="Cambria Math" panose="02040503050406030204" pitchFamily="18" charset="0"/>
                                          </a:rPr>
                                          <m:t>2</m:t>
                                        </m:r>
                                      </m:sup>
                                    </m:sSup>
                                  </m:den>
                                </m:f>
                              </m:oMath>
                            </m:oMathPara>
                          </a14:m>
                          <a:endParaRPr lang="en-US" sz="1600">
                            <a:solidFill>
                              <a:schemeClr val="tx1"/>
                            </a:solidFill>
                          </a:endParaRPr>
                        </a:p>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806297"/>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Perform the</a:t>
                          </a:r>
                          <a:r>
                            <a:rPr lang="en-US" sz="1200" baseline="0">
                              <a:solidFill>
                                <a:schemeClr val="tx1"/>
                              </a:solidFill>
                            </a:rPr>
                            <a:t>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4512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3)</a:t>
                          </a:r>
                          <a:r>
                            <a:rPr lang="en-US" sz="1200" baseline="0" dirty="0">
                              <a:solidFill>
                                <a:schemeClr val="tx1"/>
                              </a:solidFill>
                            </a:rPr>
                            <a:t> Use the approximate symbol </a:t>
                          </a:r>
                          <a14:m>
                            <m:oMath xmlns:m="http://schemas.openxmlformats.org/officeDocument/2006/math">
                              <m:r>
                                <a:rPr lang="en-US" sz="1200" i="1" baseline="0" smtClean="0">
                                  <a:solidFill>
                                    <a:schemeClr val="tx1"/>
                                  </a:solidFill>
                                  <a:latin typeface="Cambria Math" panose="02040503050406030204" pitchFamily="18" charset="0"/>
                                  <a:ea typeface="Cambria Math" panose="02040503050406030204" pitchFamily="18" charset="0"/>
                                </a:rPr>
                                <m:t>≈</m:t>
                              </m:r>
                            </m:oMath>
                          </a14:m>
                          <a:r>
                            <a:rPr lang="en-US" sz="1200" dirty="0">
                              <a:solidFill>
                                <a:schemeClr val="tx1"/>
                              </a:solidFill>
                            </a:rPr>
                            <a:t> to show your solution</a:t>
                          </a:r>
                          <a:r>
                            <a:rPr lang="en-US" sz="1200" baseline="0" dirty="0">
                              <a:solidFill>
                                <a:schemeClr val="tx1"/>
                              </a:solidFill>
                            </a:rPr>
                            <a:t> is an estimate. </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850650805"/>
                  </p:ext>
                </p:extLst>
              </p:nvPr>
            </p:nvGraphicFramePr>
            <p:xfrm>
              <a:off x="181527" y="742942"/>
              <a:ext cx="6543680" cy="3049335"/>
            </p:xfrm>
            <a:graphic>
              <a:graphicData uri="http://schemas.openxmlformats.org/drawingml/2006/table">
                <a:tbl>
                  <a:tblPr firstRow="1" bandRow="1">
                    <a:tableStyleId>{5C22544A-7EE6-4342-B048-85BDC9FD1C3A}</a:tableStyleId>
                  </a:tblPr>
                  <a:tblGrid>
                    <a:gridCol w="1414360">
                      <a:extLst>
                        <a:ext uri="{9D8B030D-6E8A-4147-A177-3AD203B41FA5}">
                          <a16:colId xmlns:a16="http://schemas.microsoft.com/office/drawing/2014/main" val="1517548829"/>
                        </a:ext>
                      </a:extLst>
                    </a:gridCol>
                    <a:gridCol w="1848649">
                      <a:extLst>
                        <a:ext uri="{9D8B030D-6E8A-4147-A177-3AD203B41FA5}">
                          <a16:colId xmlns:a16="http://schemas.microsoft.com/office/drawing/2014/main" val="1117461098"/>
                        </a:ext>
                      </a:extLst>
                    </a:gridCol>
                    <a:gridCol w="1644751">
                      <a:extLst>
                        <a:ext uri="{9D8B030D-6E8A-4147-A177-3AD203B41FA5}">
                          <a16:colId xmlns:a16="http://schemas.microsoft.com/office/drawing/2014/main" val="1979670448"/>
                        </a:ext>
                      </a:extLst>
                    </a:gridCol>
                    <a:gridCol w="1635920">
                      <a:extLst>
                        <a:ext uri="{9D8B030D-6E8A-4147-A177-3AD203B41FA5}">
                          <a16:colId xmlns:a16="http://schemas.microsoft.com/office/drawing/2014/main" val="997241978"/>
                        </a:ext>
                      </a:extLst>
                    </a:gridCol>
                  </a:tblGrid>
                  <a:tr h="278681">
                    <a:tc>
                      <a:txBody>
                        <a:bodyPr/>
                        <a:lstStyle/>
                        <a:p>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1200">
                              <a:solidFill>
                                <a:schemeClr val="tx1"/>
                              </a:solidFill>
                            </a:rPr>
                            <a:t>Estimation</a:t>
                          </a: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337333186"/>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1) Round the</a:t>
                          </a:r>
                          <a:r>
                            <a:rPr lang="en-US" sz="1200" baseline="0">
                              <a:solidFill>
                                <a:schemeClr val="tx1"/>
                              </a:solidFill>
                            </a:rPr>
                            <a:t> numbers</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645" t="-10307" r="-177961" b="-43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98889" t="-10307" r="-100370" b="-439"/>
                          </a:stretch>
                        </a:blipFill>
                      </a:tcPr>
                    </a:tc>
                    <a:tc rowSpan="3">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000" t="-10307" r="-743" b="-439"/>
                          </a:stretch>
                        </a:blipFill>
                      </a:tcPr>
                    </a:tc>
                    <a:extLst>
                      <a:ext uri="{0D108BD9-81ED-4DB2-BD59-A6C34878D82A}">
                        <a16:rowId xmlns:a16="http://schemas.microsoft.com/office/drawing/2014/main" val="2524806297"/>
                      </a:ext>
                    </a:extLst>
                  </a:tr>
                  <a:tr h="659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tx1"/>
                              </a:solidFill>
                            </a:rPr>
                            <a:t>2) Perform the</a:t>
                          </a:r>
                          <a:r>
                            <a:rPr lang="en-US" sz="1200" baseline="0">
                              <a:solidFill>
                                <a:schemeClr val="tx1"/>
                              </a:solidFill>
                            </a:rPr>
                            <a:t> calculation</a:t>
                          </a:r>
                          <a:endParaRPr lang="en-US"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112306180"/>
                      </a:ext>
                    </a:extLst>
                  </a:tr>
                  <a:tr h="145129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1" t="-110460" r="-364224" b="-837"/>
                          </a:stretch>
                        </a:blipFill>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00203484"/>
                      </a:ext>
                    </a:extLst>
                  </a:tr>
                </a:tbl>
              </a:graphicData>
            </a:graphic>
          </p:graphicFrame>
        </mc:Fallback>
      </mc:AlternateContent>
      <p:sp>
        <p:nvSpPr>
          <p:cNvPr id="7" name="Rectangle 6">
            <a:extLst>
              <a:ext uri="{FF2B5EF4-FFF2-40B4-BE49-F238E27FC236}">
                <a16:creationId xmlns:a16="http://schemas.microsoft.com/office/drawing/2014/main" id="{CEEF23AD-EA17-135A-DB95-1D1FECB286F3}"/>
              </a:ext>
            </a:extLst>
          </p:cNvPr>
          <p:cNvSpPr/>
          <p:nvPr/>
        </p:nvSpPr>
        <p:spPr>
          <a:xfrm>
            <a:off x="1859957"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8" name="Rectangle 7">
            <a:extLst>
              <a:ext uri="{FF2B5EF4-FFF2-40B4-BE49-F238E27FC236}">
                <a16:creationId xmlns:a16="http://schemas.microsoft.com/office/drawing/2014/main" id="{CEEF23AD-EA17-135A-DB95-1D1FECB286F3}"/>
              </a:ext>
            </a:extLst>
          </p:cNvPr>
          <p:cNvSpPr/>
          <p:nvPr/>
        </p:nvSpPr>
        <p:spPr>
          <a:xfrm>
            <a:off x="3634352"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CEEF23AD-EA17-135A-DB95-1D1FECB286F3}"/>
              </a:ext>
            </a:extLst>
          </p:cNvPr>
          <p:cNvSpPr/>
          <p:nvPr/>
        </p:nvSpPr>
        <p:spPr>
          <a:xfrm>
            <a:off x="5289857" y="3342405"/>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3" name="TextBox 12"/>
          <p:cNvSpPr txBox="1"/>
          <p:nvPr/>
        </p:nvSpPr>
        <p:spPr>
          <a:xfrm>
            <a:off x="2786207" y="3899379"/>
            <a:ext cx="1659365" cy="276999"/>
          </a:xfrm>
          <a:prstGeom prst="rect">
            <a:avLst/>
          </a:prstGeom>
          <a:noFill/>
        </p:spPr>
        <p:txBody>
          <a:bodyPr wrap="none" rtlCol="0">
            <a:spAutoFit/>
          </a:bodyPr>
          <a:lstStyle/>
          <a:p>
            <a:pPr algn="ctr"/>
            <a:r>
              <a:rPr lang="en-US" sz="1200"/>
              <a:t>6. Estimate by rounding</a:t>
            </a:r>
            <a:endParaRPr lang="en-GB" sz="1200"/>
          </a:p>
        </p:txBody>
      </p:sp>
      <mc:AlternateContent xmlns:mc="http://schemas.openxmlformats.org/markup-compatibility/2006" xmlns:a14="http://schemas.microsoft.com/office/drawing/2010/main">
        <mc:Choice Requires="a14">
          <p:sp>
            <p:nvSpPr>
              <p:cNvPr id="26" name="TextBox 25"/>
              <p:cNvSpPr txBox="1"/>
              <p:nvPr/>
            </p:nvSpPr>
            <p:spPr>
              <a:xfrm>
                <a:off x="202309" y="4262509"/>
                <a:ext cx="841962" cy="387286"/>
              </a:xfrm>
              <a:prstGeom prst="rect">
                <a:avLst/>
              </a:prstGeom>
              <a:noFill/>
            </p:spPr>
            <p:txBody>
              <a:bodyPr wrap="none" rtlCol="0">
                <a:spAutoFit/>
              </a:bodyPr>
              <a:lstStyle/>
              <a:p>
                <a:r>
                  <a:rPr lang="en-US" sz="1200"/>
                  <a:t>a) </a:t>
                </a:r>
                <a14:m>
                  <m:oMath xmlns:m="http://schemas.openxmlformats.org/officeDocument/2006/math">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9</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e>
                        </m:rad>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9.9</m:t>
                        </m:r>
                      </m:num>
                      <m:den>
                        <m:sSup>
                          <m:sSupPr>
                            <m:ctrlPr>
                              <a:rPr lang="en-US" sz="1200" i="1">
                                <a:latin typeface="Cambria Math" panose="02040503050406030204" pitchFamily="18" charset="0"/>
                              </a:rPr>
                            </m:ctrlPr>
                          </m:sSupPr>
                          <m:e>
                            <m:r>
                              <a:rPr lang="en-US" sz="1200" b="0" i="1" smtClean="0">
                                <a:latin typeface="Cambria Math" panose="02040503050406030204" pitchFamily="18" charset="0"/>
                              </a:rPr>
                              <m:t>0</m:t>
                            </m:r>
                            <m:r>
                              <a:rPr lang="en-US" sz="1200" i="1">
                                <a:latin typeface="Cambria Math" panose="02040503050406030204" pitchFamily="18" charset="0"/>
                              </a:rPr>
                              <m:t>.9</m:t>
                            </m:r>
                          </m:e>
                          <m:sup>
                            <m:r>
                              <a:rPr lang="en-US" sz="1200" i="1">
                                <a:latin typeface="Cambria Math" panose="02040503050406030204" pitchFamily="18" charset="0"/>
                              </a:rPr>
                              <m:t>2</m:t>
                            </m:r>
                          </m:sup>
                        </m:sSup>
                      </m:den>
                    </m:f>
                  </m:oMath>
                </a14:m>
                <a:endParaRPr lang="en-GB" sz="1200"/>
              </a:p>
            </p:txBody>
          </p:sp>
        </mc:Choice>
        <mc:Fallback xmlns="">
          <p:sp>
            <p:nvSpPr>
              <p:cNvPr id="26" name="TextBox 25"/>
              <p:cNvSpPr txBox="1">
                <a:spLocks noRot="1" noChangeAspect="1" noMove="1" noResize="1" noEditPoints="1" noAdjustHandles="1" noChangeArrowheads="1" noChangeShapeType="1" noTextEdit="1"/>
              </p:cNvSpPr>
              <p:nvPr/>
            </p:nvSpPr>
            <p:spPr>
              <a:xfrm>
                <a:off x="202309" y="4262509"/>
                <a:ext cx="841962" cy="387286"/>
              </a:xfrm>
              <a:prstGeom prst="rect">
                <a:avLst/>
              </a:prstGeom>
              <a:blipFill>
                <a:blip r:embed="rId3"/>
                <a:stretch>
                  <a:fillRect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800594" y="4281775"/>
                <a:ext cx="846770" cy="387157"/>
              </a:xfrm>
              <a:prstGeom prst="rect">
                <a:avLst/>
              </a:prstGeom>
              <a:noFill/>
            </p:spPr>
            <p:txBody>
              <a:bodyPr wrap="none" rtlCol="0">
                <a:spAutoFit/>
              </a:bodyPr>
              <a:lstStyle/>
              <a:p>
                <a:r>
                  <a:rPr lang="en-US" sz="1200"/>
                  <a:t>b)</a:t>
                </a:r>
                <a14:m>
                  <m:oMath xmlns:m="http://schemas.openxmlformats.org/officeDocument/2006/math">
                    <m:r>
                      <a:rPr lang="en-US" sz="1200" b="0" i="0" smtClean="0">
                        <a:latin typeface="Cambria Math" panose="02040503050406030204" pitchFamily="18" charset="0"/>
                      </a:rPr>
                      <m:t> </m:t>
                    </m:r>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8</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9</m:t>
                            </m:r>
                          </m:e>
                        </m:rad>
                        <m:r>
                          <a:rPr lang="en-US" sz="1200" i="1">
                            <a:latin typeface="Cambria Math" panose="02040503050406030204" pitchFamily="18" charset="0"/>
                            <a:ea typeface="Cambria Math" panose="02040503050406030204" pitchFamily="18" charset="0"/>
                          </a:rPr>
                          <m:t> + 9.9</m:t>
                        </m:r>
                      </m:num>
                      <m:den>
                        <m:sSup>
                          <m:sSupPr>
                            <m:ctrlPr>
                              <a:rPr lang="en-US" sz="1200" i="1">
                                <a:latin typeface="Cambria Math" panose="02040503050406030204" pitchFamily="18" charset="0"/>
                              </a:rPr>
                            </m:ctrlPr>
                          </m:sSupPr>
                          <m:e>
                            <m:r>
                              <a:rPr lang="en-US" sz="1200" i="1">
                                <a:latin typeface="Cambria Math" panose="02040503050406030204" pitchFamily="18" charset="0"/>
                              </a:rPr>
                              <m:t>0.9</m:t>
                            </m:r>
                          </m:e>
                          <m:sup>
                            <m:r>
                              <a:rPr lang="en-US" sz="1200" i="1">
                                <a:latin typeface="Cambria Math" panose="02040503050406030204" pitchFamily="18" charset="0"/>
                              </a:rPr>
                              <m:t>2</m:t>
                            </m:r>
                          </m:sup>
                        </m:sSup>
                      </m:den>
                    </m:f>
                  </m:oMath>
                </a14:m>
                <a:endParaRPr lang="en-GB" sz="1200"/>
              </a:p>
            </p:txBody>
          </p:sp>
        </mc:Choice>
        <mc:Fallback xmlns="">
          <p:sp>
            <p:nvSpPr>
              <p:cNvPr id="27" name="TextBox 26"/>
              <p:cNvSpPr txBox="1">
                <a:spLocks noRot="1" noChangeAspect="1" noMove="1" noResize="1" noEditPoints="1" noAdjustHandles="1" noChangeArrowheads="1" noChangeShapeType="1" noTextEdit="1"/>
              </p:cNvSpPr>
              <p:nvPr/>
            </p:nvSpPr>
            <p:spPr>
              <a:xfrm>
                <a:off x="1800594" y="4281775"/>
                <a:ext cx="846770" cy="387157"/>
              </a:xfrm>
              <a:prstGeom prst="rect">
                <a:avLst/>
              </a:prstGeom>
              <a:blipFill>
                <a:blip r:embed="rId4"/>
                <a:stretch>
                  <a:fillRect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405291" y="4306288"/>
                <a:ext cx="846770" cy="387157"/>
              </a:xfrm>
              <a:prstGeom prst="rect">
                <a:avLst/>
              </a:prstGeom>
              <a:noFill/>
            </p:spPr>
            <p:txBody>
              <a:bodyPr wrap="none" rtlCol="0">
                <a:spAutoFit/>
              </a:bodyPr>
              <a:lstStyle/>
              <a:p>
                <a:r>
                  <a:rPr lang="en-US" sz="1200"/>
                  <a:t>c)</a:t>
                </a:r>
                <a14:m>
                  <m:oMath xmlns:m="http://schemas.openxmlformats.org/officeDocument/2006/math">
                    <m:f>
                      <m:fPr>
                        <m:ctrlPr>
                          <a:rPr lang="en-US" sz="1200" i="1">
                            <a:latin typeface="Cambria Math" panose="02040503050406030204" pitchFamily="18" charset="0"/>
                          </a:rPr>
                        </m:ctrlPr>
                      </m:fPr>
                      <m:num>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8.9</m:t>
                            </m:r>
                          </m:e>
                        </m:rad>
                        <m:r>
                          <a:rPr lang="en-US" sz="1200" i="1">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10</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num>
                      <m:den>
                        <m:sSup>
                          <m:sSupPr>
                            <m:ctrlPr>
                              <a:rPr lang="en-US" sz="1200" i="1">
                                <a:latin typeface="Cambria Math" panose="02040503050406030204" pitchFamily="18" charset="0"/>
                              </a:rPr>
                            </m:ctrlPr>
                          </m:sSupPr>
                          <m:e>
                            <m:r>
                              <a:rPr lang="en-US" sz="1200" b="0" i="1" smtClean="0">
                                <a:latin typeface="Cambria Math" panose="02040503050406030204" pitchFamily="18" charset="0"/>
                              </a:rPr>
                              <m:t>1</m:t>
                            </m:r>
                            <m:r>
                              <a:rPr lang="en-US" sz="1200" i="1">
                                <a:latin typeface="Cambria Math" panose="02040503050406030204" pitchFamily="18" charset="0"/>
                              </a:rPr>
                              <m:t>.</m:t>
                            </m:r>
                            <m:r>
                              <a:rPr lang="en-US" sz="1200" b="0" i="1" smtClean="0">
                                <a:latin typeface="Cambria Math" panose="02040503050406030204" pitchFamily="18" charset="0"/>
                              </a:rPr>
                              <m:t>1</m:t>
                            </m:r>
                          </m:e>
                          <m:sup>
                            <m:r>
                              <a:rPr lang="en-US" sz="1200" i="1">
                                <a:latin typeface="Cambria Math" panose="02040503050406030204" pitchFamily="18" charset="0"/>
                              </a:rPr>
                              <m:t>2</m:t>
                            </m:r>
                          </m:sup>
                        </m:sSup>
                      </m:den>
                    </m:f>
                  </m:oMath>
                </a14:m>
                <a:endParaRPr lang="en-GB" sz="1200"/>
              </a:p>
            </p:txBody>
          </p:sp>
        </mc:Choice>
        <mc:Fallback xmlns="">
          <p:sp>
            <p:nvSpPr>
              <p:cNvPr id="28" name="TextBox 27"/>
              <p:cNvSpPr txBox="1">
                <a:spLocks noRot="1" noChangeAspect="1" noMove="1" noResize="1" noEditPoints="1" noAdjustHandles="1" noChangeArrowheads="1" noChangeShapeType="1" noTextEdit="1"/>
              </p:cNvSpPr>
              <p:nvPr/>
            </p:nvSpPr>
            <p:spPr>
              <a:xfrm>
                <a:off x="3405291" y="4306288"/>
                <a:ext cx="846770" cy="387157"/>
              </a:xfrm>
              <a:prstGeom prst="rect">
                <a:avLst/>
              </a:prstGeom>
              <a:blipFill>
                <a:blip r:embed="rId5"/>
                <a:stretch>
                  <a:fillRect l="-719"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070482" y="4328886"/>
                <a:ext cx="854786" cy="386965"/>
              </a:xfrm>
              <a:prstGeom prst="rect">
                <a:avLst/>
              </a:prstGeom>
              <a:noFill/>
            </p:spPr>
            <p:txBody>
              <a:bodyPr wrap="none" rtlCol="0">
                <a:spAutoFit/>
              </a:bodyPr>
              <a:lstStyle/>
              <a:p>
                <a:r>
                  <a:rPr lang="en-US" sz="1200"/>
                  <a:t>d)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9.5 </m:t>
                        </m:r>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ad>
                          <m:radPr>
                            <m:degHide m:val="on"/>
                            <m:ctrlPr>
                              <a:rPr lang="en-US" sz="120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8.8</m:t>
                            </m:r>
                          </m:e>
                        </m:rad>
                      </m:num>
                      <m:den>
                        <m:sSup>
                          <m:sSupPr>
                            <m:ctrlPr>
                              <a:rPr lang="en-US" sz="1200" i="1">
                                <a:latin typeface="Cambria Math" panose="02040503050406030204" pitchFamily="18" charset="0"/>
                              </a:rPr>
                            </m:ctrlPr>
                          </m:sSupPr>
                          <m:e>
                            <m:r>
                              <a:rPr lang="en-US" sz="1200" i="1">
                                <a:latin typeface="Cambria Math" panose="02040503050406030204" pitchFamily="18" charset="0"/>
                              </a:rPr>
                              <m:t>1.</m:t>
                            </m:r>
                            <m:r>
                              <a:rPr lang="en-US" sz="1200" b="0" i="1" smtClean="0">
                                <a:latin typeface="Cambria Math" panose="02040503050406030204" pitchFamily="18" charset="0"/>
                              </a:rPr>
                              <m:t>1</m:t>
                            </m:r>
                          </m:e>
                          <m:sup>
                            <m:r>
                              <a:rPr lang="en-US" sz="1200" i="1">
                                <a:latin typeface="Cambria Math" panose="02040503050406030204" pitchFamily="18" charset="0"/>
                              </a:rPr>
                              <m:t>2</m:t>
                            </m:r>
                          </m:sup>
                        </m:sSup>
                      </m:den>
                    </m:f>
                  </m:oMath>
                </a14:m>
                <a:endParaRPr lang="en-GB" sz="1200"/>
              </a:p>
            </p:txBody>
          </p:sp>
        </mc:Choice>
        <mc:Fallback xmlns="">
          <p:sp>
            <p:nvSpPr>
              <p:cNvPr id="29" name="TextBox 28"/>
              <p:cNvSpPr txBox="1">
                <a:spLocks noRot="1" noChangeAspect="1" noMove="1" noResize="1" noEditPoints="1" noAdjustHandles="1" noChangeArrowheads="1" noChangeShapeType="1" noTextEdit="1"/>
              </p:cNvSpPr>
              <p:nvPr/>
            </p:nvSpPr>
            <p:spPr>
              <a:xfrm>
                <a:off x="5070482" y="4328886"/>
                <a:ext cx="854786" cy="386965"/>
              </a:xfrm>
              <a:prstGeom prst="rect">
                <a:avLst/>
              </a:prstGeom>
              <a:blipFill>
                <a:blip r:embed="rId6"/>
                <a:stretch>
                  <a:fillRect l="-714" b="-1563"/>
                </a:stretch>
              </a:blipFill>
            </p:spPr>
            <p:txBody>
              <a:bodyPr/>
              <a:lstStyle/>
              <a:p>
                <a:r>
                  <a:rPr lang="en-US">
                    <a:noFill/>
                  </a:rPr>
                  <a:t> </a:t>
                </a:r>
              </a:p>
            </p:txBody>
          </p:sp>
        </mc:Fallback>
      </mc:AlternateContent>
      <p:sp>
        <p:nvSpPr>
          <p:cNvPr id="30" name="Rectangle 29"/>
          <p:cNvSpPr/>
          <p:nvPr/>
        </p:nvSpPr>
        <p:spPr>
          <a:xfrm>
            <a:off x="222173" y="4735521"/>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CEEF23AD-EA17-135A-DB95-1D1FECB286F3}"/>
              </a:ext>
            </a:extLst>
          </p:cNvPr>
          <p:cNvSpPr/>
          <p:nvPr/>
        </p:nvSpPr>
        <p:spPr>
          <a:xfrm>
            <a:off x="348874" y="6084896"/>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2" name="Rectangle 31"/>
          <p:cNvSpPr/>
          <p:nvPr/>
        </p:nvSpPr>
        <p:spPr>
          <a:xfrm>
            <a:off x="1846118" y="4735520"/>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3461437" y="4735519"/>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5076756" y="4735519"/>
            <a:ext cx="1532685" cy="2344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CEEF23AD-EA17-135A-DB95-1D1FECB286F3}"/>
              </a:ext>
            </a:extLst>
          </p:cNvPr>
          <p:cNvSpPr/>
          <p:nvPr/>
        </p:nvSpPr>
        <p:spPr>
          <a:xfrm>
            <a:off x="1978281" y="6084896"/>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6" name="Rectangle 35">
            <a:extLst>
              <a:ext uri="{FF2B5EF4-FFF2-40B4-BE49-F238E27FC236}">
                <a16:creationId xmlns:a16="http://schemas.microsoft.com/office/drawing/2014/main" id="{CEEF23AD-EA17-135A-DB95-1D1FECB286F3}"/>
              </a:ext>
            </a:extLst>
          </p:cNvPr>
          <p:cNvSpPr/>
          <p:nvPr/>
        </p:nvSpPr>
        <p:spPr>
          <a:xfrm>
            <a:off x="3586224" y="6084895"/>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7" name="Rectangle 36">
            <a:extLst>
              <a:ext uri="{FF2B5EF4-FFF2-40B4-BE49-F238E27FC236}">
                <a16:creationId xmlns:a16="http://schemas.microsoft.com/office/drawing/2014/main" id="{CEEF23AD-EA17-135A-DB95-1D1FECB286F3}"/>
              </a:ext>
            </a:extLst>
          </p:cNvPr>
          <p:cNvSpPr/>
          <p:nvPr/>
        </p:nvSpPr>
        <p:spPr>
          <a:xfrm>
            <a:off x="5188000" y="6084895"/>
            <a:ext cx="1294740" cy="435848"/>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mc:AlternateContent xmlns:mc="http://schemas.openxmlformats.org/markup-compatibility/2006" xmlns:a14="http://schemas.microsoft.com/office/drawing/2010/main">
        <mc:Choice Requires="a14">
          <p:sp>
            <p:nvSpPr>
              <p:cNvPr id="62" name="TextBox 61"/>
              <p:cNvSpPr txBox="1"/>
              <p:nvPr/>
            </p:nvSpPr>
            <p:spPr>
              <a:xfrm>
                <a:off x="193397" y="7439191"/>
                <a:ext cx="800732" cy="390748"/>
              </a:xfrm>
              <a:prstGeom prst="rect">
                <a:avLst/>
              </a:prstGeom>
              <a:noFill/>
            </p:spPr>
            <p:txBody>
              <a:bodyPr wrap="none" rtlCol="0">
                <a:spAutoFit/>
              </a:bodyPr>
              <a:lstStyle/>
              <a:p>
                <a:r>
                  <a:rPr lang="en-US" sz="1200"/>
                  <a:t>f) </a:t>
                </a:r>
                <a14:m>
                  <m:oMath xmlns:m="http://schemas.openxmlformats.org/officeDocument/2006/math">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1.9</m:t>
                            </m:r>
                          </m:e>
                          <m:sup>
                            <m:r>
                              <a:rPr lang="en-US" sz="1200" b="0" i="1" smtClean="0">
                                <a:latin typeface="Cambria Math" panose="02040503050406030204" pitchFamily="18" charset="0"/>
                                <a:ea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9.9</m:t>
                        </m:r>
                      </m:num>
                      <m:den>
                        <m:rad>
                          <m:radPr>
                            <m:degHide m:val="on"/>
                            <m:ctrlPr>
                              <a:rPr lang="en-US" sz="1200" b="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4.1</m:t>
                            </m:r>
                          </m:e>
                        </m:rad>
                      </m:den>
                    </m:f>
                  </m:oMath>
                </a14:m>
                <a:endParaRPr lang="en-GB" sz="1200"/>
              </a:p>
            </p:txBody>
          </p:sp>
        </mc:Choice>
        <mc:Fallback xmlns="">
          <p:sp>
            <p:nvSpPr>
              <p:cNvPr id="62" name="TextBox 61"/>
              <p:cNvSpPr txBox="1">
                <a:spLocks noRot="1" noChangeAspect="1" noMove="1" noResize="1" noEditPoints="1" noAdjustHandles="1" noChangeArrowheads="1" noChangeShapeType="1" noTextEdit="1"/>
              </p:cNvSpPr>
              <p:nvPr/>
            </p:nvSpPr>
            <p:spPr>
              <a:xfrm>
                <a:off x="193397" y="7439191"/>
                <a:ext cx="800732" cy="390748"/>
              </a:xfrm>
              <a:prstGeom prst="rect">
                <a:avLst/>
              </a:prstGeom>
              <a:blipFill>
                <a:blip r:embed="rId7"/>
                <a:stretch>
                  <a:fillRect l="-7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1791682" y="7458457"/>
                <a:ext cx="822533" cy="390748"/>
              </a:xfrm>
              <a:prstGeom prst="rect">
                <a:avLst/>
              </a:prstGeom>
              <a:noFill/>
            </p:spPr>
            <p:txBody>
              <a:bodyPr wrap="none" rtlCol="0">
                <a:spAutoFit/>
              </a:bodyPr>
              <a:lstStyle/>
              <a:p>
                <a:r>
                  <a:rPr lang="en-US" sz="1200"/>
                  <a:t>g)</a:t>
                </a:r>
                <a14:m>
                  <m:oMath xmlns:m="http://schemas.openxmlformats.org/officeDocument/2006/math">
                    <m:r>
                      <a:rPr lang="en-US" sz="1200" b="0" i="0" smtClean="0">
                        <a:latin typeface="Cambria Math" panose="02040503050406030204" pitchFamily="18" charset="0"/>
                      </a:rPr>
                      <m:t> </m:t>
                    </m:r>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ea typeface="Cambria Math" panose="02040503050406030204" pitchFamily="18" charset="0"/>
                              </a:rPr>
                            </m:ctrlPr>
                          </m:sSupPr>
                          <m:e>
                            <m:r>
                              <a:rPr lang="en-US" sz="1200" i="1" smtClean="0">
                                <a:latin typeface="Cambria Math" panose="02040503050406030204" pitchFamily="18" charset="0"/>
                                <a:ea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.9</m:t>
                            </m:r>
                          </m:e>
                          <m:sup>
                            <m:r>
                              <a:rPr lang="en-US" sz="1200" b="0" i="1" smtClean="0">
                                <a:latin typeface="Cambria Math" panose="02040503050406030204" pitchFamily="18" charset="0"/>
                                <a:ea typeface="Cambria Math" panose="02040503050406030204" pitchFamily="18" charset="0"/>
                              </a:rPr>
                              <m:t>2</m:t>
                            </m:r>
                          </m:sup>
                        </m:sSup>
                        <m:r>
                          <a:rPr lang="en-US" sz="1200" i="1">
                            <a:latin typeface="Cambria Math" panose="02040503050406030204" pitchFamily="18" charset="0"/>
                            <a:ea typeface="Cambria Math" panose="02040503050406030204" pitchFamily="18" charset="0"/>
                          </a:rPr>
                          <m:t> × 9.9</m:t>
                        </m:r>
                      </m:num>
                      <m:den>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4.1</m:t>
                            </m:r>
                          </m:e>
                        </m:rad>
                      </m:den>
                    </m:f>
                  </m:oMath>
                </a14:m>
                <a:endParaRPr lang="en-GB" sz="1200"/>
              </a:p>
            </p:txBody>
          </p:sp>
        </mc:Choice>
        <mc:Fallback xmlns="">
          <p:sp>
            <p:nvSpPr>
              <p:cNvPr id="63" name="TextBox 62"/>
              <p:cNvSpPr txBox="1">
                <a:spLocks noRot="1" noChangeAspect="1" noMove="1" noResize="1" noEditPoints="1" noAdjustHandles="1" noChangeArrowheads="1" noChangeShapeType="1" noTextEdit="1"/>
              </p:cNvSpPr>
              <p:nvPr/>
            </p:nvSpPr>
            <p:spPr>
              <a:xfrm>
                <a:off x="1791682" y="7458457"/>
                <a:ext cx="822533" cy="390748"/>
              </a:xfrm>
              <a:prstGeom prst="rect">
                <a:avLst/>
              </a:prstGeom>
              <a:blipFill>
                <a:blip r:embed="rId8"/>
                <a:stretch>
                  <a:fillRect l="-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3396379" y="7463920"/>
                <a:ext cx="772584" cy="380297"/>
              </a:xfrm>
              <a:prstGeom prst="rect">
                <a:avLst/>
              </a:prstGeom>
              <a:noFill/>
            </p:spPr>
            <p:txBody>
              <a:bodyPr wrap="none" rtlCol="0">
                <a:spAutoFit/>
              </a:bodyPr>
              <a:lstStyle/>
              <a:p>
                <a:r>
                  <a:rPr lang="en-US" sz="1200"/>
                  <a:t>h)</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4.1</m:t>
                        </m:r>
                        <m:r>
                          <a:rPr lang="en-US" sz="1200" i="1">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4.1</m:t>
                            </m:r>
                          </m:e>
                          <m:sup>
                            <m:r>
                              <a:rPr lang="en-US" sz="1200" b="0" i="1" smtClean="0">
                                <a:latin typeface="Cambria Math" panose="02040503050406030204" pitchFamily="18" charset="0"/>
                                <a:ea typeface="Cambria Math" panose="02040503050406030204" pitchFamily="18" charset="0"/>
                              </a:rPr>
                              <m:t>2</m:t>
                            </m:r>
                          </m:sup>
                        </m:sSup>
                      </m:num>
                      <m:den>
                        <m:r>
                          <a:rPr lang="en-US" sz="1200" i="1" smtClean="0">
                            <a:latin typeface="Cambria Math" panose="02040503050406030204" pitchFamily="18" charset="0"/>
                          </a:rPr>
                          <m:t>7</m:t>
                        </m:r>
                        <m:r>
                          <a:rPr lang="en-US" sz="1200" b="0" i="1" smtClean="0">
                            <a:latin typeface="Cambria Math" panose="02040503050406030204" pitchFamily="18" charset="0"/>
                          </a:rPr>
                          <m:t>.9</m:t>
                        </m:r>
                      </m:den>
                    </m:f>
                  </m:oMath>
                </a14:m>
                <a:endParaRPr lang="en-GB" sz="1200"/>
              </a:p>
            </p:txBody>
          </p:sp>
        </mc:Choice>
        <mc:Fallback xmlns="">
          <p:sp>
            <p:nvSpPr>
              <p:cNvPr id="64" name="TextBox 63"/>
              <p:cNvSpPr txBox="1">
                <a:spLocks noRot="1" noChangeAspect="1" noMove="1" noResize="1" noEditPoints="1" noAdjustHandles="1" noChangeArrowheads="1" noChangeShapeType="1" noTextEdit="1"/>
              </p:cNvSpPr>
              <p:nvPr/>
            </p:nvSpPr>
            <p:spPr>
              <a:xfrm>
                <a:off x="3396379" y="7463920"/>
                <a:ext cx="772584" cy="380297"/>
              </a:xfrm>
              <a:prstGeom prst="rect">
                <a:avLst/>
              </a:prstGeom>
              <a:blipFill>
                <a:blip r:embed="rId9"/>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5061570" y="7448418"/>
                <a:ext cx="867482" cy="387414"/>
              </a:xfrm>
              <a:prstGeom prst="rect">
                <a:avLst/>
              </a:prstGeom>
              <a:noFill/>
            </p:spPr>
            <p:txBody>
              <a:bodyPr wrap="none" rtlCol="0">
                <a:spAutoFit/>
              </a:bodyPr>
              <a:lstStyle/>
              <a:p>
                <a:r>
                  <a:rPr lang="en-US" sz="1200" err="1"/>
                  <a:t>i</a:t>
                </a:r>
                <a:r>
                  <a:rPr lang="en-US" sz="1200"/>
                  <a:t>) </a:t>
                </a:r>
                <a14:m>
                  <m:oMath xmlns:m="http://schemas.openxmlformats.org/officeDocument/2006/math">
                    <m:f>
                      <m:fPr>
                        <m:ctrlPr>
                          <a:rPr lang="en-US" sz="1200" i="1">
                            <a:latin typeface="Cambria Math" panose="02040503050406030204" pitchFamily="18" charset="0"/>
                          </a:rPr>
                        </m:ctrlPr>
                      </m:fPr>
                      <m:num>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5.9</m:t>
                            </m:r>
                          </m:e>
                          <m:sup>
                            <m:r>
                              <a:rPr lang="en-US" sz="1200" b="0" i="1" smtClean="0">
                                <a:latin typeface="Cambria Math" panose="02040503050406030204" pitchFamily="18" charset="0"/>
                              </a:rPr>
                              <m:t>2</m:t>
                            </m:r>
                          </m:sup>
                        </m:sSup>
                        <m:r>
                          <a:rPr lang="en-US" sz="1200" b="0" i="1" smtClean="0">
                            <a:latin typeface="Cambria Math" panose="02040503050406030204" pitchFamily="18" charset="0"/>
                            <a:ea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rad>
                          <m:radPr>
                            <m:degHide m:val="on"/>
                            <m:ctrlPr>
                              <a:rPr lang="en-US" sz="1200" i="1" smtClean="0">
                                <a:latin typeface="Cambria Math" panose="02040503050406030204" pitchFamily="18" charset="0"/>
                                <a:ea typeface="Cambria Math" panose="02040503050406030204" pitchFamily="18" charset="0"/>
                              </a:rPr>
                            </m:ctrlPr>
                          </m:radPr>
                          <m:deg/>
                          <m:e>
                            <m:r>
                              <a:rPr lang="en-US" sz="1200" b="0" i="1" smtClean="0">
                                <a:latin typeface="Cambria Math" panose="02040503050406030204" pitchFamily="18" charset="0"/>
                                <a:ea typeface="Cambria Math" panose="02040503050406030204" pitchFamily="18" charset="0"/>
                              </a:rPr>
                              <m:t>4.1</m:t>
                            </m:r>
                          </m:e>
                        </m:rad>
                      </m:num>
                      <m:den>
                        <m:r>
                          <a:rPr lang="en-US" sz="1200" i="1" smtClean="0">
                            <a:latin typeface="Cambria Math" panose="02040503050406030204" pitchFamily="18" charset="0"/>
                          </a:rPr>
                          <m:t>1</m:t>
                        </m:r>
                        <m:r>
                          <a:rPr lang="en-US" sz="1200" b="0" i="1" smtClean="0">
                            <a:latin typeface="Cambria Math" panose="02040503050406030204" pitchFamily="18" charset="0"/>
                          </a:rPr>
                          <m:t>1.9</m:t>
                        </m:r>
                      </m:den>
                    </m:f>
                  </m:oMath>
                </a14:m>
                <a:endParaRPr lang="en-GB" sz="1200"/>
              </a:p>
            </p:txBody>
          </p:sp>
        </mc:Choice>
        <mc:Fallback xmlns="">
          <p:sp>
            <p:nvSpPr>
              <p:cNvPr id="65" name="TextBox 64"/>
              <p:cNvSpPr txBox="1">
                <a:spLocks noRot="1" noChangeAspect="1" noMove="1" noResize="1" noEditPoints="1" noAdjustHandles="1" noChangeArrowheads="1" noChangeShapeType="1" noTextEdit="1"/>
              </p:cNvSpPr>
              <p:nvPr/>
            </p:nvSpPr>
            <p:spPr>
              <a:xfrm>
                <a:off x="5061570" y="7448418"/>
                <a:ext cx="867482" cy="387414"/>
              </a:xfrm>
              <a:prstGeom prst="rect">
                <a:avLst/>
              </a:prstGeom>
              <a:blipFill>
                <a:blip r:embed="rId10"/>
                <a:stretch>
                  <a:fillRect b="-3175"/>
                </a:stretch>
              </a:blipFill>
            </p:spPr>
            <p:txBody>
              <a:bodyPr/>
              <a:lstStyle/>
              <a:p>
                <a:r>
                  <a:rPr lang="en-US">
                    <a:noFill/>
                  </a:rPr>
                  <a:t> </a:t>
                </a:r>
              </a:p>
            </p:txBody>
          </p:sp>
        </mc:Fallback>
      </mc:AlternateContent>
      <p:sp>
        <p:nvSpPr>
          <p:cNvPr id="66" name="Rectangle 65"/>
          <p:cNvSpPr/>
          <p:nvPr/>
        </p:nvSpPr>
        <p:spPr>
          <a:xfrm>
            <a:off x="213261" y="7845429"/>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CEEF23AD-EA17-135A-DB95-1D1FECB286F3}"/>
              </a:ext>
            </a:extLst>
          </p:cNvPr>
          <p:cNvSpPr/>
          <p:nvPr/>
        </p:nvSpPr>
        <p:spPr>
          <a:xfrm>
            <a:off x="339962" y="944255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8" name="Rectangle 67"/>
          <p:cNvSpPr/>
          <p:nvPr/>
        </p:nvSpPr>
        <p:spPr>
          <a:xfrm>
            <a:off x="1837206" y="7845428"/>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p:cNvSpPr/>
          <p:nvPr/>
        </p:nvSpPr>
        <p:spPr>
          <a:xfrm>
            <a:off x="3452525" y="7845427"/>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p:cNvSpPr/>
          <p:nvPr/>
        </p:nvSpPr>
        <p:spPr>
          <a:xfrm>
            <a:off x="5067844" y="7845427"/>
            <a:ext cx="1532685" cy="20081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CEEF23AD-EA17-135A-DB95-1D1FECB286F3}"/>
              </a:ext>
            </a:extLst>
          </p:cNvPr>
          <p:cNvSpPr/>
          <p:nvPr/>
        </p:nvSpPr>
        <p:spPr>
          <a:xfrm>
            <a:off x="1969369" y="9442553"/>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2" name="Rectangle 71">
            <a:extLst>
              <a:ext uri="{FF2B5EF4-FFF2-40B4-BE49-F238E27FC236}">
                <a16:creationId xmlns:a16="http://schemas.microsoft.com/office/drawing/2014/main" id="{CEEF23AD-EA17-135A-DB95-1D1FECB286F3}"/>
              </a:ext>
            </a:extLst>
          </p:cNvPr>
          <p:cNvSpPr/>
          <p:nvPr/>
        </p:nvSpPr>
        <p:spPr>
          <a:xfrm>
            <a:off x="3577312" y="944255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3" name="Rectangle 72">
            <a:extLst>
              <a:ext uri="{FF2B5EF4-FFF2-40B4-BE49-F238E27FC236}">
                <a16:creationId xmlns:a16="http://schemas.microsoft.com/office/drawing/2014/main" id="{CEEF23AD-EA17-135A-DB95-1D1FECB286F3}"/>
              </a:ext>
            </a:extLst>
          </p:cNvPr>
          <p:cNvSpPr/>
          <p:nvPr/>
        </p:nvSpPr>
        <p:spPr>
          <a:xfrm>
            <a:off x="5179088" y="9442552"/>
            <a:ext cx="1294740" cy="327315"/>
          </a:xfrm>
          <a:prstGeom prst="rect">
            <a:avLst/>
          </a:prstGeom>
          <a:solidFill>
            <a:schemeClr val="bg1"/>
          </a:solid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Slide Number Placeholder 2"/>
          <p:cNvSpPr>
            <a:spLocks noGrp="1"/>
          </p:cNvSpPr>
          <p:nvPr>
            <p:ph type="sldNum" sz="quarter" idx="12"/>
          </p:nvPr>
        </p:nvSpPr>
        <p:spPr>
          <a:xfrm>
            <a:off x="5395716" y="9576945"/>
            <a:ext cx="1543050" cy="527403"/>
          </a:xfrm>
        </p:spPr>
        <p:txBody>
          <a:bodyPr/>
          <a:lstStyle/>
          <a:p>
            <a:fld id="{19F1D9CC-7119-45EC-A96C-D8C0660F3AAB}" type="slidenum">
              <a:rPr lang="en-GB" smtClean="0"/>
              <a:t>35</a:t>
            </a:fld>
            <a:endParaRPr lang="en-GB"/>
          </a:p>
        </p:txBody>
      </p:sp>
      <p:sp>
        <p:nvSpPr>
          <p:cNvPr id="10" name="Rectangle 9">
            <a:extLst>
              <a:ext uri="{FF2B5EF4-FFF2-40B4-BE49-F238E27FC236}">
                <a16:creationId xmlns:a16="http://schemas.microsoft.com/office/drawing/2014/main" id="{EF677E54-4F8D-A98C-3D5E-C1174B1CB795}"/>
              </a:ext>
            </a:extLst>
          </p:cNvPr>
          <p:cNvSpPr/>
          <p:nvPr/>
        </p:nvSpPr>
        <p:spPr>
          <a:xfrm>
            <a:off x="181527" y="3895511"/>
            <a:ext cx="1137954" cy="34045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a:t>Independent Practice</a:t>
            </a:r>
          </a:p>
        </p:txBody>
      </p:sp>
      <p:sp>
        <p:nvSpPr>
          <p:cNvPr id="24" name="Rectangle 23">
            <a:extLst>
              <a:ext uri="{FF2B5EF4-FFF2-40B4-BE49-F238E27FC236}">
                <a16:creationId xmlns:a16="http://schemas.microsoft.com/office/drawing/2014/main" id="{13DA0C70-0D8D-F2DC-4204-1A5B237A035B}"/>
              </a:ext>
            </a:extLst>
          </p:cNvPr>
          <p:cNvSpPr/>
          <p:nvPr/>
        </p:nvSpPr>
        <p:spPr>
          <a:xfrm>
            <a:off x="180207" y="0"/>
            <a:ext cx="2605999" cy="38202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Multi-step Estimation</a:t>
            </a:r>
          </a:p>
        </p:txBody>
      </p:sp>
    </p:spTree>
    <p:extLst>
      <p:ext uri="{BB962C8B-B14F-4D97-AF65-F5344CB8AC3E}">
        <p14:creationId xmlns:p14="http://schemas.microsoft.com/office/powerpoint/2010/main" val="1155165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7487" y="465858"/>
            <a:ext cx="5935513" cy="276999"/>
          </a:xfrm>
          <a:prstGeom prst="rect">
            <a:avLst/>
          </a:prstGeom>
        </p:spPr>
        <p:txBody>
          <a:bodyPr wrap="square">
            <a:spAutoFit/>
          </a:bodyPr>
          <a:lstStyle/>
          <a:p>
            <a:r>
              <a:rPr lang="en-US" sz="1200"/>
              <a:t>8. Estimate the total cost of 32 printers at £198 each and 58 ink cartridges at £31.15 each. </a:t>
            </a:r>
            <a:endParaRPr lang="en-GB" sz="1200"/>
          </a:p>
        </p:txBody>
      </p:sp>
      <p:sp>
        <p:nvSpPr>
          <p:cNvPr id="4" name="Rectangle 3"/>
          <p:cNvSpPr/>
          <p:nvPr/>
        </p:nvSpPr>
        <p:spPr>
          <a:xfrm>
            <a:off x="159275" y="1557655"/>
            <a:ext cx="6207558" cy="461665"/>
          </a:xfrm>
          <a:prstGeom prst="rect">
            <a:avLst/>
          </a:prstGeom>
        </p:spPr>
        <p:txBody>
          <a:bodyPr wrap="square">
            <a:spAutoFit/>
          </a:bodyPr>
          <a:lstStyle/>
          <a:p>
            <a:r>
              <a:rPr lang="en-US" sz="1200"/>
              <a:t>9. In a cinema there are 28 rows and in each row there are 22 seats. Each ticket costs £8.10 Work out an estimate for the total income from the ticket sales</a:t>
            </a:r>
            <a:endParaRPr lang="en-GB" sz="1200"/>
          </a:p>
        </p:txBody>
      </p:sp>
      <p:sp>
        <p:nvSpPr>
          <p:cNvPr id="5" name="Rectangle 4"/>
          <p:cNvSpPr/>
          <p:nvPr/>
        </p:nvSpPr>
        <p:spPr>
          <a:xfrm>
            <a:off x="159275" y="2984339"/>
            <a:ext cx="6541811" cy="461665"/>
          </a:xfrm>
          <a:prstGeom prst="rect">
            <a:avLst/>
          </a:prstGeom>
        </p:spPr>
        <p:txBody>
          <a:bodyPr wrap="square">
            <a:spAutoFit/>
          </a:bodyPr>
          <a:lstStyle/>
          <a:p>
            <a:r>
              <a:rPr lang="en-US" sz="1200"/>
              <a:t>10. Lauren is given two job offers Job A: £785 a week Job B: £1950 a month Which job is offering the greatest pay?</a:t>
            </a:r>
            <a:endParaRPr lang="en-GB" sz="1200"/>
          </a:p>
        </p:txBody>
      </p:sp>
      <p:sp>
        <p:nvSpPr>
          <p:cNvPr id="6" name="Rectangle 5"/>
          <p:cNvSpPr/>
          <p:nvPr/>
        </p:nvSpPr>
        <p:spPr>
          <a:xfrm>
            <a:off x="203752" y="4398217"/>
            <a:ext cx="6541811" cy="461665"/>
          </a:xfrm>
          <a:prstGeom prst="rect">
            <a:avLst/>
          </a:prstGeom>
        </p:spPr>
        <p:txBody>
          <a:bodyPr wrap="square">
            <a:spAutoFit/>
          </a:bodyPr>
          <a:lstStyle/>
          <a:p>
            <a:r>
              <a:rPr lang="en-US" sz="1200"/>
              <a:t>11. A buzzer beeps every 1,111 seconds. Work out an estimate for the number of times the buzzer beeps in 1 week.</a:t>
            </a:r>
            <a:endParaRPr lang="en-GB" sz="1200"/>
          </a:p>
        </p:txBody>
      </p:sp>
      <p:sp>
        <p:nvSpPr>
          <p:cNvPr id="7" name="Rectangle 6"/>
          <p:cNvSpPr/>
          <p:nvPr/>
        </p:nvSpPr>
        <p:spPr>
          <a:xfrm>
            <a:off x="159275" y="5812095"/>
            <a:ext cx="6406055" cy="830997"/>
          </a:xfrm>
          <a:prstGeom prst="rect">
            <a:avLst/>
          </a:prstGeom>
        </p:spPr>
        <p:txBody>
          <a:bodyPr wrap="square">
            <a:spAutoFit/>
          </a:bodyPr>
          <a:lstStyle/>
          <a:p>
            <a:r>
              <a:rPr lang="en-US" sz="1200"/>
              <a:t>12. Andrew is going to fill an empty swimming pool. Andrew fills the swimming pool with water at a constant rate of 2.1 </a:t>
            </a:r>
            <a:r>
              <a:rPr lang="en-US" sz="1200" err="1"/>
              <a:t>litres</a:t>
            </a:r>
            <a:r>
              <a:rPr lang="en-US" sz="1200"/>
              <a:t> per second. </a:t>
            </a:r>
          </a:p>
          <a:p>
            <a:endParaRPr lang="en-US" sz="1200"/>
          </a:p>
          <a:p>
            <a:r>
              <a:rPr lang="en-US" sz="1200"/>
              <a:t>Given 1m³ = 1000 </a:t>
            </a:r>
            <a:r>
              <a:rPr lang="en-US" sz="1200" err="1"/>
              <a:t>litres</a:t>
            </a:r>
            <a:r>
              <a:rPr lang="en-US" sz="1200"/>
              <a:t>, estimate how long it takes to fill the pool</a:t>
            </a:r>
            <a:endParaRPr lang="en-GB" sz="1200"/>
          </a:p>
        </p:txBody>
      </p:sp>
      <p:pic>
        <p:nvPicPr>
          <p:cNvPr id="8" name="Picture 7"/>
          <p:cNvPicPr>
            <a:picLocks noChangeAspect="1"/>
          </p:cNvPicPr>
          <p:nvPr/>
        </p:nvPicPr>
        <p:blipFill>
          <a:blip r:embed="rId2"/>
          <a:stretch>
            <a:fillRect/>
          </a:stretch>
        </p:blipFill>
        <p:spPr>
          <a:xfrm>
            <a:off x="4200525" y="6583035"/>
            <a:ext cx="2657475" cy="1285875"/>
          </a:xfrm>
          <a:prstGeom prst="rect">
            <a:avLst/>
          </a:prstGeom>
        </p:spPr>
      </p:pic>
      <p:sp>
        <p:nvSpPr>
          <p:cNvPr id="9" name="Rectangle 8"/>
          <p:cNvSpPr/>
          <p:nvPr/>
        </p:nvSpPr>
        <p:spPr>
          <a:xfrm>
            <a:off x="287487" y="876933"/>
            <a:ext cx="6277843" cy="5917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287487" y="2102752"/>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287487" y="3534944"/>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287487" y="4961628"/>
            <a:ext cx="6277843" cy="7709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287487" y="6684352"/>
            <a:ext cx="3761999" cy="1305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Rectangle 13"/>
              <p:cNvSpPr/>
              <p:nvPr/>
            </p:nvSpPr>
            <p:spPr>
              <a:xfrm>
                <a:off x="203752" y="8098659"/>
                <a:ext cx="6406055" cy="468654"/>
              </a:xfrm>
              <a:prstGeom prst="rect">
                <a:avLst/>
              </a:prstGeom>
            </p:spPr>
            <p:txBody>
              <a:bodyPr wrap="square">
                <a:spAutoFit/>
              </a:bodyPr>
              <a:lstStyle/>
              <a:p>
                <a:r>
                  <a:rPr lang="en-US" sz="1200"/>
                  <a:t>13. Estimate </a:t>
                </a:r>
                <a14:m>
                  <m:oMath xmlns:m="http://schemas.openxmlformats.org/officeDocument/2006/math">
                    <m:f>
                      <m:fPr>
                        <m:ctrlPr>
                          <a:rPr lang="en-US" sz="1400" i="1">
                            <a:latin typeface="Cambria Math" panose="02040503050406030204" pitchFamily="18" charset="0"/>
                          </a:rPr>
                        </m:ctrlPr>
                      </m:fPr>
                      <m:num>
                        <m:rad>
                          <m:radPr>
                            <m:ctrlPr>
                              <a:rPr lang="en-US" sz="1400" b="0" i="1" smtClean="0">
                                <a:latin typeface="Cambria Math" panose="02040503050406030204" pitchFamily="18" charset="0"/>
                                <a:ea typeface="Cambria Math" panose="02040503050406030204" pitchFamily="18" charset="0"/>
                              </a:rPr>
                            </m:ctrlPr>
                          </m:radPr>
                          <m:deg>
                            <m:r>
                              <a:rPr lang="en-US" sz="1400" b="0" smtClean="0">
                                <a:latin typeface="Cambria Math" panose="02040503050406030204" pitchFamily="18" charset="0"/>
                                <a:ea typeface="Cambria Math" panose="02040503050406030204" pitchFamily="18" charset="0"/>
                              </a:rPr>
                              <m:t>3</m:t>
                            </m:r>
                          </m:deg>
                          <m:e>
                            <m:r>
                              <a:rPr lang="en-US" sz="1400" b="0" i="1" smtClean="0">
                                <a:latin typeface="Cambria Math" panose="02040503050406030204" pitchFamily="18" charset="0"/>
                                <a:ea typeface="Cambria Math" panose="02040503050406030204" pitchFamily="18" charset="0"/>
                              </a:rPr>
                              <m:t>124</m:t>
                            </m:r>
                          </m:e>
                        </m:rad>
                        <m:r>
                          <a:rPr lang="en-US" sz="1400" i="1">
                            <a:latin typeface="Cambria Math" panose="02040503050406030204" pitchFamily="18" charset="0"/>
                            <a:ea typeface="Cambria Math" panose="02040503050406030204" pitchFamily="18" charset="0"/>
                          </a:rPr>
                          <m:t> ×</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3</m:t>
                            </m:r>
                            <m:r>
                              <a:rPr lang="en-US" sz="1400" i="1">
                                <a:latin typeface="Cambria Math" panose="02040503050406030204" pitchFamily="18" charset="0"/>
                                <a:ea typeface="Cambria Math" panose="02040503050406030204" pitchFamily="18" charset="0"/>
                              </a:rPr>
                              <m:t>.9</m:t>
                            </m:r>
                          </m:e>
                          <m:sup>
                            <m:r>
                              <a:rPr lang="en-US" sz="1400" b="0" i="1" smtClean="0">
                                <a:latin typeface="Cambria Math" panose="02040503050406030204" pitchFamily="18" charset="0"/>
                                <a:ea typeface="Cambria Math" panose="02040503050406030204" pitchFamily="18" charset="0"/>
                              </a:rPr>
                              <m:t>2</m:t>
                            </m:r>
                          </m:sup>
                        </m:sSup>
                      </m:num>
                      <m:den>
                        <m:rad>
                          <m:radPr>
                            <m:degHide m:val="on"/>
                            <m:ctrlPr>
                              <a:rPr lang="en-US" sz="1400" b="0" i="1" smtClean="0">
                                <a:latin typeface="Cambria Math" panose="02040503050406030204" pitchFamily="18" charset="0"/>
                              </a:rPr>
                            </m:ctrlPr>
                          </m:radPr>
                          <m:deg/>
                          <m:e>
                            <m:r>
                              <a:rPr lang="en-US" sz="1400" b="0" i="1" smtClean="0">
                                <a:latin typeface="Cambria Math" panose="02040503050406030204" pitchFamily="18" charset="0"/>
                              </a:rPr>
                              <m:t>15.9</m:t>
                            </m:r>
                          </m:e>
                        </m:rad>
                        <m:r>
                          <a:rPr lang="en-US" sz="1400" b="0" i="1" smtClean="0">
                            <a:latin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 1.9</m:t>
                        </m:r>
                      </m:den>
                    </m:f>
                  </m:oMath>
                </a14:m>
                <a:r>
                  <a:rPr lang="en-US" sz="1200"/>
                  <a:t> </a:t>
                </a:r>
                <a:endParaRPr lang="en-GB" sz="1200"/>
              </a:p>
            </p:txBody>
          </p:sp>
        </mc:Choice>
        <mc:Fallback xmlns="">
          <p:sp>
            <p:nvSpPr>
              <p:cNvPr id="14" name="Rectangle 13"/>
              <p:cNvSpPr>
                <a:spLocks noRot="1" noChangeAspect="1" noMove="1" noResize="1" noEditPoints="1" noAdjustHandles="1" noChangeArrowheads="1" noChangeShapeType="1" noTextEdit="1"/>
              </p:cNvSpPr>
              <p:nvPr/>
            </p:nvSpPr>
            <p:spPr>
              <a:xfrm>
                <a:off x="203752" y="8098659"/>
                <a:ext cx="6406055" cy="468654"/>
              </a:xfrm>
              <a:prstGeom prst="rect">
                <a:avLst/>
              </a:prstGeom>
              <a:blipFill>
                <a:blip r:embed="rId3"/>
                <a:stretch>
                  <a:fillRect/>
                </a:stretch>
              </a:blipFill>
            </p:spPr>
            <p:txBody>
              <a:bodyPr/>
              <a:lstStyle/>
              <a:p>
                <a:r>
                  <a:rPr lang="en-US">
                    <a:noFill/>
                  </a:rPr>
                  <a:t> </a:t>
                </a:r>
              </a:p>
            </p:txBody>
          </p:sp>
        </mc:Fallback>
      </mc:AlternateContent>
      <p:sp>
        <p:nvSpPr>
          <p:cNvPr id="15" name="Rectangle 14"/>
          <p:cNvSpPr/>
          <p:nvPr/>
        </p:nvSpPr>
        <p:spPr>
          <a:xfrm>
            <a:off x="287487" y="8639849"/>
            <a:ext cx="6277843" cy="11924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2"/>
          <p:cNvSpPr>
            <a:spLocks noGrp="1"/>
          </p:cNvSpPr>
          <p:nvPr>
            <p:ph type="sldNum" sz="quarter" idx="12"/>
          </p:nvPr>
        </p:nvSpPr>
        <p:spPr>
          <a:xfrm>
            <a:off x="5395716" y="9590197"/>
            <a:ext cx="1543050" cy="527403"/>
          </a:xfrm>
        </p:spPr>
        <p:txBody>
          <a:bodyPr/>
          <a:lstStyle/>
          <a:p>
            <a:fld id="{19F1D9CC-7119-45EC-A96C-D8C0660F3AAB}" type="slidenum">
              <a:rPr lang="en-GB" smtClean="0"/>
              <a:t>36</a:t>
            </a:fld>
            <a:endParaRPr lang="en-GB"/>
          </a:p>
        </p:txBody>
      </p:sp>
    </p:spTree>
    <p:extLst>
      <p:ext uri="{BB962C8B-B14F-4D97-AF65-F5344CB8AC3E}">
        <p14:creationId xmlns:p14="http://schemas.microsoft.com/office/powerpoint/2010/main" val="3698607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42EBD2-023A-71ED-679C-2147AE612BFF}"/>
              </a:ext>
            </a:extLst>
          </p:cNvPr>
          <p:cNvSpPr>
            <a:spLocks noGrp="1"/>
          </p:cNvSpPr>
          <p:nvPr>
            <p:ph type="sldNum" sz="quarter" idx="12"/>
          </p:nvPr>
        </p:nvSpPr>
        <p:spPr/>
        <p:txBody>
          <a:bodyPr/>
          <a:lstStyle/>
          <a:p>
            <a:fld id="{19F1D9CC-7119-45EC-A96C-D8C0660F3AAB}" type="slidenum">
              <a:rPr lang="en-GB" smtClean="0"/>
              <a:t>37</a:t>
            </a:fld>
            <a:endParaRPr lang="en-GB"/>
          </a:p>
        </p:txBody>
      </p:sp>
      <p:sp>
        <p:nvSpPr>
          <p:cNvPr id="4" name="Rectangle 3">
            <a:extLst>
              <a:ext uri="{FF2B5EF4-FFF2-40B4-BE49-F238E27FC236}">
                <a16:creationId xmlns:a16="http://schemas.microsoft.com/office/drawing/2014/main" id="{3B406EFD-3997-B33B-E7B6-37A9BC479EFC}"/>
              </a:ext>
            </a:extLst>
          </p:cNvPr>
          <p:cNvSpPr/>
          <p:nvPr/>
        </p:nvSpPr>
        <p:spPr>
          <a:xfrm>
            <a:off x="-2" y="14515"/>
            <a:ext cx="6858001" cy="37737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bg1"/>
                </a:solidFill>
              </a:rPr>
              <a:t>G</a:t>
            </a:r>
            <a:r>
              <a:rPr lang="en-US" sz="1600" b="1" dirty="0">
                <a:solidFill>
                  <a:schemeClr val="bg1"/>
                </a:solidFill>
              </a:rPr>
              <a:t>CSE Questions</a:t>
            </a:r>
            <a:endParaRPr lang="en-GB" sz="1600" b="1" dirty="0">
              <a:solidFill>
                <a:schemeClr val="bg1"/>
              </a:solidFill>
            </a:endParaRPr>
          </a:p>
        </p:txBody>
      </p:sp>
      <p:pic>
        <p:nvPicPr>
          <p:cNvPr id="6" name="Picture 5" descr="A paper with text on it&#10;&#10;AI-generated content may be incorrect.">
            <a:extLst>
              <a:ext uri="{FF2B5EF4-FFF2-40B4-BE49-F238E27FC236}">
                <a16:creationId xmlns:a16="http://schemas.microsoft.com/office/drawing/2014/main" id="{A6A1CA12-C575-9E59-49BA-9D2217A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13310"/>
            <a:ext cx="6168571" cy="6747661"/>
          </a:xfrm>
          <a:prstGeom prst="rect">
            <a:avLst/>
          </a:prstGeom>
        </p:spPr>
      </p:pic>
      <p:pic>
        <p:nvPicPr>
          <p:cNvPr id="8" name="Picture 7" descr="A white background with black text&#10;&#10;AI-generated content may be incorrect.">
            <a:extLst>
              <a:ext uri="{FF2B5EF4-FFF2-40B4-BE49-F238E27FC236}">
                <a16:creationId xmlns:a16="http://schemas.microsoft.com/office/drawing/2014/main" id="{991E96D7-48EA-7485-93FE-EC6CCC0AD7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504307"/>
            <a:ext cx="6152226" cy="1677090"/>
          </a:xfrm>
          <a:prstGeom prst="rect">
            <a:avLst/>
          </a:prstGeom>
        </p:spPr>
      </p:pic>
    </p:spTree>
    <p:extLst>
      <p:ext uri="{BB962C8B-B14F-4D97-AF65-F5344CB8AC3E}">
        <p14:creationId xmlns:p14="http://schemas.microsoft.com/office/powerpoint/2010/main" val="2217879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4C7E-14EA-C419-BC77-D9FA3454411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AC7E9-762B-A461-2C89-074DC3C3720C}"/>
              </a:ext>
            </a:extLst>
          </p:cNvPr>
          <p:cNvSpPr>
            <a:spLocks noGrp="1"/>
          </p:cNvSpPr>
          <p:nvPr>
            <p:ph type="sldNum" sz="quarter" idx="12"/>
          </p:nvPr>
        </p:nvSpPr>
        <p:spPr/>
        <p:txBody>
          <a:bodyPr/>
          <a:lstStyle/>
          <a:p>
            <a:fld id="{19F1D9CC-7119-45EC-A96C-D8C0660F3AAB}" type="slidenum">
              <a:rPr lang="en-GB" smtClean="0"/>
              <a:t>38</a:t>
            </a:fld>
            <a:endParaRPr lang="en-GB"/>
          </a:p>
        </p:txBody>
      </p:sp>
      <p:pic>
        <p:nvPicPr>
          <p:cNvPr id="5" name="Picture 4" descr="A paper with text and numbers&#10;&#10;AI-generated content may be incorrect.">
            <a:extLst>
              <a:ext uri="{FF2B5EF4-FFF2-40B4-BE49-F238E27FC236}">
                <a16:creationId xmlns:a16="http://schemas.microsoft.com/office/drawing/2014/main" id="{FD2559D2-5E30-F540-1C7E-6DFE207CA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55" y="160911"/>
            <a:ext cx="5769473" cy="5340004"/>
          </a:xfrm>
          <a:prstGeom prst="rect">
            <a:avLst/>
          </a:prstGeom>
        </p:spPr>
      </p:pic>
      <p:pic>
        <p:nvPicPr>
          <p:cNvPr id="9" name="Picture 8" descr="A questionnaire with text&#10;&#10;AI-generated content may be incorrect.">
            <a:extLst>
              <a:ext uri="{FF2B5EF4-FFF2-40B4-BE49-F238E27FC236}">
                <a16:creationId xmlns:a16="http://schemas.microsoft.com/office/drawing/2014/main" id="{FF743972-C53F-4316-9B10-E2E00C189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55" y="5725116"/>
            <a:ext cx="5769473" cy="3983684"/>
          </a:xfrm>
          <a:prstGeom prst="rect">
            <a:avLst/>
          </a:prstGeom>
        </p:spPr>
      </p:pic>
    </p:spTree>
    <p:extLst>
      <p:ext uri="{BB962C8B-B14F-4D97-AF65-F5344CB8AC3E}">
        <p14:creationId xmlns:p14="http://schemas.microsoft.com/office/powerpoint/2010/main" val="3953004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24E9-D6C8-692D-30B7-CEBA38EEBC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74B2062-1527-3CC8-7BF7-FCFE1460CFB6}"/>
              </a:ext>
            </a:extLst>
          </p:cNvPr>
          <p:cNvSpPr>
            <a:spLocks noGrp="1"/>
          </p:cNvSpPr>
          <p:nvPr>
            <p:ph type="sldNum" sz="quarter" idx="12"/>
          </p:nvPr>
        </p:nvSpPr>
        <p:spPr/>
        <p:txBody>
          <a:bodyPr/>
          <a:lstStyle/>
          <a:p>
            <a:fld id="{19F1D9CC-7119-45EC-A96C-D8C0660F3AAB}" type="slidenum">
              <a:rPr lang="en-GB" smtClean="0"/>
              <a:t>39</a:t>
            </a:fld>
            <a:endParaRPr lang="en-GB"/>
          </a:p>
        </p:txBody>
      </p:sp>
      <p:pic>
        <p:nvPicPr>
          <p:cNvPr id="4" name="Picture 3" descr="A paper with a square and rectangles&#10;&#10;AI-generated content may be incorrect.">
            <a:extLst>
              <a:ext uri="{FF2B5EF4-FFF2-40B4-BE49-F238E27FC236}">
                <a16:creationId xmlns:a16="http://schemas.microsoft.com/office/drawing/2014/main" id="{DBA1FBBE-F556-383E-563E-F44A85F60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815" y="196605"/>
            <a:ext cx="5880671" cy="6160311"/>
          </a:xfrm>
          <a:prstGeom prst="rect">
            <a:avLst/>
          </a:prstGeom>
        </p:spPr>
      </p:pic>
      <p:pic>
        <p:nvPicPr>
          <p:cNvPr id="6" name="Picture 5" descr="A close-up of a receipt&#10;&#10;AI-generated content may be incorrect.">
            <a:extLst>
              <a:ext uri="{FF2B5EF4-FFF2-40B4-BE49-F238E27FC236}">
                <a16:creationId xmlns:a16="http://schemas.microsoft.com/office/drawing/2014/main" id="{41EB33E1-EBAD-36EE-3ACE-83A46EC5CA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629" y="6356915"/>
            <a:ext cx="6089884" cy="3189533"/>
          </a:xfrm>
          <a:prstGeom prst="rect">
            <a:avLst/>
          </a:prstGeom>
        </p:spPr>
      </p:pic>
    </p:spTree>
    <p:extLst>
      <p:ext uri="{BB962C8B-B14F-4D97-AF65-F5344CB8AC3E}">
        <p14:creationId xmlns:p14="http://schemas.microsoft.com/office/powerpoint/2010/main" val="718419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70A32-19ED-42D5-2055-C56EB65272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86B5DA-D37D-7C0B-9149-C947D2D37F1D}"/>
              </a:ext>
            </a:extLst>
          </p:cNvPr>
          <p:cNvSpPr>
            <a:spLocks noGrp="1"/>
          </p:cNvSpPr>
          <p:nvPr>
            <p:ph type="sldNum" sz="quarter" idx="12"/>
          </p:nvPr>
        </p:nvSpPr>
        <p:spPr/>
        <p:txBody>
          <a:bodyPr/>
          <a:lstStyle/>
          <a:p>
            <a:fld id="{19F1D9CC-7119-45EC-A96C-D8C0660F3AAB}" type="slidenum">
              <a:rPr lang="en-GB" smtClean="0"/>
              <a:t>40</a:t>
            </a:fld>
            <a:endParaRPr lang="en-GB"/>
          </a:p>
        </p:txBody>
      </p:sp>
      <p:pic>
        <p:nvPicPr>
          <p:cNvPr id="4" name="Picture 3" descr="A paper with numbers and text&#10;&#10;AI-generated content may be incorrect.">
            <a:extLst>
              <a:ext uri="{FF2B5EF4-FFF2-40B4-BE49-F238E27FC236}">
                <a16:creationId xmlns:a16="http://schemas.microsoft.com/office/drawing/2014/main" id="{8C8940A1-52B5-E5CD-A919-335EC7934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980" y="190255"/>
            <a:ext cx="6238969" cy="6544374"/>
          </a:xfrm>
          <a:prstGeom prst="rect">
            <a:avLst/>
          </a:prstGeom>
        </p:spPr>
      </p:pic>
    </p:spTree>
    <p:extLst>
      <p:ext uri="{BB962C8B-B14F-4D97-AF65-F5344CB8AC3E}">
        <p14:creationId xmlns:p14="http://schemas.microsoft.com/office/powerpoint/2010/main" val="8683662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5" ma:contentTypeDescription="Create a new document." ma:contentTypeScope="" ma:versionID="e238da7da78697d1fe4891d3ac25b45a">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372ff361b2b60b6ed47f8a13d178c3d7"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8CC0EE-6BD2-49A5-B9D5-849A50B03AF3}">
  <ds:schemaRefs>
    <ds:schemaRef ds:uri="http://schemas.microsoft.com/sharepoint/v3/contenttype/forms"/>
  </ds:schemaRefs>
</ds:datastoreItem>
</file>

<file path=customXml/itemProps2.xml><?xml version="1.0" encoding="utf-8"?>
<ds:datastoreItem xmlns:ds="http://schemas.openxmlformats.org/officeDocument/2006/customXml" ds:itemID="{A763E4D2-5CD0-4987-AAC7-42C2D0C14712}"/>
</file>

<file path=customXml/itemProps3.xml><?xml version="1.0" encoding="utf-8"?>
<ds:datastoreItem xmlns:ds="http://schemas.openxmlformats.org/officeDocument/2006/customXml" ds:itemID="{0F6D76E5-7287-49DC-AF93-B1F4EB3F8258}">
  <ds:schemaRefs>
    <ds:schemaRef ds:uri="http://www.w3.org/XML/1998/namespace"/>
    <ds:schemaRef ds:uri="http://purl.org/dc/elements/1.1/"/>
    <ds:schemaRef ds:uri="http://purl.org/dc/dcmitype/"/>
    <ds:schemaRef ds:uri="e30b71df-48f4-4db7-95c3-a9033c265cb9"/>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608ebbb4-e88b-4c99-b506-21d9362781c6"/>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7533</Words>
  <Application>Microsoft Office PowerPoint</Application>
  <PresentationFormat>A4 Paper (210x297 mm)</PresentationFormat>
  <Paragraphs>1580</Paragraphs>
  <Slides>40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.AppleSystemUIFont</vt:lpstr>
      <vt:lpstr>Arial</vt:lpstr>
      <vt:lpstr>Calibri</vt:lpstr>
      <vt:lpstr>Calibri Light</vt:lpstr>
      <vt:lpstr>Cambria Math</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Wasiq Razaq (Astrea Academy Sheffield)</dc:creator>
  <cp:lastModifiedBy>Adam Brown (Astrea Central)</cp:lastModifiedBy>
  <cp:revision>8</cp:revision>
  <cp:lastPrinted>2021-07-09T14:20:41Z</cp:lastPrinted>
  <dcterms:created xsi:type="dcterms:W3CDTF">2020-02-27T07:22:26Z</dcterms:created>
  <dcterms:modified xsi:type="dcterms:W3CDTF">2025-10-02T09:12:38Z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y fmtid="{D5CDD505-2E9C-101B-9397-08002B2CF9AE}" pid="3" name="Order">
    <vt:r8>12400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ies>
</file>