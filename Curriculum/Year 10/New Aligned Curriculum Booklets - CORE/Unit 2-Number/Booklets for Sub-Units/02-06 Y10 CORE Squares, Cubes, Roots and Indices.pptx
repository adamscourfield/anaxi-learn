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sldIdLst>
    <p:sldId id="442" r:id="rId5"/>
    <p:sldId id="565" r:id="rId6"/>
    <p:sldId id="603" r:id="rId7"/>
    <p:sldId id="2744" r:id="rId8"/>
    <p:sldId id="607" r:id="rId9"/>
    <p:sldId id="2781" r:id="rId10"/>
    <p:sldId id="611" r:id="rId11"/>
    <p:sldId id="1190" r:id="rId12"/>
    <p:sldId id="1191" r:id="rId13"/>
    <p:sldId id="1192" r:id="rId14"/>
    <p:sldId id="1193" r:id="rId15"/>
    <p:sldId id="1194" r:id="rId16"/>
    <p:sldId id="1195" r:id="rId17"/>
    <p:sldId id="1196" r:id="rId18"/>
    <p:sldId id="1197" r:id="rId19"/>
    <p:sldId id="1199" r:id="rId20"/>
    <p:sldId id="1200" r:id="rId21"/>
    <p:sldId id="1201" r:id="rId22"/>
    <p:sldId id="1203" r:id="rId23"/>
    <p:sldId id="1204" r:id="rId24"/>
    <p:sldId id="1210" r:id="rId25"/>
    <p:sldId id="1211" r:id="rId26"/>
    <p:sldId id="1212" r:id="rId27"/>
    <p:sldId id="2787" r:id="rId28"/>
    <p:sldId id="2789" r:id="rId29"/>
  </p:sldIdLst>
  <p:sldSz cx="6858000" cy="9906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8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siq Razaq (Staff, Astrea Academy Sheffield)" initials="WR(AAS" lastIdx="17" clrIdx="0">
    <p:extLst>
      <p:ext uri="{19B8F6BF-5375-455C-9EA6-DF929625EA0E}">
        <p15:presenceInfo xmlns:p15="http://schemas.microsoft.com/office/powerpoint/2012/main" userId="S::wasiq.razaq@astreasheffield.org::159e9762-73e0-4ac1-a5d5-3ca02db9f47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2341"/>
    <a:srgbClr val="FF01B3"/>
    <a:srgbClr val="C4A000"/>
    <a:srgbClr val="8F5902"/>
    <a:srgbClr val="0000FF"/>
    <a:srgbClr val="B0BF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247" autoAdjust="0"/>
  </p:normalViewPr>
  <p:slideViewPr>
    <p:cSldViewPr snapToGrid="0">
      <p:cViewPr varScale="1">
        <p:scale>
          <a:sx n="44" d="100"/>
          <a:sy n="44" d="100"/>
        </p:scale>
        <p:origin x="2232" y="40"/>
      </p:cViewPr>
      <p:guideLst>
        <p:guide orient="horz" pos="3120"/>
        <p:guide pos="218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Brown (Astrea Central)" userId="e4577f1c-a0ea-4eef-9851-9bdbe8619e58" providerId="ADAL" clId="{298CC335-43E8-497A-92EF-F6294183AD0B}"/>
    <pc:docChg chg="undo custSel delSld modSld">
      <pc:chgData name="Adam Brown (Astrea Central)" userId="e4577f1c-a0ea-4eef-9851-9bdbe8619e58" providerId="ADAL" clId="{298CC335-43E8-497A-92EF-F6294183AD0B}" dt="2025-09-15T13:28:36.725" v="1901" actId="20577"/>
      <pc:docMkLst>
        <pc:docMk/>
      </pc:docMkLst>
      <pc:sldChg chg="delSp modSp mod">
        <pc:chgData name="Adam Brown (Astrea Central)" userId="e4577f1c-a0ea-4eef-9851-9bdbe8619e58" providerId="ADAL" clId="{298CC335-43E8-497A-92EF-F6294183AD0B}" dt="2025-09-15T11:17:48.384" v="749" actId="478"/>
        <pc:sldMkLst>
          <pc:docMk/>
          <pc:sldMk cId="3499626388" sldId="270"/>
        </pc:sldMkLst>
        <pc:graphicFrameChg chg="modGraphic">
          <ac:chgData name="Adam Brown (Astrea Central)" userId="e4577f1c-a0ea-4eef-9851-9bdbe8619e58" providerId="ADAL" clId="{298CC335-43E8-497A-92EF-F6294183AD0B}" dt="2025-09-15T11:17:43.512" v="748" actId="14734"/>
          <ac:graphicFrameMkLst>
            <pc:docMk/>
            <pc:sldMk cId="3499626388" sldId="270"/>
            <ac:graphicFrameMk id="21" creationId="{00000000-0000-0000-0000-000000000000}"/>
          </ac:graphicFrameMkLst>
        </pc:graphicFrameChg>
      </pc:sldChg>
      <pc:sldChg chg="delSp mod">
        <pc:chgData name="Adam Brown (Astrea Central)" userId="e4577f1c-a0ea-4eef-9851-9bdbe8619e58" providerId="ADAL" clId="{298CC335-43E8-497A-92EF-F6294183AD0B}" dt="2025-09-15T13:27:31.878" v="1884" actId="478"/>
        <pc:sldMkLst>
          <pc:docMk/>
          <pc:sldMk cId="3802529320" sldId="290"/>
        </pc:sldMkLst>
      </pc:sldChg>
      <pc:sldChg chg="delSp mod">
        <pc:chgData name="Adam Brown (Astrea Central)" userId="e4577f1c-a0ea-4eef-9851-9bdbe8619e58" providerId="ADAL" clId="{298CC335-43E8-497A-92EF-F6294183AD0B}" dt="2025-09-15T11:17:57.337" v="751" actId="478"/>
        <pc:sldMkLst>
          <pc:docMk/>
          <pc:sldMk cId="602000621" sldId="304"/>
        </pc:sldMkLst>
      </pc:sldChg>
      <pc:sldChg chg="addSp delSp mod">
        <pc:chgData name="Adam Brown (Astrea Central)" userId="e4577f1c-a0ea-4eef-9851-9bdbe8619e58" providerId="ADAL" clId="{298CC335-43E8-497A-92EF-F6294183AD0B}" dt="2025-09-15T13:27:57.845" v="1894" actId="478"/>
        <pc:sldMkLst>
          <pc:docMk/>
          <pc:sldMk cId="201419931" sldId="418"/>
        </pc:sldMkLst>
      </pc:sldChg>
      <pc:sldChg chg="modSp mod">
        <pc:chgData name="Adam Brown (Astrea Central)" userId="e4577f1c-a0ea-4eef-9851-9bdbe8619e58" providerId="ADAL" clId="{298CC335-43E8-497A-92EF-F6294183AD0B}" dt="2025-09-15T11:21:19.735" v="822" actId="6549"/>
        <pc:sldMkLst>
          <pc:docMk/>
          <pc:sldMk cId="2200894185" sldId="442"/>
        </pc:sldMkLst>
        <pc:graphicFrameChg chg="mod modGraphic">
          <ac:chgData name="Adam Brown (Astrea Central)" userId="e4577f1c-a0ea-4eef-9851-9bdbe8619e58" providerId="ADAL" clId="{298CC335-43E8-497A-92EF-F6294183AD0B}" dt="2025-09-15T11:21:19.735" v="822" actId="6549"/>
          <ac:graphicFrameMkLst>
            <pc:docMk/>
            <pc:sldMk cId="2200894185" sldId="442"/>
            <ac:graphicFrameMk id="29" creationId="{201FA3F8-AE0D-FB3C-580A-D4D5576C2ADA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1:06:24.216" v="629" actId="478"/>
        <pc:sldMkLst>
          <pc:docMk/>
          <pc:sldMk cId="3634756477" sldId="528"/>
        </pc:sldMkLst>
        <pc:graphicFrameChg chg="mod modGraphic">
          <ac:chgData name="Adam Brown (Astrea Central)" userId="e4577f1c-a0ea-4eef-9851-9bdbe8619e58" providerId="ADAL" clId="{298CC335-43E8-497A-92EF-F6294183AD0B}" dt="2025-09-15T11:06:12.256" v="621" actId="14100"/>
          <ac:graphicFrameMkLst>
            <pc:docMk/>
            <pc:sldMk cId="3634756477" sldId="528"/>
            <ac:graphicFrameMk id="9" creationId="{15F423F3-612E-46E0-1230-7CA80F77DE4C}"/>
          </ac:graphicFrameMkLst>
        </pc:graphicFrameChg>
      </pc:sldChg>
      <pc:sldChg chg="addSp delSp mod">
        <pc:chgData name="Adam Brown (Astrea Central)" userId="e4577f1c-a0ea-4eef-9851-9bdbe8619e58" providerId="ADAL" clId="{298CC335-43E8-497A-92EF-F6294183AD0B}" dt="2025-09-15T11:07:13.856" v="660" actId="478"/>
        <pc:sldMkLst>
          <pc:docMk/>
          <pc:sldMk cId="3965342644" sldId="529"/>
        </pc:sldMkLst>
        <pc:spChg chg="add del">
          <ac:chgData name="Adam Brown (Astrea Central)" userId="e4577f1c-a0ea-4eef-9851-9bdbe8619e58" providerId="ADAL" clId="{298CC335-43E8-497A-92EF-F6294183AD0B}" dt="2025-09-15T11:07:09.549" v="658" actId="478"/>
          <ac:spMkLst>
            <pc:docMk/>
            <pc:sldMk cId="3965342644" sldId="529"/>
            <ac:spMk id="27" creationId="{7658E5AF-52AC-AD43-8628-538C7318377A}"/>
          </ac:spMkLst>
        </pc:spChg>
      </pc:sldChg>
      <pc:sldChg chg="delSp mod">
        <pc:chgData name="Adam Brown (Astrea Central)" userId="e4577f1c-a0ea-4eef-9851-9bdbe8619e58" providerId="ADAL" clId="{298CC335-43E8-497A-92EF-F6294183AD0B}" dt="2025-09-15T11:07:27.256" v="670" actId="478"/>
        <pc:sldMkLst>
          <pc:docMk/>
          <pc:sldMk cId="1261905153" sldId="531"/>
        </pc:sldMkLst>
      </pc:sldChg>
      <pc:sldChg chg="delSp mod">
        <pc:chgData name="Adam Brown (Astrea Central)" userId="e4577f1c-a0ea-4eef-9851-9bdbe8619e58" providerId="ADAL" clId="{298CC335-43E8-497A-92EF-F6294183AD0B}" dt="2025-09-15T11:07:31.584" v="671" actId="478"/>
        <pc:sldMkLst>
          <pc:docMk/>
          <pc:sldMk cId="2885128637" sldId="533"/>
        </pc:sldMkLst>
      </pc:sldChg>
      <pc:sldChg chg="delSp mod">
        <pc:chgData name="Adam Brown (Astrea Central)" userId="e4577f1c-a0ea-4eef-9851-9bdbe8619e58" providerId="ADAL" clId="{298CC335-43E8-497A-92EF-F6294183AD0B}" dt="2025-09-15T11:08:07.511" v="683" actId="478"/>
        <pc:sldMkLst>
          <pc:docMk/>
          <pc:sldMk cId="1207551091" sldId="534"/>
        </pc:sldMkLst>
      </pc:sldChg>
      <pc:sldChg chg="delSp mod">
        <pc:chgData name="Adam Brown (Astrea Central)" userId="e4577f1c-a0ea-4eef-9851-9bdbe8619e58" providerId="ADAL" clId="{298CC335-43E8-497A-92EF-F6294183AD0B}" dt="2025-09-15T11:11:48.364" v="691" actId="478"/>
        <pc:sldMkLst>
          <pc:docMk/>
          <pc:sldMk cId="1773249319" sldId="536"/>
        </pc:sldMkLst>
      </pc:sldChg>
      <pc:sldChg chg="delSp mod">
        <pc:chgData name="Adam Brown (Astrea Central)" userId="e4577f1c-a0ea-4eef-9851-9bdbe8619e58" providerId="ADAL" clId="{298CC335-43E8-497A-92EF-F6294183AD0B}" dt="2025-09-15T11:17:09.031" v="729" actId="478"/>
        <pc:sldMkLst>
          <pc:docMk/>
          <pc:sldMk cId="354259982" sldId="537"/>
        </pc:sldMkLst>
      </pc:sldChg>
      <pc:sldChg chg="delSp mod">
        <pc:chgData name="Adam Brown (Astrea Central)" userId="e4577f1c-a0ea-4eef-9851-9bdbe8619e58" providerId="ADAL" clId="{298CC335-43E8-497A-92EF-F6294183AD0B}" dt="2025-09-15T11:17:28.552" v="740" actId="478"/>
        <pc:sldMkLst>
          <pc:docMk/>
          <pc:sldMk cId="1438998916" sldId="538"/>
        </pc:sldMkLst>
      </pc:sldChg>
      <pc:sldChg chg="delSp mod">
        <pc:chgData name="Adam Brown (Astrea Central)" userId="e4577f1c-a0ea-4eef-9851-9bdbe8619e58" providerId="ADAL" clId="{298CC335-43E8-497A-92EF-F6294183AD0B}" dt="2025-09-15T11:16:05.400" v="699" actId="478"/>
        <pc:sldMkLst>
          <pc:docMk/>
          <pc:sldMk cId="2485489797" sldId="557"/>
        </pc:sldMkLst>
      </pc:sldChg>
      <pc:sldChg chg="modSp mod">
        <pc:chgData name="Adam Brown (Astrea Central)" userId="e4577f1c-a0ea-4eef-9851-9bdbe8619e58" providerId="ADAL" clId="{298CC335-43E8-497A-92EF-F6294183AD0B}" dt="2025-09-15T11:16:37.328" v="713" actId="20577"/>
        <pc:sldMkLst>
          <pc:docMk/>
          <pc:sldMk cId="1525563781" sldId="560"/>
        </pc:sldMkLst>
        <pc:graphicFrameChg chg="modGraphic">
          <ac:chgData name="Adam Brown (Astrea Central)" userId="e4577f1c-a0ea-4eef-9851-9bdbe8619e58" providerId="ADAL" clId="{298CC335-43E8-497A-92EF-F6294183AD0B}" dt="2025-09-15T11:16:37.328" v="713" actId="20577"/>
          <ac:graphicFrameMkLst>
            <pc:docMk/>
            <pc:sldMk cId="1525563781" sldId="560"/>
            <ac:graphicFrameMk id="5" creationId="{8695FC87-8B73-6177-904E-AD747537D19E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21:34.185" v="828" actId="6549"/>
        <pc:sldMkLst>
          <pc:docMk/>
          <pc:sldMk cId="1903988073" sldId="565"/>
        </pc:sldMkLst>
        <pc:graphicFrameChg chg="mod">
          <ac:chgData name="Adam Brown (Astrea Central)" userId="e4577f1c-a0ea-4eef-9851-9bdbe8619e58" providerId="ADAL" clId="{298CC335-43E8-497A-92EF-F6294183AD0B}" dt="2025-09-15T11:21:29.293" v="826" actId="6549"/>
          <ac:graphicFrameMkLst>
            <pc:docMk/>
            <pc:sldMk cId="1903988073" sldId="565"/>
            <ac:graphicFrameMk id="6" creationId="{B4D21763-55DF-D4A2-7C40-26108D566CC7}"/>
          </ac:graphicFrameMkLst>
        </pc:graphicFrameChg>
        <pc:graphicFrameChg chg="mod modGraphic">
          <ac:chgData name="Adam Brown (Astrea Central)" userId="e4577f1c-a0ea-4eef-9851-9bdbe8619e58" providerId="ADAL" clId="{298CC335-43E8-497A-92EF-F6294183AD0B}" dt="2025-09-15T11:21:25.233" v="824" actId="6549"/>
          <ac:graphicFrameMkLst>
            <pc:docMk/>
            <pc:sldMk cId="1903988073" sldId="565"/>
            <ac:graphicFrameMk id="17" creationId="{61290521-D4B9-EA9F-401E-7ABADFC6CDA7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1:21:31.498" v="827" actId="6549"/>
          <ac:graphicFrameMkLst>
            <pc:docMk/>
            <pc:sldMk cId="1903988073" sldId="565"/>
            <ac:graphicFrameMk id="23" creationId="{5CDAE183-46B4-FE29-0938-4DA653991ADC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1:21:34.185" v="828" actId="6549"/>
          <ac:graphicFrameMkLst>
            <pc:docMk/>
            <pc:sldMk cId="1903988073" sldId="565"/>
            <ac:graphicFrameMk id="24" creationId="{21CD8461-0A22-B7D9-204A-015DC9B95B76}"/>
          </ac:graphicFrameMkLst>
        </pc:graphicFrameChg>
      </pc:sldChg>
      <pc:sldChg chg="addSp delSp modSp mod">
        <pc:chgData name="Adam Brown (Astrea Central)" userId="e4577f1c-a0ea-4eef-9851-9bdbe8619e58" providerId="ADAL" clId="{298CC335-43E8-497A-92EF-F6294183AD0B}" dt="2025-09-15T11:22:15.767" v="858" actId="478"/>
        <pc:sldMkLst>
          <pc:docMk/>
          <pc:sldMk cId="76818099" sldId="603"/>
        </pc:sldMkLst>
        <pc:spChg chg="add del mod">
          <ac:chgData name="Adam Brown (Astrea Central)" userId="e4577f1c-a0ea-4eef-9851-9bdbe8619e58" providerId="ADAL" clId="{298CC335-43E8-497A-92EF-F6294183AD0B}" dt="2025-09-15T11:21:57.738" v="836" actId="20577"/>
          <ac:spMkLst>
            <pc:docMk/>
            <pc:sldMk cId="76818099" sldId="603"/>
            <ac:spMk id="26" creationId="{2AD9C723-1240-13FB-625D-41091291D7DF}"/>
          </ac:spMkLst>
        </pc:spChg>
        <pc:spChg chg="mod">
          <ac:chgData name="Adam Brown (Astrea Central)" userId="e4577f1c-a0ea-4eef-9851-9bdbe8619e58" providerId="ADAL" clId="{298CC335-43E8-497A-92EF-F6294183AD0B}" dt="2025-09-15T11:21:58.960" v="838" actId="20577"/>
          <ac:spMkLst>
            <pc:docMk/>
            <pc:sldMk cId="76818099" sldId="603"/>
            <ac:spMk id="27" creationId="{9119C387-FC08-E7BF-CC7F-7D253591CAD7}"/>
          </ac:spMkLst>
        </pc:spChg>
        <pc:spChg chg="mod">
          <ac:chgData name="Adam Brown (Astrea Central)" userId="e4577f1c-a0ea-4eef-9851-9bdbe8619e58" providerId="ADAL" clId="{298CC335-43E8-497A-92EF-F6294183AD0B}" dt="2025-09-15T11:22:00.402" v="841" actId="20577"/>
          <ac:spMkLst>
            <pc:docMk/>
            <pc:sldMk cId="76818099" sldId="603"/>
            <ac:spMk id="28" creationId="{9E2442A3-5F1B-EE92-47AD-C5C3D2FAB09F}"/>
          </ac:spMkLst>
        </pc:spChg>
        <pc:spChg chg="mod">
          <ac:chgData name="Adam Brown (Astrea Central)" userId="e4577f1c-a0ea-4eef-9851-9bdbe8619e58" providerId="ADAL" clId="{298CC335-43E8-497A-92EF-F6294183AD0B}" dt="2025-09-15T11:22:02.009" v="843" actId="20577"/>
          <ac:spMkLst>
            <pc:docMk/>
            <pc:sldMk cId="76818099" sldId="603"/>
            <ac:spMk id="29" creationId="{F5E3CBF1-F726-DB0B-A431-DC013001AAC6}"/>
          </ac:spMkLst>
        </pc:spChg>
        <pc:spChg chg="mod">
          <ac:chgData name="Adam Brown (Astrea Central)" userId="e4577f1c-a0ea-4eef-9851-9bdbe8619e58" providerId="ADAL" clId="{298CC335-43E8-497A-92EF-F6294183AD0B}" dt="2025-09-15T11:22:09.311" v="855" actId="20577"/>
          <ac:spMkLst>
            <pc:docMk/>
            <pc:sldMk cId="76818099" sldId="603"/>
            <ac:spMk id="30" creationId="{73794A2B-8046-342E-EB19-60FAF2C53F7F}"/>
          </ac:spMkLst>
        </pc:spChg>
        <pc:spChg chg="mod">
          <ac:chgData name="Adam Brown (Astrea Central)" userId="e4577f1c-a0ea-4eef-9851-9bdbe8619e58" providerId="ADAL" clId="{298CC335-43E8-497A-92EF-F6294183AD0B}" dt="2025-09-15T11:22:07.199" v="853" actId="20577"/>
          <ac:spMkLst>
            <pc:docMk/>
            <pc:sldMk cId="76818099" sldId="603"/>
            <ac:spMk id="31" creationId="{00744D1B-D6FC-BDE9-692E-F20ABED8E328}"/>
          </ac:spMkLst>
        </pc:spChg>
        <pc:spChg chg="mod">
          <ac:chgData name="Adam Brown (Astrea Central)" userId="e4577f1c-a0ea-4eef-9851-9bdbe8619e58" providerId="ADAL" clId="{298CC335-43E8-497A-92EF-F6294183AD0B}" dt="2025-09-15T11:22:06.054" v="850" actId="20577"/>
          <ac:spMkLst>
            <pc:docMk/>
            <pc:sldMk cId="76818099" sldId="603"/>
            <ac:spMk id="32" creationId="{8F546FD3-5A2B-7340-11CB-EFF31C4C03D9}"/>
          </ac:spMkLst>
        </pc:spChg>
        <pc:spChg chg="mod">
          <ac:chgData name="Adam Brown (Astrea Central)" userId="e4577f1c-a0ea-4eef-9851-9bdbe8619e58" providerId="ADAL" clId="{298CC335-43E8-497A-92EF-F6294183AD0B}" dt="2025-09-15T11:22:03.752" v="847" actId="20577"/>
          <ac:spMkLst>
            <pc:docMk/>
            <pc:sldMk cId="76818099" sldId="603"/>
            <ac:spMk id="33" creationId="{685CA4BF-1885-7324-5010-7675AF052815}"/>
          </ac:spMkLst>
        </pc:spChg>
        <pc:graphicFrameChg chg="modGraphic">
          <ac:chgData name="Adam Brown (Astrea Central)" userId="e4577f1c-a0ea-4eef-9851-9bdbe8619e58" providerId="ADAL" clId="{298CC335-43E8-497A-92EF-F6294183AD0B}" dt="2025-09-15T11:21:39.174" v="829" actId="6549"/>
          <ac:graphicFrameMkLst>
            <pc:docMk/>
            <pc:sldMk cId="76818099" sldId="603"/>
            <ac:graphicFrameMk id="5" creationId="{A6FA9233-D427-6566-F6FF-FDC666638A22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0:49:24.543" v="619" actId="20577"/>
        <pc:sldMkLst>
          <pc:docMk/>
          <pc:sldMk cId="1617582283" sldId="604"/>
        </pc:sldMkLst>
        <pc:graphicFrameChg chg="mod modGraphic">
          <ac:chgData name="Adam Brown (Astrea Central)" userId="e4577f1c-a0ea-4eef-9851-9bdbe8619e58" providerId="ADAL" clId="{298CC335-43E8-497A-92EF-F6294183AD0B}" dt="2025-09-15T10:49:24.543" v="619" actId="20577"/>
          <ac:graphicFrameMkLst>
            <pc:docMk/>
            <pc:sldMk cId="1617582283" sldId="604"/>
            <ac:graphicFrameMk id="3" creationId="{00000000-0000-0000-0000-000000000000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31:05.576" v="1380" actId="20577"/>
        <pc:sldMkLst>
          <pc:docMk/>
          <pc:sldMk cId="1257912426" sldId="605"/>
        </pc:sldMkLst>
        <pc:graphicFrameChg chg="mod modGraphic">
          <ac:chgData name="Adam Brown (Astrea Central)" userId="e4577f1c-a0ea-4eef-9851-9bdbe8619e58" providerId="ADAL" clId="{298CC335-43E8-497A-92EF-F6294183AD0B}" dt="2025-09-15T11:31:05.576" v="1380" actId="20577"/>
          <ac:graphicFrameMkLst>
            <pc:docMk/>
            <pc:sldMk cId="1257912426" sldId="605"/>
            <ac:graphicFrameMk id="13" creationId="{00000000-0000-0000-0000-000000000000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1:22:53.890" v="872"/>
        <pc:sldMkLst>
          <pc:docMk/>
          <pc:sldMk cId="1849326464" sldId="607"/>
        </pc:sldMkLst>
        <pc:graphicFrameChg chg="modGraphic">
          <ac:chgData name="Adam Brown (Astrea Central)" userId="e4577f1c-a0ea-4eef-9851-9bdbe8619e58" providerId="ADAL" clId="{298CC335-43E8-497A-92EF-F6294183AD0B}" dt="2025-09-15T11:22:37.771" v="864" actId="6549"/>
          <ac:graphicFrameMkLst>
            <pc:docMk/>
            <pc:sldMk cId="1849326464" sldId="607"/>
            <ac:graphicFrameMk id="22" creationId="{328080A1-4AD8-DD92-912B-5E906DC23343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1:23:46.271" v="898" actId="478"/>
        <pc:sldMkLst>
          <pc:docMk/>
          <pc:sldMk cId="2486596901" sldId="611"/>
        </pc:sldMkLst>
        <pc:graphicFrameChg chg="mod">
          <ac:chgData name="Adam Brown (Astrea Central)" userId="e4577f1c-a0ea-4eef-9851-9bdbe8619e58" providerId="ADAL" clId="{298CC335-43E8-497A-92EF-F6294183AD0B}" dt="2025-09-15T11:23:35.613" v="894" actId="20577"/>
          <ac:graphicFrameMkLst>
            <pc:docMk/>
            <pc:sldMk cId="2486596901" sldId="611"/>
            <ac:graphicFrameMk id="51" creationId="{9FE1B132-7A82-C919-25BF-A1C394D090A3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1:17:39.713" v="746" actId="478"/>
        <pc:sldMkLst>
          <pc:docMk/>
          <pc:sldMk cId="3771127931" sldId="634"/>
        </pc:sldMkLst>
      </pc:sldChg>
      <pc:sldChg chg="addSp delSp mod">
        <pc:chgData name="Adam Brown (Astrea Central)" userId="e4577f1c-a0ea-4eef-9851-9bdbe8619e58" providerId="ADAL" clId="{298CC335-43E8-497A-92EF-F6294183AD0B}" dt="2025-09-15T11:16:17.228" v="702" actId="478"/>
        <pc:sldMkLst>
          <pc:docMk/>
          <pc:sldMk cId="2820528885" sldId="750"/>
        </pc:sldMkLst>
      </pc:sldChg>
      <pc:sldChg chg="delSp mod">
        <pc:chgData name="Adam Brown (Astrea Central)" userId="e4577f1c-a0ea-4eef-9851-9bdbe8619e58" providerId="ADAL" clId="{298CC335-43E8-497A-92EF-F6294183AD0B}" dt="2025-09-15T11:16:25.008" v="703" actId="478"/>
        <pc:sldMkLst>
          <pc:docMk/>
          <pc:sldMk cId="105983789" sldId="751"/>
        </pc:sldMkLst>
      </pc:sldChg>
      <pc:sldChg chg="delSp mod">
        <pc:chgData name="Adam Brown (Astrea Central)" userId="e4577f1c-a0ea-4eef-9851-9bdbe8619e58" providerId="ADAL" clId="{298CC335-43E8-497A-92EF-F6294183AD0B}" dt="2025-09-15T11:16:47.863" v="723" actId="478"/>
        <pc:sldMkLst>
          <pc:docMk/>
          <pc:sldMk cId="1705740215" sldId="761"/>
        </pc:sldMkLst>
      </pc:sldChg>
      <pc:sldChg chg="delSp mod">
        <pc:chgData name="Adam Brown (Astrea Central)" userId="e4577f1c-a0ea-4eef-9851-9bdbe8619e58" providerId="ADAL" clId="{298CC335-43E8-497A-92EF-F6294183AD0B}" dt="2025-09-15T11:16:53.262" v="724" actId="478"/>
        <pc:sldMkLst>
          <pc:docMk/>
          <pc:sldMk cId="2741417538" sldId="764"/>
        </pc:sldMkLst>
      </pc:sldChg>
      <pc:sldChg chg="delSp mod">
        <pc:chgData name="Adam Brown (Astrea Central)" userId="e4577f1c-a0ea-4eef-9851-9bdbe8619e58" providerId="ADAL" clId="{298CC335-43E8-497A-92EF-F6294183AD0B}" dt="2025-09-15T11:16:59.473" v="725" actId="478"/>
        <pc:sldMkLst>
          <pc:docMk/>
          <pc:sldMk cId="721518159" sldId="765"/>
        </pc:sldMkLst>
      </pc:sldChg>
      <pc:sldChg chg="delSp mod">
        <pc:chgData name="Adam Brown (Astrea Central)" userId="e4577f1c-a0ea-4eef-9851-9bdbe8619e58" providerId="ADAL" clId="{298CC335-43E8-497A-92EF-F6294183AD0B}" dt="2025-09-15T13:22:03.525" v="1734" actId="478"/>
        <pc:sldMkLst>
          <pc:docMk/>
          <pc:sldMk cId="3624233750" sldId="796"/>
        </pc:sldMkLst>
      </pc:sldChg>
      <pc:sldChg chg="delSp modSp mod">
        <pc:chgData name="Adam Brown (Astrea Central)" userId="e4577f1c-a0ea-4eef-9851-9bdbe8619e58" providerId="ADAL" clId="{298CC335-43E8-497A-92EF-F6294183AD0B}" dt="2025-09-15T13:20:02.509" v="1691" actId="478"/>
        <pc:sldMkLst>
          <pc:docMk/>
          <pc:sldMk cId="3786559436" sldId="820"/>
        </pc:sldMkLst>
      </pc:sldChg>
      <pc:sldChg chg="delSp mod">
        <pc:chgData name="Adam Brown (Astrea Central)" userId="e4577f1c-a0ea-4eef-9851-9bdbe8619e58" providerId="ADAL" clId="{298CC335-43E8-497A-92EF-F6294183AD0B}" dt="2025-09-15T13:20:48.437" v="1707" actId="478"/>
        <pc:sldMkLst>
          <pc:docMk/>
          <pc:sldMk cId="2636512546" sldId="822"/>
        </pc:sldMkLst>
      </pc:sldChg>
      <pc:sldChg chg="delSp mod">
        <pc:chgData name="Adam Brown (Astrea Central)" userId="e4577f1c-a0ea-4eef-9851-9bdbe8619e58" providerId="ADAL" clId="{298CC335-43E8-497A-92EF-F6294183AD0B}" dt="2025-09-15T13:21:32.652" v="1720" actId="478"/>
        <pc:sldMkLst>
          <pc:docMk/>
          <pc:sldMk cId="990989979" sldId="823"/>
        </pc:sldMkLst>
      </pc:sldChg>
      <pc:sldChg chg="delSp mod">
        <pc:chgData name="Adam Brown (Astrea Central)" userId="e4577f1c-a0ea-4eef-9851-9bdbe8619e58" providerId="ADAL" clId="{298CC335-43E8-497A-92EF-F6294183AD0B}" dt="2025-09-15T13:21:41.108" v="1723" actId="478"/>
        <pc:sldMkLst>
          <pc:docMk/>
          <pc:sldMk cId="1943235173" sldId="826"/>
        </pc:sldMkLst>
      </pc:sldChg>
      <pc:sldChg chg="delSp mod">
        <pc:chgData name="Adam Brown (Astrea Central)" userId="e4577f1c-a0ea-4eef-9851-9bdbe8619e58" providerId="ADAL" clId="{298CC335-43E8-497A-92EF-F6294183AD0B}" dt="2025-09-15T13:18:45.504" v="1648" actId="478"/>
        <pc:sldMkLst>
          <pc:docMk/>
          <pc:sldMk cId="2692183026" sldId="1167"/>
        </pc:sldMkLst>
      </pc:sldChg>
      <pc:sldChg chg="delSp mod">
        <pc:chgData name="Adam Brown (Astrea Central)" userId="e4577f1c-a0ea-4eef-9851-9bdbe8619e58" providerId="ADAL" clId="{298CC335-43E8-497A-92EF-F6294183AD0B}" dt="2025-09-15T13:20:18.614" v="1695" actId="478"/>
        <pc:sldMkLst>
          <pc:docMk/>
          <pc:sldMk cId="248081511" sldId="1168"/>
        </pc:sldMkLst>
      </pc:sldChg>
      <pc:sldChg chg="delSp mod">
        <pc:chgData name="Adam Brown (Astrea Central)" userId="e4577f1c-a0ea-4eef-9851-9bdbe8619e58" providerId="ADAL" clId="{298CC335-43E8-497A-92EF-F6294183AD0B}" dt="2025-09-15T13:21:18.677" v="1716" actId="478"/>
        <pc:sldMkLst>
          <pc:docMk/>
          <pc:sldMk cId="3736762328" sldId="1169"/>
        </pc:sldMkLst>
      </pc:sldChg>
      <pc:sldChg chg="delSp modSp mod">
        <pc:chgData name="Adam Brown (Astrea Central)" userId="e4577f1c-a0ea-4eef-9851-9bdbe8619e58" providerId="ADAL" clId="{298CC335-43E8-497A-92EF-F6294183AD0B}" dt="2025-09-15T13:21:11.477" v="1715" actId="478"/>
        <pc:sldMkLst>
          <pc:docMk/>
          <pc:sldMk cId="3041216556" sldId="1171"/>
        </pc:sldMkLst>
      </pc:sldChg>
      <pc:sldChg chg="delSp mod">
        <pc:chgData name="Adam Brown (Astrea Central)" userId="e4577f1c-a0ea-4eef-9851-9bdbe8619e58" providerId="ADAL" clId="{298CC335-43E8-497A-92EF-F6294183AD0B}" dt="2025-09-15T13:21:26.702" v="1718" actId="478"/>
        <pc:sldMkLst>
          <pc:docMk/>
          <pc:sldMk cId="3478272523" sldId="1172"/>
        </pc:sldMkLst>
      </pc:sldChg>
      <pc:sldChg chg="delSp mod">
        <pc:chgData name="Adam Brown (Astrea Central)" userId="e4577f1c-a0ea-4eef-9851-9bdbe8619e58" providerId="ADAL" clId="{298CC335-43E8-497A-92EF-F6294183AD0B}" dt="2025-09-15T13:21:53.629" v="1730" actId="478"/>
        <pc:sldMkLst>
          <pc:docMk/>
          <pc:sldMk cId="2216248988" sldId="1173"/>
        </pc:sldMkLst>
      </pc:sldChg>
      <pc:sldChg chg="delSp mod">
        <pc:chgData name="Adam Brown (Astrea Central)" userId="e4577f1c-a0ea-4eef-9851-9bdbe8619e58" providerId="ADAL" clId="{298CC335-43E8-497A-92EF-F6294183AD0B}" dt="2025-09-15T13:22:12.350" v="1738" actId="478"/>
        <pc:sldMkLst>
          <pc:docMk/>
          <pc:sldMk cId="2128076458" sldId="1175"/>
        </pc:sldMkLst>
      </pc:sldChg>
      <pc:sldChg chg="delSp mod">
        <pc:chgData name="Adam Brown (Astrea Central)" userId="e4577f1c-a0ea-4eef-9851-9bdbe8619e58" providerId="ADAL" clId="{298CC335-43E8-497A-92EF-F6294183AD0B}" dt="2025-09-15T13:22:31.389" v="1747" actId="478"/>
        <pc:sldMkLst>
          <pc:docMk/>
          <pc:sldMk cId="2467498060" sldId="1177"/>
        </pc:sldMkLst>
      </pc:sldChg>
      <pc:sldChg chg="delSp mod">
        <pc:chgData name="Adam Brown (Astrea Central)" userId="e4577f1c-a0ea-4eef-9851-9bdbe8619e58" providerId="ADAL" clId="{298CC335-43E8-497A-92EF-F6294183AD0B}" dt="2025-09-15T13:22:39.813" v="1750" actId="478"/>
        <pc:sldMkLst>
          <pc:docMk/>
          <pc:sldMk cId="1100087889" sldId="1178"/>
        </pc:sldMkLst>
      </pc:sldChg>
      <pc:sldChg chg="delSp mod">
        <pc:chgData name="Adam Brown (Astrea Central)" userId="e4577f1c-a0ea-4eef-9851-9bdbe8619e58" providerId="ADAL" clId="{298CC335-43E8-497A-92EF-F6294183AD0B}" dt="2025-09-15T13:22:23.294" v="1743" actId="478"/>
        <pc:sldMkLst>
          <pc:docMk/>
          <pc:sldMk cId="2469184529" sldId="1179"/>
        </pc:sldMkLst>
      </pc:sldChg>
      <pc:sldChg chg="delSp mod">
        <pc:chgData name="Adam Brown (Astrea Central)" userId="e4577f1c-a0ea-4eef-9851-9bdbe8619e58" providerId="ADAL" clId="{298CC335-43E8-497A-92EF-F6294183AD0B}" dt="2025-09-15T13:22:54.085" v="1759" actId="478"/>
        <pc:sldMkLst>
          <pc:docMk/>
          <pc:sldMk cId="402085223" sldId="1180"/>
        </pc:sldMkLst>
      </pc:sldChg>
      <pc:sldChg chg="delSp modSp mod">
        <pc:chgData name="Adam Brown (Astrea Central)" userId="e4577f1c-a0ea-4eef-9851-9bdbe8619e58" providerId="ADAL" clId="{298CC335-43E8-497A-92EF-F6294183AD0B}" dt="2025-09-15T11:24:15.231" v="907" actId="478"/>
        <pc:sldMkLst>
          <pc:docMk/>
          <pc:sldMk cId="2615987597" sldId="1190"/>
        </pc:sldMkLst>
        <pc:spChg chg="mod">
          <ac:chgData name="Adam Brown (Astrea Central)" userId="e4577f1c-a0ea-4eef-9851-9bdbe8619e58" providerId="ADAL" clId="{298CC335-43E8-497A-92EF-F6294183AD0B}" dt="2025-09-15T11:24:12.254" v="906" actId="1076"/>
          <ac:spMkLst>
            <pc:docMk/>
            <pc:sldMk cId="2615987597" sldId="1190"/>
            <ac:spMk id="10" creationId="{1A4A9A4A-5E53-5A38-53C0-4AA38848E0BD}"/>
          </ac:spMkLst>
        </pc:spChg>
      </pc:sldChg>
      <pc:sldChg chg="modSp mod">
        <pc:chgData name="Adam Brown (Astrea Central)" userId="e4577f1c-a0ea-4eef-9851-9bdbe8619e58" providerId="ADAL" clId="{298CC335-43E8-497A-92EF-F6294183AD0B}" dt="2025-09-15T11:25:55.494" v="1153" actId="207"/>
        <pc:sldMkLst>
          <pc:docMk/>
          <pc:sldMk cId="3242687722" sldId="1191"/>
        </pc:sldMkLst>
        <pc:graphicFrameChg chg="mod modGraphic">
          <ac:chgData name="Adam Brown (Astrea Central)" userId="e4577f1c-a0ea-4eef-9851-9bdbe8619e58" providerId="ADAL" clId="{298CC335-43E8-497A-92EF-F6294183AD0B}" dt="2025-09-15T11:25:55.494" v="1153" actId="207"/>
          <ac:graphicFrameMkLst>
            <pc:docMk/>
            <pc:sldMk cId="3242687722" sldId="1191"/>
            <ac:graphicFrameMk id="5" creationId="{A86012BD-8457-7CDF-A364-0199BC0EF182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1:26:26.550" v="1162" actId="478"/>
        <pc:sldMkLst>
          <pc:docMk/>
          <pc:sldMk cId="2873416194" sldId="1192"/>
        </pc:sldMkLst>
        <pc:spChg chg="mod">
          <ac:chgData name="Adam Brown (Astrea Central)" userId="e4577f1c-a0ea-4eef-9851-9bdbe8619e58" providerId="ADAL" clId="{298CC335-43E8-497A-92EF-F6294183AD0B}" dt="2025-09-15T11:26:07.977" v="1156" actId="1076"/>
          <ac:spMkLst>
            <pc:docMk/>
            <pc:sldMk cId="2873416194" sldId="1192"/>
            <ac:spMk id="2" creationId="{00000000-0000-0000-0000-000000000000}"/>
          </ac:spMkLst>
        </pc:spChg>
      </pc:sldChg>
      <pc:sldChg chg="modSp mod">
        <pc:chgData name="Adam Brown (Astrea Central)" userId="e4577f1c-a0ea-4eef-9851-9bdbe8619e58" providerId="ADAL" clId="{298CC335-43E8-497A-92EF-F6294183AD0B}" dt="2025-09-15T11:27:16.095" v="1226" actId="20577"/>
        <pc:sldMkLst>
          <pc:docMk/>
          <pc:sldMk cId="332504451" sldId="1193"/>
        </pc:sldMkLst>
        <pc:graphicFrameChg chg="mod modGraphic">
          <ac:chgData name="Adam Brown (Astrea Central)" userId="e4577f1c-a0ea-4eef-9851-9bdbe8619e58" providerId="ADAL" clId="{298CC335-43E8-497A-92EF-F6294183AD0B}" dt="2025-09-15T11:27:16.095" v="1226" actId="20577"/>
          <ac:graphicFrameMkLst>
            <pc:docMk/>
            <pc:sldMk cId="332504451" sldId="1193"/>
            <ac:graphicFrameMk id="43" creationId="{694C39EF-AB1B-8DD4-7EA7-7AE8DDD7BA2A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27:48.279" v="1280" actId="20577"/>
        <pc:sldMkLst>
          <pc:docMk/>
          <pc:sldMk cId="1623580324" sldId="1194"/>
        </pc:sldMkLst>
        <pc:graphicFrameChg chg="mod">
          <ac:chgData name="Adam Brown (Astrea Central)" userId="e4577f1c-a0ea-4eef-9851-9bdbe8619e58" providerId="ADAL" clId="{298CC335-43E8-497A-92EF-F6294183AD0B}" dt="2025-09-15T11:27:32.520" v="1258" actId="20577"/>
          <ac:graphicFrameMkLst>
            <pc:docMk/>
            <pc:sldMk cId="1623580324" sldId="1194"/>
            <ac:graphicFrameMk id="6" creationId="{2567A2E8-621D-095E-133E-C84E3045CD1E}"/>
          </ac:graphicFrameMkLst>
        </pc:graphicFrameChg>
        <pc:graphicFrameChg chg="modGraphic">
          <ac:chgData name="Adam Brown (Astrea Central)" userId="e4577f1c-a0ea-4eef-9851-9bdbe8619e58" providerId="ADAL" clId="{298CC335-43E8-497A-92EF-F6294183AD0B}" dt="2025-09-15T11:27:48.279" v="1280" actId="20577"/>
          <ac:graphicFrameMkLst>
            <pc:docMk/>
            <pc:sldMk cId="1623580324" sldId="1194"/>
            <ac:graphicFrameMk id="9" creationId="{ECF6A838-A5AE-8124-5A8D-76526BA4BAB4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28:15.400" v="1324" actId="20577"/>
        <pc:sldMkLst>
          <pc:docMk/>
          <pc:sldMk cId="4029879049" sldId="1195"/>
        </pc:sldMkLst>
        <pc:graphicFrameChg chg="mod modGraphic">
          <ac:chgData name="Adam Brown (Astrea Central)" userId="e4577f1c-a0ea-4eef-9851-9bdbe8619e58" providerId="ADAL" clId="{298CC335-43E8-497A-92EF-F6294183AD0B}" dt="2025-09-15T11:28:15.400" v="1324" actId="20577"/>
          <ac:graphicFrameMkLst>
            <pc:docMk/>
            <pc:sldMk cId="4029879049" sldId="1195"/>
            <ac:graphicFrameMk id="2" creationId="{C71A43CA-4C91-9B96-14D6-2BFBF14EC20D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28:55.122" v="1347" actId="20577"/>
        <pc:sldMkLst>
          <pc:docMk/>
          <pc:sldMk cId="2907401783" sldId="1196"/>
        </pc:sldMkLst>
        <pc:graphicFrameChg chg="mod">
          <ac:chgData name="Adam Brown (Astrea Central)" userId="e4577f1c-a0ea-4eef-9851-9bdbe8619e58" providerId="ADAL" clId="{298CC335-43E8-497A-92EF-F6294183AD0B}" dt="2025-09-15T11:28:36.347" v="1336" actId="20577"/>
          <ac:graphicFrameMkLst>
            <pc:docMk/>
            <pc:sldMk cId="2907401783" sldId="1196"/>
            <ac:graphicFrameMk id="7" creationId="{A80AC612-CCD7-8329-0198-C92A43F525D3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1:28:55.122" v="1347" actId="20577"/>
          <ac:graphicFrameMkLst>
            <pc:docMk/>
            <pc:sldMk cId="2907401783" sldId="1196"/>
            <ac:graphicFrameMk id="9" creationId="{B23068E9-55EB-9B93-FAB3-9D246B6E5FD1}"/>
          </ac:graphicFrameMkLst>
        </pc:graphicFrameChg>
      </pc:sldChg>
      <pc:sldChg chg="modSp">
        <pc:chgData name="Adam Brown (Astrea Central)" userId="e4577f1c-a0ea-4eef-9851-9bdbe8619e58" providerId="ADAL" clId="{298CC335-43E8-497A-92EF-F6294183AD0B}" dt="2025-09-15T11:30:09.825" v="1362" actId="20577"/>
        <pc:sldMkLst>
          <pc:docMk/>
          <pc:sldMk cId="2407786857" sldId="1197"/>
        </pc:sldMkLst>
        <pc:graphicFrameChg chg="mod">
          <ac:chgData name="Adam Brown (Astrea Central)" userId="e4577f1c-a0ea-4eef-9851-9bdbe8619e58" providerId="ADAL" clId="{298CC335-43E8-497A-92EF-F6294183AD0B}" dt="2025-09-15T11:29:53.383" v="1353" actId="20577"/>
          <ac:graphicFrameMkLst>
            <pc:docMk/>
            <pc:sldMk cId="2407786857" sldId="1197"/>
            <ac:graphicFrameMk id="5" creationId="{984E88F2-330D-66EF-7D91-EEFBBDE030E8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1:30:09.825" v="1362" actId="20577"/>
          <ac:graphicFrameMkLst>
            <pc:docMk/>
            <pc:sldMk cId="2407786857" sldId="1197"/>
            <ac:graphicFrameMk id="6" creationId="{4217F4CD-628F-DA8F-D51E-5FD36B1C3B8E}"/>
          </ac:graphicFrameMkLst>
        </pc:graphicFrameChg>
      </pc:sldChg>
      <pc:sldChg chg="del">
        <pc:chgData name="Adam Brown (Astrea Central)" userId="e4577f1c-a0ea-4eef-9851-9bdbe8619e58" providerId="ADAL" clId="{298CC335-43E8-497A-92EF-F6294183AD0B}" dt="2025-09-15T11:30:19.664" v="1363" actId="47"/>
        <pc:sldMkLst>
          <pc:docMk/>
          <pc:sldMk cId="1810991691" sldId="1198"/>
        </pc:sldMkLst>
      </pc:sldChg>
      <pc:sldChg chg="modSp mod">
        <pc:chgData name="Adam Brown (Astrea Central)" userId="e4577f1c-a0ea-4eef-9851-9bdbe8619e58" providerId="ADAL" clId="{298CC335-43E8-497A-92EF-F6294183AD0B}" dt="2025-09-15T11:32:08.756" v="1404" actId="20577"/>
        <pc:sldMkLst>
          <pc:docMk/>
          <pc:sldMk cId="3296569283" sldId="1199"/>
        </pc:sldMkLst>
        <pc:graphicFrameChg chg="mod">
          <ac:chgData name="Adam Brown (Astrea Central)" userId="e4577f1c-a0ea-4eef-9851-9bdbe8619e58" providerId="ADAL" clId="{298CC335-43E8-497A-92EF-F6294183AD0B}" dt="2025-09-15T11:31:50.604" v="1392" actId="20577"/>
          <ac:graphicFrameMkLst>
            <pc:docMk/>
            <pc:sldMk cId="3296569283" sldId="1199"/>
            <ac:graphicFrameMk id="9" creationId="{7E04FF43-1FCA-18EC-02DC-508DA39B753B}"/>
          </ac:graphicFrameMkLst>
        </pc:graphicFrameChg>
        <pc:graphicFrameChg chg="mod modGraphic">
          <ac:chgData name="Adam Brown (Astrea Central)" userId="e4577f1c-a0ea-4eef-9851-9bdbe8619e58" providerId="ADAL" clId="{298CC335-43E8-497A-92EF-F6294183AD0B}" dt="2025-09-15T11:32:08.756" v="1404" actId="20577"/>
          <ac:graphicFrameMkLst>
            <pc:docMk/>
            <pc:sldMk cId="3296569283" sldId="1199"/>
            <ac:graphicFrameMk id="10" creationId="{ED69CCCF-9AAF-DA97-B834-8F69A7796111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3:13:47.672" v="1444" actId="20577"/>
        <pc:sldMkLst>
          <pc:docMk/>
          <pc:sldMk cId="2718422913" sldId="1200"/>
        </pc:sldMkLst>
        <pc:graphicFrameChg chg="modGraphic">
          <ac:chgData name="Adam Brown (Astrea Central)" userId="e4577f1c-a0ea-4eef-9851-9bdbe8619e58" providerId="ADAL" clId="{298CC335-43E8-497A-92EF-F6294183AD0B}" dt="2025-09-15T13:13:02.963" v="1417" actId="20577"/>
          <ac:graphicFrameMkLst>
            <pc:docMk/>
            <pc:sldMk cId="2718422913" sldId="1200"/>
            <ac:graphicFrameMk id="5" creationId="{1D813E9E-B589-907A-42F5-CCF54E5F4C64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3:13:47.672" v="1444" actId="20577"/>
          <ac:graphicFrameMkLst>
            <pc:docMk/>
            <pc:sldMk cId="2718422913" sldId="1200"/>
            <ac:graphicFrameMk id="7" creationId="{29744896-E187-849E-C721-8EF36AEC5B56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3:14:12.126" v="1458" actId="478"/>
        <pc:sldMkLst>
          <pc:docMk/>
          <pc:sldMk cId="3350024278" sldId="1201"/>
        </pc:sldMkLst>
        <pc:graphicFrameChg chg="mod modGraphic">
          <ac:chgData name="Adam Brown (Astrea Central)" userId="e4577f1c-a0ea-4eef-9851-9bdbe8619e58" providerId="ADAL" clId="{298CC335-43E8-497A-92EF-F6294183AD0B}" dt="2025-09-15T13:14:03.060" v="1452" actId="20577"/>
          <ac:graphicFrameMkLst>
            <pc:docMk/>
            <pc:sldMk cId="3350024278" sldId="1201"/>
            <ac:graphicFrameMk id="3" creationId="{EC03714A-84F3-0BD0-922E-360B393A9B8A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3:14:50.369" v="1478" actId="20577"/>
        <pc:sldMkLst>
          <pc:docMk/>
          <pc:sldMk cId="328340208" sldId="1203"/>
        </pc:sldMkLst>
        <pc:graphicFrameChg chg="modGraphic">
          <ac:chgData name="Adam Brown (Astrea Central)" userId="e4577f1c-a0ea-4eef-9851-9bdbe8619e58" providerId="ADAL" clId="{298CC335-43E8-497A-92EF-F6294183AD0B}" dt="2025-09-15T13:14:50.369" v="1478" actId="20577"/>
          <ac:graphicFrameMkLst>
            <pc:docMk/>
            <pc:sldMk cId="328340208" sldId="1203"/>
            <ac:graphicFrameMk id="7" creationId="{7BE0B1B7-291E-CAD3-48A8-8CF28A5C4135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3:15:27.909" v="1506" actId="20577"/>
        <pc:sldMkLst>
          <pc:docMk/>
          <pc:sldMk cId="187822960" sldId="1204"/>
        </pc:sldMkLst>
        <pc:graphicFrameChg chg="modGraphic">
          <ac:chgData name="Adam Brown (Astrea Central)" userId="e4577f1c-a0ea-4eef-9851-9bdbe8619e58" providerId="ADAL" clId="{298CC335-43E8-497A-92EF-F6294183AD0B}" dt="2025-09-15T13:15:07.877" v="1490" actId="20577"/>
          <ac:graphicFrameMkLst>
            <pc:docMk/>
            <pc:sldMk cId="187822960" sldId="1204"/>
            <ac:graphicFrameMk id="8" creationId="{ED784F5F-4027-C9D0-1754-1FB00ED7667A}"/>
          </ac:graphicFrameMkLst>
        </pc:graphicFrameChg>
        <pc:graphicFrameChg chg="modGraphic">
          <ac:chgData name="Adam Brown (Astrea Central)" userId="e4577f1c-a0ea-4eef-9851-9bdbe8619e58" providerId="ADAL" clId="{298CC335-43E8-497A-92EF-F6294183AD0B}" dt="2025-09-15T13:15:27.909" v="1506" actId="20577"/>
          <ac:graphicFrameMkLst>
            <pc:docMk/>
            <pc:sldMk cId="187822960" sldId="1204"/>
            <ac:graphicFrameMk id="18" creationId="{EB06C8A3-62CC-AB47-0428-85FDEA6D552E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3:16:19.917" v="1572" actId="20577"/>
        <pc:sldMkLst>
          <pc:docMk/>
          <pc:sldMk cId="3337100019" sldId="1210"/>
        </pc:sldMkLst>
        <pc:graphicFrameChg chg="mod modGraphic">
          <ac:chgData name="Adam Brown (Astrea Central)" userId="e4577f1c-a0ea-4eef-9851-9bdbe8619e58" providerId="ADAL" clId="{298CC335-43E8-497A-92EF-F6294183AD0B}" dt="2025-09-15T13:16:19.917" v="1572" actId="20577"/>
          <ac:graphicFrameMkLst>
            <pc:docMk/>
            <pc:sldMk cId="3337100019" sldId="1210"/>
            <ac:graphicFrameMk id="11" creationId="{90FFBC89-598E-E10A-0EF5-DDD9820B1BFE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3:17:01.539" v="1597" actId="20577"/>
        <pc:sldMkLst>
          <pc:docMk/>
          <pc:sldMk cId="3810112837" sldId="1211"/>
        </pc:sldMkLst>
        <pc:graphicFrameChg chg="modGraphic">
          <ac:chgData name="Adam Brown (Astrea Central)" userId="e4577f1c-a0ea-4eef-9851-9bdbe8619e58" providerId="ADAL" clId="{298CC335-43E8-497A-92EF-F6294183AD0B}" dt="2025-09-15T13:16:33.183" v="1580" actId="6549"/>
          <ac:graphicFrameMkLst>
            <pc:docMk/>
            <pc:sldMk cId="3810112837" sldId="1211"/>
            <ac:graphicFrameMk id="5" creationId="{95313773-FD17-971C-301F-2BBC2CBBF630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3:17:01.539" v="1597" actId="20577"/>
          <ac:graphicFrameMkLst>
            <pc:docMk/>
            <pc:sldMk cId="3810112837" sldId="1211"/>
            <ac:graphicFrameMk id="8" creationId="{3A91CD0A-F7F6-7559-1867-CA37A6435DE3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3:16:42.495" v="1589" actId="20577"/>
          <ac:graphicFrameMkLst>
            <pc:docMk/>
            <pc:sldMk cId="3810112837" sldId="1211"/>
            <ac:graphicFrameMk id="377" creationId="{00000000-0000-0000-0000-000000000000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3:18:02.236" v="1633" actId="20577"/>
        <pc:sldMkLst>
          <pc:docMk/>
          <pc:sldMk cId="3016650432" sldId="1212"/>
        </pc:sldMkLst>
        <pc:graphicFrameChg chg="mod">
          <ac:chgData name="Adam Brown (Astrea Central)" userId="e4577f1c-a0ea-4eef-9851-9bdbe8619e58" providerId="ADAL" clId="{298CC335-43E8-497A-92EF-F6294183AD0B}" dt="2025-09-15T13:17:15.656" v="1603" actId="20577"/>
          <ac:graphicFrameMkLst>
            <pc:docMk/>
            <pc:sldMk cId="3016650432" sldId="1212"/>
            <ac:graphicFrameMk id="2" creationId="{00000000-0000-0000-0000-000000000000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3:17:29.822" v="1611" actId="20577"/>
          <ac:graphicFrameMkLst>
            <pc:docMk/>
            <pc:sldMk cId="3016650432" sldId="1212"/>
            <ac:graphicFrameMk id="4" creationId="{D8305C52-A1FB-55A9-0158-2B11DA344AC8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3:18:02.236" v="1633" actId="20577"/>
          <ac:graphicFrameMkLst>
            <pc:docMk/>
            <pc:sldMk cId="3016650432" sldId="1212"/>
            <ac:graphicFrameMk id="11" creationId="{4E622EA3-DBF7-D9C5-8AEB-6E9D466B08B6}"/>
          </ac:graphicFrameMkLst>
        </pc:graphicFrameChg>
      </pc:sldChg>
      <pc:sldChg chg="delSp mod">
        <pc:chgData name="Adam Brown (Astrea Central)" userId="e4577f1c-a0ea-4eef-9851-9bdbe8619e58" providerId="ADAL" clId="{298CC335-43E8-497A-92EF-F6294183AD0B}" dt="2025-09-15T13:18:21.590" v="1641" actId="478"/>
        <pc:sldMkLst>
          <pc:docMk/>
          <pc:sldMk cId="2823046277" sldId="1224"/>
        </pc:sldMkLst>
      </pc:sldChg>
      <pc:sldChg chg="delSp modSp mod">
        <pc:chgData name="Adam Brown (Astrea Central)" userId="e4577f1c-a0ea-4eef-9851-9bdbe8619e58" providerId="ADAL" clId="{298CC335-43E8-497A-92EF-F6294183AD0B}" dt="2025-09-15T13:19:04.800" v="1655" actId="478"/>
        <pc:sldMkLst>
          <pc:docMk/>
          <pc:sldMk cId="1766625398" sldId="1225"/>
        </pc:sldMkLst>
      </pc:sldChg>
      <pc:sldChg chg="delSp mod">
        <pc:chgData name="Adam Brown (Astrea Central)" userId="e4577f1c-a0ea-4eef-9851-9bdbe8619e58" providerId="ADAL" clId="{298CC335-43E8-497A-92EF-F6294183AD0B}" dt="2025-09-15T13:19:14.342" v="1657" actId="478"/>
        <pc:sldMkLst>
          <pc:docMk/>
          <pc:sldMk cId="1567395204" sldId="1226"/>
        </pc:sldMkLst>
      </pc:sldChg>
      <pc:sldChg chg="delSp mod">
        <pc:chgData name="Adam Brown (Astrea Central)" userId="e4577f1c-a0ea-4eef-9851-9bdbe8619e58" providerId="ADAL" clId="{298CC335-43E8-497A-92EF-F6294183AD0B}" dt="2025-09-15T13:20:10.806" v="1693" actId="478"/>
        <pc:sldMkLst>
          <pc:docMk/>
          <pc:sldMk cId="1733079440" sldId="1227"/>
        </pc:sldMkLst>
      </pc:sldChg>
      <pc:sldChg chg="delSp mod">
        <pc:chgData name="Adam Brown (Astrea Central)" userId="e4577f1c-a0ea-4eef-9851-9bdbe8619e58" providerId="ADAL" clId="{298CC335-43E8-497A-92EF-F6294183AD0B}" dt="2025-09-15T13:20:29.061" v="1698" actId="478"/>
        <pc:sldMkLst>
          <pc:docMk/>
          <pc:sldMk cId="3664428990" sldId="1228"/>
        </pc:sldMkLst>
      </pc:sldChg>
      <pc:sldChg chg="delSp mod">
        <pc:chgData name="Adam Brown (Astrea Central)" userId="e4577f1c-a0ea-4eef-9851-9bdbe8619e58" providerId="ADAL" clId="{298CC335-43E8-497A-92EF-F6294183AD0B}" dt="2025-09-15T13:20:56.542" v="1708" actId="478"/>
        <pc:sldMkLst>
          <pc:docMk/>
          <pc:sldMk cId="1710199113" sldId="1229"/>
        </pc:sldMkLst>
      </pc:sldChg>
      <pc:sldChg chg="delSp mod">
        <pc:chgData name="Adam Brown (Astrea Central)" userId="e4577f1c-a0ea-4eef-9851-9bdbe8619e58" providerId="ADAL" clId="{298CC335-43E8-497A-92EF-F6294183AD0B}" dt="2025-09-15T13:21:23.094" v="1717" actId="478"/>
        <pc:sldMkLst>
          <pc:docMk/>
          <pc:sldMk cId="1420111636" sldId="1230"/>
        </pc:sldMkLst>
      </pc:sldChg>
      <pc:sldChg chg="modSp mod">
        <pc:chgData name="Adam Brown (Astrea Central)" userId="e4577f1c-a0ea-4eef-9851-9bdbe8619e58" providerId="ADAL" clId="{298CC335-43E8-497A-92EF-F6294183AD0B}" dt="2025-09-15T10:49:06.096" v="614" actId="20577"/>
        <pc:sldMkLst>
          <pc:docMk/>
          <pc:sldMk cId="149822979" sldId="1231"/>
        </pc:sldMkLst>
        <pc:graphicFrameChg chg="modGraphic">
          <ac:chgData name="Adam Brown (Astrea Central)" userId="e4577f1c-a0ea-4eef-9851-9bdbe8619e58" providerId="ADAL" clId="{298CC335-43E8-497A-92EF-F6294183AD0B}" dt="2025-09-15T10:49:06.096" v="614" actId="20577"/>
          <ac:graphicFrameMkLst>
            <pc:docMk/>
            <pc:sldMk cId="149822979" sldId="1231"/>
            <ac:graphicFrameMk id="8" creationId="{C004E945-695E-AF10-6C4E-FA0C7CB55FF4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15:52.599" v="697" actId="20577"/>
        <pc:sldMkLst>
          <pc:docMk/>
          <pc:sldMk cId="1210998565" sldId="1233"/>
        </pc:sldMkLst>
        <pc:graphicFrameChg chg="modGraphic">
          <ac:chgData name="Adam Brown (Astrea Central)" userId="e4577f1c-a0ea-4eef-9851-9bdbe8619e58" providerId="ADAL" clId="{298CC335-43E8-497A-92EF-F6294183AD0B}" dt="2025-09-15T11:15:52.599" v="697" actId="20577"/>
          <ac:graphicFrameMkLst>
            <pc:docMk/>
            <pc:sldMk cId="1210998565" sldId="1233"/>
            <ac:graphicFrameMk id="107" creationId="{00000000-0000-0000-0000-000000000000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16:43.873" v="722" actId="20577"/>
        <pc:sldMkLst>
          <pc:docMk/>
          <pc:sldMk cId="733169967" sldId="1235"/>
        </pc:sldMkLst>
        <pc:graphicFrameChg chg="modGraphic">
          <ac:chgData name="Adam Brown (Astrea Central)" userId="e4577f1c-a0ea-4eef-9851-9bdbe8619e58" providerId="ADAL" clId="{298CC335-43E8-497A-92EF-F6294183AD0B}" dt="2025-09-15T11:16:43.873" v="722" actId="20577"/>
          <ac:graphicFrameMkLst>
            <pc:docMk/>
            <pc:sldMk cId="733169967" sldId="1235"/>
            <ac:graphicFrameMk id="37" creationId="{66DD2EF5-FCD5-6D75-A5C7-2871B5E78C14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3:26:28.161" v="1861" actId="6549"/>
        <pc:sldMkLst>
          <pc:docMk/>
          <pc:sldMk cId="2936956160" sldId="2717"/>
        </pc:sldMkLst>
      </pc:sldChg>
      <pc:sldChg chg="delSp mod">
        <pc:chgData name="Adam Brown (Astrea Central)" userId="e4577f1c-a0ea-4eef-9851-9bdbe8619e58" providerId="ADAL" clId="{298CC335-43E8-497A-92EF-F6294183AD0B}" dt="2025-09-15T13:26:52.172" v="1870" actId="478"/>
        <pc:sldMkLst>
          <pc:docMk/>
          <pc:sldMk cId="2276136011" sldId="2724"/>
        </pc:sldMkLst>
      </pc:sldChg>
      <pc:sldChg chg="delSp mod">
        <pc:chgData name="Adam Brown (Astrea Central)" userId="e4577f1c-a0ea-4eef-9851-9bdbe8619e58" providerId="ADAL" clId="{298CC335-43E8-497A-92EF-F6294183AD0B}" dt="2025-09-15T13:27:17.612" v="1878" actId="478"/>
        <pc:sldMkLst>
          <pc:docMk/>
          <pc:sldMk cId="2347654998" sldId="2726"/>
        </pc:sldMkLst>
      </pc:sldChg>
      <pc:sldChg chg="delSp mod">
        <pc:chgData name="Adam Brown (Astrea Central)" userId="e4577f1c-a0ea-4eef-9851-9bdbe8619e58" providerId="ADAL" clId="{298CC335-43E8-497A-92EF-F6294183AD0B}" dt="2025-09-15T11:18:13.591" v="758" actId="478"/>
        <pc:sldMkLst>
          <pc:docMk/>
          <pc:sldMk cId="3656622071" sldId="2732"/>
        </pc:sldMkLst>
      </pc:sldChg>
      <pc:sldChg chg="delSp mod">
        <pc:chgData name="Adam Brown (Astrea Central)" userId="e4577f1c-a0ea-4eef-9851-9bdbe8619e58" providerId="ADAL" clId="{298CC335-43E8-497A-92EF-F6294183AD0B}" dt="2025-09-15T11:18:29.671" v="764" actId="478"/>
        <pc:sldMkLst>
          <pc:docMk/>
          <pc:sldMk cId="806530860" sldId="2733"/>
        </pc:sldMkLst>
      </pc:sldChg>
      <pc:sldChg chg="delSp mod">
        <pc:chgData name="Adam Brown (Astrea Central)" userId="e4577f1c-a0ea-4eef-9851-9bdbe8619e58" providerId="ADAL" clId="{298CC335-43E8-497A-92EF-F6294183AD0B}" dt="2025-09-15T11:18:42.028" v="769" actId="478"/>
        <pc:sldMkLst>
          <pc:docMk/>
          <pc:sldMk cId="1251629001" sldId="2735"/>
        </pc:sldMkLst>
      </pc:sldChg>
      <pc:sldChg chg="delSp mod">
        <pc:chgData name="Adam Brown (Astrea Central)" userId="e4577f1c-a0ea-4eef-9851-9bdbe8619e58" providerId="ADAL" clId="{298CC335-43E8-497A-92EF-F6294183AD0B}" dt="2025-09-15T11:18:59.456" v="772" actId="478"/>
        <pc:sldMkLst>
          <pc:docMk/>
          <pc:sldMk cId="1618587120" sldId="2736"/>
        </pc:sldMkLst>
      </pc:sldChg>
      <pc:sldChg chg="delSp mod">
        <pc:chgData name="Adam Brown (Astrea Central)" userId="e4577f1c-a0ea-4eef-9851-9bdbe8619e58" providerId="ADAL" clId="{298CC335-43E8-497A-92EF-F6294183AD0B}" dt="2025-09-15T11:19:15.695" v="776" actId="478"/>
        <pc:sldMkLst>
          <pc:docMk/>
          <pc:sldMk cId="1674874405" sldId="2737"/>
        </pc:sldMkLst>
      </pc:sldChg>
      <pc:sldChg chg="addSp delSp mod">
        <pc:chgData name="Adam Brown (Astrea Central)" userId="e4577f1c-a0ea-4eef-9851-9bdbe8619e58" providerId="ADAL" clId="{298CC335-43E8-497A-92EF-F6294183AD0B}" dt="2025-09-15T11:19:39.338" v="784" actId="478"/>
        <pc:sldMkLst>
          <pc:docMk/>
          <pc:sldMk cId="3580631642" sldId="2738"/>
        </pc:sldMkLst>
      </pc:sldChg>
      <pc:sldChg chg="delSp mod">
        <pc:chgData name="Adam Brown (Astrea Central)" userId="e4577f1c-a0ea-4eef-9851-9bdbe8619e58" providerId="ADAL" clId="{298CC335-43E8-497A-92EF-F6294183AD0B}" dt="2025-09-15T11:19:53.567" v="789" actId="478"/>
        <pc:sldMkLst>
          <pc:docMk/>
          <pc:sldMk cId="3254095160" sldId="2740"/>
        </pc:sldMkLst>
      </pc:sldChg>
      <pc:sldChg chg="delSp mod">
        <pc:chgData name="Adam Brown (Astrea Central)" userId="e4577f1c-a0ea-4eef-9851-9bdbe8619e58" providerId="ADAL" clId="{298CC335-43E8-497A-92EF-F6294183AD0B}" dt="2025-09-15T11:20:07.143" v="793" actId="478"/>
        <pc:sldMkLst>
          <pc:docMk/>
          <pc:sldMk cId="325519433" sldId="2741"/>
        </pc:sldMkLst>
      </pc:sldChg>
      <pc:sldChg chg="delSp mod">
        <pc:chgData name="Adam Brown (Astrea Central)" userId="e4577f1c-a0ea-4eef-9851-9bdbe8619e58" providerId="ADAL" clId="{298CC335-43E8-497A-92EF-F6294183AD0B}" dt="2025-09-15T11:20:31.639" v="798" actId="478"/>
        <pc:sldMkLst>
          <pc:docMk/>
          <pc:sldMk cId="1850562953" sldId="2742"/>
        </pc:sldMkLst>
      </pc:sldChg>
      <pc:sldChg chg="delSp mod">
        <pc:chgData name="Adam Brown (Astrea Central)" userId="e4577f1c-a0ea-4eef-9851-9bdbe8619e58" providerId="ADAL" clId="{298CC335-43E8-497A-92EF-F6294183AD0B}" dt="2025-09-15T11:20:52.595" v="804" actId="478"/>
        <pc:sldMkLst>
          <pc:docMk/>
          <pc:sldMk cId="508714497" sldId="2743"/>
        </pc:sldMkLst>
      </pc:sldChg>
      <pc:sldChg chg="delSp modSp mod">
        <pc:chgData name="Adam Brown (Astrea Central)" userId="e4577f1c-a0ea-4eef-9851-9bdbe8619e58" providerId="ADAL" clId="{298CC335-43E8-497A-92EF-F6294183AD0B}" dt="2025-09-15T11:22:30.544" v="863" actId="478"/>
        <pc:sldMkLst>
          <pc:docMk/>
          <pc:sldMk cId="2361319489" sldId="2744"/>
        </pc:sldMkLst>
        <pc:graphicFrameChg chg="modGraphic">
          <ac:chgData name="Adam Brown (Astrea Central)" userId="e4577f1c-a0ea-4eef-9851-9bdbe8619e58" providerId="ADAL" clId="{298CC335-43E8-497A-92EF-F6294183AD0B}" dt="2025-09-15T11:22:21.775" v="859" actId="6549"/>
          <ac:graphicFrameMkLst>
            <pc:docMk/>
            <pc:sldMk cId="2361319489" sldId="2744"/>
            <ac:graphicFrameMk id="2" creationId="{BB12A31A-65DD-871A-56F6-6A4230C7942F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1:23:19.847" v="877" actId="478"/>
        <pc:sldMkLst>
          <pc:docMk/>
          <pc:sldMk cId="787172474" sldId="2781"/>
        </pc:sldMkLst>
        <pc:graphicFrameChg chg="mod modGraphic">
          <ac:chgData name="Adam Brown (Astrea Central)" userId="e4577f1c-a0ea-4eef-9851-9bdbe8619e58" providerId="ADAL" clId="{298CC335-43E8-497A-92EF-F6294183AD0B}" dt="2025-09-15T11:23:15.794" v="875" actId="2164"/>
          <ac:graphicFrameMkLst>
            <pc:docMk/>
            <pc:sldMk cId="787172474" sldId="2781"/>
            <ac:graphicFrameMk id="61" creationId="{03E439A4-44C0-4002-B84E-0F1185C93B9C}"/>
          </ac:graphicFrameMkLst>
        </pc:graphicFrameChg>
      </pc:sldChg>
      <pc:sldChg chg="delSp mod">
        <pc:chgData name="Adam Brown (Astrea Central)" userId="e4577f1c-a0ea-4eef-9851-9bdbe8619e58" providerId="ADAL" clId="{298CC335-43E8-497A-92EF-F6294183AD0B}" dt="2025-09-15T11:20:58.207" v="807" actId="478"/>
        <pc:sldMkLst>
          <pc:docMk/>
          <pc:sldMk cId="1035247090" sldId="2782"/>
        </pc:sldMkLst>
      </pc:sldChg>
      <pc:sldChg chg="delSp mod">
        <pc:chgData name="Adam Brown (Astrea Central)" userId="e4577f1c-a0ea-4eef-9851-9bdbe8619e58" providerId="ADAL" clId="{298CC335-43E8-497A-92EF-F6294183AD0B}" dt="2025-09-15T11:21:01.903" v="811" actId="478"/>
        <pc:sldMkLst>
          <pc:docMk/>
          <pc:sldMk cId="3795775980" sldId="2783"/>
        </pc:sldMkLst>
      </pc:sldChg>
      <pc:sldChg chg="delSp mod">
        <pc:chgData name="Adam Brown (Astrea Central)" userId="e4577f1c-a0ea-4eef-9851-9bdbe8619e58" providerId="ADAL" clId="{298CC335-43E8-497A-92EF-F6294183AD0B}" dt="2025-09-15T11:21:05.352" v="814" actId="478"/>
        <pc:sldMkLst>
          <pc:docMk/>
          <pc:sldMk cId="206868638" sldId="2784"/>
        </pc:sldMkLst>
      </pc:sldChg>
      <pc:sldChg chg="delSp mod">
        <pc:chgData name="Adam Brown (Astrea Central)" userId="e4577f1c-a0ea-4eef-9851-9bdbe8619e58" providerId="ADAL" clId="{298CC335-43E8-497A-92EF-F6294183AD0B}" dt="2025-09-15T11:21:08.094" v="817" actId="478"/>
        <pc:sldMkLst>
          <pc:docMk/>
          <pc:sldMk cId="3862930301" sldId="2785"/>
        </pc:sldMkLst>
      </pc:sldChg>
      <pc:sldChg chg="delSp mod">
        <pc:chgData name="Adam Brown (Astrea Central)" userId="e4577f1c-a0ea-4eef-9851-9bdbe8619e58" providerId="ADAL" clId="{298CC335-43E8-497A-92EF-F6294183AD0B}" dt="2025-09-15T11:21:12.023" v="820" actId="478"/>
        <pc:sldMkLst>
          <pc:docMk/>
          <pc:sldMk cId="1152998114" sldId="2786"/>
        </pc:sldMkLst>
      </pc:sldChg>
      <pc:sldChg chg="delSp mod">
        <pc:chgData name="Adam Brown (Astrea Central)" userId="e4577f1c-a0ea-4eef-9851-9bdbe8619e58" providerId="ADAL" clId="{298CC335-43E8-497A-92EF-F6294183AD0B}" dt="2025-09-15T13:18:06.391" v="1636" actId="478"/>
        <pc:sldMkLst>
          <pc:docMk/>
          <pc:sldMk cId="4030505016" sldId="2787"/>
        </pc:sldMkLst>
      </pc:sldChg>
      <pc:sldChg chg="delSp mod">
        <pc:chgData name="Adam Brown (Astrea Central)" userId="e4577f1c-a0ea-4eef-9851-9bdbe8619e58" providerId="ADAL" clId="{298CC335-43E8-497A-92EF-F6294183AD0B}" dt="2025-09-15T13:22:57.172" v="1761" actId="478"/>
        <pc:sldMkLst>
          <pc:docMk/>
          <pc:sldMk cId="793087224" sldId="2788"/>
        </pc:sldMkLst>
      </pc:sldChg>
      <pc:sldChg chg="delSp mod">
        <pc:chgData name="Adam Brown (Astrea Central)" userId="e4577f1c-a0ea-4eef-9851-9bdbe8619e58" providerId="ADAL" clId="{298CC335-43E8-497A-92EF-F6294183AD0B}" dt="2025-09-15T13:18:08.804" v="1638" actId="478"/>
        <pc:sldMkLst>
          <pc:docMk/>
          <pc:sldMk cId="24400507" sldId="2789"/>
        </pc:sldMkLst>
      </pc:sldChg>
      <pc:sldChg chg="addSp delSp modSp mod">
        <pc:chgData name="Adam Brown (Astrea Central)" userId="e4577f1c-a0ea-4eef-9851-9bdbe8619e58" providerId="ADAL" clId="{298CC335-43E8-497A-92EF-F6294183AD0B}" dt="2025-09-15T13:28:36.725" v="1901" actId="20577"/>
        <pc:sldMkLst>
          <pc:docMk/>
          <pc:sldMk cId="1226461086" sldId="2790"/>
        </pc:sldMkLst>
      </pc:sldChg>
      <pc:sldChg chg="delSp modSp mod">
        <pc:chgData name="Adam Brown (Astrea Central)" userId="e4577f1c-a0ea-4eef-9851-9bdbe8619e58" providerId="ADAL" clId="{298CC335-43E8-497A-92EF-F6294183AD0B}" dt="2025-09-15T13:23:44.148" v="1788" actId="478"/>
        <pc:sldMkLst>
          <pc:docMk/>
          <pc:sldMk cId="317608521" sldId="2791"/>
        </pc:sldMkLst>
      </pc:sldChg>
      <pc:sldChg chg="addSp delSp mod">
        <pc:chgData name="Adam Brown (Astrea Central)" userId="e4577f1c-a0ea-4eef-9851-9bdbe8619e58" providerId="ADAL" clId="{298CC335-43E8-497A-92EF-F6294183AD0B}" dt="2025-09-15T13:24:19.605" v="1805" actId="478"/>
        <pc:sldMkLst>
          <pc:docMk/>
          <pc:sldMk cId="3879350625" sldId="2792"/>
        </pc:sldMkLst>
      </pc:sldChg>
      <pc:sldChg chg="delSp mod">
        <pc:chgData name="Adam Brown (Astrea Central)" userId="e4577f1c-a0ea-4eef-9851-9bdbe8619e58" providerId="ADAL" clId="{298CC335-43E8-497A-92EF-F6294183AD0B}" dt="2025-09-15T13:24:23.134" v="1806" actId="478"/>
        <pc:sldMkLst>
          <pc:docMk/>
          <pc:sldMk cId="1145473237" sldId="2793"/>
        </pc:sldMkLst>
      </pc:sldChg>
      <pc:sldChg chg="delSp mod">
        <pc:chgData name="Adam Brown (Astrea Central)" userId="e4577f1c-a0ea-4eef-9851-9bdbe8619e58" providerId="ADAL" clId="{298CC335-43E8-497A-92EF-F6294183AD0B}" dt="2025-09-15T13:24:37.454" v="1813" actId="478"/>
        <pc:sldMkLst>
          <pc:docMk/>
          <pc:sldMk cId="1477799629" sldId="2794"/>
        </pc:sldMkLst>
      </pc:sldChg>
      <pc:sldChg chg="delSp mod">
        <pc:chgData name="Adam Brown (Astrea Central)" userId="e4577f1c-a0ea-4eef-9851-9bdbe8619e58" providerId="ADAL" clId="{298CC335-43E8-497A-92EF-F6294183AD0B}" dt="2025-09-15T13:24:53.118" v="1822" actId="478"/>
        <pc:sldMkLst>
          <pc:docMk/>
          <pc:sldMk cId="120458108" sldId="2795"/>
        </pc:sldMkLst>
      </pc:sldChg>
      <pc:sldChg chg="addSp delSp mod">
        <pc:chgData name="Adam Brown (Astrea Central)" userId="e4577f1c-a0ea-4eef-9851-9bdbe8619e58" providerId="ADAL" clId="{298CC335-43E8-497A-92EF-F6294183AD0B}" dt="2025-09-15T13:25:40.510" v="1844" actId="478"/>
        <pc:sldMkLst>
          <pc:docMk/>
          <pc:sldMk cId="2695163168" sldId="2796"/>
        </pc:sldMkLst>
      </pc:sldChg>
      <pc:sldChg chg="delSp mod">
        <pc:chgData name="Adam Brown (Astrea Central)" userId="e4577f1c-a0ea-4eef-9851-9bdbe8619e58" providerId="ADAL" clId="{298CC335-43E8-497A-92EF-F6294183AD0B}" dt="2025-09-15T13:25:53.462" v="1848" actId="478"/>
        <pc:sldMkLst>
          <pc:docMk/>
          <pc:sldMk cId="167216715" sldId="2797"/>
        </pc:sldMkLst>
      </pc:sldChg>
      <pc:sldChg chg="delSp mod">
        <pc:chgData name="Adam Brown (Astrea Central)" userId="e4577f1c-a0ea-4eef-9851-9bdbe8619e58" providerId="ADAL" clId="{298CC335-43E8-497A-92EF-F6294183AD0B}" dt="2025-09-15T13:26:14.684" v="1856" actId="478"/>
        <pc:sldMkLst>
          <pc:docMk/>
          <pc:sldMk cId="4095301130" sldId="2798"/>
        </pc:sldMkLst>
      </pc:sldChg>
      <pc:sldChg chg="delSp mod">
        <pc:chgData name="Adam Brown (Astrea Central)" userId="e4577f1c-a0ea-4eef-9851-9bdbe8619e58" providerId="ADAL" clId="{298CC335-43E8-497A-92EF-F6294183AD0B}" dt="2025-09-15T13:22:59.245" v="1763" actId="478"/>
        <pc:sldMkLst>
          <pc:docMk/>
          <pc:sldMk cId="3489747628" sldId="2799"/>
        </pc:sldMkLst>
      </pc:sldChg>
      <pc:sldChg chg="delSp mod">
        <pc:chgData name="Adam Brown (Astrea Central)" userId="e4577f1c-a0ea-4eef-9851-9bdbe8619e58" providerId="ADAL" clId="{298CC335-43E8-497A-92EF-F6294183AD0B}" dt="2025-09-15T13:28:02.989" v="1898" actId="478"/>
        <pc:sldMkLst>
          <pc:docMk/>
          <pc:sldMk cId="1992598841" sldId="2801"/>
        </pc:sldMkLst>
      </pc:sldChg>
      <pc:sldChg chg="delSp mod">
        <pc:chgData name="Adam Brown (Astrea Central)" userId="e4577f1c-a0ea-4eef-9851-9bdbe8619e58" providerId="ADAL" clId="{298CC335-43E8-497A-92EF-F6294183AD0B}" dt="2025-09-15T13:28:00.979" v="1896" actId="478"/>
        <pc:sldMkLst>
          <pc:docMk/>
          <pc:sldMk cId="1428088597" sldId="2804"/>
        </pc:sldMkLst>
      </pc:sldChg>
    </pc:docChg>
  </pc:docChgLst>
  <pc:docChgLst>
    <pc:chgData name="Adam Brown (Astrea Central)" userId="e4577f1c-a0ea-4eef-9851-9bdbe8619e58" providerId="ADAL" clId="{0325B7A6-1728-40A1-8A53-6E162CE01DE6}"/>
    <pc:docChg chg="delSld">
      <pc:chgData name="Adam Brown (Astrea Central)" userId="e4577f1c-a0ea-4eef-9851-9bdbe8619e58" providerId="ADAL" clId="{0325B7A6-1728-40A1-8A53-6E162CE01DE6}" dt="2025-10-02T11:04:52.311" v="1" actId="47"/>
      <pc:docMkLst>
        <pc:docMk/>
      </pc:docMkLst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3499626388" sldId="270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3802529320" sldId="290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602000621" sldId="304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201419931" sldId="418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3634756477" sldId="528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3965342644" sldId="529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261905153" sldId="531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2885128637" sldId="533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207551091" sldId="534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773249319" sldId="536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354259982" sldId="537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438998916" sldId="538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2485489797" sldId="557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525563781" sldId="560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617582283" sldId="604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257912426" sldId="605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3771127931" sldId="634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2820528885" sldId="750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05983789" sldId="751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705740215" sldId="761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2741417538" sldId="764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721518159" sldId="765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3624233750" sldId="796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3786559436" sldId="820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2636512546" sldId="822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990989979" sldId="823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943235173" sldId="826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2692183026" sldId="1167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248081511" sldId="1168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3736762328" sldId="1169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3041216556" sldId="1171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3478272523" sldId="1172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2216248988" sldId="1173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2128076458" sldId="1175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3221334843" sldId="1176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2467498060" sldId="1177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100087889" sldId="1178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2469184529" sldId="1179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402085223" sldId="1180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2823046277" sldId="1224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766625398" sldId="1225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567395204" sldId="1226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733079440" sldId="1227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3664428990" sldId="1228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710199113" sldId="1229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420111636" sldId="1230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49822979" sldId="1231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210998565" sldId="1233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733169967" sldId="1235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2936956160" sldId="2717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2276136011" sldId="2724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2347654998" sldId="2726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3656622071" sldId="2732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806530860" sldId="2733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251629001" sldId="2735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618587120" sldId="2736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674874405" sldId="2737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3580631642" sldId="2738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3254095160" sldId="2740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325519433" sldId="2741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850562953" sldId="2742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508714497" sldId="2743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035247090" sldId="2782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3795775980" sldId="2783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206868638" sldId="2784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3862930301" sldId="2785"/>
        </pc:sldMkLst>
      </pc:sldChg>
      <pc:sldChg chg="del">
        <pc:chgData name="Adam Brown (Astrea Central)" userId="e4577f1c-a0ea-4eef-9851-9bdbe8619e58" providerId="ADAL" clId="{0325B7A6-1728-40A1-8A53-6E162CE01DE6}" dt="2025-10-02T11:04:52.311" v="1" actId="47"/>
        <pc:sldMkLst>
          <pc:docMk/>
          <pc:sldMk cId="1152998114" sldId="2786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793087224" sldId="2788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226461086" sldId="2790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317608521" sldId="2791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3879350625" sldId="2792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145473237" sldId="2793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477799629" sldId="2794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20458108" sldId="2795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2695163168" sldId="2796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67216715" sldId="2797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4095301130" sldId="2798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3489747628" sldId="2799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992598841" sldId="2801"/>
        </pc:sldMkLst>
      </pc:sldChg>
      <pc:sldChg chg="del">
        <pc:chgData name="Adam Brown (Astrea Central)" userId="e4577f1c-a0ea-4eef-9851-9bdbe8619e58" providerId="ADAL" clId="{0325B7A6-1728-40A1-8A53-6E162CE01DE6}" dt="2025-10-02T11:04:41.593" v="0" actId="47"/>
        <pc:sldMkLst>
          <pc:docMk/>
          <pc:sldMk cId="1428088597" sldId="28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A2F48-886E-9C4D-9A23-F79AB504182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4A783-C653-C444-A1FE-7D3BC73388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729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77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87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768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515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3F01-C249-4630-8925-3FA8CA5D5124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062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D24F-25D0-4644-A4B7-679B0D92A27B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2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945C-0756-4826-BDE8-0D36F2293E24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12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7D07-9EDF-4EAA-A2E9-53F69F56EAB8}" type="datetime1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71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D1F21-94FA-4612-940D-140680A041D4}" type="datetime1">
              <a:rPr lang="en-GB" smtClean="0"/>
              <a:t>02/10/2025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20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D50B-0179-45AB-B8BD-E845C2D492B8}" type="datetime1">
              <a:rPr lang="en-GB" smtClean="0"/>
              <a:t>02/10/2025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75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A-5761-4B75-9D0E-B2701F0B8FAB}" type="datetime1">
              <a:rPr lang="en-GB" smtClean="0"/>
              <a:t>02/10/2025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62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51BA-61E4-4CA2-82F9-D917BA195972}" type="datetime1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83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166B-48A3-42CC-B417-680258AF0255}" type="datetime1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343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14A-CA9A-4483-95D0-EC2F9A739675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906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A05CB-CDC6-426C-8DC1-99DBE1916FDA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836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A1063-315D-4510-AA5C-A89F8FFE3FC8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40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800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1.png"/><Relationship Id="rId26" Type="http://schemas.openxmlformats.org/officeDocument/2006/relationships/image" Target="../media/image84.png"/><Relationship Id="rId3" Type="http://schemas.openxmlformats.org/officeDocument/2006/relationships/image" Target="../media/image320.png"/><Relationship Id="rId21" Type="http://schemas.openxmlformats.org/officeDocument/2006/relationships/image" Target="../media/image5210.png"/><Relationship Id="rId7" Type="http://schemas.openxmlformats.org/officeDocument/2006/relationships/image" Target="../media/image3611.png"/><Relationship Id="rId25" Type="http://schemas.openxmlformats.org/officeDocument/2006/relationships/image" Target="../media/image83.png"/><Relationship Id="rId2" Type="http://schemas.openxmlformats.org/officeDocument/2006/relationships/image" Target="../media/image30.png"/><Relationship Id="rId20" Type="http://schemas.openxmlformats.org/officeDocument/2006/relationships/image" Target="../media/image5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10.png"/><Relationship Id="rId24" Type="http://schemas.openxmlformats.org/officeDocument/2006/relationships/image" Target="../media/image67.png"/><Relationship Id="rId5" Type="http://schemas.openxmlformats.org/officeDocument/2006/relationships/image" Target="../media/image3410.png"/><Relationship Id="rId23" Type="http://schemas.openxmlformats.org/officeDocument/2006/relationships/image" Target="../media/image54.png"/><Relationship Id="rId10" Type="http://schemas.openxmlformats.org/officeDocument/2006/relationships/image" Target="../media/image4110.png"/><Relationship Id="rId19" Type="http://schemas.openxmlformats.org/officeDocument/2006/relationships/image" Target="../media/image5010.png"/><Relationship Id="rId4" Type="http://schemas.openxmlformats.org/officeDocument/2006/relationships/image" Target="../media/image3310.png"/><Relationship Id="rId9" Type="http://schemas.openxmlformats.org/officeDocument/2006/relationships/image" Target="../media/image4010.png"/><Relationship Id="rId22" Type="http://schemas.openxmlformats.org/officeDocument/2006/relationships/image" Target="../media/image53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5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4.png"/><Relationship Id="rId2" Type="http://schemas.openxmlformats.org/officeDocument/2006/relationships/image" Target="../media/image32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2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2.png"/><Relationship Id="rId13" Type="http://schemas.openxmlformats.org/officeDocument/2006/relationships/image" Target="../media/image776.png"/><Relationship Id="rId18" Type="http://schemas.openxmlformats.org/officeDocument/2006/relationships/image" Target="../media/image782.png"/><Relationship Id="rId3" Type="http://schemas.openxmlformats.org/officeDocument/2006/relationships/image" Target="../media/image766.png"/><Relationship Id="rId21" Type="http://schemas.openxmlformats.org/officeDocument/2006/relationships/image" Target="../media/image785.png"/><Relationship Id="rId7" Type="http://schemas.openxmlformats.org/officeDocument/2006/relationships/image" Target="../media/image771.png"/><Relationship Id="rId12" Type="http://schemas.openxmlformats.org/officeDocument/2006/relationships/image" Target="../media/image1.png"/><Relationship Id="rId17" Type="http://schemas.openxmlformats.org/officeDocument/2006/relationships/image" Target="../media/image78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79.png"/><Relationship Id="rId20" Type="http://schemas.openxmlformats.org/officeDocument/2006/relationships/image" Target="../media/image7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9.png"/><Relationship Id="rId11" Type="http://schemas.openxmlformats.org/officeDocument/2006/relationships/image" Target="../media/image775.png"/><Relationship Id="rId5" Type="http://schemas.openxmlformats.org/officeDocument/2006/relationships/image" Target="../media/image768.png"/><Relationship Id="rId15" Type="http://schemas.openxmlformats.org/officeDocument/2006/relationships/image" Target="../media/image778.png"/><Relationship Id="rId10" Type="http://schemas.openxmlformats.org/officeDocument/2006/relationships/image" Target="../media/image774.png"/><Relationship Id="rId19" Type="http://schemas.openxmlformats.org/officeDocument/2006/relationships/image" Target="../media/image783.png"/><Relationship Id="rId4" Type="http://schemas.openxmlformats.org/officeDocument/2006/relationships/image" Target="../media/image767.png"/><Relationship Id="rId9" Type="http://schemas.openxmlformats.org/officeDocument/2006/relationships/image" Target="../media/image773.png"/><Relationship Id="rId14" Type="http://schemas.openxmlformats.org/officeDocument/2006/relationships/image" Target="../media/image37.png"/><Relationship Id="rId22" Type="http://schemas.openxmlformats.org/officeDocument/2006/relationships/image" Target="../media/image78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0.png"/><Relationship Id="rId13" Type="http://schemas.openxmlformats.org/officeDocument/2006/relationships/image" Target="../media/image2510.png"/><Relationship Id="rId18" Type="http://schemas.openxmlformats.org/officeDocument/2006/relationships/image" Target="../media/image2560.png"/><Relationship Id="rId26" Type="http://schemas.openxmlformats.org/officeDocument/2006/relationships/image" Target="../media/image2640.png"/><Relationship Id="rId3" Type="http://schemas.openxmlformats.org/officeDocument/2006/relationships/image" Target="../media/image2410.png"/><Relationship Id="rId21" Type="http://schemas.openxmlformats.org/officeDocument/2006/relationships/image" Target="../media/image2590.png"/><Relationship Id="rId7" Type="http://schemas.openxmlformats.org/officeDocument/2006/relationships/image" Target="../media/image2450.png"/><Relationship Id="rId12" Type="http://schemas.openxmlformats.org/officeDocument/2006/relationships/image" Target="../media/image2500.png"/><Relationship Id="rId17" Type="http://schemas.openxmlformats.org/officeDocument/2006/relationships/image" Target="../media/image2550.png"/><Relationship Id="rId25" Type="http://schemas.openxmlformats.org/officeDocument/2006/relationships/image" Target="../media/image2630.png"/><Relationship Id="rId2" Type="http://schemas.openxmlformats.org/officeDocument/2006/relationships/image" Target="../media/image2400.png"/><Relationship Id="rId16" Type="http://schemas.openxmlformats.org/officeDocument/2006/relationships/image" Target="../media/image2540.png"/><Relationship Id="rId20" Type="http://schemas.openxmlformats.org/officeDocument/2006/relationships/image" Target="../media/image25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40.png"/><Relationship Id="rId11" Type="http://schemas.openxmlformats.org/officeDocument/2006/relationships/image" Target="../media/image2490.png"/><Relationship Id="rId24" Type="http://schemas.openxmlformats.org/officeDocument/2006/relationships/image" Target="../media/image2620.png"/><Relationship Id="rId5" Type="http://schemas.openxmlformats.org/officeDocument/2006/relationships/image" Target="../media/image2430.png"/><Relationship Id="rId15" Type="http://schemas.openxmlformats.org/officeDocument/2006/relationships/image" Target="../media/image2530.png"/><Relationship Id="rId23" Type="http://schemas.openxmlformats.org/officeDocument/2006/relationships/image" Target="../media/image2610.png"/><Relationship Id="rId10" Type="http://schemas.openxmlformats.org/officeDocument/2006/relationships/image" Target="../media/image40.png"/><Relationship Id="rId19" Type="http://schemas.openxmlformats.org/officeDocument/2006/relationships/image" Target="../media/image2570.png"/><Relationship Id="rId4" Type="http://schemas.openxmlformats.org/officeDocument/2006/relationships/image" Target="../media/image2420.png"/><Relationship Id="rId9" Type="http://schemas.openxmlformats.org/officeDocument/2006/relationships/image" Target="../media/image2470.png"/><Relationship Id="rId14" Type="http://schemas.openxmlformats.org/officeDocument/2006/relationships/image" Target="../media/image2520.png"/><Relationship Id="rId22" Type="http://schemas.openxmlformats.org/officeDocument/2006/relationships/image" Target="../media/image260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45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52.png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53.png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B59D2F85-C40C-6F49-A8DC-9962E32C54A7}"/>
              </a:ext>
            </a:extLst>
          </p:cNvPr>
          <p:cNvSpPr/>
          <p:nvPr/>
        </p:nvSpPr>
        <p:spPr>
          <a:xfrm>
            <a:off x="86108" y="327055"/>
            <a:ext cx="6679742" cy="1133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ysClr val="windowText" lastClr="000000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3A83C37-429B-B44E-B9E5-6054EBA2FC17}"/>
              </a:ext>
            </a:extLst>
          </p:cNvPr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Subtopic 6 – Squares, Cubes and Roots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05264B7-DB58-7E49-B4A9-8F02D752A45D}"/>
              </a:ext>
            </a:extLst>
          </p:cNvPr>
          <p:cNvSpPr txBox="1"/>
          <p:nvPr/>
        </p:nvSpPr>
        <p:spPr>
          <a:xfrm>
            <a:off x="133163" y="727735"/>
            <a:ext cx="5101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Objectives:</a:t>
            </a:r>
          </a:p>
          <a:p>
            <a:pPr marL="228600" indent="-228600">
              <a:buAutoNum type="arabicPeriod"/>
            </a:pPr>
            <a:r>
              <a:rPr lang="en-GB" sz="1200" dirty="0"/>
              <a:t>To be able to recall the square numbers up to 15 squared</a:t>
            </a:r>
          </a:p>
          <a:p>
            <a:pPr marL="228600" indent="-228600">
              <a:buAutoNum type="arabicPeriod"/>
            </a:pPr>
            <a:r>
              <a:rPr lang="en-GB" sz="1200" dirty="0"/>
              <a:t>To be able to recall the cube numbers up to 10 cubed.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E771014-6049-D94F-9894-F3E0D5FBDFBE}"/>
              </a:ext>
            </a:extLst>
          </p:cNvPr>
          <p:cNvSpPr txBox="1"/>
          <p:nvPr/>
        </p:nvSpPr>
        <p:spPr>
          <a:xfrm>
            <a:off x="438347" y="373798"/>
            <a:ext cx="5956961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200" dirty="0"/>
              <a:t>LEARNING OUTCOME: To understand square and cube numbers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15F86B-6C3B-6849-A0A3-1AA8A5990EEB}"/>
              </a:ext>
            </a:extLst>
          </p:cNvPr>
          <p:cNvSpPr txBox="1"/>
          <p:nvPr/>
        </p:nvSpPr>
        <p:spPr>
          <a:xfrm>
            <a:off x="5632946" y="718132"/>
            <a:ext cx="1058149" cy="684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Keywords:</a:t>
            </a:r>
          </a:p>
          <a:p>
            <a:r>
              <a:rPr lang="en-US" sz="1200" dirty="0"/>
              <a:t>- Square</a:t>
            </a:r>
          </a:p>
          <a:p>
            <a:r>
              <a:rPr lang="en-US" sz="1200" dirty="0"/>
              <a:t>- Cube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12C136E-B61D-C986-E7F2-B8F2E6063774}"/>
              </a:ext>
            </a:extLst>
          </p:cNvPr>
          <p:cNvSpPr/>
          <p:nvPr/>
        </p:nvSpPr>
        <p:spPr>
          <a:xfrm>
            <a:off x="79392" y="2749694"/>
            <a:ext cx="6677766" cy="20029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D2A3AAF-8B34-C696-63B3-F6A26446E1D8}"/>
              </a:ext>
            </a:extLst>
          </p:cNvPr>
          <p:cNvCxnSpPr>
            <a:cxnSpLocks/>
          </p:cNvCxnSpPr>
          <p:nvPr/>
        </p:nvCxnSpPr>
        <p:spPr>
          <a:xfrm>
            <a:off x="80205" y="3749580"/>
            <a:ext cx="66992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AABF027-C8AD-8C0F-D6DC-F5A1F77C427E}"/>
              </a:ext>
            </a:extLst>
          </p:cNvPr>
          <p:cNvCxnSpPr>
            <a:cxnSpLocks/>
            <a:stCxn id="35" idx="2"/>
            <a:endCxn id="35" idx="0"/>
          </p:cNvCxnSpPr>
          <p:nvPr/>
        </p:nvCxnSpPr>
        <p:spPr>
          <a:xfrm flipV="1">
            <a:off x="3418275" y="2749694"/>
            <a:ext cx="0" cy="20029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F84FDF2-538B-3595-67DB-761D62B0A923}"/>
              </a:ext>
            </a:extLst>
          </p:cNvPr>
          <p:cNvSpPr txBox="1"/>
          <p:nvPr/>
        </p:nvSpPr>
        <p:spPr>
          <a:xfrm>
            <a:off x="97146" y="2749694"/>
            <a:ext cx="3331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Definition</a:t>
            </a:r>
          </a:p>
          <a:p>
            <a:endParaRPr lang="en-US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72D55B-3BCF-D99B-AC34-E81796CF241B}"/>
              </a:ext>
            </a:extLst>
          </p:cNvPr>
          <p:cNvSpPr txBox="1"/>
          <p:nvPr/>
        </p:nvSpPr>
        <p:spPr>
          <a:xfrm>
            <a:off x="3530854" y="2730739"/>
            <a:ext cx="3286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Characteristics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process of creating a square number is called “squaring” and is shown using an index of 2 </a:t>
            </a:r>
            <a:endParaRPr lang="en-US" sz="1200" b="1" dirty="0"/>
          </a:p>
          <a:p>
            <a:pPr algn="r"/>
            <a:endParaRPr lang="en-US" sz="1200" b="1" dirty="0"/>
          </a:p>
          <a:p>
            <a:pPr algn="r"/>
            <a:endParaRPr lang="en-GB" sz="12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8A3DD8-923F-C848-B2B0-4CAFE9C07796}"/>
              </a:ext>
            </a:extLst>
          </p:cNvPr>
          <p:cNvSpPr txBox="1"/>
          <p:nvPr/>
        </p:nvSpPr>
        <p:spPr>
          <a:xfrm>
            <a:off x="100843" y="3749672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Examples</a:t>
            </a:r>
            <a:endParaRPr lang="en-GB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C33C42-0574-9662-9DFE-60D81FBC2C06}"/>
              </a:ext>
            </a:extLst>
          </p:cNvPr>
          <p:cNvSpPr txBox="1"/>
          <p:nvPr/>
        </p:nvSpPr>
        <p:spPr>
          <a:xfrm>
            <a:off x="5617713" y="3749672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082B12-923C-2267-08E6-4F1FD1050D49}"/>
              </a:ext>
            </a:extLst>
          </p:cNvPr>
          <p:cNvSpPr txBox="1"/>
          <p:nvPr/>
        </p:nvSpPr>
        <p:spPr>
          <a:xfrm>
            <a:off x="2629954" y="3613301"/>
            <a:ext cx="163557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Square number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FE927-1FA3-4A60-AF8F-EB79551CBA4E}"/>
              </a:ext>
            </a:extLst>
          </p:cNvPr>
          <p:cNvSpPr txBox="1"/>
          <p:nvPr/>
        </p:nvSpPr>
        <p:spPr>
          <a:xfrm>
            <a:off x="95912" y="4015866"/>
            <a:ext cx="3355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4 (= 2</a:t>
            </a:r>
            <a:r>
              <a:rPr lang="en-US" sz="1200" baseline="30000" dirty="0"/>
              <a:t>2</a:t>
            </a:r>
            <a:r>
              <a:rPr lang="en-US" sz="1200" dirty="0"/>
              <a:t>)		 9 (= 3</a:t>
            </a:r>
            <a:r>
              <a:rPr lang="en-US" sz="1200" baseline="30000" dirty="0"/>
              <a:t>2</a:t>
            </a:r>
            <a:r>
              <a:rPr lang="en-US" sz="1200" dirty="0"/>
              <a:t>)</a:t>
            </a:r>
            <a:r>
              <a:rPr lang="en-GB" sz="1200" dirty="0"/>
              <a:t>                       </a:t>
            </a:r>
            <a:r>
              <a:rPr lang="en-US" sz="1200" dirty="0"/>
              <a:t>100 (= 10</a:t>
            </a:r>
            <a:r>
              <a:rPr lang="en-US" sz="1200" baseline="30000" dirty="0"/>
              <a:t>2</a:t>
            </a:r>
            <a:r>
              <a:rPr lang="en-US" sz="1200" dirty="0"/>
              <a:t>)</a:t>
            </a:r>
          </a:p>
          <a:p>
            <a:pPr algn="ctr"/>
            <a:r>
              <a:rPr lang="en-US" sz="1200" dirty="0"/>
              <a:t>           </a:t>
            </a:r>
          </a:p>
          <a:p>
            <a:pPr algn="ctr"/>
            <a:r>
              <a:rPr lang="en-US" sz="1200" dirty="0"/>
              <a:t>484 (=22</a:t>
            </a:r>
            <a:r>
              <a:rPr lang="en-US" sz="1200" baseline="30000" dirty="0"/>
              <a:t>2</a:t>
            </a:r>
            <a:r>
              <a:rPr lang="en-US" sz="1200" dirty="0"/>
              <a:t>)</a:t>
            </a:r>
            <a:r>
              <a:rPr lang="en-GB" sz="1200" dirty="0"/>
              <a:t>         </a:t>
            </a:r>
            <a:r>
              <a:rPr lang="en-US" sz="1200" dirty="0"/>
              <a:t>1 (= 1</a:t>
            </a:r>
            <a:r>
              <a:rPr lang="en-US" sz="1200" baseline="30000" dirty="0"/>
              <a:t>2</a:t>
            </a:r>
            <a:r>
              <a:rPr lang="en-US" sz="1200" dirty="0"/>
              <a:t>)               10 000 (= 100</a:t>
            </a:r>
            <a:r>
              <a:rPr lang="en-US" sz="1200" baseline="30000" dirty="0"/>
              <a:t>2</a:t>
            </a:r>
            <a:r>
              <a:rPr lang="en-US" sz="1200" dirty="0"/>
              <a:t>)</a:t>
            </a:r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B09D28-6F57-41A0-82E8-738609EA1A46}"/>
              </a:ext>
            </a:extLst>
          </p:cNvPr>
          <p:cNvSpPr txBox="1"/>
          <p:nvPr/>
        </p:nvSpPr>
        <p:spPr>
          <a:xfrm>
            <a:off x="86109" y="2950540"/>
            <a:ext cx="33596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An integer multiplied by itself makes a square number</a:t>
            </a:r>
            <a:endParaRPr lang="en-GB" dirty="0"/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4C8EFFC-AB42-4E78-9CF5-271050EB8CDE}"/>
                  </a:ext>
                </a:extLst>
              </p:cNvPr>
              <p:cNvSpPr/>
              <p:nvPr/>
            </p:nvSpPr>
            <p:spPr>
              <a:xfrm>
                <a:off x="3140124" y="3780252"/>
                <a:ext cx="3429000" cy="97238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2 (</a:t>
                </a:r>
                <a:r>
                  <a:rPr lang="en-US" sz="1200" dirty="0">
                    <a:ea typeface="Calibri" panose="020F0502020204030204" pitchFamily="34" charset="0"/>
                    <a:cs typeface="Calibri" panose="020F0502020204030204" pitchFamily="34" charset="0"/>
                  </a:rPr>
                  <a:t>≠</a:t>
                </a:r>
                <a:r>
                  <a:rPr lang="en-US" sz="1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1</a:t>
                </a:r>
                <a:r>
                  <a:rPr lang="en-US" sz="1200" baseline="300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1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endParaRPr lang="en-GB" sz="12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10		1000</a:t>
                </a:r>
                <a:r>
                  <a:rPr lang="en-GB" sz="1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               </a:t>
                </a:r>
                <a:r>
                  <a:rPr lang="en-US" sz="1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5</a:t>
                </a:r>
                <a:endParaRPr lang="en-GB" sz="12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		-4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GB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4C8EFFC-AB42-4E78-9CF5-271050EB8C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124" y="3780252"/>
                <a:ext cx="3429000" cy="9723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18E54D5-A0F9-A8BE-F055-01C2A1118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382" y="3321265"/>
            <a:ext cx="438150" cy="3905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AFF0847-757C-CD53-B4DA-E1F1B3B6A943}"/>
              </a:ext>
            </a:extLst>
          </p:cNvPr>
          <p:cNvSpPr/>
          <p:nvPr/>
        </p:nvSpPr>
        <p:spPr>
          <a:xfrm>
            <a:off x="78158" y="4852237"/>
            <a:ext cx="6666932" cy="20286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76D2C8-0ABF-F214-08E7-159DC00B5F53}"/>
              </a:ext>
            </a:extLst>
          </p:cNvPr>
          <p:cNvCxnSpPr>
            <a:cxnSpLocks/>
          </p:cNvCxnSpPr>
          <p:nvPr/>
        </p:nvCxnSpPr>
        <p:spPr>
          <a:xfrm>
            <a:off x="75058" y="5835790"/>
            <a:ext cx="666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81638A-9433-F7B1-3CDD-DA4F01E66E6E}"/>
              </a:ext>
            </a:extLst>
          </p:cNvPr>
          <p:cNvCxnSpPr>
            <a:cxnSpLocks/>
            <a:stCxn id="9" idx="2"/>
            <a:endCxn id="9" idx="0"/>
          </p:cNvCxnSpPr>
          <p:nvPr/>
        </p:nvCxnSpPr>
        <p:spPr>
          <a:xfrm flipV="1">
            <a:off x="3411624" y="4852237"/>
            <a:ext cx="0" cy="202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E2B5FC7-11D2-0A43-4BB3-E9EBFB07332D}"/>
              </a:ext>
            </a:extLst>
          </p:cNvPr>
          <p:cNvSpPr txBox="1"/>
          <p:nvPr/>
        </p:nvSpPr>
        <p:spPr>
          <a:xfrm>
            <a:off x="95912" y="4852237"/>
            <a:ext cx="3331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Definition</a:t>
            </a:r>
          </a:p>
          <a:p>
            <a:endParaRPr lang="en-US" sz="1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2C5380-3854-E615-B948-8B6664A7FB31}"/>
              </a:ext>
            </a:extLst>
          </p:cNvPr>
          <p:cNvSpPr txBox="1"/>
          <p:nvPr/>
        </p:nvSpPr>
        <p:spPr>
          <a:xfrm>
            <a:off x="3443225" y="4820127"/>
            <a:ext cx="32866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Characteristics</a:t>
            </a:r>
          </a:p>
          <a:p>
            <a:pPr algn="r"/>
            <a:r>
              <a:rPr lang="en-US" sz="1200" dirty="0"/>
              <a:t>The process of creating a cube number is called “cubing” and is shown using an index of 3 </a:t>
            </a:r>
            <a:endParaRPr lang="en-US" sz="1200" b="1" dirty="0"/>
          </a:p>
          <a:p>
            <a:pPr algn="r"/>
            <a:endParaRPr lang="en-US" sz="1200" b="1" dirty="0"/>
          </a:p>
          <a:p>
            <a:pPr algn="r"/>
            <a:endParaRPr lang="en-GB" sz="1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9DCE5B-231C-899B-E986-218C348E36F0}"/>
              </a:ext>
            </a:extLst>
          </p:cNvPr>
          <p:cNvSpPr txBox="1"/>
          <p:nvPr/>
        </p:nvSpPr>
        <p:spPr>
          <a:xfrm>
            <a:off x="47246" y="5858613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Examples</a:t>
            </a:r>
            <a:endParaRPr lang="en-GB" sz="1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262537-D34F-B210-42D3-6C9E99F20CA2}"/>
              </a:ext>
            </a:extLst>
          </p:cNvPr>
          <p:cNvSpPr txBox="1"/>
          <p:nvPr/>
        </p:nvSpPr>
        <p:spPr>
          <a:xfrm>
            <a:off x="5619239" y="5823272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6723EA-5A6E-1583-2087-CF01B1865A1B}"/>
              </a:ext>
            </a:extLst>
          </p:cNvPr>
          <p:cNvSpPr txBox="1"/>
          <p:nvPr/>
        </p:nvSpPr>
        <p:spPr>
          <a:xfrm>
            <a:off x="2679578" y="5664258"/>
            <a:ext cx="146546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Cube number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D1A2FD-94D9-E6E0-661A-5261F86A1578}"/>
              </a:ext>
            </a:extLst>
          </p:cNvPr>
          <p:cNvSpPr txBox="1"/>
          <p:nvPr/>
        </p:nvSpPr>
        <p:spPr>
          <a:xfrm>
            <a:off x="128757" y="6162453"/>
            <a:ext cx="4457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 (= 2</a:t>
            </a:r>
            <a:r>
              <a:rPr lang="en-US" sz="1200" baseline="30000" dirty="0"/>
              <a:t>3</a:t>
            </a:r>
            <a:r>
              <a:rPr lang="en-US" sz="1200" dirty="0"/>
              <a:t>)		27 (= 3</a:t>
            </a:r>
            <a:r>
              <a:rPr lang="en-US" sz="1200" baseline="30000" dirty="0"/>
              <a:t>3</a:t>
            </a:r>
            <a:r>
              <a:rPr lang="en-US" sz="1200" dirty="0"/>
              <a:t>)                1000 (= 10</a:t>
            </a:r>
            <a:r>
              <a:rPr lang="en-US" sz="1200" baseline="30000" dirty="0"/>
              <a:t>3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10 648 (=22</a:t>
            </a:r>
            <a:r>
              <a:rPr lang="en-US" sz="1200" baseline="30000" dirty="0"/>
              <a:t>3</a:t>
            </a:r>
            <a:r>
              <a:rPr lang="en-US" sz="1200" dirty="0"/>
              <a:t>)       1 (= 1</a:t>
            </a:r>
            <a:r>
              <a:rPr lang="en-US" sz="1200" baseline="30000" dirty="0"/>
              <a:t>3</a:t>
            </a:r>
            <a:r>
              <a:rPr lang="en-US" sz="1200" dirty="0"/>
              <a:t>)         1 000 000 (= 100</a:t>
            </a:r>
            <a:r>
              <a:rPr lang="en-US" sz="1200" baseline="30000" dirty="0"/>
              <a:t>3</a:t>
            </a:r>
            <a:r>
              <a:rPr lang="en-US" sz="1200" dirty="0"/>
              <a:t>)</a:t>
            </a:r>
            <a:endParaRPr lang="en-GB" sz="1200" dirty="0"/>
          </a:p>
          <a:p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A09C76-E432-D420-A412-8C7C6568DD95}"/>
              </a:ext>
            </a:extLst>
          </p:cNvPr>
          <p:cNvSpPr txBox="1"/>
          <p:nvPr/>
        </p:nvSpPr>
        <p:spPr>
          <a:xfrm>
            <a:off x="112911" y="5027998"/>
            <a:ext cx="33303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An integer multiplied </a:t>
            </a:r>
            <a:r>
              <a:rPr lang="en-GB" sz="1200" b="0" i="0" dirty="0">
                <a:solidFill>
                  <a:srgbClr val="040C28"/>
                </a:solidFill>
                <a:effectLst/>
                <a:latin typeface="Google Sans"/>
              </a:rPr>
              <a:t>by itself and then itself again</a:t>
            </a:r>
            <a:r>
              <a:rPr lang="en-GB" sz="1200" dirty="0"/>
              <a:t> makes a cube number</a:t>
            </a:r>
            <a:endParaRPr lang="en-GB" dirty="0"/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F69C13A-EFCD-D6C8-E128-C2C07917FCCF}"/>
                  </a:ext>
                </a:extLst>
              </p:cNvPr>
              <p:cNvSpPr/>
              <p:nvPr/>
            </p:nvSpPr>
            <p:spPr>
              <a:xfrm>
                <a:off x="3167642" y="5879330"/>
                <a:ext cx="3429000" cy="97321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3 (</a:t>
                </a:r>
                <a:r>
                  <a:rPr lang="en-US" sz="1200" dirty="0">
                    <a:ea typeface="Calibri" panose="020F0502020204030204" pitchFamily="34" charset="0"/>
                    <a:cs typeface="Calibri" panose="020F0502020204030204" pitchFamily="34" charset="0"/>
                  </a:rPr>
                  <a:t>≠</a:t>
                </a:r>
                <a:r>
                  <a:rPr lang="en-US" sz="1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1</a:t>
                </a:r>
                <a:r>
                  <a:rPr lang="en-US" sz="1200" baseline="300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US" sz="1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endParaRPr lang="en-GB" sz="12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6		            100                                 </a:t>
                </a:r>
                <a:r>
                  <a:rPr lang="en-GB" sz="1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12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		-9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</m:num>
                      <m:den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GB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F69C13A-EFCD-D6C8-E128-C2C07917FC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642" y="5879330"/>
                <a:ext cx="3429000" cy="9732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D5D305A0-A1BD-E96A-AECC-76747C577A11}"/>
              </a:ext>
            </a:extLst>
          </p:cNvPr>
          <p:cNvGrpSpPr/>
          <p:nvPr/>
        </p:nvGrpSpPr>
        <p:grpSpPr>
          <a:xfrm>
            <a:off x="6271072" y="5369433"/>
            <a:ext cx="453607" cy="411465"/>
            <a:chOff x="6246904" y="5559103"/>
            <a:chExt cx="453607" cy="41146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0F45B05-9BCF-B65A-2261-3FA080A09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6904" y="5580043"/>
              <a:ext cx="438150" cy="390525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A2B652F-3692-D810-0332-742E0C0C690C}"/>
                </a:ext>
              </a:extLst>
            </p:cNvPr>
            <p:cNvSpPr/>
            <p:nvPr/>
          </p:nvSpPr>
          <p:spPr>
            <a:xfrm>
              <a:off x="6504991" y="5617558"/>
              <a:ext cx="60848" cy="1971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2254669-9D6C-C4F7-183E-3B5E05EF9B4C}"/>
                </a:ext>
              </a:extLst>
            </p:cNvPr>
            <p:cNvSpPr txBox="1"/>
            <p:nvPr/>
          </p:nvSpPr>
          <p:spPr>
            <a:xfrm>
              <a:off x="6417737" y="5559103"/>
              <a:ext cx="2827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3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2D65FCF-B52D-CBE1-AE9A-E9D2CA462B70}"/>
              </a:ext>
            </a:extLst>
          </p:cNvPr>
          <p:cNvSpPr txBox="1"/>
          <p:nvPr/>
        </p:nvSpPr>
        <p:spPr>
          <a:xfrm>
            <a:off x="78914" y="729036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1 - I do…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E36D14-C119-6CB7-1AF4-CB7B3233D799}"/>
              </a:ext>
            </a:extLst>
          </p:cNvPr>
          <p:cNvSpPr/>
          <p:nvPr/>
        </p:nvSpPr>
        <p:spPr>
          <a:xfrm>
            <a:off x="106491" y="7006806"/>
            <a:ext cx="2043646" cy="24447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Index form and language</a:t>
            </a:r>
            <a:endParaRPr lang="en-GB" sz="12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">
                <a:extLst>
                  <a:ext uri="{FF2B5EF4-FFF2-40B4-BE49-F238E27FC236}">
                    <a16:creationId xmlns:a16="http://schemas.microsoft.com/office/drawing/2014/main" id="{201FA3F8-AE0D-FB3C-580A-D4D5576C2A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1969583"/>
                  </p:ext>
                </p:extLst>
              </p:nvPr>
            </p:nvGraphicFramePr>
            <p:xfrm>
              <a:off x="106491" y="7559011"/>
              <a:ext cx="6645016" cy="1927699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755721">
                      <a:extLst>
                        <a:ext uri="{9D8B030D-6E8A-4147-A177-3AD203B41FA5}">
                          <a16:colId xmlns:a16="http://schemas.microsoft.com/office/drawing/2014/main" val="9243514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646287668"/>
                        </a:ext>
                      </a:extLst>
                    </a:gridCol>
                    <a:gridCol w="769257">
                      <a:extLst>
                        <a:ext uri="{9D8B030D-6E8A-4147-A177-3AD203B41FA5}">
                          <a16:colId xmlns:a16="http://schemas.microsoft.com/office/drawing/2014/main" val="1467904898"/>
                        </a:ext>
                      </a:extLst>
                    </a:gridCol>
                    <a:gridCol w="841828">
                      <a:extLst>
                        <a:ext uri="{9D8B030D-6E8A-4147-A177-3AD203B41FA5}">
                          <a16:colId xmlns:a16="http://schemas.microsoft.com/office/drawing/2014/main" val="2126215018"/>
                        </a:ext>
                      </a:extLst>
                    </a:gridCol>
                    <a:gridCol w="1059543">
                      <a:extLst>
                        <a:ext uri="{9D8B030D-6E8A-4147-A177-3AD203B41FA5}">
                          <a16:colId xmlns:a16="http://schemas.microsoft.com/office/drawing/2014/main" val="1765187778"/>
                        </a:ext>
                      </a:extLst>
                    </a:gridCol>
                    <a:gridCol w="1354979">
                      <a:extLst>
                        <a:ext uri="{9D8B030D-6E8A-4147-A177-3AD203B41FA5}">
                          <a16:colId xmlns:a16="http://schemas.microsoft.com/office/drawing/2014/main" val="2496743395"/>
                        </a:ext>
                      </a:extLst>
                    </a:gridCol>
                    <a:gridCol w="949288">
                      <a:extLst>
                        <a:ext uri="{9D8B030D-6E8A-4147-A177-3AD203B41FA5}">
                          <a16:colId xmlns:a16="http://schemas.microsoft.com/office/drawing/2014/main" val="3224066942"/>
                        </a:ext>
                      </a:extLst>
                    </a:gridCol>
                  </a:tblGrid>
                  <a:tr h="575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Power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Base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Index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Index Form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Calculation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753935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r>
                            <a:rPr lang="en-GB" baseline="30000" dirty="0">
                              <a:solidFill>
                                <a:schemeClr val="tx1"/>
                              </a:solidFill>
                            </a:rPr>
                            <a:t>st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chemeClr val="tx1"/>
                              </a:solidFill>
                            </a:rPr>
                            <a:t>Five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075818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en-GB" baseline="30000" dirty="0">
                              <a:solidFill>
                                <a:schemeClr val="tx1"/>
                              </a:solidFill>
                            </a:rPr>
                            <a:t>nd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chemeClr val="tx1"/>
                              </a:solidFill>
                            </a:rPr>
                            <a:t>Five Squared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8265137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r>
                            <a:rPr lang="en-GB" baseline="30000" dirty="0">
                              <a:solidFill>
                                <a:schemeClr val="tx1"/>
                              </a:solidFill>
                            </a:rPr>
                            <a:t>rd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GB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6701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">
                <a:extLst>
                  <a:ext uri="{FF2B5EF4-FFF2-40B4-BE49-F238E27FC236}">
                    <a16:creationId xmlns:a16="http://schemas.microsoft.com/office/drawing/2014/main" id="{201FA3F8-AE0D-FB3C-580A-D4D5576C2A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1969583"/>
                  </p:ext>
                </p:extLst>
              </p:nvPr>
            </p:nvGraphicFramePr>
            <p:xfrm>
              <a:off x="106491" y="7559011"/>
              <a:ext cx="6645016" cy="1927699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755721">
                      <a:extLst>
                        <a:ext uri="{9D8B030D-6E8A-4147-A177-3AD203B41FA5}">
                          <a16:colId xmlns:a16="http://schemas.microsoft.com/office/drawing/2014/main" val="9243514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646287668"/>
                        </a:ext>
                      </a:extLst>
                    </a:gridCol>
                    <a:gridCol w="769257">
                      <a:extLst>
                        <a:ext uri="{9D8B030D-6E8A-4147-A177-3AD203B41FA5}">
                          <a16:colId xmlns:a16="http://schemas.microsoft.com/office/drawing/2014/main" val="1467904898"/>
                        </a:ext>
                      </a:extLst>
                    </a:gridCol>
                    <a:gridCol w="841828">
                      <a:extLst>
                        <a:ext uri="{9D8B030D-6E8A-4147-A177-3AD203B41FA5}">
                          <a16:colId xmlns:a16="http://schemas.microsoft.com/office/drawing/2014/main" val="2126215018"/>
                        </a:ext>
                      </a:extLst>
                    </a:gridCol>
                    <a:gridCol w="1059543">
                      <a:extLst>
                        <a:ext uri="{9D8B030D-6E8A-4147-A177-3AD203B41FA5}">
                          <a16:colId xmlns:a16="http://schemas.microsoft.com/office/drawing/2014/main" val="1765187778"/>
                        </a:ext>
                      </a:extLst>
                    </a:gridCol>
                    <a:gridCol w="1354979">
                      <a:extLst>
                        <a:ext uri="{9D8B030D-6E8A-4147-A177-3AD203B41FA5}">
                          <a16:colId xmlns:a16="http://schemas.microsoft.com/office/drawing/2014/main" val="2496743395"/>
                        </a:ext>
                      </a:extLst>
                    </a:gridCol>
                    <a:gridCol w="949288">
                      <a:extLst>
                        <a:ext uri="{9D8B030D-6E8A-4147-A177-3AD203B41FA5}">
                          <a16:colId xmlns:a16="http://schemas.microsoft.com/office/drawing/2014/main" val="3224066942"/>
                        </a:ext>
                      </a:extLst>
                    </a:gridCol>
                  </a:tblGrid>
                  <a:tr h="575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Power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Base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Index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Index Form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Calculation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753935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r>
                            <a:rPr lang="en-GB" baseline="30000" dirty="0">
                              <a:solidFill>
                                <a:schemeClr val="tx1"/>
                              </a:solidFill>
                            </a:rPr>
                            <a:t>st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3333" t="-137143" r="-546000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6535" t="-137143" r="-544882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91304" t="-137143" r="-401449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chemeClr val="tx1"/>
                              </a:solidFill>
                            </a:rPr>
                            <a:t>Five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21622" t="-137143" r="-71171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00000" t="-137143" r="-1282" b="-22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0758186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en-GB" baseline="30000" dirty="0">
                              <a:solidFill>
                                <a:schemeClr val="tx1"/>
                              </a:solidFill>
                            </a:rPr>
                            <a:t>nd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3333" t="-200000" r="-546000" b="-86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6535" t="-200000" r="-544882" b="-86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91304" t="-200000" r="-401449" b="-86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chemeClr val="tx1"/>
                              </a:solidFill>
                            </a:rPr>
                            <a:t>Five Squared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21622" t="-200000" r="-71171" b="-86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8265137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r>
                            <a:rPr lang="en-GB" baseline="30000" dirty="0">
                              <a:solidFill>
                                <a:schemeClr val="tx1"/>
                              </a:solidFill>
                            </a:rPr>
                            <a:t>rd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3333" t="-355714" r="-546000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6535" t="-355714" r="-544882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91304" t="-355714" r="-40144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6701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CB369DF2-BE35-4860-8210-A8C6CAAE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78353" y="9467448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1</a:t>
            </a:fld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C9BC15-2B80-9CE4-6E34-24D6A6057A33}"/>
              </a:ext>
            </a:extLst>
          </p:cNvPr>
          <p:cNvSpPr/>
          <p:nvPr/>
        </p:nvSpPr>
        <p:spPr>
          <a:xfrm>
            <a:off x="89023" y="1558044"/>
            <a:ext cx="6671317" cy="10869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2D2835-042C-0E06-C6C4-06FD1076C86D}"/>
              </a:ext>
            </a:extLst>
          </p:cNvPr>
          <p:cNvSpPr txBox="1"/>
          <p:nvPr/>
        </p:nvSpPr>
        <p:spPr>
          <a:xfrm>
            <a:off x="45932" y="1521398"/>
            <a:ext cx="2778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Introduction: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B0F56A-C93D-D04C-47F1-176074195FD4}"/>
              </a:ext>
            </a:extLst>
          </p:cNvPr>
          <p:cNvSpPr txBox="1"/>
          <p:nvPr/>
        </p:nvSpPr>
        <p:spPr>
          <a:xfrm>
            <a:off x="36449" y="1684035"/>
            <a:ext cx="685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dirty="0"/>
              <a:t>Squares numbers and </a:t>
            </a:r>
            <a:r>
              <a:rPr lang="en-US" sz="1200" dirty="0" err="1"/>
              <a:t>and</a:t>
            </a:r>
            <a:r>
              <a:rPr lang="en-US" sz="1200" dirty="0"/>
              <a:t> cube numbers are ways of multiplying a number by itself a certain number of</a:t>
            </a:r>
          </a:p>
          <a:p>
            <a:pPr marL="228600" indent="-228600">
              <a:buAutoNum type="arabicPeriod"/>
            </a:pPr>
            <a:r>
              <a:rPr lang="en-US" sz="1200" dirty="0"/>
              <a:t>times, creating what we call powers. When you square a number, you multiply it by itself. Cubing a</a:t>
            </a:r>
          </a:p>
          <a:p>
            <a:pPr marL="228600" indent="-228600">
              <a:buAutoNum type="arabicPeriod"/>
            </a:pPr>
            <a:r>
              <a:rPr lang="en-US" sz="1200" dirty="0"/>
              <a:t>number means multiplying it by itself and then multiplying by itself again. Knowing how to work with</a:t>
            </a:r>
          </a:p>
          <a:p>
            <a:pPr marL="228600" indent="-228600">
              <a:buAutoNum type="arabicPeriod"/>
            </a:pPr>
            <a:r>
              <a:rPr lang="en-US" sz="1200" dirty="0"/>
              <a:t>squares and cubes is an important skill, as it forms the foundation for understanding powers,</a:t>
            </a:r>
          </a:p>
          <a:p>
            <a:pPr marL="228600" indent="-228600">
              <a:buAutoNum type="arabicPeriod"/>
            </a:pPr>
            <a:r>
              <a:rPr lang="en-US" sz="1200" dirty="0"/>
              <a:t>exponents and roots.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0894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0C03097-4941-4799-746A-2C0ACAC07461}"/>
              </a:ext>
            </a:extLst>
          </p:cNvPr>
          <p:cNvSpPr/>
          <p:nvPr/>
        </p:nvSpPr>
        <p:spPr>
          <a:xfrm>
            <a:off x="16615" y="2393758"/>
            <a:ext cx="6734894" cy="23625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4D21763-55DF-D4A2-7C40-26108D566C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2352891"/>
                  </p:ext>
                </p:extLst>
              </p:nvPr>
            </p:nvGraphicFramePr>
            <p:xfrm>
              <a:off x="106494" y="2791078"/>
              <a:ext cx="6645016" cy="1849305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755721">
                      <a:extLst>
                        <a:ext uri="{9D8B030D-6E8A-4147-A177-3AD203B41FA5}">
                          <a16:colId xmlns:a16="http://schemas.microsoft.com/office/drawing/2014/main" val="9243514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646287668"/>
                        </a:ext>
                      </a:extLst>
                    </a:gridCol>
                    <a:gridCol w="769257">
                      <a:extLst>
                        <a:ext uri="{9D8B030D-6E8A-4147-A177-3AD203B41FA5}">
                          <a16:colId xmlns:a16="http://schemas.microsoft.com/office/drawing/2014/main" val="1467904898"/>
                        </a:ext>
                      </a:extLst>
                    </a:gridCol>
                    <a:gridCol w="841828">
                      <a:extLst>
                        <a:ext uri="{9D8B030D-6E8A-4147-A177-3AD203B41FA5}">
                          <a16:colId xmlns:a16="http://schemas.microsoft.com/office/drawing/2014/main" val="2126215018"/>
                        </a:ext>
                      </a:extLst>
                    </a:gridCol>
                    <a:gridCol w="1059543">
                      <a:extLst>
                        <a:ext uri="{9D8B030D-6E8A-4147-A177-3AD203B41FA5}">
                          <a16:colId xmlns:a16="http://schemas.microsoft.com/office/drawing/2014/main" val="1765187778"/>
                        </a:ext>
                      </a:extLst>
                    </a:gridCol>
                    <a:gridCol w="1354979">
                      <a:extLst>
                        <a:ext uri="{9D8B030D-6E8A-4147-A177-3AD203B41FA5}">
                          <a16:colId xmlns:a16="http://schemas.microsoft.com/office/drawing/2014/main" val="2496743395"/>
                        </a:ext>
                      </a:extLst>
                    </a:gridCol>
                    <a:gridCol w="949288">
                      <a:extLst>
                        <a:ext uri="{9D8B030D-6E8A-4147-A177-3AD203B41FA5}">
                          <a16:colId xmlns:a16="http://schemas.microsoft.com/office/drawing/2014/main" val="3224066942"/>
                        </a:ext>
                      </a:extLst>
                    </a:gridCol>
                  </a:tblGrid>
                  <a:tr h="575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Power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Base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 Form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Say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Calculation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753935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st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075818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nd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8265137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rd</a:t>
                          </a:r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6701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4D21763-55DF-D4A2-7C40-26108D566C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2352891"/>
                  </p:ext>
                </p:extLst>
              </p:nvPr>
            </p:nvGraphicFramePr>
            <p:xfrm>
              <a:off x="106494" y="2791078"/>
              <a:ext cx="6645016" cy="1849305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755721">
                      <a:extLst>
                        <a:ext uri="{9D8B030D-6E8A-4147-A177-3AD203B41FA5}">
                          <a16:colId xmlns:a16="http://schemas.microsoft.com/office/drawing/2014/main" val="9243514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646287668"/>
                        </a:ext>
                      </a:extLst>
                    </a:gridCol>
                    <a:gridCol w="769257">
                      <a:extLst>
                        <a:ext uri="{9D8B030D-6E8A-4147-A177-3AD203B41FA5}">
                          <a16:colId xmlns:a16="http://schemas.microsoft.com/office/drawing/2014/main" val="1467904898"/>
                        </a:ext>
                      </a:extLst>
                    </a:gridCol>
                    <a:gridCol w="841828">
                      <a:extLst>
                        <a:ext uri="{9D8B030D-6E8A-4147-A177-3AD203B41FA5}">
                          <a16:colId xmlns:a16="http://schemas.microsoft.com/office/drawing/2014/main" val="2126215018"/>
                        </a:ext>
                      </a:extLst>
                    </a:gridCol>
                    <a:gridCol w="1059543">
                      <a:extLst>
                        <a:ext uri="{9D8B030D-6E8A-4147-A177-3AD203B41FA5}">
                          <a16:colId xmlns:a16="http://schemas.microsoft.com/office/drawing/2014/main" val="1765187778"/>
                        </a:ext>
                      </a:extLst>
                    </a:gridCol>
                    <a:gridCol w="1354979">
                      <a:extLst>
                        <a:ext uri="{9D8B030D-6E8A-4147-A177-3AD203B41FA5}">
                          <a16:colId xmlns:a16="http://schemas.microsoft.com/office/drawing/2014/main" val="2496743395"/>
                        </a:ext>
                      </a:extLst>
                    </a:gridCol>
                    <a:gridCol w="949288">
                      <a:extLst>
                        <a:ext uri="{9D8B030D-6E8A-4147-A177-3AD203B41FA5}">
                          <a16:colId xmlns:a16="http://schemas.microsoft.com/office/drawing/2014/main" val="3224066942"/>
                        </a:ext>
                      </a:extLst>
                    </a:gridCol>
                  </a:tblGrid>
                  <a:tr h="575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Power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Base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 Form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Say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Calculation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753935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st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333" t="-137143" r="-546000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535" t="-137143" r="-544882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1304" t="-137143" r="-401449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075818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nd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333" t="-237143" r="-546000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535" t="-237143" r="-544882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1304" t="-237143" r="-401449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8265137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rd</a:t>
                          </a:r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333" t="-337143" r="-546000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535" t="-337143" r="-544882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6701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6CA7A5E-FE40-E30A-14DF-7CC459110366}"/>
              </a:ext>
            </a:extLst>
          </p:cNvPr>
          <p:cNvSpPr txBox="1"/>
          <p:nvPr/>
        </p:nvSpPr>
        <p:spPr>
          <a:xfrm>
            <a:off x="61553" y="251407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3 – You do…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B5FA7-6F1F-86A6-52E7-8B28AEA74E7E}"/>
              </a:ext>
            </a:extLst>
          </p:cNvPr>
          <p:cNvSpPr txBox="1"/>
          <p:nvPr/>
        </p:nvSpPr>
        <p:spPr>
          <a:xfrm>
            <a:off x="61553" y="2769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2 –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61290521-D4B9-EA9F-401E-7ABADFC6CD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2300751"/>
                  </p:ext>
                </p:extLst>
              </p:nvPr>
            </p:nvGraphicFramePr>
            <p:xfrm>
              <a:off x="106493" y="323989"/>
              <a:ext cx="6645016" cy="1927699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755721">
                      <a:extLst>
                        <a:ext uri="{9D8B030D-6E8A-4147-A177-3AD203B41FA5}">
                          <a16:colId xmlns:a16="http://schemas.microsoft.com/office/drawing/2014/main" val="9243514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646287668"/>
                        </a:ext>
                      </a:extLst>
                    </a:gridCol>
                    <a:gridCol w="769257">
                      <a:extLst>
                        <a:ext uri="{9D8B030D-6E8A-4147-A177-3AD203B41FA5}">
                          <a16:colId xmlns:a16="http://schemas.microsoft.com/office/drawing/2014/main" val="1467904898"/>
                        </a:ext>
                      </a:extLst>
                    </a:gridCol>
                    <a:gridCol w="841828">
                      <a:extLst>
                        <a:ext uri="{9D8B030D-6E8A-4147-A177-3AD203B41FA5}">
                          <a16:colId xmlns:a16="http://schemas.microsoft.com/office/drawing/2014/main" val="2126215018"/>
                        </a:ext>
                      </a:extLst>
                    </a:gridCol>
                    <a:gridCol w="1059543">
                      <a:extLst>
                        <a:ext uri="{9D8B030D-6E8A-4147-A177-3AD203B41FA5}">
                          <a16:colId xmlns:a16="http://schemas.microsoft.com/office/drawing/2014/main" val="1765187778"/>
                        </a:ext>
                      </a:extLst>
                    </a:gridCol>
                    <a:gridCol w="1354979">
                      <a:extLst>
                        <a:ext uri="{9D8B030D-6E8A-4147-A177-3AD203B41FA5}">
                          <a16:colId xmlns:a16="http://schemas.microsoft.com/office/drawing/2014/main" val="2496743395"/>
                        </a:ext>
                      </a:extLst>
                    </a:gridCol>
                    <a:gridCol w="949288">
                      <a:extLst>
                        <a:ext uri="{9D8B030D-6E8A-4147-A177-3AD203B41FA5}">
                          <a16:colId xmlns:a16="http://schemas.microsoft.com/office/drawing/2014/main" val="3224066942"/>
                        </a:ext>
                      </a:extLst>
                    </a:gridCol>
                  </a:tblGrid>
                  <a:tr h="575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Power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Base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 Form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Say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Calculation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753935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st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Two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075818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nd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Two Squared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8265137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rd</a:t>
                          </a:r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aseline="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b="0" i="1" baseline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baseline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b="0" i="1" baseline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b="0" i="1" baseline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6701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61290521-D4B9-EA9F-401E-7ABADFC6CD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2300751"/>
                  </p:ext>
                </p:extLst>
              </p:nvPr>
            </p:nvGraphicFramePr>
            <p:xfrm>
              <a:off x="106493" y="323989"/>
              <a:ext cx="6645016" cy="1927699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755721">
                      <a:extLst>
                        <a:ext uri="{9D8B030D-6E8A-4147-A177-3AD203B41FA5}">
                          <a16:colId xmlns:a16="http://schemas.microsoft.com/office/drawing/2014/main" val="9243514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646287668"/>
                        </a:ext>
                      </a:extLst>
                    </a:gridCol>
                    <a:gridCol w="769257">
                      <a:extLst>
                        <a:ext uri="{9D8B030D-6E8A-4147-A177-3AD203B41FA5}">
                          <a16:colId xmlns:a16="http://schemas.microsoft.com/office/drawing/2014/main" val="1467904898"/>
                        </a:ext>
                      </a:extLst>
                    </a:gridCol>
                    <a:gridCol w="841828">
                      <a:extLst>
                        <a:ext uri="{9D8B030D-6E8A-4147-A177-3AD203B41FA5}">
                          <a16:colId xmlns:a16="http://schemas.microsoft.com/office/drawing/2014/main" val="2126215018"/>
                        </a:ext>
                      </a:extLst>
                    </a:gridCol>
                    <a:gridCol w="1059543">
                      <a:extLst>
                        <a:ext uri="{9D8B030D-6E8A-4147-A177-3AD203B41FA5}">
                          <a16:colId xmlns:a16="http://schemas.microsoft.com/office/drawing/2014/main" val="1765187778"/>
                        </a:ext>
                      </a:extLst>
                    </a:gridCol>
                    <a:gridCol w="1354979">
                      <a:extLst>
                        <a:ext uri="{9D8B030D-6E8A-4147-A177-3AD203B41FA5}">
                          <a16:colId xmlns:a16="http://schemas.microsoft.com/office/drawing/2014/main" val="2496743395"/>
                        </a:ext>
                      </a:extLst>
                    </a:gridCol>
                    <a:gridCol w="949288">
                      <a:extLst>
                        <a:ext uri="{9D8B030D-6E8A-4147-A177-3AD203B41FA5}">
                          <a16:colId xmlns:a16="http://schemas.microsoft.com/office/drawing/2014/main" val="3224066942"/>
                        </a:ext>
                      </a:extLst>
                    </a:gridCol>
                  </a:tblGrid>
                  <a:tr h="575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Power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Base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 Form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Say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Calculation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753935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st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3333" t="-139130" r="-546000" b="-224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6535" t="-139130" r="-544882" b="-224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1304" t="-139130" r="-401449" b="-224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Two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1622" t="-139130" r="-71171" b="-224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0000" t="-139130" r="-1282" b="-2246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0758186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nd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3333" t="-198795" r="-546000" b="-86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6535" t="-198795" r="-544882" b="-86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1304" t="-198795" r="-401449" b="-86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Two Squared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8265137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rd</a:t>
                          </a:r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3333" t="-354286" r="-546000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6535" t="-354286" r="-544882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1304" t="-354286" r="-40144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6701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31953F9-B503-0FE3-B247-05BF34F9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53398" y="9482187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2</a:t>
            </a:fld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811E84-D470-9445-654A-9C18123996BA}"/>
              </a:ext>
            </a:extLst>
          </p:cNvPr>
          <p:cNvSpPr/>
          <p:nvPr/>
        </p:nvSpPr>
        <p:spPr>
          <a:xfrm>
            <a:off x="106492" y="4845029"/>
            <a:ext cx="1137954" cy="34045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5CDAE183-46B4-FE29-0938-4DA653991A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8096436"/>
                  </p:ext>
                </p:extLst>
              </p:nvPr>
            </p:nvGraphicFramePr>
            <p:xfrm>
              <a:off x="106492" y="5455833"/>
              <a:ext cx="6645016" cy="1849305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755721">
                      <a:extLst>
                        <a:ext uri="{9D8B030D-6E8A-4147-A177-3AD203B41FA5}">
                          <a16:colId xmlns:a16="http://schemas.microsoft.com/office/drawing/2014/main" val="9243514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646287668"/>
                        </a:ext>
                      </a:extLst>
                    </a:gridCol>
                    <a:gridCol w="769257">
                      <a:extLst>
                        <a:ext uri="{9D8B030D-6E8A-4147-A177-3AD203B41FA5}">
                          <a16:colId xmlns:a16="http://schemas.microsoft.com/office/drawing/2014/main" val="1467904898"/>
                        </a:ext>
                      </a:extLst>
                    </a:gridCol>
                    <a:gridCol w="841828">
                      <a:extLst>
                        <a:ext uri="{9D8B030D-6E8A-4147-A177-3AD203B41FA5}">
                          <a16:colId xmlns:a16="http://schemas.microsoft.com/office/drawing/2014/main" val="2126215018"/>
                        </a:ext>
                      </a:extLst>
                    </a:gridCol>
                    <a:gridCol w="1059543">
                      <a:extLst>
                        <a:ext uri="{9D8B030D-6E8A-4147-A177-3AD203B41FA5}">
                          <a16:colId xmlns:a16="http://schemas.microsoft.com/office/drawing/2014/main" val="1765187778"/>
                        </a:ext>
                      </a:extLst>
                    </a:gridCol>
                    <a:gridCol w="1354979">
                      <a:extLst>
                        <a:ext uri="{9D8B030D-6E8A-4147-A177-3AD203B41FA5}">
                          <a16:colId xmlns:a16="http://schemas.microsoft.com/office/drawing/2014/main" val="2496743395"/>
                        </a:ext>
                      </a:extLst>
                    </a:gridCol>
                    <a:gridCol w="949288">
                      <a:extLst>
                        <a:ext uri="{9D8B030D-6E8A-4147-A177-3AD203B41FA5}">
                          <a16:colId xmlns:a16="http://schemas.microsoft.com/office/drawing/2014/main" val="3224066942"/>
                        </a:ext>
                      </a:extLst>
                    </a:gridCol>
                  </a:tblGrid>
                  <a:tr h="575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Power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Base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 Form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Say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Calculation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753935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st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075818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nd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8265137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rd</a:t>
                          </a:r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6701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5CDAE183-46B4-FE29-0938-4DA653991A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8096436"/>
                  </p:ext>
                </p:extLst>
              </p:nvPr>
            </p:nvGraphicFramePr>
            <p:xfrm>
              <a:off x="106492" y="5455833"/>
              <a:ext cx="6645016" cy="1849305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755721">
                      <a:extLst>
                        <a:ext uri="{9D8B030D-6E8A-4147-A177-3AD203B41FA5}">
                          <a16:colId xmlns:a16="http://schemas.microsoft.com/office/drawing/2014/main" val="9243514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646287668"/>
                        </a:ext>
                      </a:extLst>
                    </a:gridCol>
                    <a:gridCol w="769257">
                      <a:extLst>
                        <a:ext uri="{9D8B030D-6E8A-4147-A177-3AD203B41FA5}">
                          <a16:colId xmlns:a16="http://schemas.microsoft.com/office/drawing/2014/main" val="1467904898"/>
                        </a:ext>
                      </a:extLst>
                    </a:gridCol>
                    <a:gridCol w="841828">
                      <a:extLst>
                        <a:ext uri="{9D8B030D-6E8A-4147-A177-3AD203B41FA5}">
                          <a16:colId xmlns:a16="http://schemas.microsoft.com/office/drawing/2014/main" val="2126215018"/>
                        </a:ext>
                      </a:extLst>
                    </a:gridCol>
                    <a:gridCol w="1059543">
                      <a:extLst>
                        <a:ext uri="{9D8B030D-6E8A-4147-A177-3AD203B41FA5}">
                          <a16:colId xmlns:a16="http://schemas.microsoft.com/office/drawing/2014/main" val="1765187778"/>
                        </a:ext>
                      </a:extLst>
                    </a:gridCol>
                    <a:gridCol w="1354979">
                      <a:extLst>
                        <a:ext uri="{9D8B030D-6E8A-4147-A177-3AD203B41FA5}">
                          <a16:colId xmlns:a16="http://schemas.microsoft.com/office/drawing/2014/main" val="2496743395"/>
                        </a:ext>
                      </a:extLst>
                    </a:gridCol>
                    <a:gridCol w="949288">
                      <a:extLst>
                        <a:ext uri="{9D8B030D-6E8A-4147-A177-3AD203B41FA5}">
                          <a16:colId xmlns:a16="http://schemas.microsoft.com/office/drawing/2014/main" val="3224066942"/>
                        </a:ext>
                      </a:extLst>
                    </a:gridCol>
                  </a:tblGrid>
                  <a:tr h="575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Power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Base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 Form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Say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Calculation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753935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st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333" t="-137143" r="-546000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6535" t="-137143" r="-544882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075818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nd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333" t="-237143" r="-546000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6535" t="-237143" r="-544882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8265137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rd</a:t>
                          </a:r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333" t="-337143" r="-546000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6535" t="-337143" r="-544882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6701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21CD8461-0A22-B7D9-204A-015DC9B95B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6161197"/>
                  </p:ext>
                </p:extLst>
              </p:nvPr>
            </p:nvGraphicFramePr>
            <p:xfrm>
              <a:off x="106492" y="7756159"/>
              <a:ext cx="6645016" cy="1849305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755721">
                      <a:extLst>
                        <a:ext uri="{9D8B030D-6E8A-4147-A177-3AD203B41FA5}">
                          <a16:colId xmlns:a16="http://schemas.microsoft.com/office/drawing/2014/main" val="9243514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646287668"/>
                        </a:ext>
                      </a:extLst>
                    </a:gridCol>
                    <a:gridCol w="769257">
                      <a:extLst>
                        <a:ext uri="{9D8B030D-6E8A-4147-A177-3AD203B41FA5}">
                          <a16:colId xmlns:a16="http://schemas.microsoft.com/office/drawing/2014/main" val="1467904898"/>
                        </a:ext>
                      </a:extLst>
                    </a:gridCol>
                    <a:gridCol w="841828">
                      <a:extLst>
                        <a:ext uri="{9D8B030D-6E8A-4147-A177-3AD203B41FA5}">
                          <a16:colId xmlns:a16="http://schemas.microsoft.com/office/drawing/2014/main" val="2126215018"/>
                        </a:ext>
                      </a:extLst>
                    </a:gridCol>
                    <a:gridCol w="1059543">
                      <a:extLst>
                        <a:ext uri="{9D8B030D-6E8A-4147-A177-3AD203B41FA5}">
                          <a16:colId xmlns:a16="http://schemas.microsoft.com/office/drawing/2014/main" val="1765187778"/>
                        </a:ext>
                      </a:extLst>
                    </a:gridCol>
                    <a:gridCol w="1354979">
                      <a:extLst>
                        <a:ext uri="{9D8B030D-6E8A-4147-A177-3AD203B41FA5}">
                          <a16:colId xmlns:a16="http://schemas.microsoft.com/office/drawing/2014/main" val="2496743395"/>
                        </a:ext>
                      </a:extLst>
                    </a:gridCol>
                    <a:gridCol w="949288">
                      <a:extLst>
                        <a:ext uri="{9D8B030D-6E8A-4147-A177-3AD203B41FA5}">
                          <a16:colId xmlns:a16="http://schemas.microsoft.com/office/drawing/2014/main" val="3224066942"/>
                        </a:ext>
                      </a:extLst>
                    </a:gridCol>
                  </a:tblGrid>
                  <a:tr h="575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Power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Base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 Form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Say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Calculation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753935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st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075818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nd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8265137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rd</a:t>
                          </a:r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6701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21CD8461-0A22-B7D9-204A-015DC9B95B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6161197"/>
                  </p:ext>
                </p:extLst>
              </p:nvPr>
            </p:nvGraphicFramePr>
            <p:xfrm>
              <a:off x="106492" y="7756159"/>
              <a:ext cx="6645016" cy="1849305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755721">
                      <a:extLst>
                        <a:ext uri="{9D8B030D-6E8A-4147-A177-3AD203B41FA5}">
                          <a16:colId xmlns:a16="http://schemas.microsoft.com/office/drawing/2014/main" val="9243514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646287668"/>
                        </a:ext>
                      </a:extLst>
                    </a:gridCol>
                    <a:gridCol w="769257">
                      <a:extLst>
                        <a:ext uri="{9D8B030D-6E8A-4147-A177-3AD203B41FA5}">
                          <a16:colId xmlns:a16="http://schemas.microsoft.com/office/drawing/2014/main" val="1467904898"/>
                        </a:ext>
                      </a:extLst>
                    </a:gridCol>
                    <a:gridCol w="841828">
                      <a:extLst>
                        <a:ext uri="{9D8B030D-6E8A-4147-A177-3AD203B41FA5}">
                          <a16:colId xmlns:a16="http://schemas.microsoft.com/office/drawing/2014/main" val="2126215018"/>
                        </a:ext>
                      </a:extLst>
                    </a:gridCol>
                    <a:gridCol w="1059543">
                      <a:extLst>
                        <a:ext uri="{9D8B030D-6E8A-4147-A177-3AD203B41FA5}">
                          <a16:colId xmlns:a16="http://schemas.microsoft.com/office/drawing/2014/main" val="1765187778"/>
                        </a:ext>
                      </a:extLst>
                    </a:gridCol>
                    <a:gridCol w="1354979">
                      <a:extLst>
                        <a:ext uri="{9D8B030D-6E8A-4147-A177-3AD203B41FA5}">
                          <a16:colId xmlns:a16="http://schemas.microsoft.com/office/drawing/2014/main" val="2496743395"/>
                        </a:ext>
                      </a:extLst>
                    </a:gridCol>
                    <a:gridCol w="949288">
                      <a:extLst>
                        <a:ext uri="{9D8B030D-6E8A-4147-A177-3AD203B41FA5}">
                          <a16:colId xmlns:a16="http://schemas.microsoft.com/office/drawing/2014/main" val="3224066942"/>
                        </a:ext>
                      </a:extLst>
                    </a:gridCol>
                  </a:tblGrid>
                  <a:tr h="575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Power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Base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Index Form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Say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Calculation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ysClr val="windowText" lastClr="000000"/>
                              </a:solidFill>
                            </a:rPr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753935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st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333" t="-139130" r="-546000" b="-20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6535" t="-139130" r="-544882" b="-20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0758186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nd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333" t="-235714" r="-546000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6535" t="-235714" r="-544882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8265137"/>
                      </a:ext>
                    </a:extLst>
                  </a:tr>
                  <a:tr h="424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r>
                            <a:rPr lang="en-GB" baseline="30000" dirty="0">
                              <a:solidFill>
                                <a:sysClr val="windowText" lastClr="000000"/>
                              </a:solidFill>
                            </a:rPr>
                            <a:t>rd</a:t>
                          </a:r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333" t="-335714" r="-546000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6535" t="-335714" r="-544882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6701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D977439D-C794-7BD7-8223-743E80AD50D9}"/>
              </a:ext>
            </a:extLst>
          </p:cNvPr>
          <p:cNvSpPr txBox="1"/>
          <p:nvPr/>
        </p:nvSpPr>
        <p:spPr>
          <a:xfrm>
            <a:off x="106492" y="5188176"/>
            <a:ext cx="2754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20D59D-790F-8B95-CA76-74F1E6ED4C14}"/>
              </a:ext>
            </a:extLst>
          </p:cNvPr>
          <p:cNvSpPr txBox="1"/>
          <p:nvPr/>
        </p:nvSpPr>
        <p:spPr>
          <a:xfrm>
            <a:off x="106492" y="7476465"/>
            <a:ext cx="2754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08B11C-C89E-3772-224E-8ED2FA995BBE}"/>
              </a:ext>
            </a:extLst>
          </p:cNvPr>
          <p:cNvSpPr txBox="1"/>
          <p:nvPr/>
        </p:nvSpPr>
        <p:spPr>
          <a:xfrm>
            <a:off x="1244446" y="4979080"/>
            <a:ext cx="2754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1. Fill in the blanks</a:t>
            </a:r>
          </a:p>
        </p:txBody>
      </p:sp>
    </p:spTree>
    <p:extLst>
      <p:ext uri="{BB962C8B-B14F-4D97-AF65-F5344CB8AC3E}">
        <p14:creationId xmlns:p14="http://schemas.microsoft.com/office/powerpoint/2010/main" val="190398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DD6ACB-4F39-2774-A596-705AAE0F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950" y="947202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3</a:t>
            </a:fld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AD9397-BA12-20C2-3467-0109265EB8EE}"/>
              </a:ext>
            </a:extLst>
          </p:cNvPr>
          <p:cNvSpPr/>
          <p:nvPr/>
        </p:nvSpPr>
        <p:spPr>
          <a:xfrm>
            <a:off x="0" y="0"/>
            <a:ext cx="4223716" cy="30269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/>
              <a:t>To be able to recall the square numbers up to 15 squared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6FA9233-D427-6566-F6FF-FDC666638A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9007297"/>
                  </p:ext>
                </p:extLst>
              </p:nvPr>
            </p:nvGraphicFramePr>
            <p:xfrm>
              <a:off x="12357" y="579080"/>
              <a:ext cx="6645016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386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63717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63717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63717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187295">
                    <a:tc>
                      <a:txBody>
                        <a:bodyPr/>
                        <a:lstStyle/>
                        <a:p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Calculate</a:t>
                          </a:r>
                          <a:r>
                            <a:rPr lang="en-GB" sz="1200" b="0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Calculate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Calculate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437023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Identify the base. This is the number we are multiplying.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701808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Identify the index. This is how many times we multiply the base number by itself.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6FA9233-D427-6566-F6FF-FDC666638A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9007297"/>
                  </p:ext>
                </p:extLst>
              </p:nvPr>
            </p:nvGraphicFramePr>
            <p:xfrm>
              <a:off x="12357" y="579080"/>
              <a:ext cx="6645016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386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63717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63717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63717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6" t="-2222" r="-200733" b="-5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66" t="-2222" r="-100733" b="-5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366" t="-2222" r="-733" b="-55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Identify the base. This is the number we are multiplying.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Identify the index. This is how many times we multiply the base number by itself.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3BC0604-E531-1C56-A0B8-3B7D43C40ED0}"/>
              </a:ext>
            </a:extLst>
          </p:cNvPr>
          <p:cNvSpPr txBox="1"/>
          <p:nvPr/>
        </p:nvSpPr>
        <p:spPr>
          <a:xfrm>
            <a:off x="1824614" y="320598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 4 - I do…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D95228-43E8-7AA3-5DA4-125CA840A8C4}"/>
              </a:ext>
            </a:extLst>
          </p:cNvPr>
          <p:cNvSpPr txBox="1"/>
          <p:nvPr/>
        </p:nvSpPr>
        <p:spPr>
          <a:xfrm>
            <a:off x="3419291" y="31323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5 –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C5CF60-62A8-EF3D-DCB8-FDE371B03656}"/>
                  </a:ext>
                </a:extLst>
              </p:cNvPr>
              <p:cNvSpPr txBox="1"/>
              <p:nvPr/>
            </p:nvSpPr>
            <p:spPr>
              <a:xfrm>
                <a:off x="185035" y="2898996"/>
                <a:ext cx="4972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C5CF60-62A8-EF3D-DCB8-FDE371B03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35" y="2898996"/>
                <a:ext cx="497252" cy="276999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F53800-FEBD-7EB2-606A-550F20AE840E}"/>
                  </a:ext>
                </a:extLst>
              </p:cNvPr>
              <p:cNvSpPr txBox="1"/>
              <p:nvPr/>
            </p:nvSpPr>
            <p:spPr>
              <a:xfrm>
                <a:off x="1799117" y="2898996"/>
                <a:ext cx="5036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F53800-FEBD-7EB2-606A-550F20AE8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117" y="2898996"/>
                <a:ext cx="503664" cy="276999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F56A79-FA6E-4586-EAC6-10F31D25D3B3}"/>
                  </a:ext>
                </a:extLst>
              </p:cNvPr>
              <p:cNvSpPr txBox="1"/>
              <p:nvPr/>
            </p:nvSpPr>
            <p:spPr>
              <a:xfrm>
                <a:off x="3348998" y="2898996"/>
                <a:ext cx="48923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F56A79-FA6E-4586-EAC6-10F31D25D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998" y="2898996"/>
                <a:ext cx="489236" cy="276999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62957E-DA40-2312-0F05-0D935FC18A5B}"/>
                  </a:ext>
                </a:extLst>
              </p:cNvPr>
              <p:cNvSpPr txBox="1"/>
              <p:nvPr/>
            </p:nvSpPr>
            <p:spPr>
              <a:xfrm>
                <a:off x="4945387" y="2898996"/>
                <a:ext cx="5036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62957E-DA40-2312-0F05-0D935FC18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387" y="2898996"/>
                <a:ext cx="503664" cy="276999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0EBAB2F1-C817-380B-B729-F2491479629B}"/>
              </a:ext>
            </a:extLst>
          </p:cNvPr>
          <p:cNvSpPr/>
          <p:nvPr/>
        </p:nvSpPr>
        <p:spPr>
          <a:xfrm>
            <a:off x="0" y="2405625"/>
            <a:ext cx="1137954" cy="42359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7D9E4D-6E9B-FC89-A6AA-C3037D07EDEE}"/>
              </a:ext>
            </a:extLst>
          </p:cNvPr>
          <p:cNvSpPr txBox="1"/>
          <p:nvPr/>
        </p:nvSpPr>
        <p:spPr>
          <a:xfrm>
            <a:off x="1111376" y="2592822"/>
            <a:ext cx="41566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2. </a:t>
            </a:r>
            <a:r>
              <a:rPr lang="en-GB" sz="1200" b="1" dirty="0"/>
              <a:t>Without using a calculator</a:t>
            </a:r>
            <a:r>
              <a:rPr lang="en-GB" sz="1200" dirty="0"/>
              <a:t>, calculate the value of: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4FB6BA-76A9-039E-1951-897050F001EA}"/>
              </a:ext>
            </a:extLst>
          </p:cNvPr>
          <p:cNvSpPr txBox="1"/>
          <p:nvPr/>
        </p:nvSpPr>
        <p:spPr>
          <a:xfrm>
            <a:off x="5013968" y="30483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6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0A03B2-6FC9-87C7-14E3-7CADEB8E291B}"/>
                  </a:ext>
                </a:extLst>
              </p:cNvPr>
              <p:cNvSpPr txBox="1"/>
              <p:nvPr/>
            </p:nvSpPr>
            <p:spPr>
              <a:xfrm>
                <a:off x="185035" y="4201970"/>
                <a:ext cx="5004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e)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0A03B2-6FC9-87C7-14E3-7CADEB8E2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35" y="4201970"/>
                <a:ext cx="500458" cy="276999"/>
              </a:xfrm>
              <a:prstGeom prst="rect">
                <a:avLst/>
              </a:prstGeom>
              <a:blipFill>
                <a:blip r:embed="rId7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80EE96-261B-ACED-82BA-7E038B6B3582}"/>
                  </a:ext>
                </a:extLst>
              </p:cNvPr>
              <p:cNvSpPr txBox="1"/>
              <p:nvPr/>
            </p:nvSpPr>
            <p:spPr>
              <a:xfrm>
                <a:off x="1799117" y="4201970"/>
                <a:ext cx="4722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f)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80EE96-261B-ACED-82BA-7E038B6B3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117" y="4201970"/>
                <a:ext cx="472245" cy="276999"/>
              </a:xfrm>
              <a:prstGeom prst="rect">
                <a:avLst/>
              </a:prstGeom>
              <a:blipFill>
                <a:blip r:embed="rId8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6BBDA0E-A049-59A0-B972-E5FD6B91BA70}"/>
                  </a:ext>
                </a:extLst>
              </p:cNvPr>
              <p:cNvSpPr txBox="1"/>
              <p:nvPr/>
            </p:nvSpPr>
            <p:spPr>
              <a:xfrm>
                <a:off x="3348998" y="4201970"/>
                <a:ext cx="4956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g)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6BBDA0E-A049-59A0-B972-E5FD6B91B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998" y="4201970"/>
                <a:ext cx="495649" cy="276999"/>
              </a:xfrm>
              <a:prstGeom prst="rect">
                <a:avLst/>
              </a:prstGeom>
              <a:blipFill>
                <a:blip r:embed="rId9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48AD54-0331-7AE1-AAA9-3ED8C1DDC02D}"/>
                  </a:ext>
                </a:extLst>
              </p:cNvPr>
              <p:cNvSpPr txBox="1"/>
              <p:nvPr/>
            </p:nvSpPr>
            <p:spPr>
              <a:xfrm>
                <a:off x="4945387" y="4201970"/>
                <a:ext cx="58862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h)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48AD54-0331-7AE1-AAA9-3ED8C1DDC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387" y="4201970"/>
                <a:ext cx="588623" cy="276999"/>
              </a:xfrm>
              <a:prstGeom prst="rect">
                <a:avLst/>
              </a:prstGeom>
              <a:blipFill>
                <a:blip r:embed="rId10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2AD9C723-1240-13FB-625D-41091291D7DF}"/>
              </a:ext>
            </a:extLst>
          </p:cNvPr>
          <p:cNvSpPr/>
          <p:nvPr/>
        </p:nvSpPr>
        <p:spPr>
          <a:xfrm>
            <a:off x="228599" y="3163169"/>
            <a:ext cx="1277244" cy="982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19C387-FC08-E7BF-CC7F-7D253591CAD7}"/>
              </a:ext>
            </a:extLst>
          </p:cNvPr>
          <p:cNvSpPr/>
          <p:nvPr/>
        </p:nvSpPr>
        <p:spPr>
          <a:xfrm>
            <a:off x="1824614" y="3163169"/>
            <a:ext cx="1277244" cy="982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2442A3-5F1B-EE92-47AD-C5C3D2FAB09F}"/>
              </a:ext>
            </a:extLst>
          </p:cNvPr>
          <p:cNvSpPr/>
          <p:nvPr/>
        </p:nvSpPr>
        <p:spPr>
          <a:xfrm>
            <a:off x="3408581" y="3163169"/>
            <a:ext cx="1277244" cy="982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E3CBF1-F726-DB0B-A431-DC013001AAC6}"/>
              </a:ext>
            </a:extLst>
          </p:cNvPr>
          <p:cNvSpPr/>
          <p:nvPr/>
        </p:nvSpPr>
        <p:spPr>
          <a:xfrm>
            <a:off x="5034656" y="3163169"/>
            <a:ext cx="1277244" cy="982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794A2B-8046-342E-EB19-60FAF2C53F7F}"/>
              </a:ext>
            </a:extLst>
          </p:cNvPr>
          <p:cNvSpPr/>
          <p:nvPr/>
        </p:nvSpPr>
        <p:spPr>
          <a:xfrm>
            <a:off x="228599" y="4502297"/>
            <a:ext cx="1277244" cy="982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744D1B-D6FC-BDE9-692E-F20ABED8E328}"/>
              </a:ext>
            </a:extLst>
          </p:cNvPr>
          <p:cNvSpPr/>
          <p:nvPr/>
        </p:nvSpPr>
        <p:spPr>
          <a:xfrm>
            <a:off x="1824614" y="4502297"/>
            <a:ext cx="1277244" cy="982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546FD3-5A2B-7340-11CB-EFF31C4C03D9}"/>
              </a:ext>
            </a:extLst>
          </p:cNvPr>
          <p:cNvSpPr/>
          <p:nvPr/>
        </p:nvSpPr>
        <p:spPr>
          <a:xfrm>
            <a:off x="3408581" y="4502297"/>
            <a:ext cx="1277244" cy="982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5CA4BF-1885-7324-5010-7675AF052815}"/>
              </a:ext>
            </a:extLst>
          </p:cNvPr>
          <p:cNvSpPr/>
          <p:nvPr/>
        </p:nvSpPr>
        <p:spPr>
          <a:xfrm>
            <a:off x="5034656" y="4502297"/>
            <a:ext cx="1277244" cy="982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B8C2A5-EBC0-9CDF-D122-08C4B69A782F}"/>
              </a:ext>
            </a:extLst>
          </p:cNvPr>
          <p:cNvSpPr txBox="1"/>
          <p:nvPr/>
        </p:nvSpPr>
        <p:spPr>
          <a:xfrm>
            <a:off x="185035" y="5792623"/>
            <a:ext cx="1457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i</a:t>
            </a:r>
            <a:r>
              <a:rPr lang="en-US" sz="1200" dirty="0"/>
              <a:t>) The square of zero</a:t>
            </a:r>
            <a:endParaRPr lang="en-GB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2F676E-3E27-A77F-3AED-46B2F2BCE860}"/>
              </a:ext>
            </a:extLst>
          </p:cNvPr>
          <p:cNvSpPr/>
          <p:nvPr/>
        </p:nvSpPr>
        <p:spPr>
          <a:xfrm>
            <a:off x="256639" y="6067251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C07CA6-4AE8-B732-24D8-22D302777332}"/>
              </a:ext>
            </a:extLst>
          </p:cNvPr>
          <p:cNvSpPr txBox="1"/>
          <p:nvPr/>
        </p:nvSpPr>
        <p:spPr>
          <a:xfrm>
            <a:off x="1799117" y="5792623"/>
            <a:ext cx="10145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j) Six squared</a:t>
            </a:r>
            <a:endParaRPr lang="en-GB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83BACC-9119-9920-8329-CD2C1A77B7B1}"/>
              </a:ext>
            </a:extLst>
          </p:cNvPr>
          <p:cNvSpPr txBox="1"/>
          <p:nvPr/>
        </p:nvSpPr>
        <p:spPr>
          <a:xfrm>
            <a:off x="3348998" y="5792623"/>
            <a:ext cx="15895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k)Twelve times twelve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0D0CA0-6171-E036-BF25-644948E26F89}"/>
                  </a:ext>
                </a:extLst>
              </p:cNvPr>
              <p:cNvSpPr txBox="1"/>
              <p:nvPr/>
            </p:nvSpPr>
            <p:spPr>
              <a:xfrm>
                <a:off x="4945387" y="5792623"/>
                <a:ext cx="5437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l)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0D0CA0-6171-E036-BF25-644948E26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387" y="5792623"/>
                <a:ext cx="543739" cy="276999"/>
              </a:xfrm>
              <a:prstGeom prst="rect">
                <a:avLst/>
              </a:prstGeom>
              <a:blipFill>
                <a:blip r:embed="rId19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B7501127-F1D0-FBFC-A1B4-A14026F5CFF1}"/>
              </a:ext>
            </a:extLst>
          </p:cNvPr>
          <p:cNvSpPr/>
          <p:nvPr/>
        </p:nvSpPr>
        <p:spPr>
          <a:xfrm>
            <a:off x="1852654" y="6067251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2685DD-1A47-2359-11C6-4C2299FCBC23}"/>
              </a:ext>
            </a:extLst>
          </p:cNvPr>
          <p:cNvSpPr/>
          <p:nvPr/>
        </p:nvSpPr>
        <p:spPr>
          <a:xfrm>
            <a:off x="3436621" y="6067251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86FFED-754C-B14C-2FCD-2E50EF82C982}"/>
              </a:ext>
            </a:extLst>
          </p:cNvPr>
          <p:cNvSpPr/>
          <p:nvPr/>
        </p:nvSpPr>
        <p:spPr>
          <a:xfrm>
            <a:off x="5062696" y="6067251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F0E7055-F587-17FE-52C7-7B229670BD60}"/>
                  </a:ext>
                </a:extLst>
              </p:cNvPr>
              <p:cNvSpPr txBox="1"/>
              <p:nvPr/>
            </p:nvSpPr>
            <p:spPr>
              <a:xfrm>
                <a:off x="185035" y="6927033"/>
                <a:ext cx="6319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m)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14</m:t>
                        </m:r>
                      </m:e>
                      <m:sup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F0E7055-F587-17FE-52C7-7B229670B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35" y="6927033"/>
                <a:ext cx="631904" cy="276999"/>
              </a:xfrm>
              <a:prstGeom prst="rect">
                <a:avLst/>
              </a:prstGeom>
              <a:blipFill>
                <a:blip r:embed="rId20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A9FA40E0-5010-944D-9C9D-20C302A62F25}"/>
              </a:ext>
            </a:extLst>
          </p:cNvPr>
          <p:cNvSpPr/>
          <p:nvPr/>
        </p:nvSpPr>
        <p:spPr>
          <a:xfrm>
            <a:off x="256639" y="7201661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487AAB-071C-83F1-2166-7FB4FCEB4F82}"/>
                  </a:ext>
                </a:extLst>
              </p:cNvPr>
              <p:cNvSpPr txBox="1"/>
              <p:nvPr/>
            </p:nvSpPr>
            <p:spPr>
              <a:xfrm>
                <a:off x="1799117" y="6927033"/>
                <a:ext cx="58862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n)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487AAB-071C-83F1-2166-7FB4FCEB4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117" y="6927033"/>
                <a:ext cx="588623" cy="276999"/>
              </a:xfrm>
              <a:prstGeom prst="rect">
                <a:avLst/>
              </a:prstGeom>
              <a:blipFill>
                <a:blip r:embed="rId21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8D7526D1-91B6-36DE-1635-AB765138BA65}"/>
              </a:ext>
            </a:extLst>
          </p:cNvPr>
          <p:cNvSpPr txBox="1"/>
          <p:nvPr/>
        </p:nvSpPr>
        <p:spPr>
          <a:xfrm>
            <a:off x="3348998" y="6927033"/>
            <a:ext cx="10434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o) 10 squared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8727E40-DFE6-C519-A723-33656B254593}"/>
                  </a:ext>
                </a:extLst>
              </p:cNvPr>
              <p:cNvSpPr txBox="1"/>
              <p:nvPr/>
            </p:nvSpPr>
            <p:spPr>
              <a:xfrm>
                <a:off x="4945387" y="8061443"/>
                <a:ext cx="58862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p)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8727E40-DFE6-C519-A723-33656B254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387" y="8061443"/>
                <a:ext cx="588623" cy="276999"/>
              </a:xfrm>
              <a:prstGeom prst="rect">
                <a:avLst/>
              </a:prstGeom>
              <a:blipFill>
                <a:blip r:embed="rId22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4D5CE53B-176A-8776-B295-A7F636BC5364}"/>
              </a:ext>
            </a:extLst>
          </p:cNvPr>
          <p:cNvSpPr/>
          <p:nvPr/>
        </p:nvSpPr>
        <p:spPr>
          <a:xfrm>
            <a:off x="1852654" y="7201661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37C0399-D3A7-1EE3-DBFC-FA5DFEE50197}"/>
              </a:ext>
            </a:extLst>
          </p:cNvPr>
          <p:cNvSpPr/>
          <p:nvPr/>
        </p:nvSpPr>
        <p:spPr>
          <a:xfrm>
            <a:off x="3436621" y="7201661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C1BB524-3883-0CB8-E867-8E97F332B10C}"/>
              </a:ext>
            </a:extLst>
          </p:cNvPr>
          <p:cNvSpPr/>
          <p:nvPr/>
        </p:nvSpPr>
        <p:spPr>
          <a:xfrm>
            <a:off x="5062696" y="8336071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5B7E878-CD1C-CB5D-0B5B-F4B17D3371A4}"/>
                  </a:ext>
                </a:extLst>
              </p:cNvPr>
              <p:cNvSpPr txBox="1"/>
              <p:nvPr/>
            </p:nvSpPr>
            <p:spPr>
              <a:xfrm>
                <a:off x="5063985" y="6918355"/>
                <a:ext cx="100322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y)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5B7E878-CD1C-CB5D-0B5B-F4B17D337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985" y="6918355"/>
                <a:ext cx="1003223" cy="276999"/>
              </a:xfrm>
              <a:prstGeom prst="rect">
                <a:avLst/>
              </a:prstGeom>
              <a:blipFill>
                <a:blip r:embed="rId23"/>
                <a:stretch>
                  <a:fillRect l="-61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72F46E8-D213-A75A-BACF-F8D5765C1BEC}"/>
                  </a:ext>
                </a:extLst>
              </p:cNvPr>
              <p:cNvSpPr txBox="1"/>
              <p:nvPr/>
            </p:nvSpPr>
            <p:spPr>
              <a:xfrm>
                <a:off x="283006" y="8059072"/>
                <a:ext cx="9102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z)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72F46E8-D213-A75A-BACF-F8D5765C1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06" y="8059072"/>
                <a:ext cx="910249" cy="276999"/>
              </a:xfrm>
              <a:prstGeom prst="rect">
                <a:avLst/>
              </a:prstGeom>
              <a:blipFill>
                <a:blip r:embed="rId2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52DB114-59BE-EEC3-888B-D7ED8EB45ADA}"/>
                  </a:ext>
                </a:extLst>
              </p:cNvPr>
              <p:cNvSpPr txBox="1"/>
              <p:nvPr/>
            </p:nvSpPr>
            <p:spPr>
              <a:xfrm>
                <a:off x="1832887" y="8059072"/>
                <a:ext cx="106574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52DB114-59BE-EEC3-888B-D7ED8EB45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887" y="8059072"/>
                <a:ext cx="1065741" cy="276999"/>
              </a:xfrm>
              <a:prstGeom prst="rect">
                <a:avLst/>
              </a:prstGeom>
              <a:blipFill>
                <a:blip r:embed="rId25"/>
                <a:stretch>
                  <a:fillRect l="-57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87DFEC0-7BFA-3FFD-A907-3443B32A92AB}"/>
                  </a:ext>
                </a:extLst>
              </p:cNvPr>
              <p:cNvSpPr txBox="1"/>
              <p:nvPr/>
            </p:nvSpPr>
            <p:spPr>
              <a:xfrm>
                <a:off x="3429276" y="8059072"/>
                <a:ext cx="10368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87DFEC0-7BFA-3FFD-A907-3443B32A9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276" y="8059072"/>
                <a:ext cx="1036887" cy="276999"/>
              </a:xfrm>
              <a:prstGeom prst="rect">
                <a:avLst/>
              </a:prstGeom>
              <a:blipFill>
                <a:blip r:embed="rId26"/>
                <a:stretch>
                  <a:fillRect l="-58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F0B4FA58-93F2-36BA-06D7-9B9DAFDA56FA}"/>
              </a:ext>
            </a:extLst>
          </p:cNvPr>
          <p:cNvSpPr/>
          <p:nvPr/>
        </p:nvSpPr>
        <p:spPr>
          <a:xfrm>
            <a:off x="5062696" y="7195354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81E0094-A342-A319-C93E-282423E1D085}"/>
              </a:ext>
            </a:extLst>
          </p:cNvPr>
          <p:cNvSpPr/>
          <p:nvPr/>
        </p:nvSpPr>
        <p:spPr>
          <a:xfrm>
            <a:off x="263650" y="8336071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F3721E-B49B-E61E-348A-0BBE9C48A7BB}"/>
              </a:ext>
            </a:extLst>
          </p:cNvPr>
          <p:cNvSpPr/>
          <p:nvPr/>
        </p:nvSpPr>
        <p:spPr>
          <a:xfrm>
            <a:off x="1847617" y="8336071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2FC4A68-C8F5-AE47-FA03-2779E8C9BF72}"/>
              </a:ext>
            </a:extLst>
          </p:cNvPr>
          <p:cNvSpPr/>
          <p:nvPr/>
        </p:nvSpPr>
        <p:spPr>
          <a:xfrm>
            <a:off x="3473692" y="8336071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18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3DF45-16E4-C0D0-C79B-C3F53BBC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950" y="9515894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4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600432-7ED8-4951-029C-585B3B091ED2}"/>
                  </a:ext>
                </a:extLst>
              </p:cNvPr>
              <p:cNvSpPr txBox="1"/>
              <p:nvPr/>
            </p:nvSpPr>
            <p:spPr>
              <a:xfrm>
                <a:off x="340341" y="2859374"/>
                <a:ext cx="6142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0.1</m:t>
                        </m:r>
                      </m:e>
                      <m:sup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600432-7ED8-4951-029C-585B3B091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41" y="2859374"/>
                <a:ext cx="614271" cy="276999"/>
              </a:xfrm>
              <a:prstGeom prst="rect">
                <a:avLst/>
              </a:prstGeom>
              <a:blipFill>
                <a:blip r:embed="rId2"/>
                <a:stretch>
                  <a:fillRect l="-99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0C5587E-896E-ADFB-9BFD-75F9A3C76865}"/>
              </a:ext>
            </a:extLst>
          </p:cNvPr>
          <p:cNvSpPr/>
          <p:nvPr/>
        </p:nvSpPr>
        <p:spPr>
          <a:xfrm>
            <a:off x="411945" y="3134002"/>
            <a:ext cx="1277244" cy="982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96E98D3-632D-A527-2C71-EE52947C7CDC}"/>
                  </a:ext>
                </a:extLst>
              </p:cNvPr>
              <p:cNvSpPr txBox="1"/>
              <p:nvPr/>
            </p:nvSpPr>
            <p:spPr>
              <a:xfrm>
                <a:off x="1954423" y="2859374"/>
                <a:ext cx="6206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0.2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96E98D3-632D-A527-2C71-EE52947C7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423" y="2859374"/>
                <a:ext cx="620683" cy="276999"/>
              </a:xfrm>
              <a:prstGeom prst="rect">
                <a:avLst/>
              </a:prstGeom>
              <a:blipFill>
                <a:blip r:embed="rId3"/>
                <a:stretch>
                  <a:fillRect l="-99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549B20-E1A9-FD65-A61A-710DF0FDF757}"/>
                  </a:ext>
                </a:extLst>
              </p:cNvPr>
              <p:cNvSpPr txBox="1"/>
              <p:nvPr/>
            </p:nvSpPr>
            <p:spPr>
              <a:xfrm>
                <a:off x="3504304" y="2859374"/>
                <a:ext cx="606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0.3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549B20-E1A9-FD65-A61A-710DF0FDF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304" y="2859374"/>
                <a:ext cx="606256" cy="276999"/>
              </a:xfrm>
              <a:prstGeom prst="rect">
                <a:avLst/>
              </a:prstGeom>
              <a:blipFill>
                <a:blip r:embed="rId4"/>
                <a:stretch>
                  <a:fillRect l="-101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9F4291-2821-C68A-133A-6FCBBF6F4AF6}"/>
                  </a:ext>
                </a:extLst>
              </p:cNvPr>
              <p:cNvSpPr txBox="1"/>
              <p:nvPr/>
            </p:nvSpPr>
            <p:spPr>
              <a:xfrm>
                <a:off x="5100693" y="2859374"/>
                <a:ext cx="6206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0.4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9F4291-2821-C68A-133A-6FCBBF6F4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693" y="2859374"/>
                <a:ext cx="620683" cy="276999"/>
              </a:xfrm>
              <a:prstGeom prst="rect">
                <a:avLst/>
              </a:prstGeom>
              <a:blipFill>
                <a:blip r:embed="rId5"/>
                <a:stretch>
                  <a:fillRect l="-98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0B1E5A7-3495-898F-626A-AF1328509581}"/>
              </a:ext>
            </a:extLst>
          </p:cNvPr>
          <p:cNvSpPr/>
          <p:nvPr/>
        </p:nvSpPr>
        <p:spPr>
          <a:xfrm>
            <a:off x="2007960" y="3134002"/>
            <a:ext cx="1277244" cy="982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2D6293-9631-6F44-08FD-22EC08B2A0AC}"/>
              </a:ext>
            </a:extLst>
          </p:cNvPr>
          <p:cNvSpPr/>
          <p:nvPr/>
        </p:nvSpPr>
        <p:spPr>
          <a:xfrm>
            <a:off x="3591927" y="3134002"/>
            <a:ext cx="1277244" cy="982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9A9702-3DD5-0230-5D4C-26ADC8B2D6F5}"/>
              </a:ext>
            </a:extLst>
          </p:cNvPr>
          <p:cNvSpPr/>
          <p:nvPr/>
        </p:nvSpPr>
        <p:spPr>
          <a:xfrm>
            <a:off x="5218002" y="3134002"/>
            <a:ext cx="1277244" cy="982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9432EFE-52D7-84BF-70F4-46D7792B5FF3}"/>
              </a:ext>
            </a:extLst>
          </p:cNvPr>
          <p:cNvSpPr txBox="1"/>
          <p:nvPr/>
        </p:nvSpPr>
        <p:spPr>
          <a:xfrm>
            <a:off x="1238162" y="2512850"/>
            <a:ext cx="4651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3. Calculate the following. You may use a calculator.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B12A31A-65DD-871A-56F6-6A4230C794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1652182"/>
                  </p:ext>
                </p:extLst>
              </p:nvPr>
            </p:nvGraphicFramePr>
            <p:xfrm>
              <a:off x="118235" y="512243"/>
              <a:ext cx="6645016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386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63717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63717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63717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187295">
                    <a:tc>
                      <a:txBody>
                        <a:bodyPr/>
                        <a:lstStyle/>
                        <a:p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Calculate</a:t>
                          </a:r>
                          <a:r>
                            <a:rPr lang="en-GB" sz="1200" b="0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0.3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Calculate</a:t>
                          </a:r>
                          <a:r>
                            <a:rPr lang="en-GB" sz="1200" b="0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1.2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Calculate</a:t>
                          </a:r>
                          <a:r>
                            <a:rPr lang="en-GB" sz="1200" b="0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0.4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437023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Identify the base. This is the number we are multiplying.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 sz="18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baseline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 sz="16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701808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Identify the index. This is how many times we multiply the base number by itself.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B12A31A-65DD-871A-56F6-6A4230C794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1652182"/>
                  </p:ext>
                </p:extLst>
              </p:nvPr>
            </p:nvGraphicFramePr>
            <p:xfrm>
              <a:off x="118235" y="512243"/>
              <a:ext cx="6645016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386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63717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63717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63717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4444" r="-200733" b="-55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000" t="-4444" r="-100733" b="-55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0000" t="-4444" r="-733" b="-55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Identify the base. This is the number we are multiplying.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 sz="18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baseline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 sz="16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Identify the index. This is how many times we multiply the base number by itself.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7BE0BC7-1BB7-0AEA-738D-FA97A1A051F0}"/>
              </a:ext>
            </a:extLst>
          </p:cNvPr>
          <p:cNvSpPr txBox="1"/>
          <p:nvPr/>
        </p:nvSpPr>
        <p:spPr>
          <a:xfrm>
            <a:off x="1930492" y="25376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 7 - I do…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42029D-EC4C-7EF0-89A8-59A40055148D}"/>
              </a:ext>
            </a:extLst>
          </p:cNvPr>
          <p:cNvSpPr txBox="1"/>
          <p:nvPr/>
        </p:nvSpPr>
        <p:spPr>
          <a:xfrm>
            <a:off x="3525169" y="24640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8 – We do…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9BB8AB-31CA-6993-970A-90704E35B3A3}"/>
              </a:ext>
            </a:extLst>
          </p:cNvPr>
          <p:cNvSpPr/>
          <p:nvPr/>
        </p:nvSpPr>
        <p:spPr>
          <a:xfrm>
            <a:off x="100208" y="2339461"/>
            <a:ext cx="1137954" cy="42359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43373-7E09-D0C7-B3B2-F9F85BC46CDB}"/>
              </a:ext>
            </a:extLst>
          </p:cNvPr>
          <p:cNvSpPr txBox="1"/>
          <p:nvPr/>
        </p:nvSpPr>
        <p:spPr>
          <a:xfrm>
            <a:off x="5119846" y="23799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9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2E8BAC-518E-D122-137B-7999D113C9C8}"/>
                  </a:ext>
                </a:extLst>
              </p:cNvPr>
              <p:cNvSpPr txBox="1"/>
              <p:nvPr/>
            </p:nvSpPr>
            <p:spPr>
              <a:xfrm>
                <a:off x="421056" y="4391006"/>
                <a:ext cx="6174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  <m:sup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2E8BAC-518E-D122-137B-7999D113C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56" y="4391006"/>
                <a:ext cx="617477" cy="276999"/>
              </a:xfrm>
              <a:prstGeom prst="rect">
                <a:avLst/>
              </a:prstGeom>
              <a:blipFill>
                <a:blip r:embed="rId7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64FEB3DF-CAA9-C904-83C2-9E79A38941EE}"/>
              </a:ext>
            </a:extLst>
          </p:cNvPr>
          <p:cNvSpPr/>
          <p:nvPr/>
        </p:nvSpPr>
        <p:spPr>
          <a:xfrm>
            <a:off x="492660" y="4665634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21AA2D-D5E4-309F-0887-C0F51AE3C4B5}"/>
                  </a:ext>
                </a:extLst>
              </p:cNvPr>
              <p:cNvSpPr txBox="1"/>
              <p:nvPr/>
            </p:nvSpPr>
            <p:spPr>
              <a:xfrm>
                <a:off x="2035138" y="4391006"/>
                <a:ext cx="5892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f)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0.6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21AA2D-D5E4-309F-0887-C0F51AE3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138" y="4391006"/>
                <a:ext cx="589264" cy="276999"/>
              </a:xfrm>
              <a:prstGeom prst="rect">
                <a:avLst/>
              </a:prstGeom>
              <a:blipFill>
                <a:blip r:embed="rId8"/>
                <a:stretch>
                  <a:fillRect l="-1031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3DA933-3380-3E25-222A-EAA198E653F6}"/>
                  </a:ext>
                </a:extLst>
              </p:cNvPr>
              <p:cNvSpPr txBox="1"/>
              <p:nvPr/>
            </p:nvSpPr>
            <p:spPr>
              <a:xfrm>
                <a:off x="3585019" y="4391006"/>
                <a:ext cx="6126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g)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0.7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3DA933-3380-3E25-222A-EAA198E65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019" y="4391006"/>
                <a:ext cx="612668" cy="276999"/>
              </a:xfrm>
              <a:prstGeom prst="rect">
                <a:avLst/>
              </a:prstGeom>
              <a:blipFill>
                <a:blip r:embed="rId9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35D62B2-D4D9-B2AD-F018-28493FA2A397}"/>
                  </a:ext>
                </a:extLst>
              </p:cNvPr>
              <p:cNvSpPr txBox="1"/>
              <p:nvPr/>
            </p:nvSpPr>
            <p:spPr>
              <a:xfrm>
                <a:off x="5181408" y="4391006"/>
                <a:ext cx="6206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h)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0.8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35D62B2-D4D9-B2AD-F018-28493FA2A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408" y="4391006"/>
                <a:ext cx="620683" cy="276999"/>
              </a:xfrm>
              <a:prstGeom prst="rect">
                <a:avLst/>
              </a:prstGeom>
              <a:blipFill>
                <a:blip r:embed="rId10"/>
                <a:stretch>
                  <a:fillRect l="-98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1D82FDD6-425A-3D51-8720-B601D0113E6B}"/>
              </a:ext>
            </a:extLst>
          </p:cNvPr>
          <p:cNvSpPr/>
          <p:nvPr/>
        </p:nvSpPr>
        <p:spPr>
          <a:xfrm>
            <a:off x="2088675" y="4665634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B0A8D4-28BF-949B-63F9-4F70D9540843}"/>
              </a:ext>
            </a:extLst>
          </p:cNvPr>
          <p:cNvSpPr/>
          <p:nvPr/>
        </p:nvSpPr>
        <p:spPr>
          <a:xfrm>
            <a:off x="3672642" y="4665634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070EF5-6F0E-8AA0-9E5B-2D9717CBEAC0}"/>
              </a:ext>
            </a:extLst>
          </p:cNvPr>
          <p:cNvSpPr/>
          <p:nvPr/>
        </p:nvSpPr>
        <p:spPr>
          <a:xfrm>
            <a:off x="5298717" y="4665634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A0F026D-C415-A318-071E-FB79D4334AF6}"/>
                  </a:ext>
                </a:extLst>
              </p:cNvPr>
              <p:cNvSpPr txBox="1"/>
              <p:nvPr/>
            </p:nvSpPr>
            <p:spPr>
              <a:xfrm>
                <a:off x="421056" y="5507711"/>
                <a:ext cx="575799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i)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0.9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A0F026D-C415-A318-071E-FB79D4334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56" y="5507711"/>
                <a:ext cx="575799" cy="828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9674BEC7-4FC7-44BD-8B84-81945C6161F2}"/>
              </a:ext>
            </a:extLst>
          </p:cNvPr>
          <p:cNvSpPr/>
          <p:nvPr/>
        </p:nvSpPr>
        <p:spPr>
          <a:xfrm>
            <a:off x="492660" y="5782340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225A5AA-23D9-F73C-7AEB-B76B4E74148E}"/>
                  </a:ext>
                </a:extLst>
              </p:cNvPr>
              <p:cNvSpPr txBox="1"/>
              <p:nvPr/>
            </p:nvSpPr>
            <p:spPr>
              <a:xfrm>
                <a:off x="2035138" y="5507711"/>
                <a:ext cx="460382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j)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225A5AA-23D9-F73C-7AEB-B76B4E741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138" y="5507711"/>
                <a:ext cx="460382" cy="828000"/>
              </a:xfrm>
              <a:prstGeom prst="rect">
                <a:avLst/>
              </a:prstGeom>
              <a:blipFill>
                <a:blip r:embed="rId1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C1E539-7D4B-78EA-F65E-E5D50F403E5B}"/>
                  </a:ext>
                </a:extLst>
              </p:cNvPr>
              <p:cNvSpPr txBox="1"/>
              <p:nvPr/>
            </p:nvSpPr>
            <p:spPr>
              <a:xfrm>
                <a:off x="3585019" y="5507711"/>
                <a:ext cx="575799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k)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1.1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C1E539-7D4B-78EA-F65E-E5D50F403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019" y="5507711"/>
                <a:ext cx="575799" cy="828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A4856E-C90E-E0CB-614A-E8BAF096B4B0}"/>
                  </a:ext>
                </a:extLst>
              </p:cNvPr>
              <p:cNvSpPr txBox="1"/>
              <p:nvPr/>
            </p:nvSpPr>
            <p:spPr>
              <a:xfrm>
                <a:off x="5181408" y="5507711"/>
                <a:ext cx="575799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l)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1.2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A4856E-C90E-E0CB-614A-E8BAF096B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408" y="5507711"/>
                <a:ext cx="575799" cy="828000"/>
              </a:xfrm>
              <a:prstGeom prst="rect">
                <a:avLst/>
              </a:prstGeom>
              <a:blipFill>
                <a:blip r:embed="rId14"/>
                <a:stretch>
                  <a:fillRect l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ectangle 81">
            <a:extLst>
              <a:ext uri="{FF2B5EF4-FFF2-40B4-BE49-F238E27FC236}">
                <a16:creationId xmlns:a16="http://schemas.microsoft.com/office/drawing/2014/main" id="{A700B1B9-48EF-A593-8C61-6B79E492F739}"/>
              </a:ext>
            </a:extLst>
          </p:cNvPr>
          <p:cNvSpPr/>
          <p:nvPr/>
        </p:nvSpPr>
        <p:spPr>
          <a:xfrm>
            <a:off x="2088675" y="5782340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4DB1916-A3A7-9875-589D-B73FFF33710B}"/>
              </a:ext>
            </a:extLst>
          </p:cNvPr>
          <p:cNvSpPr/>
          <p:nvPr/>
        </p:nvSpPr>
        <p:spPr>
          <a:xfrm>
            <a:off x="3672642" y="5782340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3A92CE3-8A88-6515-7F3E-8FDF2A7C72A0}"/>
              </a:ext>
            </a:extLst>
          </p:cNvPr>
          <p:cNvSpPr/>
          <p:nvPr/>
        </p:nvSpPr>
        <p:spPr>
          <a:xfrm>
            <a:off x="5298717" y="5782340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DEABBDB-7C0B-7B2F-77C1-1D5B4147A014}"/>
              </a:ext>
            </a:extLst>
          </p:cNvPr>
          <p:cNvSpPr/>
          <p:nvPr/>
        </p:nvSpPr>
        <p:spPr>
          <a:xfrm>
            <a:off x="483549" y="6889657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221AB5E-B061-BA98-195C-1D0DEF7924B4}"/>
              </a:ext>
            </a:extLst>
          </p:cNvPr>
          <p:cNvSpPr/>
          <p:nvPr/>
        </p:nvSpPr>
        <p:spPr>
          <a:xfrm>
            <a:off x="2079564" y="6889657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B333856-DF51-D070-5F19-37507555CE44}"/>
              </a:ext>
            </a:extLst>
          </p:cNvPr>
          <p:cNvSpPr/>
          <p:nvPr/>
        </p:nvSpPr>
        <p:spPr>
          <a:xfrm>
            <a:off x="3663531" y="6889657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88E978A-36D2-B516-6889-97EC16FCE52B}"/>
              </a:ext>
            </a:extLst>
          </p:cNvPr>
          <p:cNvSpPr/>
          <p:nvPr/>
        </p:nvSpPr>
        <p:spPr>
          <a:xfrm>
            <a:off x="5289606" y="6889657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02C1589-3761-DA0D-DD7B-EAA4F2CEF37F}"/>
                  </a:ext>
                </a:extLst>
              </p:cNvPr>
              <p:cNvSpPr txBox="1"/>
              <p:nvPr/>
            </p:nvSpPr>
            <p:spPr>
              <a:xfrm>
                <a:off x="411945" y="6615028"/>
                <a:ext cx="747320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m)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0.14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02C1589-3761-DA0D-DD7B-EAA4F2CEF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45" y="6615028"/>
                <a:ext cx="747320" cy="828000"/>
              </a:xfrm>
              <a:prstGeom prst="rect">
                <a:avLst/>
              </a:prstGeom>
              <a:blipFill>
                <a:blip r:embed="rId15"/>
                <a:stretch>
                  <a:fillRect l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46888F0-EDB7-D75F-9557-D5DACA0D35BC}"/>
                  </a:ext>
                </a:extLst>
              </p:cNvPr>
              <p:cNvSpPr txBox="1"/>
              <p:nvPr/>
            </p:nvSpPr>
            <p:spPr>
              <a:xfrm>
                <a:off x="2026027" y="6615028"/>
                <a:ext cx="1011815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n)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0.4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200" dirty="0"/>
                  <a:t>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46888F0-EDB7-D75F-9557-D5DACA0D3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027" y="6615028"/>
                <a:ext cx="1011815" cy="828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635F825-7F6C-F12B-9D76-3B7B04E9C805}"/>
                  </a:ext>
                </a:extLst>
              </p:cNvPr>
              <p:cNvSpPr txBox="1"/>
              <p:nvPr/>
            </p:nvSpPr>
            <p:spPr>
              <a:xfrm>
                <a:off x="3575908" y="6615028"/>
                <a:ext cx="1115434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o)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0.2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200" dirty="0"/>
                  <a:t> 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635F825-7F6C-F12B-9D76-3B7B04E9C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908" y="6615028"/>
                <a:ext cx="1115434" cy="828000"/>
              </a:xfrm>
              <a:prstGeom prst="rect">
                <a:avLst/>
              </a:prstGeom>
              <a:blipFill>
                <a:blip r:embed="rId17"/>
                <a:stretch>
                  <a:fillRect l="-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54BD7BA-FA57-F6D4-3595-31C5E3B1714B}"/>
                  </a:ext>
                </a:extLst>
              </p:cNvPr>
              <p:cNvSpPr txBox="1"/>
              <p:nvPr/>
            </p:nvSpPr>
            <p:spPr>
              <a:xfrm>
                <a:off x="5172297" y="6615028"/>
                <a:ext cx="1112228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p)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1.2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54BD7BA-FA57-F6D4-3595-31C5E3B17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297" y="6615028"/>
                <a:ext cx="1112228" cy="828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319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lide Number Placeholder 86">
            <a:extLst>
              <a:ext uri="{FF2B5EF4-FFF2-40B4-BE49-F238E27FC236}">
                <a16:creationId xmlns:a16="http://schemas.microsoft.com/office/drawing/2014/main" id="{08398155-F49F-C45B-16B1-ECEDC439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57823" y="9276161"/>
            <a:ext cx="1543050" cy="828000"/>
          </a:xfrm>
        </p:spPr>
        <p:txBody>
          <a:bodyPr/>
          <a:lstStyle/>
          <a:p>
            <a:fld id="{086C3A38-D272-42AA-9C88-F1FBEAE20D2C}" type="slidenum">
              <a:rPr lang="en-GB" smtClean="0"/>
              <a:t>5</a:t>
            </a:fld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5EC430-1EBA-8E0D-CDAD-95FEF35480D4}"/>
              </a:ext>
            </a:extLst>
          </p:cNvPr>
          <p:cNvSpPr/>
          <p:nvPr/>
        </p:nvSpPr>
        <p:spPr>
          <a:xfrm>
            <a:off x="2009" y="0"/>
            <a:ext cx="3689512" cy="27635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/>
              <a:t>To be able to recall the cube numbers up to 10 cubed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328080A1-4AD8-DD92-912B-5E906DC233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321530"/>
                  </p:ext>
                </p:extLst>
              </p:nvPr>
            </p:nvGraphicFramePr>
            <p:xfrm>
              <a:off x="2119" y="552774"/>
              <a:ext cx="6572479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8464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48005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4800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4800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185630">
                    <a:tc>
                      <a:txBody>
                        <a:bodyPr/>
                        <a:lstStyle/>
                        <a:p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Calculate</a:t>
                          </a:r>
                          <a:r>
                            <a:rPr lang="en-GB" sz="1200" b="0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Calculate</a:t>
                          </a:r>
                          <a:r>
                            <a:rPr lang="en-GB" sz="1200" b="0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Calculate</a:t>
                          </a:r>
                          <a:r>
                            <a:rPr lang="en-GB" sz="1200" b="0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47329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Identify the base. This is the number we are multiplying.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 sz="18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473290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Identify the index. This is how many times we multiply the base number by itself.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328080A1-4AD8-DD92-912B-5E906DC233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321530"/>
                  </p:ext>
                </p:extLst>
              </p:nvPr>
            </p:nvGraphicFramePr>
            <p:xfrm>
              <a:off x="2119" y="552774"/>
              <a:ext cx="6572479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8464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48005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4800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4800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8893" t="-2222" r="-200369" b="-5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630" t="-2222" r="-101111" b="-5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524" t="-2222" r="-738" b="-55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Identify the base. This is the number we are multiplying.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 sz="18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Identify the index. This is how many times we multiply the base number by itself.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2D7D6BC7-1879-1CF6-6906-8071399C190C}"/>
              </a:ext>
            </a:extLst>
          </p:cNvPr>
          <p:cNvSpPr txBox="1"/>
          <p:nvPr/>
        </p:nvSpPr>
        <p:spPr>
          <a:xfrm>
            <a:off x="1730182" y="28763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 10 - I do…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268B5D-2C5C-FF0C-E644-B7C6FA44CB49}"/>
              </a:ext>
            </a:extLst>
          </p:cNvPr>
          <p:cNvSpPr txBox="1"/>
          <p:nvPr/>
        </p:nvSpPr>
        <p:spPr>
          <a:xfrm>
            <a:off x="4954195" y="27635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12 – You do…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2AC8B9-22D1-72B7-A125-8ED7AAF2AD4B}"/>
              </a:ext>
            </a:extLst>
          </p:cNvPr>
          <p:cNvSpPr txBox="1"/>
          <p:nvPr/>
        </p:nvSpPr>
        <p:spPr>
          <a:xfrm>
            <a:off x="3254785" y="28178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11 –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ACE318-9912-8E4B-8477-C5935156F4BB}"/>
                  </a:ext>
                </a:extLst>
              </p:cNvPr>
              <p:cNvSpPr txBox="1"/>
              <p:nvPr/>
            </p:nvSpPr>
            <p:spPr>
              <a:xfrm>
                <a:off x="149720" y="2798846"/>
                <a:ext cx="461986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ACE318-9912-8E4B-8477-C5935156F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20" y="2798846"/>
                <a:ext cx="461986" cy="828000"/>
              </a:xfrm>
              <a:prstGeom prst="rect">
                <a:avLst/>
              </a:prstGeom>
              <a:blipFill>
                <a:blip r:embed="rId3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CB33EC5B-2719-EE46-149F-76772A6ACF9F}"/>
              </a:ext>
            </a:extLst>
          </p:cNvPr>
          <p:cNvSpPr/>
          <p:nvPr/>
        </p:nvSpPr>
        <p:spPr>
          <a:xfrm>
            <a:off x="221324" y="3073475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F7F29A-0CDE-8D5C-F135-CD754100C4CC}"/>
                  </a:ext>
                </a:extLst>
              </p:cNvPr>
              <p:cNvSpPr txBox="1"/>
              <p:nvPr/>
            </p:nvSpPr>
            <p:spPr>
              <a:xfrm>
                <a:off x="1763802" y="2798846"/>
                <a:ext cx="468398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b)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F7F29A-0CDE-8D5C-F135-CD754100C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802" y="2798846"/>
                <a:ext cx="468398" cy="82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058D339-79DE-CE91-DEA3-8343D773DB5B}"/>
                  </a:ext>
                </a:extLst>
              </p:cNvPr>
              <p:cNvSpPr txBox="1"/>
              <p:nvPr/>
            </p:nvSpPr>
            <p:spPr>
              <a:xfrm>
                <a:off x="3313683" y="2798846"/>
                <a:ext cx="453970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c)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058D339-79DE-CE91-DEA3-8343D773D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683" y="2798846"/>
                <a:ext cx="453970" cy="828000"/>
              </a:xfrm>
              <a:prstGeom prst="rect">
                <a:avLst/>
              </a:prstGeom>
              <a:blipFill>
                <a:blip r:embed="rId5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3654044-B156-CE81-7A02-561075BE18E9}"/>
                  </a:ext>
                </a:extLst>
              </p:cNvPr>
              <p:cNvSpPr txBox="1"/>
              <p:nvPr/>
            </p:nvSpPr>
            <p:spPr>
              <a:xfrm>
                <a:off x="4910072" y="2798846"/>
                <a:ext cx="468398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3654044-B156-CE81-7A02-561075BE1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72" y="2798846"/>
                <a:ext cx="468398" cy="828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DA2A8A0F-EBCD-345C-F3C1-4E4DD7A65202}"/>
              </a:ext>
            </a:extLst>
          </p:cNvPr>
          <p:cNvSpPr/>
          <p:nvPr/>
        </p:nvSpPr>
        <p:spPr>
          <a:xfrm>
            <a:off x="1817339" y="3073475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099D95-827D-7A25-C31E-3E3426A6193D}"/>
              </a:ext>
            </a:extLst>
          </p:cNvPr>
          <p:cNvSpPr/>
          <p:nvPr/>
        </p:nvSpPr>
        <p:spPr>
          <a:xfrm>
            <a:off x="3401306" y="3073475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9C9669-B207-9B40-996A-822D8DCE60A1}"/>
              </a:ext>
            </a:extLst>
          </p:cNvPr>
          <p:cNvSpPr/>
          <p:nvPr/>
        </p:nvSpPr>
        <p:spPr>
          <a:xfrm>
            <a:off x="5027381" y="3073475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31B892-CF85-B565-A266-BBF3E1791FBF}"/>
                  </a:ext>
                </a:extLst>
              </p:cNvPr>
              <p:cNvSpPr txBox="1"/>
              <p:nvPr/>
            </p:nvSpPr>
            <p:spPr>
              <a:xfrm>
                <a:off x="149720" y="3908604"/>
                <a:ext cx="465192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31B892-CF85-B565-A266-BBF3E1791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20" y="3908604"/>
                <a:ext cx="465192" cy="828000"/>
              </a:xfrm>
              <a:prstGeom prst="rect">
                <a:avLst/>
              </a:prstGeom>
              <a:blipFill>
                <a:blip r:embed="rId7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4BDC2575-7B8F-70F7-9250-15A7B18ED535}"/>
              </a:ext>
            </a:extLst>
          </p:cNvPr>
          <p:cNvSpPr/>
          <p:nvPr/>
        </p:nvSpPr>
        <p:spPr>
          <a:xfrm>
            <a:off x="221324" y="4183233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EE476DB-B8C9-3626-E718-51AF2B43E7F7}"/>
                  </a:ext>
                </a:extLst>
              </p:cNvPr>
              <p:cNvSpPr txBox="1"/>
              <p:nvPr/>
            </p:nvSpPr>
            <p:spPr>
              <a:xfrm>
                <a:off x="1763802" y="3908604"/>
                <a:ext cx="436979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f)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EE476DB-B8C9-3626-E718-51AF2B43E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802" y="3908604"/>
                <a:ext cx="436979" cy="828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4215CEF-3F5E-58BD-6446-CE5C39F1AA10}"/>
                  </a:ext>
                </a:extLst>
              </p:cNvPr>
              <p:cNvSpPr txBox="1"/>
              <p:nvPr/>
            </p:nvSpPr>
            <p:spPr>
              <a:xfrm>
                <a:off x="3313683" y="3908604"/>
                <a:ext cx="460382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g)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4215CEF-3F5E-58BD-6446-CE5C39F1A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683" y="3908604"/>
                <a:ext cx="460382" cy="828000"/>
              </a:xfrm>
              <a:prstGeom prst="rect">
                <a:avLst/>
              </a:prstGeom>
              <a:blipFill>
                <a:blip r:embed="rId9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5BE5F83-B7D1-9DE5-AA4D-46F95FE17B0C}"/>
                  </a:ext>
                </a:extLst>
              </p:cNvPr>
              <p:cNvSpPr txBox="1"/>
              <p:nvPr/>
            </p:nvSpPr>
            <p:spPr>
              <a:xfrm>
                <a:off x="4910072" y="3908604"/>
                <a:ext cx="468398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h)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5BE5F83-B7D1-9DE5-AA4D-46F95FE17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72" y="3908604"/>
                <a:ext cx="468398" cy="828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CC624094-AA6B-870B-4EB8-4D3F2F851A28}"/>
              </a:ext>
            </a:extLst>
          </p:cNvPr>
          <p:cNvSpPr/>
          <p:nvPr/>
        </p:nvSpPr>
        <p:spPr>
          <a:xfrm>
            <a:off x="1817339" y="4183233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74E1A6-D9F3-21B5-0DA2-E4C58553DA3A}"/>
              </a:ext>
            </a:extLst>
          </p:cNvPr>
          <p:cNvSpPr/>
          <p:nvPr/>
        </p:nvSpPr>
        <p:spPr>
          <a:xfrm>
            <a:off x="3401306" y="4183233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70A807F-70F9-9DC7-526F-FDCD7FCFB8E1}"/>
              </a:ext>
            </a:extLst>
          </p:cNvPr>
          <p:cNvSpPr/>
          <p:nvPr/>
        </p:nvSpPr>
        <p:spPr>
          <a:xfrm>
            <a:off x="5027381" y="4183233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3CAA726-A1C1-5093-2EED-BD58815E93CB}"/>
                  </a:ext>
                </a:extLst>
              </p:cNvPr>
              <p:cNvSpPr txBox="1"/>
              <p:nvPr/>
            </p:nvSpPr>
            <p:spPr>
              <a:xfrm>
                <a:off x="149720" y="5022518"/>
                <a:ext cx="423514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i)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3CAA726-A1C1-5093-2EED-BD58815E9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20" y="5022518"/>
                <a:ext cx="423514" cy="828000"/>
              </a:xfrm>
              <a:prstGeom prst="rect">
                <a:avLst/>
              </a:prstGeom>
              <a:blipFill>
                <a:blip r:embed="rId11"/>
                <a:stretch>
                  <a:fillRect l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AFFF61FA-106D-CEDE-3978-2520810029A1}"/>
              </a:ext>
            </a:extLst>
          </p:cNvPr>
          <p:cNvSpPr/>
          <p:nvPr/>
        </p:nvSpPr>
        <p:spPr>
          <a:xfrm>
            <a:off x="221324" y="5297147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1EA6E4B-D057-F191-6089-4801BC939893}"/>
                  </a:ext>
                </a:extLst>
              </p:cNvPr>
              <p:cNvSpPr txBox="1"/>
              <p:nvPr/>
            </p:nvSpPr>
            <p:spPr>
              <a:xfrm>
                <a:off x="1763802" y="5022518"/>
                <a:ext cx="545342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j)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1EA6E4B-D057-F191-6089-4801BC939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802" y="5022518"/>
                <a:ext cx="545342" cy="828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A08ED11-5BE4-4434-0069-EAF3E8CBAAFB}"/>
                  </a:ext>
                </a:extLst>
              </p:cNvPr>
              <p:cNvSpPr txBox="1"/>
              <p:nvPr/>
            </p:nvSpPr>
            <p:spPr>
              <a:xfrm>
                <a:off x="3313683" y="5022518"/>
                <a:ext cx="799642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k)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A08ED11-5BE4-4434-0069-EAF3E8CBA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683" y="5022518"/>
                <a:ext cx="799642" cy="828000"/>
              </a:xfrm>
              <a:prstGeom prst="rect">
                <a:avLst/>
              </a:prstGeom>
              <a:blipFill>
                <a:blip r:embed="rId13"/>
                <a:stretch>
                  <a:fillRect l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9D0B70-7E60-4DA5-6DC1-19A7FE835FCE}"/>
                  </a:ext>
                </a:extLst>
              </p:cNvPr>
              <p:cNvSpPr txBox="1"/>
              <p:nvPr/>
            </p:nvSpPr>
            <p:spPr>
              <a:xfrm>
                <a:off x="4910072" y="5022518"/>
                <a:ext cx="764376" cy="828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l)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9D0B70-7E60-4DA5-6DC1-19A7FE835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72" y="5022518"/>
                <a:ext cx="764376" cy="828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4BA6B75E-667D-FEA1-24E0-4459F7A9C979}"/>
              </a:ext>
            </a:extLst>
          </p:cNvPr>
          <p:cNvSpPr/>
          <p:nvPr/>
        </p:nvSpPr>
        <p:spPr>
          <a:xfrm>
            <a:off x="1817339" y="5297147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3D54A1F-EFE9-6605-AE0C-232417CC69FA}"/>
              </a:ext>
            </a:extLst>
          </p:cNvPr>
          <p:cNvSpPr/>
          <p:nvPr/>
        </p:nvSpPr>
        <p:spPr>
          <a:xfrm>
            <a:off x="3401306" y="5297147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B421B1C-C5AE-B72B-DE33-0311AE2F21D1}"/>
              </a:ext>
            </a:extLst>
          </p:cNvPr>
          <p:cNvSpPr/>
          <p:nvPr/>
        </p:nvSpPr>
        <p:spPr>
          <a:xfrm>
            <a:off x="5027381" y="5297147"/>
            <a:ext cx="1277244" cy="82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E633214-7942-ED02-75FF-7D5E11D4C327}"/>
              </a:ext>
            </a:extLst>
          </p:cNvPr>
          <p:cNvSpPr/>
          <p:nvPr/>
        </p:nvSpPr>
        <p:spPr>
          <a:xfrm>
            <a:off x="0" y="2382630"/>
            <a:ext cx="1137954" cy="34045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C93882-7A31-22BD-9228-1C3B2F9BA1F8}"/>
              </a:ext>
            </a:extLst>
          </p:cNvPr>
          <p:cNvSpPr txBox="1"/>
          <p:nvPr/>
        </p:nvSpPr>
        <p:spPr>
          <a:xfrm>
            <a:off x="1122266" y="2473606"/>
            <a:ext cx="4651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4. Calculate the value of: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D0FB17E-B287-962C-B6EC-C489F41AD158}"/>
              </a:ext>
            </a:extLst>
          </p:cNvPr>
          <p:cNvSpPr/>
          <p:nvPr/>
        </p:nvSpPr>
        <p:spPr>
          <a:xfrm>
            <a:off x="96247" y="6246838"/>
            <a:ext cx="1277244" cy="27699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/>
              <a:t>Mixed Practice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3EBC74-F9BD-4422-1674-BA3DC7B8A44B}"/>
              </a:ext>
            </a:extLst>
          </p:cNvPr>
          <p:cNvSpPr txBox="1"/>
          <p:nvPr/>
        </p:nvSpPr>
        <p:spPr>
          <a:xfrm>
            <a:off x="1357047" y="6312612"/>
            <a:ext cx="4651621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5. Fill in the blanks: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3097E36-A8C9-FB78-F185-507A0E09B55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521" y="6770530"/>
            <a:ext cx="3147333" cy="81541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74A5A25-78E2-20E9-A933-A1C5714974E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51184" y="6793766"/>
            <a:ext cx="3124471" cy="77730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F12308FA-19E7-8D11-4B32-188A912E71F4}"/>
              </a:ext>
            </a:extLst>
          </p:cNvPr>
          <p:cNvSpPr txBox="1"/>
          <p:nvPr/>
        </p:nvSpPr>
        <p:spPr>
          <a:xfrm>
            <a:off x="20521" y="7729478"/>
            <a:ext cx="4651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6. Circle the number that is in the wrong </a:t>
            </a:r>
          </a:p>
          <a:p>
            <a:r>
              <a:rPr lang="en-GB" sz="1200" dirty="0"/>
              <a:t>    place in the Venn diagram: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DBC90CC2-4A02-BA02-3A3F-8620233BCD2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9720" y="8250071"/>
            <a:ext cx="2472941" cy="143504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0F130C2-487A-19D0-2E2F-80D3A59402B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77429" y="7973720"/>
            <a:ext cx="1417443" cy="61727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372AA0E-3B4B-98D4-5F79-47E7C160A987}"/>
              </a:ext>
            </a:extLst>
          </p:cNvPr>
          <p:cNvSpPr/>
          <p:nvPr/>
        </p:nvSpPr>
        <p:spPr>
          <a:xfrm>
            <a:off x="3582488" y="9160176"/>
            <a:ext cx="2912037" cy="61678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3E73E9-7464-08EB-7314-0AD9ECD56EB9}"/>
              </a:ext>
            </a:extLst>
          </p:cNvPr>
          <p:cNvSpPr txBox="1"/>
          <p:nvPr/>
        </p:nvSpPr>
        <p:spPr>
          <a:xfrm>
            <a:off x="-11971" y="6547162"/>
            <a:ext cx="408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</a:t>
            </a:r>
          </a:p>
        </p:txBody>
      </p:sp>
    </p:spTree>
    <p:extLst>
      <p:ext uri="{BB962C8B-B14F-4D97-AF65-F5344CB8AC3E}">
        <p14:creationId xmlns:p14="http://schemas.microsoft.com/office/powerpoint/2010/main" val="1849326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B59D2F85-C40C-6F49-A8DC-9962E32C54A7}"/>
              </a:ext>
            </a:extLst>
          </p:cNvPr>
          <p:cNvSpPr/>
          <p:nvPr/>
        </p:nvSpPr>
        <p:spPr>
          <a:xfrm>
            <a:off x="124522" y="154559"/>
            <a:ext cx="6679742" cy="825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>
              <a:solidFill>
                <a:sysClr val="windowText" lastClr="00000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05264B7-DB58-7E49-B4A9-8F02D752A45D}"/>
              </a:ext>
            </a:extLst>
          </p:cNvPr>
          <p:cNvSpPr txBox="1"/>
          <p:nvPr/>
        </p:nvSpPr>
        <p:spPr>
          <a:xfrm>
            <a:off x="131546" y="334104"/>
            <a:ext cx="5101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/>
              <a:t>Objectives:</a:t>
            </a:r>
          </a:p>
          <a:p>
            <a:pPr marL="228600" indent="-228600">
              <a:buAutoNum type="arabicPeriod"/>
            </a:pPr>
            <a:r>
              <a:rPr lang="en-GB" sz="1200"/>
              <a:t>To be able to recognise square roots as inverses of squares</a:t>
            </a:r>
          </a:p>
          <a:p>
            <a:pPr marL="228600" indent="-228600">
              <a:buAutoNum type="arabicPeriod"/>
            </a:pPr>
            <a:r>
              <a:rPr lang="en-GB" sz="1200"/>
              <a:t>To be able to recognise cube roots as inverses of cubes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15F86B-6C3B-6849-A0A3-1AA8A5990EEB}"/>
              </a:ext>
            </a:extLst>
          </p:cNvPr>
          <p:cNvSpPr txBox="1"/>
          <p:nvPr/>
        </p:nvSpPr>
        <p:spPr>
          <a:xfrm>
            <a:off x="5671360" y="236809"/>
            <a:ext cx="1058149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/>
              <a:t>Keywords:</a:t>
            </a:r>
          </a:p>
          <a:p>
            <a:r>
              <a:rPr lang="en-US" sz="1200"/>
              <a:t>- Square root</a:t>
            </a:r>
          </a:p>
          <a:p>
            <a:r>
              <a:rPr lang="en-US" sz="1200"/>
              <a:t>- Cube root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CB369DF2-BE35-4860-8210-A8C6CAAE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78353" y="9467448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6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C9BC15-2B80-9CE4-6E34-24D6A6057A33}"/>
              </a:ext>
            </a:extLst>
          </p:cNvPr>
          <p:cNvSpPr/>
          <p:nvPr/>
        </p:nvSpPr>
        <p:spPr>
          <a:xfrm>
            <a:off x="127437" y="1076721"/>
            <a:ext cx="6671317" cy="10869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2D2835-042C-0E06-C6C4-06FD1076C86D}"/>
              </a:ext>
            </a:extLst>
          </p:cNvPr>
          <p:cNvSpPr txBox="1"/>
          <p:nvPr/>
        </p:nvSpPr>
        <p:spPr>
          <a:xfrm>
            <a:off x="84346" y="1040075"/>
            <a:ext cx="2778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– Read and annotate: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B0F56A-C93D-D04C-47F1-176074195FD4}"/>
              </a:ext>
            </a:extLst>
          </p:cNvPr>
          <p:cNvSpPr txBox="1"/>
          <p:nvPr/>
        </p:nvSpPr>
        <p:spPr>
          <a:xfrm>
            <a:off x="111875" y="1263672"/>
            <a:ext cx="676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/>
              <a:t>Square roots and cube roots are the opposite, or inverse operations, of squaring and cubing. A square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/>
              <a:t>root finds the original number that was squared, while a cube root finds the original number that was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/>
              <a:t>cubed. Square and cube roots are especially important in algebra and geometry, where they help solve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/>
              <a:t>equations involving areas, volumes and distances (Pythagoras’ Theorem). 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6FE8D9-7101-02F2-9519-6BA818C9D617}"/>
              </a:ext>
            </a:extLst>
          </p:cNvPr>
          <p:cNvSpPr/>
          <p:nvPr/>
        </p:nvSpPr>
        <p:spPr>
          <a:xfrm>
            <a:off x="122745" y="2254039"/>
            <a:ext cx="6676009" cy="29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175BE70-A000-69C2-B79B-00CF925DBA01}"/>
              </a:ext>
            </a:extLst>
          </p:cNvPr>
          <p:cNvCxnSpPr>
            <a:cxnSpLocks/>
          </p:cNvCxnSpPr>
          <p:nvPr/>
        </p:nvCxnSpPr>
        <p:spPr>
          <a:xfrm>
            <a:off x="129720" y="3766713"/>
            <a:ext cx="666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D708AE-5E92-D863-5318-5CE2EB7AF07F}"/>
              </a:ext>
            </a:extLst>
          </p:cNvPr>
          <p:cNvCxnSpPr>
            <a:cxnSpLocks/>
            <a:stCxn id="2" idx="2"/>
            <a:endCxn id="2" idx="0"/>
          </p:cNvCxnSpPr>
          <p:nvPr/>
        </p:nvCxnSpPr>
        <p:spPr>
          <a:xfrm flipV="1">
            <a:off x="3460750" y="2254039"/>
            <a:ext cx="0" cy="2952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6E0225-677A-1A67-FE3B-0F50C7F71473}"/>
              </a:ext>
            </a:extLst>
          </p:cNvPr>
          <p:cNvSpPr txBox="1"/>
          <p:nvPr/>
        </p:nvSpPr>
        <p:spPr>
          <a:xfrm>
            <a:off x="111875" y="2243484"/>
            <a:ext cx="3331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Definition</a:t>
            </a:r>
          </a:p>
          <a:p>
            <a:endParaRPr lang="en-US" sz="12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8A3B62C-13D7-428C-99F3-41F0436C1C25}"/>
                  </a:ext>
                </a:extLst>
              </p:cNvPr>
              <p:cNvSpPr txBox="1"/>
              <p:nvPr/>
            </p:nvSpPr>
            <p:spPr>
              <a:xfrm>
                <a:off x="3405880" y="2244914"/>
                <a:ext cx="3413542" cy="1587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/>
                  <a:t>Characteristics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/>
                  <a:t>The square root of a number is denoted by the symbol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√</m:t>
                    </m:r>
                  </m:oMath>
                </a14:m>
                <a:r>
                  <a:rPr lang="en-GB" sz="1200"/>
                  <a:t>. For example,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2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lang="en-GB" sz="1200"/>
                  <a:t> is equal to 3, because 3 x 3 = 9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/>
                  <a:t>The square root of a positive number is a positive number. The square root of 0 is 0. There are no real square roots for negative numbers.</a:t>
                </a:r>
                <a:endParaRPr lang="en-US" sz="1200"/>
              </a:p>
              <a:p>
                <a:pPr algn="r"/>
                <a:endParaRPr lang="en-GB" sz="1200" b="1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8A3B62C-13D7-428C-99F3-41F0436C1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880" y="2244914"/>
                <a:ext cx="3413542" cy="1587038"/>
              </a:xfrm>
              <a:prstGeom prst="rect">
                <a:avLst/>
              </a:prstGeom>
              <a:blipFill>
                <a:blip r:embed="rId3"/>
                <a:stretch>
                  <a:fillRect r="-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A2785A40-B6C0-15B6-15BA-04AF6ABDB3A6}"/>
              </a:ext>
            </a:extLst>
          </p:cNvPr>
          <p:cNvSpPr txBox="1"/>
          <p:nvPr/>
        </p:nvSpPr>
        <p:spPr>
          <a:xfrm>
            <a:off x="129250" y="3753136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Examples</a:t>
            </a:r>
            <a:endParaRPr lang="en-GB" sz="1200" b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9CE069-8104-C9A3-749E-FDEE72A7377E}"/>
              </a:ext>
            </a:extLst>
          </p:cNvPr>
          <p:cNvSpPr txBox="1"/>
          <p:nvPr/>
        </p:nvSpPr>
        <p:spPr>
          <a:xfrm>
            <a:off x="5683660" y="3756094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Non - Examples</a:t>
            </a:r>
            <a:endParaRPr lang="en-GB" sz="1200" b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C3750D-420F-AF23-BB8C-82F5A57A1FC3}"/>
              </a:ext>
            </a:extLst>
          </p:cNvPr>
          <p:cNvSpPr txBox="1"/>
          <p:nvPr/>
        </p:nvSpPr>
        <p:spPr>
          <a:xfrm>
            <a:off x="2745162" y="3589127"/>
            <a:ext cx="128721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/>
              <a:t>Square root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20547E-4D11-BC7A-FEA8-E2DF47415849}"/>
              </a:ext>
            </a:extLst>
          </p:cNvPr>
          <p:cNvSpPr txBox="1"/>
          <p:nvPr/>
        </p:nvSpPr>
        <p:spPr>
          <a:xfrm>
            <a:off x="127143" y="2227348"/>
            <a:ext cx="3363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200"/>
          </a:p>
          <a:p>
            <a:r>
              <a:rPr lang="en-GB" sz="1200"/>
              <a:t>The square root of a number is a value that, when multiplied by itself, gives the original number.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A9358B-BC2C-7418-0222-904D034B8440}"/>
                  </a:ext>
                </a:extLst>
              </p:cNvPr>
              <p:cNvSpPr txBox="1"/>
              <p:nvPr/>
            </p:nvSpPr>
            <p:spPr>
              <a:xfrm>
                <a:off x="118570" y="3997633"/>
                <a:ext cx="3433010" cy="294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</m:oMath>
                </a14:m>
                <a:r>
                  <a:rPr lang="en-GB" sz="1200" b="0" i="0">
                    <a:solidFill>
                      <a:schemeClr val="tx1"/>
                    </a:solidFill>
                    <a:effectLst/>
                  </a:rPr>
                  <a:t> = 4, because 4 x 4 = 16</a:t>
                </a:r>
                <a:endParaRPr lang="en-GB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A9358B-BC2C-7418-0222-904D034B8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70" y="3997633"/>
                <a:ext cx="3433010" cy="294376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732413F-9F99-CB8A-5904-5218E5420C8C}"/>
                  </a:ext>
                </a:extLst>
              </p:cNvPr>
              <p:cNvSpPr txBox="1"/>
              <p:nvPr/>
            </p:nvSpPr>
            <p:spPr>
              <a:xfrm>
                <a:off x="272751" y="4359614"/>
                <a:ext cx="3433010" cy="295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lang="en-GB" sz="1200" b="0" i="0">
                    <a:solidFill>
                      <a:schemeClr val="tx1"/>
                    </a:solidFill>
                    <a:effectLst/>
                  </a:rPr>
                  <a:t> = 1, because 1 x 1 = 1</a:t>
                </a:r>
                <a:endParaRPr lang="en-GB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732413F-9F99-CB8A-5904-5218E5420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51" y="4359614"/>
                <a:ext cx="3433010" cy="295017"/>
              </a:xfrm>
              <a:prstGeom prst="rect">
                <a:avLst/>
              </a:prstGeom>
              <a:blipFill>
                <a:blip r:embed="rId5"/>
                <a:stretch>
                  <a:fillRect b="-163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3A63143-AA90-A951-EE2C-51889D4F36D5}"/>
                  </a:ext>
                </a:extLst>
              </p:cNvPr>
              <p:cNvSpPr txBox="1"/>
              <p:nvPr/>
            </p:nvSpPr>
            <p:spPr>
              <a:xfrm>
                <a:off x="146605" y="4828278"/>
                <a:ext cx="3433010" cy="302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rad>
                  </m:oMath>
                </a14:m>
                <a:r>
                  <a:rPr lang="en-GB" sz="1200" b="0" i="0">
                    <a:solidFill>
                      <a:schemeClr val="tx1"/>
                    </a:solidFill>
                    <a:effectLst/>
                  </a:rPr>
                  <a:t> = 0, because 0 x 0 = 0</a:t>
                </a:r>
                <a:endParaRPr lang="en-GB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3A63143-AA90-A951-EE2C-51889D4F3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05" y="4828278"/>
                <a:ext cx="3433010" cy="302968"/>
              </a:xfrm>
              <a:prstGeom prst="rect">
                <a:avLst/>
              </a:prstGeom>
              <a:blipFill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9D1EF5C-7411-5A2E-59F8-B99EE6B0518B}"/>
                  </a:ext>
                </a:extLst>
              </p:cNvPr>
              <p:cNvSpPr txBox="1"/>
              <p:nvPr/>
            </p:nvSpPr>
            <p:spPr>
              <a:xfrm>
                <a:off x="4013823" y="4001452"/>
                <a:ext cx="460575" cy="34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/>
                      </m:ra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9D1EF5C-7411-5A2E-59F8-B99EE6B05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823" y="4001452"/>
                <a:ext cx="460575" cy="3481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EE56E4F-C2ED-1A64-9390-3EB4286D4B59}"/>
                  </a:ext>
                </a:extLst>
              </p:cNvPr>
              <p:cNvSpPr txBox="1"/>
              <p:nvPr/>
            </p:nvSpPr>
            <p:spPr>
              <a:xfrm>
                <a:off x="2836397" y="4378866"/>
                <a:ext cx="395868" cy="4249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EE56E4F-C2ED-1A64-9390-3EB4286D4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7" y="4378866"/>
                <a:ext cx="395868" cy="424925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3441DC9-87E1-C567-24C8-B23324FB8019}"/>
                  </a:ext>
                </a:extLst>
              </p:cNvPr>
              <p:cNvSpPr txBox="1"/>
              <p:nvPr/>
            </p:nvSpPr>
            <p:spPr>
              <a:xfrm>
                <a:off x="2215641" y="4005377"/>
                <a:ext cx="395868" cy="545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num>
                            <m:den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3441DC9-87E1-C567-24C8-B23324FB8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641" y="4005377"/>
                <a:ext cx="395868" cy="5456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2AF4874-5D60-4C07-8458-DC75B509DB5A}"/>
                  </a:ext>
                </a:extLst>
              </p:cNvPr>
              <p:cNvSpPr txBox="1"/>
              <p:nvPr/>
            </p:nvSpPr>
            <p:spPr>
              <a:xfrm>
                <a:off x="2141535" y="4745034"/>
                <a:ext cx="395868" cy="2101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e>
                      </m:rad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2AF4874-5D60-4C07-8458-DC75B509D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535" y="4745034"/>
                <a:ext cx="395868" cy="210186"/>
              </a:xfrm>
              <a:prstGeom prst="rect">
                <a:avLst/>
              </a:prstGeom>
              <a:blipFill>
                <a:blip r:embed="rId10"/>
                <a:stretch>
                  <a:fillRect r="-29231" b="-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73FFA81-FAC2-C4EF-4A7B-3C9AA5840C37}"/>
                  </a:ext>
                </a:extLst>
              </p:cNvPr>
              <p:cNvSpPr txBox="1"/>
              <p:nvPr/>
            </p:nvSpPr>
            <p:spPr>
              <a:xfrm>
                <a:off x="2829777" y="4952907"/>
                <a:ext cx="395868" cy="2101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5+12</m:t>
                          </m:r>
                        </m:e>
                      </m:rad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73FFA81-FAC2-C4EF-4A7B-3C9AA5840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777" y="4952907"/>
                <a:ext cx="395868" cy="210186"/>
              </a:xfrm>
              <a:prstGeom prst="rect">
                <a:avLst/>
              </a:prstGeom>
              <a:blipFill>
                <a:blip r:embed="rId11"/>
                <a:stretch>
                  <a:fillRect r="-49231" b="-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Picture 52">
            <a:extLst>
              <a:ext uri="{FF2B5EF4-FFF2-40B4-BE49-F238E27FC236}">
                <a16:creationId xmlns:a16="http://schemas.microsoft.com/office/drawing/2014/main" id="{21AE769D-AA56-502E-887F-4C9FD3F1250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29576" y="4136734"/>
            <a:ext cx="438150" cy="390525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294EFD56-56E5-622C-9706-E6ABBA290E4F}"/>
              </a:ext>
            </a:extLst>
          </p:cNvPr>
          <p:cNvGrpSpPr/>
          <p:nvPr/>
        </p:nvGrpSpPr>
        <p:grpSpPr>
          <a:xfrm>
            <a:off x="4668469" y="4622545"/>
            <a:ext cx="453607" cy="411465"/>
            <a:chOff x="6246904" y="5559103"/>
            <a:chExt cx="453607" cy="411465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54681F3F-DCEF-26B8-EE20-44139FEF8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246904" y="5580043"/>
              <a:ext cx="438150" cy="390525"/>
            </a:xfrm>
            <a:prstGeom prst="rect">
              <a:avLst/>
            </a:pr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B5C8838-6F38-6D24-BB49-A5068B3F35D9}"/>
                </a:ext>
              </a:extLst>
            </p:cNvPr>
            <p:cNvSpPr/>
            <p:nvPr/>
          </p:nvSpPr>
          <p:spPr>
            <a:xfrm>
              <a:off x="6504991" y="5617558"/>
              <a:ext cx="60848" cy="1971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B75EA0D-982D-AEE6-B50A-C9336B93E0D4}"/>
                </a:ext>
              </a:extLst>
            </p:cNvPr>
            <p:cNvSpPr txBox="1"/>
            <p:nvPr/>
          </p:nvSpPr>
          <p:spPr>
            <a:xfrm>
              <a:off x="6417737" y="5559103"/>
              <a:ext cx="2827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B35706B-2E7B-49D9-ACED-AA03BEE54936}"/>
                  </a:ext>
                </a:extLst>
              </p:cNvPr>
              <p:cNvSpPr/>
              <p:nvPr/>
            </p:nvSpPr>
            <p:spPr>
              <a:xfrm>
                <a:off x="90351" y="5414437"/>
                <a:ext cx="2914066" cy="25191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200"/>
                  <a:t>Calculating  square roots up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2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225</m:t>
                        </m:r>
                      </m:e>
                    </m:rad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B35706B-2E7B-49D9-ACED-AA03BEE549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1" y="5414437"/>
                <a:ext cx="2914066" cy="251910"/>
              </a:xfrm>
              <a:prstGeom prst="rect">
                <a:avLst/>
              </a:prstGeom>
              <a:blipFill>
                <a:blip r:embed="rId13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03E439A4-44C0-4002-B84E-0F1185C93B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1614454"/>
                  </p:ext>
                </p:extLst>
              </p:nvPr>
            </p:nvGraphicFramePr>
            <p:xfrm>
              <a:off x="90351" y="5909612"/>
              <a:ext cx="6664721" cy="14845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391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63602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63602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63602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175334">
                    <a:tc>
                      <a:txBody>
                        <a:bodyPr/>
                        <a:lstStyle/>
                        <a:p>
                          <a:r>
                            <a:rPr lang="en-US" sz="1200" b="1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Calculate</a:t>
                          </a:r>
                          <a:r>
                            <a:rPr lang="en-GB" sz="1200" b="0" baseline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25</m:t>
                                  </m:r>
                                </m:e>
                              </m:rad>
                            </m:oMath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GB" sz="12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Calculate</m:t>
                                </m:r>
                                <m:r>
                                  <a:rPr lang="en-GB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49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Calculate</a:t>
                          </a:r>
                          <a:r>
                            <a:rPr lang="en-GB" sz="1200" b="0" baseline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36</m:t>
                                  </m:r>
                                </m:e>
                              </m:rad>
                            </m:oMath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924296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Identify the value that, when multiplied by itself, gives the number being square rooted.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dirty="0"/>
                        </a:p>
                        <a:p>
                          <a:endParaRPr lang="en-US" sz="18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03E439A4-44C0-4002-B84E-0F1185C93B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1614454"/>
                  </p:ext>
                </p:extLst>
              </p:nvPr>
            </p:nvGraphicFramePr>
            <p:xfrm>
              <a:off x="90351" y="5909612"/>
              <a:ext cx="6664721" cy="14845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391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63602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63602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63602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95847">
                    <a:tc>
                      <a:txBody>
                        <a:bodyPr/>
                        <a:lstStyle/>
                        <a:p>
                          <a:r>
                            <a:rPr lang="en-US" sz="1200" b="1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78547" t="-2041" r="-201384" b="-4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177931" t="-2041" r="-100690" b="-4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277931" t="-2041" r="-690" b="-4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Identify the value that, when multiplied by itself, gives the number being square rooted.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dirty="0"/>
                        </a:p>
                        <a:p>
                          <a:pPr/>
                          <a:endParaRPr lang="en-US" sz="18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2EBD55DC-1B5C-4ECF-B93E-5785084064E8}"/>
              </a:ext>
            </a:extLst>
          </p:cNvPr>
          <p:cNvSpPr txBox="1"/>
          <p:nvPr/>
        </p:nvSpPr>
        <p:spPr>
          <a:xfrm>
            <a:off x="1673575" y="5668214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 1 - I do…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715AF1-CA78-4BE4-A971-2423D6B938CB}"/>
              </a:ext>
            </a:extLst>
          </p:cNvPr>
          <p:cNvSpPr txBox="1"/>
          <p:nvPr/>
        </p:nvSpPr>
        <p:spPr>
          <a:xfrm>
            <a:off x="5141793" y="565782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3 – You do…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382B99-F749-4B1A-AE77-7F7822DAA448}"/>
              </a:ext>
            </a:extLst>
          </p:cNvPr>
          <p:cNvSpPr txBox="1"/>
          <p:nvPr/>
        </p:nvSpPr>
        <p:spPr>
          <a:xfrm>
            <a:off x="3371656" y="565782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2 –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EE50195-D1EE-4A48-BE4A-2816FE881B6D}"/>
                  </a:ext>
                </a:extLst>
              </p:cNvPr>
              <p:cNvSpPr txBox="1"/>
              <p:nvPr/>
            </p:nvSpPr>
            <p:spPr>
              <a:xfrm>
                <a:off x="274948" y="7829912"/>
                <a:ext cx="526170" cy="294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EE50195-D1EE-4A48-BE4A-2816FE881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48" y="7829912"/>
                <a:ext cx="526170" cy="294696"/>
              </a:xfrm>
              <a:prstGeom prst="rect">
                <a:avLst/>
              </a:prstGeom>
              <a:blipFill>
                <a:blip r:embed="rId1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 65">
            <a:extLst>
              <a:ext uri="{FF2B5EF4-FFF2-40B4-BE49-F238E27FC236}">
                <a16:creationId xmlns:a16="http://schemas.microsoft.com/office/drawing/2014/main" id="{BEBAEACE-303D-415E-885A-DEF7E2D991EC}"/>
              </a:ext>
            </a:extLst>
          </p:cNvPr>
          <p:cNvSpPr/>
          <p:nvPr/>
        </p:nvSpPr>
        <p:spPr>
          <a:xfrm>
            <a:off x="346552" y="8104540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CF69F08-22F2-4F32-856B-DA5738CE83FA}"/>
                  </a:ext>
                </a:extLst>
              </p:cNvPr>
              <p:cNvSpPr txBox="1"/>
              <p:nvPr/>
            </p:nvSpPr>
            <p:spPr>
              <a:xfrm>
                <a:off x="1889030" y="7829912"/>
                <a:ext cx="532582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CF69F08-22F2-4F32-856B-DA5738CE8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030" y="7829912"/>
                <a:ext cx="532582" cy="294376"/>
              </a:xfrm>
              <a:prstGeom prst="rect">
                <a:avLst/>
              </a:prstGeom>
              <a:blipFill>
                <a:blip r:embed="rId16"/>
                <a:stretch>
                  <a:fillRect l="-1149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15B5955-242C-4509-9694-EA8AFC77BD99}"/>
                  </a:ext>
                </a:extLst>
              </p:cNvPr>
              <p:cNvSpPr txBox="1"/>
              <p:nvPr/>
            </p:nvSpPr>
            <p:spPr>
              <a:xfrm>
                <a:off x="3438911" y="7829912"/>
                <a:ext cx="518155" cy="295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15B5955-242C-4509-9694-EA8AFC77B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911" y="7829912"/>
                <a:ext cx="518155" cy="295017"/>
              </a:xfrm>
              <a:prstGeom prst="rect">
                <a:avLst/>
              </a:prstGeom>
              <a:blipFill>
                <a:blip r:embed="rId17"/>
                <a:stretch>
                  <a:fillRect b="-163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6BD20B6-AD96-4600-AD4B-C9B0A11ED0B6}"/>
                  </a:ext>
                </a:extLst>
              </p:cNvPr>
              <p:cNvSpPr txBox="1"/>
              <p:nvPr/>
            </p:nvSpPr>
            <p:spPr>
              <a:xfrm>
                <a:off x="5035300" y="7829912"/>
                <a:ext cx="617541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64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6BD20B6-AD96-4600-AD4B-C9B0A11ED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300" y="7829912"/>
                <a:ext cx="617541" cy="294376"/>
              </a:xfrm>
              <a:prstGeom prst="rect">
                <a:avLst/>
              </a:prstGeom>
              <a:blipFill>
                <a:blip r:embed="rId1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65318FC-3234-4012-AFD4-5C50FFD02B3C}"/>
                  </a:ext>
                </a:extLst>
              </p:cNvPr>
              <p:cNvSpPr txBox="1"/>
              <p:nvPr/>
            </p:nvSpPr>
            <p:spPr>
              <a:xfrm>
                <a:off x="274948" y="8629643"/>
                <a:ext cx="501163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f)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65318FC-3234-4012-AFD4-5C50FFD0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48" y="8629643"/>
                <a:ext cx="501163" cy="294376"/>
              </a:xfrm>
              <a:prstGeom prst="rect">
                <a:avLst/>
              </a:prstGeom>
              <a:blipFill>
                <a:blip r:embed="rId1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BEE2D34-B7EA-4A93-B31E-2C62D3E48B88}"/>
                  </a:ext>
                </a:extLst>
              </p:cNvPr>
              <p:cNvSpPr txBox="1"/>
              <p:nvPr/>
            </p:nvSpPr>
            <p:spPr>
              <a:xfrm>
                <a:off x="1889030" y="8629643"/>
                <a:ext cx="694485" cy="295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g)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121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BEE2D34-B7EA-4A93-B31E-2C62D3E48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030" y="8629643"/>
                <a:ext cx="694485" cy="295017"/>
              </a:xfrm>
              <a:prstGeom prst="rect">
                <a:avLst/>
              </a:prstGeom>
              <a:blipFill>
                <a:blip r:embed="rId20"/>
                <a:stretch>
                  <a:fillRect l="-877" b="-18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FCC41D4-10E4-4D58-ACA0-F23B080E4D70}"/>
                  </a:ext>
                </a:extLst>
              </p:cNvPr>
              <p:cNvSpPr txBox="1"/>
              <p:nvPr/>
            </p:nvSpPr>
            <p:spPr>
              <a:xfrm>
                <a:off x="3438911" y="8629643"/>
                <a:ext cx="702500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h)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FCC41D4-10E4-4D58-ACA0-F23B080E4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911" y="8629643"/>
                <a:ext cx="702500" cy="294376"/>
              </a:xfrm>
              <a:prstGeom prst="rect">
                <a:avLst/>
              </a:prstGeom>
              <a:blipFill>
                <a:blip r:embed="rId2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7A3037B-5629-480C-857A-28B7D22DAB3F}"/>
                  </a:ext>
                </a:extLst>
              </p:cNvPr>
              <p:cNvSpPr txBox="1"/>
              <p:nvPr/>
            </p:nvSpPr>
            <p:spPr>
              <a:xfrm>
                <a:off x="5035300" y="8629643"/>
                <a:ext cx="572657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i)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81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7A3037B-5629-480C-857A-28B7D22DA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300" y="8629643"/>
                <a:ext cx="572657" cy="294376"/>
              </a:xfrm>
              <a:prstGeom prst="rect">
                <a:avLst/>
              </a:prstGeom>
              <a:blipFill>
                <a:blip r:embed="rId2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581CF677-D3AC-493C-87EE-3B974459ECD0}"/>
              </a:ext>
            </a:extLst>
          </p:cNvPr>
          <p:cNvSpPr/>
          <p:nvPr/>
        </p:nvSpPr>
        <p:spPr>
          <a:xfrm>
            <a:off x="346552" y="8920427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8844CF4-9719-43F3-ABAD-DEF9E6328C2D}"/>
              </a:ext>
            </a:extLst>
          </p:cNvPr>
          <p:cNvSpPr/>
          <p:nvPr/>
        </p:nvSpPr>
        <p:spPr>
          <a:xfrm>
            <a:off x="1942567" y="8104540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E15FCF6-6B36-43B0-BA98-52EFB083C105}"/>
              </a:ext>
            </a:extLst>
          </p:cNvPr>
          <p:cNvSpPr/>
          <p:nvPr/>
        </p:nvSpPr>
        <p:spPr>
          <a:xfrm>
            <a:off x="1942567" y="8920427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3F39ABD-4415-4D5C-BD62-903CC4B78507}"/>
              </a:ext>
            </a:extLst>
          </p:cNvPr>
          <p:cNvSpPr/>
          <p:nvPr/>
        </p:nvSpPr>
        <p:spPr>
          <a:xfrm>
            <a:off x="3526534" y="8104540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12B68D3-4773-40C0-AA22-F9E4E9EA37C0}"/>
              </a:ext>
            </a:extLst>
          </p:cNvPr>
          <p:cNvSpPr/>
          <p:nvPr/>
        </p:nvSpPr>
        <p:spPr>
          <a:xfrm>
            <a:off x="3526534" y="8920427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F114413-A617-4EAD-B0B1-50F3CDB40E50}"/>
              </a:ext>
            </a:extLst>
          </p:cNvPr>
          <p:cNvSpPr/>
          <p:nvPr/>
        </p:nvSpPr>
        <p:spPr>
          <a:xfrm>
            <a:off x="5152609" y="8104540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23C946D-6A39-4989-A374-1C041906DC8F}"/>
              </a:ext>
            </a:extLst>
          </p:cNvPr>
          <p:cNvSpPr/>
          <p:nvPr/>
        </p:nvSpPr>
        <p:spPr>
          <a:xfrm>
            <a:off x="5152609" y="8920427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49706DD-5C49-4B7A-AEDA-E11875E78368}"/>
              </a:ext>
            </a:extLst>
          </p:cNvPr>
          <p:cNvSpPr txBox="1"/>
          <p:nvPr/>
        </p:nvSpPr>
        <p:spPr>
          <a:xfrm>
            <a:off x="1243547" y="7586148"/>
            <a:ext cx="4651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1. Calculate the following: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01BDE8B-56D3-45B1-8455-048350D8BBA0}"/>
              </a:ext>
            </a:extLst>
          </p:cNvPr>
          <p:cNvSpPr/>
          <p:nvPr/>
        </p:nvSpPr>
        <p:spPr>
          <a:xfrm>
            <a:off x="84346" y="7465350"/>
            <a:ext cx="1137954" cy="34045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Independent Practice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519A9C-18EE-22E6-698D-8D51E3C28A47}"/>
              </a:ext>
            </a:extLst>
          </p:cNvPr>
          <p:cNvSpPr/>
          <p:nvPr/>
        </p:nvSpPr>
        <p:spPr>
          <a:xfrm>
            <a:off x="0" y="5511"/>
            <a:ext cx="2914066" cy="25191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/>
              <a:t>Square roots</a:t>
            </a:r>
          </a:p>
        </p:txBody>
      </p:sp>
    </p:spTree>
    <p:extLst>
      <p:ext uri="{BB962C8B-B14F-4D97-AF65-F5344CB8AC3E}">
        <p14:creationId xmlns:p14="http://schemas.microsoft.com/office/powerpoint/2010/main" val="787172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F922D0C9-9AA7-2D38-5E94-BD4845DA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88652" y="9523560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smtClean="0"/>
              <a:t>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401B395-E786-4510-939E-78674AC6F052}"/>
                  </a:ext>
                </a:extLst>
              </p:cNvPr>
              <p:cNvSpPr txBox="1"/>
              <p:nvPr/>
            </p:nvSpPr>
            <p:spPr>
              <a:xfrm>
                <a:off x="354854" y="288892"/>
                <a:ext cx="692882" cy="295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k)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144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401B395-E786-4510-939E-78674AC6F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54" y="288892"/>
                <a:ext cx="692882" cy="295017"/>
              </a:xfrm>
              <a:prstGeom prst="rect">
                <a:avLst/>
              </a:prstGeom>
              <a:blipFill>
                <a:blip r:embed="rId2"/>
                <a:stretch>
                  <a:fillRect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ABCC4D5-881D-4D1F-AD2A-ADD4509E57FE}"/>
                  </a:ext>
                </a:extLst>
              </p:cNvPr>
              <p:cNvSpPr txBox="1"/>
              <p:nvPr/>
            </p:nvSpPr>
            <p:spPr>
              <a:xfrm>
                <a:off x="1968936" y="288892"/>
                <a:ext cx="657616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l)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169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ABCC4D5-881D-4D1F-AD2A-ADD4509E5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936" y="288892"/>
                <a:ext cx="657616" cy="294376"/>
              </a:xfrm>
              <a:prstGeom prst="rect">
                <a:avLst/>
              </a:prstGeom>
              <a:blipFill>
                <a:blip r:embed="rId3"/>
                <a:stretch>
                  <a:fillRect l="-926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C112FBA-617A-40CE-9610-A9A5AF206ACD}"/>
                  </a:ext>
                </a:extLst>
              </p:cNvPr>
              <p:cNvSpPr txBox="1"/>
              <p:nvPr/>
            </p:nvSpPr>
            <p:spPr>
              <a:xfrm>
                <a:off x="3518817" y="288892"/>
                <a:ext cx="745782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m)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196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C112FBA-617A-40CE-9610-A9A5AF206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817" y="288892"/>
                <a:ext cx="745782" cy="294376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F3E6907-AA52-4955-860F-1A8CF8A0BB18}"/>
                  </a:ext>
                </a:extLst>
              </p:cNvPr>
              <p:cNvSpPr txBox="1"/>
              <p:nvPr/>
            </p:nvSpPr>
            <p:spPr>
              <a:xfrm>
                <a:off x="5115206" y="288892"/>
                <a:ext cx="702500" cy="296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n)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225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F3E6907-AA52-4955-860F-1A8CF8A0B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5206" y="288892"/>
                <a:ext cx="702500" cy="296300"/>
              </a:xfrm>
              <a:prstGeom prst="rect">
                <a:avLst/>
              </a:prstGeom>
              <a:blipFill>
                <a:blip r:embed="rId5"/>
                <a:stretch>
                  <a:fillRect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angle 83">
            <a:extLst>
              <a:ext uri="{FF2B5EF4-FFF2-40B4-BE49-F238E27FC236}">
                <a16:creationId xmlns:a16="http://schemas.microsoft.com/office/drawing/2014/main" id="{861EFB54-1130-426B-AA11-0EDB6BCCE089}"/>
              </a:ext>
            </a:extLst>
          </p:cNvPr>
          <p:cNvSpPr/>
          <p:nvPr/>
        </p:nvSpPr>
        <p:spPr>
          <a:xfrm>
            <a:off x="441441" y="618224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7792E2A-7F23-4DC9-8FA6-0DD4D339BAF5}"/>
              </a:ext>
            </a:extLst>
          </p:cNvPr>
          <p:cNvSpPr/>
          <p:nvPr/>
        </p:nvSpPr>
        <p:spPr>
          <a:xfrm>
            <a:off x="2037456" y="618224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E6059CC-E853-4D2D-B6A2-D1B2360A024E}"/>
              </a:ext>
            </a:extLst>
          </p:cNvPr>
          <p:cNvSpPr/>
          <p:nvPr/>
        </p:nvSpPr>
        <p:spPr>
          <a:xfrm>
            <a:off x="3621423" y="618224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09713E4-C548-4313-9767-8358497EFCE3}"/>
              </a:ext>
            </a:extLst>
          </p:cNvPr>
          <p:cNvSpPr/>
          <p:nvPr/>
        </p:nvSpPr>
        <p:spPr>
          <a:xfrm>
            <a:off x="5247498" y="618224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310DCA3-4F6E-F13D-39AC-42702C6C8883}"/>
                  </a:ext>
                </a:extLst>
              </p:cNvPr>
              <p:cNvSpPr txBox="1"/>
              <p:nvPr/>
            </p:nvSpPr>
            <p:spPr>
              <a:xfrm>
                <a:off x="354854" y="1053897"/>
                <a:ext cx="704104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o)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310DCA3-4F6E-F13D-39AC-42702C6C8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54" y="1053897"/>
                <a:ext cx="704104" cy="294376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C5E357-0F4D-BBDE-F8A7-BD779D6185D1}"/>
                  </a:ext>
                </a:extLst>
              </p:cNvPr>
              <p:cNvSpPr txBox="1"/>
              <p:nvPr/>
            </p:nvSpPr>
            <p:spPr>
              <a:xfrm>
                <a:off x="1968936" y="1053897"/>
                <a:ext cx="656013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p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900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C5E357-0F4D-BBDE-F8A7-BD779D618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936" y="1053897"/>
                <a:ext cx="656013" cy="294376"/>
              </a:xfrm>
              <a:prstGeom prst="rect">
                <a:avLst/>
              </a:prstGeom>
              <a:blipFill>
                <a:blip r:embed="rId7"/>
                <a:stretch>
                  <a:fillRect l="-92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5A71EED-557B-AE42-7380-013FF35D2D08}"/>
                  </a:ext>
                </a:extLst>
              </p:cNvPr>
              <p:cNvSpPr txBox="1"/>
              <p:nvPr/>
            </p:nvSpPr>
            <p:spPr>
              <a:xfrm>
                <a:off x="3518817" y="1053897"/>
                <a:ext cx="787460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q)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6400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5A71EED-557B-AE42-7380-013FF35D2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817" y="1053897"/>
                <a:ext cx="787460" cy="294376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1275DAB-E575-03DA-2142-3C0850F4C899}"/>
                  </a:ext>
                </a:extLst>
              </p:cNvPr>
              <p:cNvSpPr txBox="1"/>
              <p:nvPr/>
            </p:nvSpPr>
            <p:spPr>
              <a:xfrm>
                <a:off x="5115206" y="1053897"/>
                <a:ext cx="760208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r)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4900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1275DAB-E575-03DA-2142-3C0850F4C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5206" y="1053897"/>
                <a:ext cx="760208" cy="294376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449CF9FA-C752-7752-EE7A-DFFA6F1DE94B}"/>
              </a:ext>
            </a:extLst>
          </p:cNvPr>
          <p:cNvSpPr/>
          <p:nvPr/>
        </p:nvSpPr>
        <p:spPr>
          <a:xfrm>
            <a:off x="441441" y="1383229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E182E0-EA1A-2EEC-FF3E-B78125F58B1C}"/>
              </a:ext>
            </a:extLst>
          </p:cNvPr>
          <p:cNvSpPr/>
          <p:nvPr/>
        </p:nvSpPr>
        <p:spPr>
          <a:xfrm>
            <a:off x="2037456" y="1383229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C6CDED-F86C-228E-10D6-5E87830AFFFD}"/>
              </a:ext>
            </a:extLst>
          </p:cNvPr>
          <p:cNvSpPr/>
          <p:nvPr/>
        </p:nvSpPr>
        <p:spPr>
          <a:xfrm>
            <a:off x="3621423" y="1383229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6358C18-A5BA-0CA5-539E-D5B5EBD6D6CE}"/>
              </a:ext>
            </a:extLst>
          </p:cNvPr>
          <p:cNvSpPr/>
          <p:nvPr/>
        </p:nvSpPr>
        <p:spPr>
          <a:xfrm>
            <a:off x="5247498" y="1383229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9FE1B132-7A82-C919-25BF-A1C394D090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7440896"/>
                  </p:ext>
                </p:extLst>
              </p:nvPr>
            </p:nvGraphicFramePr>
            <p:xfrm>
              <a:off x="142761" y="2252759"/>
              <a:ext cx="6572477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87639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594946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594946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594946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200" b="1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Calculate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GB" sz="12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Calculate</m:t>
                                </m:r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Calculate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77706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If the numbers are square rooted separately, square root the numbers first then carry out the rest of the calculation.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If the numbers are within one square root, carry out the calculation within the root first and then square root.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rad>
                                <m:r>
                                  <a:rPr lang="en-GB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 i="1" baseline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GB" sz="1200" b="0" i="1" baseline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GB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endParaRPr lang="en-GB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endParaRPr lang="en-GB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9+16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1" baseline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36</m:t>
                                    </m:r>
                                  </m:e>
                                </m:rad>
                                <m:r>
                                  <a:rPr lang="en-GB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 i="1" baseline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GB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endParaRPr lang="en-GB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endParaRPr lang="en-GB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endParaRPr lang="en-GB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36+64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1" baseline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baseline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25</m:t>
                                    </m:r>
                                  </m:e>
                                </m:rad>
                                <m:r>
                                  <a:rPr lang="en-GB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 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144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endParaRPr lang="en-GB" sz="1200" b="0" i="1" baseline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25+144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9FE1B132-7A82-C919-25BF-A1C394D090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7440896"/>
                  </p:ext>
                </p:extLst>
              </p:nvPr>
            </p:nvGraphicFramePr>
            <p:xfrm>
              <a:off x="142761" y="2252759"/>
              <a:ext cx="6572477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87639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594946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594946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594946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en-US" sz="1200" b="1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Calculate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212214" t="-2222" r="-100763" b="-78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>
                              <a:solidFill>
                                <a:schemeClr val="tx1"/>
                              </a:solidFill>
                            </a:rPr>
                            <a:t>Calculate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10312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If the numbers are square rooted separately, square root the numbers first then carry out the rest of the calculation.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If the numbers are within one square root, carry out the calculation within the root first and then square root.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12214" t="-13295" r="-200763" b="-2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212214" t="-13295" r="-100763" b="-2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12214" t="-13295" r="-763" b="-23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62C59B40-DB7D-97D6-4495-0FAD5519CE49}"/>
              </a:ext>
            </a:extLst>
          </p:cNvPr>
          <p:cNvSpPr txBox="1"/>
          <p:nvPr/>
        </p:nvSpPr>
        <p:spPr>
          <a:xfrm>
            <a:off x="2108113" y="197448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4 - I do…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03778C-C2D0-9AF4-D324-3516E2B42543}"/>
              </a:ext>
            </a:extLst>
          </p:cNvPr>
          <p:cNvSpPr txBox="1"/>
          <p:nvPr/>
        </p:nvSpPr>
        <p:spPr>
          <a:xfrm>
            <a:off x="5115206" y="200097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6 – You do…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74286E-9EF0-108C-6958-376B615C20A9}"/>
              </a:ext>
            </a:extLst>
          </p:cNvPr>
          <p:cNvSpPr txBox="1"/>
          <p:nvPr/>
        </p:nvSpPr>
        <p:spPr>
          <a:xfrm>
            <a:off x="3518817" y="198772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5 –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86401E5-518A-ED0B-1F4F-C081294430CE}"/>
                  </a:ext>
                </a:extLst>
              </p:cNvPr>
              <p:cNvSpPr txBox="1"/>
              <p:nvPr/>
            </p:nvSpPr>
            <p:spPr>
              <a:xfrm>
                <a:off x="322926" y="5302710"/>
                <a:ext cx="526170" cy="294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86401E5-518A-ED0B-1F4F-C08129443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26" y="5302710"/>
                <a:ext cx="526170" cy="294696"/>
              </a:xfrm>
              <a:prstGeom prst="rect">
                <a:avLst/>
              </a:prstGeom>
              <a:blipFill>
                <a:blip r:embed="rId11"/>
                <a:stretch>
                  <a:fillRect l="-116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E7BD8E1C-C665-D4AA-A341-AFDCD9CA1CC1}"/>
              </a:ext>
            </a:extLst>
          </p:cNvPr>
          <p:cNvSpPr/>
          <p:nvPr/>
        </p:nvSpPr>
        <p:spPr>
          <a:xfrm>
            <a:off x="394530" y="5577338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B15ECBD-1811-408E-9816-8EAB89F9F748}"/>
                  </a:ext>
                </a:extLst>
              </p:cNvPr>
              <p:cNvSpPr txBox="1"/>
              <p:nvPr/>
            </p:nvSpPr>
            <p:spPr>
              <a:xfrm>
                <a:off x="1937008" y="5302710"/>
                <a:ext cx="801310" cy="292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3+1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B15ECBD-1811-408E-9816-8EAB89F9F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008" y="5302710"/>
                <a:ext cx="801310" cy="292837"/>
              </a:xfrm>
              <a:prstGeom prst="rect">
                <a:avLst/>
              </a:prstGeom>
              <a:blipFill>
                <a:blip r:embed="rId12"/>
                <a:stretch>
                  <a:fillRect l="-76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ECD590E-D09E-3A9C-110E-FAA45BA9A4C2}"/>
                  </a:ext>
                </a:extLst>
              </p:cNvPr>
              <p:cNvSpPr txBox="1"/>
              <p:nvPr/>
            </p:nvSpPr>
            <p:spPr>
              <a:xfrm>
                <a:off x="3486889" y="5302710"/>
                <a:ext cx="887935" cy="295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a:rPr lang="en-GB" sz="1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ECD590E-D09E-3A9C-110E-FAA45BA9A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889" y="5302710"/>
                <a:ext cx="887935" cy="295017"/>
              </a:xfrm>
              <a:prstGeom prst="rect">
                <a:avLst/>
              </a:prstGeom>
              <a:blipFill>
                <a:blip r:embed="rId13"/>
                <a:stretch>
                  <a:fillRect l="-685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F09FD0D-0ADF-78AE-C3C4-B40C5CA20407}"/>
                  </a:ext>
                </a:extLst>
              </p:cNvPr>
              <p:cNvSpPr txBox="1"/>
              <p:nvPr/>
            </p:nvSpPr>
            <p:spPr>
              <a:xfrm>
                <a:off x="5083278" y="5302710"/>
                <a:ext cx="617541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64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F09FD0D-0ADF-78AE-C3C4-B40C5CA20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8" y="5302710"/>
                <a:ext cx="617541" cy="294376"/>
              </a:xfrm>
              <a:prstGeom prst="rect">
                <a:avLst/>
              </a:prstGeom>
              <a:blipFill>
                <a:blip r:embed="rId14"/>
                <a:stretch>
                  <a:fillRect l="-99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68E15BE-9EC7-ECD1-28CC-89B1590F6090}"/>
                  </a:ext>
                </a:extLst>
              </p:cNvPr>
              <p:cNvSpPr txBox="1"/>
              <p:nvPr/>
            </p:nvSpPr>
            <p:spPr>
              <a:xfrm>
                <a:off x="322926" y="6259061"/>
                <a:ext cx="968022" cy="292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e)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32+32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68E15BE-9EC7-ECD1-28CC-89B1590F6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26" y="6259061"/>
                <a:ext cx="968022" cy="292837"/>
              </a:xfrm>
              <a:prstGeom prst="rect">
                <a:avLst/>
              </a:prstGeom>
              <a:blipFill>
                <a:blip r:embed="rId15"/>
                <a:stretch>
                  <a:fillRect l="-62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64E5BFD-8BFC-2C04-1C44-DB7E124BE0E5}"/>
                  </a:ext>
                </a:extLst>
              </p:cNvPr>
              <p:cNvSpPr txBox="1"/>
              <p:nvPr/>
            </p:nvSpPr>
            <p:spPr>
              <a:xfrm>
                <a:off x="1937008" y="6259061"/>
                <a:ext cx="1040862" cy="296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f)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a:rPr lang="en-GB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64E5BFD-8BFC-2C04-1C44-DB7E124BE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008" y="6259061"/>
                <a:ext cx="1040862" cy="296300"/>
              </a:xfrm>
              <a:prstGeom prst="rect">
                <a:avLst/>
              </a:prstGeom>
              <a:blipFill>
                <a:blip r:embed="rId16"/>
                <a:stretch>
                  <a:fillRect l="-588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88637C6-2072-364B-BB8A-44E65301C411}"/>
                  </a:ext>
                </a:extLst>
              </p:cNvPr>
              <p:cNvSpPr txBox="1"/>
              <p:nvPr/>
            </p:nvSpPr>
            <p:spPr>
              <a:xfrm>
                <a:off x="3486889" y="6259061"/>
                <a:ext cx="1048172" cy="295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g)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121−21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88637C6-2072-364B-BB8A-44E65301C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889" y="6259061"/>
                <a:ext cx="1048172" cy="295017"/>
              </a:xfrm>
              <a:prstGeom prst="rect">
                <a:avLst/>
              </a:prstGeom>
              <a:blipFill>
                <a:blip r:embed="rId17"/>
                <a:stretch>
                  <a:fillRect l="-581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C90B15B-92D2-B299-4778-A7281F9A28B2}"/>
                  </a:ext>
                </a:extLst>
              </p:cNvPr>
              <p:cNvSpPr txBox="1"/>
              <p:nvPr/>
            </p:nvSpPr>
            <p:spPr>
              <a:xfrm>
                <a:off x="5083278" y="6259061"/>
                <a:ext cx="971228" cy="292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h)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64+36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C90B15B-92D2-B299-4778-A7281F9A2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8" y="6259061"/>
                <a:ext cx="971228" cy="292837"/>
              </a:xfrm>
              <a:prstGeom prst="rect">
                <a:avLst/>
              </a:prstGeom>
              <a:blipFill>
                <a:blip r:embed="rId18"/>
                <a:stretch>
                  <a:fillRect l="-62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E178488-9DE5-8E76-803D-70D3B17691F3}"/>
                  </a:ext>
                </a:extLst>
              </p:cNvPr>
              <p:cNvSpPr txBox="1"/>
              <p:nvPr/>
            </p:nvSpPr>
            <p:spPr>
              <a:xfrm>
                <a:off x="322926" y="7250441"/>
                <a:ext cx="806118" cy="292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i)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13+3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E178488-9DE5-8E76-803D-70D3B1769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26" y="7250441"/>
                <a:ext cx="806118" cy="292837"/>
              </a:xfrm>
              <a:prstGeom prst="rect">
                <a:avLst/>
              </a:prstGeom>
              <a:blipFill>
                <a:blip r:embed="rId19"/>
                <a:stretch>
                  <a:fillRect l="-75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C3C47C-B101-E59B-BE0F-316BF641941C}"/>
                  </a:ext>
                </a:extLst>
              </p:cNvPr>
              <p:cNvSpPr txBox="1"/>
              <p:nvPr/>
            </p:nvSpPr>
            <p:spPr>
              <a:xfrm>
                <a:off x="1937008" y="7250441"/>
                <a:ext cx="753220" cy="296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j)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5×5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C3C47C-B101-E59B-BE0F-316BF6419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008" y="7250441"/>
                <a:ext cx="753220" cy="296300"/>
              </a:xfrm>
              <a:prstGeom prst="rect">
                <a:avLst/>
              </a:prstGeom>
              <a:blipFill>
                <a:blip r:embed="rId20"/>
                <a:stretch>
                  <a:fillRect l="-813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C8BBD70-3CF7-3623-1ACE-726F2084F2BA}"/>
                  </a:ext>
                </a:extLst>
              </p:cNvPr>
              <p:cNvSpPr txBox="1"/>
              <p:nvPr/>
            </p:nvSpPr>
            <p:spPr>
              <a:xfrm>
                <a:off x="3486889" y="7250441"/>
                <a:ext cx="876650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k)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40−4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C8BBD70-3CF7-3623-1ACE-726F2084F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889" y="7250441"/>
                <a:ext cx="876650" cy="294376"/>
              </a:xfrm>
              <a:prstGeom prst="rect">
                <a:avLst/>
              </a:prstGeom>
              <a:blipFill>
                <a:blip r:embed="rId21"/>
                <a:stretch>
                  <a:fillRect l="-694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253E3FF-EDED-F589-24D4-D76EF5A4B805}"/>
                  </a:ext>
                </a:extLst>
              </p:cNvPr>
              <p:cNvSpPr txBox="1"/>
              <p:nvPr/>
            </p:nvSpPr>
            <p:spPr>
              <a:xfrm>
                <a:off x="5083278" y="7250441"/>
                <a:ext cx="657616" cy="296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l)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225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253E3FF-EDED-F589-24D4-D76EF5A4B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8" y="7250441"/>
                <a:ext cx="657616" cy="296300"/>
              </a:xfrm>
              <a:prstGeom prst="rect">
                <a:avLst/>
              </a:prstGeom>
              <a:blipFill>
                <a:blip r:embed="rId22"/>
                <a:stretch>
                  <a:fillRect l="-926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Rectangle 85">
            <a:extLst>
              <a:ext uri="{FF2B5EF4-FFF2-40B4-BE49-F238E27FC236}">
                <a16:creationId xmlns:a16="http://schemas.microsoft.com/office/drawing/2014/main" id="{13466685-05C0-140A-FDE2-021F44E5681F}"/>
              </a:ext>
            </a:extLst>
          </p:cNvPr>
          <p:cNvSpPr/>
          <p:nvPr/>
        </p:nvSpPr>
        <p:spPr>
          <a:xfrm>
            <a:off x="394530" y="6549845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81E7786-592C-16C4-1C03-D061C8529716}"/>
              </a:ext>
            </a:extLst>
          </p:cNvPr>
          <p:cNvSpPr/>
          <p:nvPr/>
        </p:nvSpPr>
        <p:spPr>
          <a:xfrm>
            <a:off x="409513" y="7579773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22F511C-6F40-16DF-1FA7-5CA2DA15BEEE}"/>
              </a:ext>
            </a:extLst>
          </p:cNvPr>
          <p:cNvSpPr/>
          <p:nvPr/>
        </p:nvSpPr>
        <p:spPr>
          <a:xfrm>
            <a:off x="1990545" y="5577338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9590E8D-C951-25A4-BF2D-B231FB247682}"/>
              </a:ext>
            </a:extLst>
          </p:cNvPr>
          <p:cNvSpPr/>
          <p:nvPr/>
        </p:nvSpPr>
        <p:spPr>
          <a:xfrm>
            <a:off x="1990545" y="6549845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D31DF39-0A87-765B-440B-732DBFB5489A}"/>
              </a:ext>
            </a:extLst>
          </p:cNvPr>
          <p:cNvSpPr/>
          <p:nvPr/>
        </p:nvSpPr>
        <p:spPr>
          <a:xfrm>
            <a:off x="2005528" y="7579773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1E56DE8-B1C4-1B7E-3282-813A48248D1C}"/>
              </a:ext>
            </a:extLst>
          </p:cNvPr>
          <p:cNvSpPr/>
          <p:nvPr/>
        </p:nvSpPr>
        <p:spPr>
          <a:xfrm>
            <a:off x="3574512" y="5577338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76417CA-467E-28A1-758A-47DE6EDAB272}"/>
              </a:ext>
            </a:extLst>
          </p:cNvPr>
          <p:cNvSpPr/>
          <p:nvPr/>
        </p:nvSpPr>
        <p:spPr>
          <a:xfrm>
            <a:off x="3574512" y="6549845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F2301E8-335C-941B-A2F2-D1764714D3BD}"/>
              </a:ext>
            </a:extLst>
          </p:cNvPr>
          <p:cNvSpPr/>
          <p:nvPr/>
        </p:nvSpPr>
        <p:spPr>
          <a:xfrm>
            <a:off x="3589495" y="7579773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D4CDC78-4FBC-60BB-A222-10761DDF8D55}"/>
              </a:ext>
            </a:extLst>
          </p:cNvPr>
          <p:cNvSpPr/>
          <p:nvPr/>
        </p:nvSpPr>
        <p:spPr>
          <a:xfrm>
            <a:off x="5200587" y="5577338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17C9099-7076-C075-370A-8A9C8C92B3FF}"/>
              </a:ext>
            </a:extLst>
          </p:cNvPr>
          <p:cNvSpPr/>
          <p:nvPr/>
        </p:nvSpPr>
        <p:spPr>
          <a:xfrm>
            <a:off x="5200587" y="6549845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4AB633D-B1F6-DEF3-CEDC-9AEC3BEB3409}"/>
              </a:ext>
            </a:extLst>
          </p:cNvPr>
          <p:cNvSpPr/>
          <p:nvPr/>
        </p:nvSpPr>
        <p:spPr>
          <a:xfrm>
            <a:off x="5215570" y="7579773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1FF2D10-E48C-FF6A-8532-0E2E2A33792D}"/>
                  </a:ext>
                </a:extLst>
              </p:cNvPr>
              <p:cNvSpPr txBox="1"/>
              <p:nvPr/>
            </p:nvSpPr>
            <p:spPr>
              <a:xfrm>
                <a:off x="331122" y="8263892"/>
                <a:ext cx="945643" cy="295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m)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rad>
                    <m:r>
                      <a:rPr lang="en-GB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1FF2D10-E48C-FF6A-8532-0E2E2A337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22" y="8263892"/>
                <a:ext cx="945643" cy="295017"/>
              </a:xfrm>
              <a:prstGeom prst="rect">
                <a:avLst/>
              </a:prstGeom>
              <a:blipFill>
                <a:blip r:embed="rId23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420AD8E-9DE5-F353-431E-88C9F4CFFD42}"/>
                  </a:ext>
                </a:extLst>
              </p:cNvPr>
              <p:cNvSpPr txBox="1"/>
              <p:nvPr/>
            </p:nvSpPr>
            <p:spPr>
              <a:xfrm>
                <a:off x="1945204" y="8263892"/>
                <a:ext cx="801310" cy="2947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n)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5+4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420AD8E-9DE5-F353-431E-88C9F4CFF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204" y="8263892"/>
                <a:ext cx="801310" cy="294761"/>
              </a:xfrm>
              <a:prstGeom prst="rect">
                <a:avLst/>
              </a:prstGeom>
              <a:blipFill>
                <a:blip r:embed="rId2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D1FA419-32D4-A957-59A8-0DB5CC900DDD}"/>
                  </a:ext>
                </a:extLst>
              </p:cNvPr>
              <p:cNvSpPr txBox="1"/>
              <p:nvPr/>
            </p:nvSpPr>
            <p:spPr>
              <a:xfrm>
                <a:off x="3495085" y="8263892"/>
                <a:ext cx="1156599" cy="292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o)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10+1−2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D1FA419-32D4-A957-59A8-0DB5CC900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085" y="8263892"/>
                <a:ext cx="1156599" cy="292837"/>
              </a:xfrm>
              <a:prstGeom prst="rect">
                <a:avLst/>
              </a:prstGeom>
              <a:blipFill>
                <a:blip r:embed="rId2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07EBD87-CB20-3760-D936-D9C0059A2716}"/>
                  </a:ext>
                </a:extLst>
              </p:cNvPr>
              <p:cNvSpPr txBox="1"/>
              <p:nvPr/>
            </p:nvSpPr>
            <p:spPr>
              <a:xfrm>
                <a:off x="5091474" y="8263892"/>
                <a:ext cx="1357103" cy="295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p)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a:rPr lang="en-GB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a:rPr lang="en-GB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endParaRPr lang="en-GB" sz="120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07EBD87-CB20-3760-D936-D9C0059A2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474" y="8263892"/>
                <a:ext cx="1357103" cy="295017"/>
              </a:xfrm>
              <a:prstGeom prst="rect">
                <a:avLst/>
              </a:prstGeom>
              <a:blipFill>
                <a:blip r:embed="rId26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Rectangle 103">
            <a:extLst>
              <a:ext uri="{FF2B5EF4-FFF2-40B4-BE49-F238E27FC236}">
                <a16:creationId xmlns:a16="http://schemas.microsoft.com/office/drawing/2014/main" id="{ADA4B187-2BBC-BF49-67AE-8C1F123D89B4}"/>
              </a:ext>
            </a:extLst>
          </p:cNvPr>
          <p:cNvSpPr/>
          <p:nvPr/>
        </p:nvSpPr>
        <p:spPr>
          <a:xfrm>
            <a:off x="417709" y="8593224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C4EE0B3-1648-73C4-DA4E-068DAA0A8B0D}"/>
              </a:ext>
            </a:extLst>
          </p:cNvPr>
          <p:cNvSpPr/>
          <p:nvPr/>
        </p:nvSpPr>
        <p:spPr>
          <a:xfrm>
            <a:off x="2013724" y="8593224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0F8DD4F-DE8D-F598-C401-9E6172641603}"/>
              </a:ext>
            </a:extLst>
          </p:cNvPr>
          <p:cNvSpPr/>
          <p:nvPr/>
        </p:nvSpPr>
        <p:spPr>
          <a:xfrm>
            <a:off x="3597691" y="8593224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634E4A2-7310-ABAF-2AFA-98AC500CFFFD}"/>
              </a:ext>
            </a:extLst>
          </p:cNvPr>
          <p:cNvSpPr/>
          <p:nvPr/>
        </p:nvSpPr>
        <p:spPr>
          <a:xfrm>
            <a:off x="5223766" y="8593224"/>
            <a:ext cx="1277244" cy="4026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3D3B1EB-3F03-F4AA-58C7-2593DB88B900}"/>
              </a:ext>
            </a:extLst>
          </p:cNvPr>
          <p:cNvSpPr/>
          <p:nvPr/>
        </p:nvSpPr>
        <p:spPr>
          <a:xfrm>
            <a:off x="142761" y="4725004"/>
            <a:ext cx="1137954" cy="34045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Independent Practice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76A7386-ADA6-F208-CBC2-0544EAFDE2EC}"/>
              </a:ext>
            </a:extLst>
          </p:cNvPr>
          <p:cNvSpPr txBox="1"/>
          <p:nvPr/>
        </p:nvSpPr>
        <p:spPr>
          <a:xfrm>
            <a:off x="1295612" y="4850275"/>
            <a:ext cx="4651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2. Calculate the following:</a:t>
            </a:r>
          </a:p>
        </p:txBody>
      </p:sp>
    </p:spTree>
    <p:extLst>
      <p:ext uri="{BB962C8B-B14F-4D97-AF65-F5344CB8AC3E}">
        <p14:creationId xmlns:p14="http://schemas.microsoft.com/office/powerpoint/2010/main" val="2486596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B27CCF-69BA-BD45-B702-F34D04123233}"/>
              </a:ext>
            </a:extLst>
          </p:cNvPr>
          <p:cNvSpPr/>
          <p:nvPr/>
        </p:nvSpPr>
        <p:spPr>
          <a:xfrm>
            <a:off x="110122" y="335757"/>
            <a:ext cx="6647773" cy="11487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849564-CD98-C848-B929-E74AD7DA8ED7}"/>
              </a:ext>
            </a:extLst>
          </p:cNvPr>
          <p:cNvSpPr/>
          <p:nvPr/>
        </p:nvSpPr>
        <p:spPr>
          <a:xfrm>
            <a:off x="-3557" y="5813"/>
            <a:ext cx="685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Subtopic 7a - Positive Indices and Laws of Indices</a:t>
            </a:r>
            <a:endParaRPr lang="en-GB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1C0BBC-CD68-284C-9A09-42259A63C2EF}"/>
              </a:ext>
            </a:extLst>
          </p:cNvPr>
          <p:cNvSpPr txBox="1"/>
          <p:nvPr/>
        </p:nvSpPr>
        <p:spPr>
          <a:xfrm>
            <a:off x="401138" y="464725"/>
            <a:ext cx="1149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/>
              <a:t>Objectives: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B393BD-73A8-3C40-8580-71BE70CA9939}"/>
              </a:ext>
            </a:extLst>
          </p:cNvPr>
          <p:cNvSpPr txBox="1"/>
          <p:nvPr/>
        </p:nvSpPr>
        <p:spPr>
          <a:xfrm>
            <a:off x="698925" y="653503"/>
            <a:ext cx="4710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GB" sz="1200">
                <a:solidFill>
                  <a:prstClr val="black"/>
                </a:solidFill>
              </a:rPr>
              <a:t>Write a number as a power of another number.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/>
              <a:t>Understand what the different laws of Indices are.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200"/>
              <a:t>How to multiply and divide indices</a:t>
            </a:r>
            <a:endParaRPr lang="en-GB" sz="1200"/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/>
              <a:t>Look at problem solving questions.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4C4486-DC7D-1149-B377-5199FED4A648}"/>
              </a:ext>
            </a:extLst>
          </p:cNvPr>
          <p:cNvSpPr txBox="1"/>
          <p:nvPr/>
        </p:nvSpPr>
        <p:spPr>
          <a:xfrm>
            <a:off x="1323288" y="380540"/>
            <a:ext cx="4204309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/>
              <a:t>LEARNING OUTCOME: Understand the laws of indices</a:t>
            </a:r>
            <a:endParaRPr lang="en-GB" sz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399348-2F42-8F4A-A0DE-DA36488C36AC}"/>
              </a:ext>
            </a:extLst>
          </p:cNvPr>
          <p:cNvSpPr txBox="1"/>
          <p:nvPr/>
        </p:nvSpPr>
        <p:spPr>
          <a:xfrm>
            <a:off x="5589884" y="417285"/>
            <a:ext cx="1121367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u="sng"/>
              <a:t>Keywords:</a:t>
            </a:r>
            <a:endParaRPr lang="en-US" sz="900"/>
          </a:p>
          <a:p>
            <a:pPr marL="285750" indent="-285750">
              <a:buFont typeface=".AppleSystemUIFont" charset="-120"/>
              <a:buChar char="-"/>
            </a:pPr>
            <a:r>
              <a:rPr lang="en-US" sz="900"/>
              <a:t>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900"/>
              <a:t>Indices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900"/>
              <a:t>Exponents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900"/>
              <a:t>Expressions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900"/>
              <a:t>Variables</a:t>
            </a:r>
          </a:p>
        </p:txBody>
      </p:sp>
      <p:graphicFrame>
        <p:nvGraphicFramePr>
          <p:cNvPr id="106" name="Table 105">
            <a:extLst>
              <a:ext uri="{FF2B5EF4-FFF2-40B4-BE49-F238E27FC236}">
                <a16:creationId xmlns:a16="http://schemas.microsoft.com/office/drawing/2014/main" id="{F0B82048-9C63-974A-9D55-D79A2D36B71C}"/>
              </a:ext>
            </a:extLst>
          </p:cNvPr>
          <p:cNvGraphicFramePr>
            <a:graphicFrameLocks noGrp="1"/>
          </p:cNvGraphicFramePr>
          <p:nvPr/>
        </p:nvGraphicFramePr>
        <p:xfrm>
          <a:off x="1163785" y="2336008"/>
          <a:ext cx="4530430" cy="754380"/>
        </p:xfrm>
        <a:graphic>
          <a:graphicData uri="http://schemas.openxmlformats.org/drawingml/2006/table">
            <a:tbl>
              <a:tblPr/>
              <a:tblGrid>
                <a:gridCol w="2265215">
                  <a:extLst>
                    <a:ext uri="{9D8B030D-6E8A-4147-A177-3AD203B41FA5}">
                      <a16:colId xmlns:a16="http://schemas.microsoft.com/office/drawing/2014/main" val="3334771856"/>
                    </a:ext>
                  </a:extLst>
                </a:gridCol>
                <a:gridCol w="2265215">
                  <a:extLst>
                    <a:ext uri="{9D8B030D-6E8A-4147-A177-3AD203B41FA5}">
                      <a16:colId xmlns:a16="http://schemas.microsoft.com/office/drawing/2014/main" val="1719544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r>
                        <a:rPr lang="en-GB" sz="1050" baseline="3000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 = 4 × 4 × 4 × 4 × 4 × 4</a:t>
                      </a:r>
                    </a:p>
                  </a:txBody>
                  <a:tcPr marL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six lots of 4 multiplied together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8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en-GB" sz="1050" baseline="3000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 = 6 × 6 × 6 × 6</a:t>
                      </a:r>
                    </a:p>
                  </a:txBody>
                  <a:tcPr marL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four lots of 6 multiplied together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90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r>
                        <a:rPr lang="en-GB" sz="1050" baseline="3000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 = 7 × 7 × 7</a:t>
                      </a:r>
                    </a:p>
                  </a:txBody>
                  <a:tcPr marL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5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133532"/>
                  </a:ext>
                </a:extLst>
              </a:tr>
            </a:tbl>
          </a:graphicData>
        </a:graphic>
      </p:graphicFrame>
      <p:sp>
        <p:nvSpPr>
          <p:cNvPr id="108" name="TextBox 107">
            <a:extLst>
              <a:ext uri="{FF2B5EF4-FFF2-40B4-BE49-F238E27FC236}">
                <a16:creationId xmlns:a16="http://schemas.microsoft.com/office/drawing/2014/main" id="{AFBB0031-F803-BF40-8842-4F697FB321D4}"/>
              </a:ext>
            </a:extLst>
          </p:cNvPr>
          <p:cNvSpPr txBox="1"/>
          <p:nvPr/>
        </p:nvSpPr>
        <p:spPr>
          <a:xfrm>
            <a:off x="764350" y="3054339"/>
            <a:ext cx="58590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You can write a million as 1 000 000 = 10</a:t>
            </a:r>
            <a:r>
              <a:rPr kumimoji="0" lang="en-US" altLang="en-US" sz="1100" b="0" i="0" u="none" strike="noStrike" kern="1200" cap="none" spc="0" normalizeH="0" baseline="30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6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number multiplied by itself is the number ‘squared’. You need to know the square numbers (power 2) up to 15</a:t>
            </a:r>
            <a:r>
              <a:rPr kumimoji="0" lang="en-US" altLang="en-US" sz="1100" b="0" i="0" u="none" strike="noStrike" kern="1200" cap="none" spc="0" normalizeH="0" baseline="30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 = 225. How many of them can you write down from memory? You will also find it helpful to know the cubes</a:t>
            </a:r>
            <a:r>
              <a:rPr kumimoji="0" lang="en-US" altLang="en-US" sz="1100" b="0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numbers (power 3)</a:t>
            </a:r>
            <a:r>
              <a:rPr kumimoji="0" lang="en-US" altLang="en-US" sz="1100" b="0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up to 6</a:t>
            </a:r>
            <a:r>
              <a:rPr kumimoji="0" lang="en-US" altLang="en-US" sz="1100" b="0" i="0" u="none" strike="noStrike" kern="1200" cap="none" spc="0" normalizeH="0" baseline="30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 </a:t>
            </a:r>
            <a:r>
              <a:rPr kumimoji="0" lang="en-US" altLang="en-US" sz="1100" b="0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= 216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80A693D5-6258-D74B-84C5-A236BB50860A}"/>
              </a:ext>
            </a:extLst>
          </p:cNvPr>
          <p:cNvSpPr txBox="1"/>
          <p:nvPr/>
        </p:nvSpPr>
        <p:spPr>
          <a:xfrm>
            <a:off x="2003674" y="4023437"/>
            <a:ext cx="1212191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1 - I do…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492ABF69-E136-E845-9F1A-FA4ABBE4CC08}"/>
              </a:ext>
            </a:extLst>
          </p:cNvPr>
          <p:cNvSpPr txBox="1"/>
          <p:nvPr/>
        </p:nvSpPr>
        <p:spPr>
          <a:xfrm>
            <a:off x="3503555" y="4037693"/>
            <a:ext cx="1372492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FF860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2 - We do…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492ABF69-E136-E845-9F1A-FA4ABBE4CC08}"/>
              </a:ext>
            </a:extLst>
          </p:cNvPr>
          <p:cNvSpPr txBox="1"/>
          <p:nvPr/>
        </p:nvSpPr>
        <p:spPr>
          <a:xfrm>
            <a:off x="5172875" y="4023437"/>
            <a:ext cx="13965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3 - </a:t>
            </a:r>
            <a:r>
              <a:rPr lang="en-GB" sz="1100" b="1" i="1">
                <a:solidFill>
                  <a:srgbClr val="00B050"/>
                </a:solidFill>
                <a:latin typeface="Calibri" panose="020F0502020204030204"/>
              </a:rPr>
              <a:t>You</a:t>
            </a: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do…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E7EDCC2-ABAA-434F-8C0E-6C3A1F76BAE7}"/>
              </a:ext>
            </a:extLst>
          </p:cNvPr>
          <p:cNvCxnSpPr/>
          <p:nvPr/>
        </p:nvCxnSpPr>
        <p:spPr>
          <a:xfrm flipV="1">
            <a:off x="946522" y="3519083"/>
            <a:ext cx="5541513" cy="2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67316" y="1566029"/>
            <a:ext cx="6728829" cy="24592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Straight Connector 65"/>
          <p:cNvCxnSpPr>
            <a:stCxn id="65" idx="1"/>
            <a:endCxn id="65" idx="3"/>
          </p:cNvCxnSpPr>
          <p:nvPr/>
        </p:nvCxnSpPr>
        <p:spPr>
          <a:xfrm>
            <a:off x="62231" y="2818130"/>
            <a:ext cx="67288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65" idx="2"/>
            <a:endCxn id="65" idx="0"/>
          </p:cNvCxnSpPr>
          <p:nvPr/>
        </p:nvCxnSpPr>
        <p:spPr>
          <a:xfrm flipV="1">
            <a:off x="3426646" y="1588488"/>
            <a:ext cx="0" cy="24592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9596" y="1588487"/>
            <a:ext cx="800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Definition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87141" y="1587841"/>
            <a:ext cx="1096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Characteristics</a:t>
            </a:r>
            <a:endParaRPr lang="en-GB" sz="1200"/>
          </a:p>
        </p:txBody>
      </p:sp>
      <p:sp>
        <p:nvSpPr>
          <p:cNvPr id="70" name="TextBox 69"/>
          <p:cNvSpPr txBox="1"/>
          <p:nvPr/>
        </p:nvSpPr>
        <p:spPr>
          <a:xfrm>
            <a:off x="13628" y="2775974"/>
            <a:ext cx="775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Examples</a:t>
            </a:r>
            <a:endParaRPr lang="en-GB" sz="1200"/>
          </a:p>
        </p:txBody>
      </p:sp>
      <p:sp>
        <p:nvSpPr>
          <p:cNvPr id="71" name="TextBox 70"/>
          <p:cNvSpPr txBox="1"/>
          <p:nvPr/>
        </p:nvSpPr>
        <p:spPr>
          <a:xfrm>
            <a:off x="5718005" y="2764159"/>
            <a:ext cx="1153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Non - Examples</a:t>
            </a:r>
            <a:endParaRPr lang="en-GB" sz="1200"/>
          </a:p>
        </p:txBody>
      </p:sp>
      <p:sp>
        <p:nvSpPr>
          <p:cNvPr id="72" name="TextBox 71"/>
          <p:cNvSpPr txBox="1"/>
          <p:nvPr/>
        </p:nvSpPr>
        <p:spPr>
          <a:xfrm>
            <a:off x="2829066" y="2680042"/>
            <a:ext cx="12098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Index Laws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87938" y="3135179"/>
                <a:ext cx="3389604" cy="555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000"/>
                  <a:t> The powers are added under multiplication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÷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000" b="0"/>
                  <a:t> The powers are subtracted under division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000"/>
                  <a:t> The powers are multiplied under power rules</a:t>
                </a: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8" y="3135179"/>
                <a:ext cx="3389604" cy="555665"/>
              </a:xfrm>
              <a:prstGeom prst="rect">
                <a:avLst/>
              </a:prstGeom>
              <a:blipFill>
                <a:blip r:embed="rId2"/>
                <a:stretch>
                  <a:fillRect b="-6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3552731" y="3009146"/>
                <a:ext cx="3097490" cy="1017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000" b="0"/>
                  <a:t> This is a non-example as the powers have been multiplied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÷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000"/>
                  <a:t> This is a non-example as the powers have been divided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000"/>
                  <a:t> This is a non-example as the powers have been powered</a:t>
                </a: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731" y="3009146"/>
                <a:ext cx="3097490" cy="1017330"/>
              </a:xfrm>
              <a:prstGeom prst="rect">
                <a:avLst/>
              </a:prstGeom>
              <a:blipFill>
                <a:blip r:embed="rId3"/>
                <a:stretch>
                  <a:fillRect b="-2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31083" y="1857940"/>
            <a:ext cx="3055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Index laws are the rules that we must follow when simplifying algebraic or numerical terms involved indices </a:t>
            </a:r>
            <a:endParaRPr lang="en-GB" sz="1200"/>
          </a:p>
        </p:txBody>
      </p:sp>
      <p:sp>
        <p:nvSpPr>
          <p:cNvPr id="77" name="TextBox 76"/>
          <p:cNvSpPr txBox="1"/>
          <p:nvPr/>
        </p:nvSpPr>
        <p:spPr>
          <a:xfrm>
            <a:off x="3477541" y="1761153"/>
            <a:ext cx="323370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These can involve negatives addition and subtraction rules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Every different style of number, e.g. integer, fraction, negative, performs a different action</a:t>
            </a:r>
            <a:endParaRPr lang="en-GB" sz="12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8" name="Table 77"/>
              <p:cNvGraphicFramePr>
                <a:graphicFrameLocks noGrp="1"/>
              </p:cNvGraphicFramePr>
              <p:nvPr/>
            </p:nvGraphicFramePr>
            <p:xfrm>
              <a:off x="85535" y="4278167"/>
              <a:ext cx="6597056" cy="1859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7022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84020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66750">
                      <a:extLst>
                        <a:ext uri="{9D8B030D-6E8A-4147-A177-3AD203B41FA5}">
                          <a16:colId xmlns:a16="http://schemas.microsoft.com/office/drawing/2014/main" val="125684145"/>
                        </a:ext>
                      </a:extLst>
                    </a:gridCol>
                    <a:gridCol w="1649264">
                      <a:extLst>
                        <a:ext uri="{9D8B030D-6E8A-4147-A177-3AD203B41FA5}">
                          <a16:colId xmlns:a16="http://schemas.microsoft.com/office/drawing/2014/main" val="3300851661"/>
                        </a:ext>
                      </a:extLst>
                    </a:gridCol>
                  </a:tblGrid>
                  <a:tr h="182597">
                    <a:tc>
                      <a:txBody>
                        <a:bodyPr/>
                        <a:lstStyle/>
                        <a:p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Express </a:t>
                          </a:r>
                          <a:r>
                            <a:rPr lang="en-GB" sz="1100">
                              <a:solidFill>
                                <a:schemeClr val="tx1"/>
                              </a:solidFill>
                            </a:rPr>
                            <a:t>in index notation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Express </a:t>
                          </a:r>
                          <a:r>
                            <a:rPr lang="en-GB" sz="1100">
                              <a:solidFill>
                                <a:schemeClr val="tx1"/>
                              </a:solidFill>
                            </a:rPr>
                            <a:t>in index</a:t>
                          </a:r>
                          <a:r>
                            <a:rPr lang="en-GB" sz="1100" baseline="0">
                              <a:solidFill>
                                <a:schemeClr val="tx1"/>
                              </a:solidFill>
                            </a:rPr>
                            <a:t> notation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>
                              <a:solidFill>
                                <a:schemeClr val="tx1"/>
                              </a:solidFill>
                            </a:rPr>
                            <a:t>Express </a:t>
                          </a:r>
                          <a:r>
                            <a:rPr lang="en-US" sz="1000" baseline="0">
                              <a:solidFill>
                                <a:schemeClr val="tx1"/>
                              </a:solidFill>
                            </a:rPr>
                            <a:t>in index notation </a:t>
                          </a:r>
                          <a:endParaRPr lang="en-GB" sz="1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94082"/>
                      </a:ext>
                    </a:extLst>
                  </a:tr>
                  <a:tr h="77434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1)</a:t>
                          </a:r>
                          <a:r>
                            <a:rPr lang="en-US" sz="1100" baseline="0">
                              <a:solidFill>
                                <a:schemeClr val="tx1"/>
                              </a:solidFill>
                            </a:rPr>
                            <a:t> Count how many of the same base (number or letter) there are.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2×2×2</m:t>
                              </m:r>
                            </m:oMath>
                          </a14:m>
                          <a:r>
                            <a:rPr lang="en-GB" sz="1100" b="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  <a:p>
                          <a:endParaRPr lang="en-GB" sz="1100" b="0" i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2×2×2×</m:t>
                                </m:r>
                                <m:r>
                                  <a:rPr lang="en-GB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sz="1100" b="0" i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3×3×3×</m:t>
                                </m:r>
                                <m:r>
                                  <a:rPr lang="en-GB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3×3×3×4×4</m:t>
                                </m:r>
                              </m:oMath>
                            </m:oMathPara>
                          </a14:m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×9×</m:t>
                                </m:r>
                                <m:r>
                                  <a:rPr lang="en-GB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5×5×9×9</m:t>
                                </m:r>
                              </m:oMath>
                            </m:oMathPara>
                          </a14:m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  <a:tr h="46250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1100" dirty="0">
                              <a:solidFill>
                                <a:schemeClr val="tx1"/>
                              </a:solidFill>
                            </a:rPr>
                            <a:t>2) Write the total amounts</a:t>
                          </a:r>
                          <a:r>
                            <a:rPr lang="en-US" sz="1100" baseline="0" dirty="0">
                              <a:solidFill>
                                <a:schemeClr val="tx1"/>
                              </a:solidFill>
                            </a:rPr>
                            <a:t> of each number or letter as an index of each value.</a:t>
                          </a:r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64499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8" name="Table 7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2481492"/>
                  </p:ext>
                </p:extLst>
              </p:nvPr>
            </p:nvGraphicFramePr>
            <p:xfrm>
              <a:off x="85535" y="4278167"/>
              <a:ext cx="6597056" cy="1859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7022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84020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66750">
                      <a:extLst>
                        <a:ext uri="{9D8B030D-6E8A-4147-A177-3AD203B41FA5}">
                          <a16:colId xmlns:a16="http://schemas.microsoft.com/office/drawing/2014/main" val="125684145"/>
                        </a:ext>
                      </a:extLst>
                    </a:gridCol>
                    <a:gridCol w="1649264">
                      <a:extLst>
                        <a:ext uri="{9D8B030D-6E8A-4147-A177-3AD203B41FA5}">
                          <a16:colId xmlns:a16="http://schemas.microsoft.com/office/drawing/2014/main" val="3300851661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Express </a:t>
                          </a:r>
                          <a:r>
                            <a:rPr lang="en-GB" sz="1100">
                              <a:solidFill>
                                <a:schemeClr val="tx1"/>
                              </a:solidFill>
                            </a:rPr>
                            <a:t>in index notation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Express </a:t>
                          </a:r>
                          <a:r>
                            <a:rPr lang="en-GB" sz="1100">
                              <a:solidFill>
                                <a:schemeClr val="tx1"/>
                              </a:solidFill>
                            </a:rPr>
                            <a:t>in index</a:t>
                          </a:r>
                          <a:r>
                            <a:rPr lang="en-GB" sz="1100" baseline="0">
                              <a:solidFill>
                                <a:schemeClr val="tx1"/>
                              </a:solidFill>
                            </a:rPr>
                            <a:t> notation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>
                              <a:solidFill>
                                <a:schemeClr val="tx1"/>
                              </a:solidFill>
                            </a:rPr>
                            <a:t>Express </a:t>
                          </a:r>
                          <a:r>
                            <a:rPr lang="en-US" sz="1000" baseline="0">
                              <a:solidFill>
                                <a:schemeClr val="tx1"/>
                              </a:solidFill>
                            </a:rPr>
                            <a:t>in index notation </a:t>
                          </a:r>
                          <a:endParaRPr lang="en-GB" sz="1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94082"/>
                      </a:ext>
                    </a:extLst>
                  </a:tr>
                  <a:tr h="77434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1)</a:t>
                          </a:r>
                          <a:r>
                            <a:rPr lang="en-US" sz="1100" baseline="0">
                              <a:solidFill>
                                <a:schemeClr val="tx1"/>
                              </a:solidFill>
                            </a:rPr>
                            <a:t> Count how many of the same base (number or letter) there are.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855" t="-16730" r="-203986" b="-76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0690" t="-16730" r="-94138" b="-76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369" t="-16730" r="-738" b="-7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  <a:tr h="825859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2) Write the total amounts</a:t>
                          </a:r>
                          <a:r>
                            <a:rPr lang="en-US" sz="1100" baseline="0">
                              <a:solidFill>
                                <a:schemeClr val="tx1"/>
                              </a:solidFill>
                            </a:rPr>
                            <a:t> of each number or letter as an index of each value.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64499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5EBCE5A-36EF-1C41-1292-0D7F59CAB504}"/>
              </a:ext>
            </a:extLst>
          </p:cNvPr>
          <p:cNvSpPr/>
          <p:nvPr/>
        </p:nvSpPr>
        <p:spPr>
          <a:xfrm>
            <a:off x="70978" y="6179058"/>
            <a:ext cx="1092246" cy="39624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622829B-778E-4245-0C27-6C709FC14CB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1292" y="6651810"/>
              <a:ext cx="6648300" cy="302187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24150">
                      <a:extLst>
                        <a:ext uri="{9D8B030D-6E8A-4147-A177-3AD203B41FA5}">
                          <a16:colId xmlns:a16="http://schemas.microsoft.com/office/drawing/2014/main" val="905284259"/>
                        </a:ext>
                      </a:extLst>
                    </a:gridCol>
                    <a:gridCol w="3324150">
                      <a:extLst>
                        <a:ext uri="{9D8B030D-6E8A-4147-A177-3AD203B41FA5}">
                          <a16:colId xmlns:a16="http://schemas.microsoft.com/office/drawing/2014/main" val="1931765034"/>
                        </a:ext>
                      </a:extLst>
                    </a:gridCol>
                  </a:tblGrid>
                  <a:tr h="60437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/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 × 2 × 2× 2</m:t>
                              </m:r>
                            </m:oMath>
                          </a14:m>
                          <a:endParaRPr lang="en-GB" sz="120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 × 3 × 3 × 3 × 3</m:t>
                              </m:r>
                            </m:oMath>
                          </a14:m>
                          <a:endParaRPr lang="en-GB" sz="120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4694840"/>
                      </a:ext>
                    </a:extLst>
                  </a:tr>
                  <a:tr h="60437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7 × 7</m:t>
                              </m:r>
                            </m:oMath>
                          </a14:m>
                          <a:endParaRPr lang="en-GB" sz="120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12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12</m:t>
                              </m:r>
                            </m:oMath>
                          </a14:m>
                          <a:endParaRPr lang="en-US" sz="120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52724"/>
                      </a:ext>
                    </a:extLst>
                  </a:tr>
                  <a:tr h="60437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0.7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0.7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0.7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0.7</m:t>
                              </m:r>
                            </m:oMath>
                          </a14:m>
                          <a:endParaRPr lang="en-GB" sz="120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×2×3×3</m:t>
                              </m:r>
                            </m:oMath>
                          </a14:m>
                          <a:endParaRPr lang="en-GB" sz="120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81680408"/>
                      </a:ext>
                    </a:extLst>
                  </a:tr>
                  <a:tr h="60437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 × 3 × 3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7 × 7</m:t>
                              </m:r>
                            </m:oMath>
                          </a14:m>
                          <a:endParaRPr lang="en-GB" sz="120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7×7×7×7×12×12×12×15×15</m:t>
                              </m:r>
                            </m:oMath>
                          </a14:m>
                          <a:endParaRPr lang="en-GB" sz="120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8333249"/>
                      </a:ext>
                    </a:extLst>
                  </a:tr>
                  <a:tr h="60437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err="1"/>
                            <a:t>i</a:t>
                          </a:r>
                          <a:r>
                            <a:rPr lang="en-GB" sz="1200"/>
                            <a:t>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12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12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×0.7×0.7</m:t>
                              </m:r>
                            </m:oMath>
                          </a14:m>
                          <a:endParaRPr lang="en-US" sz="120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/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0.7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0.7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0.7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0.7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×0.3×0.3</m:t>
                              </m:r>
                            </m:oMath>
                          </a14:m>
                          <a:endParaRPr lang="en-GB" sz="120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6622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622829B-778E-4245-0C27-6C709FC14C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6874608"/>
                  </p:ext>
                </p:extLst>
              </p:nvPr>
            </p:nvGraphicFramePr>
            <p:xfrm>
              <a:off x="101292" y="6651810"/>
              <a:ext cx="6648300" cy="302187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24150">
                      <a:extLst>
                        <a:ext uri="{9D8B030D-6E8A-4147-A177-3AD203B41FA5}">
                          <a16:colId xmlns:a16="http://schemas.microsoft.com/office/drawing/2014/main" val="905284259"/>
                        </a:ext>
                      </a:extLst>
                    </a:gridCol>
                    <a:gridCol w="3324150">
                      <a:extLst>
                        <a:ext uri="{9D8B030D-6E8A-4147-A177-3AD203B41FA5}">
                          <a16:colId xmlns:a16="http://schemas.microsoft.com/office/drawing/2014/main" val="1931765034"/>
                        </a:ext>
                      </a:extLst>
                    </a:gridCol>
                  </a:tblGrid>
                  <a:tr h="60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3" t="-1010" r="-100366" b="-4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83" t="-1010" r="-366" b="-4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4694840"/>
                      </a:ext>
                    </a:extLst>
                  </a:tr>
                  <a:tr h="60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3" t="-101010" r="-100366" b="-3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83" t="-101010" r="-366" b="-3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52724"/>
                      </a:ext>
                    </a:extLst>
                  </a:tr>
                  <a:tr h="60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3" t="-199000" r="-10036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83" t="-199000" r="-36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1680408"/>
                      </a:ext>
                    </a:extLst>
                  </a:tr>
                  <a:tr h="60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3" t="-302020" r="-100366" b="-10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83" t="-302020" r="-366" b="-10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8333249"/>
                      </a:ext>
                    </a:extLst>
                  </a:tr>
                  <a:tr h="60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3" t="-402020" r="-100366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83" t="-402020" r="-366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16622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2211832-3197-C960-14F9-D70B54C235F5}"/>
              </a:ext>
            </a:extLst>
          </p:cNvPr>
          <p:cNvSpPr txBox="1"/>
          <p:nvPr/>
        </p:nvSpPr>
        <p:spPr>
          <a:xfrm>
            <a:off x="1195852" y="6250638"/>
            <a:ext cx="30800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2250" lvl="0" indent="-222250">
              <a:defRPr/>
            </a:pPr>
            <a:r>
              <a:rPr lang="en-GB" sz="1200">
                <a:solidFill>
                  <a:prstClr val="black"/>
                </a:solidFill>
              </a:rPr>
              <a:t>1. Write these expressions in index notation.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4A9A4A-5E53-5A38-53C0-4AA38848E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3658" y="9534156"/>
            <a:ext cx="1543050" cy="527403"/>
          </a:xfrm>
        </p:spPr>
        <p:txBody>
          <a:bodyPr/>
          <a:lstStyle/>
          <a:p>
            <a:fld id="{DFE403A4-BF53-4A18-A219-2FCD9C5F3F46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5987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2" name="Table 61"/>
              <p:cNvGraphicFramePr>
                <a:graphicFrameLocks noGrp="1"/>
              </p:cNvGraphicFramePr>
              <p:nvPr/>
            </p:nvGraphicFramePr>
            <p:xfrm>
              <a:off x="120568" y="301462"/>
              <a:ext cx="6658099" cy="22671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0874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99602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83098">
                      <a:extLst>
                        <a:ext uri="{9D8B030D-6E8A-4147-A177-3AD203B41FA5}">
                          <a16:colId xmlns:a16="http://schemas.microsoft.com/office/drawing/2014/main" val="125684145"/>
                        </a:ext>
                      </a:extLst>
                    </a:gridCol>
                    <a:gridCol w="1664525">
                      <a:extLst>
                        <a:ext uri="{9D8B030D-6E8A-4147-A177-3AD203B41FA5}">
                          <a16:colId xmlns:a16="http://schemas.microsoft.com/office/drawing/2014/main" val="3300851661"/>
                        </a:ext>
                      </a:extLst>
                    </a:gridCol>
                  </a:tblGrid>
                  <a:tr h="353612">
                    <a:tc>
                      <a:txBody>
                        <a:bodyPr/>
                        <a:lstStyle/>
                        <a:p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Express </a:t>
                          </a:r>
                          <a:r>
                            <a:rPr lang="en-GB" sz="1100">
                              <a:solidFill>
                                <a:schemeClr val="tx1"/>
                              </a:solidFill>
                            </a:rPr>
                            <a:t>in</a:t>
                          </a:r>
                          <a:r>
                            <a:rPr lang="en-GB" sz="1100" baseline="0">
                              <a:solidFill>
                                <a:schemeClr val="tx1"/>
                              </a:solidFill>
                            </a:rPr>
                            <a:t> expanded form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94082"/>
                      </a:ext>
                    </a:extLst>
                  </a:tr>
                  <a:tr h="191350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1)</a:t>
                          </a:r>
                          <a:r>
                            <a:rPr lang="en-US" sz="1100" baseline="0">
                              <a:solidFill>
                                <a:schemeClr val="tx1"/>
                              </a:solidFill>
                            </a:rPr>
                            <a:t> Look at the index of each base number or letter, </a:t>
                          </a:r>
                          <a:r>
                            <a:rPr lang="en-GB" sz="1100" baseline="0">
                              <a:solidFill>
                                <a:schemeClr val="tx1"/>
                              </a:solidFill>
                            </a:rPr>
                            <a:t>write out that many of the value as a product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  <m:sup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  <m:sup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×1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sup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2" name="Table 6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3104043"/>
                  </p:ext>
                </p:extLst>
              </p:nvPr>
            </p:nvGraphicFramePr>
            <p:xfrm>
              <a:off x="120568" y="301462"/>
              <a:ext cx="6658099" cy="22671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0874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99602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83098">
                      <a:extLst>
                        <a:ext uri="{9D8B030D-6E8A-4147-A177-3AD203B41FA5}">
                          <a16:colId xmlns:a16="http://schemas.microsoft.com/office/drawing/2014/main" val="125684145"/>
                        </a:ext>
                      </a:extLst>
                    </a:gridCol>
                    <a:gridCol w="1664525">
                      <a:extLst>
                        <a:ext uri="{9D8B030D-6E8A-4147-A177-3AD203B41FA5}">
                          <a16:colId xmlns:a16="http://schemas.microsoft.com/office/drawing/2014/main" val="3300851661"/>
                        </a:ext>
                      </a:extLst>
                    </a:gridCol>
                  </a:tblGrid>
                  <a:tr h="353612">
                    <a:tc>
                      <a:txBody>
                        <a:bodyPr/>
                        <a:lstStyle/>
                        <a:p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Express </a:t>
                          </a:r>
                          <a:r>
                            <a:rPr lang="en-GB" sz="1100">
                              <a:solidFill>
                                <a:schemeClr val="tx1"/>
                              </a:solidFill>
                            </a:rPr>
                            <a:t>in</a:t>
                          </a:r>
                          <a:r>
                            <a:rPr lang="en-GB" sz="1100" baseline="0">
                              <a:solidFill>
                                <a:schemeClr val="tx1"/>
                              </a:solidFill>
                            </a:rPr>
                            <a:t> expanded form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94082"/>
                      </a:ext>
                    </a:extLst>
                  </a:tr>
                  <a:tr h="191350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1)</a:t>
                          </a:r>
                          <a:r>
                            <a:rPr lang="en-US" sz="1100" baseline="0">
                              <a:solidFill>
                                <a:schemeClr val="tx1"/>
                              </a:solidFill>
                            </a:rPr>
                            <a:t> Look at the index of each base number or letter, </a:t>
                          </a:r>
                          <a:r>
                            <a:rPr lang="en-GB" sz="1100" baseline="0">
                              <a:solidFill>
                                <a:schemeClr val="tx1"/>
                              </a:solidFill>
                            </a:rPr>
                            <a:t>write out that many of the value as a product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9247" t="-18730" r="-203943" b="-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0205" t="-18730" r="-94198" b="-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733" t="-18730" r="-1099" b="-6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80A693D5-6258-D74B-84C5-A236BB50860A}"/>
              </a:ext>
            </a:extLst>
          </p:cNvPr>
          <p:cNvSpPr txBox="1"/>
          <p:nvPr/>
        </p:nvSpPr>
        <p:spPr>
          <a:xfrm>
            <a:off x="1720299" y="60284"/>
            <a:ext cx="1212191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4 - I do…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2ABF69-E136-E845-9F1A-FA4ABBE4CC08}"/>
              </a:ext>
            </a:extLst>
          </p:cNvPr>
          <p:cNvSpPr txBox="1"/>
          <p:nvPr/>
        </p:nvSpPr>
        <p:spPr>
          <a:xfrm>
            <a:off x="3627263" y="32360"/>
            <a:ext cx="1372492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 dirty="0">
                <a:ln>
                  <a:noFill/>
                </a:ln>
                <a:solidFill>
                  <a:srgbClr val="FF860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5 - We do…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2ABF69-E136-E845-9F1A-FA4ABBE4CC08}"/>
              </a:ext>
            </a:extLst>
          </p:cNvPr>
          <p:cNvSpPr txBox="1"/>
          <p:nvPr/>
        </p:nvSpPr>
        <p:spPr>
          <a:xfrm>
            <a:off x="5291153" y="28103"/>
            <a:ext cx="13965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</a:t>
            </a:r>
            <a:r>
              <a:rPr lang="en-GB" sz="1100" b="1" i="1">
                <a:solidFill>
                  <a:srgbClr val="00B050"/>
                </a:solidFill>
                <a:latin typeface="Calibri" panose="020F0502020204030204"/>
              </a:rPr>
              <a:t>6</a:t>
            </a: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</a:t>
            </a:r>
            <a:r>
              <a:rPr lang="en-GB" sz="1100" b="1" i="1">
                <a:solidFill>
                  <a:srgbClr val="00B050"/>
                </a:solidFill>
                <a:latin typeface="Calibri" panose="020F0502020204030204"/>
              </a:rPr>
              <a:t>You</a:t>
            </a: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Table 78"/>
              <p:cNvGraphicFramePr>
                <a:graphicFrameLocks noGrp="1"/>
              </p:cNvGraphicFramePr>
              <p:nvPr/>
            </p:nvGraphicFramePr>
            <p:xfrm>
              <a:off x="120568" y="6423550"/>
              <a:ext cx="6603867" cy="32589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8568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533623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2027661">
                      <a:extLst>
                        <a:ext uri="{9D8B030D-6E8A-4147-A177-3AD203B41FA5}">
                          <a16:colId xmlns:a16="http://schemas.microsoft.com/office/drawing/2014/main" val="125684145"/>
                        </a:ext>
                      </a:extLst>
                    </a:gridCol>
                    <a:gridCol w="1544015">
                      <a:extLst>
                        <a:ext uri="{9D8B030D-6E8A-4147-A177-3AD203B41FA5}">
                          <a16:colId xmlns:a16="http://schemas.microsoft.com/office/drawing/2014/main" val="3300851661"/>
                        </a:ext>
                      </a:extLst>
                    </a:gridCol>
                  </a:tblGrid>
                  <a:tr h="313470">
                    <a:tc>
                      <a:txBody>
                        <a:bodyPr/>
                        <a:lstStyle/>
                        <a:p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Express </a:t>
                          </a:r>
                          <a:r>
                            <a:rPr lang="en-GB" sz="1100">
                              <a:solidFill>
                                <a:schemeClr val="tx1"/>
                              </a:solidFill>
                            </a:rPr>
                            <a:t>in index notation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94082"/>
                      </a:ext>
                    </a:extLst>
                  </a:tr>
                  <a:tr h="1265449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1)</a:t>
                          </a:r>
                          <a:r>
                            <a:rPr lang="en-US" sz="1100" baseline="0">
                              <a:solidFill>
                                <a:schemeClr val="tx1"/>
                              </a:solidFill>
                            </a:rPr>
                            <a:t> Count how many of the same base (number or letter) there are.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r>
                            <a:rPr lang="en-GB" sz="11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US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US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US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US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US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US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US" sz="11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1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  <a:tr h="16800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2) Write the total amounts</a:t>
                          </a:r>
                          <a:r>
                            <a:rPr lang="en-US" sz="1100" baseline="0">
                              <a:solidFill>
                                <a:schemeClr val="tx1"/>
                              </a:solidFill>
                            </a:rPr>
                            <a:t> of each number or letter as an index of each value.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64499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Table 7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1787998"/>
                  </p:ext>
                </p:extLst>
              </p:nvPr>
            </p:nvGraphicFramePr>
            <p:xfrm>
              <a:off x="120568" y="6423550"/>
              <a:ext cx="6603867" cy="32589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8568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533623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2027661">
                      <a:extLst>
                        <a:ext uri="{9D8B030D-6E8A-4147-A177-3AD203B41FA5}">
                          <a16:colId xmlns:a16="http://schemas.microsoft.com/office/drawing/2014/main" val="125684145"/>
                        </a:ext>
                      </a:extLst>
                    </a:gridCol>
                    <a:gridCol w="1544015">
                      <a:extLst>
                        <a:ext uri="{9D8B030D-6E8A-4147-A177-3AD203B41FA5}">
                          <a16:colId xmlns:a16="http://schemas.microsoft.com/office/drawing/2014/main" val="3300851661"/>
                        </a:ext>
                      </a:extLst>
                    </a:gridCol>
                  </a:tblGrid>
                  <a:tr h="313470">
                    <a:tc>
                      <a:txBody>
                        <a:bodyPr/>
                        <a:lstStyle/>
                        <a:p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Express </a:t>
                          </a:r>
                          <a:r>
                            <a:rPr lang="en-GB" sz="1100">
                              <a:solidFill>
                                <a:schemeClr val="tx1"/>
                              </a:solidFill>
                            </a:rPr>
                            <a:t>in index notation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94082"/>
                      </a:ext>
                    </a:extLst>
                  </a:tr>
                  <a:tr h="1265449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1)</a:t>
                          </a:r>
                          <a:r>
                            <a:rPr lang="en-US" sz="1100" baseline="0">
                              <a:solidFill>
                                <a:schemeClr val="tx1"/>
                              </a:solidFill>
                            </a:rPr>
                            <a:t> Count how many of the same base (number or letter) there are.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8016" t="-10950" r="-233730" b="-41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9850" t="-10950" r="-76877" b="-41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7559" t="-10950" r="-787" b="-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  <a:tr h="16800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chemeClr val="tx1"/>
                              </a:solidFill>
                            </a:rPr>
                            <a:t>2) Write the total amounts</a:t>
                          </a:r>
                          <a:r>
                            <a:rPr lang="en-US" sz="1100" baseline="0">
                              <a:solidFill>
                                <a:schemeClr val="tx1"/>
                              </a:solidFill>
                            </a:rPr>
                            <a:t> of each number or letter as an index of each value.</a:t>
                          </a:r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l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l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l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64499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80A693D5-6258-D74B-84C5-A236BB50860A}"/>
              </a:ext>
            </a:extLst>
          </p:cNvPr>
          <p:cNvSpPr txBox="1"/>
          <p:nvPr/>
        </p:nvSpPr>
        <p:spPr>
          <a:xfrm>
            <a:off x="1888655" y="6154717"/>
            <a:ext cx="1212191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7 - I do…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92ABF69-E136-E845-9F1A-FA4ABBE4CC08}"/>
              </a:ext>
            </a:extLst>
          </p:cNvPr>
          <p:cNvSpPr txBox="1"/>
          <p:nvPr/>
        </p:nvSpPr>
        <p:spPr>
          <a:xfrm>
            <a:off x="3419574" y="6161940"/>
            <a:ext cx="1372492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FF860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8 - We do…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92ABF69-E136-E845-9F1A-FA4ABBE4CC08}"/>
              </a:ext>
            </a:extLst>
          </p:cNvPr>
          <p:cNvSpPr txBox="1"/>
          <p:nvPr/>
        </p:nvSpPr>
        <p:spPr>
          <a:xfrm>
            <a:off x="5177262" y="6154717"/>
            <a:ext cx="13965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</a:t>
            </a:r>
            <a:r>
              <a:rPr lang="en-GB" sz="1100" b="1" i="1">
                <a:solidFill>
                  <a:srgbClr val="00B050"/>
                </a:solidFill>
                <a:latin typeface="Calibri" panose="020F0502020204030204"/>
              </a:rPr>
              <a:t>9</a:t>
            </a: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</a:t>
            </a:r>
            <a:r>
              <a:rPr lang="en-GB" sz="1100" b="1" i="1">
                <a:solidFill>
                  <a:srgbClr val="00B050"/>
                </a:solidFill>
                <a:latin typeface="Calibri" panose="020F0502020204030204"/>
              </a:rPr>
              <a:t>You</a:t>
            </a: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E01365-24BA-2AEA-2E06-8FEFCC9707EA}"/>
              </a:ext>
            </a:extLst>
          </p:cNvPr>
          <p:cNvSpPr/>
          <p:nvPr/>
        </p:nvSpPr>
        <p:spPr>
          <a:xfrm>
            <a:off x="120568" y="2622022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86012BD-8457-7CDF-A364-0199BC0EF1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0581038"/>
                  </p:ext>
                </p:extLst>
              </p:nvPr>
            </p:nvGraphicFramePr>
            <p:xfrm>
              <a:off x="120568" y="3058160"/>
              <a:ext cx="6648300" cy="30576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24150">
                      <a:extLst>
                        <a:ext uri="{9D8B030D-6E8A-4147-A177-3AD203B41FA5}">
                          <a16:colId xmlns:a16="http://schemas.microsoft.com/office/drawing/2014/main" val="905284259"/>
                        </a:ext>
                      </a:extLst>
                    </a:gridCol>
                    <a:gridCol w="3324150">
                      <a:extLst>
                        <a:ext uri="{9D8B030D-6E8A-4147-A177-3AD203B41FA5}">
                          <a16:colId xmlns:a16="http://schemas.microsoft.com/office/drawing/2014/main" val="1931765034"/>
                        </a:ext>
                      </a:extLst>
                    </a:gridCol>
                  </a:tblGrid>
                  <a:tr h="512416">
                    <a:tc>
                      <a:txBody>
                        <a:bodyPr/>
                        <a:lstStyle/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a)  </a:t>
                          </a:r>
                          <a:r>
                            <a:rPr lang="en-GB" sz="1200" b="1" baseline="0" dirty="0">
                              <a:solidFill>
                                <a:schemeClr val="tx1"/>
                              </a:solidFill>
                            </a:rPr>
                            <a:t>               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=  </m:t>
                                  </m:r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                       =   </m:t>
                                  </m:r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4694840"/>
                      </a:ext>
                    </a:extLst>
                  </a:tr>
                  <a:tr h="512416">
                    <a:tc>
                      <a:txBody>
                        <a:bodyPr/>
                        <a:lstStyle/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c)  </a:t>
                          </a:r>
                          <a:r>
                            <a:rPr lang="en-GB" sz="1200" b="1" baseline="0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=    </m:t>
                                  </m:r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d)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    </m:t>
                                  </m:r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52724"/>
                      </a:ext>
                    </a:extLst>
                  </a:tr>
                  <a:tr h="512416">
                    <a:tc>
                      <a:txBody>
                        <a:bodyPr/>
                        <a:lstStyle/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e)  </a:t>
                          </a:r>
                          <a:r>
                            <a:rPr lang="en-GB" sz="1200" b="1" baseline="0" dirty="0">
                              <a:solidFill>
                                <a:schemeClr val="tx1"/>
                              </a:solidFill>
                            </a:rPr>
                            <a:t>              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=  0</m:t>
                                  </m:r>
                                  <m:r>
                                    <a:rPr lang="en-US" sz="12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           </m:t>
                              </m:r>
                              <m:sSup>
                                <m:sSupPr>
                                  <m:ctrlPr>
                                    <a:rPr lang="en-GB" sz="12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=    </m:t>
                                  </m:r>
                                  <m:r>
                                    <a:rPr lang="en-US" sz="12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81680408"/>
                      </a:ext>
                    </a:extLst>
                  </a:tr>
                  <a:tr h="512416">
                    <a:tc>
                      <a:txBody>
                        <a:bodyPr/>
                        <a:lstStyle/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g)</a:t>
                          </a:r>
                          <a:r>
                            <a:rPr lang="en-GB" sz="1200" b="1" baseline="0" dirty="0">
                              <a:solidFill>
                                <a:schemeClr val="tx1"/>
                              </a:solidFill>
                            </a:rPr>
                            <a:t>                     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=  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h)  </a:t>
                          </a:r>
                          <a:r>
                            <a:rPr lang="en-GB" sz="1200" b="1" baseline="0" dirty="0">
                              <a:solidFill>
                                <a:schemeClr val="tx1"/>
                              </a:solidFill>
                            </a:rPr>
                            <a:t>                                     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=     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8333249"/>
                      </a:ext>
                    </a:extLst>
                  </a:tr>
                  <a:tr h="826146">
                    <a:tc>
                      <a:txBody>
                        <a:bodyPr/>
                        <a:lstStyle/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i)  </a:t>
                          </a:r>
                        </a:p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endParaRPr lang="en-GB" sz="1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    =  </m:t>
                                    </m:r>
                                    <m:r>
                                      <a:rPr lang="en-US" sz="12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j)  </a:t>
                          </a:r>
                        </a:p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endParaRPr lang="en-GB" sz="1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2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0.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6622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86012BD-8457-7CDF-A364-0199BC0EF1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0581038"/>
                  </p:ext>
                </p:extLst>
              </p:nvPr>
            </p:nvGraphicFramePr>
            <p:xfrm>
              <a:off x="120568" y="3058160"/>
              <a:ext cx="6648300" cy="30576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24150">
                      <a:extLst>
                        <a:ext uri="{9D8B030D-6E8A-4147-A177-3AD203B41FA5}">
                          <a16:colId xmlns:a16="http://schemas.microsoft.com/office/drawing/2014/main" val="905284259"/>
                        </a:ext>
                      </a:extLst>
                    </a:gridCol>
                    <a:gridCol w="3324150">
                      <a:extLst>
                        <a:ext uri="{9D8B030D-6E8A-4147-A177-3AD203B41FA5}">
                          <a16:colId xmlns:a16="http://schemas.microsoft.com/office/drawing/2014/main" val="1931765034"/>
                        </a:ext>
                      </a:extLst>
                    </a:gridCol>
                  </a:tblGrid>
                  <a:tr h="512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3" t="-1190" r="-100366" b="-501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83" t="-1190" r="-366" b="-501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4694840"/>
                      </a:ext>
                    </a:extLst>
                  </a:tr>
                  <a:tr h="512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3" t="-100000" r="-100366" b="-39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83" t="-100000" r="-366" b="-39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52724"/>
                      </a:ext>
                    </a:extLst>
                  </a:tr>
                  <a:tr h="512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3" t="-202381" r="-10036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83" t="-202381" r="-366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1680408"/>
                      </a:ext>
                    </a:extLst>
                  </a:tr>
                  <a:tr h="512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3" t="-302381" r="-10036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83" t="-302381" r="-36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8333249"/>
                      </a:ext>
                    </a:extLst>
                  </a:tr>
                  <a:tr h="10079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3" t="-203614" r="-100366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83" t="-203614" r="-366" b="-12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16622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8A6B8AD-1B1B-7EA8-2FAF-CBA8CBBE5394}"/>
              </a:ext>
            </a:extLst>
          </p:cNvPr>
          <p:cNvSpPr txBox="1"/>
          <p:nvPr/>
        </p:nvSpPr>
        <p:spPr>
          <a:xfrm>
            <a:off x="1211740" y="2698913"/>
            <a:ext cx="30800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2250" lvl="0" indent="-222250">
              <a:defRPr/>
            </a:pPr>
            <a:r>
              <a:rPr lang="en-GB" sz="1200">
                <a:solidFill>
                  <a:prstClr val="black"/>
                </a:solidFill>
              </a:rPr>
              <a:t>2. Write these expressions in expanded form.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CC44D-B51A-54C6-AF5D-BE6E5012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687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7522" y="0"/>
            <a:ext cx="21558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Write these in index notation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2AAF9E-B4BB-429F-F168-AA7C25A3D89A}"/>
              </a:ext>
            </a:extLst>
          </p:cNvPr>
          <p:cNvSpPr/>
          <p:nvPr/>
        </p:nvSpPr>
        <p:spPr>
          <a:xfrm>
            <a:off x="114070" y="1733"/>
            <a:ext cx="1078531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D685BA2-81C4-C0A5-6913-D99E46E484C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4850" y="355623"/>
              <a:ext cx="6648300" cy="294637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24150">
                      <a:extLst>
                        <a:ext uri="{9D8B030D-6E8A-4147-A177-3AD203B41FA5}">
                          <a16:colId xmlns:a16="http://schemas.microsoft.com/office/drawing/2014/main" val="905284259"/>
                        </a:ext>
                      </a:extLst>
                    </a:gridCol>
                    <a:gridCol w="3324150">
                      <a:extLst>
                        <a:ext uri="{9D8B030D-6E8A-4147-A177-3AD203B41FA5}">
                          <a16:colId xmlns:a16="http://schemas.microsoft.com/office/drawing/2014/main" val="1931765034"/>
                        </a:ext>
                      </a:extLst>
                    </a:gridCol>
                  </a:tblGrid>
                  <a:tr h="56969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US" sz="1200" b="0" dirty="0">
                            <a:solidFill>
                              <a:prstClr val="black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4694840"/>
                      </a:ext>
                    </a:extLst>
                  </a:tr>
                  <a:tr h="56969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sz="1200" b="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en-US" sz="1200" b="0" dirty="0">
                            <a:solidFill>
                              <a:prstClr val="black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52724"/>
                      </a:ext>
                    </a:extLst>
                  </a:tr>
                  <a:tr h="56969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0" lang="en-US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×</m:t>
                              </m:r>
                              <m:r>
                                <a:rPr kumimoji="0" lang="en-US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</m:oMath>
                          </a14:m>
                          <a:endParaRPr lang="en-US" sz="1200" b="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en-US" sz="1200" b="0" dirty="0">
                            <a:solidFill>
                              <a:prstClr val="black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81680408"/>
                      </a:ext>
                    </a:extLst>
                  </a:tr>
                  <a:tr h="56969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8333249"/>
                      </a:ext>
                    </a:extLst>
                  </a:tr>
                  <a:tr h="667608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 err="1"/>
                            <a:t>i</a:t>
                          </a:r>
                          <a:r>
                            <a:rPr lang="en-GB" sz="1200" dirty="0"/>
                            <a:t>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sz="1200" b="0" dirty="0">
                            <a:solidFill>
                              <a:prstClr val="black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6622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D685BA2-81C4-C0A5-6913-D99E46E484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3757941"/>
                  </p:ext>
                </p:extLst>
              </p:nvPr>
            </p:nvGraphicFramePr>
            <p:xfrm>
              <a:off x="104850" y="355623"/>
              <a:ext cx="6648300" cy="294637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24150">
                      <a:extLst>
                        <a:ext uri="{9D8B030D-6E8A-4147-A177-3AD203B41FA5}">
                          <a16:colId xmlns:a16="http://schemas.microsoft.com/office/drawing/2014/main" val="905284259"/>
                        </a:ext>
                      </a:extLst>
                    </a:gridCol>
                    <a:gridCol w="3324150">
                      <a:extLst>
                        <a:ext uri="{9D8B030D-6E8A-4147-A177-3AD203B41FA5}">
                          <a16:colId xmlns:a16="http://schemas.microsoft.com/office/drawing/2014/main" val="1931765034"/>
                        </a:ext>
                      </a:extLst>
                    </a:gridCol>
                  </a:tblGrid>
                  <a:tr h="5696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3" t="-1064" r="-100183" b="-41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7" t="-1064" r="-367" b="-4170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4694840"/>
                      </a:ext>
                    </a:extLst>
                  </a:tr>
                  <a:tr h="5696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3" t="-102151" r="-100183" b="-3215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7" t="-102151" r="-367" b="-3215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52724"/>
                      </a:ext>
                    </a:extLst>
                  </a:tr>
                  <a:tr h="5696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3" t="-200000" r="-100183" b="-218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7" t="-200000" r="-367" b="-218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1680408"/>
                      </a:ext>
                    </a:extLst>
                  </a:tr>
                  <a:tr h="5696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3" t="-303226" r="-100183" b="-1204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7" t="-303226" r="-367" b="-1204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8333249"/>
                      </a:ext>
                    </a:extLst>
                  </a:tr>
                  <a:tr h="6676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3" t="-340909" r="-100183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7" t="-340909" r="-367" b="-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16622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DFB7863-0BD9-A891-5643-ECE2CCFE20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9225" y="3679242"/>
              <a:ext cx="6597056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6909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89904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25684145"/>
                        </a:ext>
                      </a:extLst>
                    </a:gridCol>
                    <a:gridCol w="1691443">
                      <a:extLst>
                        <a:ext uri="{9D8B030D-6E8A-4147-A177-3AD203B41FA5}">
                          <a16:colId xmlns:a16="http://schemas.microsoft.com/office/drawing/2014/main" val="3300851661"/>
                        </a:ext>
                      </a:extLst>
                    </a:gridCol>
                  </a:tblGrid>
                  <a:tr h="250021">
                    <a:tc>
                      <a:txBody>
                        <a:bodyPr/>
                        <a:lstStyle/>
                        <a:p>
                          <a:r>
                            <a:rPr lang="en-US" sz="11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>
                              <a:solidFill>
                                <a:schemeClr val="tx1"/>
                              </a:solidFill>
                            </a:rPr>
                            <a:t>Express </a:t>
                          </a:r>
                          <a:r>
                            <a:rPr lang="en-GB" sz="1100" dirty="0">
                              <a:solidFill>
                                <a:schemeClr val="tx1"/>
                              </a:solidFill>
                            </a:rPr>
                            <a:t>in</a:t>
                          </a:r>
                          <a:r>
                            <a:rPr lang="en-GB" sz="1100" baseline="0" dirty="0">
                              <a:solidFill>
                                <a:schemeClr val="tx1"/>
                              </a:solidFill>
                            </a:rPr>
                            <a:t> expanded form</a:t>
                          </a:r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94082"/>
                      </a:ext>
                    </a:extLst>
                  </a:tr>
                  <a:tr h="12726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1100" dirty="0">
                              <a:solidFill>
                                <a:schemeClr val="tx1"/>
                              </a:solidFill>
                            </a:rPr>
                            <a:t>1)</a:t>
                          </a:r>
                          <a:r>
                            <a:rPr lang="en-US" sz="1100" baseline="0" dirty="0">
                              <a:solidFill>
                                <a:schemeClr val="tx1"/>
                              </a:solidFill>
                            </a:rPr>
                            <a:t> Look at the index of each base (number or letter), </a:t>
                          </a:r>
                          <a:r>
                            <a:rPr lang="en-GB" sz="1100" baseline="0" dirty="0">
                              <a:solidFill>
                                <a:schemeClr val="tx1"/>
                              </a:solidFill>
                            </a:rPr>
                            <a:t>write out that many of the value as a product</a:t>
                          </a:r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DFB7863-0BD9-A891-5643-ECE2CCFE20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7435688"/>
                  </p:ext>
                </p:extLst>
              </p:nvPr>
            </p:nvGraphicFramePr>
            <p:xfrm>
              <a:off x="139225" y="3679242"/>
              <a:ext cx="6597056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6909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89904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25684145"/>
                        </a:ext>
                      </a:extLst>
                    </a:gridCol>
                    <a:gridCol w="1691443">
                      <a:extLst>
                        <a:ext uri="{9D8B030D-6E8A-4147-A177-3AD203B41FA5}">
                          <a16:colId xmlns:a16="http://schemas.microsoft.com/office/drawing/2014/main" val="3300851661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r>
                            <a:rPr lang="en-US" sz="11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>
                              <a:solidFill>
                                <a:schemeClr val="tx1"/>
                              </a:solidFill>
                            </a:rPr>
                            <a:t>Express </a:t>
                          </a:r>
                          <a:r>
                            <a:rPr lang="en-GB" sz="1100" dirty="0">
                              <a:solidFill>
                                <a:schemeClr val="tx1"/>
                              </a:solidFill>
                            </a:rPr>
                            <a:t>in</a:t>
                          </a:r>
                          <a:r>
                            <a:rPr lang="en-GB" sz="1100" baseline="0" dirty="0">
                              <a:solidFill>
                                <a:schemeClr val="tx1"/>
                              </a:solidFill>
                            </a:rPr>
                            <a:t> expanded form</a:t>
                          </a:r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94082"/>
                      </a:ext>
                    </a:extLst>
                  </a:tr>
                  <a:tr h="19354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1100" dirty="0">
                              <a:solidFill>
                                <a:schemeClr val="tx1"/>
                              </a:solidFill>
                            </a:rPr>
                            <a:t>1)</a:t>
                          </a:r>
                          <a:r>
                            <a:rPr lang="en-US" sz="1100" baseline="0" dirty="0">
                              <a:solidFill>
                                <a:schemeClr val="tx1"/>
                              </a:solidFill>
                            </a:rPr>
                            <a:t> Look at the index of each base (number or letter), </a:t>
                          </a:r>
                          <a:r>
                            <a:rPr lang="en-GB" sz="1100" baseline="0" dirty="0">
                              <a:solidFill>
                                <a:schemeClr val="tx1"/>
                              </a:solidFill>
                            </a:rPr>
                            <a:t>write out that many of the value as a product</a:t>
                          </a:r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2374" t="-13836" r="-208633" b="-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000" t="-13836" r="-93333" b="-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0288" t="-13836" r="-719" b="-6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F19F897-BEF5-2B46-B2A3-99CD362FDA6E}"/>
              </a:ext>
            </a:extLst>
          </p:cNvPr>
          <p:cNvSpPr txBox="1"/>
          <p:nvPr/>
        </p:nvSpPr>
        <p:spPr>
          <a:xfrm>
            <a:off x="1208452" y="5971148"/>
            <a:ext cx="2487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Write these out in expanded form.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FDD4AE-2B24-4D94-728D-AB3080EAD85F}"/>
              </a:ext>
            </a:extLst>
          </p:cNvPr>
          <p:cNvSpPr txBox="1"/>
          <p:nvPr/>
        </p:nvSpPr>
        <p:spPr>
          <a:xfrm>
            <a:off x="1903497" y="3380623"/>
            <a:ext cx="128432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10 - I do…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314971-53AB-2BDD-61A2-029E05E8212E}"/>
              </a:ext>
            </a:extLst>
          </p:cNvPr>
          <p:cNvSpPr txBox="1"/>
          <p:nvPr/>
        </p:nvSpPr>
        <p:spPr>
          <a:xfrm>
            <a:off x="3403378" y="3394879"/>
            <a:ext cx="144462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 dirty="0">
                <a:ln>
                  <a:noFill/>
                </a:ln>
                <a:solidFill>
                  <a:srgbClr val="FF860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11 - We do…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805D4F-1137-95BE-0032-3CAEE8F522DD}"/>
              </a:ext>
            </a:extLst>
          </p:cNvPr>
          <p:cNvSpPr txBox="1"/>
          <p:nvPr/>
        </p:nvSpPr>
        <p:spPr>
          <a:xfrm>
            <a:off x="5072698" y="3380623"/>
            <a:ext cx="1468672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12 - You do…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DD76BB-B23D-13AE-A2B7-1046FF0E7CE3}"/>
              </a:ext>
            </a:extLst>
          </p:cNvPr>
          <p:cNvSpPr/>
          <p:nvPr/>
        </p:nvSpPr>
        <p:spPr>
          <a:xfrm>
            <a:off x="114704" y="5921585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42">
                <a:extLst>
                  <a:ext uri="{FF2B5EF4-FFF2-40B4-BE49-F238E27FC236}">
                    <a16:creationId xmlns:a16="http://schemas.microsoft.com/office/drawing/2014/main" id="{FD53E6EF-8DBF-A01F-B995-159CC17372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9079" y="6355754"/>
              <a:ext cx="6587202" cy="3184304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3293601">
                      <a:extLst>
                        <a:ext uri="{9D8B030D-6E8A-4147-A177-3AD203B41FA5}">
                          <a16:colId xmlns:a16="http://schemas.microsoft.com/office/drawing/2014/main" val="282097438"/>
                        </a:ext>
                      </a:extLst>
                    </a:gridCol>
                    <a:gridCol w="3293601">
                      <a:extLst>
                        <a:ext uri="{9D8B030D-6E8A-4147-A177-3AD203B41FA5}">
                          <a16:colId xmlns:a16="http://schemas.microsoft.com/office/drawing/2014/main" val="4032636177"/>
                        </a:ext>
                      </a:extLst>
                    </a:gridCol>
                  </a:tblGrid>
                  <a:tr h="647304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a)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/>
                            <a:t>b)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53237727"/>
                      </a:ext>
                    </a:extLst>
                  </a:tr>
                  <a:tr h="558984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c)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d)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5394964"/>
                      </a:ext>
                    </a:extLst>
                  </a:tr>
                  <a:tr h="558984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73727349"/>
                      </a:ext>
                    </a:extLst>
                  </a:tr>
                  <a:tr h="558984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7248683"/>
                      </a:ext>
                    </a:extLst>
                  </a:tr>
                  <a:tr h="77895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 err="1"/>
                            <a:t>i</a:t>
                          </a:r>
                          <a:r>
                            <a:rPr lang="en-US" sz="1200" dirty="0"/>
                            <a:t>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/>
                            <a:t>j)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969220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42">
                <a:extLst>
                  <a:ext uri="{FF2B5EF4-FFF2-40B4-BE49-F238E27FC236}">
                    <a16:creationId xmlns:a16="http://schemas.microsoft.com/office/drawing/2014/main" id="{FD53E6EF-8DBF-A01F-B995-159CC17372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559086"/>
                  </p:ext>
                </p:extLst>
              </p:nvPr>
            </p:nvGraphicFramePr>
            <p:xfrm>
              <a:off x="149079" y="6355754"/>
              <a:ext cx="6587202" cy="3184304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3293601">
                      <a:extLst>
                        <a:ext uri="{9D8B030D-6E8A-4147-A177-3AD203B41FA5}">
                          <a16:colId xmlns:a16="http://schemas.microsoft.com/office/drawing/2014/main" val="282097438"/>
                        </a:ext>
                      </a:extLst>
                    </a:gridCol>
                    <a:gridCol w="3293601">
                      <a:extLst>
                        <a:ext uri="{9D8B030D-6E8A-4147-A177-3AD203B41FA5}">
                          <a16:colId xmlns:a16="http://schemas.microsoft.com/office/drawing/2014/main" val="4032636177"/>
                        </a:ext>
                      </a:extLst>
                    </a:gridCol>
                  </a:tblGrid>
                  <a:tr h="6473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85" t="-943" r="-100370" b="-396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185" t="-943" r="-370" b="-396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3237727"/>
                      </a:ext>
                    </a:extLst>
                  </a:tr>
                  <a:tr h="558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85" t="-116304" r="-100370" b="-3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185" t="-116304" r="-370" b="-35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5394964"/>
                      </a:ext>
                    </a:extLst>
                  </a:tr>
                  <a:tr h="558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85" t="-216304" r="-100370" b="-2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185" t="-216304" r="-370" b="-25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72734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85" t="-277143" r="-100370" b="-12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185" t="-277143" r="-370" b="-12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7248683"/>
                      </a:ext>
                    </a:extLst>
                  </a:tr>
                  <a:tr h="7789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85" t="-309375" r="-100370" b="-2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185" t="-309375" r="-370" b="-2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692202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69B9A-67E5-C842-AEC9-8A55C73F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E403A4-BF53-4A18-A219-2FCD9C5F3F46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416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826399" y="100605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13 - I do…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429000" y="81516"/>
            <a:ext cx="158479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14 – We do…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5145812" y="81115"/>
            <a:ext cx="16078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15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/>
            </p:nvGraphicFramePr>
            <p:xfrm>
              <a:off x="156568" y="386542"/>
              <a:ext cx="6597056" cy="21890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53145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65912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23904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5409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144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874520">
                    <a:tc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8510647"/>
                  </p:ext>
                </p:extLst>
              </p:nvPr>
            </p:nvGraphicFramePr>
            <p:xfrm>
              <a:off x="156568" y="386542"/>
              <a:ext cx="6597056" cy="21890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53145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65912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23904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5409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144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874520">
                    <a:tc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647" t="-17208" r="-187255" b="-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1572" t="-17208" r="-91639" b="-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529" t="-17208" r="-735" b="-6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TextBox 33"/>
          <p:cNvSpPr txBox="1"/>
          <p:nvPr/>
        </p:nvSpPr>
        <p:spPr>
          <a:xfrm>
            <a:off x="1311168" y="2726294"/>
            <a:ext cx="861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5. Simplify.</a:t>
            </a:r>
            <a:endParaRPr lang="en-GB" sz="1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00F3F8-17F4-AA0A-98D5-D1405DA93711}"/>
              </a:ext>
            </a:extLst>
          </p:cNvPr>
          <p:cNvSpPr/>
          <p:nvPr/>
        </p:nvSpPr>
        <p:spPr>
          <a:xfrm>
            <a:off x="156568" y="2652523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Table 45">
                <a:extLst>
                  <a:ext uri="{FF2B5EF4-FFF2-40B4-BE49-F238E27FC236}">
                    <a16:creationId xmlns:a16="http://schemas.microsoft.com/office/drawing/2014/main" id="{694C39EF-AB1B-8DD4-7EA7-7AE8DDD7BA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9689783"/>
                  </p:ext>
                </p:extLst>
              </p:nvPr>
            </p:nvGraphicFramePr>
            <p:xfrm>
              <a:off x="164984" y="3034440"/>
              <a:ext cx="6597057" cy="667436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99019">
                      <a:extLst>
                        <a:ext uri="{9D8B030D-6E8A-4147-A177-3AD203B41FA5}">
                          <a16:colId xmlns:a16="http://schemas.microsoft.com/office/drawing/2014/main" val="4211264905"/>
                        </a:ext>
                      </a:extLst>
                    </a:gridCol>
                    <a:gridCol w="2199019">
                      <a:extLst>
                        <a:ext uri="{9D8B030D-6E8A-4147-A177-3AD203B41FA5}">
                          <a16:colId xmlns:a16="http://schemas.microsoft.com/office/drawing/2014/main" val="4030556835"/>
                        </a:ext>
                      </a:extLst>
                    </a:gridCol>
                    <a:gridCol w="2199019">
                      <a:extLst>
                        <a:ext uri="{9D8B030D-6E8A-4147-A177-3AD203B41FA5}">
                          <a16:colId xmlns:a16="http://schemas.microsoft.com/office/drawing/2014/main" val="1068105517"/>
                        </a:ext>
                      </a:extLst>
                    </a:gridCol>
                  </a:tblGrid>
                  <a:tr h="133487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  <m:r>
                                <a:rPr kumimoji="0" lang="en-GB" sz="1200" b="0" i="1" u="none" strike="noStrike" kern="1200" cap="none" spc="0" normalizeH="0" baseline="3000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en-GB" sz="12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×5</m:t>
                              </m:r>
                              <m:r>
                                <a:rPr kumimoji="0" lang="en-GB" sz="1200" b="0" i="1" u="none" strike="noStrike" kern="1200" cap="none" spc="0" normalizeH="0" baseline="3000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  <m:r>
                                <a:rPr kumimoji="0" lang="en-GB" sz="1200" b="0" i="1" u="none" strike="noStrike" kern="1200" cap="none" spc="0" normalizeH="0" baseline="3000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  <m:r>
                                <a:rPr kumimoji="0" lang="en-US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×</m:t>
                              </m:r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  <m:r>
                                <a:rPr kumimoji="0" lang="en-GB" sz="1200" b="0" i="1" u="none" strike="noStrike" kern="1200" cap="none" spc="0" normalizeH="0" baseline="3000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</m:t>
                              </m:r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en-GB" sz="1200" b="0" i="1" u="none" strike="noStrike" kern="1200" cap="none" spc="0" normalizeH="0" baseline="3000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en-GB" sz="12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×</m:t>
                              </m:r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en-GB" sz="1200" b="0" i="1" u="none" strike="noStrike" kern="1200" cap="none" spc="0" normalizeH="0" baseline="3000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2165470"/>
                      </a:ext>
                    </a:extLst>
                  </a:tr>
                  <a:tr h="133487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</m:t>
                              </m:r>
                              <m:r>
                                <a:rPr kumimoji="0" lang="en-GB" sz="12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×</m:t>
                              </m:r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</m:t>
                              </m:r>
                              <m:r>
                                <a:rPr kumimoji="0" lang="en-GB" sz="1200" b="0" i="1" u="none" strike="noStrike" kern="1200" cap="none" spc="0" normalizeH="0" baseline="3000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oMath>
                          </a14:m>
                          <a:endParaRPr kumimoji="0" lang="en-GB" sz="1200" b="0" i="0" u="none" strike="noStrike" kern="1200" cap="none" spc="0" normalizeH="0" baseline="30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i="1" baseline="300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en-US" sz="12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GB" sz="1200" i="1" baseline="300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GB" sz="1200" i="1" baseline="300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oMath>
                          </a14:m>
                          <a:endParaRPr lang="en-US" sz="12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57481887"/>
                      </a:ext>
                    </a:extLst>
                  </a:tr>
                  <a:tr h="133487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GB" sz="1200" b="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GB" sz="120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endParaRPr lang="en-GB" sz="1200" baseline="300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20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1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×1</m:t>
                              </m:r>
                              <m:r>
                                <a:rPr lang="en-GB" sz="1200" i="1" baseline="300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oMath>
                          </a14:m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53711689"/>
                      </a:ext>
                    </a:extLst>
                  </a:tr>
                  <a:tr h="133487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120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×2</m:t>
                              </m:r>
                            </m:oMath>
                          </a14:m>
                          <a:endParaRPr lang="en-GB" sz="1200" baseline="300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6242104"/>
                      </a:ext>
                    </a:extLst>
                  </a:tr>
                  <a:tr h="133487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m)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en-GB" sz="120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1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en-GB" sz="1200" b="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n)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GB" sz="1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o)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GB" sz="1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69623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Table 45">
                <a:extLst>
                  <a:ext uri="{FF2B5EF4-FFF2-40B4-BE49-F238E27FC236}">
                    <a16:creationId xmlns:a16="http://schemas.microsoft.com/office/drawing/2014/main" id="{694C39EF-AB1B-8DD4-7EA7-7AE8DDD7BA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9689783"/>
                  </p:ext>
                </p:extLst>
              </p:nvPr>
            </p:nvGraphicFramePr>
            <p:xfrm>
              <a:off x="164984" y="3034440"/>
              <a:ext cx="6597057" cy="667436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99019">
                      <a:extLst>
                        <a:ext uri="{9D8B030D-6E8A-4147-A177-3AD203B41FA5}">
                          <a16:colId xmlns:a16="http://schemas.microsoft.com/office/drawing/2014/main" val="4211264905"/>
                        </a:ext>
                      </a:extLst>
                    </a:gridCol>
                    <a:gridCol w="2199019">
                      <a:extLst>
                        <a:ext uri="{9D8B030D-6E8A-4147-A177-3AD203B41FA5}">
                          <a16:colId xmlns:a16="http://schemas.microsoft.com/office/drawing/2014/main" val="4030556835"/>
                        </a:ext>
                      </a:extLst>
                    </a:gridCol>
                    <a:gridCol w="2199019">
                      <a:extLst>
                        <a:ext uri="{9D8B030D-6E8A-4147-A177-3AD203B41FA5}">
                          <a16:colId xmlns:a16="http://schemas.microsoft.com/office/drawing/2014/main" val="1068105517"/>
                        </a:ext>
                      </a:extLst>
                    </a:gridCol>
                  </a:tblGrid>
                  <a:tr h="13348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" t="-457" r="-200554" b="-401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277" t="-457" r="-100554" b="-401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277" t="-457" r="-554" b="-4013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2165470"/>
                      </a:ext>
                    </a:extLst>
                  </a:tr>
                  <a:tr h="13348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" t="-100457" r="-200554" b="-301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277" t="-100457" r="-100554" b="-301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277" t="-100457" r="-554" b="-3013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7481887"/>
                      </a:ext>
                    </a:extLst>
                  </a:tr>
                  <a:tr h="13348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" t="-199545" r="-20055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277" t="-199545" r="-10055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277" t="-199545" r="-554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711689"/>
                      </a:ext>
                    </a:extLst>
                  </a:tr>
                  <a:tr h="13348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" t="-300913" r="-200554" b="-100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277" t="-300913" r="-100554" b="-100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277" t="-300913" r="-554" b="-1009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6242104"/>
                      </a:ext>
                    </a:extLst>
                  </a:tr>
                  <a:tr h="13348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" t="-400913" r="-200554" b="-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277" t="-400913" r="-100554" b="-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277" t="-400913" r="-554" b="-9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69623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EC6A5-50F8-90B0-00DE-7DE3A9C6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04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0" name="Table 59"/>
              <p:cNvGraphicFramePr>
                <a:graphicFrameLocks noGrp="1"/>
              </p:cNvGraphicFramePr>
              <p:nvPr/>
            </p:nvGraphicFramePr>
            <p:xfrm>
              <a:off x="128920" y="327840"/>
              <a:ext cx="6598609" cy="18371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253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17256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24333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54484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00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487106">
                    <a:tc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0" name="Table 5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1115328"/>
                  </p:ext>
                </p:extLst>
              </p:nvPr>
            </p:nvGraphicFramePr>
            <p:xfrm>
              <a:off x="128920" y="327840"/>
              <a:ext cx="6598609" cy="18371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253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17256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24333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54484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00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487106">
                    <a:tc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2148" t="-24082" r="-192282" b="-8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1572" t="-24082" r="-91639" b="-8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8529" t="-24082" r="-735" b="-8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926128" y="67399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16 - I do…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445713" y="62458"/>
            <a:ext cx="158479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17 – We do…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5058462" y="62457"/>
            <a:ext cx="16078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18 – You do…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92940" y="2180461"/>
            <a:ext cx="861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6. Simplify.</a:t>
            </a:r>
            <a:endParaRPr lang="en-GB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20E7F6-8C1D-FC28-E8BF-9CC00F3F9AC3}"/>
              </a:ext>
            </a:extLst>
          </p:cNvPr>
          <p:cNvSpPr/>
          <p:nvPr/>
        </p:nvSpPr>
        <p:spPr>
          <a:xfrm>
            <a:off x="128920" y="2164976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567A2E8-621D-095E-133E-C84E3045CD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3767953"/>
                  </p:ext>
                </p:extLst>
              </p:nvPr>
            </p:nvGraphicFramePr>
            <p:xfrm>
              <a:off x="130471" y="2595246"/>
              <a:ext cx="6597057" cy="4080747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99019">
                      <a:extLst>
                        <a:ext uri="{9D8B030D-6E8A-4147-A177-3AD203B41FA5}">
                          <a16:colId xmlns:a16="http://schemas.microsoft.com/office/drawing/2014/main" val="4132428466"/>
                        </a:ext>
                      </a:extLst>
                    </a:gridCol>
                    <a:gridCol w="2199019">
                      <a:extLst>
                        <a:ext uri="{9D8B030D-6E8A-4147-A177-3AD203B41FA5}">
                          <a16:colId xmlns:a16="http://schemas.microsoft.com/office/drawing/2014/main" val="153392874"/>
                        </a:ext>
                      </a:extLst>
                    </a:gridCol>
                    <a:gridCol w="2199019">
                      <a:extLst>
                        <a:ext uri="{9D8B030D-6E8A-4147-A177-3AD203B41FA5}">
                          <a16:colId xmlns:a16="http://schemas.microsoft.com/office/drawing/2014/main" val="1583704347"/>
                        </a:ext>
                      </a:extLst>
                    </a:gridCol>
                  </a:tblGrid>
                  <a:tr h="1360249"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Tx/>
                            <a:buNone/>
                            <a:defRPr/>
                          </a:pPr>
                          <a:r>
                            <a:rPr lang="en-GB" dirty="0"/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baseline="300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× </m:t>
                              </m:r>
                              <m:r>
                                <a:rPr lang="en-GB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baseline="300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endParaRPr lang="en-GB" sz="1200" i="1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>
                            <a:buFontTx/>
                            <a:buNone/>
                          </a:pPr>
                          <a:endParaRPr lang="en-GB" dirty="0"/>
                        </a:p>
                        <a:p>
                          <a:pPr algn="ctr">
                            <a:buFontTx/>
                            <a:buNone/>
                          </a:pPr>
                          <a:endParaRPr lang="en-GB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Tx/>
                            <a:buNone/>
                            <a:defRPr/>
                          </a:pPr>
                          <a:r>
                            <a:rPr lang="en-GB" dirty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i="1" baseline="300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GB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× </m:t>
                              </m:r>
                              <m:r>
                                <a:rPr lang="en-GB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i="1" baseline="300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oMath>
                          </a14:m>
                          <a:endParaRPr lang="en-GB" sz="1200" i="1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>
                            <a:buFontTx/>
                            <a:buNone/>
                          </a:pPr>
                          <a:endParaRPr lang="en-GB" dirty="0"/>
                        </a:p>
                        <a:p>
                          <a:pPr algn="ctr">
                            <a:buFontTx/>
                            <a:buNone/>
                          </a:pPr>
                          <a:endParaRPr lang="en-GB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Tx/>
                            <a:buNone/>
                            <a:defRPr/>
                          </a:pPr>
                          <a:r>
                            <a:rPr lang="en-GB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baseline="300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× </m:t>
                              </m:r>
                              <m:r>
                                <a:rPr lang="en-GB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baseline="300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endParaRPr lang="en-US" sz="1200" i="1" baseline="30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>
                            <a:buFontTx/>
                            <a:buNone/>
                          </a:pPr>
                          <a:endParaRPr lang="en-GB" dirty="0"/>
                        </a:p>
                        <a:p>
                          <a:pPr algn="ctr">
                            <a:buFontTx/>
                            <a:buNone/>
                          </a:pPr>
                          <a:endParaRPr lang="en-GB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90106230"/>
                      </a:ext>
                    </a:extLst>
                  </a:tr>
                  <a:tr h="1360249"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Tx/>
                            <a:buNone/>
                            <a:defRPr/>
                          </a:pPr>
                          <a:r>
                            <a:rPr lang="en-GB" dirty="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sz="1200" i="1" baseline="300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GB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× </m:t>
                              </m:r>
                              <m:r>
                                <a:rPr lang="en-GB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sz="1200" i="1" baseline="300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oMath>
                          </a14:m>
                          <a:endParaRPr lang="en-GB" sz="1200" baseline="300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>
                            <a:buFontTx/>
                            <a:buNone/>
                          </a:pPr>
                          <a:endParaRPr lang="en-GB" dirty="0"/>
                        </a:p>
                        <a:p>
                          <a:pPr algn="ctr">
                            <a:buFontTx/>
                            <a:buNone/>
                          </a:pPr>
                          <a:endParaRPr lang="en-GB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Tx/>
                            <a:buNone/>
                            <a:defRPr/>
                          </a:pPr>
                          <a:r>
                            <a:rPr lang="en-GB" dirty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i="1" baseline="300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 </m:t>
                              </m:r>
                              <m:r>
                                <a:rPr lang="en-US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i="1" baseline="300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oMath>
                          </a14:m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>
                            <a:buFontTx/>
                            <a:buNone/>
                          </a:pPr>
                          <a:endParaRPr lang="en-GB" dirty="0"/>
                        </a:p>
                        <a:p>
                          <a:pPr algn="ctr">
                            <a:buFontTx/>
                            <a:buNone/>
                          </a:pPr>
                          <a:endParaRPr lang="en-GB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Tx/>
                            <a:buNone/>
                            <a:defRPr/>
                          </a:pPr>
                          <a:r>
                            <a:rPr lang="en-GB" dirty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200" i="1" baseline="300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 </m:t>
                              </m:r>
                              <m:r>
                                <a:rPr lang="en-US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200" i="1" baseline="300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 </m:t>
                              </m:r>
                              <m:r>
                                <a:rPr lang="en-US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200" i="1" baseline="300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>
                            <a:buFontTx/>
                            <a:buNone/>
                          </a:pPr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>
                            <a:buFontTx/>
                            <a:buNone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8531459"/>
                      </a:ext>
                    </a:extLst>
                  </a:tr>
                  <a:tr h="1360249"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Tx/>
                            <a:buNone/>
                            <a:defRPr/>
                          </a:pPr>
                          <a:r>
                            <a:rPr lang="en-GB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 </m:t>
                              </m:r>
                              <m:r>
                                <a:rPr lang="en-US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GB" sz="1200" i="1" baseline="300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 </m:t>
                              </m:r>
                              <m:r>
                                <a:rPr lang="en-US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GB" sz="1200" i="1" baseline="300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>
                            <a:buFontTx/>
                            <a:buNone/>
                          </a:pPr>
                          <a:endParaRPr lang="en-GB" dirty="0"/>
                        </a:p>
                        <a:p>
                          <a:pPr algn="ctr">
                            <a:buFontTx/>
                            <a:buNone/>
                          </a:pPr>
                          <a:endParaRPr lang="en-GB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Tx/>
                            <a:buNone/>
                            <a:defRPr/>
                          </a:pPr>
                          <a:r>
                            <a:rPr lang="en-GB" dirty="0"/>
                            <a:t>h)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oMath>
                          </a14:m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>
                            <a:buFontTx/>
                            <a:buNone/>
                          </a:pPr>
                          <a:endParaRPr lang="en-GB" dirty="0"/>
                        </a:p>
                        <a:p>
                          <a:pPr algn="ctr">
                            <a:buFontTx/>
                            <a:buNone/>
                          </a:pPr>
                          <a:endParaRPr lang="en-GB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i)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pPr algn="ctr">
                            <a:buFontTx/>
                            <a:buNone/>
                          </a:pPr>
                          <a:endParaRPr lang="en-GB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64807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567A2E8-621D-095E-133E-C84E3045CD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3767953"/>
                  </p:ext>
                </p:extLst>
              </p:nvPr>
            </p:nvGraphicFramePr>
            <p:xfrm>
              <a:off x="130471" y="2595246"/>
              <a:ext cx="6597057" cy="4080747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99019">
                      <a:extLst>
                        <a:ext uri="{9D8B030D-6E8A-4147-A177-3AD203B41FA5}">
                          <a16:colId xmlns:a16="http://schemas.microsoft.com/office/drawing/2014/main" val="4132428466"/>
                        </a:ext>
                      </a:extLst>
                    </a:gridCol>
                    <a:gridCol w="2199019">
                      <a:extLst>
                        <a:ext uri="{9D8B030D-6E8A-4147-A177-3AD203B41FA5}">
                          <a16:colId xmlns:a16="http://schemas.microsoft.com/office/drawing/2014/main" val="153392874"/>
                        </a:ext>
                      </a:extLst>
                    </a:gridCol>
                    <a:gridCol w="2199019">
                      <a:extLst>
                        <a:ext uri="{9D8B030D-6E8A-4147-A177-3AD203B41FA5}">
                          <a16:colId xmlns:a16="http://schemas.microsoft.com/office/drawing/2014/main" val="1583704347"/>
                        </a:ext>
                      </a:extLst>
                    </a:gridCol>
                  </a:tblGrid>
                  <a:tr h="13602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" t="-446" r="-200554" b="-2004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277" t="-446" r="-100554" b="-2004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77" t="-446" r="-554" b="-2004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0106230"/>
                      </a:ext>
                    </a:extLst>
                  </a:tr>
                  <a:tr h="13602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" t="-100897" r="-200554" b="-101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277" t="-100897" r="-100554" b="-101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77" t="-100897" r="-554" b="-101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8531459"/>
                      </a:ext>
                    </a:extLst>
                  </a:tr>
                  <a:tr h="13602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" t="-200000" r="-200554" b="-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277" t="-200000" r="-100554" b="-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77" t="-200000" r="-554" b="-8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64807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9D45F1E-6E66-3F7B-6AAC-E69C1033A8FE}"/>
              </a:ext>
            </a:extLst>
          </p:cNvPr>
          <p:cNvSpPr txBox="1"/>
          <p:nvPr/>
        </p:nvSpPr>
        <p:spPr>
          <a:xfrm>
            <a:off x="1446702" y="6890670"/>
            <a:ext cx="95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7. Work out.</a:t>
            </a:r>
            <a:endParaRPr lang="en-GB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B8FB3-26E7-95CA-D595-1F4E13B38A0C}"/>
              </a:ext>
            </a:extLst>
          </p:cNvPr>
          <p:cNvSpPr/>
          <p:nvPr/>
        </p:nvSpPr>
        <p:spPr>
          <a:xfrm>
            <a:off x="128919" y="6813779"/>
            <a:ext cx="1164021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KNOWLEDGE CHECK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CF6A838-A5AE-8124-5A8D-76526BA4B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927965"/>
              </p:ext>
            </p:extLst>
          </p:nvPr>
        </p:nvGraphicFramePr>
        <p:xfrm>
          <a:off x="128920" y="7320940"/>
          <a:ext cx="6597056" cy="2387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9264">
                  <a:extLst>
                    <a:ext uri="{9D8B030D-6E8A-4147-A177-3AD203B41FA5}">
                      <a16:colId xmlns:a16="http://schemas.microsoft.com/office/drawing/2014/main" val="3642547164"/>
                    </a:ext>
                  </a:extLst>
                </a:gridCol>
                <a:gridCol w="1649264">
                  <a:extLst>
                    <a:ext uri="{9D8B030D-6E8A-4147-A177-3AD203B41FA5}">
                      <a16:colId xmlns:a16="http://schemas.microsoft.com/office/drawing/2014/main" val="1628339999"/>
                    </a:ext>
                  </a:extLst>
                </a:gridCol>
                <a:gridCol w="1649264">
                  <a:extLst>
                    <a:ext uri="{9D8B030D-6E8A-4147-A177-3AD203B41FA5}">
                      <a16:colId xmlns:a16="http://schemas.microsoft.com/office/drawing/2014/main" val="2843216093"/>
                    </a:ext>
                  </a:extLst>
                </a:gridCol>
                <a:gridCol w="1649264">
                  <a:extLst>
                    <a:ext uri="{9D8B030D-6E8A-4147-A177-3AD203B41FA5}">
                      <a16:colId xmlns:a16="http://schemas.microsoft.com/office/drawing/2014/main" val="2368608426"/>
                    </a:ext>
                  </a:extLst>
                </a:gridCol>
              </a:tblGrid>
              <a:tr h="795945">
                <a:tc>
                  <a:txBody>
                    <a:bodyPr/>
                    <a:lstStyle/>
                    <a:p>
                      <a:pPr marL="228600" indent="-228600">
                        <a:buAutoNum type="alphaLcParenR"/>
                      </a:pPr>
                      <a:r>
                        <a:rPr lang="en-GB" sz="1200" dirty="0"/>
                        <a:t>9 + -3 = </a:t>
                      </a:r>
                    </a:p>
                    <a:p>
                      <a:pPr marL="228600" indent="-228600">
                        <a:buAutoNum type="alphaLcParenR"/>
                      </a:pPr>
                      <a:endParaRPr lang="en-GB" sz="1200" dirty="0"/>
                    </a:p>
                    <a:p>
                      <a:pPr marL="0" indent="0" algn="ctr">
                        <a:buNone/>
                      </a:pPr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b) 10 + -4 = </a:t>
                      </a:r>
                    </a:p>
                    <a:p>
                      <a:endParaRPr lang="en-GB" sz="1200" dirty="0"/>
                    </a:p>
                    <a:p>
                      <a:pPr algn="ctr"/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c) 15 + -10 = </a:t>
                      </a:r>
                    </a:p>
                    <a:p>
                      <a:endParaRPr lang="en-GB" sz="1200" dirty="0"/>
                    </a:p>
                    <a:p>
                      <a:pPr algn="ctr"/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d) 23 + -17 = </a:t>
                      </a:r>
                    </a:p>
                    <a:p>
                      <a:endParaRPr lang="en-GB" sz="1200" dirty="0"/>
                    </a:p>
                    <a:p>
                      <a:pPr algn="ctr"/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602460"/>
                  </a:ext>
                </a:extLst>
              </a:tr>
              <a:tr h="795945">
                <a:tc>
                  <a:txBody>
                    <a:bodyPr/>
                    <a:lstStyle/>
                    <a:p>
                      <a:r>
                        <a:rPr lang="en-GB" sz="1200" dirty="0"/>
                        <a:t>e) 4 + -5 = </a:t>
                      </a:r>
                    </a:p>
                    <a:p>
                      <a:endParaRPr lang="en-GB" sz="1200" dirty="0"/>
                    </a:p>
                    <a:p>
                      <a:pPr algn="ctr"/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f) -6 + 7 = </a:t>
                      </a:r>
                    </a:p>
                    <a:p>
                      <a:endParaRPr lang="en-GB" sz="1200" dirty="0"/>
                    </a:p>
                    <a:p>
                      <a:pPr algn="ctr"/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g) -8 + 12 = </a:t>
                      </a:r>
                    </a:p>
                    <a:p>
                      <a:endParaRPr lang="en-GB" sz="1200" dirty="0"/>
                    </a:p>
                    <a:p>
                      <a:pPr algn="ctr"/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h) -12 + 8 = </a:t>
                      </a:r>
                    </a:p>
                    <a:p>
                      <a:endParaRPr lang="en-GB" sz="1200" dirty="0"/>
                    </a:p>
                    <a:p>
                      <a:pPr algn="ctr"/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74912"/>
                  </a:ext>
                </a:extLst>
              </a:tr>
              <a:tr h="795945">
                <a:tc>
                  <a:txBody>
                    <a:bodyPr/>
                    <a:lstStyle/>
                    <a:p>
                      <a:r>
                        <a:rPr lang="en-GB" sz="1200" dirty="0"/>
                        <a:t>i) -9 + -3 = </a:t>
                      </a:r>
                    </a:p>
                    <a:p>
                      <a:endParaRPr lang="en-GB" sz="1200" dirty="0"/>
                    </a:p>
                    <a:p>
                      <a:pPr algn="ctr"/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j) -10 + -4 = </a:t>
                      </a:r>
                    </a:p>
                    <a:p>
                      <a:endParaRPr lang="en-GB" sz="1200" dirty="0"/>
                    </a:p>
                    <a:p>
                      <a:pPr algn="ctr"/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k) -5 + -10 = </a:t>
                      </a:r>
                    </a:p>
                    <a:p>
                      <a:endParaRPr lang="en-GB" sz="1200" dirty="0"/>
                    </a:p>
                    <a:p>
                      <a:pPr algn="ctr"/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l) -23 + -17 = </a:t>
                      </a:r>
                    </a:p>
                    <a:p>
                      <a:endParaRPr lang="en-GB" sz="1200" dirty="0"/>
                    </a:p>
                    <a:p>
                      <a:pPr algn="ctr"/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0201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4F606-183B-D05E-D9C1-8FC0FE6F0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580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93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756107" y="12845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19 - I do…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275692" y="31054"/>
            <a:ext cx="158479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20 – We do…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4888441" y="7903"/>
            <a:ext cx="16078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21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7" name="Table 96"/>
              <p:cNvGraphicFramePr>
                <a:graphicFrameLocks noGrp="1"/>
              </p:cNvGraphicFramePr>
              <p:nvPr/>
            </p:nvGraphicFramePr>
            <p:xfrm>
              <a:off x="108465" y="298765"/>
              <a:ext cx="6655406" cy="28813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206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686009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40036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75729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24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2528829">
                    <a:tc>
                      <a:txBody>
                        <a:bodyPr/>
                        <a:lstStyle/>
                        <a:p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When multiplying powers with the same base, we ADD the indices.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7" name="Table 9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937259"/>
                  </p:ext>
                </p:extLst>
              </p:nvPr>
            </p:nvGraphicFramePr>
            <p:xfrm>
              <a:off x="108465" y="298765"/>
              <a:ext cx="6655406" cy="28813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206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686009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40036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75729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24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2528829">
                    <a:tc>
                      <a:txBody>
                        <a:bodyPr/>
                        <a:lstStyle/>
                        <a:p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When multiplying powers with the same base, we ADD the indices.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1588" t="-14458" r="-214079" b="-4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556" t="-14458" r="-96358" b="-4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8547" t="-14458" r="-692" b="-4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8" name="TextBox 137"/>
          <p:cNvSpPr txBox="1"/>
          <p:nvPr/>
        </p:nvSpPr>
        <p:spPr>
          <a:xfrm>
            <a:off x="1176567" y="3279128"/>
            <a:ext cx="833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8. Simplify</a:t>
            </a:r>
            <a:endParaRPr lang="en-GB" sz="1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640557" y="7461389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22 - I do…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160142" y="7456448"/>
            <a:ext cx="158479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23 – We do…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4772891" y="7456447"/>
            <a:ext cx="16078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24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2" name="Table 81"/>
              <p:cNvGraphicFramePr>
                <a:graphicFrameLocks noGrp="1"/>
              </p:cNvGraphicFramePr>
              <p:nvPr/>
            </p:nvGraphicFramePr>
            <p:xfrm>
              <a:off x="108464" y="7747309"/>
              <a:ext cx="6655404" cy="1815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489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683179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40035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757294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6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45510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When multiplying powers with the same base, we ADD the indices. </a:t>
                          </a:r>
                        </a:p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−7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2" name="Table 8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4028498"/>
                  </p:ext>
                </p:extLst>
              </p:nvPr>
            </p:nvGraphicFramePr>
            <p:xfrm>
              <a:off x="108464" y="7747309"/>
              <a:ext cx="6655404" cy="1815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489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683179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40035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757294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6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45510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When multiplying powers with the same base, we ADD the indices. </a:t>
                          </a:r>
                        </a:p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2246" t="-25000" r="-214855" b="-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6556" t="-25000" r="-96358" b="-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8547" t="-25000" r="-692" b="-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583CADA-9AA0-A967-3D16-EC4DF2313F60}"/>
              </a:ext>
            </a:extLst>
          </p:cNvPr>
          <p:cNvSpPr/>
          <p:nvPr/>
        </p:nvSpPr>
        <p:spPr>
          <a:xfrm>
            <a:off x="101296" y="3264603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9">
                <a:extLst>
                  <a:ext uri="{FF2B5EF4-FFF2-40B4-BE49-F238E27FC236}">
                    <a16:creationId xmlns:a16="http://schemas.microsoft.com/office/drawing/2014/main" id="{C71A43CA-4C91-9B96-14D6-2BFBF14EC2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0703330"/>
                  </p:ext>
                </p:extLst>
              </p:nvPr>
            </p:nvGraphicFramePr>
            <p:xfrm>
              <a:off x="101296" y="3698655"/>
              <a:ext cx="6655408" cy="367763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63852">
                      <a:extLst>
                        <a:ext uri="{9D8B030D-6E8A-4147-A177-3AD203B41FA5}">
                          <a16:colId xmlns:a16="http://schemas.microsoft.com/office/drawing/2014/main" val="3642547164"/>
                        </a:ext>
                      </a:extLst>
                    </a:gridCol>
                    <a:gridCol w="1663852">
                      <a:extLst>
                        <a:ext uri="{9D8B030D-6E8A-4147-A177-3AD203B41FA5}">
                          <a16:colId xmlns:a16="http://schemas.microsoft.com/office/drawing/2014/main" val="1628339999"/>
                        </a:ext>
                      </a:extLst>
                    </a:gridCol>
                    <a:gridCol w="1663852">
                      <a:extLst>
                        <a:ext uri="{9D8B030D-6E8A-4147-A177-3AD203B41FA5}">
                          <a16:colId xmlns:a16="http://schemas.microsoft.com/office/drawing/2014/main" val="2843216093"/>
                        </a:ext>
                      </a:extLst>
                    </a:gridCol>
                    <a:gridCol w="1663852">
                      <a:extLst>
                        <a:ext uri="{9D8B030D-6E8A-4147-A177-3AD203B41FA5}">
                          <a16:colId xmlns:a16="http://schemas.microsoft.com/office/drawing/2014/main" val="2368608426"/>
                        </a:ext>
                      </a:extLst>
                    </a:gridCol>
                  </a:tblGrid>
                  <a:tr h="1225877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kumimoji="0" lang="en-US" sz="12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GB" sz="12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0" lang="en-US" sz="12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kumimoji="0" 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3602460"/>
                      </a:ext>
                    </a:extLst>
                  </a:tr>
                  <a:tr h="1225877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  <m:sup>
                                  <m:r>
                                    <a:rPr lang="en-US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 </m:t>
                              </m:r>
                              <m:sSup>
                                <m:sSupPr>
                                  <m:ctrlPr>
                                    <a:rPr lang="en-US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  <m:sup>
                                  <m:r>
                                    <a:rPr lang="en-US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−9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974912"/>
                      </a:ext>
                    </a:extLst>
                  </a:tr>
                  <a:tr h="122587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endParaRPr lang="en-US" sz="1200" b="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702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9">
                <a:extLst>
                  <a:ext uri="{FF2B5EF4-FFF2-40B4-BE49-F238E27FC236}">
                    <a16:creationId xmlns:a16="http://schemas.microsoft.com/office/drawing/2014/main" id="{C71A43CA-4C91-9B96-14D6-2BFBF14EC2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0703330"/>
                  </p:ext>
                </p:extLst>
              </p:nvPr>
            </p:nvGraphicFramePr>
            <p:xfrm>
              <a:off x="101296" y="3698655"/>
              <a:ext cx="6655408" cy="367763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63852">
                      <a:extLst>
                        <a:ext uri="{9D8B030D-6E8A-4147-A177-3AD203B41FA5}">
                          <a16:colId xmlns:a16="http://schemas.microsoft.com/office/drawing/2014/main" val="3642547164"/>
                        </a:ext>
                      </a:extLst>
                    </a:gridCol>
                    <a:gridCol w="1663852">
                      <a:extLst>
                        <a:ext uri="{9D8B030D-6E8A-4147-A177-3AD203B41FA5}">
                          <a16:colId xmlns:a16="http://schemas.microsoft.com/office/drawing/2014/main" val="1628339999"/>
                        </a:ext>
                      </a:extLst>
                    </a:gridCol>
                    <a:gridCol w="1663852">
                      <a:extLst>
                        <a:ext uri="{9D8B030D-6E8A-4147-A177-3AD203B41FA5}">
                          <a16:colId xmlns:a16="http://schemas.microsoft.com/office/drawing/2014/main" val="2843216093"/>
                        </a:ext>
                      </a:extLst>
                    </a:gridCol>
                    <a:gridCol w="1663852">
                      <a:extLst>
                        <a:ext uri="{9D8B030D-6E8A-4147-A177-3AD203B41FA5}">
                          <a16:colId xmlns:a16="http://schemas.microsoft.com/office/drawing/2014/main" val="2368608426"/>
                        </a:ext>
                      </a:extLst>
                    </a:gridCol>
                  </a:tblGrid>
                  <a:tr h="12258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6" t="-495" r="-301099" b="-200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495" r="-200000" b="-200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733" t="-495" r="-100733" b="-200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33" t="-495" r="-733" b="-2004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3602460"/>
                      </a:ext>
                    </a:extLst>
                  </a:tr>
                  <a:tr h="12258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6" t="-100995" r="-301099" b="-1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100995" r="-200000" b="-1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733" t="-100995" r="-100733" b="-1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33" t="-100995" r="-733" b="-1014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74912"/>
                      </a:ext>
                    </a:extLst>
                  </a:tr>
                  <a:tr h="12258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6" t="-200000" r="-301099" b="-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200000" r="-200000" b="-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733" t="-200000" r="-100733" b="-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33" t="-200000" r="-733" b="-9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7020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BEA31-D7AD-E100-C2E9-82B150F9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879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260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837683" y="3226326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25 - I do…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453134" y="3234163"/>
            <a:ext cx="158479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26 – We do…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5148889" y="3242092"/>
            <a:ext cx="16078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27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4" name="Table 263"/>
              <p:cNvGraphicFramePr>
                <a:graphicFrameLocks noGrp="1"/>
              </p:cNvGraphicFramePr>
              <p:nvPr/>
            </p:nvGraphicFramePr>
            <p:xfrm>
              <a:off x="67648" y="3541836"/>
              <a:ext cx="6689053" cy="21168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0922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83605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752493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592033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99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558399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Multiply the coefficients.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sSup>
                                  <m:sSupPr>
                                    <m:ctrlPr>
                                      <a:rPr lang="en-US" sz="1200" b="1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1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1200" b="1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1200" b="1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1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1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  <m:r>
                                      <a:rPr lang="en-US" sz="1200" b="1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GB" sz="1200" b="1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sSup>
                                  <m:sSupPr>
                                    <m:ctrlPr>
                                      <a:rPr lang="en-US" sz="1200" b="1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1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GB" sz="1200" b="1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  <m:r>
                                  <a:rPr lang="en-US" sz="1200" b="1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1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1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GB" sz="1200" b="1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1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1200" b="1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12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1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1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sz="1200" b="1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1200" b="1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𝟕</m:t>
                                  </m:r>
                                </m:sup>
                              </m:sSup>
                            </m:oMath>
                          </a14:m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558399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Multiply the variables (add the indices)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251944"/>
                      </a:ext>
                    </a:extLst>
                  </a:tr>
                  <a:tr h="558399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US" sz="1200" baseline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(put together)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86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4" name="Table 26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9360492"/>
                  </p:ext>
                </p:extLst>
              </p:nvPr>
            </p:nvGraphicFramePr>
            <p:xfrm>
              <a:off x="67648" y="3541836"/>
              <a:ext cx="6689053" cy="21168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0922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83605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752493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592033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99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558399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Multiply the coefficients.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7994" t="-21107" r="-178317" b="-692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0972" t="-21107" r="-91319" b="-692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1073" t="-21107" r="-766" b="-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Multiply the variables (add the indices)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251944"/>
                      </a:ext>
                    </a:extLst>
                  </a:tr>
                  <a:tr h="558399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US" sz="1200" baseline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(put together)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86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1" name="TextBox 220">
            <a:extLst>
              <a:ext uri="{FF2B5EF4-FFF2-40B4-BE49-F238E27FC236}">
                <a16:creationId xmlns:a16="http://schemas.microsoft.com/office/drawing/2014/main" id="{244A782A-DC95-3049-82B4-7824915E73C9}"/>
              </a:ext>
            </a:extLst>
          </p:cNvPr>
          <p:cNvSpPr txBox="1"/>
          <p:nvPr/>
        </p:nvSpPr>
        <p:spPr>
          <a:xfrm>
            <a:off x="1270470" y="5710418"/>
            <a:ext cx="833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9.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Simplify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5362" y="31845"/>
            <a:ext cx="833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9. Simplify</a:t>
            </a:r>
            <a:endParaRPr lang="en-GB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7649" y="6098912"/>
                <a:ext cx="9950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2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9" y="6098912"/>
                <a:ext cx="995081" cy="276999"/>
              </a:xfrm>
              <a:prstGeom prst="rect">
                <a:avLst/>
              </a:prstGeom>
              <a:blipFill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2295322" y="6110474"/>
                <a:ext cx="10555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4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322" y="6110474"/>
                <a:ext cx="1055545" cy="276999"/>
              </a:xfrm>
              <a:prstGeom prst="rect">
                <a:avLst/>
              </a:prstGeom>
              <a:blipFill>
                <a:blip r:embed="rId4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4547055" y="6100199"/>
                <a:ext cx="981744" cy="2791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055" y="6100199"/>
                <a:ext cx="981744" cy="279115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67649" y="7356011"/>
                <a:ext cx="1085938" cy="2791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2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9" y="7356011"/>
                <a:ext cx="1085938" cy="279115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2279227" y="7344649"/>
                <a:ext cx="10716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4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227" y="7344649"/>
                <a:ext cx="1071640" cy="276999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4523973" y="7331774"/>
                <a:ext cx="10048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973" y="7331774"/>
                <a:ext cx="1004826" cy="276999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88234" y="8545667"/>
                <a:ext cx="10885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7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34" y="8545667"/>
                <a:ext cx="1088503" cy="276999"/>
              </a:xfrm>
              <a:prstGeom prst="rect">
                <a:avLst/>
              </a:prstGeom>
              <a:blipFill>
                <a:blip r:embed="rId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2328770" y="8545667"/>
                <a:ext cx="12262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4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770" y="8545667"/>
                <a:ext cx="1226298" cy="276999"/>
              </a:xfrm>
              <a:prstGeom prst="rect">
                <a:avLst/>
              </a:prstGeom>
              <a:blipFill>
                <a:blip r:embed="rId10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4498871" y="8545410"/>
                <a:ext cx="1044260" cy="2791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×8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871" y="8545410"/>
                <a:ext cx="1044260" cy="279115"/>
              </a:xfrm>
              <a:prstGeom prst="rect">
                <a:avLst/>
              </a:prstGeom>
              <a:blipFill>
                <a:blip r:embed="rId11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2C8A2F4-78CC-17F5-A172-FD29A904047D}"/>
              </a:ext>
            </a:extLst>
          </p:cNvPr>
          <p:cNvSpPr/>
          <p:nvPr/>
        </p:nvSpPr>
        <p:spPr>
          <a:xfrm>
            <a:off x="111831" y="5669529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EA2F7D-BD86-D5BC-CFB1-D84FDEADDAFC}"/>
              </a:ext>
            </a:extLst>
          </p:cNvPr>
          <p:cNvSpPr/>
          <p:nvPr/>
        </p:nvSpPr>
        <p:spPr>
          <a:xfrm>
            <a:off x="67649" y="21108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9">
                <a:extLst>
                  <a:ext uri="{FF2B5EF4-FFF2-40B4-BE49-F238E27FC236}">
                    <a16:creationId xmlns:a16="http://schemas.microsoft.com/office/drawing/2014/main" id="{A80AC612-CCD7-8329-0198-C92A43F525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5820447"/>
                  </p:ext>
                </p:extLst>
              </p:nvPr>
            </p:nvGraphicFramePr>
            <p:xfrm>
              <a:off x="101296" y="365404"/>
              <a:ext cx="6655408" cy="285394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63852">
                      <a:extLst>
                        <a:ext uri="{9D8B030D-6E8A-4147-A177-3AD203B41FA5}">
                          <a16:colId xmlns:a16="http://schemas.microsoft.com/office/drawing/2014/main" val="3642547164"/>
                        </a:ext>
                      </a:extLst>
                    </a:gridCol>
                    <a:gridCol w="1663852">
                      <a:extLst>
                        <a:ext uri="{9D8B030D-6E8A-4147-A177-3AD203B41FA5}">
                          <a16:colId xmlns:a16="http://schemas.microsoft.com/office/drawing/2014/main" val="1628339999"/>
                        </a:ext>
                      </a:extLst>
                    </a:gridCol>
                    <a:gridCol w="1663852">
                      <a:extLst>
                        <a:ext uri="{9D8B030D-6E8A-4147-A177-3AD203B41FA5}">
                          <a16:colId xmlns:a16="http://schemas.microsoft.com/office/drawing/2014/main" val="2843216093"/>
                        </a:ext>
                      </a:extLst>
                    </a:gridCol>
                    <a:gridCol w="1663852">
                      <a:extLst>
                        <a:ext uri="{9D8B030D-6E8A-4147-A177-3AD203B41FA5}">
                          <a16:colId xmlns:a16="http://schemas.microsoft.com/office/drawing/2014/main" val="2368608426"/>
                        </a:ext>
                      </a:extLst>
                    </a:gridCol>
                  </a:tblGrid>
                  <a:tr h="951314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algn="ctr"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3602460"/>
                      </a:ext>
                    </a:extLst>
                  </a:tr>
                  <a:tr h="951314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974912"/>
                      </a:ext>
                    </a:extLst>
                  </a:tr>
                  <a:tr h="951314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</m:oMath>
                          </a14:m>
                          <a:endParaRPr lang="en-US" sz="1200" b="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702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9">
                <a:extLst>
                  <a:ext uri="{FF2B5EF4-FFF2-40B4-BE49-F238E27FC236}">
                    <a16:creationId xmlns:a16="http://schemas.microsoft.com/office/drawing/2014/main" id="{A80AC612-CCD7-8329-0198-C92A43F525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5820447"/>
                  </p:ext>
                </p:extLst>
              </p:nvPr>
            </p:nvGraphicFramePr>
            <p:xfrm>
              <a:off x="101296" y="365404"/>
              <a:ext cx="6655408" cy="285394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63852">
                      <a:extLst>
                        <a:ext uri="{9D8B030D-6E8A-4147-A177-3AD203B41FA5}">
                          <a16:colId xmlns:a16="http://schemas.microsoft.com/office/drawing/2014/main" val="3642547164"/>
                        </a:ext>
                      </a:extLst>
                    </a:gridCol>
                    <a:gridCol w="1663852">
                      <a:extLst>
                        <a:ext uri="{9D8B030D-6E8A-4147-A177-3AD203B41FA5}">
                          <a16:colId xmlns:a16="http://schemas.microsoft.com/office/drawing/2014/main" val="1628339999"/>
                        </a:ext>
                      </a:extLst>
                    </a:gridCol>
                    <a:gridCol w="1663852">
                      <a:extLst>
                        <a:ext uri="{9D8B030D-6E8A-4147-A177-3AD203B41FA5}">
                          <a16:colId xmlns:a16="http://schemas.microsoft.com/office/drawing/2014/main" val="2843216093"/>
                        </a:ext>
                      </a:extLst>
                    </a:gridCol>
                    <a:gridCol w="1663852">
                      <a:extLst>
                        <a:ext uri="{9D8B030D-6E8A-4147-A177-3AD203B41FA5}">
                          <a16:colId xmlns:a16="http://schemas.microsoft.com/office/drawing/2014/main" val="2368608426"/>
                        </a:ext>
                      </a:extLst>
                    </a:gridCol>
                  </a:tblGrid>
                  <a:tr h="9513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366" t="-637" r="-301099" b="-200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00000" t="-637" r="-200000" b="-200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200733" t="-637" r="-100733" b="-200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300733" t="-637" r="-733" b="-2006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3602460"/>
                      </a:ext>
                    </a:extLst>
                  </a:tr>
                  <a:tr h="9513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366" t="-101282" r="-301099" b="-1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00000" t="-101282" r="-200000" b="-1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200733" t="-101282" r="-100733" b="-1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300733" t="-101282" r="-733" b="-101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74912"/>
                      </a:ext>
                    </a:extLst>
                  </a:tr>
                  <a:tr h="9513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366" t="-200000" r="-301099" b="-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00000" t="-200000" r="-200000" b="-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200733" t="-200000" r="-100733" b="-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300733" t="-200000" r="-733" b="-12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70201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B23068E9-55EB-9B93-FAB3-9D246B6E5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047993"/>
              </p:ext>
            </p:extLst>
          </p:nvPr>
        </p:nvGraphicFramePr>
        <p:xfrm>
          <a:off x="101295" y="6064739"/>
          <a:ext cx="6655407" cy="36811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8469">
                  <a:extLst>
                    <a:ext uri="{9D8B030D-6E8A-4147-A177-3AD203B41FA5}">
                      <a16:colId xmlns:a16="http://schemas.microsoft.com/office/drawing/2014/main" val="1289253696"/>
                    </a:ext>
                  </a:extLst>
                </a:gridCol>
                <a:gridCol w="2218469">
                  <a:extLst>
                    <a:ext uri="{9D8B030D-6E8A-4147-A177-3AD203B41FA5}">
                      <a16:colId xmlns:a16="http://schemas.microsoft.com/office/drawing/2014/main" val="3614161887"/>
                    </a:ext>
                  </a:extLst>
                </a:gridCol>
                <a:gridCol w="2218469">
                  <a:extLst>
                    <a:ext uri="{9D8B030D-6E8A-4147-A177-3AD203B41FA5}">
                      <a16:colId xmlns:a16="http://schemas.microsoft.com/office/drawing/2014/main" val="432697677"/>
                    </a:ext>
                  </a:extLst>
                </a:gridCol>
              </a:tblGrid>
              <a:tr h="1227061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842844"/>
                  </a:ext>
                </a:extLst>
              </a:tr>
              <a:tr h="1227061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415549"/>
                  </a:ext>
                </a:extLst>
              </a:tr>
              <a:tr h="1227061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64107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EEF5C-DB2B-BB88-BF09-4B828D01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401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9">
                <a:extLst>
                  <a:ext uri="{FF2B5EF4-FFF2-40B4-BE49-F238E27FC236}">
                    <a16:creationId xmlns:a16="http://schemas.microsoft.com/office/drawing/2014/main" id="{4217F4CD-628F-DA8F-D51E-5FD36B1C3B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3748866"/>
                  </p:ext>
                </p:extLst>
              </p:nvPr>
            </p:nvGraphicFramePr>
            <p:xfrm>
              <a:off x="101295" y="5533953"/>
              <a:ext cx="6655407" cy="421197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18469">
                      <a:extLst>
                        <a:ext uri="{9D8B030D-6E8A-4147-A177-3AD203B41FA5}">
                          <a16:colId xmlns:a16="http://schemas.microsoft.com/office/drawing/2014/main" val="1289253696"/>
                        </a:ext>
                      </a:extLst>
                    </a:gridCol>
                    <a:gridCol w="2218469">
                      <a:extLst>
                        <a:ext uri="{9D8B030D-6E8A-4147-A177-3AD203B41FA5}">
                          <a16:colId xmlns:a16="http://schemas.microsoft.com/office/drawing/2014/main" val="3614161887"/>
                        </a:ext>
                      </a:extLst>
                    </a:gridCol>
                    <a:gridCol w="2218469">
                      <a:extLst>
                        <a:ext uri="{9D8B030D-6E8A-4147-A177-3AD203B41FA5}">
                          <a16:colId xmlns:a16="http://schemas.microsoft.com/office/drawing/2014/main" val="432697677"/>
                        </a:ext>
                      </a:extLst>
                    </a:gridCol>
                  </a:tblGrid>
                  <a:tr h="140399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  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7842844"/>
                      </a:ext>
                    </a:extLst>
                  </a:tr>
                  <a:tr h="140399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5415549"/>
                      </a:ext>
                    </a:extLst>
                  </a:tr>
                  <a:tr h="140399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</a:t>
                          </a:r>
                          <a:r>
                            <a:rPr lang="en-GB" sz="12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200" baseline="30000" dirty="0">
                              <a:solidFill>
                                <a:prstClr val="black"/>
                              </a:solidFill>
                            </a:rPr>
                            <a:t> </a:t>
                          </a:r>
                        </a:p>
                        <a:p>
                          <a:endParaRPr lang="en-US" sz="1200" baseline="300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200" baseline="30000" dirty="0">
                              <a:solidFill>
                                <a:prstClr val="black"/>
                              </a:solidFill>
                            </a:rPr>
                            <a:t> </a:t>
                          </a:r>
                        </a:p>
                        <a:p>
                          <a:endParaRPr lang="en-US" sz="1200" baseline="300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12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2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sSup>
                                <m:sSupPr>
                                  <m:ctrlPr>
                                    <a:rPr lang="en-US" sz="12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16410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9">
                <a:extLst>
                  <a:ext uri="{FF2B5EF4-FFF2-40B4-BE49-F238E27FC236}">
                    <a16:creationId xmlns:a16="http://schemas.microsoft.com/office/drawing/2014/main" id="{4217F4CD-628F-DA8F-D51E-5FD36B1C3B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3748866"/>
                  </p:ext>
                </p:extLst>
              </p:nvPr>
            </p:nvGraphicFramePr>
            <p:xfrm>
              <a:off x="101295" y="5533953"/>
              <a:ext cx="6655407" cy="421197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18469">
                      <a:extLst>
                        <a:ext uri="{9D8B030D-6E8A-4147-A177-3AD203B41FA5}">
                          <a16:colId xmlns:a16="http://schemas.microsoft.com/office/drawing/2014/main" val="1289253696"/>
                        </a:ext>
                      </a:extLst>
                    </a:gridCol>
                    <a:gridCol w="2218469">
                      <a:extLst>
                        <a:ext uri="{9D8B030D-6E8A-4147-A177-3AD203B41FA5}">
                          <a16:colId xmlns:a16="http://schemas.microsoft.com/office/drawing/2014/main" val="3614161887"/>
                        </a:ext>
                      </a:extLst>
                    </a:gridCol>
                    <a:gridCol w="2218469">
                      <a:extLst>
                        <a:ext uri="{9D8B030D-6E8A-4147-A177-3AD203B41FA5}">
                          <a16:colId xmlns:a16="http://schemas.microsoft.com/office/drawing/2014/main" val="432697677"/>
                        </a:ext>
                      </a:extLst>
                    </a:gridCol>
                  </a:tblGrid>
                  <a:tr h="140399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  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7842844"/>
                      </a:ext>
                    </a:extLst>
                  </a:tr>
                  <a:tr h="140399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5415549"/>
                      </a:ext>
                    </a:extLst>
                  </a:tr>
                  <a:tr h="14039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200000" r="-200824" b="-8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00000" r="-100274" b="-8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9" t="-200000" r="-549" b="-8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16410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7A42642-AFB8-F342-9415-99A81178C405}"/>
                  </a:ext>
                </a:extLst>
              </p:cNvPr>
              <p:cNvSpPr txBox="1"/>
              <p:nvPr/>
            </p:nvSpPr>
            <p:spPr>
              <a:xfrm>
                <a:off x="171946" y="5561666"/>
                <a:ext cx="6496755" cy="276999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pPr marR="0" lvl="0" algn="l" defTabSz="914400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GB" sz="1200">
                    <a:solidFill>
                      <a:prstClr val="black"/>
                    </a:solidFill>
                    <a:latin typeface="Calibri" panose="020F0502020204030204"/>
                  </a:rPr>
                  <a:t>a)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kumimoji="0" lang="en-GB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×</m:t>
                    </m:r>
                    <m:r>
                      <a:rPr kumimoji="0" lang="en-US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4</m:t>
                    </m:r>
                    <m:r>
                      <a:rPr kumimoji="0" lang="en-US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baseline="30000" noProof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GB" sz="1200" baseline="30000">
                  <a:solidFill>
                    <a:prstClr val="black"/>
                  </a:solidFill>
                </a:endParaRPr>
              </a:p>
              <a:p>
                <a:pPr lvl="0">
                  <a:defRPr/>
                </a:pPr>
                <a:r>
                  <a:rPr lang="en-GB" sz="1200">
                    <a:solidFill>
                      <a:srgbClr val="000000"/>
                    </a:solidFill>
                  </a:rPr>
                  <a:t>b)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×11</m:t>
                    </m:r>
                    <m:sSup>
                      <m:sSupPr>
                        <m:ctrlP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GB" sz="1200" baseline="30000">
                    <a:solidFill>
                      <a:prstClr val="black"/>
                    </a:solidFill>
                  </a:rPr>
                  <a:t>   </a:t>
                </a:r>
              </a:p>
              <a:p>
                <a:pPr lvl="0">
                  <a:defRPr/>
                </a:pPr>
                <a:r>
                  <a:rPr lang="en-GB" sz="1200">
                    <a:solidFill>
                      <a:srgbClr val="000000"/>
                    </a:solidFill>
                  </a:rPr>
                  <a:t>    c) 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  <m:r>
                      <a:rPr lang="en-US" sz="1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−11</m:t>
                        </m:r>
                      </m:sup>
                    </m:sSup>
                  </m:oMath>
                </a14:m>
                <a:endParaRPr lang="en-US" sz="1200" baseline="300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7A42642-AFB8-F342-9415-99A81178C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46" y="5561666"/>
                <a:ext cx="6496755" cy="276999"/>
              </a:xfrm>
              <a:prstGeom prst="rect">
                <a:avLst/>
              </a:prstGeom>
              <a:blipFill>
                <a:blip r:embed="rId3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134328" y="47271"/>
                <a:ext cx="12007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11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28" y="47271"/>
                <a:ext cx="1200713" cy="27699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307063" y="47271"/>
                <a:ext cx="10807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3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063" y="47271"/>
                <a:ext cx="1080745" cy="276999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4467110" y="37196"/>
                <a:ext cx="1044260" cy="2791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3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110" y="37196"/>
                <a:ext cx="1044260" cy="279115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134328" y="1295835"/>
                <a:ext cx="11221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8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28" y="1295835"/>
                <a:ext cx="1122167" cy="276999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253193" y="1295835"/>
                <a:ext cx="10911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15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193" y="1295835"/>
                <a:ext cx="1091132" cy="276999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4548751" y="1288580"/>
                <a:ext cx="1053942" cy="2791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×9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751" y="1288580"/>
                <a:ext cx="1053942" cy="279115"/>
              </a:xfrm>
              <a:prstGeom prst="rect">
                <a:avLst/>
              </a:prstGeom>
              <a:blipFill>
                <a:blip r:embed="rId9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912738" y="2581640"/>
            <a:ext cx="140069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28 - I do…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432324" y="2576699"/>
            <a:ext cx="16003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29 – We do…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5045073" y="2576698"/>
            <a:ext cx="162362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30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6" name="Table 75"/>
              <p:cNvGraphicFramePr>
                <a:graphicFrameLocks noGrp="1"/>
              </p:cNvGraphicFramePr>
              <p:nvPr/>
            </p:nvGraphicFramePr>
            <p:xfrm>
              <a:off x="101296" y="2888974"/>
              <a:ext cx="6655406" cy="21168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1035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936880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21708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85783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99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558399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Multiply the coefficients.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558399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Multiply the variables (add the indices)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251944"/>
                      </a:ext>
                    </a:extLst>
                  </a:tr>
                  <a:tr h="558399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US" sz="1200" baseline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(put together)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86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6" name="Table 7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762210"/>
                  </p:ext>
                </p:extLst>
              </p:nvPr>
            </p:nvGraphicFramePr>
            <p:xfrm>
              <a:off x="101296" y="2888974"/>
              <a:ext cx="6655406" cy="21168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1035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936880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21708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85783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99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558399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Multiply the coefficients.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62893" t="-20690" r="-181761" b="-69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73244" t="-20690" r="-93311" b="-69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294946" t="-20690" r="-722" b="-6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Multiply the variables (add the indices)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251944"/>
                      </a:ext>
                    </a:extLst>
                  </a:tr>
                  <a:tr h="558399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US" sz="1200" baseline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(put together)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86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7A42642-AFB8-F342-9415-99A81178C405}"/>
                  </a:ext>
                </a:extLst>
              </p:cNvPr>
              <p:cNvSpPr txBox="1"/>
              <p:nvPr/>
            </p:nvSpPr>
            <p:spPr>
              <a:xfrm>
                <a:off x="134328" y="7000184"/>
                <a:ext cx="6496755" cy="276999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pPr marR="0" lvl="0" algn="l" defTabSz="914400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GB" sz="1200">
                    <a:solidFill>
                      <a:prstClr val="black"/>
                    </a:solidFill>
                    <a:latin typeface="Calibri" panose="020F0502020204030204"/>
                  </a:rPr>
                  <a:t>d) </a:t>
                </a:r>
                <a14:m>
                  <m:oMath xmlns:m="http://schemas.openxmlformats.org/officeDocument/2006/math">
                    <m:r>
                      <a:rPr lang="en-GB" sz="1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kumimoji="0" lang="en-GB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×8</m:t>
                    </m:r>
                    <m:sSup>
                      <m:sSupPr>
                        <m:ctrlPr>
                          <a:rPr kumimoji="0" lang="en-US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1200" cap="none" spc="0" normalizeH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en-GB" sz="1200" baseline="30000">
                  <a:solidFill>
                    <a:prstClr val="black"/>
                  </a:solidFill>
                </a:endParaRPr>
              </a:p>
              <a:p>
                <a:pPr lvl="0">
                  <a:defRPr/>
                </a:pPr>
                <a:r>
                  <a:rPr lang="en-GB" sz="1200">
                    <a:solidFill>
                      <a:srgbClr val="000000"/>
                    </a:solidFill>
                  </a:rPr>
                  <a:t> e) 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baseline="30000">
                  <a:solidFill>
                    <a:prstClr val="black"/>
                  </a:solidFill>
                </a:endParaRPr>
              </a:p>
              <a:p>
                <a:pPr lvl="0">
                  <a:defRPr/>
                </a:pPr>
                <a:r>
                  <a:rPr lang="en-GB" sz="1200">
                    <a:solidFill>
                      <a:srgbClr val="000000"/>
                    </a:solidFill>
                  </a:rPr>
                  <a:t>     f) 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sSupPr>
                        <m:ctrlP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−8</m:t>
                        </m:r>
                      </m:sup>
                    </m:sSup>
                    <m:r>
                      <a:rPr lang="en-US" sz="1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×3</m:t>
                    </m:r>
                    <m:sSup>
                      <m:sSupPr>
                        <m:ctrlP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sz="1200" baseline="300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7A42642-AFB8-F342-9415-99A81178C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28" y="7000184"/>
                <a:ext cx="6496755" cy="276999"/>
              </a:xfrm>
              <a:prstGeom prst="rect">
                <a:avLst/>
              </a:prstGeom>
              <a:blipFill>
                <a:blip r:embed="rId11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244A782A-DC95-3049-82B4-7824915E73C9}"/>
              </a:ext>
            </a:extLst>
          </p:cNvPr>
          <p:cNvSpPr txBox="1"/>
          <p:nvPr/>
        </p:nvSpPr>
        <p:spPr>
          <a:xfrm>
            <a:off x="1273134" y="5181725"/>
            <a:ext cx="911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11.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Simplify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71815A-7294-8541-8CBB-F243810FB526}"/>
              </a:ext>
            </a:extLst>
          </p:cNvPr>
          <p:cNvSpPr/>
          <p:nvPr/>
        </p:nvSpPr>
        <p:spPr>
          <a:xfrm>
            <a:off x="101295" y="5100544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4E88F2-330D-66EF-7D91-EEFBBDE03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859693"/>
              </p:ext>
            </p:extLst>
          </p:nvPr>
        </p:nvGraphicFramePr>
        <p:xfrm>
          <a:off x="101296" y="43955"/>
          <a:ext cx="6655407" cy="24541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8469">
                  <a:extLst>
                    <a:ext uri="{9D8B030D-6E8A-4147-A177-3AD203B41FA5}">
                      <a16:colId xmlns:a16="http://schemas.microsoft.com/office/drawing/2014/main" val="3884366235"/>
                    </a:ext>
                  </a:extLst>
                </a:gridCol>
                <a:gridCol w="2218469">
                  <a:extLst>
                    <a:ext uri="{9D8B030D-6E8A-4147-A177-3AD203B41FA5}">
                      <a16:colId xmlns:a16="http://schemas.microsoft.com/office/drawing/2014/main" val="3535353253"/>
                    </a:ext>
                  </a:extLst>
                </a:gridCol>
                <a:gridCol w="2218469">
                  <a:extLst>
                    <a:ext uri="{9D8B030D-6E8A-4147-A177-3AD203B41FA5}">
                      <a16:colId xmlns:a16="http://schemas.microsoft.com/office/drawing/2014/main" val="1683283048"/>
                    </a:ext>
                  </a:extLst>
                </a:gridCol>
              </a:tblGrid>
              <a:tr h="1227061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833923"/>
                  </a:ext>
                </a:extLst>
              </a:tr>
              <a:tr h="1227061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083690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F3AEDA-03B1-93B6-8803-A0F5DE90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786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0" name="Table 69"/>
              <p:cNvGraphicFramePr>
                <a:graphicFrameLocks noGrp="1"/>
              </p:cNvGraphicFramePr>
              <p:nvPr/>
            </p:nvGraphicFramePr>
            <p:xfrm>
              <a:off x="99077" y="302991"/>
              <a:ext cx="6667484" cy="35171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3078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91726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710926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71754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066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3210560">
                    <a:tc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  <m:r>
                                <a:rPr lang="en-US" sz="12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÷</m:t>
                              </m:r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0" name="Table 6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9153552"/>
                  </p:ext>
                </p:extLst>
              </p:nvPr>
            </p:nvGraphicFramePr>
            <p:xfrm>
              <a:off x="99077" y="302991"/>
              <a:ext cx="6667484" cy="35171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3078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91726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710926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71754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066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3210560">
                    <a:tc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4194" t="-9659" r="-180000" b="-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2171" t="-9659" r="-98577" b="-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545" t="-9659" r="-727" b="-3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1" name="TextBox 70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762038" y="37610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31 - I do…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431337" y="25992"/>
            <a:ext cx="158479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32 – We do…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5137160" y="37610"/>
            <a:ext cx="16078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33 – You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44A782A-DC95-3049-82B4-7824915E73C9}"/>
              </a:ext>
            </a:extLst>
          </p:cNvPr>
          <p:cNvSpPr txBox="1"/>
          <p:nvPr/>
        </p:nvSpPr>
        <p:spPr>
          <a:xfrm>
            <a:off x="1299264" y="3815378"/>
            <a:ext cx="911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12.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Simplify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44A782A-DC95-3049-82B4-7824915E73C9}"/>
              </a:ext>
            </a:extLst>
          </p:cNvPr>
          <p:cNvSpPr txBox="1"/>
          <p:nvPr/>
        </p:nvSpPr>
        <p:spPr>
          <a:xfrm>
            <a:off x="1299264" y="6879459"/>
            <a:ext cx="911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13.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Simplify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57AE5C-BD4B-5AA9-DACC-DAA98BA01B37}"/>
              </a:ext>
            </a:extLst>
          </p:cNvPr>
          <p:cNvSpPr/>
          <p:nvPr/>
        </p:nvSpPr>
        <p:spPr>
          <a:xfrm>
            <a:off x="92101" y="3829709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7E04FF43-1FCA-18EC-02DC-508DA39B7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549149"/>
              </p:ext>
            </p:extLst>
          </p:nvPr>
        </p:nvGraphicFramePr>
        <p:xfrm>
          <a:off x="92100" y="4183599"/>
          <a:ext cx="6645896" cy="2695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1474">
                  <a:extLst>
                    <a:ext uri="{9D8B030D-6E8A-4147-A177-3AD203B41FA5}">
                      <a16:colId xmlns:a16="http://schemas.microsoft.com/office/drawing/2014/main" val="1992204135"/>
                    </a:ext>
                  </a:extLst>
                </a:gridCol>
                <a:gridCol w="1661474">
                  <a:extLst>
                    <a:ext uri="{9D8B030D-6E8A-4147-A177-3AD203B41FA5}">
                      <a16:colId xmlns:a16="http://schemas.microsoft.com/office/drawing/2014/main" val="3366815076"/>
                    </a:ext>
                  </a:extLst>
                </a:gridCol>
                <a:gridCol w="1661474">
                  <a:extLst>
                    <a:ext uri="{9D8B030D-6E8A-4147-A177-3AD203B41FA5}">
                      <a16:colId xmlns:a16="http://schemas.microsoft.com/office/drawing/2014/main" val="1606094187"/>
                    </a:ext>
                  </a:extLst>
                </a:gridCol>
                <a:gridCol w="1661474">
                  <a:extLst>
                    <a:ext uri="{9D8B030D-6E8A-4147-A177-3AD203B41FA5}">
                      <a16:colId xmlns:a16="http://schemas.microsoft.com/office/drawing/2014/main" val="4111745528"/>
                    </a:ext>
                  </a:extLst>
                </a:gridCol>
              </a:tblGrid>
              <a:tr h="89862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a) 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2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 ÷ 3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2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b) 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4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4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 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÷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 4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  <a:latin typeface="+mn-lt"/>
                        </a:rPr>
                        <a:t>3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c) 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2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  <a:latin typeface="+mn-lt"/>
                        </a:rPr>
                        <a:t>7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 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÷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 2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  <a:latin typeface="+mn-lt"/>
                        </a:rPr>
                        <a:t>5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d) 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9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5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÷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 9</a:t>
                      </a:r>
                      <a:r>
                        <a:rPr lang="en-GB" sz="1200" baseline="30000" noProof="0" dirty="0">
                          <a:solidFill>
                            <a:prstClr val="black"/>
                          </a:solidFill>
                          <a:latin typeface="+mn-lt"/>
                        </a:rPr>
                        <a:t>2</a:t>
                      </a:r>
                      <a:endParaRPr kumimoji="0" lang="en-GB" sz="12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35652"/>
                  </a:ext>
                </a:extLst>
              </a:tr>
              <a:tr h="89862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e) 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2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10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÷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 2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2</a:t>
                      </a:r>
                      <a:endParaRPr lang="en-US" sz="1200" dirty="0">
                        <a:solidFill>
                          <a:prstClr val="black"/>
                        </a:solidFill>
                      </a:endParaRP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f) 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7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12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÷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 7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4</a:t>
                      </a:r>
                      <a:endParaRPr lang="en-US" sz="1200" dirty="0">
                        <a:solidFill>
                          <a:prstClr val="black"/>
                        </a:solidFill>
                      </a:endParaRP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g) 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10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10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÷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 10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5</a:t>
                      </a: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h)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1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6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  ÷ 1</a:t>
                      </a: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28580"/>
                  </a:ext>
                </a:extLst>
              </a:tr>
              <a:tr h="89862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i)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5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9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 ÷ 5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8</a:t>
                      </a:r>
                      <a:endParaRPr lang="en-GB" sz="1200" dirty="0">
                        <a:solidFill>
                          <a:prstClr val="black"/>
                        </a:solidFill>
                      </a:endParaRP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j)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6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14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 ÷ 6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10</a:t>
                      </a:r>
                      <a:endParaRPr lang="en-GB" sz="1200" dirty="0">
                        <a:solidFill>
                          <a:prstClr val="black"/>
                        </a:solidFill>
                      </a:endParaRP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k)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2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11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 ÷ 2</a:t>
                      </a:r>
                      <a:endParaRPr lang="en-GB" sz="1200" baseline="30000" dirty="0">
                        <a:solidFill>
                          <a:prstClr val="black"/>
                        </a:solidFill>
                      </a:endParaRP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l) 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4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20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÷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 4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18</a:t>
                      </a:r>
                      <a:endParaRPr lang="en-US" sz="1200" dirty="0">
                        <a:solidFill>
                          <a:prstClr val="black"/>
                        </a:solidFill>
                      </a:endParaRP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75765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D69CCCF-9AAF-DA97-B834-8F69A77961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9439976"/>
                  </p:ext>
                </p:extLst>
              </p:nvPr>
            </p:nvGraphicFramePr>
            <p:xfrm>
              <a:off x="99076" y="7156458"/>
              <a:ext cx="6645896" cy="258698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61474">
                      <a:extLst>
                        <a:ext uri="{9D8B030D-6E8A-4147-A177-3AD203B41FA5}">
                          <a16:colId xmlns:a16="http://schemas.microsoft.com/office/drawing/2014/main" val="1992204135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3366815076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1606094187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4111745528"/>
                        </a:ext>
                      </a:extLst>
                    </a:gridCol>
                  </a:tblGrid>
                  <a:tr h="862327"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i="0" dirty="0">
                              <a:solidFill>
                                <a:schemeClr val="dk1"/>
                              </a:solidFill>
                              <a:latin typeface="+mn-lt"/>
                            </a:rPr>
                            <a:t>a)</a:t>
                          </a:r>
                          <a:r>
                            <a:rPr lang="en-GB" sz="1200" i="0" baseline="0" dirty="0">
                              <a:solidFill>
                                <a:schemeClr val="dk1"/>
                              </a:solidFill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aseline="30000" dirty="0">
                              <a:solidFill>
                                <a:srgbClr val="000000"/>
                              </a:solidFill>
                            </a:rPr>
                            <a:t>7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aseline="30000" dirty="0">
                              <a:solidFill>
                                <a:srgbClr val="000000"/>
                              </a:solidFill>
                            </a:rPr>
                            <a:t>4</a:t>
                          </a:r>
                          <a:endParaRPr lang="en-GB" sz="1200" i="1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b) </a:t>
                          </a:r>
                          <a:r>
                            <a:rPr lang="en-GB" sz="1200" i="1" dirty="0">
                              <a:solidFill>
                                <a:srgbClr val="000000"/>
                              </a:solidFill>
                            </a:rPr>
                            <a:t>a</a:t>
                          </a:r>
                          <a:r>
                            <a:rPr lang="en-GB" sz="1200" baseline="30000" dirty="0">
                              <a:solidFill>
                                <a:srgbClr val="000000"/>
                              </a:solidFill>
                            </a:rPr>
                            <a:t>2</a:t>
                          </a:r>
                          <a:r>
                            <a:rPr lang="en-GB" sz="1200" dirty="0">
                              <a:solidFill>
                                <a:srgbClr val="000000"/>
                              </a:solidFill>
                            </a:rPr>
                            <a:t> 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÷</a:t>
                          </a:r>
                          <a:r>
                            <a:rPr lang="en-GB" sz="1200" dirty="0">
                              <a:solidFill>
                                <a:srgbClr val="000000"/>
                              </a:solidFill>
                            </a:rPr>
                            <a:t> </a:t>
                          </a:r>
                          <a:r>
                            <a:rPr lang="en-GB" sz="1200" i="1" dirty="0">
                              <a:solidFill>
                                <a:srgbClr val="000000"/>
                              </a:solidFill>
                            </a:rPr>
                            <a:t>a</a:t>
                          </a: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aseline="30000" dirty="0">
                              <a:solidFill>
                                <a:srgbClr val="000000"/>
                              </a:solidFill>
                            </a:rPr>
                            <a:t>9</a:t>
                          </a:r>
                          <a:r>
                            <a:rPr lang="en-GB" sz="1200" dirty="0">
                              <a:solidFill>
                                <a:srgbClr val="000000"/>
                              </a:solidFill>
                            </a:rPr>
                            <a:t> 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÷</a:t>
                          </a:r>
                          <a:r>
                            <a:rPr lang="en-GB" sz="1200" dirty="0">
                              <a:solidFill>
                                <a:srgbClr val="000000"/>
                              </a:solidFill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aseline="30000" dirty="0">
                              <a:solidFill>
                                <a:srgbClr val="000000"/>
                              </a:solidFill>
                            </a:rPr>
                            <a:t>6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aseline="300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aseline="300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d) </a:t>
                          </a:r>
                          <a:r>
                            <a:rPr lang="en-GB" sz="1200" i="1" dirty="0">
                              <a:solidFill>
                                <a:srgbClr val="000000"/>
                              </a:solidFill>
                            </a:rPr>
                            <a:t>c</a:t>
                          </a:r>
                          <a:r>
                            <a:rPr lang="en-GB" sz="1200" baseline="30000" dirty="0">
                              <a:solidFill>
                                <a:srgbClr val="000000"/>
                              </a:solidFill>
                            </a:rPr>
                            <a:t>7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GB" sz="1200" i="1" dirty="0">
                              <a:solidFill>
                                <a:srgbClr val="000000"/>
                              </a:solidFill>
                            </a:rPr>
                            <a:t>c</a:t>
                          </a:r>
                          <a:r>
                            <a:rPr lang="en-GB" sz="1200" baseline="30000" dirty="0">
                              <a:solidFill>
                                <a:srgbClr val="000000"/>
                              </a:solidFill>
                            </a:rPr>
                            <a:t>2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aseline="300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aseline="300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6735652"/>
                      </a:ext>
                    </a:extLst>
                  </a:tr>
                  <a:tr h="862327"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e)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y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11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y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5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f)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p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11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p</a:t>
                          </a:r>
                          <a:r>
                            <a:rPr lang="en-US" sz="1200" baseline="30000" dirty="0">
                              <a:solidFill>
                                <a:srgbClr val="000000"/>
                              </a:solidFill>
                            </a:rPr>
                            <a:t>2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g)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u</a:t>
                          </a:r>
                          <a:r>
                            <a:rPr lang="en-US" sz="1200" baseline="30000" dirty="0">
                              <a:solidFill>
                                <a:srgbClr val="000000"/>
                              </a:solidFill>
                            </a:rPr>
                            <a:t>22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u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7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÷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oMath>
                          </a14:m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38828580"/>
                      </a:ext>
                    </a:extLst>
                  </a:tr>
                  <a:tr h="86232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defRPr/>
                          </a:pPr>
                          <a:r>
                            <a:rPr lang="en-GB" sz="1200" dirty="0"/>
                            <a:t>i)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y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8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y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5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defRPr/>
                          </a:pPr>
                          <a:r>
                            <a:rPr lang="en-GB" sz="1200" dirty="0"/>
                            <a:t>j)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p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10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p</a:t>
                          </a:r>
                          <a:r>
                            <a:rPr lang="en-US" sz="1200" baseline="30000" dirty="0">
                              <a:solidFill>
                                <a:srgbClr val="000000"/>
                              </a:solidFill>
                            </a:rPr>
                            <a:t>6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defRPr/>
                          </a:pPr>
                          <a:r>
                            <a:rPr lang="en-GB" sz="1200" dirty="0"/>
                            <a:t>k)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u</a:t>
                          </a:r>
                          <a:r>
                            <a:rPr lang="en-US" sz="1200" baseline="30000" dirty="0">
                              <a:solidFill>
                                <a:srgbClr val="000000"/>
                              </a:solidFill>
                            </a:rPr>
                            <a:t>11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u</a:t>
                          </a:r>
                          <a:endParaRPr lang="en-GB" sz="1200" baseline="300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19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÷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97576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D69CCCF-9AAF-DA97-B834-8F69A77961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9439976"/>
                  </p:ext>
                </p:extLst>
              </p:nvPr>
            </p:nvGraphicFramePr>
            <p:xfrm>
              <a:off x="99076" y="7156458"/>
              <a:ext cx="6645896" cy="258698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61474">
                      <a:extLst>
                        <a:ext uri="{9D8B030D-6E8A-4147-A177-3AD203B41FA5}">
                          <a16:colId xmlns:a16="http://schemas.microsoft.com/office/drawing/2014/main" val="1992204135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3366815076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1606094187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4111745528"/>
                        </a:ext>
                      </a:extLst>
                    </a:gridCol>
                  </a:tblGrid>
                  <a:tr h="8623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" t="-704" r="-300366" b="-2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b) </a:t>
                          </a:r>
                          <a:r>
                            <a:rPr lang="en-GB" sz="1200" i="1" dirty="0">
                              <a:solidFill>
                                <a:srgbClr val="000000"/>
                              </a:solidFill>
                            </a:rPr>
                            <a:t>a</a:t>
                          </a:r>
                          <a:r>
                            <a:rPr lang="en-GB" sz="1200" baseline="30000" dirty="0">
                              <a:solidFill>
                                <a:srgbClr val="000000"/>
                              </a:solidFill>
                            </a:rPr>
                            <a:t>2</a:t>
                          </a:r>
                          <a:r>
                            <a:rPr lang="en-GB" sz="1200" dirty="0">
                              <a:solidFill>
                                <a:srgbClr val="000000"/>
                              </a:solidFill>
                            </a:rPr>
                            <a:t> 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÷</a:t>
                          </a:r>
                          <a:r>
                            <a:rPr lang="en-GB" sz="1200" dirty="0">
                              <a:solidFill>
                                <a:srgbClr val="000000"/>
                              </a:solidFill>
                            </a:rPr>
                            <a:t> </a:t>
                          </a:r>
                          <a:r>
                            <a:rPr lang="en-GB" sz="1200" i="1" dirty="0">
                              <a:solidFill>
                                <a:srgbClr val="000000"/>
                              </a:solidFill>
                            </a:rPr>
                            <a:t>a</a:t>
                          </a: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03" t="-704" r="-101103" b="-2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d) </a:t>
                          </a:r>
                          <a:r>
                            <a:rPr lang="en-GB" sz="1200" i="1" dirty="0">
                              <a:solidFill>
                                <a:srgbClr val="000000"/>
                              </a:solidFill>
                            </a:rPr>
                            <a:t>c</a:t>
                          </a:r>
                          <a:r>
                            <a:rPr lang="en-GB" sz="1200" baseline="30000" dirty="0">
                              <a:solidFill>
                                <a:srgbClr val="000000"/>
                              </a:solidFill>
                            </a:rPr>
                            <a:t>7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GB" sz="1200" i="1" dirty="0">
                              <a:solidFill>
                                <a:srgbClr val="000000"/>
                              </a:solidFill>
                            </a:rPr>
                            <a:t>c</a:t>
                          </a:r>
                          <a:r>
                            <a:rPr lang="en-GB" sz="1200" baseline="30000" dirty="0">
                              <a:solidFill>
                                <a:srgbClr val="000000"/>
                              </a:solidFill>
                            </a:rPr>
                            <a:t>2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aseline="300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aseline="300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6735652"/>
                      </a:ext>
                    </a:extLst>
                  </a:tr>
                  <a:tr h="862327"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e)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y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11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y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5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pPr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f)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p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11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p</a:t>
                          </a:r>
                          <a:r>
                            <a:rPr lang="en-US" sz="1200" baseline="30000" dirty="0">
                              <a:solidFill>
                                <a:srgbClr val="000000"/>
                              </a:solidFill>
                            </a:rPr>
                            <a:t>2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pPr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g)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u</a:t>
                          </a:r>
                          <a:r>
                            <a:rPr lang="en-US" sz="1200" baseline="30000" dirty="0">
                              <a:solidFill>
                                <a:srgbClr val="000000"/>
                              </a:solidFill>
                            </a:rPr>
                            <a:t>22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u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7</a:t>
                          </a:r>
                        </a:p>
                        <a:p>
                          <a:endParaRPr lang="en-GB" sz="1200" dirty="0"/>
                        </a:p>
                        <a:p>
                          <a:pPr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00704" r="-733" b="-1014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8828580"/>
                      </a:ext>
                    </a:extLst>
                  </a:tr>
                  <a:tr h="86232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defRPr/>
                          </a:pPr>
                          <a:r>
                            <a:rPr lang="en-GB" sz="1200" dirty="0"/>
                            <a:t>i)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y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8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y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5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pPr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defRPr/>
                          </a:pPr>
                          <a:r>
                            <a:rPr lang="en-GB" sz="1200" dirty="0"/>
                            <a:t>j)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p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10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p</a:t>
                          </a:r>
                          <a:r>
                            <a:rPr lang="en-US" sz="1200" baseline="30000" dirty="0">
                              <a:solidFill>
                                <a:srgbClr val="000000"/>
                              </a:solidFill>
                            </a:rPr>
                            <a:t>6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pPr/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defRPr/>
                          </a:pPr>
                          <a:r>
                            <a:rPr lang="en-GB" sz="1200" dirty="0"/>
                            <a:t>k)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u</a:t>
                          </a:r>
                          <a:r>
                            <a:rPr lang="en-US" sz="1200" baseline="30000" dirty="0">
                              <a:solidFill>
                                <a:srgbClr val="000000"/>
                              </a:solidFill>
                            </a:rPr>
                            <a:t>11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 ÷ 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</a:rPr>
                            <a:t>u</a:t>
                          </a:r>
                          <a:endParaRPr lang="en-GB" sz="1200" baseline="300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200704" r="-733" b="-14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97576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D6E525-7A61-205E-D2B0-19E0FF6E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569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08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854443" y="3191468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34 - I do…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381508" y="3177694"/>
            <a:ext cx="158479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35 – We do…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5106320" y="3201930"/>
            <a:ext cx="16078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36 – You do…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44A782A-DC95-3049-82B4-7824915E73C9}"/>
              </a:ext>
            </a:extLst>
          </p:cNvPr>
          <p:cNvSpPr txBox="1"/>
          <p:nvPr/>
        </p:nvSpPr>
        <p:spPr>
          <a:xfrm>
            <a:off x="1317901" y="6447218"/>
            <a:ext cx="911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14.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Simplify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FE5C82-BA85-AE40-1038-01E459A3EA60}"/>
              </a:ext>
            </a:extLst>
          </p:cNvPr>
          <p:cNvSpPr/>
          <p:nvPr/>
        </p:nvSpPr>
        <p:spPr>
          <a:xfrm>
            <a:off x="119548" y="6379138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E90A0-EAA7-75B0-6CFD-0D51AC4DA993}"/>
              </a:ext>
            </a:extLst>
          </p:cNvPr>
          <p:cNvSpPr txBox="1"/>
          <p:nvPr/>
        </p:nvSpPr>
        <p:spPr>
          <a:xfrm>
            <a:off x="1714264" y="211591"/>
            <a:ext cx="1037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14. Work out.</a:t>
            </a:r>
            <a:endParaRPr lang="en-GB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AA1CF0-A888-D72F-5BA4-5DA872F6D027}"/>
              </a:ext>
            </a:extLst>
          </p:cNvPr>
          <p:cNvSpPr/>
          <p:nvPr/>
        </p:nvSpPr>
        <p:spPr>
          <a:xfrm>
            <a:off x="119548" y="149989"/>
            <a:ext cx="1538515" cy="33860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KNOWLEDGE CHECK</a:t>
            </a:r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1D813E9E-B589-907A-42F5-CCF54E5F4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928646"/>
              </p:ext>
            </p:extLst>
          </p:nvPr>
        </p:nvGraphicFramePr>
        <p:xfrm>
          <a:off x="119549" y="657150"/>
          <a:ext cx="6597056" cy="2387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9264">
                  <a:extLst>
                    <a:ext uri="{9D8B030D-6E8A-4147-A177-3AD203B41FA5}">
                      <a16:colId xmlns:a16="http://schemas.microsoft.com/office/drawing/2014/main" val="3642547164"/>
                    </a:ext>
                  </a:extLst>
                </a:gridCol>
                <a:gridCol w="1649264">
                  <a:extLst>
                    <a:ext uri="{9D8B030D-6E8A-4147-A177-3AD203B41FA5}">
                      <a16:colId xmlns:a16="http://schemas.microsoft.com/office/drawing/2014/main" val="1628339999"/>
                    </a:ext>
                  </a:extLst>
                </a:gridCol>
                <a:gridCol w="1649264">
                  <a:extLst>
                    <a:ext uri="{9D8B030D-6E8A-4147-A177-3AD203B41FA5}">
                      <a16:colId xmlns:a16="http://schemas.microsoft.com/office/drawing/2014/main" val="2843216093"/>
                    </a:ext>
                  </a:extLst>
                </a:gridCol>
                <a:gridCol w="1649264">
                  <a:extLst>
                    <a:ext uri="{9D8B030D-6E8A-4147-A177-3AD203B41FA5}">
                      <a16:colId xmlns:a16="http://schemas.microsoft.com/office/drawing/2014/main" val="2368608426"/>
                    </a:ext>
                  </a:extLst>
                </a:gridCol>
              </a:tblGrid>
              <a:tr h="795945">
                <a:tc>
                  <a:txBody>
                    <a:bodyPr/>
                    <a:lstStyle/>
                    <a:p>
                      <a:r>
                        <a:rPr lang="en-GB" sz="1200" dirty="0"/>
                        <a:t>a) 3 - 5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b) 1 – 5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c) 2 – 7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d) 6 – 10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602460"/>
                  </a:ext>
                </a:extLst>
              </a:tr>
              <a:tr h="795945">
                <a:tc>
                  <a:txBody>
                    <a:bodyPr/>
                    <a:lstStyle/>
                    <a:p>
                      <a:r>
                        <a:rPr lang="en-GB" sz="1200" dirty="0"/>
                        <a:t>e) 13 – 28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f) -3 – 5 = `</a:t>
                      </a:r>
                    </a:p>
                    <a:p>
                      <a:endParaRPr lang="en-GB" sz="1200" dirty="0"/>
                    </a:p>
                    <a:p>
                      <a:pPr algn="ctr"/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g) -1 – 5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h) -1 – -5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74912"/>
                  </a:ext>
                </a:extLst>
              </a:tr>
              <a:tr h="795945">
                <a:tc>
                  <a:txBody>
                    <a:bodyPr/>
                    <a:lstStyle/>
                    <a:p>
                      <a:r>
                        <a:rPr lang="en-GB" sz="1200" dirty="0"/>
                        <a:t>i) -2 – -7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j) -3 – -1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k) 12.3 – 14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l) -12.3 – 14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0201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94805D9-67E2-6CB4-14F7-7F74535A3BC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4910" y="3456202"/>
              <a:ext cx="6655406" cy="28813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206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686009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40036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75729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24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2528829">
                    <a:tc>
                      <a:txBody>
                        <a:bodyPr/>
                        <a:lstStyle/>
                        <a:p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When dividing powers with the same base, we SUBTRACT the indices.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−12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−6</m:t>
                                    </m:r>
                                  </m:sup>
                                </m:sSup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94805D9-67E2-6CB4-14F7-7F74535A3B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9310119"/>
                  </p:ext>
                </p:extLst>
              </p:nvPr>
            </p:nvGraphicFramePr>
            <p:xfrm>
              <a:off x="144910" y="3456202"/>
              <a:ext cx="6655406" cy="28813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206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686009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40036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75729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24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2528829">
                    <a:tc>
                      <a:txBody>
                        <a:bodyPr/>
                        <a:lstStyle/>
                        <a:p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When dividing powers with the same base, we SUBTRACT the indices.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1588" t="-14183" r="-214079" b="-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6556" t="-14183" r="-96358" b="-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8547" t="-14183" r="-692" b="-4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744896-E187-849E-C721-8EF36AEC5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338879"/>
              </p:ext>
            </p:extLst>
          </p:nvPr>
        </p:nvGraphicFramePr>
        <p:xfrm>
          <a:off x="85623" y="6802620"/>
          <a:ext cx="6645896" cy="28377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1474">
                  <a:extLst>
                    <a:ext uri="{9D8B030D-6E8A-4147-A177-3AD203B41FA5}">
                      <a16:colId xmlns:a16="http://schemas.microsoft.com/office/drawing/2014/main" val="1992204135"/>
                    </a:ext>
                  </a:extLst>
                </a:gridCol>
                <a:gridCol w="1661474">
                  <a:extLst>
                    <a:ext uri="{9D8B030D-6E8A-4147-A177-3AD203B41FA5}">
                      <a16:colId xmlns:a16="http://schemas.microsoft.com/office/drawing/2014/main" val="3366815076"/>
                    </a:ext>
                  </a:extLst>
                </a:gridCol>
                <a:gridCol w="1661474">
                  <a:extLst>
                    <a:ext uri="{9D8B030D-6E8A-4147-A177-3AD203B41FA5}">
                      <a16:colId xmlns:a16="http://schemas.microsoft.com/office/drawing/2014/main" val="1606094187"/>
                    </a:ext>
                  </a:extLst>
                </a:gridCol>
                <a:gridCol w="1661474">
                  <a:extLst>
                    <a:ext uri="{9D8B030D-6E8A-4147-A177-3AD203B41FA5}">
                      <a16:colId xmlns:a16="http://schemas.microsoft.com/office/drawing/2014/main" val="4111745528"/>
                    </a:ext>
                  </a:extLst>
                </a:gridCol>
              </a:tblGrid>
              <a:tr h="945917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buFont typeface="+mj-lt"/>
                        <a:buNone/>
                        <a:defRPr/>
                      </a:pPr>
                      <a:r>
                        <a:rPr lang="en-GB" sz="1200" i="0" dirty="0">
                          <a:solidFill>
                            <a:schemeClr val="dk1"/>
                          </a:solidFill>
                          <a:latin typeface="+mn-lt"/>
                        </a:rPr>
                        <a:t>a)</a:t>
                      </a:r>
                      <a:r>
                        <a:rPr lang="en-GB" sz="1200" i="0" baseline="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4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2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 ÷ 4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-1</a:t>
                      </a:r>
                      <a:endParaRPr lang="en-GB" sz="1200" dirty="0">
                        <a:solidFill>
                          <a:prstClr val="black"/>
                        </a:solidFill>
                      </a:endParaRP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buFont typeface="+mj-lt"/>
                        <a:buNone/>
                        <a:defRPr/>
                      </a:pPr>
                      <a:r>
                        <a:rPr lang="en-GB" sz="1200" dirty="0"/>
                        <a:t>b)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5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2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 ÷ 5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-3</a:t>
                      </a:r>
                      <a:endParaRPr lang="en-GB" sz="1200" dirty="0">
                        <a:solidFill>
                          <a:prstClr val="black"/>
                        </a:solidFill>
                      </a:endParaRP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c)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7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4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 ÷ 7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-2</a:t>
                      </a:r>
                      <a:endParaRPr lang="en-GB" sz="1200" dirty="0">
                        <a:solidFill>
                          <a:prstClr val="black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d)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2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5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 ÷ 2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-3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35652"/>
                  </a:ext>
                </a:extLst>
              </a:tr>
              <a:tr h="945917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+mj-lt"/>
                        <a:buNone/>
                        <a:defRPr/>
                      </a:pPr>
                      <a:r>
                        <a:rPr lang="en-GB" sz="1200" dirty="0"/>
                        <a:t>e) 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  <a:latin typeface="+mn-lt"/>
                        </a:rPr>
                        <a:t>9</a:t>
                      </a:r>
                      <a:r>
                        <a:rPr lang="en-GB" sz="1200" baseline="30000" noProof="0" dirty="0">
                          <a:solidFill>
                            <a:prstClr val="black"/>
                          </a:solidFill>
                        </a:rPr>
                        <a:t>8</a:t>
                      </a:r>
                      <a:r>
                        <a:rPr lang="en-US" sz="1200" noProof="0" dirty="0">
                          <a:solidFill>
                            <a:prstClr val="black"/>
                          </a:solidFill>
                          <a:latin typeface="+mn-lt"/>
                        </a:rPr>
                        <a:t>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÷</a:t>
                      </a:r>
                      <a:r>
                        <a:rPr lang="en-US" sz="1200" noProof="0" dirty="0">
                          <a:solidFill>
                            <a:prstClr val="black"/>
                          </a:solidFill>
                          <a:latin typeface="+mn-lt"/>
                        </a:rPr>
                        <a:t> 9</a:t>
                      </a:r>
                      <a:r>
                        <a:rPr lang="en-GB" sz="1200" baseline="30000" noProof="0" dirty="0">
                          <a:solidFill>
                            <a:prstClr val="black"/>
                          </a:solidFill>
                        </a:rPr>
                        <a:t>-5</a:t>
                      </a:r>
                      <a:endParaRPr lang="en-US" sz="1200" noProof="0" dirty="0">
                        <a:solidFill>
                          <a:prstClr val="black"/>
                        </a:solidFill>
                        <a:latin typeface="+mn-lt"/>
                      </a:endParaRP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buFont typeface="+mj-lt"/>
                        <a:buNone/>
                        <a:defRPr/>
                      </a:pPr>
                      <a:r>
                        <a:rPr lang="en-GB" sz="1200" dirty="0"/>
                        <a:t>f) </a:t>
                      </a:r>
                      <a:r>
                        <a:rPr kumimoji="0" lang="en-US" sz="1200" b="0" i="0" u="none" strike="noStrike" kern="1200" cap="none" spc="0" normalizeH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5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3</a:t>
                      </a:r>
                      <a:r>
                        <a:rPr kumimoji="0" lang="en-US" sz="1200" b="0" i="0" u="none" strike="noStrike" kern="1200" cap="none" spc="0" normalizeH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÷</a:t>
                      </a:r>
                      <a:r>
                        <a:rPr kumimoji="0" lang="en-US" sz="1200" b="0" i="0" u="none" strike="noStrike" kern="1200" cap="none" spc="0" normalizeH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 5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-4</a:t>
                      </a:r>
                      <a:endParaRPr kumimoji="0" lang="en-US" sz="1200" b="0" i="0" u="none" strike="noStrike" kern="1200" cap="none" spc="0" normalizeH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buFont typeface="+mj-lt"/>
                        <a:buNone/>
                        <a:defRPr/>
                      </a:pPr>
                      <a:r>
                        <a:rPr lang="en-GB" sz="1200" dirty="0"/>
                        <a:t>g) 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  <a:latin typeface="+mn-lt"/>
                        </a:rPr>
                        <a:t>1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2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  <a:latin typeface="+mn-lt"/>
                        </a:rPr>
                        <a:t>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÷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  <a:latin typeface="+mn-lt"/>
                        </a:rPr>
                        <a:t> 1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-5</a:t>
                      </a: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dirty="0"/>
                        <a:t>h)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6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6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 ÷ 6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-9</a:t>
                      </a:r>
                      <a:endParaRPr lang="en-US" sz="1200" baseline="30000" dirty="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30000" dirty="0">
                        <a:solidFill>
                          <a:prstClr val="black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28580"/>
                  </a:ext>
                </a:extLst>
              </a:tr>
              <a:tr h="945917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buFont typeface="+mj-lt"/>
                        <a:buNone/>
                        <a:defRPr/>
                      </a:pPr>
                      <a:r>
                        <a:rPr lang="en-GB" sz="1200" dirty="0"/>
                        <a:t>i)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6 ÷ 6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-4</a:t>
                      </a:r>
                      <a:endParaRPr lang="en-GB" sz="1200" dirty="0">
                        <a:solidFill>
                          <a:prstClr val="black"/>
                        </a:solidFill>
                      </a:endParaRP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buFont typeface="+mj-lt"/>
                        <a:buNone/>
                        <a:defRPr/>
                      </a:pPr>
                      <a:r>
                        <a:rPr lang="en-GB" sz="1200" dirty="0"/>
                        <a:t>j)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8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-2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 ÷ 8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3</a:t>
                      </a:r>
                      <a:endParaRPr lang="en-GB" sz="1200" dirty="0">
                        <a:solidFill>
                          <a:prstClr val="black"/>
                        </a:solidFill>
                      </a:endParaRPr>
                    </a:p>
                    <a:p>
                      <a:endParaRPr lang="en-GB" sz="1200" dirty="0"/>
                    </a:p>
                    <a:p>
                      <a:pPr algn="ctr"/>
                      <a:endParaRPr lang="en-GB" sz="1800" b="1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buFont typeface="+mj-lt"/>
                        <a:buNone/>
                        <a:defRPr/>
                      </a:pPr>
                      <a:r>
                        <a:rPr lang="en-GB" sz="1200" dirty="0"/>
                        <a:t>k)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8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-4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 ÷ 8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6</a:t>
                      </a: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l) 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2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-3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 </a:t>
                      </a:r>
                      <a:r>
                        <a:rPr lang="en-GB" sz="1200" dirty="0">
                          <a:solidFill>
                            <a:prstClr val="black"/>
                          </a:solidFill>
                        </a:rPr>
                        <a:t>÷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</a:rPr>
                        <a:t> 2</a:t>
                      </a:r>
                      <a:r>
                        <a:rPr lang="en-GB" sz="1200" baseline="30000" dirty="0">
                          <a:solidFill>
                            <a:prstClr val="black"/>
                          </a:solidFill>
                        </a:rPr>
                        <a:t>10</a:t>
                      </a:r>
                      <a:endParaRPr lang="en-GB" sz="12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757657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D0F694-3624-F72C-87BB-4B80C52B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422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D08B79FF-1FD3-5567-1127-8EC8A9C8AB3E}"/>
              </a:ext>
            </a:extLst>
          </p:cNvPr>
          <p:cNvGraphicFramePr>
            <a:graphicFrameLocks noGrp="1"/>
          </p:cNvGraphicFramePr>
          <p:nvPr/>
        </p:nvGraphicFramePr>
        <p:xfrm>
          <a:off x="102428" y="5513024"/>
          <a:ext cx="6659217" cy="4195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9739">
                  <a:extLst>
                    <a:ext uri="{9D8B030D-6E8A-4147-A177-3AD203B41FA5}">
                      <a16:colId xmlns:a16="http://schemas.microsoft.com/office/drawing/2014/main" val="3637822256"/>
                    </a:ext>
                  </a:extLst>
                </a:gridCol>
                <a:gridCol w="2219739">
                  <a:extLst>
                    <a:ext uri="{9D8B030D-6E8A-4147-A177-3AD203B41FA5}">
                      <a16:colId xmlns:a16="http://schemas.microsoft.com/office/drawing/2014/main" val="2264685559"/>
                    </a:ext>
                  </a:extLst>
                </a:gridCol>
                <a:gridCol w="2219739">
                  <a:extLst>
                    <a:ext uri="{9D8B030D-6E8A-4147-A177-3AD203B41FA5}">
                      <a16:colId xmlns:a16="http://schemas.microsoft.com/office/drawing/2014/main" val="664933991"/>
                    </a:ext>
                  </a:extLst>
                </a:gridCol>
              </a:tblGrid>
              <a:tr h="139859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909600"/>
                  </a:ext>
                </a:extLst>
              </a:tr>
              <a:tr h="139859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943341"/>
                  </a:ext>
                </a:extLst>
              </a:tr>
              <a:tr h="139859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629604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44A782A-DC95-3049-82B4-7824915E73C9}"/>
              </a:ext>
            </a:extLst>
          </p:cNvPr>
          <p:cNvSpPr txBox="1"/>
          <p:nvPr/>
        </p:nvSpPr>
        <p:spPr>
          <a:xfrm>
            <a:off x="374784" y="97536"/>
            <a:ext cx="911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15.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Simplify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724857" y="2388289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37 - I do…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244442" y="2383348"/>
            <a:ext cx="158479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38 – We do…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5130682" y="2383347"/>
            <a:ext cx="16078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39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/>
              <p:cNvGraphicFramePr>
                <a:graphicFrameLocks noGrp="1"/>
              </p:cNvGraphicFramePr>
              <p:nvPr/>
            </p:nvGraphicFramePr>
            <p:xfrm>
              <a:off x="102428" y="2704171"/>
              <a:ext cx="6659217" cy="23656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7399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709990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777024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64804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2848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Steps</a:t>
                          </a:r>
                          <a:endParaRPr lang="en-GB" sz="1200" b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5588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Divide the coefficients.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sz="1200" b="0" i="0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200" b="0" dirty="0" smtClean="0">
                                    <a:solidFill>
                                      <a:prstClr val="black"/>
                                    </a:solidFill>
                                  </a:rPr>
                                  <m:t>÷</m:t>
                                </m:r>
                                <m:r>
                                  <a:rPr lang="en-US" sz="12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baseline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7 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GB" sz="1200" b="0" dirty="0" smtClean="0">
                                  <a:solidFill>
                                    <a:prstClr val="black"/>
                                  </a:solidFill>
                                </a:rPr>
                                <m:t>÷</m:t>
                              </m:r>
                              <m:r>
                                <a:rPr lang="en-US" sz="12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10 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GB" sz="1200" b="0" dirty="0" smtClean="0">
                                    <a:solidFill>
                                      <a:prstClr val="black"/>
                                    </a:solidFill>
                                  </a:rPr>
                                  <m:t>÷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dirty="0" smtClean="0">
                                    <a:solidFill>
                                      <a:prstClr val="black"/>
                                    </a:solidFill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5588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Multiply the variables (subtract the indices)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251944"/>
                      </a:ext>
                    </a:extLst>
                  </a:tr>
                  <a:tr h="881851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US" sz="1200" baseline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(put together)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86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5623068"/>
                  </p:ext>
                </p:extLst>
              </p:nvPr>
            </p:nvGraphicFramePr>
            <p:xfrm>
              <a:off x="102428" y="2704171"/>
              <a:ext cx="6659217" cy="23656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7399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709990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777024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64804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2848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Steps</a:t>
                          </a:r>
                          <a:endParaRPr lang="en-GB" sz="1200" b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5588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Divide the coefficients.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8612" t="-14035" r="-201779" b="-585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1507" t="-14035" r="-94178" b="-585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099" t="-14035" r="-733" b="-5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Multiply the variables (subtract the indices)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251944"/>
                      </a:ext>
                    </a:extLst>
                  </a:tr>
                  <a:tr h="881851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US" sz="1200" baseline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(put together)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86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244A782A-DC95-3049-82B4-7824915E73C9}"/>
              </a:ext>
            </a:extLst>
          </p:cNvPr>
          <p:cNvSpPr txBox="1"/>
          <p:nvPr/>
        </p:nvSpPr>
        <p:spPr>
          <a:xfrm>
            <a:off x="1285976" y="5195386"/>
            <a:ext cx="911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16.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Simplify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A42642-AFB8-F342-9415-99A81178C405}"/>
                  </a:ext>
                </a:extLst>
              </p:cNvPr>
              <p:cNvSpPr txBox="1"/>
              <p:nvPr/>
            </p:nvSpPr>
            <p:spPr>
              <a:xfrm>
                <a:off x="176999" y="5518498"/>
                <a:ext cx="6496755" cy="276999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pPr lvl="0">
                  <a:defRPr/>
                </a:pPr>
                <a:r>
                  <a:rPr lang="en-GB" sz="1200">
                    <a:solidFill>
                      <a:prstClr val="black"/>
                    </a:solidFill>
                    <a:latin typeface="Calibri" panose="020F0502020204030204"/>
                  </a:rPr>
                  <a:t>a)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baseline="30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kumimoji="0" lang="en-GB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a:rPr kumimoji="0" lang="en-GB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3</m:t>
                    </m:r>
                    <m:r>
                      <a:rPr kumimoji="0" lang="en-GB" sz="1200" b="0" i="1" u="none" strike="noStrike" kern="1200" cap="none" spc="0" normalizeH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baseline="30000" noProof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GB" sz="1200" baseline="30000">
                  <a:solidFill>
                    <a:prstClr val="black"/>
                  </a:solidFill>
                </a:endParaRPr>
              </a:p>
              <a:p>
                <a:pPr lvl="0">
                  <a:defRPr/>
                </a:pPr>
                <a:r>
                  <a:rPr lang="en-GB" sz="1200">
                    <a:solidFill>
                      <a:srgbClr val="000000"/>
                    </a:solidFill>
                  </a:rPr>
                  <a:t>b)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baseline="30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÷ 2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baseline="30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GB" sz="1200" baseline="30000">
                  <a:solidFill>
                    <a:prstClr val="black"/>
                  </a:solidFill>
                </a:endParaRPr>
              </a:p>
              <a:p>
                <a:pPr lvl="0">
                  <a:defRPr/>
                </a:pPr>
                <a:r>
                  <a:rPr lang="en-GB" sz="1200">
                    <a:solidFill>
                      <a:srgbClr val="000000"/>
                    </a:solidFill>
                  </a:rPr>
                  <a:t>   c)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baseline="30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÷ 6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 baseline="30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sz="1200" baseline="300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A42642-AFB8-F342-9415-99A81178C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99" y="5518498"/>
                <a:ext cx="6496755" cy="276999"/>
              </a:xfrm>
              <a:prstGeom prst="rect">
                <a:avLst/>
              </a:prstGeom>
              <a:blipFill>
                <a:blip r:embed="rId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7A42642-AFB8-F342-9415-99A81178C405}"/>
                  </a:ext>
                </a:extLst>
              </p:cNvPr>
              <p:cNvSpPr txBox="1"/>
              <p:nvPr/>
            </p:nvSpPr>
            <p:spPr>
              <a:xfrm>
                <a:off x="176999" y="6913988"/>
                <a:ext cx="6496755" cy="276999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pPr lvl="0">
                  <a:defRPr/>
                </a:pPr>
                <a:r>
                  <a:rPr lang="en-GB" sz="1200">
                    <a:solidFill>
                      <a:prstClr val="black"/>
                    </a:solidFill>
                    <a:latin typeface="Calibri" panose="020F0502020204030204"/>
                  </a:rPr>
                  <a:t>d)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200" i="1" baseline="30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 baseline="30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a:rPr kumimoji="0" lang="en-GB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8</m:t>
                    </m:r>
                    <m:r>
                      <a:rPr kumimoji="0" lang="en-GB" sz="1200" b="0" i="1" u="none" strike="noStrike" kern="1200" cap="none" spc="0" normalizeH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200" i="1" baseline="30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GB" sz="1200" baseline="30000">
                  <a:solidFill>
                    <a:prstClr val="black"/>
                  </a:solidFill>
                </a:endParaRPr>
              </a:p>
              <a:p>
                <a:pPr lvl="0">
                  <a:defRPr/>
                </a:pPr>
                <a:r>
                  <a:rPr lang="en-GB" sz="1200">
                    <a:solidFill>
                      <a:srgbClr val="000000"/>
                    </a:solidFill>
                  </a:rPr>
                  <a:t>e) </a:t>
                </a:r>
                <a14:m>
                  <m:oMath xmlns:m="http://schemas.openxmlformats.org/officeDocument/2006/math">
                    <m:r>
                      <a:rPr lang="en-GB" sz="1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GB" sz="1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200" i="1" baseline="300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GB" sz="1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÷ 2</m:t>
                    </m:r>
                    <m:r>
                      <a:rPr lang="en-GB" sz="1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200" i="1" baseline="300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sz="1200" baseline="30000">
                  <a:solidFill>
                    <a:prstClr val="black"/>
                  </a:solidFill>
                </a:endParaRPr>
              </a:p>
              <a:p>
                <a:pPr lvl="0">
                  <a:defRPr/>
                </a:pPr>
                <a:r>
                  <a:rPr lang="en-GB" sz="1200">
                    <a:solidFill>
                      <a:srgbClr val="000000"/>
                    </a:solidFill>
                  </a:rPr>
                  <a:t>    f)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200" i="1" baseline="30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3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200" i="1" baseline="30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200" baseline="300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7A42642-AFB8-F342-9415-99A81178C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99" y="6913988"/>
                <a:ext cx="6496755" cy="276999"/>
              </a:xfrm>
              <a:prstGeom prst="rect">
                <a:avLst/>
              </a:prstGeom>
              <a:blipFill>
                <a:blip r:embed="rId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7A42642-AFB8-F342-9415-99A81178C405}"/>
                  </a:ext>
                </a:extLst>
              </p:cNvPr>
              <p:cNvSpPr txBox="1"/>
              <p:nvPr/>
            </p:nvSpPr>
            <p:spPr>
              <a:xfrm>
                <a:off x="96355" y="8257276"/>
                <a:ext cx="6496755" cy="276999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pPr lvl="0">
                  <a:defRPr/>
                </a:pPr>
                <a:r>
                  <a:rPr lang="en-GB" sz="1200">
                    <a:solidFill>
                      <a:prstClr val="black"/>
                    </a:solidFill>
                    <a:latin typeface="Calibri" panose="020F0502020204030204"/>
                  </a:rPr>
                  <a:t>g)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200" i="1" baseline="30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a:rPr kumimoji="0" lang="en-GB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GB" sz="1200" b="0" i="1" u="none" strike="noStrike" kern="1200" cap="none" spc="0" normalizeH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200" i="1" baseline="30000" noProof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GB" sz="1200" baseline="30000">
                  <a:solidFill>
                    <a:prstClr val="black"/>
                  </a:solidFill>
                </a:endParaRPr>
              </a:p>
              <a:p>
                <a:pPr lvl="0">
                  <a:defRPr/>
                </a:pPr>
                <a:r>
                  <a:rPr lang="en-GB" sz="1200">
                    <a:solidFill>
                      <a:srgbClr val="000000"/>
                    </a:solidFill>
                  </a:rPr>
                  <a:t>   h)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200" b="0" i="1" baseline="30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÷ 5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200" b="0" i="1" baseline="30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GB" sz="1200" baseline="30000">
                  <a:solidFill>
                    <a:prstClr val="black"/>
                  </a:solidFill>
                </a:endParaRPr>
              </a:p>
              <a:p>
                <a:pPr lvl="0">
                  <a:defRPr/>
                </a:pPr>
                <a:r>
                  <a:rPr lang="en-GB" sz="1200">
                    <a:solidFill>
                      <a:srgbClr val="000000"/>
                    </a:solidFill>
                  </a:rPr>
                  <a:t>      </a:t>
                </a:r>
                <a:r>
                  <a:rPr lang="en-GB" sz="1200" err="1">
                    <a:solidFill>
                      <a:srgbClr val="000000"/>
                    </a:solidFill>
                  </a:rPr>
                  <a:t>i</a:t>
                </a:r>
                <a:r>
                  <a:rPr lang="en-GB" sz="1200">
                    <a:solidFill>
                      <a:srgbClr val="000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200" i="1" baseline="30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÷ 9</m:t>
                    </m:r>
                    <m:r>
                      <a:rPr lang="en-GB" sz="1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200" b="0" i="1" baseline="30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sz="1200" baseline="300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7A42642-AFB8-F342-9415-99A81178C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55" y="8257276"/>
                <a:ext cx="6496755" cy="276999"/>
              </a:xfrm>
              <a:prstGeom prst="rect">
                <a:avLst/>
              </a:prstGeom>
              <a:blipFill>
                <a:blip r:embed="rId5"/>
                <a:stretch>
                  <a:fillRect l="-94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5CF9133-05CA-D740-62AE-0A2DA83CFCD7}"/>
              </a:ext>
            </a:extLst>
          </p:cNvPr>
          <p:cNvSpPr/>
          <p:nvPr/>
        </p:nvSpPr>
        <p:spPr>
          <a:xfrm>
            <a:off x="102429" y="5159135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C03714A-84F3-0BD0-922E-360B393A9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4090691"/>
                  </p:ext>
                </p:extLst>
              </p:nvPr>
            </p:nvGraphicFramePr>
            <p:xfrm>
              <a:off x="102428" y="394230"/>
              <a:ext cx="6645896" cy="189183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61474">
                      <a:extLst>
                        <a:ext uri="{9D8B030D-6E8A-4147-A177-3AD203B41FA5}">
                          <a16:colId xmlns:a16="http://schemas.microsoft.com/office/drawing/2014/main" val="98961152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1338628094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2313590542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4013909016"/>
                        </a:ext>
                      </a:extLst>
                    </a:gridCol>
                  </a:tblGrid>
                  <a:tr h="945917"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i="0" dirty="0">
                              <a:solidFill>
                                <a:schemeClr val="dk1"/>
                              </a:solidFill>
                              <a:latin typeface="+mn-lt"/>
                            </a:rPr>
                            <a:t>a)</a:t>
                          </a:r>
                          <a:r>
                            <a:rPr lang="en-GB" sz="1200" i="0" baseline="0" dirty="0">
                              <a:solidFill>
                                <a:schemeClr val="dk1"/>
                              </a:solidFill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baseline="300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sup>
                              </m:sSup>
                            </m:oMath>
                          </a14:m>
                          <a:endParaRPr lang="en-GB" sz="1200" i="1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b="1" i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  <m:r>
                                <a:rPr lang="en-GB" sz="12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÷ </m:t>
                              </m:r>
                              <m:r>
                                <a:rPr lang="en-GB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i="1" baseline="300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oMath>
                          </a14:m>
                          <a:endParaRPr lang="en-GB" sz="1200" i="1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GB" sz="1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÷ 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−12</m:t>
                                  </m:r>
                                </m:sup>
                              </m:sSup>
                              <m:r>
                                <a:rPr lang="en-GB" sz="1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÷ </m:t>
                              </m:r>
                              <m:r>
                                <a:rPr lang="en-GB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sz="1200" i="1" baseline="300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62728708"/>
                      </a:ext>
                    </a:extLst>
                  </a:tr>
                  <a:tr h="945917"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</m:sup>
                              </m:sSup>
                              <m:r>
                                <a:rPr lang="en-US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÷ </m:t>
                              </m:r>
                              <m:r>
                                <a:rPr lang="en-US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i="1" baseline="300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oMath>
                          </a14:m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US" sz="1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GB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÷ </m:t>
                              </m:r>
                              <m:r>
                                <a:rPr lang="en-US" sz="1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200" i="1" baseline="3000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oMath>
                          </a14:m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÷ 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</m:oMath>
                          </a14:m>
                          <a:endParaRPr lang="en-GB" sz="1200" baseline="300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÷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571012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C03714A-84F3-0BD0-922E-360B393A9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4090691"/>
                  </p:ext>
                </p:extLst>
              </p:nvPr>
            </p:nvGraphicFramePr>
            <p:xfrm>
              <a:off x="102428" y="394230"/>
              <a:ext cx="6645896" cy="189183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61474">
                      <a:extLst>
                        <a:ext uri="{9D8B030D-6E8A-4147-A177-3AD203B41FA5}">
                          <a16:colId xmlns:a16="http://schemas.microsoft.com/office/drawing/2014/main" val="98961152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1338628094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2313590542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4013909016"/>
                        </a:ext>
                      </a:extLst>
                    </a:gridCol>
                  </a:tblGrid>
                  <a:tr h="9459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6" t="-641" r="-300733" b="-1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366" t="-641" r="-200733" b="-1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366" t="-641" r="-100733" b="-1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0366" t="-641" r="-733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2728708"/>
                      </a:ext>
                    </a:extLst>
                  </a:tr>
                  <a:tr h="9459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6" t="-100641" r="-300733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366" t="-100641" r="-200733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366" t="-100641" r="-100733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0366" t="-100641" r="-733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71012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8E3A12-C8A5-DEAC-E2A8-E8D86C86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024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811319" y="150550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43 - I do…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330904" y="145609"/>
            <a:ext cx="158479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44 – We do…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4943653" y="145608"/>
            <a:ext cx="16078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45 – You do…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4A782A-DC95-3049-82B4-7824915E73C9}"/>
              </a:ext>
            </a:extLst>
          </p:cNvPr>
          <p:cNvSpPr txBox="1"/>
          <p:nvPr/>
        </p:nvSpPr>
        <p:spPr>
          <a:xfrm>
            <a:off x="1355521" y="4088256"/>
            <a:ext cx="911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18.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Simplify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B199C-B0C2-A507-6D2B-4BC7D221ACA9}"/>
              </a:ext>
            </a:extLst>
          </p:cNvPr>
          <p:cNvSpPr/>
          <p:nvPr/>
        </p:nvSpPr>
        <p:spPr>
          <a:xfrm>
            <a:off x="125443" y="4049811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B7408AD-666F-D181-093B-D9F55BBC113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6868" y="409223"/>
              <a:ext cx="6655406" cy="34922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206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686009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40036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75729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24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3139731">
                    <a:tc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  <m:sup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7</m:t>
                                            </m:r>
                                          </m:e>
                                          <m:sup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B7408AD-666F-D181-093B-D9F55BBC11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9777444"/>
                  </p:ext>
                </p:extLst>
              </p:nvPr>
            </p:nvGraphicFramePr>
            <p:xfrm>
              <a:off x="126868" y="409223"/>
              <a:ext cx="6655406" cy="34922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206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686009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40036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75729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24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3139731">
                    <a:tc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1588" t="-11456" r="-214079" b="-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6556" t="-11456" r="-96358" b="-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8547" t="-11456" r="-692" b="-5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BE0B1B7-291E-CAD3-48A8-8CF28A5C4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2649693"/>
                  </p:ext>
                </p:extLst>
              </p:nvPr>
            </p:nvGraphicFramePr>
            <p:xfrm>
              <a:off x="106052" y="4487443"/>
              <a:ext cx="6645896" cy="511375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61474">
                      <a:extLst>
                        <a:ext uri="{9D8B030D-6E8A-4147-A177-3AD203B41FA5}">
                          <a16:colId xmlns:a16="http://schemas.microsoft.com/office/drawing/2014/main" val="1992204135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3366815076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1606094187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4111745528"/>
                        </a:ext>
                      </a:extLst>
                    </a:gridCol>
                  </a:tblGrid>
                  <a:tr h="1022751"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i="0" dirty="0">
                              <a:solidFill>
                                <a:schemeClr val="dk1"/>
                              </a:solidFill>
                              <a:latin typeface="+mn-lt"/>
                            </a:rPr>
                            <a:t>a)</a:t>
                          </a:r>
                          <a:r>
                            <a:rPr lang="en-GB" sz="1200" i="0" baseline="0" dirty="0">
                              <a:solidFill>
                                <a:schemeClr val="dk1"/>
                              </a:solidFill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6735652"/>
                      </a:ext>
                    </a:extLst>
                  </a:tr>
                  <a:tr h="1022751"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US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38828580"/>
                      </a:ext>
                    </a:extLst>
                  </a:tr>
                  <a:tr h="1022751"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0" lvl="0" indent="0">
                            <a:lnSpc>
                              <a:spcPct val="150000"/>
                            </a:lnSpc>
                            <a:buFont typeface="+mj-lt"/>
                            <a:buNone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9757657"/>
                      </a:ext>
                    </a:extLst>
                  </a:tr>
                  <a:tr h="10227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m)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0" lang="en-GB" sz="1200" b="0" i="1" u="none" strike="noStrike" kern="1200" cap="none" spc="0" normalizeH="0" baseline="3000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kumimoji="0" lang="en-GB" sz="1200" b="0" i="1" u="none" strike="noStrike" kern="1200" cap="none" spc="0" normalizeH="0" baseline="3000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kumimoji="0" lang="en-GB" sz="1200" b="0" i="0" u="none" strike="noStrike" kern="1200" cap="none" spc="0" normalizeH="0" baseline="30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n)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(m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3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2</a:t>
                          </a: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o)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(s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5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3</a:t>
                          </a: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p)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(d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11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2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221274"/>
                      </a:ext>
                    </a:extLst>
                  </a:tr>
                  <a:tr h="10227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q)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(y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6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7</a:t>
                          </a: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r)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(t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5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10</a:t>
                          </a:r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s)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(d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2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2</a:t>
                          </a:r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t)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(c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5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11095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BE0B1B7-291E-CAD3-48A8-8CF28A5C4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2649693"/>
                  </p:ext>
                </p:extLst>
              </p:nvPr>
            </p:nvGraphicFramePr>
            <p:xfrm>
              <a:off x="106052" y="4487443"/>
              <a:ext cx="6645896" cy="511375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61474">
                      <a:extLst>
                        <a:ext uri="{9D8B030D-6E8A-4147-A177-3AD203B41FA5}">
                          <a16:colId xmlns:a16="http://schemas.microsoft.com/office/drawing/2014/main" val="1992204135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3366815076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1606094187"/>
                        </a:ext>
                      </a:extLst>
                    </a:gridCol>
                    <a:gridCol w="1661474">
                      <a:extLst>
                        <a:ext uri="{9D8B030D-6E8A-4147-A177-3AD203B41FA5}">
                          <a16:colId xmlns:a16="http://schemas.microsoft.com/office/drawing/2014/main" val="4111745528"/>
                        </a:ext>
                      </a:extLst>
                    </a:gridCol>
                  </a:tblGrid>
                  <a:tr h="10227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" t="-595" r="-300366" b="-401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6" t="-595" r="-200366" b="-401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03" t="-595" r="-101103" b="-401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595" r="-733" b="-401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735652"/>
                      </a:ext>
                    </a:extLst>
                  </a:tr>
                  <a:tr h="10227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" t="-100595" r="-300366" b="-301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6" t="-100595" r="-200366" b="-301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03" t="-100595" r="-101103" b="-301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00595" r="-733" b="-301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8828580"/>
                      </a:ext>
                    </a:extLst>
                  </a:tr>
                  <a:tr h="10227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" t="-201796" r="-300366" b="-2029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6" t="-201796" r="-200366" b="-2029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03" t="-201796" r="-101103" b="-2029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201796" r="-733" b="-2029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9757657"/>
                      </a:ext>
                    </a:extLst>
                  </a:tr>
                  <a:tr h="10227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" t="-300000" r="-300366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n)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(m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3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2</a:t>
                          </a: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o)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(s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5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3</a:t>
                          </a: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p)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(d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11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2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221274"/>
                      </a:ext>
                    </a:extLst>
                  </a:tr>
                  <a:tr h="10227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q)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(y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6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7</a:t>
                          </a: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r)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(t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5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10</a:t>
                          </a:r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s)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(d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2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2</a:t>
                          </a:r>
                          <a:endParaRPr lang="en-GB" sz="1200" dirty="0">
                            <a:solidFill>
                              <a:prstClr val="black"/>
                            </a:solidFill>
                          </a:endParaRPr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t) 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(c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5</a:t>
                          </a:r>
                          <a:r>
                            <a:rPr lang="en-GB" sz="1200" dirty="0">
                              <a:solidFill>
                                <a:prstClr val="black"/>
                              </a:solidFill>
                            </a:rPr>
                            <a:t>)</a:t>
                          </a:r>
                          <a:r>
                            <a:rPr lang="en-GB" sz="1200" baseline="30000" dirty="0">
                              <a:solidFill>
                                <a:prstClr val="black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11095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75B15C-507D-CD8A-4957-AD728597B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40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244A782A-DC95-3049-82B4-7824915E73C9}"/>
              </a:ext>
            </a:extLst>
          </p:cNvPr>
          <p:cNvSpPr txBox="1"/>
          <p:nvPr/>
        </p:nvSpPr>
        <p:spPr>
          <a:xfrm>
            <a:off x="1201194" y="92058"/>
            <a:ext cx="1037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19.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Work out.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B199C-B0C2-A507-6D2B-4BC7D221ACA9}"/>
              </a:ext>
            </a:extLst>
          </p:cNvPr>
          <p:cNvSpPr/>
          <p:nvPr/>
        </p:nvSpPr>
        <p:spPr>
          <a:xfrm>
            <a:off x="136378" y="53613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KNOWLEDGE CHECK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ED784F5F-4027-C9D0-1754-1FB00ED76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38629"/>
              </p:ext>
            </p:extLst>
          </p:nvPr>
        </p:nvGraphicFramePr>
        <p:xfrm>
          <a:off x="130472" y="477253"/>
          <a:ext cx="6597056" cy="2387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9264">
                  <a:extLst>
                    <a:ext uri="{9D8B030D-6E8A-4147-A177-3AD203B41FA5}">
                      <a16:colId xmlns:a16="http://schemas.microsoft.com/office/drawing/2014/main" val="3642547164"/>
                    </a:ext>
                  </a:extLst>
                </a:gridCol>
                <a:gridCol w="1649264">
                  <a:extLst>
                    <a:ext uri="{9D8B030D-6E8A-4147-A177-3AD203B41FA5}">
                      <a16:colId xmlns:a16="http://schemas.microsoft.com/office/drawing/2014/main" val="1628339999"/>
                    </a:ext>
                  </a:extLst>
                </a:gridCol>
                <a:gridCol w="1649264">
                  <a:extLst>
                    <a:ext uri="{9D8B030D-6E8A-4147-A177-3AD203B41FA5}">
                      <a16:colId xmlns:a16="http://schemas.microsoft.com/office/drawing/2014/main" val="2843216093"/>
                    </a:ext>
                  </a:extLst>
                </a:gridCol>
                <a:gridCol w="1649264">
                  <a:extLst>
                    <a:ext uri="{9D8B030D-6E8A-4147-A177-3AD203B41FA5}">
                      <a16:colId xmlns:a16="http://schemas.microsoft.com/office/drawing/2014/main" val="2368608426"/>
                    </a:ext>
                  </a:extLst>
                </a:gridCol>
              </a:tblGrid>
              <a:tr h="795945">
                <a:tc>
                  <a:txBody>
                    <a:bodyPr/>
                    <a:lstStyle/>
                    <a:p>
                      <a:r>
                        <a:rPr lang="en-GB" sz="1200" dirty="0"/>
                        <a:t>a) 9 × -3 =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b) 10 × -4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c) 15 × -10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d) -2 × -7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602460"/>
                  </a:ext>
                </a:extLst>
              </a:tr>
              <a:tr h="795945">
                <a:tc>
                  <a:txBody>
                    <a:bodyPr/>
                    <a:lstStyle/>
                    <a:p>
                      <a:r>
                        <a:rPr lang="en-GB" sz="1200" dirty="0"/>
                        <a:t>e) 4 × -5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f) -6 × 7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g) -8 × 12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h) -12 × 8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74912"/>
                  </a:ext>
                </a:extLst>
              </a:tr>
              <a:tr h="795945">
                <a:tc>
                  <a:txBody>
                    <a:bodyPr/>
                    <a:lstStyle/>
                    <a:p>
                      <a:r>
                        <a:rPr lang="en-GB" sz="1200" dirty="0"/>
                        <a:t>i) -9 × -3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j) -10 × -4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k) -0.5 × -10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l) -23 × -17 = </a:t>
                      </a:r>
                    </a:p>
                    <a:p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020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32CD937-8C33-98DB-B93A-999C810A2668}"/>
              </a:ext>
            </a:extLst>
          </p:cNvPr>
          <p:cNvSpPr txBox="1"/>
          <p:nvPr/>
        </p:nvSpPr>
        <p:spPr>
          <a:xfrm>
            <a:off x="1822254" y="2923777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46 - I do…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4ACCF7-98D1-B49C-322B-BFC43F5F27B1}"/>
              </a:ext>
            </a:extLst>
          </p:cNvPr>
          <p:cNvSpPr txBox="1"/>
          <p:nvPr/>
        </p:nvSpPr>
        <p:spPr>
          <a:xfrm>
            <a:off x="3341839" y="2918836"/>
            <a:ext cx="158479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47 – We do…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7F31D-0F1F-D6ED-052D-6E8238E354D6}"/>
              </a:ext>
            </a:extLst>
          </p:cNvPr>
          <p:cNvSpPr txBox="1"/>
          <p:nvPr/>
        </p:nvSpPr>
        <p:spPr>
          <a:xfrm>
            <a:off x="4954588" y="2918835"/>
            <a:ext cx="16078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48 – You do…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CB2124-0C8F-5D69-57F6-C70FA46E2700}"/>
              </a:ext>
            </a:extLst>
          </p:cNvPr>
          <p:cNvSpPr txBox="1"/>
          <p:nvPr/>
        </p:nvSpPr>
        <p:spPr>
          <a:xfrm>
            <a:off x="1270321" y="6150823"/>
            <a:ext cx="911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20.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Simplify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008237-1185-57F2-1066-4238E7AC8C1B}"/>
              </a:ext>
            </a:extLst>
          </p:cNvPr>
          <p:cNvSpPr/>
          <p:nvPr/>
        </p:nvSpPr>
        <p:spPr>
          <a:xfrm>
            <a:off x="137803" y="6133686"/>
            <a:ext cx="1064816" cy="3538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C7CB427-2BD0-DF16-24B7-EDBD2D2415F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7803" y="3182450"/>
              <a:ext cx="6655406" cy="29406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206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686009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40036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75729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2888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2573063">
                    <a:tc>
                      <a:txBody>
                        <a:bodyPr/>
                        <a:lstStyle/>
                        <a:p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We MULTIPLY the indices.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e>
                                          <m:sup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−4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−10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8</m:t>
                                            </m:r>
                                          </m:e>
                                          <m:sup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−3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−5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C7CB427-2BD0-DF16-24B7-EDBD2D2415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2884675"/>
                  </p:ext>
                </p:extLst>
              </p:nvPr>
            </p:nvGraphicFramePr>
            <p:xfrm>
              <a:off x="137803" y="3182450"/>
              <a:ext cx="6655406" cy="29406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206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686009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40036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75729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2888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2651760">
                    <a:tc>
                      <a:txBody>
                        <a:bodyPr/>
                        <a:lstStyle/>
                        <a:p>
                          <a:r>
                            <a:rPr lang="en-GB" sz="1200">
                              <a:solidFill>
                                <a:schemeClr val="tx1"/>
                              </a:solidFill>
                            </a:rPr>
                            <a:t>We MULTIPLY the indices.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1588" t="-11009" r="-214079" b="-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6556" t="-11009" r="-96358" b="-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8547" t="-11009" r="-692" b="-4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9">
                <a:extLst>
                  <a:ext uri="{FF2B5EF4-FFF2-40B4-BE49-F238E27FC236}">
                    <a16:creationId xmlns:a16="http://schemas.microsoft.com/office/drawing/2014/main" id="{EB06C8A3-62CC-AB47-0428-85FDEA6D55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8198724"/>
                  </p:ext>
                </p:extLst>
              </p:nvPr>
            </p:nvGraphicFramePr>
            <p:xfrm>
              <a:off x="130472" y="6535359"/>
              <a:ext cx="6597056" cy="31837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49264">
                      <a:extLst>
                        <a:ext uri="{9D8B030D-6E8A-4147-A177-3AD203B41FA5}">
                          <a16:colId xmlns:a16="http://schemas.microsoft.com/office/drawing/2014/main" val="3642547164"/>
                        </a:ext>
                      </a:extLst>
                    </a:gridCol>
                    <a:gridCol w="1649264">
                      <a:extLst>
                        <a:ext uri="{9D8B030D-6E8A-4147-A177-3AD203B41FA5}">
                          <a16:colId xmlns:a16="http://schemas.microsoft.com/office/drawing/2014/main" val="1628339999"/>
                        </a:ext>
                      </a:extLst>
                    </a:gridCol>
                    <a:gridCol w="1562100">
                      <a:extLst>
                        <a:ext uri="{9D8B030D-6E8A-4147-A177-3AD203B41FA5}">
                          <a16:colId xmlns:a16="http://schemas.microsoft.com/office/drawing/2014/main" val="2843216093"/>
                        </a:ext>
                      </a:extLst>
                    </a:gridCol>
                    <a:gridCol w="1736428">
                      <a:extLst>
                        <a:ext uri="{9D8B030D-6E8A-4147-A177-3AD203B41FA5}">
                          <a16:colId xmlns:a16="http://schemas.microsoft.com/office/drawing/2014/main" val="2368608426"/>
                        </a:ext>
                      </a:extLst>
                    </a:gridCol>
                  </a:tblGrid>
                  <a:tr h="795945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−3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−10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3602460"/>
                      </a:ext>
                    </a:extLst>
                  </a:tr>
                  <a:tr h="795945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−6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−12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974912"/>
                      </a:ext>
                    </a:extLst>
                  </a:tr>
                  <a:tr h="795945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−3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−7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k)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702012"/>
                      </a:ext>
                    </a:extLst>
                  </a:tr>
                  <a:tr h="795945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m)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n)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−11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o)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p)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−5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−10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03558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9">
                <a:extLst>
                  <a:ext uri="{FF2B5EF4-FFF2-40B4-BE49-F238E27FC236}">
                    <a16:creationId xmlns:a16="http://schemas.microsoft.com/office/drawing/2014/main" id="{EB06C8A3-62CC-AB47-0428-85FDEA6D55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8198724"/>
                  </p:ext>
                </p:extLst>
              </p:nvPr>
            </p:nvGraphicFramePr>
            <p:xfrm>
              <a:off x="130472" y="6535359"/>
              <a:ext cx="6597056" cy="31837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49264">
                      <a:extLst>
                        <a:ext uri="{9D8B030D-6E8A-4147-A177-3AD203B41FA5}">
                          <a16:colId xmlns:a16="http://schemas.microsoft.com/office/drawing/2014/main" val="3642547164"/>
                        </a:ext>
                      </a:extLst>
                    </a:gridCol>
                    <a:gridCol w="1649264">
                      <a:extLst>
                        <a:ext uri="{9D8B030D-6E8A-4147-A177-3AD203B41FA5}">
                          <a16:colId xmlns:a16="http://schemas.microsoft.com/office/drawing/2014/main" val="1628339999"/>
                        </a:ext>
                      </a:extLst>
                    </a:gridCol>
                    <a:gridCol w="1562100">
                      <a:extLst>
                        <a:ext uri="{9D8B030D-6E8A-4147-A177-3AD203B41FA5}">
                          <a16:colId xmlns:a16="http://schemas.microsoft.com/office/drawing/2014/main" val="2843216093"/>
                        </a:ext>
                      </a:extLst>
                    </a:gridCol>
                    <a:gridCol w="1736428">
                      <a:extLst>
                        <a:ext uri="{9D8B030D-6E8A-4147-A177-3AD203B41FA5}">
                          <a16:colId xmlns:a16="http://schemas.microsoft.com/office/drawing/2014/main" val="2368608426"/>
                        </a:ext>
                      </a:extLst>
                    </a:gridCol>
                  </a:tblGrid>
                  <a:tr h="7959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9" t="-763" r="-300369" b="-300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9" t="-763" r="-200369" b="-300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2109" t="-763" r="-112109" b="-300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0351" t="-763" r="-702" b="-3007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3602460"/>
                      </a:ext>
                    </a:extLst>
                  </a:tr>
                  <a:tr h="7959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9" t="-100763" r="-300369" b="-200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9" t="-100763" r="-200369" b="-200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2109" t="-100763" r="-112109" b="-200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0351" t="-100763" r="-702" b="-2007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74912"/>
                      </a:ext>
                    </a:extLst>
                  </a:tr>
                  <a:tr h="7959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9" t="-202308" r="-300369" b="-10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9" t="-202308" r="-200369" b="-10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2109" t="-202308" r="-112109" b="-10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0351" t="-202308" r="-702" b="-10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702012"/>
                      </a:ext>
                    </a:extLst>
                  </a:tr>
                  <a:tr h="7959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9" t="-300000" r="-300369" b="-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9" t="-300000" r="-200369" b="-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2109" t="-300000" r="-112109" b="-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0351" t="-300000" r="-702" b="-15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03558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64AFA77-2C1E-649A-C6AB-43324D2F9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22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1C0976-4028-2244-B0BA-EECF5AB210EB}"/>
              </a:ext>
            </a:extLst>
          </p:cNvPr>
          <p:cNvSpPr/>
          <p:nvPr/>
        </p:nvSpPr>
        <p:spPr>
          <a:xfrm>
            <a:off x="105114" y="376349"/>
            <a:ext cx="6647773" cy="1728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93E24-7384-D74A-A070-F174FBCAC020}"/>
              </a:ext>
            </a:extLst>
          </p:cNvPr>
          <p:cNvSpPr txBox="1"/>
          <p:nvPr/>
        </p:nvSpPr>
        <p:spPr>
          <a:xfrm>
            <a:off x="201989" y="696507"/>
            <a:ext cx="2237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/>
              <a:t>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1C9FF-D3C6-3F4C-973B-800F5FCA9A48}"/>
              </a:ext>
            </a:extLst>
          </p:cNvPr>
          <p:cNvSpPr txBox="1"/>
          <p:nvPr/>
        </p:nvSpPr>
        <p:spPr>
          <a:xfrm>
            <a:off x="461237" y="1014281"/>
            <a:ext cx="4486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GB" sz="1200"/>
              <a:t>How to calculate zero indices.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/>
              <a:t>Understand and calculate negative indices.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/>
              <a:t>Apply understanding of the above to problem solving questions.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CEF8A-F85A-104A-9A29-EBD5F75790CC}"/>
              </a:ext>
            </a:extLst>
          </p:cNvPr>
          <p:cNvSpPr txBox="1"/>
          <p:nvPr/>
        </p:nvSpPr>
        <p:spPr>
          <a:xfrm>
            <a:off x="439984" y="444841"/>
            <a:ext cx="619943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LEARNING OUTCOME: State and apply the definition of zero, negative indices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B0D39-9773-3C48-BE64-8D9283EA7052}"/>
              </a:ext>
            </a:extLst>
          </p:cNvPr>
          <p:cNvSpPr txBox="1"/>
          <p:nvPr/>
        </p:nvSpPr>
        <p:spPr>
          <a:xfrm>
            <a:off x="5156150" y="811974"/>
            <a:ext cx="1529865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/>
              <a:t>Keywords:</a:t>
            </a:r>
            <a:endParaRPr lang="en-US" sz="1200"/>
          </a:p>
          <a:p>
            <a:pPr marL="285750" indent="-285750">
              <a:buFont typeface=".AppleSystemUIFont" charset="-120"/>
              <a:buChar char="-"/>
            </a:pPr>
            <a:r>
              <a:rPr lang="en-US" sz="1200"/>
              <a:t>Negative Indices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1200"/>
              <a:t>Zero Indices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1200"/>
              <a:t>Positive Integers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1200"/>
              <a:t>Expressions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1200"/>
              <a:t>Index Notation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F0B82048-9C63-974A-9D55-D79A2D36B71C}"/>
              </a:ext>
            </a:extLst>
          </p:cNvPr>
          <p:cNvGraphicFramePr>
            <a:graphicFrameLocks noGrp="1"/>
          </p:cNvGraphicFramePr>
          <p:nvPr/>
        </p:nvGraphicFramePr>
        <p:xfrm>
          <a:off x="1179805" y="3013099"/>
          <a:ext cx="4530430" cy="754380"/>
        </p:xfrm>
        <a:graphic>
          <a:graphicData uri="http://schemas.openxmlformats.org/drawingml/2006/table">
            <a:tbl>
              <a:tblPr/>
              <a:tblGrid>
                <a:gridCol w="2265215">
                  <a:extLst>
                    <a:ext uri="{9D8B030D-6E8A-4147-A177-3AD203B41FA5}">
                      <a16:colId xmlns:a16="http://schemas.microsoft.com/office/drawing/2014/main" val="3334771856"/>
                    </a:ext>
                  </a:extLst>
                </a:gridCol>
                <a:gridCol w="2265215">
                  <a:extLst>
                    <a:ext uri="{9D8B030D-6E8A-4147-A177-3AD203B41FA5}">
                      <a16:colId xmlns:a16="http://schemas.microsoft.com/office/drawing/2014/main" val="1719544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r>
                        <a:rPr lang="en-GB" sz="1050" baseline="3000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 = 4 × 4 × 4 × 4 × 4 × 4</a:t>
                      </a:r>
                    </a:p>
                  </a:txBody>
                  <a:tcPr marL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six lots of 4 multiplied together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8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en-GB" sz="1050" baseline="3000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 = 6 × 6 × 6 × 6</a:t>
                      </a:r>
                    </a:p>
                  </a:txBody>
                  <a:tcPr marL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four lots of 6 multiplied together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90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r>
                        <a:rPr lang="en-GB" sz="1050" baseline="3000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 = 7 × 7 × 7</a:t>
                      </a:r>
                    </a:p>
                  </a:txBody>
                  <a:tcPr marL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5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133532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AFBB0031-F803-BF40-8842-4F697FB321D4}"/>
              </a:ext>
            </a:extLst>
          </p:cNvPr>
          <p:cNvSpPr txBox="1"/>
          <p:nvPr/>
        </p:nvSpPr>
        <p:spPr>
          <a:xfrm>
            <a:off x="780370" y="3731430"/>
            <a:ext cx="58590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You can write a million as 1 000 000 = 10</a:t>
            </a:r>
            <a:r>
              <a:rPr kumimoji="0" lang="en-US" altLang="en-US" sz="1100" b="0" i="0" u="none" strike="noStrike" kern="1200" cap="none" spc="0" normalizeH="0" baseline="30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6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number multiplied by itself is the number ‘squared’. You need to know the square numbers (power 2) up to 15</a:t>
            </a:r>
            <a:r>
              <a:rPr kumimoji="0" lang="en-US" altLang="en-US" sz="1100" b="0" i="0" u="none" strike="noStrike" kern="1200" cap="none" spc="0" normalizeH="0" baseline="30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 = 225. How many of them can you write down from memory? You will also find it helpful to know the cubes</a:t>
            </a:r>
            <a:r>
              <a:rPr kumimoji="0" lang="en-US" altLang="en-US" sz="1100" b="0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numbers (power 3)</a:t>
            </a:r>
            <a:r>
              <a:rPr kumimoji="0" lang="en-US" altLang="en-US" sz="1100" b="0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up to 6</a:t>
            </a:r>
            <a:r>
              <a:rPr kumimoji="0" lang="en-US" altLang="en-US" sz="1100" b="0" i="0" u="none" strike="noStrike" kern="1200" cap="none" spc="0" normalizeH="0" baseline="30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 </a:t>
            </a:r>
            <a:r>
              <a:rPr kumimoji="0" lang="en-US" altLang="en-US" sz="1100" b="0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= 216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E7EDCC2-ABAA-434F-8C0E-6C3A1F76BAE7}"/>
              </a:ext>
            </a:extLst>
          </p:cNvPr>
          <p:cNvCxnSpPr/>
          <p:nvPr/>
        </p:nvCxnSpPr>
        <p:spPr>
          <a:xfrm flipV="1">
            <a:off x="962542" y="4196174"/>
            <a:ext cx="5541513" cy="2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83336" y="2243120"/>
            <a:ext cx="6728829" cy="24592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1" name="Straight Connector 90"/>
          <p:cNvCxnSpPr>
            <a:stCxn id="87" idx="1"/>
            <a:endCxn id="87" idx="3"/>
          </p:cNvCxnSpPr>
          <p:nvPr/>
        </p:nvCxnSpPr>
        <p:spPr>
          <a:xfrm>
            <a:off x="78251" y="3495221"/>
            <a:ext cx="67288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87" idx="2"/>
            <a:endCxn id="87" idx="0"/>
          </p:cNvCxnSpPr>
          <p:nvPr/>
        </p:nvCxnSpPr>
        <p:spPr>
          <a:xfrm flipV="1">
            <a:off x="3447751" y="2243120"/>
            <a:ext cx="0" cy="24592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25616" y="2265578"/>
            <a:ext cx="800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Definition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03161" y="2264932"/>
            <a:ext cx="1096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Characteristics</a:t>
            </a:r>
            <a:endParaRPr lang="en-GB" sz="1200"/>
          </a:p>
        </p:txBody>
      </p:sp>
      <p:sp>
        <p:nvSpPr>
          <p:cNvPr id="95" name="TextBox 94"/>
          <p:cNvSpPr txBox="1"/>
          <p:nvPr/>
        </p:nvSpPr>
        <p:spPr>
          <a:xfrm>
            <a:off x="29648" y="3453065"/>
            <a:ext cx="775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Examples</a:t>
            </a:r>
            <a:endParaRPr lang="en-GB" sz="1200"/>
          </a:p>
        </p:txBody>
      </p:sp>
      <p:sp>
        <p:nvSpPr>
          <p:cNvPr id="96" name="TextBox 95"/>
          <p:cNvSpPr txBox="1"/>
          <p:nvPr/>
        </p:nvSpPr>
        <p:spPr>
          <a:xfrm>
            <a:off x="5734025" y="3441250"/>
            <a:ext cx="1153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Non - Examples</a:t>
            </a:r>
            <a:endParaRPr lang="en-GB" sz="1200"/>
          </a:p>
        </p:txBody>
      </p:sp>
      <p:sp>
        <p:nvSpPr>
          <p:cNvPr id="97" name="TextBox 96"/>
          <p:cNvSpPr txBox="1"/>
          <p:nvPr/>
        </p:nvSpPr>
        <p:spPr>
          <a:xfrm>
            <a:off x="2512903" y="3286527"/>
            <a:ext cx="1719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Negative Indices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57057" y="3705969"/>
                <a:ext cx="3437973" cy="920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000"/>
                  <a:t>, anything to the power 0 is 1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000" b="0" i="1">
                    <a:latin typeface="Cambria Math" panose="02040503050406030204" pitchFamily="18" charset="0"/>
                  </a:rPr>
                  <a:t>, </a:t>
                </a:r>
                <a:r>
                  <a:rPr lang="en-US" sz="1000" b="0"/>
                  <a:t>the reciprocal is taken then the powered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sz="1000" b="0" i="1"/>
                  <a:t>, </a:t>
                </a:r>
                <a:r>
                  <a:rPr lang="en-US" sz="1000"/>
                  <a:t>if a fraction is raised to the negative power, then the reciprocal of the fraction is taken</a:t>
                </a:r>
                <a:endParaRPr lang="en-US" sz="1000" b="0" i="1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7" y="3705969"/>
                <a:ext cx="3437973" cy="920701"/>
              </a:xfrm>
              <a:prstGeom prst="rect">
                <a:avLst/>
              </a:prstGeom>
              <a:blipFill>
                <a:blip r:embed="rId2"/>
                <a:stretch>
                  <a:fillRect b="-2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3518820" y="3647781"/>
                <a:ext cx="3233709" cy="1122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000" b="0" i="1">
                    <a:latin typeface="Cambria Math" panose="02040503050406030204" pitchFamily="18" charset="0"/>
                  </a:rPr>
                  <a:t>, </a:t>
                </a:r>
                <a:r>
                  <a:rPr lang="en-US" sz="1000"/>
                  <a:t>this is a non-example as the value has been multiplied by 0</a:t>
                </a:r>
                <a:endParaRPr lang="en-US" sz="1000" b="0" i="1"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000"/>
                  <a:t> This is a non-example as the base has become negative, rather than the reciprocal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1000"/>
                  <a:t>This is a non-example as the values have been multiplied rather than squared</a:t>
                </a: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820" y="3647781"/>
                <a:ext cx="3233709" cy="1122487"/>
              </a:xfrm>
              <a:prstGeom prst="rect">
                <a:avLst/>
              </a:prstGeom>
              <a:blipFill>
                <a:blip r:embed="rId3"/>
                <a:stretch>
                  <a:fillRect b="-2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/>
          <p:cNvSpPr txBox="1"/>
          <p:nvPr/>
        </p:nvSpPr>
        <p:spPr>
          <a:xfrm>
            <a:off x="94422" y="2504246"/>
            <a:ext cx="3055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When the index of a value is negative we must make the value the reciprocal of it, to then resolve the index.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If an index is 0, the answer is always 1</a:t>
            </a:r>
            <a:endParaRPr lang="en-GB" sz="1200"/>
          </a:p>
        </p:txBody>
      </p:sp>
      <p:sp>
        <p:nvSpPr>
          <p:cNvPr id="101" name="TextBox 100"/>
          <p:cNvSpPr txBox="1"/>
          <p:nvPr/>
        </p:nvSpPr>
        <p:spPr>
          <a:xfrm>
            <a:off x="3493935" y="2452631"/>
            <a:ext cx="3233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Negative powers will result in fractions, often have a large square number as its denominator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0 powers make the answer always 1</a:t>
            </a:r>
            <a:endParaRPr lang="en-GB" sz="1200"/>
          </a:p>
        </p:txBody>
      </p:sp>
      <p:sp>
        <p:nvSpPr>
          <p:cNvPr id="32" name="TextBox 31"/>
          <p:cNvSpPr txBox="1"/>
          <p:nvPr/>
        </p:nvSpPr>
        <p:spPr>
          <a:xfrm>
            <a:off x="1483638" y="4775036"/>
            <a:ext cx="863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1. Evaluate</a:t>
            </a:r>
            <a:endParaRPr lang="en-GB" sz="1200"/>
          </a:p>
        </p:txBody>
      </p:sp>
      <p:sp>
        <p:nvSpPr>
          <p:cNvPr id="9" name="Rectangle 8"/>
          <p:cNvSpPr/>
          <p:nvPr/>
        </p:nvSpPr>
        <p:spPr>
          <a:xfrm>
            <a:off x="73032" y="4774291"/>
            <a:ext cx="1268809" cy="27699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Knowledge check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1">
                <a:extLst>
                  <a:ext uri="{FF2B5EF4-FFF2-40B4-BE49-F238E27FC236}">
                    <a16:creationId xmlns:a16="http://schemas.microsoft.com/office/drawing/2014/main" id="{90FFBC89-598E-E10A-0EF5-DDD9820B1B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639657"/>
                  </p:ext>
                </p:extLst>
              </p:nvPr>
            </p:nvGraphicFramePr>
            <p:xfrm>
              <a:off x="82208" y="5170119"/>
              <a:ext cx="6712655" cy="45665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342531">
                      <a:extLst>
                        <a:ext uri="{9D8B030D-6E8A-4147-A177-3AD203B41FA5}">
                          <a16:colId xmlns:a16="http://schemas.microsoft.com/office/drawing/2014/main" val="1053339435"/>
                        </a:ext>
                      </a:extLst>
                    </a:gridCol>
                    <a:gridCol w="1342531">
                      <a:extLst>
                        <a:ext uri="{9D8B030D-6E8A-4147-A177-3AD203B41FA5}">
                          <a16:colId xmlns:a16="http://schemas.microsoft.com/office/drawing/2014/main" val="3977002712"/>
                        </a:ext>
                      </a:extLst>
                    </a:gridCol>
                    <a:gridCol w="1342531">
                      <a:extLst>
                        <a:ext uri="{9D8B030D-6E8A-4147-A177-3AD203B41FA5}">
                          <a16:colId xmlns:a16="http://schemas.microsoft.com/office/drawing/2014/main" val="1569222136"/>
                        </a:ext>
                      </a:extLst>
                    </a:gridCol>
                    <a:gridCol w="1342531">
                      <a:extLst>
                        <a:ext uri="{9D8B030D-6E8A-4147-A177-3AD203B41FA5}">
                          <a16:colId xmlns:a16="http://schemas.microsoft.com/office/drawing/2014/main" val="1527432177"/>
                        </a:ext>
                      </a:extLst>
                    </a:gridCol>
                    <a:gridCol w="1342531">
                      <a:extLst>
                        <a:ext uri="{9D8B030D-6E8A-4147-A177-3AD203B41FA5}">
                          <a16:colId xmlns:a16="http://schemas.microsoft.com/office/drawing/2014/main" val="829718374"/>
                        </a:ext>
                      </a:extLst>
                    </a:gridCol>
                  </a:tblGrid>
                  <a:tr h="9133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kumimoji="0" lang="en-GB" sz="135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c)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kumimoji="0" lang="en-GB" sz="135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d)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kumimoji="0" lang="en-GB" sz="135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e)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kumimoji="0" lang="en-GB" sz="135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2567737"/>
                      </a:ext>
                    </a:extLst>
                  </a:tr>
                  <a:tr h="9133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kumimoji="0" lang="en-GB" sz="135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h)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i)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kumimoji="0" lang="en-GB" sz="135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j)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kumimoji="0" lang="en-GB" sz="135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72685978"/>
                      </a:ext>
                    </a:extLst>
                  </a:tr>
                  <a:tr h="9133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kumimoji="0" lang="en-GB" sz="135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m)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o)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kumimoji="0" lang="en-GB" sz="135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88126454"/>
                      </a:ext>
                    </a:extLst>
                  </a:tr>
                  <a:tr h="913300">
                    <a:tc>
                      <a:txBody>
                        <a:bodyPr/>
                        <a:lstStyle/>
                        <a:p>
                          <a:r>
                            <a:rPr lang="en-US" i="0" dirty="0">
                              <a:latin typeface="+mn-lt"/>
                            </a:rPr>
                            <a:t>p)</a:t>
                          </a:r>
                          <a:r>
                            <a:rPr lang="en-US" i="0" baseline="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kumimoji="0" lang="en-GB" sz="135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r)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34361188"/>
                      </a:ext>
                    </a:extLst>
                  </a:tr>
                  <a:tr h="9133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kumimoji="0" lang="en-GB" sz="135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w)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x)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y)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467787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1">
                <a:extLst>
                  <a:ext uri="{FF2B5EF4-FFF2-40B4-BE49-F238E27FC236}">
                    <a16:creationId xmlns:a16="http://schemas.microsoft.com/office/drawing/2014/main" id="{90FFBC89-598E-E10A-0EF5-DDD9820B1B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639657"/>
                  </p:ext>
                </p:extLst>
              </p:nvPr>
            </p:nvGraphicFramePr>
            <p:xfrm>
              <a:off x="82208" y="5170119"/>
              <a:ext cx="6712655" cy="45665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342531">
                      <a:extLst>
                        <a:ext uri="{9D8B030D-6E8A-4147-A177-3AD203B41FA5}">
                          <a16:colId xmlns:a16="http://schemas.microsoft.com/office/drawing/2014/main" val="1053339435"/>
                        </a:ext>
                      </a:extLst>
                    </a:gridCol>
                    <a:gridCol w="1342531">
                      <a:extLst>
                        <a:ext uri="{9D8B030D-6E8A-4147-A177-3AD203B41FA5}">
                          <a16:colId xmlns:a16="http://schemas.microsoft.com/office/drawing/2014/main" val="3977002712"/>
                        </a:ext>
                      </a:extLst>
                    </a:gridCol>
                    <a:gridCol w="1342531">
                      <a:extLst>
                        <a:ext uri="{9D8B030D-6E8A-4147-A177-3AD203B41FA5}">
                          <a16:colId xmlns:a16="http://schemas.microsoft.com/office/drawing/2014/main" val="1569222136"/>
                        </a:ext>
                      </a:extLst>
                    </a:gridCol>
                    <a:gridCol w="1342531">
                      <a:extLst>
                        <a:ext uri="{9D8B030D-6E8A-4147-A177-3AD203B41FA5}">
                          <a16:colId xmlns:a16="http://schemas.microsoft.com/office/drawing/2014/main" val="1527432177"/>
                        </a:ext>
                      </a:extLst>
                    </a:gridCol>
                    <a:gridCol w="1342531">
                      <a:extLst>
                        <a:ext uri="{9D8B030D-6E8A-4147-A177-3AD203B41FA5}">
                          <a16:colId xmlns:a16="http://schemas.microsoft.com/office/drawing/2014/main" val="829718374"/>
                        </a:ext>
                      </a:extLst>
                    </a:gridCol>
                  </a:tblGrid>
                  <a:tr h="913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55" t="-667" r="-401818" b="-4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667" r="-300000" b="-4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909" t="-667" r="-201364" b="-4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548" t="-667" r="-100452" b="-4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364" t="-667" r="-909" b="-4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567737"/>
                      </a:ext>
                    </a:extLst>
                  </a:tr>
                  <a:tr h="913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55" t="-100667" r="-401818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0667" r="-300000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909" t="-100667" r="-201364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548" t="-100667" r="-100452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364" t="-100667" r="-909" b="-3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2685978"/>
                      </a:ext>
                    </a:extLst>
                  </a:tr>
                  <a:tr h="913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55" t="-200667" r="-401818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00667" r="-300000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909" t="-200667" r="-201364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548" t="-200667" r="-100452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364" t="-200667" r="-909" b="-2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126454"/>
                      </a:ext>
                    </a:extLst>
                  </a:tr>
                  <a:tr h="913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55" t="-300667" r="-401818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00667" r="-300000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909" t="-300667" r="-201364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548" t="-300667" r="-100452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364" t="-300667" r="-909" b="-1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361188"/>
                      </a:ext>
                    </a:extLst>
                  </a:tr>
                  <a:tr h="913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55" t="-400667" r="-401818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400667" r="-300000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909" t="-400667" r="-201364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548" t="-400667" r="-100452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364" t="-400667" r="-909" b="-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7787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8B90CE3-BA98-4DB3-6D58-5A5E3782B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21</a:t>
            </a:fld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425DF1-28B7-EBE1-647B-2F9D0477FD82}"/>
              </a:ext>
            </a:extLst>
          </p:cNvPr>
          <p:cNvSpPr/>
          <p:nvPr/>
        </p:nvSpPr>
        <p:spPr>
          <a:xfrm>
            <a:off x="-3557" y="5813"/>
            <a:ext cx="685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Subtopic 7b – Zero and Negative Indices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337100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3A91CD0A-F7F6-7559-1867-CA37A6435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7890"/>
              </p:ext>
            </p:extLst>
          </p:nvPr>
        </p:nvGraphicFramePr>
        <p:xfrm>
          <a:off x="92561" y="7937035"/>
          <a:ext cx="6665524" cy="1809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6381">
                  <a:extLst>
                    <a:ext uri="{9D8B030D-6E8A-4147-A177-3AD203B41FA5}">
                      <a16:colId xmlns:a16="http://schemas.microsoft.com/office/drawing/2014/main" val="3398860281"/>
                    </a:ext>
                  </a:extLst>
                </a:gridCol>
                <a:gridCol w="1666381">
                  <a:extLst>
                    <a:ext uri="{9D8B030D-6E8A-4147-A177-3AD203B41FA5}">
                      <a16:colId xmlns:a16="http://schemas.microsoft.com/office/drawing/2014/main" val="1587423612"/>
                    </a:ext>
                  </a:extLst>
                </a:gridCol>
                <a:gridCol w="1666381">
                  <a:extLst>
                    <a:ext uri="{9D8B030D-6E8A-4147-A177-3AD203B41FA5}">
                      <a16:colId xmlns:a16="http://schemas.microsoft.com/office/drawing/2014/main" val="1584304657"/>
                    </a:ext>
                  </a:extLst>
                </a:gridCol>
                <a:gridCol w="1666381">
                  <a:extLst>
                    <a:ext uri="{9D8B030D-6E8A-4147-A177-3AD203B41FA5}">
                      <a16:colId xmlns:a16="http://schemas.microsoft.com/office/drawing/2014/main" val="1050682443"/>
                    </a:ext>
                  </a:extLst>
                </a:gridCol>
              </a:tblGrid>
              <a:tr h="904515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966993"/>
                  </a:ext>
                </a:extLst>
              </a:tr>
              <a:tr h="904515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30118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95313773-FD17-971C-301F-2BBC2CBBF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218120"/>
              </p:ext>
            </p:extLst>
          </p:nvPr>
        </p:nvGraphicFramePr>
        <p:xfrm>
          <a:off x="92561" y="2739765"/>
          <a:ext cx="6665524" cy="1887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6381">
                  <a:extLst>
                    <a:ext uri="{9D8B030D-6E8A-4147-A177-3AD203B41FA5}">
                      <a16:colId xmlns:a16="http://schemas.microsoft.com/office/drawing/2014/main" val="3398860281"/>
                    </a:ext>
                  </a:extLst>
                </a:gridCol>
                <a:gridCol w="1666381">
                  <a:extLst>
                    <a:ext uri="{9D8B030D-6E8A-4147-A177-3AD203B41FA5}">
                      <a16:colId xmlns:a16="http://schemas.microsoft.com/office/drawing/2014/main" val="1587423612"/>
                    </a:ext>
                  </a:extLst>
                </a:gridCol>
                <a:gridCol w="1666381">
                  <a:extLst>
                    <a:ext uri="{9D8B030D-6E8A-4147-A177-3AD203B41FA5}">
                      <a16:colId xmlns:a16="http://schemas.microsoft.com/office/drawing/2014/main" val="1584304657"/>
                    </a:ext>
                  </a:extLst>
                </a:gridCol>
                <a:gridCol w="1666381">
                  <a:extLst>
                    <a:ext uri="{9D8B030D-6E8A-4147-A177-3AD203B41FA5}">
                      <a16:colId xmlns:a16="http://schemas.microsoft.com/office/drawing/2014/main" val="1050682443"/>
                    </a:ext>
                  </a:extLst>
                </a:gridCol>
              </a:tblGrid>
              <a:tr h="904515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  <a:p>
                      <a:endParaRPr lang="en-GB" dirty="0"/>
                    </a:p>
                    <a:p>
                      <a:pPr algn="ctr"/>
                      <a:endParaRPr lang="en-GB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  <a:p>
                      <a:endParaRPr lang="en-GB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  <a:p>
                      <a:endParaRPr lang="en-GB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  <a:p>
                      <a:endParaRPr lang="en-GB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966993"/>
                  </a:ext>
                </a:extLst>
              </a:tr>
              <a:tr h="904515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  <a:p>
                      <a:endParaRPr lang="en-GB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  <a:p>
                      <a:endParaRPr lang="en-GB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g)</a:t>
                      </a:r>
                    </a:p>
                    <a:p>
                      <a:endParaRPr lang="en-GB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h)</a:t>
                      </a:r>
                    </a:p>
                    <a:p>
                      <a:endParaRPr lang="en-GB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301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227302" y="7932545"/>
                <a:ext cx="558936" cy="457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02" y="7932545"/>
                <a:ext cx="558936" cy="4572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3590305" y="7926433"/>
                <a:ext cx="558936" cy="457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305" y="7926433"/>
                <a:ext cx="558936" cy="4572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1922071" y="7926434"/>
                <a:ext cx="558936" cy="457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2071" y="7926434"/>
                <a:ext cx="558936" cy="4572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9" name="Table 138"/>
              <p:cNvGraphicFramePr>
                <a:graphicFrameLocks noGrp="1"/>
              </p:cNvGraphicFramePr>
              <p:nvPr/>
            </p:nvGraphicFramePr>
            <p:xfrm>
              <a:off x="92562" y="282337"/>
              <a:ext cx="6665523" cy="20425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405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14370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652374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52374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18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</a:t>
                          </a:r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Evaluate</a:t>
                          </a:r>
                          <a:endParaRPr lang="en-US" sz="1200" b="1" baseline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757425">
                    <a:tc rowSpan="2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b="0" baseline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966772"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b="0" baseline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558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9" name="Table 1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5287713"/>
                  </p:ext>
                </p:extLst>
              </p:nvPr>
            </p:nvGraphicFramePr>
            <p:xfrm>
              <a:off x="92562" y="282337"/>
              <a:ext cx="6665523" cy="20425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405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14370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652374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52374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18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</a:t>
                          </a:r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Evaluate</a:t>
                          </a:r>
                          <a:endParaRPr lang="en-US" sz="1200" b="1" baseline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757425">
                    <a:tc rowSpan="2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5570" t="-42400" r="-182550" b="-128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4059" t="-42400" r="-100738" b="-128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4059" t="-42400" r="-738" b="-1288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966772"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5570" t="-111950" r="-182550" b="-1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4059" t="-111950" r="-100738" b="-1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4059" t="-111950" r="-738" b="-12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5582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0" name="TextBox 139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752877" y="21896"/>
            <a:ext cx="13085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1 - I do…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272462" y="16955"/>
            <a:ext cx="14709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2– We do…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4885211" y="16954"/>
            <a:ext cx="152926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3 – You do…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710617" y="4591018"/>
            <a:ext cx="13085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FF0000"/>
                </a:solidFill>
              </a:rPr>
              <a:t>Example 4 - I do…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230202" y="4586077"/>
            <a:ext cx="14709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chemeClr val="accent2"/>
                </a:solidFill>
              </a:rPr>
              <a:t>Example 5– We do…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4842951" y="4586076"/>
            <a:ext cx="152926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>
                <a:solidFill>
                  <a:srgbClr val="00B050"/>
                </a:solidFill>
              </a:rPr>
              <a:t>Example 6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276527" y="3901856"/>
                <a:ext cx="4135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27" y="3901856"/>
                <a:ext cx="41351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1922071" y="3815433"/>
                <a:ext cx="728661" cy="457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2071" y="3815433"/>
                <a:ext cx="728661" cy="4572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3725297" y="3900367"/>
                <a:ext cx="6912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(−</m:t>
                    </m:r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297" y="3900367"/>
                <a:ext cx="691279" cy="30777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5402378" y="3824629"/>
                <a:ext cx="564065" cy="457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378" y="3824629"/>
                <a:ext cx="564065" cy="4572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285324" y="2842504"/>
                <a:ext cx="4069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24" y="2842504"/>
                <a:ext cx="406906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1978530" y="2777312"/>
                <a:ext cx="558936" cy="457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530" y="2777312"/>
                <a:ext cx="558936" cy="45724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3689063" y="2755665"/>
                <a:ext cx="723531" cy="457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063" y="2755665"/>
                <a:ext cx="723531" cy="45724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5424958" y="2826812"/>
                <a:ext cx="68903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(−5)</m:t>
                        </m:r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958" y="2826812"/>
                <a:ext cx="689035" cy="307777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7" name="Table 37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221773"/>
                  </p:ext>
                </p:extLst>
              </p:nvPr>
            </p:nvGraphicFramePr>
            <p:xfrm>
              <a:off x="108531" y="4872182"/>
              <a:ext cx="6665523" cy="26065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0694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10081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652374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52374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760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Write as a fraction in simplest form</a:t>
                          </a:r>
                          <a:endParaRPr lang="en-US" sz="1200" b="1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</a:t>
                          </a:r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Evaluate</a:t>
                          </a:r>
                          <a:endParaRPr lang="en-US" sz="1200" b="1" baseline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071306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When a fraction is raised to a power, both numerator and denominator is raised to the power.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b="0" baseline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1159210"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800" b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237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7" name="Table 37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221773"/>
                  </p:ext>
                </p:extLst>
              </p:nvPr>
            </p:nvGraphicFramePr>
            <p:xfrm>
              <a:off x="108531" y="4872182"/>
              <a:ext cx="6665523" cy="26065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0694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10081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652374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52374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760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Write as a fraction in simplest form</a:t>
                          </a:r>
                          <a:endParaRPr lang="en-US" sz="1200" b="1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</a:t>
                          </a:r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Evaluate</a:t>
                          </a:r>
                          <a:endParaRPr lang="en-US" sz="1200" b="1" baseline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071306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When a fraction is raised to a power, both numerator and denominator is raised to the power.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86195" t="-35795" r="-183502" b="-1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203309" t="-35795" r="-100368" b="-1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304428" t="-35795" r="-738" b="-1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1159210"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86195" t="-125789" r="-183502" b="-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203309" t="-125789" r="-100368" b="-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304428" t="-125789" r="-738" b="-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2372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1383457" y="2403964"/>
            <a:ext cx="863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2. Evaluate</a:t>
            </a:r>
            <a:endParaRPr lang="en-GB" sz="1200"/>
          </a:p>
        </p:txBody>
      </p:sp>
      <p:sp>
        <p:nvSpPr>
          <p:cNvPr id="383" name="TextBox 382"/>
          <p:cNvSpPr txBox="1"/>
          <p:nvPr/>
        </p:nvSpPr>
        <p:spPr>
          <a:xfrm>
            <a:off x="1201665" y="7577003"/>
            <a:ext cx="2961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3. Write as a single fraction in simplest form.</a:t>
            </a:r>
            <a:endParaRPr lang="en-GB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4" name="TextBox 383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5258539" y="7932124"/>
                <a:ext cx="571118" cy="457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84" name="TextBox 383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539" y="7932124"/>
                <a:ext cx="571118" cy="45724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16DD243-B7A7-2470-D247-F27E294134AD}"/>
              </a:ext>
            </a:extLst>
          </p:cNvPr>
          <p:cNvSpPr/>
          <p:nvPr/>
        </p:nvSpPr>
        <p:spPr>
          <a:xfrm>
            <a:off x="168669" y="2339493"/>
            <a:ext cx="1009891" cy="37874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CD655-2AA9-253B-DBC0-0EA69589E586}"/>
              </a:ext>
            </a:extLst>
          </p:cNvPr>
          <p:cNvSpPr/>
          <p:nvPr/>
        </p:nvSpPr>
        <p:spPr>
          <a:xfrm>
            <a:off x="108531" y="7531385"/>
            <a:ext cx="1009891" cy="37874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191B68-B2A5-E06D-CDD7-986D0AB0E3BE}"/>
                  </a:ext>
                </a:extLst>
              </p:cNvPr>
              <p:cNvSpPr txBox="1"/>
              <p:nvPr/>
            </p:nvSpPr>
            <p:spPr>
              <a:xfrm>
                <a:off x="242501" y="8848538"/>
                <a:ext cx="628505" cy="457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191B68-B2A5-E06D-CDD7-986D0AB0E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01" y="8848538"/>
                <a:ext cx="628505" cy="45724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C5E166-DCE7-1F4B-7E60-1D6465807043}"/>
                  </a:ext>
                </a:extLst>
              </p:cNvPr>
              <p:cNvSpPr txBox="1"/>
              <p:nvPr/>
            </p:nvSpPr>
            <p:spPr>
              <a:xfrm>
                <a:off x="3605504" y="8842426"/>
                <a:ext cx="628505" cy="4761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GB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C5E166-DCE7-1F4B-7E60-1D6465807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504" y="8842426"/>
                <a:ext cx="628505" cy="47615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880657-105F-0884-53BC-4E969E24A1F4}"/>
                  </a:ext>
                </a:extLst>
              </p:cNvPr>
              <p:cNvSpPr txBox="1"/>
              <p:nvPr/>
            </p:nvSpPr>
            <p:spPr>
              <a:xfrm>
                <a:off x="1937270" y="8842427"/>
                <a:ext cx="628505" cy="4761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GB" sz="1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880657-105F-0884-53BC-4E969E24A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270" y="8842427"/>
                <a:ext cx="628505" cy="47615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598D94-3A6D-92C9-402C-E46CB3C75978}"/>
                  </a:ext>
                </a:extLst>
              </p:cNvPr>
              <p:cNvSpPr txBox="1"/>
              <p:nvPr/>
            </p:nvSpPr>
            <p:spPr>
              <a:xfrm>
                <a:off x="5273738" y="8848117"/>
                <a:ext cx="638123" cy="4784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GB" sz="1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sz="1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0" lang="en-GB" sz="14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598D94-3A6D-92C9-402C-E46CB3C75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738" y="8848117"/>
                <a:ext cx="638123" cy="47846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4D2BF47-53C6-EE04-4276-2CB9B325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112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4E622EA3-DBF7-D9C5-8AEB-6E9D466B0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54547"/>
              </p:ext>
            </p:extLst>
          </p:nvPr>
        </p:nvGraphicFramePr>
        <p:xfrm>
          <a:off x="89014" y="5621378"/>
          <a:ext cx="6665524" cy="4087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6381">
                  <a:extLst>
                    <a:ext uri="{9D8B030D-6E8A-4147-A177-3AD203B41FA5}">
                      <a16:colId xmlns:a16="http://schemas.microsoft.com/office/drawing/2014/main" val="3398860281"/>
                    </a:ext>
                  </a:extLst>
                </a:gridCol>
                <a:gridCol w="1666381">
                  <a:extLst>
                    <a:ext uri="{9D8B030D-6E8A-4147-A177-3AD203B41FA5}">
                      <a16:colId xmlns:a16="http://schemas.microsoft.com/office/drawing/2014/main" val="1587423612"/>
                    </a:ext>
                  </a:extLst>
                </a:gridCol>
                <a:gridCol w="1666381">
                  <a:extLst>
                    <a:ext uri="{9D8B030D-6E8A-4147-A177-3AD203B41FA5}">
                      <a16:colId xmlns:a16="http://schemas.microsoft.com/office/drawing/2014/main" val="1584304657"/>
                    </a:ext>
                  </a:extLst>
                </a:gridCol>
                <a:gridCol w="1666381">
                  <a:extLst>
                    <a:ext uri="{9D8B030D-6E8A-4147-A177-3AD203B41FA5}">
                      <a16:colId xmlns:a16="http://schemas.microsoft.com/office/drawing/2014/main" val="1050682443"/>
                    </a:ext>
                  </a:extLst>
                </a:gridCol>
              </a:tblGrid>
              <a:tr h="1021856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966993"/>
                  </a:ext>
                </a:extLst>
              </a:tr>
              <a:tr h="1021856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30118"/>
                  </a:ext>
                </a:extLst>
              </a:tr>
              <a:tr h="1021856">
                <a:tc>
                  <a:txBody>
                    <a:bodyPr/>
                    <a:lstStyle/>
                    <a:p>
                      <a:r>
                        <a:rPr lang="en-GB" dirty="0"/>
                        <a:t>i)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677395"/>
                  </a:ext>
                </a:extLst>
              </a:tr>
              <a:tr h="1021856">
                <a:tc>
                  <a:txBody>
                    <a:bodyPr/>
                    <a:lstStyle/>
                    <a:p>
                      <a:r>
                        <a:rPr lang="en-GB" dirty="0"/>
                        <a:t>m)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759432"/>
                  </a:ext>
                </a:extLst>
              </a:tr>
            </a:tbl>
          </a:graphicData>
        </a:graphic>
      </p:graphicFrame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D8305C52-A1FB-55A9-0158-2B11DA344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688564"/>
              </p:ext>
            </p:extLst>
          </p:nvPr>
        </p:nvGraphicFramePr>
        <p:xfrm>
          <a:off x="93126" y="3330743"/>
          <a:ext cx="6665524" cy="1809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6381">
                  <a:extLst>
                    <a:ext uri="{9D8B030D-6E8A-4147-A177-3AD203B41FA5}">
                      <a16:colId xmlns:a16="http://schemas.microsoft.com/office/drawing/2014/main" val="3398860281"/>
                    </a:ext>
                  </a:extLst>
                </a:gridCol>
                <a:gridCol w="1666381">
                  <a:extLst>
                    <a:ext uri="{9D8B030D-6E8A-4147-A177-3AD203B41FA5}">
                      <a16:colId xmlns:a16="http://schemas.microsoft.com/office/drawing/2014/main" val="1587423612"/>
                    </a:ext>
                  </a:extLst>
                </a:gridCol>
                <a:gridCol w="1666381">
                  <a:extLst>
                    <a:ext uri="{9D8B030D-6E8A-4147-A177-3AD203B41FA5}">
                      <a16:colId xmlns:a16="http://schemas.microsoft.com/office/drawing/2014/main" val="1584304657"/>
                    </a:ext>
                  </a:extLst>
                </a:gridCol>
                <a:gridCol w="1666381">
                  <a:extLst>
                    <a:ext uri="{9D8B030D-6E8A-4147-A177-3AD203B41FA5}">
                      <a16:colId xmlns:a16="http://schemas.microsoft.com/office/drawing/2014/main" val="1050682443"/>
                    </a:ext>
                  </a:extLst>
                </a:gridCol>
              </a:tblGrid>
              <a:tr h="904515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966993"/>
                  </a:ext>
                </a:extLst>
              </a:tr>
              <a:tr h="904515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h)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301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6593476"/>
                  </p:ext>
                </p:extLst>
              </p:nvPr>
            </p:nvGraphicFramePr>
            <p:xfrm>
              <a:off x="183616" y="282338"/>
              <a:ext cx="6535838" cy="25851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9349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775011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791253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2022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282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Evaluate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Evaluate</a:t>
                          </a:r>
                          <a:endParaRPr lang="en-US" sz="1200" b="1" baseline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022185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When a base has a negative index, we take the </a:t>
                          </a:r>
                          <a:r>
                            <a:rPr lang="en-US" sz="1200" b="1" baseline="0">
                              <a:solidFill>
                                <a:schemeClr val="tx1"/>
                              </a:solidFill>
                            </a:rPr>
                            <a:t>RECIPROCAL</a:t>
                          </a:r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 of the base. </a:t>
                          </a:r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l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0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1200" b="0" i="0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129161"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b="0" baseline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8486987"/>
                      </a:ext>
                    </a:extLst>
                  </a:tr>
                  <a:tr h="1151346">
                    <a:tc>
                      <a:txBody>
                        <a:bodyPr/>
                        <a:lstStyle/>
                        <a:p>
                          <a:endParaRPr lang="en-US" sz="1200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8086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6593476"/>
                  </p:ext>
                </p:extLst>
              </p:nvPr>
            </p:nvGraphicFramePr>
            <p:xfrm>
              <a:off x="183616" y="282338"/>
              <a:ext cx="6535838" cy="25851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9349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775011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791253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62022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282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Evaluate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Simplify</a:t>
                          </a:r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</a:rPr>
                            <a:t>Evaluate</a:t>
                          </a:r>
                          <a:endParaRPr lang="en-US" sz="1200" b="1" baseline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022185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When a base has a negative index, we take the </a:t>
                          </a:r>
                          <a:r>
                            <a:rPr lang="en-US" sz="1200" b="1" baseline="0">
                              <a:solidFill>
                                <a:schemeClr val="tx1"/>
                              </a:solidFill>
                            </a:rPr>
                            <a:t>RECIPROCAL</a:t>
                          </a:r>
                          <a:r>
                            <a:rPr lang="en-US" sz="1200" baseline="0">
                              <a:solidFill>
                                <a:schemeClr val="tx1"/>
                              </a:solidFill>
                            </a:rPr>
                            <a:t> of the base. </a:t>
                          </a:r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632" t="-27976" r="-193127" b="-126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4830" t="-27976" r="-91156" b="-126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759" t="-27976" r="-752" b="-126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129161">
                    <a:tc vMerge="1">
                      <a:txBody>
                        <a:bodyPr/>
                        <a:lstStyle/>
                        <a:p>
                          <a:endParaRPr lang="en-GB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632" t="-101896" r="-193127" b="-948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4830" t="-101896" r="-91156" b="-948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759" t="-101896" r="-752" b="-9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8486987"/>
                      </a:ext>
                    </a:extLst>
                  </a:tr>
                  <a:tr h="1151346">
                    <a:tc>
                      <a:txBody>
                        <a:bodyPr/>
                        <a:lstStyle/>
                        <a:p>
                          <a:endParaRPr lang="en-US" sz="1200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80861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02351B3-7423-8541-912E-FFEBC6249001}"/>
              </a:ext>
            </a:extLst>
          </p:cNvPr>
          <p:cNvSpPr txBox="1"/>
          <p:nvPr/>
        </p:nvSpPr>
        <p:spPr>
          <a:xfrm>
            <a:off x="347509" y="5627461"/>
            <a:ext cx="543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en-GB" sz="12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CEED83-BB64-AE42-9216-640C03E2A37E}"/>
              </a:ext>
            </a:extLst>
          </p:cNvPr>
          <p:cNvSpPr txBox="1"/>
          <p:nvPr/>
        </p:nvSpPr>
        <p:spPr>
          <a:xfrm>
            <a:off x="2050869" y="5627461"/>
            <a:ext cx="391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3</a:t>
            </a:r>
            <a:r>
              <a:rPr kumimoji="0" lang="en-GB" sz="12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-2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81EB8E-D4D3-3B47-A0D8-A05DD7DF8E34}"/>
              </a:ext>
            </a:extLst>
          </p:cNvPr>
          <p:cNvSpPr txBox="1"/>
          <p:nvPr/>
        </p:nvSpPr>
        <p:spPr>
          <a:xfrm>
            <a:off x="3681660" y="5627460"/>
            <a:ext cx="5318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noProof="0">
                <a:solidFill>
                  <a:prstClr val="black"/>
                </a:solidFill>
                <a:latin typeface="Calibri" panose="020F0502020204030204"/>
              </a:rPr>
              <a:t>10</a:t>
            </a:r>
            <a:r>
              <a:rPr kumimoji="0" lang="en-GB" sz="12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-2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ECED7C-7300-1C4D-9E23-15C7E1C86D40}"/>
              </a:ext>
            </a:extLst>
          </p:cNvPr>
          <p:cNvSpPr txBox="1"/>
          <p:nvPr/>
        </p:nvSpPr>
        <p:spPr>
          <a:xfrm>
            <a:off x="5358943" y="5633164"/>
            <a:ext cx="4558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noProof="0">
                <a:solidFill>
                  <a:prstClr val="black"/>
                </a:solidFill>
                <a:latin typeface="Calibri" panose="020F0502020204030204"/>
              </a:rPr>
              <a:t>4</a:t>
            </a:r>
            <a:r>
              <a:rPr kumimoji="0" lang="en-GB" sz="12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-2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611B2C-92AE-0844-8F3E-3C733B3CE5DE}"/>
              </a:ext>
            </a:extLst>
          </p:cNvPr>
          <p:cNvSpPr txBox="1"/>
          <p:nvPr/>
        </p:nvSpPr>
        <p:spPr>
          <a:xfrm>
            <a:off x="322700" y="6638383"/>
            <a:ext cx="449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9</a:t>
            </a:r>
            <a:r>
              <a:rPr kumimoji="0" lang="en-GB" sz="12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-2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3C2596-3B35-7149-9A89-6A34D927D546}"/>
              </a:ext>
            </a:extLst>
          </p:cNvPr>
          <p:cNvSpPr txBox="1"/>
          <p:nvPr/>
        </p:nvSpPr>
        <p:spPr>
          <a:xfrm>
            <a:off x="2001196" y="6632271"/>
            <a:ext cx="467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8</a:t>
            </a:r>
            <a:r>
              <a:rPr kumimoji="0" lang="en-GB" sz="12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-2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29E783-367A-BE4D-BE37-89369080C9DF}"/>
              </a:ext>
            </a:extLst>
          </p:cNvPr>
          <p:cNvSpPr txBox="1"/>
          <p:nvPr/>
        </p:nvSpPr>
        <p:spPr>
          <a:xfrm>
            <a:off x="3659408" y="6642135"/>
            <a:ext cx="383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7</a:t>
            </a:r>
            <a:r>
              <a:rPr kumimoji="0" lang="en-GB" sz="12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-2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1B15A4-44A9-2249-88E2-3B2DC5A8FE05}"/>
              </a:ext>
            </a:extLst>
          </p:cNvPr>
          <p:cNvSpPr txBox="1"/>
          <p:nvPr/>
        </p:nvSpPr>
        <p:spPr>
          <a:xfrm>
            <a:off x="5359999" y="6634518"/>
            <a:ext cx="453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6</a:t>
            </a:r>
            <a:r>
              <a:rPr kumimoji="0" lang="en-GB" sz="12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-2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5C49CD-06A8-8748-BF66-9C3C7AC8169B}"/>
              </a:ext>
            </a:extLst>
          </p:cNvPr>
          <p:cNvSpPr txBox="1"/>
          <p:nvPr/>
        </p:nvSpPr>
        <p:spPr>
          <a:xfrm>
            <a:off x="1173265" y="2923620"/>
            <a:ext cx="1078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4. Simplify.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293576" y="3373440"/>
                <a:ext cx="4640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</m:t>
                        </m:r>
                      </m:sup>
                    </m:sSup>
                  </m:oMath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76" y="3373440"/>
                <a:ext cx="46403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5387821" y="3373523"/>
                <a:ext cx="464038" cy="2791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−5</m:t>
                        </m:r>
                      </m:sup>
                    </m:sSup>
                  </m:oMath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821" y="3373523"/>
                <a:ext cx="464038" cy="2791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3658821" y="3377465"/>
                <a:ext cx="4640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</m:t>
                        </m:r>
                      </m:sup>
                    </m:sSup>
                  </m:oMath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821" y="3377465"/>
                <a:ext cx="46403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2001196" y="3366273"/>
                <a:ext cx="4640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−3</m:t>
                        </m:r>
                      </m:sup>
                    </m:sSup>
                  </m:oMath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196" y="3366273"/>
                <a:ext cx="46403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271056" y="7680777"/>
                <a:ext cx="45878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−3</m:t>
                        </m:r>
                      </m:sup>
                    </m:sSup>
                  </m:oMath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56" y="7680777"/>
                <a:ext cx="458780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5212832" y="7680775"/>
                <a:ext cx="5437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−3</m:t>
                        </m:r>
                      </m:sup>
                    </m:sSup>
                  </m:oMath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832" y="7680775"/>
                <a:ext cx="543739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3696828" y="7680775"/>
                <a:ext cx="45878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−3</m:t>
                        </m:r>
                      </m:sup>
                    </m:sSup>
                  </m:oMath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828" y="7680775"/>
                <a:ext cx="45878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/>
              <p:nvPr/>
            </p:nvSpPr>
            <p:spPr>
              <a:xfrm>
                <a:off x="1920022" y="7680776"/>
                <a:ext cx="45878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−3</m:t>
                        </m:r>
                      </m:sup>
                    </m:sSup>
                  </m:oMath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A4461BE1-A513-4046-B72A-55427F85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022" y="7680776"/>
                <a:ext cx="458780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4" name="Group 143"/>
          <p:cNvGrpSpPr/>
          <p:nvPr/>
        </p:nvGrpSpPr>
        <p:grpSpPr>
          <a:xfrm>
            <a:off x="1855034" y="14695"/>
            <a:ext cx="4661599" cy="281941"/>
            <a:chOff x="223612" y="9004810"/>
            <a:chExt cx="4661599" cy="281941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88BE26D3-BD12-8F4B-9608-3EB6530361A1}"/>
                </a:ext>
              </a:extLst>
            </p:cNvPr>
            <p:cNvSpPr txBox="1"/>
            <p:nvPr/>
          </p:nvSpPr>
          <p:spPr>
            <a:xfrm>
              <a:off x="223612" y="9009752"/>
              <a:ext cx="13085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>
                  <a:solidFill>
                    <a:srgbClr val="FF0000"/>
                  </a:solidFill>
                </a:rPr>
                <a:t>Example 7 - I do…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1743197" y="9004811"/>
              <a:ext cx="147098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>
                  <a:solidFill>
                    <a:schemeClr val="accent2"/>
                  </a:solidFill>
                </a:rPr>
                <a:t>Example 8– We do…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3355946" y="9004810"/>
              <a:ext cx="15292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>
                  <a:solidFill>
                    <a:srgbClr val="00B050"/>
                  </a:solidFill>
                </a:rPr>
                <a:t>Example 9 – You do…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A1B6098-FC11-1326-8939-5961F0F88204}"/>
              </a:ext>
            </a:extLst>
          </p:cNvPr>
          <p:cNvSpPr/>
          <p:nvPr/>
        </p:nvSpPr>
        <p:spPr>
          <a:xfrm>
            <a:off x="42675" y="2915112"/>
            <a:ext cx="1009891" cy="37874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2B123E-093E-A5D4-6398-1648DE0E9406}"/>
                  </a:ext>
                </a:extLst>
              </p:cNvPr>
              <p:cNvSpPr txBox="1"/>
              <p:nvPr/>
            </p:nvSpPr>
            <p:spPr>
              <a:xfrm>
                <a:off x="347509" y="4299427"/>
                <a:ext cx="6737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𝑎𝑏</m:t>
                        </m:r>
                        <m: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</m:t>
                        </m:r>
                      </m:sup>
                    </m:sSup>
                  </m:oMath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2B123E-093E-A5D4-6398-1648DE0E9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09" y="4299427"/>
                <a:ext cx="673774" cy="276999"/>
              </a:xfrm>
              <a:prstGeom prst="rect">
                <a:avLst/>
              </a:prstGeom>
              <a:blipFill>
                <a:blip r:embed="rId1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75575F-5E9C-4597-0945-404981B47D82}"/>
                  </a:ext>
                </a:extLst>
              </p:cNvPr>
              <p:cNvSpPr txBox="1"/>
              <p:nvPr/>
            </p:nvSpPr>
            <p:spPr>
              <a:xfrm>
                <a:off x="5441754" y="4299510"/>
                <a:ext cx="610103" cy="276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75575F-5E9C-4597-0945-404981B47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754" y="4299510"/>
                <a:ext cx="610103" cy="2764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33C3AF-EBAE-C12B-2573-B16AE44F7EA2}"/>
                  </a:ext>
                </a:extLst>
              </p:cNvPr>
              <p:cNvSpPr txBox="1"/>
              <p:nvPr/>
            </p:nvSpPr>
            <p:spPr>
              <a:xfrm>
                <a:off x="3712754" y="4303452"/>
                <a:ext cx="7399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33C3AF-EBAE-C12B-2573-B16AE44F7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754" y="4303452"/>
                <a:ext cx="73994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D36639-9619-2118-E198-4915F0DE37A1}"/>
                  </a:ext>
                </a:extLst>
              </p:cNvPr>
              <p:cNvSpPr txBox="1"/>
              <p:nvPr/>
            </p:nvSpPr>
            <p:spPr>
              <a:xfrm>
                <a:off x="2055129" y="4292260"/>
                <a:ext cx="5470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𝑎𝑏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D36639-9619-2118-E198-4915F0DE3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129" y="4292260"/>
                <a:ext cx="5470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198D4A5-0338-D0C0-CF8E-3F9F603D622D}"/>
              </a:ext>
            </a:extLst>
          </p:cNvPr>
          <p:cNvSpPr txBox="1"/>
          <p:nvPr/>
        </p:nvSpPr>
        <p:spPr>
          <a:xfrm>
            <a:off x="94869" y="5243894"/>
            <a:ext cx="1078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5. Evaluate.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FDCCB9FB-7E6F-8291-3503-895F74EEDFC4}"/>
                  </a:ext>
                </a:extLst>
              </p:cNvPr>
              <p:cNvSpPr txBox="1"/>
              <p:nvPr/>
            </p:nvSpPr>
            <p:spPr>
              <a:xfrm>
                <a:off x="347469" y="8718564"/>
                <a:ext cx="868571" cy="276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0" lang="en-U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GB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kumimoji="0" lang="en-U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FDCCB9FB-7E6F-8291-3503-895F74EED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69" y="8718564"/>
                <a:ext cx="868571" cy="27648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0C048E7-F431-D740-D7EA-DC4811FB10CC}"/>
                  </a:ext>
                </a:extLst>
              </p:cNvPr>
              <p:cNvSpPr txBox="1"/>
              <p:nvPr/>
            </p:nvSpPr>
            <p:spPr>
              <a:xfrm>
                <a:off x="5283729" y="8690444"/>
                <a:ext cx="863763" cy="276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0C048E7-F431-D740-D7EA-DC4811FB1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729" y="8690444"/>
                <a:ext cx="863763" cy="27648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09DCFAA-00DA-8936-0F11-B39B854EF783}"/>
                  </a:ext>
                </a:extLst>
              </p:cNvPr>
              <p:cNvSpPr txBox="1"/>
              <p:nvPr/>
            </p:nvSpPr>
            <p:spPr>
              <a:xfrm>
                <a:off x="3608625" y="8690445"/>
                <a:ext cx="868571" cy="276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09DCFAA-00DA-8936-0F11-B39B854EF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625" y="8690445"/>
                <a:ext cx="868571" cy="27648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DDCAD051-C755-606D-9BA0-B8DBDA249058}"/>
                  </a:ext>
                </a:extLst>
              </p:cNvPr>
              <p:cNvSpPr txBox="1"/>
              <p:nvPr/>
            </p:nvSpPr>
            <p:spPr>
              <a:xfrm>
                <a:off x="1996435" y="8718563"/>
                <a:ext cx="868571" cy="276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GB" sz="1200" b="0" i="0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DDCAD051-C755-606D-9BA0-B8DBDA249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435" y="8718563"/>
                <a:ext cx="868571" cy="27648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Slide Number Placeholder 147">
            <a:extLst>
              <a:ext uri="{FF2B5EF4-FFF2-40B4-BE49-F238E27FC236}">
                <a16:creationId xmlns:a16="http://schemas.microsoft.com/office/drawing/2014/main" id="{1698DB0E-30ED-5AE9-3348-9331D6C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650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7FF57-CE54-496F-32A6-086B18AC5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24</a:t>
            </a:fld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81DFE3-36EE-16FD-7496-8532B642B42C}"/>
              </a:ext>
            </a:extLst>
          </p:cNvPr>
          <p:cNvSpPr/>
          <p:nvPr/>
        </p:nvSpPr>
        <p:spPr>
          <a:xfrm>
            <a:off x="0" y="-1"/>
            <a:ext cx="6858000" cy="2829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GCSE Past Paper Questions</a:t>
            </a:r>
            <a:endParaRPr lang="en-GB" b="1" dirty="0"/>
          </a:p>
        </p:txBody>
      </p:sp>
      <p:pic>
        <p:nvPicPr>
          <p:cNvPr id="5" name="Picture 4" descr="A paper with text on it&#10;&#10;AI-generated content may be incorrect.">
            <a:extLst>
              <a:ext uri="{FF2B5EF4-FFF2-40B4-BE49-F238E27FC236}">
                <a16:creationId xmlns:a16="http://schemas.microsoft.com/office/drawing/2014/main" id="{5092268A-CB90-FD19-1BD6-BF508BE8E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92" y="436758"/>
            <a:ext cx="6265890" cy="885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5050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4DF352-8588-770E-1D06-D0A6C45D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25</a:t>
            </a:fld>
            <a:endParaRPr lang="en-GB"/>
          </a:p>
        </p:txBody>
      </p:sp>
      <p:pic>
        <p:nvPicPr>
          <p:cNvPr id="4" name="Picture 3" descr="A paper with text on it&#10;&#10;AI-generated content may be incorrect.">
            <a:extLst>
              <a:ext uri="{FF2B5EF4-FFF2-40B4-BE49-F238E27FC236}">
                <a16:creationId xmlns:a16="http://schemas.microsoft.com/office/drawing/2014/main" id="{119DCAA7-5832-FBE8-3838-FDB884B1C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76" y="264218"/>
            <a:ext cx="6176179" cy="87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5" ma:contentTypeDescription="Create a new document." ma:contentTypeScope="" ma:versionID="e238da7da78697d1fe4891d3ac25b45a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372ff361b2b60b6ed47f8a13d178c3d7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D76E5-7287-49DC-AF93-B1F4EB3F8258}">
  <ds:schemaRefs>
    <ds:schemaRef ds:uri="608ebbb4-e88b-4c99-b506-21d9362781c6"/>
    <ds:schemaRef ds:uri="http://schemas.microsoft.com/office/2006/metadata/properties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e30b71df-48f4-4db7-95c3-a9033c265cb9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608CC0EE-6BD2-49A5-B9D5-849A50B03A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5A1092-6F12-4BB1-A2BA-32E84995630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4715</Words>
  <Application>Microsoft Office PowerPoint</Application>
  <PresentationFormat>A4 Paper (210x297 mm)</PresentationFormat>
  <Paragraphs>1280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.AppleSystemUIFont</vt:lpstr>
      <vt:lpstr>Arial</vt:lpstr>
      <vt:lpstr>Calibri</vt:lpstr>
      <vt:lpstr>Calibri Light</vt:lpstr>
      <vt:lpstr>Cambria Math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Wasiq Razaq (Astrea Academy Sheffield)</dc:creator>
  <cp:lastModifiedBy>Adam Brown (Astrea Central)</cp:lastModifiedBy>
  <cp:revision>8</cp:revision>
  <cp:lastPrinted>2021-07-09T14:20:41Z</cp:lastPrinted>
  <dcterms:created xsi:type="dcterms:W3CDTF">2020-02-27T07:22:26Z</dcterms:created>
  <dcterms:modified xsi:type="dcterms:W3CDTF">2025-10-02T11:05:06Z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  <property fmtid="{D5CDD505-2E9C-101B-9397-08002B2CF9AE}" pid="3" name="Order">
    <vt:r8>12500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