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790" r:id="rId5"/>
    <p:sldId id="2791" r:id="rId6"/>
    <p:sldId id="2792" r:id="rId7"/>
    <p:sldId id="2793" r:id="rId8"/>
    <p:sldId id="2794" r:id="rId9"/>
    <p:sldId id="2795" r:id="rId10"/>
    <p:sldId id="2796" r:id="rId11"/>
    <p:sldId id="2797" r:id="rId12"/>
    <p:sldId id="2798" r:id="rId13"/>
    <p:sldId id="2717" r:id="rId14"/>
    <p:sldId id="2724" r:id="rId15"/>
    <p:sldId id="2726" r:id="rId16"/>
    <p:sldId id="290" r:id="rId17"/>
    <p:sldId id="418" r:id="rId18"/>
    <p:sldId id="2804" r:id="rId19"/>
    <p:sldId id="2801" r:id="rId20"/>
  </p:sldIdLst>
  <p:sldSz cx="6858000" cy="9906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8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siq Razaq (Staff, Astrea Academy Sheffield)" initials="WR(AAS" lastIdx="17" clrIdx="0">
    <p:extLst>
      <p:ext uri="{19B8F6BF-5375-455C-9EA6-DF929625EA0E}">
        <p15:presenceInfo xmlns:p15="http://schemas.microsoft.com/office/powerpoint/2012/main" userId="S::wasiq.razaq@astreasheffield.org::159e9762-73e0-4ac1-a5d5-3ca02db9f47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2341"/>
    <a:srgbClr val="FF01B3"/>
    <a:srgbClr val="C4A000"/>
    <a:srgbClr val="8F5902"/>
    <a:srgbClr val="0000FF"/>
    <a:srgbClr val="B0BF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6247" autoAdjust="0"/>
  </p:normalViewPr>
  <p:slideViewPr>
    <p:cSldViewPr snapToGrid="0">
      <p:cViewPr varScale="1">
        <p:scale>
          <a:sx n="44" d="100"/>
          <a:sy n="44" d="100"/>
        </p:scale>
        <p:origin x="2232" y="40"/>
      </p:cViewPr>
      <p:guideLst>
        <p:guide orient="horz" pos="3120"/>
        <p:guide pos="2183"/>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Brown (Astrea Central)" userId="e4577f1c-a0ea-4eef-9851-9bdbe8619e58" providerId="ADAL" clId="{298CC335-43E8-497A-92EF-F6294183AD0B}"/>
    <pc:docChg chg="undo custSel delSld modSld">
      <pc:chgData name="Adam Brown (Astrea Central)" userId="e4577f1c-a0ea-4eef-9851-9bdbe8619e58" providerId="ADAL" clId="{298CC335-43E8-497A-92EF-F6294183AD0B}" dt="2025-09-15T13:28:36.725" v="1901" actId="20577"/>
      <pc:docMkLst>
        <pc:docMk/>
      </pc:docMkLst>
      <pc:sldChg chg="delSp modSp mod">
        <pc:chgData name="Adam Brown (Astrea Central)" userId="e4577f1c-a0ea-4eef-9851-9bdbe8619e58" providerId="ADAL" clId="{298CC335-43E8-497A-92EF-F6294183AD0B}" dt="2025-09-15T11:17:48.384" v="749" actId="478"/>
        <pc:sldMkLst>
          <pc:docMk/>
          <pc:sldMk cId="3499626388" sldId="270"/>
        </pc:sldMkLst>
      </pc:sldChg>
      <pc:sldChg chg="delSp mod">
        <pc:chgData name="Adam Brown (Astrea Central)" userId="e4577f1c-a0ea-4eef-9851-9bdbe8619e58" providerId="ADAL" clId="{298CC335-43E8-497A-92EF-F6294183AD0B}" dt="2025-09-15T13:27:31.878" v="1884" actId="478"/>
        <pc:sldMkLst>
          <pc:docMk/>
          <pc:sldMk cId="3802529320" sldId="290"/>
        </pc:sldMkLst>
      </pc:sldChg>
      <pc:sldChg chg="delSp mod">
        <pc:chgData name="Adam Brown (Astrea Central)" userId="e4577f1c-a0ea-4eef-9851-9bdbe8619e58" providerId="ADAL" clId="{298CC335-43E8-497A-92EF-F6294183AD0B}" dt="2025-09-15T11:17:57.337" v="751" actId="478"/>
        <pc:sldMkLst>
          <pc:docMk/>
          <pc:sldMk cId="602000621" sldId="304"/>
        </pc:sldMkLst>
      </pc:sldChg>
      <pc:sldChg chg="addSp delSp mod">
        <pc:chgData name="Adam Brown (Astrea Central)" userId="e4577f1c-a0ea-4eef-9851-9bdbe8619e58" providerId="ADAL" clId="{298CC335-43E8-497A-92EF-F6294183AD0B}" dt="2025-09-15T13:27:57.845" v="1894" actId="478"/>
        <pc:sldMkLst>
          <pc:docMk/>
          <pc:sldMk cId="201419931" sldId="418"/>
        </pc:sldMkLst>
        <pc:spChg chg="add del">
          <ac:chgData name="Adam Brown (Astrea Central)" userId="e4577f1c-a0ea-4eef-9851-9bdbe8619e58" providerId="ADAL" clId="{298CC335-43E8-497A-92EF-F6294183AD0B}" dt="2025-09-15T13:27:45.246" v="1886" actId="478"/>
          <ac:spMkLst>
            <pc:docMk/>
            <pc:sldMk cId="201419931" sldId="418"/>
            <ac:spMk id="15" creationId="{600AB5D3-637B-060F-B37F-399EC14D2651}"/>
          </ac:spMkLst>
        </pc:spChg>
        <pc:spChg chg="add del">
          <ac:chgData name="Adam Brown (Astrea Central)" userId="e4577f1c-a0ea-4eef-9851-9bdbe8619e58" providerId="ADAL" clId="{298CC335-43E8-497A-92EF-F6294183AD0B}" dt="2025-09-15T13:27:45.246" v="1886" actId="478"/>
          <ac:spMkLst>
            <pc:docMk/>
            <pc:sldMk cId="201419931" sldId="418"/>
            <ac:spMk id="16" creationId="{73A6570E-12D6-46E2-D591-986D2DE3CEEA}"/>
          </ac:spMkLst>
        </pc:spChg>
        <pc:spChg chg="add del">
          <ac:chgData name="Adam Brown (Astrea Central)" userId="e4577f1c-a0ea-4eef-9851-9bdbe8619e58" providerId="ADAL" clId="{298CC335-43E8-497A-92EF-F6294183AD0B}" dt="2025-09-15T13:27:45.246" v="1886" actId="478"/>
          <ac:spMkLst>
            <pc:docMk/>
            <pc:sldMk cId="201419931" sldId="418"/>
            <ac:spMk id="19" creationId="{B08C7CC8-5D75-A250-C441-5E4787B7A91C}"/>
          </ac:spMkLst>
        </pc:spChg>
        <pc:spChg chg="add del">
          <ac:chgData name="Adam Brown (Astrea Central)" userId="e4577f1c-a0ea-4eef-9851-9bdbe8619e58" providerId="ADAL" clId="{298CC335-43E8-497A-92EF-F6294183AD0B}" dt="2025-09-15T13:27:45.246" v="1886" actId="478"/>
          <ac:spMkLst>
            <pc:docMk/>
            <pc:sldMk cId="201419931" sldId="418"/>
            <ac:spMk id="20" creationId="{DEB6C9E1-D735-6F71-4592-520BEF1C7580}"/>
          </ac:spMkLst>
        </pc:spChg>
      </pc:sldChg>
      <pc:sldChg chg="modSp mod">
        <pc:chgData name="Adam Brown (Astrea Central)" userId="e4577f1c-a0ea-4eef-9851-9bdbe8619e58" providerId="ADAL" clId="{298CC335-43E8-497A-92EF-F6294183AD0B}" dt="2025-09-15T11:21:19.735" v="822" actId="6549"/>
        <pc:sldMkLst>
          <pc:docMk/>
          <pc:sldMk cId="2200894185" sldId="442"/>
        </pc:sldMkLst>
      </pc:sldChg>
      <pc:sldChg chg="delSp modSp mod">
        <pc:chgData name="Adam Brown (Astrea Central)" userId="e4577f1c-a0ea-4eef-9851-9bdbe8619e58" providerId="ADAL" clId="{298CC335-43E8-497A-92EF-F6294183AD0B}" dt="2025-09-15T11:06:24.216" v="629" actId="478"/>
        <pc:sldMkLst>
          <pc:docMk/>
          <pc:sldMk cId="3634756477" sldId="528"/>
        </pc:sldMkLst>
      </pc:sldChg>
      <pc:sldChg chg="addSp delSp mod">
        <pc:chgData name="Adam Brown (Astrea Central)" userId="e4577f1c-a0ea-4eef-9851-9bdbe8619e58" providerId="ADAL" clId="{298CC335-43E8-497A-92EF-F6294183AD0B}" dt="2025-09-15T11:07:13.856" v="660" actId="478"/>
        <pc:sldMkLst>
          <pc:docMk/>
          <pc:sldMk cId="3965342644" sldId="529"/>
        </pc:sldMkLst>
      </pc:sldChg>
      <pc:sldChg chg="delSp mod">
        <pc:chgData name="Adam Brown (Astrea Central)" userId="e4577f1c-a0ea-4eef-9851-9bdbe8619e58" providerId="ADAL" clId="{298CC335-43E8-497A-92EF-F6294183AD0B}" dt="2025-09-15T11:07:27.256" v="670" actId="478"/>
        <pc:sldMkLst>
          <pc:docMk/>
          <pc:sldMk cId="1261905153" sldId="531"/>
        </pc:sldMkLst>
      </pc:sldChg>
      <pc:sldChg chg="delSp mod">
        <pc:chgData name="Adam Brown (Astrea Central)" userId="e4577f1c-a0ea-4eef-9851-9bdbe8619e58" providerId="ADAL" clId="{298CC335-43E8-497A-92EF-F6294183AD0B}" dt="2025-09-15T11:07:31.584" v="671" actId="478"/>
        <pc:sldMkLst>
          <pc:docMk/>
          <pc:sldMk cId="2885128637" sldId="533"/>
        </pc:sldMkLst>
      </pc:sldChg>
      <pc:sldChg chg="delSp mod">
        <pc:chgData name="Adam Brown (Astrea Central)" userId="e4577f1c-a0ea-4eef-9851-9bdbe8619e58" providerId="ADAL" clId="{298CC335-43E8-497A-92EF-F6294183AD0B}" dt="2025-09-15T11:08:07.511" v="683" actId="478"/>
        <pc:sldMkLst>
          <pc:docMk/>
          <pc:sldMk cId="1207551091" sldId="534"/>
        </pc:sldMkLst>
      </pc:sldChg>
      <pc:sldChg chg="delSp mod">
        <pc:chgData name="Adam Brown (Astrea Central)" userId="e4577f1c-a0ea-4eef-9851-9bdbe8619e58" providerId="ADAL" clId="{298CC335-43E8-497A-92EF-F6294183AD0B}" dt="2025-09-15T11:11:48.364" v="691" actId="478"/>
        <pc:sldMkLst>
          <pc:docMk/>
          <pc:sldMk cId="1773249319" sldId="536"/>
        </pc:sldMkLst>
      </pc:sldChg>
      <pc:sldChg chg="delSp mod">
        <pc:chgData name="Adam Brown (Astrea Central)" userId="e4577f1c-a0ea-4eef-9851-9bdbe8619e58" providerId="ADAL" clId="{298CC335-43E8-497A-92EF-F6294183AD0B}" dt="2025-09-15T11:17:09.031" v="729" actId="478"/>
        <pc:sldMkLst>
          <pc:docMk/>
          <pc:sldMk cId="354259982" sldId="537"/>
        </pc:sldMkLst>
      </pc:sldChg>
      <pc:sldChg chg="delSp mod">
        <pc:chgData name="Adam Brown (Astrea Central)" userId="e4577f1c-a0ea-4eef-9851-9bdbe8619e58" providerId="ADAL" clId="{298CC335-43E8-497A-92EF-F6294183AD0B}" dt="2025-09-15T11:17:28.552" v="740" actId="478"/>
        <pc:sldMkLst>
          <pc:docMk/>
          <pc:sldMk cId="1438998916" sldId="538"/>
        </pc:sldMkLst>
      </pc:sldChg>
      <pc:sldChg chg="delSp mod">
        <pc:chgData name="Adam Brown (Astrea Central)" userId="e4577f1c-a0ea-4eef-9851-9bdbe8619e58" providerId="ADAL" clId="{298CC335-43E8-497A-92EF-F6294183AD0B}" dt="2025-09-15T11:16:05.400" v="699" actId="478"/>
        <pc:sldMkLst>
          <pc:docMk/>
          <pc:sldMk cId="2485489797" sldId="557"/>
        </pc:sldMkLst>
      </pc:sldChg>
      <pc:sldChg chg="modSp mod">
        <pc:chgData name="Adam Brown (Astrea Central)" userId="e4577f1c-a0ea-4eef-9851-9bdbe8619e58" providerId="ADAL" clId="{298CC335-43E8-497A-92EF-F6294183AD0B}" dt="2025-09-15T11:16:37.328" v="713" actId="20577"/>
        <pc:sldMkLst>
          <pc:docMk/>
          <pc:sldMk cId="1525563781" sldId="560"/>
        </pc:sldMkLst>
      </pc:sldChg>
      <pc:sldChg chg="modSp mod">
        <pc:chgData name="Adam Brown (Astrea Central)" userId="e4577f1c-a0ea-4eef-9851-9bdbe8619e58" providerId="ADAL" clId="{298CC335-43E8-497A-92EF-F6294183AD0B}" dt="2025-09-15T11:21:34.185" v="828" actId="6549"/>
        <pc:sldMkLst>
          <pc:docMk/>
          <pc:sldMk cId="1903988073" sldId="565"/>
        </pc:sldMkLst>
      </pc:sldChg>
      <pc:sldChg chg="addSp delSp modSp mod">
        <pc:chgData name="Adam Brown (Astrea Central)" userId="e4577f1c-a0ea-4eef-9851-9bdbe8619e58" providerId="ADAL" clId="{298CC335-43E8-497A-92EF-F6294183AD0B}" dt="2025-09-15T11:22:15.767" v="858" actId="478"/>
        <pc:sldMkLst>
          <pc:docMk/>
          <pc:sldMk cId="76818099" sldId="603"/>
        </pc:sldMkLst>
      </pc:sldChg>
      <pc:sldChg chg="modSp mod">
        <pc:chgData name="Adam Brown (Astrea Central)" userId="e4577f1c-a0ea-4eef-9851-9bdbe8619e58" providerId="ADAL" clId="{298CC335-43E8-497A-92EF-F6294183AD0B}" dt="2025-09-15T10:49:24.543" v="619" actId="20577"/>
        <pc:sldMkLst>
          <pc:docMk/>
          <pc:sldMk cId="1617582283" sldId="604"/>
        </pc:sldMkLst>
      </pc:sldChg>
      <pc:sldChg chg="modSp mod">
        <pc:chgData name="Adam Brown (Astrea Central)" userId="e4577f1c-a0ea-4eef-9851-9bdbe8619e58" providerId="ADAL" clId="{298CC335-43E8-497A-92EF-F6294183AD0B}" dt="2025-09-15T11:31:05.576" v="1380" actId="20577"/>
        <pc:sldMkLst>
          <pc:docMk/>
          <pc:sldMk cId="1257912426" sldId="605"/>
        </pc:sldMkLst>
      </pc:sldChg>
      <pc:sldChg chg="delSp modSp mod">
        <pc:chgData name="Adam Brown (Astrea Central)" userId="e4577f1c-a0ea-4eef-9851-9bdbe8619e58" providerId="ADAL" clId="{298CC335-43E8-497A-92EF-F6294183AD0B}" dt="2025-09-15T11:22:53.890" v="872"/>
        <pc:sldMkLst>
          <pc:docMk/>
          <pc:sldMk cId="1849326464" sldId="607"/>
        </pc:sldMkLst>
      </pc:sldChg>
      <pc:sldChg chg="delSp modSp mod">
        <pc:chgData name="Adam Brown (Astrea Central)" userId="e4577f1c-a0ea-4eef-9851-9bdbe8619e58" providerId="ADAL" clId="{298CC335-43E8-497A-92EF-F6294183AD0B}" dt="2025-09-15T11:23:46.271" v="898" actId="478"/>
        <pc:sldMkLst>
          <pc:docMk/>
          <pc:sldMk cId="2486596901" sldId="611"/>
        </pc:sldMkLst>
      </pc:sldChg>
      <pc:sldChg chg="delSp modSp mod">
        <pc:chgData name="Adam Brown (Astrea Central)" userId="e4577f1c-a0ea-4eef-9851-9bdbe8619e58" providerId="ADAL" clId="{298CC335-43E8-497A-92EF-F6294183AD0B}" dt="2025-09-15T11:17:39.713" v="746" actId="478"/>
        <pc:sldMkLst>
          <pc:docMk/>
          <pc:sldMk cId="3771127931" sldId="634"/>
        </pc:sldMkLst>
      </pc:sldChg>
      <pc:sldChg chg="addSp delSp mod">
        <pc:chgData name="Adam Brown (Astrea Central)" userId="e4577f1c-a0ea-4eef-9851-9bdbe8619e58" providerId="ADAL" clId="{298CC335-43E8-497A-92EF-F6294183AD0B}" dt="2025-09-15T11:16:17.228" v="702" actId="478"/>
        <pc:sldMkLst>
          <pc:docMk/>
          <pc:sldMk cId="2820528885" sldId="750"/>
        </pc:sldMkLst>
      </pc:sldChg>
      <pc:sldChg chg="delSp mod">
        <pc:chgData name="Adam Brown (Astrea Central)" userId="e4577f1c-a0ea-4eef-9851-9bdbe8619e58" providerId="ADAL" clId="{298CC335-43E8-497A-92EF-F6294183AD0B}" dt="2025-09-15T11:16:25.008" v="703" actId="478"/>
        <pc:sldMkLst>
          <pc:docMk/>
          <pc:sldMk cId="105983789" sldId="751"/>
        </pc:sldMkLst>
      </pc:sldChg>
      <pc:sldChg chg="delSp mod">
        <pc:chgData name="Adam Brown (Astrea Central)" userId="e4577f1c-a0ea-4eef-9851-9bdbe8619e58" providerId="ADAL" clId="{298CC335-43E8-497A-92EF-F6294183AD0B}" dt="2025-09-15T11:16:47.863" v="723" actId="478"/>
        <pc:sldMkLst>
          <pc:docMk/>
          <pc:sldMk cId="1705740215" sldId="761"/>
        </pc:sldMkLst>
      </pc:sldChg>
      <pc:sldChg chg="delSp mod">
        <pc:chgData name="Adam Brown (Astrea Central)" userId="e4577f1c-a0ea-4eef-9851-9bdbe8619e58" providerId="ADAL" clId="{298CC335-43E8-497A-92EF-F6294183AD0B}" dt="2025-09-15T11:16:53.262" v="724" actId="478"/>
        <pc:sldMkLst>
          <pc:docMk/>
          <pc:sldMk cId="2741417538" sldId="764"/>
        </pc:sldMkLst>
      </pc:sldChg>
      <pc:sldChg chg="delSp mod">
        <pc:chgData name="Adam Brown (Astrea Central)" userId="e4577f1c-a0ea-4eef-9851-9bdbe8619e58" providerId="ADAL" clId="{298CC335-43E8-497A-92EF-F6294183AD0B}" dt="2025-09-15T11:16:59.473" v="725" actId="478"/>
        <pc:sldMkLst>
          <pc:docMk/>
          <pc:sldMk cId="721518159" sldId="765"/>
        </pc:sldMkLst>
      </pc:sldChg>
      <pc:sldChg chg="delSp mod">
        <pc:chgData name="Adam Brown (Astrea Central)" userId="e4577f1c-a0ea-4eef-9851-9bdbe8619e58" providerId="ADAL" clId="{298CC335-43E8-497A-92EF-F6294183AD0B}" dt="2025-09-15T13:22:03.525" v="1734" actId="478"/>
        <pc:sldMkLst>
          <pc:docMk/>
          <pc:sldMk cId="3624233750" sldId="796"/>
        </pc:sldMkLst>
      </pc:sldChg>
      <pc:sldChg chg="delSp modSp mod">
        <pc:chgData name="Adam Brown (Astrea Central)" userId="e4577f1c-a0ea-4eef-9851-9bdbe8619e58" providerId="ADAL" clId="{298CC335-43E8-497A-92EF-F6294183AD0B}" dt="2025-09-15T13:20:02.509" v="1691" actId="478"/>
        <pc:sldMkLst>
          <pc:docMk/>
          <pc:sldMk cId="3786559436" sldId="820"/>
        </pc:sldMkLst>
      </pc:sldChg>
      <pc:sldChg chg="delSp mod">
        <pc:chgData name="Adam Brown (Astrea Central)" userId="e4577f1c-a0ea-4eef-9851-9bdbe8619e58" providerId="ADAL" clId="{298CC335-43E8-497A-92EF-F6294183AD0B}" dt="2025-09-15T13:20:48.437" v="1707" actId="478"/>
        <pc:sldMkLst>
          <pc:docMk/>
          <pc:sldMk cId="2636512546" sldId="822"/>
        </pc:sldMkLst>
      </pc:sldChg>
      <pc:sldChg chg="delSp mod">
        <pc:chgData name="Adam Brown (Astrea Central)" userId="e4577f1c-a0ea-4eef-9851-9bdbe8619e58" providerId="ADAL" clId="{298CC335-43E8-497A-92EF-F6294183AD0B}" dt="2025-09-15T13:21:32.652" v="1720" actId="478"/>
        <pc:sldMkLst>
          <pc:docMk/>
          <pc:sldMk cId="990989979" sldId="823"/>
        </pc:sldMkLst>
      </pc:sldChg>
      <pc:sldChg chg="delSp mod">
        <pc:chgData name="Adam Brown (Astrea Central)" userId="e4577f1c-a0ea-4eef-9851-9bdbe8619e58" providerId="ADAL" clId="{298CC335-43E8-497A-92EF-F6294183AD0B}" dt="2025-09-15T13:21:41.108" v="1723" actId="478"/>
        <pc:sldMkLst>
          <pc:docMk/>
          <pc:sldMk cId="1943235173" sldId="826"/>
        </pc:sldMkLst>
      </pc:sldChg>
      <pc:sldChg chg="delSp mod">
        <pc:chgData name="Adam Brown (Astrea Central)" userId="e4577f1c-a0ea-4eef-9851-9bdbe8619e58" providerId="ADAL" clId="{298CC335-43E8-497A-92EF-F6294183AD0B}" dt="2025-09-15T13:18:45.504" v="1648" actId="478"/>
        <pc:sldMkLst>
          <pc:docMk/>
          <pc:sldMk cId="2692183026" sldId="1167"/>
        </pc:sldMkLst>
      </pc:sldChg>
      <pc:sldChg chg="delSp mod">
        <pc:chgData name="Adam Brown (Astrea Central)" userId="e4577f1c-a0ea-4eef-9851-9bdbe8619e58" providerId="ADAL" clId="{298CC335-43E8-497A-92EF-F6294183AD0B}" dt="2025-09-15T13:20:18.614" v="1695" actId="478"/>
        <pc:sldMkLst>
          <pc:docMk/>
          <pc:sldMk cId="248081511" sldId="1168"/>
        </pc:sldMkLst>
      </pc:sldChg>
      <pc:sldChg chg="delSp mod">
        <pc:chgData name="Adam Brown (Astrea Central)" userId="e4577f1c-a0ea-4eef-9851-9bdbe8619e58" providerId="ADAL" clId="{298CC335-43E8-497A-92EF-F6294183AD0B}" dt="2025-09-15T13:21:18.677" v="1716" actId="478"/>
        <pc:sldMkLst>
          <pc:docMk/>
          <pc:sldMk cId="3736762328" sldId="1169"/>
        </pc:sldMkLst>
      </pc:sldChg>
      <pc:sldChg chg="delSp modSp mod">
        <pc:chgData name="Adam Brown (Astrea Central)" userId="e4577f1c-a0ea-4eef-9851-9bdbe8619e58" providerId="ADAL" clId="{298CC335-43E8-497A-92EF-F6294183AD0B}" dt="2025-09-15T13:21:11.477" v="1715" actId="478"/>
        <pc:sldMkLst>
          <pc:docMk/>
          <pc:sldMk cId="3041216556" sldId="1171"/>
        </pc:sldMkLst>
      </pc:sldChg>
      <pc:sldChg chg="delSp mod">
        <pc:chgData name="Adam Brown (Astrea Central)" userId="e4577f1c-a0ea-4eef-9851-9bdbe8619e58" providerId="ADAL" clId="{298CC335-43E8-497A-92EF-F6294183AD0B}" dt="2025-09-15T13:21:26.702" v="1718" actId="478"/>
        <pc:sldMkLst>
          <pc:docMk/>
          <pc:sldMk cId="3478272523" sldId="1172"/>
        </pc:sldMkLst>
      </pc:sldChg>
      <pc:sldChg chg="delSp mod">
        <pc:chgData name="Adam Brown (Astrea Central)" userId="e4577f1c-a0ea-4eef-9851-9bdbe8619e58" providerId="ADAL" clId="{298CC335-43E8-497A-92EF-F6294183AD0B}" dt="2025-09-15T13:21:53.629" v="1730" actId="478"/>
        <pc:sldMkLst>
          <pc:docMk/>
          <pc:sldMk cId="2216248988" sldId="1173"/>
        </pc:sldMkLst>
      </pc:sldChg>
      <pc:sldChg chg="delSp mod">
        <pc:chgData name="Adam Brown (Astrea Central)" userId="e4577f1c-a0ea-4eef-9851-9bdbe8619e58" providerId="ADAL" clId="{298CC335-43E8-497A-92EF-F6294183AD0B}" dt="2025-09-15T13:22:12.350" v="1738" actId="478"/>
        <pc:sldMkLst>
          <pc:docMk/>
          <pc:sldMk cId="2128076458" sldId="1175"/>
        </pc:sldMkLst>
      </pc:sldChg>
      <pc:sldChg chg="delSp mod">
        <pc:chgData name="Adam Brown (Astrea Central)" userId="e4577f1c-a0ea-4eef-9851-9bdbe8619e58" providerId="ADAL" clId="{298CC335-43E8-497A-92EF-F6294183AD0B}" dt="2025-09-15T13:22:31.389" v="1747" actId="478"/>
        <pc:sldMkLst>
          <pc:docMk/>
          <pc:sldMk cId="2467498060" sldId="1177"/>
        </pc:sldMkLst>
      </pc:sldChg>
      <pc:sldChg chg="delSp mod">
        <pc:chgData name="Adam Brown (Astrea Central)" userId="e4577f1c-a0ea-4eef-9851-9bdbe8619e58" providerId="ADAL" clId="{298CC335-43E8-497A-92EF-F6294183AD0B}" dt="2025-09-15T13:22:39.813" v="1750" actId="478"/>
        <pc:sldMkLst>
          <pc:docMk/>
          <pc:sldMk cId="1100087889" sldId="1178"/>
        </pc:sldMkLst>
      </pc:sldChg>
      <pc:sldChg chg="delSp mod">
        <pc:chgData name="Adam Brown (Astrea Central)" userId="e4577f1c-a0ea-4eef-9851-9bdbe8619e58" providerId="ADAL" clId="{298CC335-43E8-497A-92EF-F6294183AD0B}" dt="2025-09-15T13:22:23.294" v="1743" actId="478"/>
        <pc:sldMkLst>
          <pc:docMk/>
          <pc:sldMk cId="2469184529" sldId="1179"/>
        </pc:sldMkLst>
      </pc:sldChg>
      <pc:sldChg chg="delSp mod">
        <pc:chgData name="Adam Brown (Astrea Central)" userId="e4577f1c-a0ea-4eef-9851-9bdbe8619e58" providerId="ADAL" clId="{298CC335-43E8-497A-92EF-F6294183AD0B}" dt="2025-09-15T13:22:54.085" v="1759" actId="478"/>
        <pc:sldMkLst>
          <pc:docMk/>
          <pc:sldMk cId="402085223" sldId="1180"/>
        </pc:sldMkLst>
      </pc:sldChg>
      <pc:sldChg chg="delSp modSp mod">
        <pc:chgData name="Adam Brown (Astrea Central)" userId="e4577f1c-a0ea-4eef-9851-9bdbe8619e58" providerId="ADAL" clId="{298CC335-43E8-497A-92EF-F6294183AD0B}" dt="2025-09-15T11:24:15.231" v="907" actId="478"/>
        <pc:sldMkLst>
          <pc:docMk/>
          <pc:sldMk cId="2615987597" sldId="1190"/>
        </pc:sldMkLst>
      </pc:sldChg>
      <pc:sldChg chg="modSp mod">
        <pc:chgData name="Adam Brown (Astrea Central)" userId="e4577f1c-a0ea-4eef-9851-9bdbe8619e58" providerId="ADAL" clId="{298CC335-43E8-497A-92EF-F6294183AD0B}" dt="2025-09-15T11:25:55.494" v="1153" actId="207"/>
        <pc:sldMkLst>
          <pc:docMk/>
          <pc:sldMk cId="3242687722" sldId="1191"/>
        </pc:sldMkLst>
      </pc:sldChg>
      <pc:sldChg chg="delSp modSp mod">
        <pc:chgData name="Adam Brown (Astrea Central)" userId="e4577f1c-a0ea-4eef-9851-9bdbe8619e58" providerId="ADAL" clId="{298CC335-43E8-497A-92EF-F6294183AD0B}" dt="2025-09-15T11:26:26.550" v="1162" actId="478"/>
        <pc:sldMkLst>
          <pc:docMk/>
          <pc:sldMk cId="2873416194" sldId="1192"/>
        </pc:sldMkLst>
      </pc:sldChg>
      <pc:sldChg chg="modSp mod">
        <pc:chgData name="Adam Brown (Astrea Central)" userId="e4577f1c-a0ea-4eef-9851-9bdbe8619e58" providerId="ADAL" clId="{298CC335-43E8-497A-92EF-F6294183AD0B}" dt="2025-09-15T11:27:16.095" v="1226" actId="20577"/>
        <pc:sldMkLst>
          <pc:docMk/>
          <pc:sldMk cId="332504451" sldId="1193"/>
        </pc:sldMkLst>
      </pc:sldChg>
      <pc:sldChg chg="modSp mod">
        <pc:chgData name="Adam Brown (Astrea Central)" userId="e4577f1c-a0ea-4eef-9851-9bdbe8619e58" providerId="ADAL" clId="{298CC335-43E8-497A-92EF-F6294183AD0B}" dt="2025-09-15T11:27:48.279" v="1280" actId="20577"/>
        <pc:sldMkLst>
          <pc:docMk/>
          <pc:sldMk cId="1623580324" sldId="1194"/>
        </pc:sldMkLst>
      </pc:sldChg>
      <pc:sldChg chg="modSp mod">
        <pc:chgData name="Adam Brown (Astrea Central)" userId="e4577f1c-a0ea-4eef-9851-9bdbe8619e58" providerId="ADAL" clId="{298CC335-43E8-497A-92EF-F6294183AD0B}" dt="2025-09-15T11:28:15.400" v="1324" actId="20577"/>
        <pc:sldMkLst>
          <pc:docMk/>
          <pc:sldMk cId="4029879049" sldId="1195"/>
        </pc:sldMkLst>
      </pc:sldChg>
      <pc:sldChg chg="modSp mod">
        <pc:chgData name="Adam Brown (Astrea Central)" userId="e4577f1c-a0ea-4eef-9851-9bdbe8619e58" providerId="ADAL" clId="{298CC335-43E8-497A-92EF-F6294183AD0B}" dt="2025-09-15T11:28:55.122" v="1347" actId="20577"/>
        <pc:sldMkLst>
          <pc:docMk/>
          <pc:sldMk cId="2907401783" sldId="1196"/>
        </pc:sldMkLst>
      </pc:sldChg>
      <pc:sldChg chg="modSp">
        <pc:chgData name="Adam Brown (Astrea Central)" userId="e4577f1c-a0ea-4eef-9851-9bdbe8619e58" providerId="ADAL" clId="{298CC335-43E8-497A-92EF-F6294183AD0B}" dt="2025-09-15T11:30:09.825" v="1362" actId="20577"/>
        <pc:sldMkLst>
          <pc:docMk/>
          <pc:sldMk cId="2407786857" sldId="1197"/>
        </pc:sldMkLst>
      </pc:sldChg>
      <pc:sldChg chg="del">
        <pc:chgData name="Adam Brown (Astrea Central)" userId="e4577f1c-a0ea-4eef-9851-9bdbe8619e58" providerId="ADAL" clId="{298CC335-43E8-497A-92EF-F6294183AD0B}" dt="2025-09-15T11:30:19.664" v="1363" actId="47"/>
        <pc:sldMkLst>
          <pc:docMk/>
          <pc:sldMk cId="1810991691" sldId="1198"/>
        </pc:sldMkLst>
      </pc:sldChg>
      <pc:sldChg chg="modSp mod">
        <pc:chgData name="Adam Brown (Astrea Central)" userId="e4577f1c-a0ea-4eef-9851-9bdbe8619e58" providerId="ADAL" clId="{298CC335-43E8-497A-92EF-F6294183AD0B}" dt="2025-09-15T11:32:08.756" v="1404" actId="20577"/>
        <pc:sldMkLst>
          <pc:docMk/>
          <pc:sldMk cId="3296569283" sldId="1199"/>
        </pc:sldMkLst>
      </pc:sldChg>
      <pc:sldChg chg="modSp mod">
        <pc:chgData name="Adam Brown (Astrea Central)" userId="e4577f1c-a0ea-4eef-9851-9bdbe8619e58" providerId="ADAL" clId="{298CC335-43E8-497A-92EF-F6294183AD0B}" dt="2025-09-15T13:13:47.672" v="1444" actId="20577"/>
        <pc:sldMkLst>
          <pc:docMk/>
          <pc:sldMk cId="2718422913" sldId="1200"/>
        </pc:sldMkLst>
      </pc:sldChg>
      <pc:sldChg chg="delSp modSp mod">
        <pc:chgData name="Adam Brown (Astrea Central)" userId="e4577f1c-a0ea-4eef-9851-9bdbe8619e58" providerId="ADAL" clId="{298CC335-43E8-497A-92EF-F6294183AD0B}" dt="2025-09-15T13:14:12.126" v="1458" actId="478"/>
        <pc:sldMkLst>
          <pc:docMk/>
          <pc:sldMk cId="3350024278" sldId="1201"/>
        </pc:sldMkLst>
      </pc:sldChg>
      <pc:sldChg chg="modSp mod">
        <pc:chgData name="Adam Brown (Astrea Central)" userId="e4577f1c-a0ea-4eef-9851-9bdbe8619e58" providerId="ADAL" clId="{298CC335-43E8-497A-92EF-F6294183AD0B}" dt="2025-09-15T13:14:50.369" v="1478" actId="20577"/>
        <pc:sldMkLst>
          <pc:docMk/>
          <pc:sldMk cId="328340208" sldId="1203"/>
        </pc:sldMkLst>
      </pc:sldChg>
      <pc:sldChg chg="modSp mod">
        <pc:chgData name="Adam Brown (Astrea Central)" userId="e4577f1c-a0ea-4eef-9851-9bdbe8619e58" providerId="ADAL" clId="{298CC335-43E8-497A-92EF-F6294183AD0B}" dt="2025-09-15T13:15:27.909" v="1506" actId="20577"/>
        <pc:sldMkLst>
          <pc:docMk/>
          <pc:sldMk cId="187822960" sldId="1204"/>
        </pc:sldMkLst>
      </pc:sldChg>
      <pc:sldChg chg="modSp mod">
        <pc:chgData name="Adam Brown (Astrea Central)" userId="e4577f1c-a0ea-4eef-9851-9bdbe8619e58" providerId="ADAL" clId="{298CC335-43E8-497A-92EF-F6294183AD0B}" dt="2025-09-15T13:16:19.917" v="1572" actId="20577"/>
        <pc:sldMkLst>
          <pc:docMk/>
          <pc:sldMk cId="3337100019" sldId="1210"/>
        </pc:sldMkLst>
      </pc:sldChg>
      <pc:sldChg chg="modSp mod">
        <pc:chgData name="Adam Brown (Astrea Central)" userId="e4577f1c-a0ea-4eef-9851-9bdbe8619e58" providerId="ADAL" clId="{298CC335-43E8-497A-92EF-F6294183AD0B}" dt="2025-09-15T13:17:01.539" v="1597" actId="20577"/>
        <pc:sldMkLst>
          <pc:docMk/>
          <pc:sldMk cId="3810112837" sldId="1211"/>
        </pc:sldMkLst>
      </pc:sldChg>
      <pc:sldChg chg="modSp mod">
        <pc:chgData name="Adam Brown (Astrea Central)" userId="e4577f1c-a0ea-4eef-9851-9bdbe8619e58" providerId="ADAL" clId="{298CC335-43E8-497A-92EF-F6294183AD0B}" dt="2025-09-15T13:18:02.236" v="1633" actId="20577"/>
        <pc:sldMkLst>
          <pc:docMk/>
          <pc:sldMk cId="3016650432" sldId="1212"/>
        </pc:sldMkLst>
      </pc:sldChg>
      <pc:sldChg chg="delSp mod">
        <pc:chgData name="Adam Brown (Astrea Central)" userId="e4577f1c-a0ea-4eef-9851-9bdbe8619e58" providerId="ADAL" clId="{298CC335-43E8-497A-92EF-F6294183AD0B}" dt="2025-09-15T13:18:21.590" v="1641" actId="478"/>
        <pc:sldMkLst>
          <pc:docMk/>
          <pc:sldMk cId="2823046277" sldId="1224"/>
        </pc:sldMkLst>
      </pc:sldChg>
      <pc:sldChg chg="delSp modSp mod">
        <pc:chgData name="Adam Brown (Astrea Central)" userId="e4577f1c-a0ea-4eef-9851-9bdbe8619e58" providerId="ADAL" clId="{298CC335-43E8-497A-92EF-F6294183AD0B}" dt="2025-09-15T13:19:04.800" v="1655" actId="478"/>
        <pc:sldMkLst>
          <pc:docMk/>
          <pc:sldMk cId="1766625398" sldId="1225"/>
        </pc:sldMkLst>
      </pc:sldChg>
      <pc:sldChg chg="delSp mod">
        <pc:chgData name="Adam Brown (Astrea Central)" userId="e4577f1c-a0ea-4eef-9851-9bdbe8619e58" providerId="ADAL" clId="{298CC335-43E8-497A-92EF-F6294183AD0B}" dt="2025-09-15T13:19:14.342" v="1657" actId="478"/>
        <pc:sldMkLst>
          <pc:docMk/>
          <pc:sldMk cId="1567395204" sldId="1226"/>
        </pc:sldMkLst>
      </pc:sldChg>
      <pc:sldChg chg="delSp mod">
        <pc:chgData name="Adam Brown (Astrea Central)" userId="e4577f1c-a0ea-4eef-9851-9bdbe8619e58" providerId="ADAL" clId="{298CC335-43E8-497A-92EF-F6294183AD0B}" dt="2025-09-15T13:20:10.806" v="1693" actId="478"/>
        <pc:sldMkLst>
          <pc:docMk/>
          <pc:sldMk cId="1733079440" sldId="1227"/>
        </pc:sldMkLst>
      </pc:sldChg>
      <pc:sldChg chg="delSp mod">
        <pc:chgData name="Adam Brown (Astrea Central)" userId="e4577f1c-a0ea-4eef-9851-9bdbe8619e58" providerId="ADAL" clId="{298CC335-43E8-497A-92EF-F6294183AD0B}" dt="2025-09-15T13:20:29.061" v="1698" actId="478"/>
        <pc:sldMkLst>
          <pc:docMk/>
          <pc:sldMk cId="3664428990" sldId="1228"/>
        </pc:sldMkLst>
      </pc:sldChg>
      <pc:sldChg chg="delSp mod">
        <pc:chgData name="Adam Brown (Astrea Central)" userId="e4577f1c-a0ea-4eef-9851-9bdbe8619e58" providerId="ADAL" clId="{298CC335-43E8-497A-92EF-F6294183AD0B}" dt="2025-09-15T13:20:56.542" v="1708" actId="478"/>
        <pc:sldMkLst>
          <pc:docMk/>
          <pc:sldMk cId="1710199113" sldId="1229"/>
        </pc:sldMkLst>
      </pc:sldChg>
      <pc:sldChg chg="delSp mod">
        <pc:chgData name="Adam Brown (Astrea Central)" userId="e4577f1c-a0ea-4eef-9851-9bdbe8619e58" providerId="ADAL" clId="{298CC335-43E8-497A-92EF-F6294183AD0B}" dt="2025-09-15T13:21:23.094" v="1717" actId="478"/>
        <pc:sldMkLst>
          <pc:docMk/>
          <pc:sldMk cId="1420111636" sldId="1230"/>
        </pc:sldMkLst>
      </pc:sldChg>
      <pc:sldChg chg="modSp mod">
        <pc:chgData name="Adam Brown (Astrea Central)" userId="e4577f1c-a0ea-4eef-9851-9bdbe8619e58" providerId="ADAL" clId="{298CC335-43E8-497A-92EF-F6294183AD0B}" dt="2025-09-15T10:49:06.096" v="614" actId="20577"/>
        <pc:sldMkLst>
          <pc:docMk/>
          <pc:sldMk cId="149822979" sldId="1231"/>
        </pc:sldMkLst>
      </pc:sldChg>
      <pc:sldChg chg="modSp mod">
        <pc:chgData name="Adam Brown (Astrea Central)" userId="e4577f1c-a0ea-4eef-9851-9bdbe8619e58" providerId="ADAL" clId="{298CC335-43E8-497A-92EF-F6294183AD0B}" dt="2025-09-15T11:15:52.599" v="697" actId="20577"/>
        <pc:sldMkLst>
          <pc:docMk/>
          <pc:sldMk cId="1210998565" sldId="1233"/>
        </pc:sldMkLst>
      </pc:sldChg>
      <pc:sldChg chg="modSp mod">
        <pc:chgData name="Adam Brown (Astrea Central)" userId="e4577f1c-a0ea-4eef-9851-9bdbe8619e58" providerId="ADAL" clId="{298CC335-43E8-497A-92EF-F6294183AD0B}" dt="2025-09-15T11:16:43.873" v="722" actId="20577"/>
        <pc:sldMkLst>
          <pc:docMk/>
          <pc:sldMk cId="733169967" sldId="1235"/>
        </pc:sldMkLst>
      </pc:sldChg>
      <pc:sldChg chg="delSp modSp mod">
        <pc:chgData name="Adam Brown (Astrea Central)" userId="e4577f1c-a0ea-4eef-9851-9bdbe8619e58" providerId="ADAL" clId="{298CC335-43E8-497A-92EF-F6294183AD0B}" dt="2025-09-15T13:26:28.161" v="1861" actId="6549"/>
        <pc:sldMkLst>
          <pc:docMk/>
          <pc:sldMk cId="2936956160" sldId="2717"/>
        </pc:sldMkLst>
        <pc:graphicFrameChg chg="modGraphic">
          <ac:chgData name="Adam Brown (Astrea Central)" userId="e4577f1c-a0ea-4eef-9851-9bdbe8619e58" providerId="ADAL" clId="{298CC335-43E8-497A-92EF-F6294183AD0B}" dt="2025-09-15T13:26:28.161" v="1861" actId="6549"/>
          <ac:graphicFrameMkLst>
            <pc:docMk/>
            <pc:sldMk cId="2936956160" sldId="2717"/>
            <ac:graphicFrameMk id="30" creationId="{790031C9-629D-16B0-9152-7ADBE8DD103E}"/>
          </ac:graphicFrameMkLst>
        </pc:graphicFrameChg>
      </pc:sldChg>
      <pc:sldChg chg="delSp mod">
        <pc:chgData name="Adam Brown (Astrea Central)" userId="e4577f1c-a0ea-4eef-9851-9bdbe8619e58" providerId="ADAL" clId="{298CC335-43E8-497A-92EF-F6294183AD0B}" dt="2025-09-15T13:26:52.172" v="1870" actId="478"/>
        <pc:sldMkLst>
          <pc:docMk/>
          <pc:sldMk cId="2276136011" sldId="2724"/>
        </pc:sldMkLst>
      </pc:sldChg>
      <pc:sldChg chg="delSp mod">
        <pc:chgData name="Adam Brown (Astrea Central)" userId="e4577f1c-a0ea-4eef-9851-9bdbe8619e58" providerId="ADAL" clId="{298CC335-43E8-497A-92EF-F6294183AD0B}" dt="2025-09-15T13:27:17.612" v="1878" actId="478"/>
        <pc:sldMkLst>
          <pc:docMk/>
          <pc:sldMk cId="2347654998" sldId="2726"/>
        </pc:sldMkLst>
      </pc:sldChg>
      <pc:sldChg chg="delSp mod">
        <pc:chgData name="Adam Brown (Astrea Central)" userId="e4577f1c-a0ea-4eef-9851-9bdbe8619e58" providerId="ADAL" clId="{298CC335-43E8-497A-92EF-F6294183AD0B}" dt="2025-09-15T11:18:13.591" v="758" actId="478"/>
        <pc:sldMkLst>
          <pc:docMk/>
          <pc:sldMk cId="3656622071" sldId="2732"/>
        </pc:sldMkLst>
      </pc:sldChg>
      <pc:sldChg chg="delSp mod">
        <pc:chgData name="Adam Brown (Astrea Central)" userId="e4577f1c-a0ea-4eef-9851-9bdbe8619e58" providerId="ADAL" clId="{298CC335-43E8-497A-92EF-F6294183AD0B}" dt="2025-09-15T11:18:29.671" v="764" actId="478"/>
        <pc:sldMkLst>
          <pc:docMk/>
          <pc:sldMk cId="806530860" sldId="2733"/>
        </pc:sldMkLst>
      </pc:sldChg>
      <pc:sldChg chg="delSp mod">
        <pc:chgData name="Adam Brown (Astrea Central)" userId="e4577f1c-a0ea-4eef-9851-9bdbe8619e58" providerId="ADAL" clId="{298CC335-43E8-497A-92EF-F6294183AD0B}" dt="2025-09-15T11:18:42.028" v="769" actId="478"/>
        <pc:sldMkLst>
          <pc:docMk/>
          <pc:sldMk cId="1251629001" sldId="2735"/>
        </pc:sldMkLst>
      </pc:sldChg>
      <pc:sldChg chg="delSp mod">
        <pc:chgData name="Adam Brown (Astrea Central)" userId="e4577f1c-a0ea-4eef-9851-9bdbe8619e58" providerId="ADAL" clId="{298CC335-43E8-497A-92EF-F6294183AD0B}" dt="2025-09-15T11:18:59.456" v="772" actId="478"/>
        <pc:sldMkLst>
          <pc:docMk/>
          <pc:sldMk cId="1618587120" sldId="2736"/>
        </pc:sldMkLst>
      </pc:sldChg>
      <pc:sldChg chg="delSp mod">
        <pc:chgData name="Adam Brown (Astrea Central)" userId="e4577f1c-a0ea-4eef-9851-9bdbe8619e58" providerId="ADAL" clId="{298CC335-43E8-497A-92EF-F6294183AD0B}" dt="2025-09-15T11:19:15.695" v="776" actId="478"/>
        <pc:sldMkLst>
          <pc:docMk/>
          <pc:sldMk cId="1674874405" sldId="2737"/>
        </pc:sldMkLst>
      </pc:sldChg>
      <pc:sldChg chg="addSp delSp mod">
        <pc:chgData name="Adam Brown (Astrea Central)" userId="e4577f1c-a0ea-4eef-9851-9bdbe8619e58" providerId="ADAL" clId="{298CC335-43E8-497A-92EF-F6294183AD0B}" dt="2025-09-15T11:19:39.338" v="784" actId="478"/>
        <pc:sldMkLst>
          <pc:docMk/>
          <pc:sldMk cId="3580631642" sldId="2738"/>
        </pc:sldMkLst>
      </pc:sldChg>
      <pc:sldChg chg="delSp mod">
        <pc:chgData name="Adam Brown (Astrea Central)" userId="e4577f1c-a0ea-4eef-9851-9bdbe8619e58" providerId="ADAL" clId="{298CC335-43E8-497A-92EF-F6294183AD0B}" dt="2025-09-15T11:19:53.567" v="789" actId="478"/>
        <pc:sldMkLst>
          <pc:docMk/>
          <pc:sldMk cId="3254095160" sldId="2740"/>
        </pc:sldMkLst>
      </pc:sldChg>
      <pc:sldChg chg="delSp mod">
        <pc:chgData name="Adam Brown (Astrea Central)" userId="e4577f1c-a0ea-4eef-9851-9bdbe8619e58" providerId="ADAL" clId="{298CC335-43E8-497A-92EF-F6294183AD0B}" dt="2025-09-15T11:20:07.143" v="793" actId="478"/>
        <pc:sldMkLst>
          <pc:docMk/>
          <pc:sldMk cId="325519433" sldId="2741"/>
        </pc:sldMkLst>
      </pc:sldChg>
      <pc:sldChg chg="delSp mod">
        <pc:chgData name="Adam Brown (Astrea Central)" userId="e4577f1c-a0ea-4eef-9851-9bdbe8619e58" providerId="ADAL" clId="{298CC335-43E8-497A-92EF-F6294183AD0B}" dt="2025-09-15T11:20:31.639" v="798" actId="478"/>
        <pc:sldMkLst>
          <pc:docMk/>
          <pc:sldMk cId="1850562953" sldId="2742"/>
        </pc:sldMkLst>
      </pc:sldChg>
      <pc:sldChg chg="delSp mod">
        <pc:chgData name="Adam Brown (Astrea Central)" userId="e4577f1c-a0ea-4eef-9851-9bdbe8619e58" providerId="ADAL" clId="{298CC335-43E8-497A-92EF-F6294183AD0B}" dt="2025-09-15T11:20:52.595" v="804" actId="478"/>
        <pc:sldMkLst>
          <pc:docMk/>
          <pc:sldMk cId="508714497" sldId="2743"/>
        </pc:sldMkLst>
      </pc:sldChg>
      <pc:sldChg chg="delSp modSp mod">
        <pc:chgData name="Adam Brown (Astrea Central)" userId="e4577f1c-a0ea-4eef-9851-9bdbe8619e58" providerId="ADAL" clId="{298CC335-43E8-497A-92EF-F6294183AD0B}" dt="2025-09-15T11:22:30.544" v="863" actId="478"/>
        <pc:sldMkLst>
          <pc:docMk/>
          <pc:sldMk cId="2361319489" sldId="2744"/>
        </pc:sldMkLst>
      </pc:sldChg>
      <pc:sldChg chg="delSp modSp mod">
        <pc:chgData name="Adam Brown (Astrea Central)" userId="e4577f1c-a0ea-4eef-9851-9bdbe8619e58" providerId="ADAL" clId="{298CC335-43E8-497A-92EF-F6294183AD0B}" dt="2025-09-15T11:23:19.847" v="877" actId="478"/>
        <pc:sldMkLst>
          <pc:docMk/>
          <pc:sldMk cId="787172474" sldId="2781"/>
        </pc:sldMkLst>
      </pc:sldChg>
      <pc:sldChg chg="delSp mod">
        <pc:chgData name="Adam Brown (Astrea Central)" userId="e4577f1c-a0ea-4eef-9851-9bdbe8619e58" providerId="ADAL" clId="{298CC335-43E8-497A-92EF-F6294183AD0B}" dt="2025-09-15T11:20:58.207" v="807" actId="478"/>
        <pc:sldMkLst>
          <pc:docMk/>
          <pc:sldMk cId="1035247090" sldId="2782"/>
        </pc:sldMkLst>
      </pc:sldChg>
      <pc:sldChg chg="delSp mod">
        <pc:chgData name="Adam Brown (Astrea Central)" userId="e4577f1c-a0ea-4eef-9851-9bdbe8619e58" providerId="ADAL" clId="{298CC335-43E8-497A-92EF-F6294183AD0B}" dt="2025-09-15T11:21:01.903" v="811" actId="478"/>
        <pc:sldMkLst>
          <pc:docMk/>
          <pc:sldMk cId="3795775980" sldId="2783"/>
        </pc:sldMkLst>
      </pc:sldChg>
      <pc:sldChg chg="delSp mod">
        <pc:chgData name="Adam Brown (Astrea Central)" userId="e4577f1c-a0ea-4eef-9851-9bdbe8619e58" providerId="ADAL" clId="{298CC335-43E8-497A-92EF-F6294183AD0B}" dt="2025-09-15T11:21:05.352" v="814" actId="478"/>
        <pc:sldMkLst>
          <pc:docMk/>
          <pc:sldMk cId="206868638" sldId="2784"/>
        </pc:sldMkLst>
      </pc:sldChg>
      <pc:sldChg chg="delSp mod">
        <pc:chgData name="Adam Brown (Astrea Central)" userId="e4577f1c-a0ea-4eef-9851-9bdbe8619e58" providerId="ADAL" clId="{298CC335-43E8-497A-92EF-F6294183AD0B}" dt="2025-09-15T11:21:08.094" v="817" actId="478"/>
        <pc:sldMkLst>
          <pc:docMk/>
          <pc:sldMk cId="3862930301" sldId="2785"/>
        </pc:sldMkLst>
      </pc:sldChg>
      <pc:sldChg chg="delSp mod">
        <pc:chgData name="Adam Brown (Astrea Central)" userId="e4577f1c-a0ea-4eef-9851-9bdbe8619e58" providerId="ADAL" clId="{298CC335-43E8-497A-92EF-F6294183AD0B}" dt="2025-09-15T11:21:12.023" v="820" actId="478"/>
        <pc:sldMkLst>
          <pc:docMk/>
          <pc:sldMk cId="1152998114" sldId="2786"/>
        </pc:sldMkLst>
      </pc:sldChg>
      <pc:sldChg chg="delSp mod">
        <pc:chgData name="Adam Brown (Astrea Central)" userId="e4577f1c-a0ea-4eef-9851-9bdbe8619e58" providerId="ADAL" clId="{298CC335-43E8-497A-92EF-F6294183AD0B}" dt="2025-09-15T13:18:06.391" v="1636" actId="478"/>
        <pc:sldMkLst>
          <pc:docMk/>
          <pc:sldMk cId="4030505016" sldId="2787"/>
        </pc:sldMkLst>
      </pc:sldChg>
      <pc:sldChg chg="delSp mod">
        <pc:chgData name="Adam Brown (Astrea Central)" userId="e4577f1c-a0ea-4eef-9851-9bdbe8619e58" providerId="ADAL" clId="{298CC335-43E8-497A-92EF-F6294183AD0B}" dt="2025-09-15T13:22:57.172" v="1761" actId="478"/>
        <pc:sldMkLst>
          <pc:docMk/>
          <pc:sldMk cId="793087224" sldId="2788"/>
        </pc:sldMkLst>
      </pc:sldChg>
      <pc:sldChg chg="delSp mod">
        <pc:chgData name="Adam Brown (Astrea Central)" userId="e4577f1c-a0ea-4eef-9851-9bdbe8619e58" providerId="ADAL" clId="{298CC335-43E8-497A-92EF-F6294183AD0B}" dt="2025-09-15T13:18:08.804" v="1638" actId="478"/>
        <pc:sldMkLst>
          <pc:docMk/>
          <pc:sldMk cId="24400507" sldId="2789"/>
        </pc:sldMkLst>
      </pc:sldChg>
      <pc:sldChg chg="addSp delSp modSp mod">
        <pc:chgData name="Adam Brown (Astrea Central)" userId="e4577f1c-a0ea-4eef-9851-9bdbe8619e58" providerId="ADAL" clId="{298CC335-43E8-497A-92EF-F6294183AD0B}" dt="2025-09-15T13:28:36.725" v="1901" actId="20577"/>
        <pc:sldMkLst>
          <pc:docMk/>
          <pc:sldMk cId="1226461086" sldId="2790"/>
        </pc:sldMkLst>
        <pc:spChg chg="mod">
          <ac:chgData name="Adam Brown (Astrea Central)" userId="e4577f1c-a0ea-4eef-9851-9bdbe8619e58" providerId="ADAL" clId="{298CC335-43E8-497A-92EF-F6294183AD0B}" dt="2025-09-15T13:28:36.725" v="1901" actId="20577"/>
          <ac:spMkLst>
            <pc:docMk/>
            <pc:sldMk cId="1226461086" sldId="2790"/>
            <ac:spMk id="3" creationId="{AFECBD35-2FA9-D94C-85CC-B269D46DFAF6}"/>
          </ac:spMkLst>
        </pc:spChg>
        <pc:spChg chg="add del">
          <ac:chgData name="Adam Brown (Astrea Central)" userId="e4577f1c-a0ea-4eef-9851-9bdbe8619e58" providerId="ADAL" clId="{298CC335-43E8-497A-92EF-F6294183AD0B}" dt="2025-09-15T13:23:08.424" v="1767" actId="478"/>
          <ac:spMkLst>
            <pc:docMk/>
            <pc:sldMk cId="1226461086" sldId="2790"/>
            <ac:spMk id="34" creationId="{6BD38B25-573C-93F0-D6BF-AB4343382604}"/>
          </ac:spMkLst>
        </pc:spChg>
      </pc:sldChg>
      <pc:sldChg chg="delSp modSp mod">
        <pc:chgData name="Adam Brown (Astrea Central)" userId="e4577f1c-a0ea-4eef-9851-9bdbe8619e58" providerId="ADAL" clId="{298CC335-43E8-497A-92EF-F6294183AD0B}" dt="2025-09-15T13:23:44.148" v="1788" actId="478"/>
        <pc:sldMkLst>
          <pc:docMk/>
          <pc:sldMk cId="317608521" sldId="2791"/>
        </pc:sldMkLst>
        <pc:graphicFrameChg chg="mod">
          <ac:chgData name="Adam Brown (Astrea Central)" userId="e4577f1c-a0ea-4eef-9851-9bdbe8619e58" providerId="ADAL" clId="{298CC335-43E8-497A-92EF-F6294183AD0B}" dt="2025-09-15T13:23:40.157" v="1787"/>
          <ac:graphicFrameMkLst>
            <pc:docMk/>
            <pc:sldMk cId="317608521" sldId="2791"/>
            <ac:graphicFrameMk id="2" creationId="{E345FAAC-54F9-561F-257E-19DDF331B04A}"/>
          </ac:graphicFrameMkLst>
        </pc:graphicFrameChg>
      </pc:sldChg>
      <pc:sldChg chg="addSp delSp mod">
        <pc:chgData name="Adam Brown (Astrea Central)" userId="e4577f1c-a0ea-4eef-9851-9bdbe8619e58" providerId="ADAL" clId="{298CC335-43E8-497A-92EF-F6294183AD0B}" dt="2025-09-15T13:24:19.605" v="1805" actId="478"/>
        <pc:sldMkLst>
          <pc:docMk/>
          <pc:sldMk cId="3879350625" sldId="2792"/>
        </pc:sldMkLst>
        <pc:spChg chg="add del">
          <ac:chgData name="Adam Brown (Astrea Central)" userId="e4577f1c-a0ea-4eef-9851-9bdbe8619e58" providerId="ADAL" clId="{298CC335-43E8-497A-92EF-F6294183AD0B}" dt="2025-09-15T13:24:01.329" v="1794" actId="478"/>
          <ac:spMkLst>
            <pc:docMk/>
            <pc:sldMk cId="3879350625" sldId="2792"/>
            <ac:spMk id="12" creationId="{8404E10B-AD99-0E9F-DE2E-F40E4D31F57B}"/>
          </ac:spMkLst>
        </pc:spChg>
      </pc:sldChg>
      <pc:sldChg chg="delSp mod">
        <pc:chgData name="Adam Brown (Astrea Central)" userId="e4577f1c-a0ea-4eef-9851-9bdbe8619e58" providerId="ADAL" clId="{298CC335-43E8-497A-92EF-F6294183AD0B}" dt="2025-09-15T13:24:23.134" v="1806" actId="478"/>
        <pc:sldMkLst>
          <pc:docMk/>
          <pc:sldMk cId="1145473237" sldId="2793"/>
        </pc:sldMkLst>
      </pc:sldChg>
      <pc:sldChg chg="delSp mod">
        <pc:chgData name="Adam Brown (Astrea Central)" userId="e4577f1c-a0ea-4eef-9851-9bdbe8619e58" providerId="ADAL" clId="{298CC335-43E8-497A-92EF-F6294183AD0B}" dt="2025-09-15T13:24:37.454" v="1813" actId="478"/>
        <pc:sldMkLst>
          <pc:docMk/>
          <pc:sldMk cId="1477799629" sldId="2794"/>
        </pc:sldMkLst>
      </pc:sldChg>
      <pc:sldChg chg="delSp mod">
        <pc:chgData name="Adam Brown (Astrea Central)" userId="e4577f1c-a0ea-4eef-9851-9bdbe8619e58" providerId="ADAL" clId="{298CC335-43E8-497A-92EF-F6294183AD0B}" dt="2025-09-15T13:24:53.118" v="1822" actId="478"/>
        <pc:sldMkLst>
          <pc:docMk/>
          <pc:sldMk cId="120458108" sldId="2795"/>
        </pc:sldMkLst>
      </pc:sldChg>
      <pc:sldChg chg="addSp delSp mod">
        <pc:chgData name="Adam Brown (Astrea Central)" userId="e4577f1c-a0ea-4eef-9851-9bdbe8619e58" providerId="ADAL" clId="{298CC335-43E8-497A-92EF-F6294183AD0B}" dt="2025-09-15T13:25:40.510" v="1844" actId="478"/>
        <pc:sldMkLst>
          <pc:docMk/>
          <pc:sldMk cId="2695163168" sldId="2796"/>
        </pc:sldMkLst>
        <pc:spChg chg="add del">
          <ac:chgData name="Adam Brown (Astrea Central)" userId="e4577f1c-a0ea-4eef-9851-9bdbe8619e58" providerId="ADAL" clId="{298CC335-43E8-497A-92EF-F6294183AD0B}" dt="2025-09-15T13:25:05.355" v="1828" actId="478"/>
          <ac:spMkLst>
            <pc:docMk/>
            <pc:sldMk cId="2695163168" sldId="2796"/>
            <ac:spMk id="26" creationId="{E5243336-CF1B-5DED-8B6D-811D422C5DAF}"/>
          </ac:spMkLst>
        </pc:spChg>
      </pc:sldChg>
      <pc:sldChg chg="delSp mod">
        <pc:chgData name="Adam Brown (Astrea Central)" userId="e4577f1c-a0ea-4eef-9851-9bdbe8619e58" providerId="ADAL" clId="{298CC335-43E8-497A-92EF-F6294183AD0B}" dt="2025-09-15T13:25:53.462" v="1848" actId="478"/>
        <pc:sldMkLst>
          <pc:docMk/>
          <pc:sldMk cId="167216715" sldId="2797"/>
        </pc:sldMkLst>
      </pc:sldChg>
      <pc:sldChg chg="delSp mod">
        <pc:chgData name="Adam Brown (Astrea Central)" userId="e4577f1c-a0ea-4eef-9851-9bdbe8619e58" providerId="ADAL" clId="{298CC335-43E8-497A-92EF-F6294183AD0B}" dt="2025-09-15T13:26:14.684" v="1856" actId="478"/>
        <pc:sldMkLst>
          <pc:docMk/>
          <pc:sldMk cId="4095301130" sldId="2798"/>
        </pc:sldMkLst>
      </pc:sldChg>
      <pc:sldChg chg="delSp mod">
        <pc:chgData name="Adam Brown (Astrea Central)" userId="e4577f1c-a0ea-4eef-9851-9bdbe8619e58" providerId="ADAL" clId="{298CC335-43E8-497A-92EF-F6294183AD0B}" dt="2025-09-15T13:22:59.245" v="1763" actId="478"/>
        <pc:sldMkLst>
          <pc:docMk/>
          <pc:sldMk cId="3489747628" sldId="2799"/>
        </pc:sldMkLst>
      </pc:sldChg>
      <pc:sldChg chg="delSp mod">
        <pc:chgData name="Adam Brown (Astrea Central)" userId="e4577f1c-a0ea-4eef-9851-9bdbe8619e58" providerId="ADAL" clId="{298CC335-43E8-497A-92EF-F6294183AD0B}" dt="2025-09-15T13:28:02.989" v="1898" actId="478"/>
        <pc:sldMkLst>
          <pc:docMk/>
          <pc:sldMk cId="1992598841" sldId="2801"/>
        </pc:sldMkLst>
      </pc:sldChg>
      <pc:sldChg chg="delSp mod">
        <pc:chgData name="Adam Brown (Astrea Central)" userId="e4577f1c-a0ea-4eef-9851-9bdbe8619e58" providerId="ADAL" clId="{298CC335-43E8-497A-92EF-F6294183AD0B}" dt="2025-09-15T13:28:00.979" v="1896" actId="478"/>
        <pc:sldMkLst>
          <pc:docMk/>
          <pc:sldMk cId="1428088597" sldId="2804"/>
        </pc:sldMkLst>
      </pc:sldChg>
    </pc:docChg>
  </pc:docChgLst>
  <pc:docChgLst>
    <pc:chgData name="Adam Brown (Astrea Central)" userId="e4577f1c-a0ea-4eef-9851-9bdbe8619e58" providerId="ADAL" clId="{98A04E70-9AFE-42B7-B8A2-B717E3F64435}"/>
    <pc:docChg chg="delSld">
      <pc:chgData name="Adam Brown (Astrea Central)" userId="e4577f1c-a0ea-4eef-9851-9bdbe8619e58" providerId="ADAL" clId="{98A04E70-9AFE-42B7-B8A2-B717E3F64435}" dt="2025-10-02T11:06:45.255" v="0" actId="47"/>
      <pc:docMkLst>
        <pc:docMk/>
      </pc:docMkLst>
      <pc:sldChg chg="del">
        <pc:chgData name="Adam Brown (Astrea Central)" userId="e4577f1c-a0ea-4eef-9851-9bdbe8619e58" providerId="ADAL" clId="{98A04E70-9AFE-42B7-B8A2-B717E3F64435}" dt="2025-10-02T11:06:45.255" v="0" actId="47"/>
        <pc:sldMkLst>
          <pc:docMk/>
          <pc:sldMk cId="3499626388" sldId="270"/>
        </pc:sldMkLst>
      </pc:sldChg>
      <pc:sldChg chg="del">
        <pc:chgData name="Adam Brown (Astrea Central)" userId="e4577f1c-a0ea-4eef-9851-9bdbe8619e58" providerId="ADAL" clId="{98A04E70-9AFE-42B7-B8A2-B717E3F64435}" dt="2025-10-02T11:06:45.255" v="0" actId="47"/>
        <pc:sldMkLst>
          <pc:docMk/>
          <pc:sldMk cId="602000621" sldId="304"/>
        </pc:sldMkLst>
      </pc:sldChg>
      <pc:sldChg chg="del">
        <pc:chgData name="Adam Brown (Astrea Central)" userId="e4577f1c-a0ea-4eef-9851-9bdbe8619e58" providerId="ADAL" clId="{98A04E70-9AFE-42B7-B8A2-B717E3F64435}" dt="2025-10-02T11:06:45.255" v="0" actId="47"/>
        <pc:sldMkLst>
          <pc:docMk/>
          <pc:sldMk cId="2200894185" sldId="442"/>
        </pc:sldMkLst>
      </pc:sldChg>
      <pc:sldChg chg="del">
        <pc:chgData name="Adam Brown (Astrea Central)" userId="e4577f1c-a0ea-4eef-9851-9bdbe8619e58" providerId="ADAL" clId="{98A04E70-9AFE-42B7-B8A2-B717E3F64435}" dt="2025-10-02T11:06:45.255" v="0" actId="47"/>
        <pc:sldMkLst>
          <pc:docMk/>
          <pc:sldMk cId="3634756477" sldId="528"/>
        </pc:sldMkLst>
      </pc:sldChg>
      <pc:sldChg chg="del">
        <pc:chgData name="Adam Brown (Astrea Central)" userId="e4577f1c-a0ea-4eef-9851-9bdbe8619e58" providerId="ADAL" clId="{98A04E70-9AFE-42B7-B8A2-B717E3F64435}" dt="2025-10-02T11:06:45.255" v="0" actId="47"/>
        <pc:sldMkLst>
          <pc:docMk/>
          <pc:sldMk cId="3965342644" sldId="529"/>
        </pc:sldMkLst>
      </pc:sldChg>
      <pc:sldChg chg="del">
        <pc:chgData name="Adam Brown (Astrea Central)" userId="e4577f1c-a0ea-4eef-9851-9bdbe8619e58" providerId="ADAL" clId="{98A04E70-9AFE-42B7-B8A2-B717E3F64435}" dt="2025-10-02T11:06:45.255" v="0" actId="47"/>
        <pc:sldMkLst>
          <pc:docMk/>
          <pc:sldMk cId="1261905153" sldId="531"/>
        </pc:sldMkLst>
      </pc:sldChg>
      <pc:sldChg chg="del">
        <pc:chgData name="Adam Brown (Astrea Central)" userId="e4577f1c-a0ea-4eef-9851-9bdbe8619e58" providerId="ADAL" clId="{98A04E70-9AFE-42B7-B8A2-B717E3F64435}" dt="2025-10-02T11:06:45.255" v="0" actId="47"/>
        <pc:sldMkLst>
          <pc:docMk/>
          <pc:sldMk cId="2885128637" sldId="533"/>
        </pc:sldMkLst>
      </pc:sldChg>
      <pc:sldChg chg="del">
        <pc:chgData name="Adam Brown (Astrea Central)" userId="e4577f1c-a0ea-4eef-9851-9bdbe8619e58" providerId="ADAL" clId="{98A04E70-9AFE-42B7-B8A2-B717E3F64435}" dt="2025-10-02T11:06:45.255" v="0" actId="47"/>
        <pc:sldMkLst>
          <pc:docMk/>
          <pc:sldMk cId="1207551091" sldId="534"/>
        </pc:sldMkLst>
      </pc:sldChg>
      <pc:sldChg chg="del">
        <pc:chgData name="Adam Brown (Astrea Central)" userId="e4577f1c-a0ea-4eef-9851-9bdbe8619e58" providerId="ADAL" clId="{98A04E70-9AFE-42B7-B8A2-B717E3F64435}" dt="2025-10-02T11:06:45.255" v="0" actId="47"/>
        <pc:sldMkLst>
          <pc:docMk/>
          <pc:sldMk cId="1773249319" sldId="536"/>
        </pc:sldMkLst>
      </pc:sldChg>
      <pc:sldChg chg="del">
        <pc:chgData name="Adam Brown (Astrea Central)" userId="e4577f1c-a0ea-4eef-9851-9bdbe8619e58" providerId="ADAL" clId="{98A04E70-9AFE-42B7-B8A2-B717E3F64435}" dt="2025-10-02T11:06:45.255" v="0" actId="47"/>
        <pc:sldMkLst>
          <pc:docMk/>
          <pc:sldMk cId="354259982" sldId="537"/>
        </pc:sldMkLst>
      </pc:sldChg>
      <pc:sldChg chg="del">
        <pc:chgData name="Adam Brown (Astrea Central)" userId="e4577f1c-a0ea-4eef-9851-9bdbe8619e58" providerId="ADAL" clId="{98A04E70-9AFE-42B7-B8A2-B717E3F64435}" dt="2025-10-02T11:06:45.255" v="0" actId="47"/>
        <pc:sldMkLst>
          <pc:docMk/>
          <pc:sldMk cId="1438998916" sldId="538"/>
        </pc:sldMkLst>
      </pc:sldChg>
      <pc:sldChg chg="del">
        <pc:chgData name="Adam Brown (Astrea Central)" userId="e4577f1c-a0ea-4eef-9851-9bdbe8619e58" providerId="ADAL" clId="{98A04E70-9AFE-42B7-B8A2-B717E3F64435}" dt="2025-10-02T11:06:45.255" v="0" actId="47"/>
        <pc:sldMkLst>
          <pc:docMk/>
          <pc:sldMk cId="2485489797" sldId="557"/>
        </pc:sldMkLst>
      </pc:sldChg>
      <pc:sldChg chg="del">
        <pc:chgData name="Adam Brown (Astrea Central)" userId="e4577f1c-a0ea-4eef-9851-9bdbe8619e58" providerId="ADAL" clId="{98A04E70-9AFE-42B7-B8A2-B717E3F64435}" dt="2025-10-02T11:06:45.255" v="0" actId="47"/>
        <pc:sldMkLst>
          <pc:docMk/>
          <pc:sldMk cId="1525563781" sldId="560"/>
        </pc:sldMkLst>
      </pc:sldChg>
      <pc:sldChg chg="del">
        <pc:chgData name="Adam Brown (Astrea Central)" userId="e4577f1c-a0ea-4eef-9851-9bdbe8619e58" providerId="ADAL" clId="{98A04E70-9AFE-42B7-B8A2-B717E3F64435}" dt="2025-10-02T11:06:45.255" v="0" actId="47"/>
        <pc:sldMkLst>
          <pc:docMk/>
          <pc:sldMk cId="1903988073" sldId="565"/>
        </pc:sldMkLst>
      </pc:sldChg>
      <pc:sldChg chg="del">
        <pc:chgData name="Adam Brown (Astrea Central)" userId="e4577f1c-a0ea-4eef-9851-9bdbe8619e58" providerId="ADAL" clId="{98A04E70-9AFE-42B7-B8A2-B717E3F64435}" dt="2025-10-02T11:06:45.255" v="0" actId="47"/>
        <pc:sldMkLst>
          <pc:docMk/>
          <pc:sldMk cId="76818099" sldId="603"/>
        </pc:sldMkLst>
      </pc:sldChg>
      <pc:sldChg chg="del">
        <pc:chgData name="Adam Brown (Astrea Central)" userId="e4577f1c-a0ea-4eef-9851-9bdbe8619e58" providerId="ADAL" clId="{98A04E70-9AFE-42B7-B8A2-B717E3F64435}" dt="2025-10-02T11:06:45.255" v="0" actId="47"/>
        <pc:sldMkLst>
          <pc:docMk/>
          <pc:sldMk cId="1617582283" sldId="604"/>
        </pc:sldMkLst>
      </pc:sldChg>
      <pc:sldChg chg="del">
        <pc:chgData name="Adam Brown (Astrea Central)" userId="e4577f1c-a0ea-4eef-9851-9bdbe8619e58" providerId="ADAL" clId="{98A04E70-9AFE-42B7-B8A2-B717E3F64435}" dt="2025-10-02T11:06:45.255" v="0" actId="47"/>
        <pc:sldMkLst>
          <pc:docMk/>
          <pc:sldMk cId="1257912426" sldId="605"/>
        </pc:sldMkLst>
      </pc:sldChg>
      <pc:sldChg chg="del">
        <pc:chgData name="Adam Brown (Astrea Central)" userId="e4577f1c-a0ea-4eef-9851-9bdbe8619e58" providerId="ADAL" clId="{98A04E70-9AFE-42B7-B8A2-B717E3F64435}" dt="2025-10-02T11:06:45.255" v="0" actId="47"/>
        <pc:sldMkLst>
          <pc:docMk/>
          <pc:sldMk cId="1849326464" sldId="607"/>
        </pc:sldMkLst>
      </pc:sldChg>
      <pc:sldChg chg="del">
        <pc:chgData name="Adam Brown (Astrea Central)" userId="e4577f1c-a0ea-4eef-9851-9bdbe8619e58" providerId="ADAL" clId="{98A04E70-9AFE-42B7-B8A2-B717E3F64435}" dt="2025-10-02T11:06:45.255" v="0" actId="47"/>
        <pc:sldMkLst>
          <pc:docMk/>
          <pc:sldMk cId="2486596901" sldId="611"/>
        </pc:sldMkLst>
      </pc:sldChg>
      <pc:sldChg chg="del">
        <pc:chgData name="Adam Brown (Astrea Central)" userId="e4577f1c-a0ea-4eef-9851-9bdbe8619e58" providerId="ADAL" clId="{98A04E70-9AFE-42B7-B8A2-B717E3F64435}" dt="2025-10-02T11:06:45.255" v="0" actId="47"/>
        <pc:sldMkLst>
          <pc:docMk/>
          <pc:sldMk cId="3771127931" sldId="634"/>
        </pc:sldMkLst>
      </pc:sldChg>
      <pc:sldChg chg="del">
        <pc:chgData name="Adam Brown (Astrea Central)" userId="e4577f1c-a0ea-4eef-9851-9bdbe8619e58" providerId="ADAL" clId="{98A04E70-9AFE-42B7-B8A2-B717E3F64435}" dt="2025-10-02T11:06:45.255" v="0" actId="47"/>
        <pc:sldMkLst>
          <pc:docMk/>
          <pc:sldMk cId="2820528885" sldId="750"/>
        </pc:sldMkLst>
      </pc:sldChg>
      <pc:sldChg chg="del">
        <pc:chgData name="Adam Brown (Astrea Central)" userId="e4577f1c-a0ea-4eef-9851-9bdbe8619e58" providerId="ADAL" clId="{98A04E70-9AFE-42B7-B8A2-B717E3F64435}" dt="2025-10-02T11:06:45.255" v="0" actId="47"/>
        <pc:sldMkLst>
          <pc:docMk/>
          <pc:sldMk cId="105983789" sldId="751"/>
        </pc:sldMkLst>
      </pc:sldChg>
      <pc:sldChg chg="del">
        <pc:chgData name="Adam Brown (Astrea Central)" userId="e4577f1c-a0ea-4eef-9851-9bdbe8619e58" providerId="ADAL" clId="{98A04E70-9AFE-42B7-B8A2-B717E3F64435}" dt="2025-10-02T11:06:45.255" v="0" actId="47"/>
        <pc:sldMkLst>
          <pc:docMk/>
          <pc:sldMk cId="1705740215" sldId="761"/>
        </pc:sldMkLst>
      </pc:sldChg>
      <pc:sldChg chg="del">
        <pc:chgData name="Adam Brown (Astrea Central)" userId="e4577f1c-a0ea-4eef-9851-9bdbe8619e58" providerId="ADAL" clId="{98A04E70-9AFE-42B7-B8A2-B717E3F64435}" dt="2025-10-02T11:06:45.255" v="0" actId="47"/>
        <pc:sldMkLst>
          <pc:docMk/>
          <pc:sldMk cId="2741417538" sldId="764"/>
        </pc:sldMkLst>
      </pc:sldChg>
      <pc:sldChg chg="del">
        <pc:chgData name="Adam Brown (Astrea Central)" userId="e4577f1c-a0ea-4eef-9851-9bdbe8619e58" providerId="ADAL" clId="{98A04E70-9AFE-42B7-B8A2-B717E3F64435}" dt="2025-10-02T11:06:45.255" v="0" actId="47"/>
        <pc:sldMkLst>
          <pc:docMk/>
          <pc:sldMk cId="721518159" sldId="765"/>
        </pc:sldMkLst>
      </pc:sldChg>
      <pc:sldChg chg="del">
        <pc:chgData name="Adam Brown (Astrea Central)" userId="e4577f1c-a0ea-4eef-9851-9bdbe8619e58" providerId="ADAL" clId="{98A04E70-9AFE-42B7-B8A2-B717E3F64435}" dt="2025-10-02T11:06:45.255" v="0" actId="47"/>
        <pc:sldMkLst>
          <pc:docMk/>
          <pc:sldMk cId="3624233750" sldId="796"/>
        </pc:sldMkLst>
      </pc:sldChg>
      <pc:sldChg chg="del">
        <pc:chgData name="Adam Brown (Astrea Central)" userId="e4577f1c-a0ea-4eef-9851-9bdbe8619e58" providerId="ADAL" clId="{98A04E70-9AFE-42B7-B8A2-B717E3F64435}" dt="2025-10-02T11:06:45.255" v="0" actId="47"/>
        <pc:sldMkLst>
          <pc:docMk/>
          <pc:sldMk cId="3786559436" sldId="820"/>
        </pc:sldMkLst>
      </pc:sldChg>
      <pc:sldChg chg="del">
        <pc:chgData name="Adam Brown (Astrea Central)" userId="e4577f1c-a0ea-4eef-9851-9bdbe8619e58" providerId="ADAL" clId="{98A04E70-9AFE-42B7-B8A2-B717E3F64435}" dt="2025-10-02T11:06:45.255" v="0" actId="47"/>
        <pc:sldMkLst>
          <pc:docMk/>
          <pc:sldMk cId="2636512546" sldId="822"/>
        </pc:sldMkLst>
      </pc:sldChg>
      <pc:sldChg chg="del">
        <pc:chgData name="Adam Brown (Astrea Central)" userId="e4577f1c-a0ea-4eef-9851-9bdbe8619e58" providerId="ADAL" clId="{98A04E70-9AFE-42B7-B8A2-B717E3F64435}" dt="2025-10-02T11:06:45.255" v="0" actId="47"/>
        <pc:sldMkLst>
          <pc:docMk/>
          <pc:sldMk cId="990989979" sldId="823"/>
        </pc:sldMkLst>
      </pc:sldChg>
      <pc:sldChg chg="del">
        <pc:chgData name="Adam Brown (Astrea Central)" userId="e4577f1c-a0ea-4eef-9851-9bdbe8619e58" providerId="ADAL" clId="{98A04E70-9AFE-42B7-B8A2-B717E3F64435}" dt="2025-10-02T11:06:45.255" v="0" actId="47"/>
        <pc:sldMkLst>
          <pc:docMk/>
          <pc:sldMk cId="1943235173" sldId="826"/>
        </pc:sldMkLst>
      </pc:sldChg>
      <pc:sldChg chg="del">
        <pc:chgData name="Adam Brown (Astrea Central)" userId="e4577f1c-a0ea-4eef-9851-9bdbe8619e58" providerId="ADAL" clId="{98A04E70-9AFE-42B7-B8A2-B717E3F64435}" dt="2025-10-02T11:06:45.255" v="0" actId="47"/>
        <pc:sldMkLst>
          <pc:docMk/>
          <pc:sldMk cId="2692183026" sldId="1167"/>
        </pc:sldMkLst>
      </pc:sldChg>
      <pc:sldChg chg="del">
        <pc:chgData name="Adam Brown (Astrea Central)" userId="e4577f1c-a0ea-4eef-9851-9bdbe8619e58" providerId="ADAL" clId="{98A04E70-9AFE-42B7-B8A2-B717E3F64435}" dt="2025-10-02T11:06:45.255" v="0" actId="47"/>
        <pc:sldMkLst>
          <pc:docMk/>
          <pc:sldMk cId="248081511" sldId="1168"/>
        </pc:sldMkLst>
      </pc:sldChg>
      <pc:sldChg chg="del">
        <pc:chgData name="Adam Brown (Astrea Central)" userId="e4577f1c-a0ea-4eef-9851-9bdbe8619e58" providerId="ADAL" clId="{98A04E70-9AFE-42B7-B8A2-B717E3F64435}" dt="2025-10-02T11:06:45.255" v="0" actId="47"/>
        <pc:sldMkLst>
          <pc:docMk/>
          <pc:sldMk cId="3736762328" sldId="1169"/>
        </pc:sldMkLst>
      </pc:sldChg>
      <pc:sldChg chg="del">
        <pc:chgData name="Adam Brown (Astrea Central)" userId="e4577f1c-a0ea-4eef-9851-9bdbe8619e58" providerId="ADAL" clId="{98A04E70-9AFE-42B7-B8A2-B717E3F64435}" dt="2025-10-02T11:06:45.255" v="0" actId="47"/>
        <pc:sldMkLst>
          <pc:docMk/>
          <pc:sldMk cId="3041216556" sldId="1171"/>
        </pc:sldMkLst>
      </pc:sldChg>
      <pc:sldChg chg="del">
        <pc:chgData name="Adam Brown (Astrea Central)" userId="e4577f1c-a0ea-4eef-9851-9bdbe8619e58" providerId="ADAL" clId="{98A04E70-9AFE-42B7-B8A2-B717E3F64435}" dt="2025-10-02T11:06:45.255" v="0" actId="47"/>
        <pc:sldMkLst>
          <pc:docMk/>
          <pc:sldMk cId="3478272523" sldId="1172"/>
        </pc:sldMkLst>
      </pc:sldChg>
      <pc:sldChg chg="del">
        <pc:chgData name="Adam Brown (Astrea Central)" userId="e4577f1c-a0ea-4eef-9851-9bdbe8619e58" providerId="ADAL" clId="{98A04E70-9AFE-42B7-B8A2-B717E3F64435}" dt="2025-10-02T11:06:45.255" v="0" actId="47"/>
        <pc:sldMkLst>
          <pc:docMk/>
          <pc:sldMk cId="2216248988" sldId="1173"/>
        </pc:sldMkLst>
      </pc:sldChg>
      <pc:sldChg chg="del">
        <pc:chgData name="Adam Brown (Astrea Central)" userId="e4577f1c-a0ea-4eef-9851-9bdbe8619e58" providerId="ADAL" clId="{98A04E70-9AFE-42B7-B8A2-B717E3F64435}" dt="2025-10-02T11:06:45.255" v="0" actId="47"/>
        <pc:sldMkLst>
          <pc:docMk/>
          <pc:sldMk cId="2128076458" sldId="1175"/>
        </pc:sldMkLst>
      </pc:sldChg>
      <pc:sldChg chg="del">
        <pc:chgData name="Adam Brown (Astrea Central)" userId="e4577f1c-a0ea-4eef-9851-9bdbe8619e58" providerId="ADAL" clId="{98A04E70-9AFE-42B7-B8A2-B717E3F64435}" dt="2025-10-02T11:06:45.255" v="0" actId="47"/>
        <pc:sldMkLst>
          <pc:docMk/>
          <pc:sldMk cId="3221334843" sldId="1176"/>
        </pc:sldMkLst>
      </pc:sldChg>
      <pc:sldChg chg="del">
        <pc:chgData name="Adam Brown (Astrea Central)" userId="e4577f1c-a0ea-4eef-9851-9bdbe8619e58" providerId="ADAL" clId="{98A04E70-9AFE-42B7-B8A2-B717E3F64435}" dt="2025-10-02T11:06:45.255" v="0" actId="47"/>
        <pc:sldMkLst>
          <pc:docMk/>
          <pc:sldMk cId="2467498060" sldId="1177"/>
        </pc:sldMkLst>
      </pc:sldChg>
      <pc:sldChg chg="del">
        <pc:chgData name="Adam Brown (Astrea Central)" userId="e4577f1c-a0ea-4eef-9851-9bdbe8619e58" providerId="ADAL" clId="{98A04E70-9AFE-42B7-B8A2-B717E3F64435}" dt="2025-10-02T11:06:45.255" v="0" actId="47"/>
        <pc:sldMkLst>
          <pc:docMk/>
          <pc:sldMk cId="1100087889" sldId="1178"/>
        </pc:sldMkLst>
      </pc:sldChg>
      <pc:sldChg chg="del">
        <pc:chgData name="Adam Brown (Astrea Central)" userId="e4577f1c-a0ea-4eef-9851-9bdbe8619e58" providerId="ADAL" clId="{98A04E70-9AFE-42B7-B8A2-B717E3F64435}" dt="2025-10-02T11:06:45.255" v="0" actId="47"/>
        <pc:sldMkLst>
          <pc:docMk/>
          <pc:sldMk cId="2469184529" sldId="1179"/>
        </pc:sldMkLst>
      </pc:sldChg>
      <pc:sldChg chg="del">
        <pc:chgData name="Adam Brown (Astrea Central)" userId="e4577f1c-a0ea-4eef-9851-9bdbe8619e58" providerId="ADAL" clId="{98A04E70-9AFE-42B7-B8A2-B717E3F64435}" dt="2025-10-02T11:06:45.255" v="0" actId="47"/>
        <pc:sldMkLst>
          <pc:docMk/>
          <pc:sldMk cId="402085223" sldId="1180"/>
        </pc:sldMkLst>
      </pc:sldChg>
      <pc:sldChg chg="del">
        <pc:chgData name="Adam Brown (Astrea Central)" userId="e4577f1c-a0ea-4eef-9851-9bdbe8619e58" providerId="ADAL" clId="{98A04E70-9AFE-42B7-B8A2-B717E3F64435}" dt="2025-10-02T11:06:45.255" v="0" actId="47"/>
        <pc:sldMkLst>
          <pc:docMk/>
          <pc:sldMk cId="2615987597" sldId="1190"/>
        </pc:sldMkLst>
      </pc:sldChg>
      <pc:sldChg chg="del">
        <pc:chgData name="Adam Brown (Astrea Central)" userId="e4577f1c-a0ea-4eef-9851-9bdbe8619e58" providerId="ADAL" clId="{98A04E70-9AFE-42B7-B8A2-B717E3F64435}" dt="2025-10-02T11:06:45.255" v="0" actId="47"/>
        <pc:sldMkLst>
          <pc:docMk/>
          <pc:sldMk cId="3242687722" sldId="1191"/>
        </pc:sldMkLst>
      </pc:sldChg>
      <pc:sldChg chg="del">
        <pc:chgData name="Adam Brown (Astrea Central)" userId="e4577f1c-a0ea-4eef-9851-9bdbe8619e58" providerId="ADAL" clId="{98A04E70-9AFE-42B7-B8A2-B717E3F64435}" dt="2025-10-02T11:06:45.255" v="0" actId="47"/>
        <pc:sldMkLst>
          <pc:docMk/>
          <pc:sldMk cId="2873416194" sldId="1192"/>
        </pc:sldMkLst>
      </pc:sldChg>
      <pc:sldChg chg="del">
        <pc:chgData name="Adam Brown (Astrea Central)" userId="e4577f1c-a0ea-4eef-9851-9bdbe8619e58" providerId="ADAL" clId="{98A04E70-9AFE-42B7-B8A2-B717E3F64435}" dt="2025-10-02T11:06:45.255" v="0" actId="47"/>
        <pc:sldMkLst>
          <pc:docMk/>
          <pc:sldMk cId="332504451" sldId="1193"/>
        </pc:sldMkLst>
      </pc:sldChg>
      <pc:sldChg chg="del">
        <pc:chgData name="Adam Brown (Astrea Central)" userId="e4577f1c-a0ea-4eef-9851-9bdbe8619e58" providerId="ADAL" clId="{98A04E70-9AFE-42B7-B8A2-B717E3F64435}" dt="2025-10-02T11:06:45.255" v="0" actId="47"/>
        <pc:sldMkLst>
          <pc:docMk/>
          <pc:sldMk cId="1623580324" sldId="1194"/>
        </pc:sldMkLst>
      </pc:sldChg>
      <pc:sldChg chg="del">
        <pc:chgData name="Adam Brown (Astrea Central)" userId="e4577f1c-a0ea-4eef-9851-9bdbe8619e58" providerId="ADAL" clId="{98A04E70-9AFE-42B7-B8A2-B717E3F64435}" dt="2025-10-02T11:06:45.255" v="0" actId="47"/>
        <pc:sldMkLst>
          <pc:docMk/>
          <pc:sldMk cId="4029879049" sldId="1195"/>
        </pc:sldMkLst>
      </pc:sldChg>
      <pc:sldChg chg="del">
        <pc:chgData name="Adam Brown (Astrea Central)" userId="e4577f1c-a0ea-4eef-9851-9bdbe8619e58" providerId="ADAL" clId="{98A04E70-9AFE-42B7-B8A2-B717E3F64435}" dt="2025-10-02T11:06:45.255" v="0" actId="47"/>
        <pc:sldMkLst>
          <pc:docMk/>
          <pc:sldMk cId="2907401783" sldId="1196"/>
        </pc:sldMkLst>
      </pc:sldChg>
      <pc:sldChg chg="del">
        <pc:chgData name="Adam Brown (Astrea Central)" userId="e4577f1c-a0ea-4eef-9851-9bdbe8619e58" providerId="ADAL" clId="{98A04E70-9AFE-42B7-B8A2-B717E3F64435}" dt="2025-10-02T11:06:45.255" v="0" actId="47"/>
        <pc:sldMkLst>
          <pc:docMk/>
          <pc:sldMk cId="2407786857" sldId="1197"/>
        </pc:sldMkLst>
      </pc:sldChg>
      <pc:sldChg chg="del">
        <pc:chgData name="Adam Brown (Astrea Central)" userId="e4577f1c-a0ea-4eef-9851-9bdbe8619e58" providerId="ADAL" clId="{98A04E70-9AFE-42B7-B8A2-B717E3F64435}" dt="2025-10-02T11:06:45.255" v="0" actId="47"/>
        <pc:sldMkLst>
          <pc:docMk/>
          <pc:sldMk cId="3296569283" sldId="1199"/>
        </pc:sldMkLst>
      </pc:sldChg>
      <pc:sldChg chg="del">
        <pc:chgData name="Adam Brown (Astrea Central)" userId="e4577f1c-a0ea-4eef-9851-9bdbe8619e58" providerId="ADAL" clId="{98A04E70-9AFE-42B7-B8A2-B717E3F64435}" dt="2025-10-02T11:06:45.255" v="0" actId="47"/>
        <pc:sldMkLst>
          <pc:docMk/>
          <pc:sldMk cId="2718422913" sldId="1200"/>
        </pc:sldMkLst>
      </pc:sldChg>
      <pc:sldChg chg="del">
        <pc:chgData name="Adam Brown (Astrea Central)" userId="e4577f1c-a0ea-4eef-9851-9bdbe8619e58" providerId="ADAL" clId="{98A04E70-9AFE-42B7-B8A2-B717E3F64435}" dt="2025-10-02T11:06:45.255" v="0" actId="47"/>
        <pc:sldMkLst>
          <pc:docMk/>
          <pc:sldMk cId="3350024278" sldId="1201"/>
        </pc:sldMkLst>
      </pc:sldChg>
      <pc:sldChg chg="del">
        <pc:chgData name="Adam Brown (Astrea Central)" userId="e4577f1c-a0ea-4eef-9851-9bdbe8619e58" providerId="ADAL" clId="{98A04E70-9AFE-42B7-B8A2-B717E3F64435}" dt="2025-10-02T11:06:45.255" v="0" actId="47"/>
        <pc:sldMkLst>
          <pc:docMk/>
          <pc:sldMk cId="328340208" sldId="1203"/>
        </pc:sldMkLst>
      </pc:sldChg>
      <pc:sldChg chg="del">
        <pc:chgData name="Adam Brown (Astrea Central)" userId="e4577f1c-a0ea-4eef-9851-9bdbe8619e58" providerId="ADAL" clId="{98A04E70-9AFE-42B7-B8A2-B717E3F64435}" dt="2025-10-02T11:06:45.255" v="0" actId="47"/>
        <pc:sldMkLst>
          <pc:docMk/>
          <pc:sldMk cId="187822960" sldId="1204"/>
        </pc:sldMkLst>
      </pc:sldChg>
      <pc:sldChg chg="del">
        <pc:chgData name="Adam Brown (Astrea Central)" userId="e4577f1c-a0ea-4eef-9851-9bdbe8619e58" providerId="ADAL" clId="{98A04E70-9AFE-42B7-B8A2-B717E3F64435}" dt="2025-10-02T11:06:45.255" v="0" actId="47"/>
        <pc:sldMkLst>
          <pc:docMk/>
          <pc:sldMk cId="3337100019" sldId="1210"/>
        </pc:sldMkLst>
      </pc:sldChg>
      <pc:sldChg chg="del">
        <pc:chgData name="Adam Brown (Astrea Central)" userId="e4577f1c-a0ea-4eef-9851-9bdbe8619e58" providerId="ADAL" clId="{98A04E70-9AFE-42B7-B8A2-B717E3F64435}" dt="2025-10-02T11:06:45.255" v="0" actId="47"/>
        <pc:sldMkLst>
          <pc:docMk/>
          <pc:sldMk cId="3810112837" sldId="1211"/>
        </pc:sldMkLst>
      </pc:sldChg>
      <pc:sldChg chg="del">
        <pc:chgData name="Adam Brown (Astrea Central)" userId="e4577f1c-a0ea-4eef-9851-9bdbe8619e58" providerId="ADAL" clId="{98A04E70-9AFE-42B7-B8A2-B717E3F64435}" dt="2025-10-02T11:06:45.255" v="0" actId="47"/>
        <pc:sldMkLst>
          <pc:docMk/>
          <pc:sldMk cId="3016650432" sldId="1212"/>
        </pc:sldMkLst>
      </pc:sldChg>
      <pc:sldChg chg="del">
        <pc:chgData name="Adam Brown (Astrea Central)" userId="e4577f1c-a0ea-4eef-9851-9bdbe8619e58" providerId="ADAL" clId="{98A04E70-9AFE-42B7-B8A2-B717E3F64435}" dt="2025-10-02T11:06:45.255" v="0" actId="47"/>
        <pc:sldMkLst>
          <pc:docMk/>
          <pc:sldMk cId="2823046277" sldId="1224"/>
        </pc:sldMkLst>
      </pc:sldChg>
      <pc:sldChg chg="del">
        <pc:chgData name="Adam Brown (Astrea Central)" userId="e4577f1c-a0ea-4eef-9851-9bdbe8619e58" providerId="ADAL" clId="{98A04E70-9AFE-42B7-B8A2-B717E3F64435}" dt="2025-10-02T11:06:45.255" v="0" actId="47"/>
        <pc:sldMkLst>
          <pc:docMk/>
          <pc:sldMk cId="1766625398" sldId="1225"/>
        </pc:sldMkLst>
      </pc:sldChg>
      <pc:sldChg chg="del">
        <pc:chgData name="Adam Brown (Astrea Central)" userId="e4577f1c-a0ea-4eef-9851-9bdbe8619e58" providerId="ADAL" clId="{98A04E70-9AFE-42B7-B8A2-B717E3F64435}" dt="2025-10-02T11:06:45.255" v="0" actId="47"/>
        <pc:sldMkLst>
          <pc:docMk/>
          <pc:sldMk cId="1567395204" sldId="1226"/>
        </pc:sldMkLst>
      </pc:sldChg>
      <pc:sldChg chg="del">
        <pc:chgData name="Adam Brown (Astrea Central)" userId="e4577f1c-a0ea-4eef-9851-9bdbe8619e58" providerId="ADAL" clId="{98A04E70-9AFE-42B7-B8A2-B717E3F64435}" dt="2025-10-02T11:06:45.255" v="0" actId="47"/>
        <pc:sldMkLst>
          <pc:docMk/>
          <pc:sldMk cId="1733079440" sldId="1227"/>
        </pc:sldMkLst>
      </pc:sldChg>
      <pc:sldChg chg="del">
        <pc:chgData name="Adam Brown (Astrea Central)" userId="e4577f1c-a0ea-4eef-9851-9bdbe8619e58" providerId="ADAL" clId="{98A04E70-9AFE-42B7-B8A2-B717E3F64435}" dt="2025-10-02T11:06:45.255" v="0" actId="47"/>
        <pc:sldMkLst>
          <pc:docMk/>
          <pc:sldMk cId="3664428990" sldId="1228"/>
        </pc:sldMkLst>
      </pc:sldChg>
      <pc:sldChg chg="del">
        <pc:chgData name="Adam Brown (Astrea Central)" userId="e4577f1c-a0ea-4eef-9851-9bdbe8619e58" providerId="ADAL" clId="{98A04E70-9AFE-42B7-B8A2-B717E3F64435}" dt="2025-10-02T11:06:45.255" v="0" actId="47"/>
        <pc:sldMkLst>
          <pc:docMk/>
          <pc:sldMk cId="1710199113" sldId="1229"/>
        </pc:sldMkLst>
      </pc:sldChg>
      <pc:sldChg chg="del">
        <pc:chgData name="Adam Brown (Astrea Central)" userId="e4577f1c-a0ea-4eef-9851-9bdbe8619e58" providerId="ADAL" clId="{98A04E70-9AFE-42B7-B8A2-B717E3F64435}" dt="2025-10-02T11:06:45.255" v="0" actId="47"/>
        <pc:sldMkLst>
          <pc:docMk/>
          <pc:sldMk cId="1420111636" sldId="1230"/>
        </pc:sldMkLst>
      </pc:sldChg>
      <pc:sldChg chg="del">
        <pc:chgData name="Adam Brown (Astrea Central)" userId="e4577f1c-a0ea-4eef-9851-9bdbe8619e58" providerId="ADAL" clId="{98A04E70-9AFE-42B7-B8A2-B717E3F64435}" dt="2025-10-02T11:06:45.255" v="0" actId="47"/>
        <pc:sldMkLst>
          <pc:docMk/>
          <pc:sldMk cId="149822979" sldId="1231"/>
        </pc:sldMkLst>
      </pc:sldChg>
      <pc:sldChg chg="del">
        <pc:chgData name="Adam Brown (Astrea Central)" userId="e4577f1c-a0ea-4eef-9851-9bdbe8619e58" providerId="ADAL" clId="{98A04E70-9AFE-42B7-B8A2-B717E3F64435}" dt="2025-10-02T11:06:45.255" v="0" actId="47"/>
        <pc:sldMkLst>
          <pc:docMk/>
          <pc:sldMk cId="1210998565" sldId="1233"/>
        </pc:sldMkLst>
      </pc:sldChg>
      <pc:sldChg chg="del">
        <pc:chgData name="Adam Brown (Astrea Central)" userId="e4577f1c-a0ea-4eef-9851-9bdbe8619e58" providerId="ADAL" clId="{98A04E70-9AFE-42B7-B8A2-B717E3F64435}" dt="2025-10-02T11:06:45.255" v="0" actId="47"/>
        <pc:sldMkLst>
          <pc:docMk/>
          <pc:sldMk cId="733169967" sldId="1235"/>
        </pc:sldMkLst>
      </pc:sldChg>
      <pc:sldChg chg="del">
        <pc:chgData name="Adam Brown (Astrea Central)" userId="e4577f1c-a0ea-4eef-9851-9bdbe8619e58" providerId="ADAL" clId="{98A04E70-9AFE-42B7-B8A2-B717E3F64435}" dt="2025-10-02T11:06:45.255" v="0" actId="47"/>
        <pc:sldMkLst>
          <pc:docMk/>
          <pc:sldMk cId="3656622071" sldId="2732"/>
        </pc:sldMkLst>
      </pc:sldChg>
      <pc:sldChg chg="del">
        <pc:chgData name="Adam Brown (Astrea Central)" userId="e4577f1c-a0ea-4eef-9851-9bdbe8619e58" providerId="ADAL" clId="{98A04E70-9AFE-42B7-B8A2-B717E3F64435}" dt="2025-10-02T11:06:45.255" v="0" actId="47"/>
        <pc:sldMkLst>
          <pc:docMk/>
          <pc:sldMk cId="806530860" sldId="2733"/>
        </pc:sldMkLst>
      </pc:sldChg>
      <pc:sldChg chg="del">
        <pc:chgData name="Adam Brown (Astrea Central)" userId="e4577f1c-a0ea-4eef-9851-9bdbe8619e58" providerId="ADAL" clId="{98A04E70-9AFE-42B7-B8A2-B717E3F64435}" dt="2025-10-02T11:06:45.255" v="0" actId="47"/>
        <pc:sldMkLst>
          <pc:docMk/>
          <pc:sldMk cId="1251629001" sldId="2735"/>
        </pc:sldMkLst>
      </pc:sldChg>
      <pc:sldChg chg="del">
        <pc:chgData name="Adam Brown (Astrea Central)" userId="e4577f1c-a0ea-4eef-9851-9bdbe8619e58" providerId="ADAL" clId="{98A04E70-9AFE-42B7-B8A2-B717E3F64435}" dt="2025-10-02T11:06:45.255" v="0" actId="47"/>
        <pc:sldMkLst>
          <pc:docMk/>
          <pc:sldMk cId="1618587120" sldId="2736"/>
        </pc:sldMkLst>
      </pc:sldChg>
      <pc:sldChg chg="del">
        <pc:chgData name="Adam Brown (Astrea Central)" userId="e4577f1c-a0ea-4eef-9851-9bdbe8619e58" providerId="ADAL" clId="{98A04E70-9AFE-42B7-B8A2-B717E3F64435}" dt="2025-10-02T11:06:45.255" v="0" actId="47"/>
        <pc:sldMkLst>
          <pc:docMk/>
          <pc:sldMk cId="1674874405" sldId="2737"/>
        </pc:sldMkLst>
      </pc:sldChg>
      <pc:sldChg chg="del">
        <pc:chgData name="Adam Brown (Astrea Central)" userId="e4577f1c-a0ea-4eef-9851-9bdbe8619e58" providerId="ADAL" clId="{98A04E70-9AFE-42B7-B8A2-B717E3F64435}" dt="2025-10-02T11:06:45.255" v="0" actId="47"/>
        <pc:sldMkLst>
          <pc:docMk/>
          <pc:sldMk cId="3580631642" sldId="2738"/>
        </pc:sldMkLst>
      </pc:sldChg>
      <pc:sldChg chg="del">
        <pc:chgData name="Adam Brown (Astrea Central)" userId="e4577f1c-a0ea-4eef-9851-9bdbe8619e58" providerId="ADAL" clId="{98A04E70-9AFE-42B7-B8A2-B717E3F64435}" dt="2025-10-02T11:06:45.255" v="0" actId="47"/>
        <pc:sldMkLst>
          <pc:docMk/>
          <pc:sldMk cId="3254095160" sldId="2740"/>
        </pc:sldMkLst>
      </pc:sldChg>
      <pc:sldChg chg="del">
        <pc:chgData name="Adam Brown (Astrea Central)" userId="e4577f1c-a0ea-4eef-9851-9bdbe8619e58" providerId="ADAL" clId="{98A04E70-9AFE-42B7-B8A2-B717E3F64435}" dt="2025-10-02T11:06:45.255" v="0" actId="47"/>
        <pc:sldMkLst>
          <pc:docMk/>
          <pc:sldMk cId="325519433" sldId="2741"/>
        </pc:sldMkLst>
      </pc:sldChg>
      <pc:sldChg chg="del">
        <pc:chgData name="Adam Brown (Astrea Central)" userId="e4577f1c-a0ea-4eef-9851-9bdbe8619e58" providerId="ADAL" clId="{98A04E70-9AFE-42B7-B8A2-B717E3F64435}" dt="2025-10-02T11:06:45.255" v="0" actId="47"/>
        <pc:sldMkLst>
          <pc:docMk/>
          <pc:sldMk cId="1850562953" sldId="2742"/>
        </pc:sldMkLst>
      </pc:sldChg>
      <pc:sldChg chg="del">
        <pc:chgData name="Adam Brown (Astrea Central)" userId="e4577f1c-a0ea-4eef-9851-9bdbe8619e58" providerId="ADAL" clId="{98A04E70-9AFE-42B7-B8A2-B717E3F64435}" dt="2025-10-02T11:06:45.255" v="0" actId="47"/>
        <pc:sldMkLst>
          <pc:docMk/>
          <pc:sldMk cId="508714497" sldId="2743"/>
        </pc:sldMkLst>
      </pc:sldChg>
      <pc:sldChg chg="del">
        <pc:chgData name="Adam Brown (Astrea Central)" userId="e4577f1c-a0ea-4eef-9851-9bdbe8619e58" providerId="ADAL" clId="{98A04E70-9AFE-42B7-B8A2-B717E3F64435}" dt="2025-10-02T11:06:45.255" v="0" actId="47"/>
        <pc:sldMkLst>
          <pc:docMk/>
          <pc:sldMk cId="2361319489" sldId="2744"/>
        </pc:sldMkLst>
      </pc:sldChg>
      <pc:sldChg chg="del">
        <pc:chgData name="Adam Brown (Astrea Central)" userId="e4577f1c-a0ea-4eef-9851-9bdbe8619e58" providerId="ADAL" clId="{98A04E70-9AFE-42B7-B8A2-B717E3F64435}" dt="2025-10-02T11:06:45.255" v="0" actId="47"/>
        <pc:sldMkLst>
          <pc:docMk/>
          <pc:sldMk cId="787172474" sldId="2781"/>
        </pc:sldMkLst>
      </pc:sldChg>
      <pc:sldChg chg="del">
        <pc:chgData name="Adam Brown (Astrea Central)" userId="e4577f1c-a0ea-4eef-9851-9bdbe8619e58" providerId="ADAL" clId="{98A04E70-9AFE-42B7-B8A2-B717E3F64435}" dt="2025-10-02T11:06:45.255" v="0" actId="47"/>
        <pc:sldMkLst>
          <pc:docMk/>
          <pc:sldMk cId="1035247090" sldId="2782"/>
        </pc:sldMkLst>
      </pc:sldChg>
      <pc:sldChg chg="del">
        <pc:chgData name="Adam Brown (Astrea Central)" userId="e4577f1c-a0ea-4eef-9851-9bdbe8619e58" providerId="ADAL" clId="{98A04E70-9AFE-42B7-B8A2-B717E3F64435}" dt="2025-10-02T11:06:45.255" v="0" actId="47"/>
        <pc:sldMkLst>
          <pc:docMk/>
          <pc:sldMk cId="3795775980" sldId="2783"/>
        </pc:sldMkLst>
      </pc:sldChg>
      <pc:sldChg chg="del">
        <pc:chgData name="Adam Brown (Astrea Central)" userId="e4577f1c-a0ea-4eef-9851-9bdbe8619e58" providerId="ADAL" clId="{98A04E70-9AFE-42B7-B8A2-B717E3F64435}" dt="2025-10-02T11:06:45.255" v="0" actId="47"/>
        <pc:sldMkLst>
          <pc:docMk/>
          <pc:sldMk cId="206868638" sldId="2784"/>
        </pc:sldMkLst>
      </pc:sldChg>
      <pc:sldChg chg="del">
        <pc:chgData name="Adam Brown (Astrea Central)" userId="e4577f1c-a0ea-4eef-9851-9bdbe8619e58" providerId="ADAL" clId="{98A04E70-9AFE-42B7-B8A2-B717E3F64435}" dt="2025-10-02T11:06:45.255" v="0" actId="47"/>
        <pc:sldMkLst>
          <pc:docMk/>
          <pc:sldMk cId="3862930301" sldId="2785"/>
        </pc:sldMkLst>
      </pc:sldChg>
      <pc:sldChg chg="del">
        <pc:chgData name="Adam Brown (Astrea Central)" userId="e4577f1c-a0ea-4eef-9851-9bdbe8619e58" providerId="ADAL" clId="{98A04E70-9AFE-42B7-B8A2-B717E3F64435}" dt="2025-10-02T11:06:45.255" v="0" actId="47"/>
        <pc:sldMkLst>
          <pc:docMk/>
          <pc:sldMk cId="1152998114" sldId="2786"/>
        </pc:sldMkLst>
      </pc:sldChg>
      <pc:sldChg chg="del">
        <pc:chgData name="Adam Brown (Astrea Central)" userId="e4577f1c-a0ea-4eef-9851-9bdbe8619e58" providerId="ADAL" clId="{98A04E70-9AFE-42B7-B8A2-B717E3F64435}" dt="2025-10-02T11:06:45.255" v="0" actId="47"/>
        <pc:sldMkLst>
          <pc:docMk/>
          <pc:sldMk cId="4030505016" sldId="2787"/>
        </pc:sldMkLst>
      </pc:sldChg>
      <pc:sldChg chg="del">
        <pc:chgData name="Adam Brown (Astrea Central)" userId="e4577f1c-a0ea-4eef-9851-9bdbe8619e58" providerId="ADAL" clId="{98A04E70-9AFE-42B7-B8A2-B717E3F64435}" dt="2025-10-02T11:06:45.255" v="0" actId="47"/>
        <pc:sldMkLst>
          <pc:docMk/>
          <pc:sldMk cId="793087224" sldId="2788"/>
        </pc:sldMkLst>
      </pc:sldChg>
      <pc:sldChg chg="del">
        <pc:chgData name="Adam Brown (Astrea Central)" userId="e4577f1c-a0ea-4eef-9851-9bdbe8619e58" providerId="ADAL" clId="{98A04E70-9AFE-42B7-B8A2-B717E3F64435}" dt="2025-10-02T11:06:45.255" v="0" actId="47"/>
        <pc:sldMkLst>
          <pc:docMk/>
          <pc:sldMk cId="24400507" sldId="2789"/>
        </pc:sldMkLst>
      </pc:sldChg>
      <pc:sldChg chg="del">
        <pc:chgData name="Adam Brown (Astrea Central)" userId="e4577f1c-a0ea-4eef-9851-9bdbe8619e58" providerId="ADAL" clId="{98A04E70-9AFE-42B7-B8A2-B717E3F64435}" dt="2025-10-02T11:06:45.255" v="0" actId="47"/>
        <pc:sldMkLst>
          <pc:docMk/>
          <pc:sldMk cId="3489747628" sldId="27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2B6A2F48-886E-9C4D-9A23-F79AB5041824}" type="datetimeFigureOut">
              <a:rPr lang="en-GB" smtClean="0"/>
              <a:t>02/10/2025</a:t>
            </a:fld>
            <a:endParaRPr lang="en-GB"/>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6C24A783-C653-C444-A1FE-7D3BC73388DB}" type="slidenum">
              <a:rPr lang="en-GB" smtClean="0"/>
              <a:t>‹#›</a:t>
            </a:fld>
            <a:endParaRPr lang="en-GB"/>
          </a:p>
        </p:txBody>
      </p:sp>
    </p:spTree>
    <p:extLst>
      <p:ext uri="{BB962C8B-B14F-4D97-AF65-F5344CB8AC3E}">
        <p14:creationId xmlns:p14="http://schemas.microsoft.com/office/powerpoint/2010/main" val="390172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7528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320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6804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5773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7575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7B3E3F01-C249-4630-8925-3FA8CA5D5124}"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576062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95D24F-25D0-4644-A4B7-679B0D92A27B}"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46462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12945C-0756-4826-BDE8-0D36F2293E24}"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3091128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0FA7D07-9EDF-4EAA-A2E9-53F69F56EAB8}"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1839719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27D1F21-94FA-4612-940D-140680A041D4}" type="datetime1">
              <a:rPr lang="en-GB" smtClean="0"/>
              <a:t>02/10/2025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1246205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60D50B-0179-45AB-B8BD-E845C2D492B8}" type="datetime1">
              <a:rPr lang="en-GB" smtClean="0"/>
              <a:t>02/10/2025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469753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7FE9EA-5761-4B75-9D0E-B2701F0B8FAB}" type="datetime1">
              <a:rPr lang="en-GB" smtClean="0"/>
              <a:t>02/10/2025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124629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A0451BA-61E4-4CA2-82F9-D917BA195972}"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249834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728B166B-48A3-42CC-B417-680258AF0255}"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060343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B4514A-CA9A-4483-95D0-EC2F9A739675}"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3055906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8A05CB-CDC6-426C-8DC1-99DBE1916FDA}"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270836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EAA1063-315D-4510-AA5C-A89F8FFE3FC8}" type="datetime1">
              <a:rPr lang="en-GB" smtClean="0"/>
              <a:t>02/10/2025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19F1D9CC-7119-45EC-A96C-D8C0660F3AAB}" type="slidenum">
              <a:rPr lang="en-GB" smtClean="0"/>
              <a:t>‹#›</a:t>
            </a:fld>
            <a:endParaRPr lang="en-GB"/>
          </a:p>
        </p:txBody>
      </p:sp>
    </p:spTree>
    <p:extLst>
      <p:ext uri="{BB962C8B-B14F-4D97-AF65-F5344CB8AC3E}">
        <p14:creationId xmlns:p14="http://schemas.microsoft.com/office/powerpoint/2010/main" val="27614010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10.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88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5" Type="http://schemas.openxmlformats.org/officeDocument/2006/relationships/image" Target="../media/image70.png"/></Relationships>
</file>

<file path=ppt/slides/_rels/slide12.xml.rels><?xml version="1.0" encoding="UTF-8" standalone="yes"?>
<Relationships xmlns="http://schemas.openxmlformats.org/package/2006/relationships"><Relationship Id="rId8" Type="http://schemas.openxmlformats.org/officeDocument/2006/relationships/image" Target="../media/image4870.png"/><Relationship Id="rId3" Type="http://schemas.openxmlformats.org/officeDocument/2006/relationships/image" Target="../media/image2.png"/><Relationship Id="rId7" Type="http://schemas.openxmlformats.org/officeDocument/2006/relationships/image" Target="../media/image486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850.png"/><Relationship Id="rId11" Type="http://schemas.openxmlformats.org/officeDocument/2006/relationships/image" Target="../media/image4900.png"/><Relationship Id="rId5" Type="http://schemas.openxmlformats.org/officeDocument/2006/relationships/image" Target="../media/image4840.png"/><Relationship Id="rId10" Type="http://schemas.openxmlformats.org/officeDocument/2006/relationships/image" Target="../media/image4890.png"/><Relationship Id="rId4" Type="http://schemas.openxmlformats.org/officeDocument/2006/relationships/image" Target="../media/image3.png"/><Relationship Id="rId9" Type="http://schemas.openxmlformats.org/officeDocument/2006/relationships/image" Target="../media/image488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ECBD35-2FA9-D94C-85CC-B269D46DFAF6}"/>
              </a:ext>
            </a:extLst>
          </p:cNvPr>
          <p:cNvSpPr/>
          <p:nvPr/>
        </p:nvSpPr>
        <p:spPr>
          <a:xfrm>
            <a:off x="0" y="0"/>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Subtopic 9 </a:t>
            </a:r>
            <a:r>
              <a:rPr lang="en-GB" dirty="0">
                <a:solidFill>
                  <a:prstClr val="white"/>
                </a:solidFill>
                <a:latin typeface="Calibri" panose="020F0502020204030204"/>
              </a:rPr>
              <a:t>(Crossover) </a:t>
            </a: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 Limits of accuracy</a:t>
            </a:r>
          </a:p>
        </p:txBody>
      </p:sp>
      <p:sp>
        <p:nvSpPr>
          <p:cNvPr id="4" name="Rectangle 3">
            <a:extLst>
              <a:ext uri="{FF2B5EF4-FFF2-40B4-BE49-F238E27FC236}">
                <a16:creationId xmlns:a16="http://schemas.microsoft.com/office/drawing/2014/main" id="{04BFD1EF-DBB4-2249-B998-BA5834451F7D}"/>
              </a:ext>
            </a:extLst>
          </p:cNvPr>
          <p:cNvSpPr/>
          <p:nvPr/>
        </p:nvSpPr>
        <p:spPr>
          <a:xfrm>
            <a:off x="72056" y="389733"/>
            <a:ext cx="6728829" cy="17811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40A63AA0-9785-7842-8746-181CA9DC5483}"/>
              </a:ext>
            </a:extLst>
          </p:cNvPr>
          <p:cNvSpPr txBox="1"/>
          <p:nvPr/>
        </p:nvSpPr>
        <p:spPr>
          <a:xfrm>
            <a:off x="149877" y="884722"/>
            <a:ext cx="114939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4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8D99EBB3-E635-9B48-A13A-F8FC9E5CF168}"/>
              </a:ext>
            </a:extLst>
          </p:cNvPr>
          <p:cNvSpPr txBox="1"/>
          <p:nvPr/>
        </p:nvSpPr>
        <p:spPr>
          <a:xfrm>
            <a:off x="540187" y="1105424"/>
            <a:ext cx="631781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1. To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find the error interval</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2. To find the limits of accuracy.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3. To answer worded questions on rounding. </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48C742E-559E-184B-B2D4-43B2F774DF10}"/>
              </a:ext>
            </a:extLst>
          </p:cNvPr>
          <p:cNvSpPr txBox="1"/>
          <p:nvPr/>
        </p:nvSpPr>
        <p:spPr>
          <a:xfrm>
            <a:off x="331188" y="392492"/>
            <a:ext cx="5879111" cy="461665"/>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 </a:t>
            </a:r>
            <a:r>
              <a:rPr kumimoji="0" lang="en-GB" sz="1200" i="0" u="none" strike="noStrike" kern="1200" cap="none" spc="0" normalizeH="0" baseline="0" noProof="0">
                <a:ln>
                  <a:noFill/>
                </a:ln>
                <a:solidFill>
                  <a:prstClr val="black"/>
                </a:solidFill>
                <a:effectLst/>
                <a:uLnTx/>
                <a:uFillTx/>
                <a:latin typeface="Calibri" panose="020F0502020204030204"/>
                <a:ea typeface="+mn-ea"/>
                <a:cs typeface="+mn-cs"/>
              </a:rPr>
              <a:t>To </a:t>
            </a: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find the error interval or limits of accuracy of numbers that have been rounded to different degrees of accuracy.</a:t>
            </a:r>
            <a:endParaRPr kumimoji="0" lang="en-GB" sz="120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F56BA6AD-76E4-264F-9E79-1A6D05899D87}"/>
              </a:ext>
            </a:extLst>
          </p:cNvPr>
          <p:cNvSpPr txBox="1"/>
          <p:nvPr/>
        </p:nvSpPr>
        <p:spPr>
          <a:xfrm>
            <a:off x="5213234" y="905369"/>
            <a:ext cx="1543050" cy="1046440"/>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0" normalizeH="0" baseline="0" noProof="0">
                <a:ln>
                  <a:noFill/>
                </a:ln>
                <a:solidFill>
                  <a:prstClr val="black"/>
                </a:solidFill>
                <a:effectLst/>
                <a:uLnTx/>
                <a:uFillTx/>
                <a:latin typeface="Calibri" panose="020F0502020204030204"/>
                <a:ea typeface="+mn-ea"/>
                <a:cs typeface="+mn-cs"/>
              </a:rPr>
              <a:t>Keywords:</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-Error interval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-Limits of accuracy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-Lower bound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-Upper bound</a:t>
            </a:r>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lide Number Placeholder 14"/>
          <p:cNvSpPr>
            <a:spLocks noGrp="1"/>
          </p:cNvSpPr>
          <p:nvPr>
            <p:ph type="sldNum" sz="quarter" idx="12"/>
          </p:nvPr>
        </p:nvSpPr>
        <p:spPr>
          <a:xfrm>
            <a:off x="5314950" y="9544975"/>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4661366C-5E76-D1A1-C8D7-EF7E07E20704}"/>
              </a:ext>
            </a:extLst>
          </p:cNvPr>
          <p:cNvCxnSpPr>
            <a:cxnSpLocks/>
          </p:cNvCxnSpPr>
          <p:nvPr/>
        </p:nvCxnSpPr>
        <p:spPr>
          <a:xfrm>
            <a:off x="926852" y="6968041"/>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0" name="Table 29">
            <a:extLst>
              <a:ext uri="{FF2B5EF4-FFF2-40B4-BE49-F238E27FC236}">
                <a16:creationId xmlns:a16="http://schemas.microsoft.com/office/drawing/2014/main" id="{7062E3B2-7288-1A64-BC90-8F2B41F99B58}"/>
              </a:ext>
            </a:extLst>
          </p:cNvPr>
          <p:cNvGraphicFramePr>
            <a:graphicFrameLocks noGrp="1"/>
          </p:cNvGraphicFramePr>
          <p:nvPr/>
        </p:nvGraphicFramePr>
        <p:xfrm>
          <a:off x="128593" y="5673287"/>
          <a:ext cx="6543680" cy="3026540"/>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373784">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n-lt"/>
                          <a:ea typeface="+mn-ea"/>
                          <a:cs typeface="+mn-cs"/>
                        </a:rPr>
                        <a:t>Work out the upper bound and lower bound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61558">
                <a:tc>
                  <a:txBody>
                    <a:bodyPr/>
                    <a:lstStyle/>
                    <a:p>
                      <a:pPr marL="0" indent="0">
                        <a:buNone/>
                      </a:pPr>
                      <a:r>
                        <a:rPr lang="en-US" sz="1100"/>
                        <a:t>1. Identify the degree of accuracy stated.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32 cm, measured to the nearest cm.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48</a:t>
                      </a:r>
                      <a:r>
                        <a:rPr kumimoji="0" lang="en-US" sz="1100" b="0" i="0" u="none" strike="noStrike" kern="1200" cap="none" spc="0" normalizeH="0" baseline="0" noProof="0">
                          <a:ln>
                            <a:noFill/>
                          </a:ln>
                          <a:solidFill>
                            <a:prstClr val="black"/>
                          </a:solidFill>
                          <a:effectLst/>
                          <a:uLnTx/>
                          <a:uFillTx/>
                          <a:latin typeface="+mn-lt"/>
                          <a:ea typeface="+mn-ea"/>
                          <a:cs typeface="+mn-cs"/>
                        </a:rPr>
                        <a:t> cm, measured to the nearest cm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75</a:t>
                      </a:r>
                      <a:r>
                        <a:rPr kumimoji="0" lang="en-US" sz="1100" b="0" i="0" u="none" strike="noStrike" kern="1200" cap="none" spc="0" normalizeH="0" baseline="0" noProof="0">
                          <a:ln>
                            <a:noFill/>
                          </a:ln>
                          <a:solidFill>
                            <a:prstClr val="black"/>
                          </a:solidFill>
                          <a:effectLst/>
                          <a:uLnTx/>
                          <a:uFillTx/>
                          <a:latin typeface="+mn-lt"/>
                          <a:ea typeface="+mn-ea"/>
                          <a:cs typeface="+mn-cs"/>
                        </a:rPr>
                        <a:t> cm, measured to the nearest cm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61558">
                <a:tc>
                  <a:txBody>
                    <a:bodyPr/>
                    <a:lstStyle/>
                    <a:p>
                      <a:pPr marL="0" indent="0">
                        <a:buNone/>
                      </a:pPr>
                      <a:r>
                        <a:rPr lang="en-US" sz="1100"/>
                        <a:t>2. For the lower bound, work out the lowest it could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861558">
                <a:tc>
                  <a:txBody>
                    <a:bodyPr/>
                    <a:lstStyle/>
                    <a:p>
                      <a:pPr marL="0" indent="0">
                        <a:buNone/>
                      </a:pPr>
                      <a:r>
                        <a:rPr lang="en-US" sz="1100"/>
                        <a:t>3. For the upper bound, work out the greatest it can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bl>
          </a:graphicData>
        </a:graphic>
      </p:graphicFrame>
      <p:sp>
        <p:nvSpPr>
          <p:cNvPr id="31" name="TextBox 30">
            <a:extLst>
              <a:ext uri="{FF2B5EF4-FFF2-40B4-BE49-F238E27FC236}">
                <a16:creationId xmlns:a16="http://schemas.microsoft.com/office/drawing/2014/main" id="{CD4162F8-118D-F31B-A47A-26B44AB624E0}"/>
              </a:ext>
            </a:extLst>
          </p:cNvPr>
          <p:cNvSpPr txBox="1"/>
          <p:nvPr/>
        </p:nvSpPr>
        <p:spPr>
          <a:xfrm>
            <a:off x="1461479" y="5354551"/>
            <a:ext cx="1410704" cy="276999"/>
          </a:xfrm>
          <a:prstGeom prst="rect">
            <a:avLst/>
          </a:prstGeom>
          <a:noFill/>
          <a:ln>
            <a:noFill/>
          </a:ln>
        </p:spPr>
        <p:txBody>
          <a:bodyPr wrap="square" rtlCol="0">
            <a:spAutoFit/>
          </a:bodyPr>
          <a:lstStyle/>
          <a:p>
            <a:r>
              <a:rPr lang="en-GB" sz="1200" b="1" i="1">
                <a:solidFill>
                  <a:srgbClr val="FF0000"/>
                </a:solidFill>
              </a:rPr>
              <a:t>Example 1 - I do…</a:t>
            </a:r>
          </a:p>
        </p:txBody>
      </p:sp>
      <p:sp>
        <p:nvSpPr>
          <p:cNvPr id="32" name="TextBox 31">
            <a:extLst>
              <a:ext uri="{FF2B5EF4-FFF2-40B4-BE49-F238E27FC236}">
                <a16:creationId xmlns:a16="http://schemas.microsoft.com/office/drawing/2014/main" id="{C8D538E4-D3D8-630C-4F13-6264D0C55FF7}"/>
              </a:ext>
            </a:extLst>
          </p:cNvPr>
          <p:cNvSpPr txBox="1"/>
          <p:nvPr/>
        </p:nvSpPr>
        <p:spPr>
          <a:xfrm>
            <a:off x="4880061" y="5349338"/>
            <a:ext cx="1643405" cy="276999"/>
          </a:xfrm>
          <a:prstGeom prst="rect">
            <a:avLst/>
          </a:prstGeom>
          <a:noFill/>
          <a:ln>
            <a:noFill/>
          </a:ln>
        </p:spPr>
        <p:txBody>
          <a:bodyPr wrap="square" rtlCol="0">
            <a:spAutoFit/>
          </a:bodyPr>
          <a:lstStyle/>
          <a:p>
            <a:r>
              <a:rPr lang="en-GB" sz="1200" b="1" i="1">
                <a:solidFill>
                  <a:srgbClr val="00B050"/>
                </a:solidFill>
              </a:rPr>
              <a:t>Example 3 – You do…</a:t>
            </a:r>
          </a:p>
        </p:txBody>
      </p:sp>
      <p:sp>
        <p:nvSpPr>
          <p:cNvPr id="33" name="TextBox 32">
            <a:extLst>
              <a:ext uri="{FF2B5EF4-FFF2-40B4-BE49-F238E27FC236}">
                <a16:creationId xmlns:a16="http://schemas.microsoft.com/office/drawing/2014/main" id="{3E9EB551-1898-4D89-0A56-C40E0137F514}"/>
              </a:ext>
            </a:extLst>
          </p:cNvPr>
          <p:cNvSpPr txBox="1"/>
          <p:nvPr/>
        </p:nvSpPr>
        <p:spPr>
          <a:xfrm>
            <a:off x="3092316" y="5354550"/>
            <a:ext cx="1667605" cy="276999"/>
          </a:xfrm>
          <a:prstGeom prst="rect">
            <a:avLst/>
          </a:prstGeom>
          <a:noFill/>
          <a:ln>
            <a:noFill/>
          </a:ln>
        </p:spPr>
        <p:txBody>
          <a:bodyPr wrap="square" rtlCol="0">
            <a:spAutoFit/>
          </a:bodyPr>
          <a:lstStyle/>
          <a:p>
            <a:r>
              <a:rPr lang="en-GB" sz="1200" b="1" i="1">
                <a:solidFill>
                  <a:schemeClr val="accent2"/>
                </a:solidFill>
              </a:rPr>
              <a:t>Example 2 - We do…</a:t>
            </a:r>
          </a:p>
        </p:txBody>
      </p:sp>
      <p:sp>
        <p:nvSpPr>
          <p:cNvPr id="34" name="Rectangle 33">
            <a:extLst>
              <a:ext uri="{FF2B5EF4-FFF2-40B4-BE49-F238E27FC236}">
                <a16:creationId xmlns:a16="http://schemas.microsoft.com/office/drawing/2014/main" id="{6BD38B25-573C-93F0-D6BF-AB4343382604}"/>
              </a:ext>
            </a:extLst>
          </p:cNvPr>
          <p:cNvSpPr/>
          <p:nvPr/>
        </p:nvSpPr>
        <p:spPr>
          <a:xfrm>
            <a:off x="1318113" y="758169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5" name="Rectangle 34">
            <a:extLst>
              <a:ext uri="{FF2B5EF4-FFF2-40B4-BE49-F238E27FC236}">
                <a16:creationId xmlns:a16="http://schemas.microsoft.com/office/drawing/2014/main" id="{E7900387-5E67-7044-F92E-0FA0FF1CA239}"/>
              </a:ext>
            </a:extLst>
          </p:cNvPr>
          <p:cNvSpPr/>
          <p:nvPr/>
        </p:nvSpPr>
        <p:spPr>
          <a:xfrm>
            <a:off x="1318113" y="817742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7" name="Rectangle 36">
            <a:extLst>
              <a:ext uri="{FF2B5EF4-FFF2-40B4-BE49-F238E27FC236}">
                <a16:creationId xmlns:a16="http://schemas.microsoft.com/office/drawing/2014/main" id="{F9A4F6CB-B516-3D4A-7747-1113A3465773}"/>
              </a:ext>
            </a:extLst>
          </p:cNvPr>
          <p:cNvSpPr/>
          <p:nvPr/>
        </p:nvSpPr>
        <p:spPr>
          <a:xfrm>
            <a:off x="3092316" y="8135085"/>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8" name="Rectangle 37">
            <a:extLst>
              <a:ext uri="{FF2B5EF4-FFF2-40B4-BE49-F238E27FC236}">
                <a16:creationId xmlns:a16="http://schemas.microsoft.com/office/drawing/2014/main" id="{2B5FEBA2-1149-DFB9-B000-D29017C5FEBC}"/>
              </a:ext>
            </a:extLst>
          </p:cNvPr>
          <p:cNvSpPr/>
          <p:nvPr/>
        </p:nvSpPr>
        <p:spPr>
          <a:xfrm>
            <a:off x="3092316" y="759230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9" name="Rectangle 38">
            <a:extLst>
              <a:ext uri="{FF2B5EF4-FFF2-40B4-BE49-F238E27FC236}">
                <a16:creationId xmlns:a16="http://schemas.microsoft.com/office/drawing/2014/main" id="{36EBA755-0E68-8B6F-4508-4235DF0F9292}"/>
              </a:ext>
            </a:extLst>
          </p:cNvPr>
          <p:cNvSpPr/>
          <p:nvPr/>
        </p:nvSpPr>
        <p:spPr>
          <a:xfrm>
            <a:off x="4866519" y="760052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1" name="Rectangle 40">
            <a:extLst>
              <a:ext uri="{FF2B5EF4-FFF2-40B4-BE49-F238E27FC236}">
                <a16:creationId xmlns:a16="http://schemas.microsoft.com/office/drawing/2014/main" id="{002CD46E-96A1-DA9F-FB9B-EAA42EBF7247}"/>
              </a:ext>
            </a:extLst>
          </p:cNvPr>
          <p:cNvSpPr/>
          <p:nvPr/>
        </p:nvSpPr>
        <p:spPr>
          <a:xfrm>
            <a:off x="4880061" y="8112995"/>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3" name="Rectangle 42">
            <a:extLst>
              <a:ext uri="{FF2B5EF4-FFF2-40B4-BE49-F238E27FC236}">
                <a16:creationId xmlns:a16="http://schemas.microsoft.com/office/drawing/2014/main" id="{D7F31251-FFA8-2FC5-0E6E-424386828DAA}"/>
              </a:ext>
            </a:extLst>
          </p:cNvPr>
          <p:cNvSpPr/>
          <p:nvPr/>
        </p:nvSpPr>
        <p:spPr>
          <a:xfrm>
            <a:off x="109747" y="5118690"/>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Upper and lower bounds.</a:t>
            </a:r>
            <a:endParaRPr lang="en-GB" sz="1200">
              <a:solidFill>
                <a:schemeClr val="bg1"/>
              </a:solidFill>
            </a:endParaRPr>
          </a:p>
        </p:txBody>
      </p:sp>
      <p:grpSp>
        <p:nvGrpSpPr>
          <p:cNvPr id="25" name="Group 24">
            <a:extLst>
              <a:ext uri="{FF2B5EF4-FFF2-40B4-BE49-F238E27FC236}">
                <a16:creationId xmlns:a16="http://schemas.microsoft.com/office/drawing/2014/main" id="{468185DD-6A5D-81A3-8148-4BFC174F1C60}"/>
              </a:ext>
            </a:extLst>
          </p:cNvPr>
          <p:cNvGrpSpPr/>
          <p:nvPr/>
        </p:nvGrpSpPr>
        <p:grpSpPr>
          <a:xfrm>
            <a:off x="90204" y="2239876"/>
            <a:ext cx="6713942" cy="2688400"/>
            <a:chOff x="79390" y="1883086"/>
            <a:chExt cx="6713942" cy="2688400"/>
          </a:xfrm>
        </p:grpSpPr>
        <p:cxnSp>
          <p:nvCxnSpPr>
            <p:cNvPr id="26" name="Straight Connector 25">
              <a:extLst>
                <a:ext uri="{FF2B5EF4-FFF2-40B4-BE49-F238E27FC236}">
                  <a16:creationId xmlns:a16="http://schemas.microsoft.com/office/drawing/2014/main" id="{2E387707-AC26-F9FE-017A-28725C1D9982}"/>
                </a:ext>
              </a:extLst>
            </p:cNvPr>
            <p:cNvCxnSpPr/>
            <p:nvPr/>
          </p:nvCxnSpPr>
          <p:spPr>
            <a:xfrm flipV="1">
              <a:off x="934071" y="384606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73928E6-0C43-801E-4C7C-8BDFAEC52E00}"/>
                </a:ext>
              </a:extLst>
            </p:cNvPr>
            <p:cNvSpPr/>
            <p:nvPr/>
          </p:nvSpPr>
          <p:spPr>
            <a:xfrm>
              <a:off x="79390" y="1915472"/>
              <a:ext cx="6699219" cy="26560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Connector 27">
              <a:extLst>
                <a:ext uri="{FF2B5EF4-FFF2-40B4-BE49-F238E27FC236}">
                  <a16:creationId xmlns:a16="http://schemas.microsoft.com/office/drawing/2014/main" id="{81648B85-270B-F4CD-96B7-0FF847ED5E1A}"/>
                </a:ext>
              </a:extLst>
            </p:cNvPr>
            <p:cNvCxnSpPr>
              <a:cxnSpLocks/>
              <a:stCxn id="27" idx="1"/>
              <a:endCxn id="27" idx="3"/>
            </p:cNvCxnSpPr>
            <p:nvPr/>
          </p:nvCxnSpPr>
          <p:spPr>
            <a:xfrm>
              <a:off x="79390" y="3243479"/>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152CDDAC-5398-4529-F860-D4B332B924E1}"/>
                </a:ext>
              </a:extLst>
            </p:cNvPr>
            <p:cNvCxnSpPr>
              <a:cxnSpLocks/>
              <a:stCxn id="27" idx="2"/>
              <a:endCxn id="27" idx="0"/>
            </p:cNvCxnSpPr>
            <p:nvPr/>
          </p:nvCxnSpPr>
          <p:spPr>
            <a:xfrm flipV="1">
              <a:off x="3429000" y="1915472"/>
              <a:ext cx="0" cy="2656014"/>
            </a:xfrm>
            <a:prstGeom prst="line">
              <a:avLst/>
            </a:prstGeom>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C7C41575-51B5-FDF8-9259-1DE5AB456746}"/>
                </a:ext>
              </a:extLst>
            </p:cNvPr>
            <p:cNvSpPr txBox="1"/>
            <p:nvPr/>
          </p:nvSpPr>
          <p:spPr>
            <a:xfrm>
              <a:off x="97145" y="1915472"/>
              <a:ext cx="824713" cy="461665"/>
            </a:xfrm>
            <a:prstGeom prst="rect">
              <a:avLst/>
            </a:prstGeom>
            <a:noFill/>
          </p:spPr>
          <p:txBody>
            <a:bodyPr wrap="none" rtlCol="0">
              <a:spAutoFit/>
            </a:bodyPr>
            <a:lstStyle/>
            <a:p>
              <a:r>
                <a:rPr lang="en-US" sz="1200" b="1"/>
                <a:t>Definition</a:t>
              </a:r>
            </a:p>
            <a:p>
              <a:endParaRPr lang="en-US" sz="1200"/>
            </a:p>
          </p:txBody>
        </p:sp>
        <p:sp>
          <p:nvSpPr>
            <p:cNvPr id="42" name="TextBox 41">
              <a:extLst>
                <a:ext uri="{FF2B5EF4-FFF2-40B4-BE49-F238E27FC236}">
                  <a16:creationId xmlns:a16="http://schemas.microsoft.com/office/drawing/2014/main" id="{6C6C9F1F-025B-2926-BE00-C9A80E456E27}"/>
                </a:ext>
              </a:extLst>
            </p:cNvPr>
            <p:cNvSpPr txBox="1"/>
            <p:nvPr/>
          </p:nvSpPr>
          <p:spPr>
            <a:xfrm>
              <a:off x="5621196" y="1883086"/>
              <a:ext cx="1112228" cy="276999"/>
            </a:xfrm>
            <a:prstGeom prst="rect">
              <a:avLst/>
            </a:prstGeom>
            <a:noFill/>
          </p:spPr>
          <p:txBody>
            <a:bodyPr wrap="none" rtlCol="0">
              <a:spAutoFit/>
            </a:bodyPr>
            <a:lstStyle/>
            <a:p>
              <a:r>
                <a:rPr lang="en-US" sz="1200" b="1"/>
                <a:t>Characteristics</a:t>
              </a:r>
              <a:endParaRPr lang="en-GB" sz="1200" b="1"/>
            </a:p>
          </p:txBody>
        </p:sp>
        <p:sp>
          <p:nvSpPr>
            <p:cNvPr id="44" name="TextBox 43">
              <a:extLst>
                <a:ext uri="{FF2B5EF4-FFF2-40B4-BE49-F238E27FC236}">
                  <a16:creationId xmlns:a16="http://schemas.microsoft.com/office/drawing/2014/main" id="{2CCD1585-0BD5-3ECB-5CE9-C3756E796475}"/>
                </a:ext>
              </a:extLst>
            </p:cNvPr>
            <p:cNvSpPr txBox="1"/>
            <p:nvPr/>
          </p:nvSpPr>
          <p:spPr>
            <a:xfrm>
              <a:off x="112604" y="3220614"/>
              <a:ext cx="788164" cy="276999"/>
            </a:xfrm>
            <a:prstGeom prst="rect">
              <a:avLst/>
            </a:prstGeom>
            <a:noFill/>
          </p:spPr>
          <p:txBody>
            <a:bodyPr wrap="none" rtlCol="0">
              <a:spAutoFit/>
            </a:bodyPr>
            <a:lstStyle/>
            <a:p>
              <a:r>
                <a:rPr lang="en-US" sz="1200" b="1"/>
                <a:t>Examples</a:t>
              </a:r>
              <a:endParaRPr lang="en-GB" sz="1200" b="1"/>
            </a:p>
          </p:txBody>
        </p:sp>
        <p:sp>
          <p:nvSpPr>
            <p:cNvPr id="45" name="TextBox 44">
              <a:extLst>
                <a:ext uri="{FF2B5EF4-FFF2-40B4-BE49-F238E27FC236}">
                  <a16:creationId xmlns:a16="http://schemas.microsoft.com/office/drawing/2014/main" id="{282F4445-D1DD-30BD-B35B-60014A3CF62B}"/>
                </a:ext>
              </a:extLst>
            </p:cNvPr>
            <p:cNvSpPr txBox="1"/>
            <p:nvPr/>
          </p:nvSpPr>
          <p:spPr>
            <a:xfrm>
              <a:off x="5620447" y="3220615"/>
              <a:ext cx="1172885" cy="276999"/>
            </a:xfrm>
            <a:prstGeom prst="rect">
              <a:avLst/>
            </a:prstGeom>
            <a:noFill/>
          </p:spPr>
          <p:txBody>
            <a:bodyPr wrap="none" rtlCol="0">
              <a:spAutoFit/>
            </a:bodyPr>
            <a:lstStyle/>
            <a:p>
              <a:r>
                <a:rPr lang="en-US" sz="1200" b="1"/>
                <a:t>Non - Examples</a:t>
              </a:r>
              <a:endParaRPr lang="en-GB" sz="1200" b="1"/>
            </a:p>
          </p:txBody>
        </p:sp>
        <p:sp>
          <p:nvSpPr>
            <p:cNvPr id="46" name="TextBox 45">
              <a:extLst>
                <a:ext uri="{FF2B5EF4-FFF2-40B4-BE49-F238E27FC236}">
                  <a16:creationId xmlns:a16="http://schemas.microsoft.com/office/drawing/2014/main" id="{9BC3BA53-0753-31D0-BEB5-ADE6880A4218}"/>
                </a:ext>
              </a:extLst>
            </p:cNvPr>
            <p:cNvSpPr txBox="1"/>
            <p:nvPr/>
          </p:nvSpPr>
          <p:spPr>
            <a:xfrm>
              <a:off x="209445" y="2307385"/>
              <a:ext cx="3230335" cy="646331"/>
            </a:xfrm>
            <a:prstGeom prst="rect">
              <a:avLst/>
            </a:prstGeom>
            <a:noFill/>
          </p:spPr>
          <p:txBody>
            <a:bodyPr wrap="square" rtlCol="0">
              <a:spAutoFit/>
            </a:bodyPr>
            <a:lstStyle/>
            <a:p>
              <a:pPr algn="l"/>
              <a:r>
                <a:rPr lang="en-GB" sz="1200" b="0" i="0">
                  <a:solidFill>
                    <a:srgbClr val="0D0D0D"/>
                  </a:solidFill>
                  <a:effectLst/>
                  <a:latin typeface="ui-sans-serif"/>
                </a:rPr>
                <a:t>Values that define the upper and lower limits of a number or function, especially in rounding or error intervals.</a:t>
              </a:r>
            </a:p>
          </p:txBody>
        </p:sp>
        <p:sp>
          <p:nvSpPr>
            <p:cNvPr id="47" name="TextBox 46">
              <a:extLst>
                <a:ext uri="{FF2B5EF4-FFF2-40B4-BE49-F238E27FC236}">
                  <a16:creationId xmlns:a16="http://schemas.microsoft.com/office/drawing/2014/main" id="{DE73F931-C506-36A2-F88C-1969A1D5C553}"/>
                </a:ext>
              </a:extLst>
            </p:cNvPr>
            <p:cNvSpPr txBox="1"/>
            <p:nvPr/>
          </p:nvSpPr>
          <p:spPr>
            <a:xfrm>
              <a:off x="3494027" y="2068306"/>
              <a:ext cx="3230335" cy="830997"/>
            </a:xfrm>
            <a:prstGeom prst="rect">
              <a:avLst/>
            </a:prstGeom>
            <a:noFill/>
          </p:spPr>
          <p:txBody>
            <a:bodyPr wrap="square" rtlCol="0">
              <a:spAutoFit/>
            </a:bodyPr>
            <a:lstStyle/>
            <a:p>
              <a:pPr algn="l">
                <a:buFont typeface="Arial" panose="020B0604020202020204" pitchFamily="34" charset="0"/>
                <a:buChar char="•"/>
              </a:pPr>
              <a:r>
                <a:rPr lang="en-GB" sz="1200" b="1" i="0">
                  <a:solidFill>
                    <a:srgbClr val="0D0D0D"/>
                  </a:solidFill>
                  <a:effectLst/>
                </a:rPr>
                <a:t>Upper Bound</a:t>
              </a:r>
              <a:r>
                <a:rPr lang="en-GB" sz="1200" b="0" i="0">
                  <a:solidFill>
                    <a:srgbClr val="0D0D0D"/>
                  </a:solidFill>
                  <a:effectLst/>
                </a:rPr>
                <a:t>: The maximum value a number or measurement can be.</a:t>
              </a:r>
            </a:p>
            <a:p>
              <a:pPr algn="l">
                <a:buFont typeface="Arial" panose="020B0604020202020204" pitchFamily="34" charset="0"/>
                <a:buChar char="•"/>
              </a:pPr>
              <a:r>
                <a:rPr lang="en-GB" sz="1200" b="1" i="0">
                  <a:solidFill>
                    <a:srgbClr val="0D0D0D"/>
                  </a:solidFill>
                  <a:effectLst/>
                </a:rPr>
                <a:t>Lower Bound</a:t>
              </a:r>
              <a:r>
                <a:rPr lang="en-GB" sz="1200" b="0" i="0">
                  <a:solidFill>
                    <a:srgbClr val="0D0D0D"/>
                  </a:solidFill>
                  <a:effectLst/>
                </a:rPr>
                <a:t>: The minimum value a number or measurement can be.</a:t>
              </a:r>
            </a:p>
          </p:txBody>
        </p:sp>
        <p:sp>
          <p:nvSpPr>
            <p:cNvPr id="48" name="TextBox 47">
              <a:extLst>
                <a:ext uri="{FF2B5EF4-FFF2-40B4-BE49-F238E27FC236}">
                  <a16:creationId xmlns:a16="http://schemas.microsoft.com/office/drawing/2014/main" id="{6CB83044-8C81-E9E5-06F5-735B0C013742}"/>
                </a:ext>
              </a:extLst>
            </p:cNvPr>
            <p:cNvSpPr txBox="1"/>
            <p:nvPr/>
          </p:nvSpPr>
          <p:spPr>
            <a:xfrm>
              <a:off x="2998667" y="2959114"/>
              <a:ext cx="886781" cy="369332"/>
            </a:xfrm>
            <a:prstGeom prst="rect">
              <a:avLst/>
            </a:prstGeom>
            <a:solidFill>
              <a:schemeClr val="bg1"/>
            </a:solidFill>
            <a:ln>
              <a:solidFill>
                <a:schemeClr val="tx1"/>
              </a:solidFill>
            </a:ln>
          </p:spPr>
          <p:txBody>
            <a:bodyPr wrap="none" rtlCol="0">
              <a:spAutoFit/>
            </a:bodyPr>
            <a:lstStyle/>
            <a:p>
              <a:r>
                <a:rPr lang="en-US"/>
                <a:t>Bounds</a:t>
              </a:r>
              <a:endParaRPr lang="en-GB"/>
            </a:p>
          </p:txBody>
        </p:sp>
        <p:sp>
          <p:nvSpPr>
            <p:cNvPr id="66" name="TextBox 65">
              <a:extLst>
                <a:ext uri="{FF2B5EF4-FFF2-40B4-BE49-F238E27FC236}">
                  <a16:creationId xmlns:a16="http://schemas.microsoft.com/office/drawing/2014/main" id="{DD54FCF6-7EFF-C7C3-0385-72FEE4067F51}"/>
                </a:ext>
              </a:extLst>
            </p:cNvPr>
            <p:cNvSpPr txBox="1"/>
            <p:nvPr/>
          </p:nvSpPr>
          <p:spPr>
            <a:xfrm>
              <a:off x="152000" y="3527845"/>
              <a:ext cx="3230335" cy="461665"/>
            </a:xfrm>
            <a:prstGeom prst="rect">
              <a:avLst/>
            </a:prstGeom>
            <a:noFill/>
          </p:spPr>
          <p:txBody>
            <a:bodyPr wrap="square" rtlCol="0">
              <a:spAutoFit/>
            </a:bodyPr>
            <a:lstStyle/>
            <a:p>
              <a:pPr algn="l"/>
              <a:r>
                <a:rPr lang="en-GB" sz="1200">
                  <a:solidFill>
                    <a:srgbClr val="0D0D0D"/>
                  </a:solidFill>
                  <a:latin typeface="ui-sans-serif"/>
                </a:rPr>
                <a:t>When 15 is rounded to the nearest integer, the lower bound is 14.5 and the upper bound is 15.5</a:t>
              </a:r>
              <a:endParaRPr lang="en-GB" sz="1200" b="0" i="0">
                <a:solidFill>
                  <a:srgbClr val="0D0D0D"/>
                </a:solidFill>
                <a:effectLst/>
                <a:latin typeface="ui-sans-serif"/>
              </a:endParaRPr>
            </a:p>
          </p:txBody>
        </p:sp>
        <p:sp>
          <p:nvSpPr>
            <p:cNvPr id="67" name="TextBox 66">
              <a:extLst>
                <a:ext uri="{FF2B5EF4-FFF2-40B4-BE49-F238E27FC236}">
                  <a16:creationId xmlns:a16="http://schemas.microsoft.com/office/drawing/2014/main" id="{F0F5F2E5-9F73-E4D0-FD4C-29228BFFAC0E}"/>
                </a:ext>
              </a:extLst>
            </p:cNvPr>
            <p:cNvSpPr txBox="1"/>
            <p:nvPr/>
          </p:nvSpPr>
          <p:spPr>
            <a:xfrm>
              <a:off x="3475666" y="3539279"/>
              <a:ext cx="3230335" cy="461665"/>
            </a:xfrm>
            <a:prstGeom prst="rect">
              <a:avLst/>
            </a:prstGeom>
            <a:noFill/>
          </p:spPr>
          <p:txBody>
            <a:bodyPr wrap="square" rtlCol="0">
              <a:spAutoFit/>
            </a:bodyPr>
            <a:lstStyle/>
            <a:p>
              <a:pPr algn="l"/>
              <a:r>
                <a:rPr lang="en-GB" sz="1200">
                  <a:solidFill>
                    <a:srgbClr val="0D0D0D"/>
                  </a:solidFill>
                  <a:latin typeface="ui-sans-serif"/>
                </a:rPr>
                <a:t>When 15 is rounded to the nearest integer, the lower bound is 14 and the upper bound is 15.4</a:t>
              </a:r>
              <a:endParaRPr lang="en-GB" sz="1200" b="0" i="0">
                <a:solidFill>
                  <a:srgbClr val="0D0D0D"/>
                </a:solidFill>
                <a:effectLst/>
                <a:latin typeface="ui-sans-serif"/>
              </a:endParaRPr>
            </a:p>
          </p:txBody>
        </p:sp>
      </p:grpSp>
    </p:spTree>
    <p:extLst>
      <p:ext uri="{BB962C8B-B14F-4D97-AF65-F5344CB8AC3E}">
        <p14:creationId xmlns:p14="http://schemas.microsoft.com/office/powerpoint/2010/main" val="1226461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14">
            <a:extLst>
              <a:ext uri="{FF2B5EF4-FFF2-40B4-BE49-F238E27FC236}">
                <a16:creationId xmlns:a16="http://schemas.microsoft.com/office/drawing/2014/main" id="{A722BB9B-CDBC-5AE2-8035-D007E7AEE474}"/>
              </a:ext>
            </a:extLst>
          </p:cNvPr>
          <p:cNvSpPr>
            <a:spLocks noGrp="1"/>
          </p:cNvSpPr>
          <p:nvPr>
            <p:ph type="sldNum" sz="quarter" idx="12"/>
          </p:nvPr>
        </p:nvSpPr>
        <p:spPr>
          <a:xfrm>
            <a:off x="5314950" y="9544975"/>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46" name="Straight Connector 45">
            <a:extLst>
              <a:ext uri="{FF2B5EF4-FFF2-40B4-BE49-F238E27FC236}">
                <a16:creationId xmlns:a16="http://schemas.microsoft.com/office/drawing/2014/main" id="{485EC723-2F35-DB3A-28B0-07355D22D079}"/>
              </a:ext>
            </a:extLst>
          </p:cNvPr>
          <p:cNvCxnSpPr>
            <a:cxnSpLocks/>
          </p:cNvCxnSpPr>
          <p:nvPr/>
        </p:nvCxnSpPr>
        <p:spPr>
          <a:xfrm>
            <a:off x="955419" y="1618703"/>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47" name="Table 46">
            <a:extLst>
              <a:ext uri="{FF2B5EF4-FFF2-40B4-BE49-F238E27FC236}">
                <a16:creationId xmlns:a16="http://schemas.microsoft.com/office/drawing/2014/main" id="{E05A2E01-A472-D92D-D530-0E7DF04DD9A2}"/>
              </a:ext>
            </a:extLst>
          </p:cNvPr>
          <p:cNvGraphicFramePr>
            <a:graphicFrameLocks noGrp="1"/>
          </p:cNvGraphicFramePr>
          <p:nvPr/>
        </p:nvGraphicFramePr>
        <p:xfrm>
          <a:off x="157160" y="323949"/>
          <a:ext cx="6543680" cy="3026540"/>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373784">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n-lt"/>
                          <a:ea typeface="+mn-ea"/>
                          <a:cs typeface="+mn-cs"/>
                        </a:rPr>
                        <a:t>Work out the upper bound and lower bound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61558">
                <a:tc>
                  <a:txBody>
                    <a:bodyPr/>
                    <a:lstStyle/>
                    <a:p>
                      <a:pPr marL="0" indent="0">
                        <a:buNone/>
                      </a:pPr>
                      <a:r>
                        <a:rPr lang="en-US" sz="1100"/>
                        <a:t>1. Identify the degree of accuracy stated.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3000, rounded to the nearest </a:t>
                      </a:r>
                      <a:r>
                        <a:rPr kumimoji="0" lang="en-US" sz="1100" b="1" i="0" u="none" strike="noStrike" kern="1200" cap="none" spc="0" normalizeH="0" baseline="0" noProof="0">
                          <a:ln>
                            <a:noFill/>
                          </a:ln>
                          <a:solidFill>
                            <a:prstClr val="black"/>
                          </a:solidFill>
                          <a:effectLst/>
                          <a:uLnTx/>
                          <a:uFillTx/>
                          <a:latin typeface="+mn-lt"/>
                          <a:ea typeface="+mn-ea"/>
                          <a:cs typeface="+mn-cs"/>
                        </a:rPr>
                        <a:t>thousand</a:t>
                      </a:r>
                      <a:r>
                        <a:rPr kumimoji="0" lang="en-US" sz="1100" b="0" i="0" u="none" strike="noStrike" kern="1200" cap="none" spc="0" normalizeH="0" baseline="0" noProof="0">
                          <a:ln>
                            <a:noFill/>
                          </a:ln>
                          <a:solidFill>
                            <a:prstClr val="black"/>
                          </a:solidFill>
                          <a:effectLst/>
                          <a:uLnTx/>
                          <a:uFillTx/>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2000, rounded to the nearest </a:t>
                      </a:r>
                      <a:r>
                        <a:rPr lang="en-US" sz="1100" b="1">
                          <a:solidFill>
                            <a:prstClr val="black"/>
                          </a:solidFill>
                          <a:latin typeface="+mn-lt"/>
                        </a:rPr>
                        <a:t>hundred</a:t>
                      </a:r>
                      <a:r>
                        <a:rPr lang="en-US" sz="1100">
                          <a:solidFill>
                            <a:prstClr val="black"/>
                          </a:solidFill>
                          <a:latin typeface="+mn-lt"/>
                        </a:rPr>
                        <a:t>.</a:t>
                      </a: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8000, rounded to the nearest </a:t>
                      </a:r>
                      <a:r>
                        <a:rPr lang="en-US" sz="1100" b="1">
                          <a:solidFill>
                            <a:prstClr val="black"/>
                          </a:solidFill>
                          <a:latin typeface="+mn-lt"/>
                        </a:rPr>
                        <a:t>thousand</a:t>
                      </a:r>
                      <a:r>
                        <a:rPr lang="en-US" sz="1100">
                          <a:solidFill>
                            <a:prstClr val="black"/>
                          </a:solidFill>
                          <a:latin typeface="+mn-lt"/>
                        </a:rPr>
                        <a:t>.</a:t>
                      </a: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61558">
                <a:tc>
                  <a:txBody>
                    <a:bodyPr/>
                    <a:lstStyle/>
                    <a:p>
                      <a:pPr marL="0" indent="0">
                        <a:buNone/>
                      </a:pPr>
                      <a:r>
                        <a:rPr lang="en-US" sz="1100"/>
                        <a:t>2. For the lower bound, work out the lowest it could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861558">
                <a:tc>
                  <a:txBody>
                    <a:bodyPr/>
                    <a:lstStyle/>
                    <a:p>
                      <a:pPr marL="0" indent="0">
                        <a:buNone/>
                      </a:pPr>
                      <a:r>
                        <a:rPr lang="en-US" sz="1100"/>
                        <a:t>3. For the upper bound, work out the greatest it can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bl>
          </a:graphicData>
        </a:graphic>
      </p:graphicFrame>
      <p:sp>
        <p:nvSpPr>
          <p:cNvPr id="48" name="TextBox 47">
            <a:extLst>
              <a:ext uri="{FF2B5EF4-FFF2-40B4-BE49-F238E27FC236}">
                <a16:creationId xmlns:a16="http://schemas.microsoft.com/office/drawing/2014/main" id="{8563DD69-A81F-8A5B-0F37-50D0F42F39FA}"/>
              </a:ext>
            </a:extLst>
          </p:cNvPr>
          <p:cNvSpPr txBox="1"/>
          <p:nvPr/>
        </p:nvSpPr>
        <p:spPr>
          <a:xfrm>
            <a:off x="1490046" y="5213"/>
            <a:ext cx="1410704" cy="276999"/>
          </a:xfrm>
          <a:prstGeom prst="rect">
            <a:avLst/>
          </a:prstGeom>
          <a:noFill/>
          <a:ln>
            <a:noFill/>
          </a:ln>
        </p:spPr>
        <p:txBody>
          <a:bodyPr wrap="square" rtlCol="0">
            <a:spAutoFit/>
          </a:bodyPr>
          <a:lstStyle/>
          <a:p>
            <a:r>
              <a:rPr lang="en-GB" sz="1200" b="1" i="1">
                <a:solidFill>
                  <a:srgbClr val="FF0000"/>
                </a:solidFill>
              </a:rPr>
              <a:t>Example 4 - I do…</a:t>
            </a:r>
          </a:p>
        </p:txBody>
      </p:sp>
      <p:sp>
        <p:nvSpPr>
          <p:cNvPr id="49" name="TextBox 48">
            <a:extLst>
              <a:ext uri="{FF2B5EF4-FFF2-40B4-BE49-F238E27FC236}">
                <a16:creationId xmlns:a16="http://schemas.microsoft.com/office/drawing/2014/main" id="{1957F648-F86A-3C40-249F-42D6A30F7A7E}"/>
              </a:ext>
            </a:extLst>
          </p:cNvPr>
          <p:cNvSpPr txBox="1"/>
          <p:nvPr/>
        </p:nvSpPr>
        <p:spPr>
          <a:xfrm>
            <a:off x="4908628" y="0"/>
            <a:ext cx="1643405" cy="276999"/>
          </a:xfrm>
          <a:prstGeom prst="rect">
            <a:avLst/>
          </a:prstGeom>
          <a:noFill/>
          <a:ln>
            <a:noFill/>
          </a:ln>
        </p:spPr>
        <p:txBody>
          <a:bodyPr wrap="square" rtlCol="0">
            <a:spAutoFit/>
          </a:bodyPr>
          <a:lstStyle/>
          <a:p>
            <a:r>
              <a:rPr lang="en-GB" sz="1200" b="1" i="1">
                <a:solidFill>
                  <a:srgbClr val="00B050"/>
                </a:solidFill>
              </a:rPr>
              <a:t>Example 6 – You do…</a:t>
            </a:r>
          </a:p>
        </p:txBody>
      </p:sp>
      <p:sp>
        <p:nvSpPr>
          <p:cNvPr id="50" name="TextBox 49">
            <a:extLst>
              <a:ext uri="{FF2B5EF4-FFF2-40B4-BE49-F238E27FC236}">
                <a16:creationId xmlns:a16="http://schemas.microsoft.com/office/drawing/2014/main" id="{FF7150CE-1D4B-3C10-66FD-0354907B46CE}"/>
              </a:ext>
            </a:extLst>
          </p:cNvPr>
          <p:cNvSpPr txBox="1"/>
          <p:nvPr/>
        </p:nvSpPr>
        <p:spPr>
          <a:xfrm>
            <a:off x="3120883" y="5212"/>
            <a:ext cx="1667605" cy="276999"/>
          </a:xfrm>
          <a:prstGeom prst="rect">
            <a:avLst/>
          </a:prstGeom>
          <a:noFill/>
          <a:ln>
            <a:noFill/>
          </a:ln>
        </p:spPr>
        <p:txBody>
          <a:bodyPr wrap="square" rtlCol="0">
            <a:spAutoFit/>
          </a:bodyPr>
          <a:lstStyle/>
          <a:p>
            <a:r>
              <a:rPr lang="en-GB" sz="1200" b="1" i="1">
                <a:solidFill>
                  <a:schemeClr val="accent2"/>
                </a:solidFill>
              </a:rPr>
              <a:t>Example 5 - We do…</a:t>
            </a:r>
          </a:p>
        </p:txBody>
      </p:sp>
      <p:sp>
        <p:nvSpPr>
          <p:cNvPr id="51" name="Rectangle 50">
            <a:extLst>
              <a:ext uri="{FF2B5EF4-FFF2-40B4-BE49-F238E27FC236}">
                <a16:creationId xmlns:a16="http://schemas.microsoft.com/office/drawing/2014/main" id="{73837370-5CE6-D73D-FA65-A2EA362BF152}"/>
              </a:ext>
            </a:extLst>
          </p:cNvPr>
          <p:cNvSpPr/>
          <p:nvPr/>
        </p:nvSpPr>
        <p:spPr>
          <a:xfrm>
            <a:off x="1346680" y="223236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2" name="Rectangle 51">
            <a:extLst>
              <a:ext uri="{FF2B5EF4-FFF2-40B4-BE49-F238E27FC236}">
                <a16:creationId xmlns:a16="http://schemas.microsoft.com/office/drawing/2014/main" id="{4D79A839-9C67-23B4-298B-A41E0DBD3FA6}"/>
              </a:ext>
            </a:extLst>
          </p:cNvPr>
          <p:cNvSpPr/>
          <p:nvPr/>
        </p:nvSpPr>
        <p:spPr>
          <a:xfrm>
            <a:off x="1346680" y="282809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3" name="Rectangle 52">
            <a:extLst>
              <a:ext uri="{FF2B5EF4-FFF2-40B4-BE49-F238E27FC236}">
                <a16:creationId xmlns:a16="http://schemas.microsoft.com/office/drawing/2014/main" id="{4697993D-158E-928C-366E-F52E80C6BA3D}"/>
              </a:ext>
            </a:extLst>
          </p:cNvPr>
          <p:cNvSpPr/>
          <p:nvPr/>
        </p:nvSpPr>
        <p:spPr>
          <a:xfrm>
            <a:off x="3120883" y="278574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4" name="Rectangle 53">
            <a:extLst>
              <a:ext uri="{FF2B5EF4-FFF2-40B4-BE49-F238E27FC236}">
                <a16:creationId xmlns:a16="http://schemas.microsoft.com/office/drawing/2014/main" id="{280569AA-24F9-708E-D84A-7CF1092A2B30}"/>
              </a:ext>
            </a:extLst>
          </p:cNvPr>
          <p:cNvSpPr/>
          <p:nvPr/>
        </p:nvSpPr>
        <p:spPr>
          <a:xfrm>
            <a:off x="3120883" y="224297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5" name="Rectangle 54">
            <a:extLst>
              <a:ext uri="{FF2B5EF4-FFF2-40B4-BE49-F238E27FC236}">
                <a16:creationId xmlns:a16="http://schemas.microsoft.com/office/drawing/2014/main" id="{67652BAB-892D-5984-77EF-A4F041968E64}"/>
              </a:ext>
            </a:extLst>
          </p:cNvPr>
          <p:cNvSpPr/>
          <p:nvPr/>
        </p:nvSpPr>
        <p:spPr>
          <a:xfrm>
            <a:off x="4895086" y="2251190"/>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6" name="Rectangle 55">
            <a:extLst>
              <a:ext uri="{FF2B5EF4-FFF2-40B4-BE49-F238E27FC236}">
                <a16:creationId xmlns:a16="http://schemas.microsoft.com/office/drawing/2014/main" id="{DE023D62-25A3-0E43-D449-590128BA6C27}"/>
              </a:ext>
            </a:extLst>
          </p:cNvPr>
          <p:cNvSpPr/>
          <p:nvPr/>
        </p:nvSpPr>
        <p:spPr>
          <a:xfrm>
            <a:off x="4908628" y="276365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aphicFrame>
        <p:nvGraphicFramePr>
          <p:cNvPr id="2" name="Table 4">
            <a:extLst>
              <a:ext uri="{FF2B5EF4-FFF2-40B4-BE49-F238E27FC236}">
                <a16:creationId xmlns:a16="http://schemas.microsoft.com/office/drawing/2014/main" id="{E345FAAC-54F9-561F-257E-19DDF331B04A}"/>
              </a:ext>
            </a:extLst>
          </p:cNvPr>
          <p:cNvGraphicFramePr>
            <a:graphicFrameLocks noGrp="1"/>
          </p:cNvGraphicFramePr>
          <p:nvPr>
            <p:extLst>
              <p:ext uri="{D42A27DB-BD31-4B8C-83A1-F6EECF244321}">
                <p14:modId xmlns:p14="http://schemas.microsoft.com/office/powerpoint/2010/main" val="1523486682"/>
              </p:ext>
            </p:extLst>
          </p:nvPr>
        </p:nvGraphicFramePr>
        <p:xfrm>
          <a:off x="157159" y="3813278"/>
          <a:ext cx="6543680" cy="551884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2883400625"/>
                    </a:ext>
                  </a:extLst>
                </a:gridCol>
                <a:gridCol w="1635920">
                  <a:extLst>
                    <a:ext uri="{9D8B030D-6E8A-4147-A177-3AD203B41FA5}">
                      <a16:colId xmlns:a16="http://schemas.microsoft.com/office/drawing/2014/main" val="3749730281"/>
                    </a:ext>
                  </a:extLst>
                </a:gridCol>
                <a:gridCol w="1635920">
                  <a:extLst>
                    <a:ext uri="{9D8B030D-6E8A-4147-A177-3AD203B41FA5}">
                      <a16:colId xmlns:a16="http://schemas.microsoft.com/office/drawing/2014/main" val="469938388"/>
                    </a:ext>
                  </a:extLst>
                </a:gridCol>
                <a:gridCol w="1635920">
                  <a:extLst>
                    <a:ext uri="{9D8B030D-6E8A-4147-A177-3AD203B41FA5}">
                      <a16:colId xmlns:a16="http://schemas.microsoft.com/office/drawing/2014/main" val="2138273463"/>
                    </a:ext>
                  </a:extLst>
                </a:gridCol>
              </a:tblGrid>
              <a:tr h="370840">
                <a:tc gridSpan="4">
                  <a:txBody>
                    <a:bodyPr/>
                    <a:lstStyle/>
                    <a:p>
                      <a:r>
                        <a:rPr lang="en-GB" sz="1200" b="0">
                          <a:solidFill>
                            <a:schemeClr val="tx1"/>
                          </a:solidFill>
                        </a:rPr>
                        <a:t>Question 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2723375"/>
                  </a:ext>
                </a:extLst>
              </a:tr>
              <a:tr h="468000">
                <a:tc>
                  <a:txBody>
                    <a:bodyPr/>
                    <a:lstStyle/>
                    <a:p>
                      <a:r>
                        <a:rPr lang="en-GB" sz="1200" b="1"/>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Rounded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Lower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Upper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404164"/>
                  </a:ext>
                </a:extLst>
              </a:tr>
              <a:tr h="468000">
                <a:tc>
                  <a:txBody>
                    <a:bodyPr/>
                    <a:lstStyle/>
                    <a:p>
                      <a:r>
                        <a:rPr lang="en-GB" sz="1200" b="0"/>
                        <a:t>6000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thousand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2606302"/>
                  </a:ext>
                </a:extLst>
              </a:tr>
              <a:tr h="468000">
                <a:tc>
                  <a:txBody>
                    <a:bodyPr/>
                    <a:lstStyle/>
                    <a:p>
                      <a:r>
                        <a:rPr lang="en-GB" sz="1200" b="0"/>
                        <a:t>6000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hundred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5985246"/>
                  </a:ext>
                </a:extLst>
              </a:tr>
              <a:tr h="468000">
                <a:tc>
                  <a:txBody>
                    <a:bodyPr/>
                    <a:lstStyle/>
                    <a:p>
                      <a:r>
                        <a:rPr lang="en-GB" sz="1200" b="0"/>
                        <a:t>600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hundred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7029901"/>
                  </a:ext>
                </a:extLst>
              </a:tr>
              <a:tr h="468000">
                <a:tc>
                  <a:txBody>
                    <a:bodyPr/>
                    <a:lstStyle/>
                    <a:p>
                      <a:r>
                        <a:rPr lang="en-GB" sz="1200" b="0"/>
                        <a:t>600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ten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9084959"/>
                  </a:ext>
                </a:extLst>
              </a:tr>
              <a:tr h="468000">
                <a:tc>
                  <a:txBody>
                    <a:bodyPr/>
                    <a:lstStyle/>
                    <a:p>
                      <a:r>
                        <a:rPr lang="en-GB" sz="1200" b="0"/>
                        <a:t>6000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ten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3786819"/>
                  </a:ext>
                </a:extLst>
              </a:tr>
              <a:tr h="468000">
                <a:tc>
                  <a:txBody>
                    <a:bodyPr/>
                    <a:lstStyle/>
                    <a:p>
                      <a:r>
                        <a:rPr lang="en-GB" sz="1200" b="0"/>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ten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749284"/>
                  </a:ext>
                </a:extLst>
              </a:tr>
              <a:tr h="468000">
                <a:tc>
                  <a:txBody>
                    <a:bodyPr/>
                    <a:lstStyle/>
                    <a:p>
                      <a:r>
                        <a:rPr lang="en-GB" sz="1200" b="0"/>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whole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0349422"/>
                  </a:ext>
                </a:extLst>
              </a:tr>
              <a:tr h="468000">
                <a:tc>
                  <a:txBody>
                    <a:bodyPr/>
                    <a:lstStyle/>
                    <a:p>
                      <a:r>
                        <a:rPr lang="en-GB" sz="1200" b="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whole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9859243"/>
                  </a:ext>
                </a:extLst>
              </a:tr>
              <a:tr h="468000">
                <a:tc>
                  <a:txBody>
                    <a:bodyPr/>
                    <a:lstStyle/>
                    <a:p>
                      <a:r>
                        <a:rPr lang="en-GB" sz="1200" b="0"/>
                        <a:t>6000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whole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1698252"/>
                  </a:ext>
                </a:extLst>
              </a:tr>
              <a:tr h="468000">
                <a:tc>
                  <a:txBody>
                    <a:bodyPr/>
                    <a:lstStyle/>
                    <a:p>
                      <a:r>
                        <a:rPr lang="en-GB" sz="1200" b="0"/>
                        <a:t>600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whole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196757"/>
                  </a:ext>
                </a:extLst>
              </a:tr>
            </a:tbl>
          </a:graphicData>
        </a:graphic>
      </p:graphicFrame>
      <p:sp>
        <p:nvSpPr>
          <p:cNvPr id="58" name="Rectangle 57">
            <a:extLst>
              <a:ext uri="{FF2B5EF4-FFF2-40B4-BE49-F238E27FC236}">
                <a16:creationId xmlns:a16="http://schemas.microsoft.com/office/drawing/2014/main" id="{F3B4E04F-B7D3-562E-816F-9C5A3284A2E9}"/>
              </a:ext>
            </a:extLst>
          </p:cNvPr>
          <p:cNvSpPr/>
          <p:nvPr/>
        </p:nvSpPr>
        <p:spPr>
          <a:xfrm>
            <a:off x="157160" y="3377616"/>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317608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A127B4B-D38F-F12E-3BF5-745C776A8041}"/>
              </a:ext>
            </a:extLst>
          </p:cNvPr>
          <p:cNvCxnSpPr>
            <a:cxnSpLocks/>
          </p:cNvCxnSpPr>
          <p:nvPr/>
        </p:nvCxnSpPr>
        <p:spPr>
          <a:xfrm>
            <a:off x="914340" y="1696239"/>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64FA5363-349C-E16E-398E-DE0EFF7E3405}"/>
              </a:ext>
            </a:extLst>
          </p:cNvPr>
          <p:cNvGraphicFramePr>
            <a:graphicFrameLocks noGrp="1"/>
          </p:cNvGraphicFramePr>
          <p:nvPr/>
        </p:nvGraphicFramePr>
        <p:xfrm>
          <a:off x="116081" y="401485"/>
          <a:ext cx="6543680" cy="3026540"/>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373784">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n-lt"/>
                          <a:ea typeface="+mn-ea"/>
                          <a:cs typeface="+mn-cs"/>
                        </a:rPr>
                        <a:t>Work out the upper bound and lower bound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61558">
                <a:tc>
                  <a:txBody>
                    <a:bodyPr/>
                    <a:lstStyle/>
                    <a:p>
                      <a:pPr marL="0" indent="0">
                        <a:buNone/>
                      </a:pPr>
                      <a:r>
                        <a:rPr lang="en-US" sz="1100"/>
                        <a:t>1. Identify the degree of accuracy stated.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A plank of wood</a:t>
                      </a:r>
                      <a:r>
                        <a:rPr kumimoji="0" lang="en-US" sz="1100" b="0" i="0" u="none" strike="noStrike" kern="1200" cap="none" spc="0" normalizeH="0" noProof="0">
                          <a:ln>
                            <a:noFill/>
                          </a:ln>
                          <a:solidFill>
                            <a:prstClr val="black"/>
                          </a:solidFill>
                          <a:effectLst/>
                          <a:uLnTx/>
                          <a:uFillTx/>
                          <a:latin typeface="+mn-lt"/>
                          <a:ea typeface="+mn-ea"/>
                          <a:cs typeface="+mn-cs"/>
                        </a:rPr>
                        <a:t> is 22.8cm to one decimal place. Find the lower bound and the upper bound.</a:t>
                      </a: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A plank of wood</a:t>
                      </a:r>
                      <a:r>
                        <a:rPr kumimoji="0" lang="en-US" sz="1100" b="0" i="0" u="none" strike="noStrike" kern="1200" cap="none" spc="0" normalizeH="0" noProof="0">
                          <a:ln>
                            <a:noFill/>
                          </a:ln>
                          <a:solidFill>
                            <a:prstClr val="black"/>
                          </a:solidFill>
                          <a:effectLst/>
                          <a:uLnTx/>
                          <a:uFillTx/>
                          <a:latin typeface="+mn-lt"/>
                          <a:ea typeface="+mn-ea"/>
                          <a:cs typeface="+mn-cs"/>
                        </a:rPr>
                        <a:t> is 2.3m to one decimal place. Find the lower bound and the upper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n-lt"/>
                          <a:ea typeface="+mn-ea"/>
                          <a:cs typeface="+mn-cs"/>
                        </a:rPr>
                        <a:t>A plank of wood</a:t>
                      </a:r>
                      <a:r>
                        <a:rPr kumimoji="0" lang="en-US" sz="1100" b="0" i="0" u="none" strike="noStrike" kern="1200" cap="none" spc="0" normalizeH="0" noProof="0" dirty="0">
                          <a:ln>
                            <a:noFill/>
                          </a:ln>
                          <a:solidFill>
                            <a:prstClr val="black"/>
                          </a:solidFill>
                          <a:effectLst/>
                          <a:uLnTx/>
                          <a:uFillTx/>
                          <a:latin typeface="+mn-lt"/>
                          <a:ea typeface="+mn-ea"/>
                          <a:cs typeface="+mn-cs"/>
                        </a:rPr>
                        <a:t> weighs 765.4g to one decimal place. Find the lower bound and the upper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prstClr val="black"/>
                          </a:solidFill>
                          <a:latin typeface="+mn-lt"/>
                        </a:rPr>
                        <a:t>The upper bound =</a:t>
                      </a:r>
                    </a:p>
                    <a:p>
                      <a:pPr marL="0" indent="0">
                        <a:buNone/>
                      </a:pPr>
                      <a:endParaRPr lang="en-US"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61558">
                <a:tc>
                  <a:txBody>
                    <a:bodyPr/>
                    <a:lstStyle/>
                    <a:p>
                      <a:pPr marL="0" indent="0">
                        <a:buNone/>
                      </a:pPr>
                      <a:r>
                        <a:rPr lang="en-US" sz="1100"/>
                        <a:t>2. For the lower bound, work out the lowest it could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861558">
                <a:tc>
                  <a:txBody>
                    <a:bodyPr/>
                    <a:lstStyle/>
                    <a:p>
                      <a:pPr marL="0" indent="0">
                        <a:buNone/>
                      </a:pPr>
                      <a:r>
                        <a:rPr lang="en-US" sz="1100" dirty="0"/>
                        <a:t>3. For the upper bound, work out the greatest it can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bl>
          </a:graphicData>
        </a:graphic>
      </p:graphicFrame>
      <p:sp>
        <p:nvSpPr>
          <p:cNvPr id="6" name="TextBox 5">
            <a:extLst>
              <a:ext uri="{FF2B5EF4-FFF2-40B4-BE49-F238E27FC236}">
                <a16:creationId xmlns:a16="http://schemas.microsoft.com/office/drawing/2014/main" id="{A06FE650-A2E9-2526-4EBD-ACA188563D55}"/>
              </a:ext>
            </a:extLst>
          </p:cNvPr>
          <p:cNvSpPr txBox="1"/>
          <p:nvPr/>
        </p:nvSpPr>
        <p:spPr>
          <a:xfrm>
            <a:off x="1448967" y="82749"/>
            <a:ext cx="1410704" cy="276999"/>
          </a:xfrm>
          <a:prstGeom prst="rect">
            <a:avLst/>
          </a:prstGeom>
          <a:noFill/>
          <a:ln>
            <a:noFill/>
          </a:ln>
        </p:spPr>
        <p:txBody>
          <a:bodyPr wrap="square" rtlCol="0">
            <a:spAutoFit/>
          </a:bodyPr>
          <a:lstStyle/>
          <a:p>
            <a:r>
              <a:rPr lang="en-GB" sz="1200" b="1" i="1">
                <a:solidFill>
                  <a:srgbClr val="FF0000"/>
                </a:solidFill>
              </a:rPr>
              <a:t>Example 7 - I do…</a:t>
            </a:r>
          </a:p>
        </p:txBody>
      </p:sp>
      <p:sp>
        <p:nvSpPr>
          <p:cNvPr id="7" name="TextBox 6">
            <a:extLst>
              <a:ext uri="{FF2B5EF4-FFF2-40B4-BE49-F238E27FC236}">
                <a16:creationId xmlns:a16="http://schemas.microsoft.com/office/drawing/2014/main" id="{003BDED2-34C5-4121-71BE-3B2289AC9EC1}"/>
              </a:ext>
            </a:extLst>
          </p:cNvPr>
          <p:cNvSpPr txBox="1"/>
          <p:nvPr/>
        </p:nvSpPr>
        <p:spPr>
          <a:xfrm>
            <a:off x="4867549" y="77536"/>
            <a:ext cx="1643405" cy="276999"/>
          </a:xfrm>
          <a:prstGeom prst="rect">
            <a:avLst/>
          </a:prstGeom>
          <a:noFill/>
          <a:ln>
            <a:noFill/>
          </a:ln>
        </p:spPr>
        <p:txBody>
          <a:bodyPr wrap="square" rtlCol="0">
            <a:spAutoFit/>
          </a:bodyPr>
          <a:lstStyle/>
          <a:p>
            <a:r>
              <a:rPr lang="en-GB" sz="1200" b="1" i="1">
                <a:solidFill>
                  <a:srgbClr val="00B050"/>
                </a:solidFill>
              </a:rPr>
              <a:t>Example 9 – You do…</a:t>
            </a:r>
          </a:p>
        </p:txBody>
      </p:sp>
      <p:sp>
        <p:nvSpPr>
          <p:cNvPr id="8" name="TextBox 7">
            <a:extLst>
              <a:ext uri="{FF2B5EF4-FFF2-40B4-BE49-F238E27FC236}">
                <a16:creationId xmlns:a16="http://schemas.microsoft.com/office/drawing/2014/main" id="{10B0D60D-2E56-D0E5-5E97-CBE77718ACC5}"/>
              </a:ext>
            </a:extLst>
          </p:cNvPr>
          <p:cNvSpPr txBox="1"/>
          <p:nvPr/>
        </p:nvSpPr>
        <p:spPr>
          <a:xfrm>
            <a:off x="3079804" y="82748"/>
            <a:ext cx="1667605" cy="276999"/>
          </a:xfrm>
          <a:prstGeom prst="rect">
            <a:avLst/>
          </a:prstGeom>
          <a:noFill/>
          <a:ln>
            <a:noFill/>
          </a:ln>
        </p:spPr>
        <p:txBody>
          <a:bodyPr wrap="square" rtlCol="0">
            <a:spAutoFit/>
          </a:bodyPr>
          <a:lstStyle/>
          <a:p>
            <a:r>
              <a:rPr lang="en-GB" sz="1200" b="1" i="1">
                <a:solidFill>
                  <a:schemeClr val="accent2"/>
                </a:solidFill>
              </a:rPr>
              <a:t>Example 8 - We do…</a:t>
            </a:r>
          </a:p>
        </p:txBody>
      </p:sp>
      <p:sp>
        <p:nvSpPr>
          <p:cNvPr id="9" name="Rectangle 8">
            <a:extLst>
              <a:ext uri="{FF2B5EF4-FFF2-40B4-BE49-F238E27FC236}">
                <a16:creationId xmlns:a16="http://schemas.microsoft.com/office/drawing/2014/main" id="{AE103024-0724-2923-AB4F-A3AE4C0C3C42}"/>
              </a:ext>
            </a:extLst>
          </p:cNvPr>
          <p:cNvSpPr/>
          <p:nvPr/>
        </p:nvSpPr>
        <p:spPr>
          <a:xfrm>
            <a:off x="1305601" y="230989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Rectangle 9">
            <a:extLst>
              <a:ext uri="{FF2B5EF4-FFF2-40B4-BE49-F238E27FC236}">
                <a16:creationId xmlns:a16="http://schemas.microsoft.com/office/drawing/2014/main" id="{A414E921-2F4B-88C6-FDB3-0B1056F12B6C}"/>
              </a:ext>
            </a:extLst>
          </p:cNvPr>
          <p:cNvSpPr/>
          <p:nvPr/>
        </p:nvSpPr>
        <p:spPr>
          <a:xfrm>
            <a:off x="1305601" y="290562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1" name="Rectangle 10">
            <a:extLst>
              <a:ext uri="{FF2B5EF4-FFF2-40B4-BE49-F238E27FC236}">
                <a16:creationId xmlns:a16="http://schemas.microsoft.com/office/drawing/2014/main" id="{E4F941F8-00A5-2380-9FE7-37584E2C8228}"/>
              </a:ext>
            </a:extLst>
          </p:cNvPr>
          <p:cNvSpPr/>
          <p:nvPr/>
        </p:nvSpPr>
        <p:spPr>
          <a:xfrm>
            <a:off x="3079804" y="286328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2" name="Rectangle 11">
            <a:extLst>
              <a:ext uri="{FF2B5EF4-FFF2-40B4-BE49-F238E27FC236}">
                <a16:creationId xmlns:a16="http://schemas.microsoft.com/office/drawing/2014/main" id="{8404E10B-AD99-0E9F-DE2E-F40E4D31F57B}"/>
              </a:ext>
            </a:extLst>
          </p:cNvPr>
          <p:cNvSpPr/>
          <p:nvPr/>
        </p:nvSpPr>
        <p:spPr>
          <a:xfrm>
            <a:off x="3079804" y="232050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 name="Rectangle 12">
            <a:extLst>
              <a:ext uri="{FF2B5EF4-FFF2-40B4-BE49-F238E27FC236}">
                <a16:creationId xmlns:a16="http://schemas.microsoft.com/office/drawing/2014/main" id="{DE2FE3DD-721B-F1DC-3F58-90D6E763DC91}"/>
              </a:ext>
            </a:extLst>
          </p:cNvPr>
          <p:cNvSpPr/>
          <p:nvPr/>
        </p:nvSpPr>
        <p:spPr>
          <a:xfrm>
            <a:off x="4854007" y="232872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 name="Rectangle 13">
            <a:extLst>
              <a:ext uri="{FF2B5EF4-FFF2-40B4-BE49-F238E27FC236}">
                <a16:creationId xmlns:a16="http://schemas.microsoft.com/office/drawing/2014/main" id="{CDD22C06-8960-A5CA-9D4D-275916D595C0}"/>
              </a:ext>
            </a:extLst>
          </p:cNvPr>
          <p:cNvSpPr/>
          <p:nvPr/>
        </p:nvSpPr>
        <p:spPr>
          <a:xfrm>
            <a:off x="4867549" y="284119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1" name="Slide Number Placeholder 14">
            <a:extLst>
              <a:ext uri="{FF2B5EF4-FFF2-40B4-BE49-F238E27FC236}">
                <a16:creationId xmlns:a16="http://schemas.microsoft.com/office/drawing/2014/main" id="{A722BB9B-CDBC-5AE2-8035-D007E7AEE474}"/>
              </a:ext>
            </a:extLst>
          </p:cNvPr>
          <p:cNvSpPr>
            <a:spLocks noGrp="1"/>
          </p:cNvSpPr>
          <p:nvPr>
            <p:ph type="sldNum" sz="quarter" idx="12"/>
          </p:nvPr>
        </p:nvSpPr>
        <p:spPr>
          <a:xfrm>
            <a:off x="5314950" y="9544975"/>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47" name="Straight Connector 46">
            <a:extLst>
              <a:ext uri="{FF2B5EF4-FFF2-40B4-BE49-F238E27FC236}">
                <a16:creationId xmlns:a16="http://schemas.microsoft.com/office/drawing/2014/main" id="{84C2D1EA-43AE-6A9A-1B41-EF79DAB8BD1B}"/>
              </a:ext>
            </a:extLst>
          </p:cNvPr>
          <p:cNvCxnSpPr>
            <a:cxnSpLocks/>
          </p:cNvCxnSpPr>
          <p:nvPr/>
        </p:nvCxnSpPr>
        <p:spPr>
          <a:xfrm>
            <a:off x="955419" y="5056953"/>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48" name="Table 47">
            <a:extLst>
              <a:ext uri="{FF2B5EF4-FFF2-40B4-BE49-F238E27FC236}">
                <a16:creationId xmlns:a16="http://schemas.microsoft.com/office/drawing/2014/main" id="{730E3BF0-2562-7F8B-AC38-27ADA0635861}"/>
              </a:ext>
            </a:extLst>
          </p:cNvPr>
          <p:cNvGraphicFramePr>
            <a:graphicFrameLocks noGrp="1"/>
          </p:cNvGraphicFramePr>
          <p:nvPr/>
        </p:nvGraphicFramePr>
        <p:xfrm>
          <a:off x="157160" y="3762199"/>
          <a:ext cx="6543680" cy="3026540"/>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373784">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n-lt"/>
                          <a:ea typeface="+mn-ea"/>
                          <a:cs typeface="+mn-cs"/>
                        </a:rPr>
                        <a:t>Work out the upper bound and lower bound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61558">
                <a:tc>
                  <a:txBody>
                    <a:bodyPr/>
                    <a:lstStyle/>
                    <a:p>
                      <a:pPr marL="0" indent="0">
                        <a:buNone/>
                      </a:pPr>
                      <a:r>
                        <a:rPr lang="en-US" sz="1100"/>
                        <a:t>1. Identify the degree of accuracy stated.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Work out the upper bound and lower bound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37.82 cm, measured to two decimal places.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Work out the upper bound and lower bound for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5.78kg measured to two decimal places. </a:t>
                      </a: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Work out the upper bound and lower bound for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157.25mm measured to two decimal places. </a:t>
                      </a: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61558">
                <a:tc>
                  <a:txBody>
                    <a:bodyPr/>
                    <a:lstStyle/>
                    <a:p>
                      <a:pPr marL="0" indent="0">
                        <a:buNone/>
                      </a:pPr>
                      <a:r>
                        <a:rPr lang="en-US" sz="1100"/>
                        <a:t>2. For the lower bound, work out the lowest it could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861558">
                <a:tc>
                  <a:txBody>
                    <a:bodyPr/>
                    <a:lstStyle/>
                    <a:p>
                      <a:pPr marL="0" indent="0">
                        <a:buNone/>
                      </a:pPr>
                      <a:r>
                        <a:rPr lang="en-US" sz="1100"/>
                        <a:t>3. For the upper bound, work out the greatest it can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bl>
          </a:graphicData>
        </a:graphic>
      </p:graphicFrame>
      <p:sp>
        <p:nvSpPr>
          <p:cNvPr id="49" name="TextBox 48">
            <a:extLst>
              <a:ext uri="{FF2B5EF4-FFF2-40B4-BE49-F238E27FC236}">
                <a16:creationId xmlns:a16="http://schemas.microsoft.com/office/drawing/2014/main" id="{2455B9F9-0CB3-05AE-8B5C-23A3127C8EAE}"/>
              </a:ext>
            </a:extLst>
          </p:cNvPr>
          <p:cNvSpPr txBox="1"/>
          <p:nvPr/>
        </p:nvSpPr>
        <p:spPr>
          <a:xfrm>
            <a:off x="1490046" y="3443463"/>
            <a:ext cx="1410704" cy="276999"/>
          </a:xfrm>
          <a:prstGeom prst="rect">
            <a:avLst/>
          </a:prstGeom>
          <a:noFill/>
          <a:ln>
            <a:noFill/>
          </a:ln>
        </p:spPr>
        <p:txBody>
          <a:bodyPr wrap="square" rtlCol="0">
            <a:spAutoFit/>
          </a:bodyPr>
          <a:lstStyle/>
          <a:p>
            <a:r>
              <a:rPr lang="en-GB" sz="1200" b="1" i="1">
                <a:solidFill>
                  <a:srgbClr val="FF0000"/>
                </a:solidFill>
              </a:rPr>
              <a:t>Example 10 - I do…</a:t>
            </a:r>
          </a:p>
        </p:txBody>
      </p:sp>
      <p:sp>
        <p:nvSpPr>
          <p:cNvPr id="50" name="TextBox 49">
            <a:extLst>
              <a:ext uri="{FF2B5EF4-FFF2-40B4-BE49-F238E27FC236}">
                <a16:creationId xmlns:a16="http://schemas.microsoft.com/office/drawing/2014/main" id="{8614A145-C67D-CA7B-8141-DA089756307E}"/>
              </a:ext>
            </a:extLst>
          </p:cNvPr>
          <p:cNvSpPr txBox="1"/>
          <p:nvPr/>
        </p:nvSpPr>
        <p:spPr>
          <a:xfrm>
            <a:off x="4908628" y="3438250"/>
            <a:ext cx="1643405" cy="276999"/>
          </a:xfrm>
          <a:prstGeom prst="rect">
            <a:avLst/>
          </a:prstGeom>
          <a:noFill/>
          <a:ln>
            <a:noFill/>
          </a:ln>
        </p:spPr>
        <p:txBody>
          <a:bodyPr wrap="square" rtlCol="0">
            <a:spAutoFit/>
          </a:bodyPr>
          <a:lstStyle/>
          <a:p>
            <a:r>
              <a:rPr lang="en-GB" sz="1200" b="1" i="1">
                <a:solidFill>
                  <a:srgbClr val="00B050"/>
                </a:solidFill>
              </a:rPr>
              <a:t>Example 12 – You do…</a:t>
            </a:r>
          </a:p>
        </p:txBody>
      </p:sp>
      <p:sp>
        <p:nvSpPr>
          <p:cNvPr id="51" name="TextBox 50">
            <a:extLst>
              <a:ext uri="{FF2B5EF4-FFF2-40B4-BE49-F238E27FC236}">
                <a16:creationId xmlns:a16="http://schemas.microsoft.com/office/drawing/2014/main" id="{BE9CEE24-9A51-9C22-329B-7330B915EDD7}"/>
              </a:ext>
            </a:extLst>
          </p:cNvPr>
          <p:cNvSpPr txBox="1"/>
          <p:nvPr/>
        </p:nvSpPr>
        <p:spPr>
          <a:xfrm>
            <a:off x="3120883" y="3443462"/>
            <a:ext cx="1667605" cy="276999"/>
          </a:xfrm>
          <a:prstGeom prst="rect">
            <a:avLst/>
          </a:prstGeom>
          <a:noFill/>
          <a:ln>
            <a:noFill/>
          </a:ln>
        </p:spPr>
        <p:txBody>
          <a:bodyPr wrap="square" rtlCol="0">
            <a:spAutoFit/>
          </a:bodyPr>
          <a:lstStyle/>
          <a:p>
            <a:r>
              <a:rPr lang="en-GB" sz="1200" b="1" i="1">
                <a:solidFill>
                  <a:schemeClr val="accent2"/>
                </a:solidFill>
              </a:rPr>
              <a:t>Example 11 - We do…</a:t>
            </a:r>
          </a:p>
        </p:txBody>
      </p:sp>
      <p:sp>
        <p:nvSpPr>
          <p:cNvPr id="52" name="Rectangle 51">
            <a:extLst>
              <a:ext uri="{FF2B5EF4-FFF2-40B4-BE49-F238E27FC236}">
                <a16:creationId xmlns:a16="http://schemas.microsoft.com/office/drawing/2014/main" id="{33E7047C-829A-11B6-12DC-6E6735B942BA}"/>
              </a:ext>
            </a:extLst>
          </p:cNvPr>
          <p:cNvSpPr/>
          <p:nvPr/>
        </p:nvSpPr>
        <p:spPr>
          <a:xfrm>
            <a:off x="1346680" y="567061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3" name="Rectangle 52">
            <a:extLst>
              <a:ext uri="{FF2B5EF4-FFF2-40B4-BE49-F238E27FC236}">
                <a16:creationId xmlns:a16="http://schemas.microsoft.com/office/drawing/2014/main" id="{A5667E9B-EB78-DE7F-ABD7-F2D1427331CB}"/>
              </a:ext>
            </a:extLst>
          </p:cNvPr>
          <p:cNvSpPr/>
          <p:nvPr/>
        </p:nvSpPr>
        <p:spPr>
          <a:xfrm>
            <a:off x="1346680" y="626634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4" name="Rectangle 53">
            <a:extLst>
              <a:ext uri="{FF2B5EF4-FFF2-40B4-BE49-F238E27FC236}">
                <a16:creationId xmlns:a16="http://schemas.microsoft.com/office/drawing/2014/main" id="{156AEA17-1CD2-7F4D-2B11-8D371BE44942}"/>
              </a:ext>
            </a:extLst>
          </p:cNvPr>
          <p:cNvSpPr/>
          <p:nvPr/>
        </p:nvSpPr>
        <p:spPr>
          <a:xfrm>
            <a:off x="3120883" y="622399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5" name="Rectangle 54">
            <a:extLst>
              <a:ext uri="{FF2B5EF4-FFF2-40B4-BE49-F238E27FC236}">
                <a16:creationId xmlns:a16="http://schemas.microsoft.com/office/drawing/2014/main" id="{91D5E1D9-5632-5216-1695-15A37D8C4784}"/>
              </a:ext>
            </a:extLst>
          </p:cNvPr>
          <p:cNvSpPr/>
          <p:nvPr/>
        </p:nvSpPr>
        <p:spPr>
          <a:xfrm>
            <a:off x="3120883" y="568122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6" name="Rectangle 55">
            <a:extLst>
              <a:ext uri="{FF2B5EF4-FFF2-40B4-BE49-F238E27FC236}">
                <a16:creationId xmlns:a16="http://schemas.microsoft.com/office/drawing/2014/main" id="{53967E26-CCD4-8C27-DAF8-063D234FCF3D}"/>
              </a:ext>
            </a:extLst>
          </p:cNvPr>
          <p:cNvSpPr/>
          <p:nvPr/>
        </p:nvSpPr>
        <p:spPr>
          <a:xfrm>
            <a:off x="4895086" y="5689440"/>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7" name="Rectangle 56">
            <a:extLst>
              <a:ext uri="{FF2B5EF4-FFF2-40B4-BE49-F238E27FC236}">
                <a16:creationId xmlns:a16="http://schemas.microsoft.com/office/drawing/2014/main" id="{533FDE13-8F50-6906-D2B6-8EA5D93DBF51}"/>
              </a:ext>
            </a:extLst>
          </p:cNvPr>
          <p:cNvSpPr/>
          <p:nvPr/>
        </p:nvSpPr>
        <p:spPr>
          <a:xfrm>
            <a:off x="4908628" y="620190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8" name="Rectangle 57">
            <a:extLst>
              <a:ext uri="{FF2B5EF4-FFF2-40B4-BE49-F238E27FC236}">
                <a16:creationId xmlns:a16="http://schemas.microsoft.com/office/drawing/2014/main" id="{2F712E5A-E1B6-7792-19BE-8B3E92367737}"/>
              </a:ext>
            </a:extLst>
          </p:cNvPr>
          <p:cNvSpPr/>
          <p:nvPr/>
        </p:nvSpPr>
        <p:spPr>
          <a:xfrm>
            <a:off x="167647" y="6791468"/>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graphicFrame>
        <p:nvGraphicFramePr>
          <p:cNvPr id="2" name="Table 1">
            <a:extLst>
              <a:ext uri="{FF2B5EF4-FFF2-40B4-BE49-F238E27FC236}">
                <a16:creationId xmlns:a16="http://schemas.microsoft.com/office/drawing/2014/main" id="{B772889E-999E-1AEE-29D3-453F45BDF3FF}"/>
              </a:ext>
            </a:extLst>
          </p:cNvPr>
          <p:cNvGraphicFramePr>
            <a:graphicFrameLocks noGrp="1"/>
          </p:cNvGraphicFramePr>
          <p:nvPr/>
        </p:nvGraphicFramePr>
        <p:xfrm>
          <a:off x="167647" y="7188622"/>
          <a:ext cx="6543680" cy="224284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3698336071"/>
                    </a:ext>
                  </a:extLst>
                </a:gridCol>
                <a:gridCol w="1635920">
                  <a:extLst>
                    <a:ext uri="{9D8B030D-6E8A-4147-A177-3AD203B41FA5}">
                      <a16:colId xmlns:a16="http://schemas.microsoft.com/office/drawing/2014/main" val="1261027799"/>
                    </a:ext>
                  </a:extLst>
                </a:gridCol>
                <a:gridCol w="1635920">
                  <a:extLst>
                    <a:ext uri="{9D8B030D-6E8A-4147-A177-3AD203B41FA5}">
                      <a16:colId xmlns:a16="http://schemas.microsoft.com/office/drawing/2014/main" val="785472344"/>
                    </a:ext>
                  </a:extLst>
                </a:gridCol>
                <a:gridCol w="1635920">
                  <a:extLst>
                    <a:ext uri="{9D8B030D-6E8A-4147-A177-3AD203B41FA5}">
                      <a16:colId xmlns:a16="http://schemas.microsoft.com/office/drawing/2014/main" val="81049670"/>
                    </a:ext>
                  </a:extLst>
                </a:gridCol>
              </a:tblGrid>
              <a:tr h="370840">
                <a:tc gridSpan="4">
                  <a:txBody>
                    <a:bodyPr/>
                    <a:lstStyle/>
                    <a:p>
                      <a:r>
                        <a:rPr lang="en-GB" sz="1200" b="0">
                          <a:solidFill>
                            <a:schemeClr val="tx1"/>
                          </a:solidFill>
                        </a:rPr>
                        <a:t>Question 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0634322"/>
                  </a:ext>
                </a:extLst>
              </a:tr>
              <a:tr h="468000">
                <a:tc>
                  <a:txBody>
                    <a:bodyPr/>
                    <a:lstStyle/>
                    <a:p>
                      <a:r>
                        <a:rPr lang="en-GB" sz="1200" b="1"/>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Rounded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Lower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Upper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2488499"/>
                  </a:ext>
                </a:extLst>
              </a:tr>
              <a:tr h="468000">
                <a:tc>
                  <a:txBody>
                    <a:bodyPr/>
                    <a:lstStyle/>
                    <a:p>
                      <a:r>
                        <a:rPr lang="en-GB" sz="1200" b="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decimal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2160000"/>
                  </a:ext>
                </a:extLst>
              </a:tr>
              <a:tr h="468000">
                <a:tc>
                  <a:txBody>
                    <a:bodyPr/>
                    <a:lstStyle/>
                    <a:p>
                      <a:r>
                        <a:rPr lang="en-GB" sz="1200" b="0"/>
                        <a:t>15.9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decimal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1124713"/>
                  </a:ext>
                </a:extLst>
              </a:tr>
              <a:tr h="468000">
                <a:tc>
                  <a:txBody>
                    <a:bodyPr/>
                    <a:lstStyle/>
                    <a:p>
                      <a:r>
                        <a:rPr lang="en-GB" sz="1200" b="0"/>
                        <a:t>20.4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decimal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3370893"/>
                  </a:ext>
                </a:extLst>
              </a:tr>
            </a:tbl>
          </a:graphicData>
        </a:graphic>
      </p:graphicFrame>
    </p:spTree>
    <p:extLst>
      <p:ext uri="{BB962C8B-B14F-4D97-AF65-F5344CB8AC3E}">
        <p14:creationId xmlns:p14="http://schemas.microsoft.com/office/powerpoint/2010/main" val="3879350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14">
            <a:extLst>
              <a:ext uri="{FF2B5EF4-FFF2-40B4-BE49-F238E27FC236}">
                <a16:creationId xmlns:a16="http://schemas.microsoft.com/office/drawing/2014/main" id="{A722BB9B-CDBC-5AE2-8035-D007E7AEE474}"/>
              </a:ext>
            </a:extLst>
          </p:cNvPr>
          <p:cNvSpPr>
            <a:spLocks noGrp="1"/>
          </p:cNvSpPr>
          <p:nvPr>
            <p:ph type="sldNum" sz="quarter" idx="12"/>
          </p:nvPr>
        </p:nvSpPr>
        <p:spPr>
          <a:xfrm>
            <a:off x="5314950" y="9544975"/>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2" name="Table 1">
            <a:extLst>
              <a:ext uri="{FF2B5EF4-FFF2-40B4-BE49-F238E27FC236}">
                <a16:creationId xmlns:a16="http://schemas.microsoft.com/office/drawing/2014/main" id="{B772889E-999E-1AEE-29D3-453F45BDF3FF}"/>
              </a:ext>
            </a:extLst>
          </p:cNvPr>
          <p:cNvGraphicFramePr>
            <a:graphicFrameLocks noGrp="1"/>
          </p:cNvGraphicFramePr>
          <p:nvPr/>
        </p:nvGraphicFramePr>
        <p:xfrm>
          <a:off x="157160" y="0"/>
          <a:ext cx="6543680" cy="843484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3698336071"/>
                    </a:ext>
                  </a:extLst>
                </a:gridCol>
                <a:gridCol w="1635920">
                  <a:extLst>
                    <a:ext uri="{9D8B030D-6E8A-4147-A177-3AD203B41FA5}">
                      <a16:colId xmlns:a16="http://schemas.microsoft.com/office/drawing/2014/main" val="1261027799"/>
                    </a:ext>
                  </a:extLst>
                </a:gridCol>
                <a:gridCol w="1635920">
                  <a:extLst>
                    <a:ext uri="{9D8B030D-6E8A-4147-A177-3AD203B41FA5}">
                      <a16:colId xmlns:a16="http://schemas.microsoft.com/office/drawing/2014/main" val="785472344"/>
                    </a:ext>
                  </a:extLst>
                </a:gridCol>
                <a:gridCol w="1635920">
                  <a:extLst>
                    <a:ext uri="{9D8B030D-6E8A-4147-A177-3AD203B41FA5}">
                      <a16:colId xmlns:a16="http://schemas.microsoft.com/office/drawing/2014/main" val="81049670"/>
                    </a:ext>
                  </a:extLst>
                </a:gridCol>
              </a:tblGrid>
              <a:tr h="370840">
                <a:tc gridSpan="4">
                  <a:txBody>
                    <a:bodyPr/>
                    <a:lstStyle/>
                    <a:p>
                      <a:r>
                        <a:rPr lang="en-GB" sz="1200" b="0">
                          <a:solidFill>
                            <a:schemeClr val="tx1"/>
                          </a:solidFill>
                        </a:rPr>
                        <a:t>Question 2 continued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0634322"/>
                  </a:ext>
                </a:extLst>
              </a:tr>
              <a:tr h="576000">
                <a:tc>
                  <a:txBody>
                    <a:bodyPr/>
                    <a:lstStyle/>
                    <a:p>
                      <a:r>
                        <a:rPr lang="en-GB" sz="1200" b="1"/>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Rounded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Lower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Upper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2488499"/>
                  </a:ext>
                </a:extLst>
              </a:tr>
              <a:tr h="576000">
                <a:tc>
                  <a:txBody>
                    <a:bodyPr/>
                    <a:lstStyle/>
                    <a:p>
                      <a:r>
                        <a:rPr lang="en-GB" sz="1200" b="0"/>
                        <a:t>20.4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decimal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2160000"/>
                  </a:ext>
                </a:extLst>
              </a:tr>
              <a:tr h="576000">
                <a:tc>
                  <a:txBody>
                    <a:bodyPr/>
                    <a:lstStyle/>
                    <a:p>
                      <a:r>
                        <a:rPr lang="en-GB" sz="1200" b="0"/>
                        <a:t>28.3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decimal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1124713"/>
                  </a:ext>
                </a:extLst>
              </a:tr>
              <a:tr h="576000">
                <a:tc>
                  <a:txBody>
                    <a:bodyPr/>
                    <a:lstStyle/>
                    <a:p>
                      <a:r>
                        <a:rPr lang="en-GB" sz="1200" b="0"/>
                        <a:t>120.2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decimal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3370893"/>
                  </a:ext>
                </a:extLst>
              </a:tr>
              <a:tr h="576000">
                <a:tc>
                  <a:txBody>
                    <a:bodyPr/>
                    <a:lstStyle/>
                    <a:p>
                      <a:r>
                        <a:rPr lang="en-GB" sz="1200" b="0"/>
                        <a:t>2.57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2 decimal places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3755044"/>
                  </a:ext>
                </a:extLst>
              </a:tr>
              <a:tr h="576000">
                <a:tc>
                  <a:txBody>
                    <a:bodyPr/>
                    <a:lstStyle/>
                    <a:p>
                      <a:r>
                        <a:rPr lang="en-GB" sz="1200" b="0"/>
                        <a:t>8.82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9944701"/>
                  </a:ext>
                </a:extLst>
              </a:tr>
              <a:tr h="576000">
                <a:tc>
                  <a:txBody>
                    <a:bodyPr/>
                    <a:lstStyle/>
                    <a:p>
                      <a:r>
                        <a:rPr lang="en-GB" sz="1200" b="0"/>
                        <a:t>34.91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7504666"/>
                  </a:ext>
                </a:extLst>
              </a:tr>
              <a:tr h="576000">
                <a:tc>
                  <a:txBody>
                    <a:bodyPr/>
                    <a:lstStyle/>
                    <a:p>
                      <a:r>
                        <a:rPr lang="en-GB" sz="1200" b="0"/>
                        <a:t>0.43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8950033"/>
                  </a:ext>
                </a:extLst>
              </a:tr>
              <a:tr h="576000">
                <a:tc>
                  <a:txBody>
                    <a:bodyPr/>
                    <a:lstStyle/>
                    <a:p>
                      <a:r>
                        <a:rPr lang="en-GB" sz="1200" b="0"/>
                        <a:t>9.20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3005355"/>
                  </a:ext>
                </a:extLst>
              </a:tr>
              <a:tr h="576000">
                <a:tc>
                  <a:txBody>
                    <a:bodyPr/>
                    <a:lstStyle/>
                    <a:p>
                      <a:r>
                        <a:rPr lang="en-GB" sz="1200" b="0"/>
                        <a:t>4.258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8645482"/>
                  </a:ext>
                </a:extLst>
              </a:tr>
              <a:tr h="576000">
                <a:tc>
                  <a:txBody>
                    <a:bodyPr/>
                    <a:lstStyle/>
                    <a:p>
                      <a:r>
                        <a:rPr lang="en-GB" sz="1200" b="0"/>
                        <a:t>6.532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3523659"/>
                  </a:ext>
                </a:extLst>
              </a:tr>
              <a:tr h="576000">
                <a:tc>
                  <a:txBody>
                    <a:bodyPr/>
                    <a:lstStyle/>
                    <a:p>
                      <a:r>
                        <a:rPr lang="en-GB" sz="1200" b="0"/>
                        <a:t>18.742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6796067"/>
                  </a:ext>
                </a:extLst>
              </a:tr>
              <a:tr h="576000">
                <a:tc>
                  <a:txBody>
                    <a:bodyPr/>
                    <a:lstStyle/>
                    <a:p>
                      <a:r>
                        <a:rPr lang="en-GB" sz="1200" b="0"/>
                        <a:t>0.981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4050591"/>
                  </a:ext>
                </a:extLst>
              </a:tr>
              <a:tr h="576000">
                <a:tc>
                  <a:txBody>
                    <a:bodyPr/>
                    <a:lstStyle/>
                    <a:p>
                      <a:r>
                        <a:rPr lang="en-GB" sz="1200" b="0"/>
                        <a:t>4.200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490738"/>
                  </a:ext>
                </a:extLst>
              </a:tr>
            </a:tbl>
          </a:graphicData>
        </a:graphic>
      </p:graphicFrame>
    </p:spTree>
    <p:extLst>
      <p:ext uri="{BB962C8B-B14F-4D97-AF65-F5344CB8AC3E}">
        <p14:creationId xmlns:p14="http://schemas.microsoft.com/office/powerpoint/2010/main" val="1145473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179732" y="9444444"/>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83" name="Straight Connector 82">
            <a:extLst>
              <a:ext uri="{FF2B5EF4-FFF2-40B4-BE49-F238E27FC236}">
                <a16:creationId xmlns:a16="http://schemas.microsoft.com/office/drawing/2014/main" id="{6C6AE656-93C0-EAC0-DAC0-0C1CFF08C85D}"/>
              </a:ext>
            </a:extLst>
          </p:cNvPr>
          <p:cNvCxnSpPr>
            <a:cxnSpLocks/>
          </p:cNvCxnSpPr>
          <p:nvPr/>
        </p:nvCxnSpPr>
        <p:spPr>
          <a:xfrm>
            <a:off x="955419" y="1697507"/>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84" name="Table 83">
            <a:extLst>
              <a:ext uri="{FF2B5EF4-FFF2-40B4-BE49-F238E27FC236}">
                <a16:creationId xmlns:a16="http://schemas.microsoft.com/office/drawing/2014/main" id="{910AD7F0-05F1-E993-B19B-844E7ACACCBD}"/>
              </a:ext>
            </a:extLst>
          </p:cNvPr>
          <p:cNvGraphicFramePr>
            <a:graphicFrameLocks noGrp="1"/>
          </p:cNvGraphicFramePr>
          <p:nvPr/>
        </p:nvGraphicFramePr>
        <p:xfrm>
          <a:off x="157160" y="402753"/>
          <a:ext cx="6543680" cy="3026540"/>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373784">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n-lt"/>
                          <a:ea typeface="+mn-ea"/>
                          <a:cs typeface="+mn-cs"/>
                        </a:rPr>
                        <a:t>Work out the upper bound and lower bound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61558">
                <a:tc>
                  <a:txBody>
                    <a:bodyPr/>
                    <a:lstStyle/>
                    <a:p>
                      <a:pPr marL="0" indent="0">
                        <a:buNone/>
                      </a:pPr>
                      <a:r>
                        <a:rPr lang="en-US" sz="1100"/>
                        <a:t>1. Identify the degree of accuracy stated.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A table</a:t>
                      </a:r>
                      <a:r>
                        <a:rPr kumimoji="0" lang="en-US" sz="1100" b="0" i="0" u="none" strike="noStrike" kern="1200" cap="none" spc="0" normalizeH="0" noProof="0">
                          <a:ln>
                            <a:noFill/>
                          </a:ln>
                          <a:solidFill>
                            <a:prstClr val="black"/>
                          </a:solidFill>
                          <a:effectLst/>
                          <a:uLnTx/>
                          <a:uFillTx/>
                          <a:latin typeface="+mn-lt"/>
                          <a:ea typeface="+mn-ea"/>
                          <a:cs typeface="+mn-cs"/>
                        </a:rPr>
                        <a:t> is measured at 300cm long rounded to one significant figure.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Find the lower bound and upper bound.</a:t>
                      </a:r>
                      <a:r>
                        <a:rPr kumimoji="0" lang="en-US" sz="1100" b="0" i="0" u="none" strike="noStrike" kern="1200" cap="none" spc="0" normalizeH="0" noProof="0">
                          <a:ln>
                            <a:noFill/>
                          </a:ln>
                          <a:solidFill>
                            <a:prstClr val="black"/>
                          </a:solidFill>
                          <a:effectLst/>
                          <a:uLnTx/>
                          <a:uFillTx/>
                          <a:latin typeface="+mn-lt"/>
                          <a:ea typeface="+mn-ea"/>
                          <a:cs typeface="+mn-cs"/>
                        </a:rPr>
                        <a:t> </a:t>
                      </a: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A chair is measured at 46cm</a:t>
                      </a:r>
                      <a:r>
                        <a:rPr kumimoji="0" lang="en-US" sz="1100" b="0" i="0" u="none" strike="noStrike" kern="1200" cap="none" spc="0" normalizeH="0" noProof="0">
                          <a:ln>
                            <a:noFill/>
                          </a:ln>
                          <a:solidFill>
                            <a:prstClr val="black"/>
                          </a:solidFill>
                          <a:effectLst/>
                          <a:uLnTx/>
                          <a:uFillTx/>
                          <a:latin typeface="+mn-lt"/>
                          <a:ea typeface="+mn-ea"/>
                          <a:cs typeface="+mn-cs"/>
                        </a:rPr>
                        <a:t> long rounded to two significant figures.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Find the lower bound and upper bound.</a:t>
                      </a: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A cupboard is measured at 4300m</a:t>
                      </a:r>
                      <a:r>
                        <a:rPr kumimoji="0" lang="en-US" sz="1100" b="0" i="0" u="none" strike="noStrike" kern="1200" cap="none" spc="0" normalizeH="0" noProof="0">
                          <a:ln>
                            <a:noFill/>
                          </a:ln>
                          <a:solidFill>
                            <a:prstClr val="black"/>
                          </a:solidFill>
                          <a:effectLst/>
                          <a:uLnTx/>
                          <a:uFillTx/>
                          <a:latin typeface="+mn-lt"/>
                          <a:ea typeface="+mn-ea"/>
                          <a:cs typeface="+mn-cs"/>
                        </a:rPr>
                        <a:t> tall rounded to two significant figures.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Find the lower bound and upper bound.</a:t>
                      </a: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61558">
                <a:tc>
                  <a:txBody>
                    <a:bodyPr/>
                    <a:lstStyle/>
                    <a:p>
                      <a:pPr marL="0" indent="0">
                        <a:buNone/>
                      </a:pPr>
                      <a:r>
                        <a:rPr lang="en-US" sz="1100"/>
                        <a:t>2. For the lower bound, work out the lowest it could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861558">
                <a:tc>
                  <a:txBody>
                    <a:bodyPr/>
                    <a:lstStyle/>
                    <a:p>
                      <a:pPr marL="0" indent="0">
                        <a:buNone/>
                      </a:pPr>
                      <a:r>
                        <a:rPr lang="en-US" sz="1100"/>
                        <a:t>3. For the upper bound, work out the greatest it can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bl>
          </a:graphicData>
        </a:graphic>
      </p:graphicFrame>
      <p:sp>
        <p:nvSpPr>
          <p:cNvPr id="85" name="Rectangle 84">
            <a:extLst>
              <a:ext uri="{FF2B5EF4-FFF2-40B4-BE49-F238E27FC236}">
                <a16:creationId xmlns:a16="http://schemas.microsoft.com/office/drawing/2014/main" id="{30F39907-770A-FCC7-81E4-9473DF39E64E}"/>
              </a:ext>
            </a:extLst>
          </p:cNvPr>
          <p:cNvSpPr/>
          <p:nvPr/>
        </p:nvSpPr>
        <p:spPr>
          <a:xfrm>
            <a:off x="1346680" y="2311165"/>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6" name="Rectangle 85">
            <a:extLst>
              <a:ext uri="{FF2B5EF4-FFF2-40B4-BE49-F238E27FC236}">
                <a16:creationId xmlns:a16="http://schemas.microsoft.com/office/drawing/2014/main" id="{7FE4C189-C47C-9BC6-2CAD-A9CF666D10D9}"/>
              </a:ext>
            </a:extLst>
          </p:cNvPr>
          <p:cNvSpPr/>
          <p:nvPr/>
        </p:nvSpPr>
        <p:spPr>
          <a:xfrm>
            <a:off x="1346680" y="2906895"/>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7" name="Rectangle 86">
            <a:extLst>
              <a:ext uri="{FF2B5EF4-FFF2-40B4-BE49-F238E27FC236}">
                <a16:creationId xmlns:a16="http://schemas.microsoft.com/office/drawing/2014/main" id="{465BED49-B547-80C5-66D0-BE6C4BED22B1}"/>
              </a:ext>
            </a:extLst>
          </p:cNvPr>
          <p:cNvSpPr/>
          <p:nvPr/>
        </p:nvSpPr>
        <p:spPr>
          <a:xfrm>
            <a:off x="3120883" y="286455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8" name="Rectangle 87">
            <a:extLst>
              <a:ext uri="{FF2B5EF4-FFF2-40B4-BE49-F238E27FC236}">
                <a16:creationId xmlns:a16="http://schemas.microsoft.com/office/drawing/2014/main" id="{0FE42CDA-88B8-D892-9FD8-6859E899225D}"/>
              </a:ext>
            </a:extLst>
          </p:cNvPr>
          <p:cNvSpPr/>
          <p:nvPr/>
        </p:nvSpPr>
        <p:spPr>
          <a:xfrm>
            <a:off x="3120883" y="2321775"/>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9" name="Rectangle 88">
            <a:extLst>
              <a:ext uri="{FF2B5EF4-FFF2-40B4-BE49-F238E27FC236}">
                <a16:creationId xmlns:a16="http://schemas.microsoft.com/office/drawing/2014/main" id="{69B059DA-EC4C-9F77-405B-695754D2FACD}"/>
              </a:ext>
            </a:extLst>
          </p:cNvPr>
          <p:cNvSpPr/>
          <p:nvPr/>
        </p:nvSpPr>
        <p:spPr>
          <a:xfrm>
            <a:off x="4895086" y="232999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0" name="Rectangle 89">
            <a:extLst>
              <a:ext uri="{FF2B5EF4-FFF2-40B4-BE49-F238E27FC236}">
                <a16:creationId xmlns:a16="http://schemas.microsoft.com/office/drawing/2014/main" id="{BCB7A618-A1A0-EAA6-566E-E3304D755B31}"/>
              </a:ext>
            </a:extLst>
          </p:cNvPr>
          <p:cNvSpPr/>
          <p:nvPr/>
        </p:nvSpPr>
        <p:spPr>
          <a:xfrm>
            <a:off x="4908628" y="284246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1" name="TextBox 90">
            <a:extLst>
              <a:ext uri="{FF2B5EF4-FFF2-40B4-BE49-F238E27FC236}">
                <a16:creationId xmlns:a16="http://schemas.microsoft.com/office/drawing/2014/main" id="{AA5AC7FE-9231-675C-171E-80C4838BF78E}"/>
              </a:ext>
            </a:extLst>
          </p:cNvPr>
          <p:cNvSpPr txBox="1"/>
          <p:nvPr/>
        </p:nvSpPr>
        <p:spPr>
          <a:xfrm>
            <a:off x="1522036" y="117056"/>
            <a:ext cx="1410704" cy="276999"/>
          </a:xfrm>
          <a:prstGeom prst="rect">
            <a:avLst/>
          </a:prstGeom>
          <a:noFill/>
          <a:ln>
            <a:noFill/>
          </a:ln>
        </p:spPr>
        <p:txBody>
          <a:bodyPr wrap="square" rtlCol="0">
            <a:spAutoFit/>
          </a:bodyPr>
          <a:lstStyle/>
          <a:p>
            <a:r>
              <a:rPr lang="en-GB" sz="1200" b="1" i="1">
                <a:solidFill>
                  <a:srgbClr val="FF0000"/>
                </a:solidFill>
              </a:rPr>
              <a:t>Example 13 - I do…</a:t>
            </a:r>
          </a:p>
        </p:txBody>
      </p:sp>
      <p:sp>
        <p:nvSpPr>
          <p:cNvPr id="92" name="TextBox 91">
            <a:extLst>
              <a:ext uri="{FF2B5EF4-FFF2-40B4-BE49-F238E27FC236}">
                <a16:creationId xmlns:a16="http://schemas.microsoft.com/office/drawing/2014/main" id="{AB5F82E7-7CA6-35ED-4538-085E8ED06220}"/>
              </a:ext>
            </a:extLst>
          </p:cNvPr>
          <p:cNvSpPr txBox="1"/>
          <p:nvPr/>
        </p:nvSpPr>
        <p:spPr>
          <a:xfrm>
            <a:off x="4940618" y="111843"/>
            <a:ext cx="1643405" cy="276999"/>
          </a:xfrm>
          <a:prstGeom prst="rect">
            <a:avLst/>
          </a:prstGeom>
          <a:noFill/>
          <a:ln>
            <a:noFill/>
          </a:ln>
        </p:spPr>
        <p:txBody>
          <a:bodyPr wrap="square" rtlCol="0">
            <a:spAutoFit/>
          </a:bodyPr>
          <a:lstStyle/>
          <a:p>
            <a:r>
              <a:rPr lang="en-GB" sz="1200" b="1" i="1">
                <a:solidFill>
                  <a:srgbClr val="00B050"/>
                </a:solidFill>
              </a:rPr>
              <a:t>Example 15 – You do…</a:t>
            </a:r>
          </a:p>
        </p:txBody>
      </p:sp>
      <p:sp>
        <p:nvSpPr>
          <p:cNvPr id="93" name="TextBox 92">
            <a:extLst>
              <a:ext uri="{FF2B5EF4-FFF2-40B4-BE49-F238E27FC236}">
                <a16:creationId xmlns:a16="http://schemas.microsoft.com/office/drawing/2014/main" id="{F4DF40EB-837B-84B7-BE56-CCE8719F8475}"/>
              </a:ext>
            </a:extLst>
          </p:cNvPr>
          <p:cNvSpPr txBox="1"/>
          <p:nvPr/>
        </p:nvSpPr>
        <p:spPr>
          <a:xfrm>
            <a:off x="3152873" y="117055"/>
            <a:ext cx="1667605" cy="276999"/>
          </a:xfrm>
          <a:prstGeom prst="rect">
            <a:avLst/>
          </a:prstGeom>
          <a:noFill/>
          <a:ln>
            <a:noFill/>
          </a:ln>
        </p:spPr>
        <p:txBody>
          <a:bodyPr wrap="square" rtlCol="0">
            <a:spAutoFit/>
          </a:bodyPr>
          <a:lstStyle/>
          <a:p>
            <a:r>
              <a:rPr lang="en-GB" sz="1200" b="1" i="1">
                <a:solidFill>
                  <a:schemeClr val="accent2"/>
                </a:solidFill>
              </a:rPr>
              <a:t>Example 14 - We do…</a:t>
            </a:r>
          </a:p>
        </p:txBody>
      </p:sp>
      <p:graphicFrame>
        <p:nvGraphicFramePr>
          <p:cNvPr id="41" name="Table 4">
            <a:extLst>
              <a:ext uri="{FF2B5EF4-FFF2-40B4-BE49-F238E27FC236}">
                <a16:creationId xmlns:a16="http://schemas.microsoft.com/office/drawing/2014/main" id="{D5ACFDF3-5259-E156-8C0E-47570B162B81}"/>
              </a:ext>
            </a:extLst>
          </p:cNvPr>
          <p:cNvGraphicFramePr>
            <a:graphicFrameLocks noGrp="1"/>
          </p:cNvGraphicFramePr>
          <p:nvPr/>
        </p:nvGraphicFramePr>
        <p:xfrm>
          <a:off x="157160" y="4008629"/>
          <a:ext cx="6543680" cy="551884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2883400625"/>
                    </a:ext>
                  </a:extLst>
                </a:gridCol>
                <a:gridCol w="1635920">
                  <a:extLst>
                    <a:ext uri="{9D8B030D-6E8A-4147-A177-3AD203B41FA5}">
                      <a16:colId xmlns:a16="http://schemas.microsoft.com/office/drawing/2014/main" val="3749730281"/>
                    </a:ext>
                  </a:extLst>
                </a:gridCol>
                <a:gridCol w="1635920">
                  <a:extLst>
                    <a:ext uri="{9D8B030D-6E8A-4147-A177-3AD203B41FA5}">
                      <a16:colId xmlns:a16="http://schemas.microsoft.com/office/drawing/2014/main" val="469938388"/>
                    </a:ext>
                  </a:extLst>
                </a:gridCol>
                <a:gridCol w="1635920">
                  <a:extLst>
                    <a:ext uri="{9D8B030D-6E8A-4147-A177-3AD203B41FA5}">
                      <a16:colId xmlns:a16="http://schemas.microsoft.com/office/drawing/2014/main" val="2138273463"/>
                    </a:ext>
                  </a:extLst>
                </a:gridCol>
              </a:tblGrid>
              <a:tr h="370840">
                <a:tc gridSpan="4">
                  <a:txBody>
                    <a:bodyPr/>
                    <a:lstStyle/>
                    <a:p>
                      <a:r>
                        <a:rPr lang="en-GB" sz="1200" b="0">
                          <a:solidFill>
                            <a:schemeClr val="tx1"/>
                          </a:solidFill>
                        </a:rPr>
                        <a:t>Question 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2723375"/>
                  </a:ext>
                </a:extLst>
              </a:tr>
              <a:tr h="468000">
                <a:tc>
                  <a:txBody>
                    <a:bodyPr/>
                    <a:lstStyle/>
                    <a:p>
                      <a:r>
                        <a:rPr lang="en-GB" sz="1200" b="1"/>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Rounded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Lower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Upper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404164"/>
                  </a:ext>
                </a:extLst>
              </a:tr>
              <a:tr h="468000">
                <a:tc>
                  <a:txBody>
                    <a:bodyPr/>
                    <a:lstStyle/>
                    <a:p>
                      <a:r>
                        <a:rPr lang="en-GB" sz="1200" b="0"/>
                        <a:t>4000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significant figure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2606302"/>
                  </a:ext>
                </a:extLst>
              </a:tr>
              <a:tr h="468000">
                <a:tc>
                  <a:txBody>
                    <a:bodyPr/>
                    <a:lstStyle/>
                    <a:p>
                      <a:r>
                        <a:rPr lang="en-GB" sz="1200" b="0"/>
                        <a:t>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significant figure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5985246"/>
                  </a:ext>
                </a:extLst>
              </a:tr>
              <a:tr h="468000">
                <a:tc>
                  <a:txBody>
                    <a:bodyPr/>
                    <a:lstStyle/>
                    <a:p>
                      <a:r>
                        <a:rPr lang="en-GB" sz="1200" b="0"/>
                        <a:t>6000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significant figure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7029901"/>
                  </a:ext>
                </a:extLst>
              </a:tr>
              <a:tr h="468000">
                <a:tc>
                  <a:txBody>
                    <a:bodyPr/>
                    <a:lstStyle/>
                    <a:p>
                      <a:r>
                        <a:rPr lang="en-GB" sz="1200" b="0"/>
                        <a:t>600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significant figure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9084959"/>
                  </a:ext>
                </a:extLst>
              </a:tr>
              <a:tr h="468000">
                <a:tc>
                  <a:txBody>
                    <a:bodyPr/>
                    <a:lstStyle/>
                    <a:p>
                      <a:r>
                        <a:rPr lang="en-GB" sz="1200" b="0"/>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significant figure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3786819"/>
                  </a:ext>
                </a:extLst>
              </a:tr>
              <a:tr h="468000">
                <a:tc>
                  <a:txBody>
                    <a:bodyPr/>
                    <a:lstStyle/>
                    <a:p>
                      <a:r>
                        <a:rPr lang="en-GB" sz="1200" b="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significant figure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749284"/>
                  </a:ext>
                </a:extLst>
              </a:tr>
              <a:tr h="468000">
                <a:tc>
                  <a:txBody>
                    <a:bodyPr/>
                    <a:lstStyle/>
                    <a:p>
                      <a:r>
                        <a:rPr lang="en-GB" sz="1200" b="0"/>
                        <a:t>5300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2 significant figures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0349422"/>
                  </a:ext>
                </a:extLst>
              </a:tr>
              <a:tr h="468000">
                <a:tc>
                  <a:txBody>
                    <a:bodyPr/>
                    <a:lstStyle/>
                    <a:p>
                      <a:r>
                        <a:rPr lang="en-GB" sz="1200" b="0"/>
                        <a:t>5200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9859243"/>
                  </a:ext>
                </a:extLst>
              </a:tr>
              <a:tr h="468000">
                <a:tc>
                  <a:txBody>
                    <a:bodyPr/>
                    <a:lstStyle/>
                    <a:p>
                      <a:r>
                        <a:rPr lang="en-GB" sz="1200" b="0"/>
                        <a:t>5100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1698252"/>
                  </a:ext>
                </a:extLst>
              </a:tr>
              <a:tr h="468000">
                <a:tc>
                  <a:txBody>
                    <a:bodyPr/>
                    <a:lstStyle/>
                    <a:p>
                      <a:r>
                        <a:rPr lang="en-GB" sz="1200" b="0"/>
                        <a:t>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196757"/>
                  </a:ext>
                </a:extLst>
              </a:tr>
            </a:tbl>
          </a:graphicData>
        </a:graphic>
      </p:graphicFrame>
      <p:sp>
        <p:nvSpPr>
          <p:cNvPr id="42" name="Rectangle 41">
            <a:extLst>
              <a:ext uri="{FF2B5EF4-FFF2-40B4-BE49-F238E27FC236}">
                <a16:creationId xmlns:a16="http://schemas.microsoft.com/office/drawing/2014/main" id="{4C4B2C60-AD15-0AC3-92F5-B21508001244}"/>
              </a:ext>
            </a:extLst>
          </p:cNvPr>
          <p:cNvSpPr/>
          <p:nvPr/>
        </p:nvSpPr>
        <p:spPr>
          <a:xfrm>
            <a:off x="157161" y="3572967"/>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1477799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179732" y="9444444"/>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1" name="Table 4">
            <a:extLst>
              <a:ext uri="{FF2B5EF4-FFF2-40B4-BE49-F238E27FC236}">
                <a16:creationId xmlns:a16="http://schemas.microsoft.com/office/drawing/2014/main" id="{D5ACFDF3-5259-E156-8C0E-47570B162B81}"/>
              </a:ext>
            </a:extLst>
          </p:cNvPr>
          <p:cNvGraphicFramePr>
            <a:graphicFrameLocks noGrp="1"/>
          </p:cNvGraphicFramePr>
          <p:nvPr/>
        </p:nvGraphicFramePr>
        <p:xfrm>
          <a:off x="157160" y="103379"/>
          <a:ext cx="6543680" cy="669604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2883400625"/>
                    </a:ext>
                  </a:extLst>
                </a:gridCol>
                <a:gridCol w="1635920">
                  <a:extLst>
                    <a:ext uri="{9D8B030D-6E8A-4147-A177-3AD203B41FA5}">
                      <a16:colId xmlns:a16="http://schemas.microsoft.com/office/drawing/2014/main" val="3749730281"/>
                    </a:ext>
                  </a:extLst>
                </a:gridCol>
                <a:gridCol w="1635920">
                  <a:extLst>
                    <a:ext uri="{9D8B030D-6E8A-4147-A177-3AD203B41FA5}">
                      <a16:colId xmlns:a16="http://schemas.microsoft.com/office/drawing/2014/main" val="469938388"/>
                    </a:ext>
                  </a:extLst>
                </a:gridCol>
                <a:gridCol w="1635920">
                  <a:extLst>
                    <a:ext uri="{9D8B030D-6E8A-4147-A177-3AD203B41FA5}">
                      <a16:colId xmlns:a16="http://schemas.microsoft.com/office/drawing/2014/main" val="2138273463"/>
                    </a:ext>
                  </a:extLst>
                </a:gridCol>
              </a:tblGrid>
              <a:tr h="370840">
                <a:tc gridSpan="4">
                  <a:txBody>
                    <a:bodyPr/>
                    <a:lstStyle/>
                    <a:p>
                      <a:r>
                        <a:rPr lang="en-GB" sz="1200" b="0">
                          <a:solidFill>
                            <a:schemeClr val="tx1"/>
                          </a:solidFill>
                        </a:rPr>
                        <a:t>Question 3 continued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2723375"/>
                  </a:ext>
                </a:extLst>
              </a:tr>
              <a:tr h="432000">
                <a:tc>
                  <a:txBody>
                    <a:bodyPr/>
                    <a:lstStyle/>
                    <a:p>
                      <a:r>
                        <a:rPr lang="en-GB" sz="1200" b="1"/>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Rounded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Lower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Upper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404164"/>
                  </a:ext>
                </a:extLst>
              </a:tr>
              <a:tr h="432000">
                <a:tc>
                  <a:txBody>
                    <a:bodyPr/>
                    <a:lstStyle/>
                    <a:p>
                      <a:r>
                        <a:rPr lang="en-GB" sz="1200" b="0"/>
                        <a:t>5320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3 significant figures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2606302"/>
                  </a:ext>
                </a:extLst>
              </a:tr>
              <a:tr h="432000">
                <a:tc>
                  <a:txBody>
                    <a:bodyPr/>
                    <a:lstStyle/>
                    <a:p>
                      <a:r>
                        <a:rPr lang="en-GB" sz="1200" b="0"/>
                        <a:t>5310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5985246"/>
                  </a:ext>
                </a:extLst>
              </a:tr>
              <a:tr h="432000">
                <a:tc>
                  <a:txBody>
                    <a:bodyPr/>
                    <a:lstStyle/>
                    <a:p>
                      <a:r>
                        <a:rPr lang="en-GB" sz="1200" b="0"/>
                        <a:t>5300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7029901"/>
                  </a:ext>
                </a:extLst>
              </a:tr>
              <a:tr h="432000">
                <a:tc>
                  <a:txBody>
                    <a:bodyPr/>
                    <a:lstStyle/>
                    <a:p>
                      <a:r>
                        <a:rPr lang="en-GB" sz="1200" b="0"/>
                        <a:t>8000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9084959"/>
                  </a:ext>
                </a:extLst>
              </a:tr>
              <a:tr h="432000">
                <a:tc>
                  <a:txBody>
                    <a:bodyPr/>
                    <a:lstStyle/>
                    <a:p>
                      <a:r>
                        <a:rPr lang="en-GB" sz="1200" b="0"/>
                        <a:t>8000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3786819"/>
                  </a:ext>
                </a:extLst>
              </a:tr>
              <a:tr h="432000">
                <a:tc>
                  <a:txBody>
                    <a:bodyPr/>
                    <a:lstStyle/>
                    <a:p>
                      <a:r>
                        <a:rPr lang="en-GB" sz="1200" b="0"/>
                        <a:t>8000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1 significant figure</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749284"/>
                  </a:ext>
                </a:extLst>
              </a:tr>
              <a:tr h="432000">
                <a:tc>
                  <a:txBody>
                    <a:bodyPr/>
                    <a:lstStyle/>
                    <a:p>
                      <a:r>
                        <a:rPr lang="en-GB" sz="1200" b="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1 significant figure</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0349422"/>
                  </a:ext>
                </a:extLst>
              </a:tr>
              <a:tr h="432000">
                <a:tc>
                  <a:txBody>
                    <a:bodyPr/>
                    <a:lstStyle/>
                    <a:p>
                      <a:r>
                        <a:rPr lang="en-GB" sz="1200" b="0"/>
                        <a:t>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1 significant figure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9859243"/>
                  </a:ext>
                </a:extLst>
              </a:tr>
              <a:tr h="432000">
                <a:tc>
                  <a:txBody>
                    <a:bodyPr/>
                    <a:lstStyle/>
                    <a:p>
                      <a:r>
                        <a:rPr lang="en-GB" sz="1200" b="0"/>
                        <a:t>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1698252"/>
                  </a:ext>
                </a:extLst>
              </a:tr>
              <a:tr h="432000">
                <a:tc>
                  <a:txBody>
                    <a:bodyPr/>
                    <a:lstStyle/>
                    <a:p>
                      <a:r>
                        <a:rPr lang="en-GB" sz="1200" b="0"/>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196757"/>
                  </a:ext>
                </a:extLst>
              </a:tr>
              <a:tr h="432000">
                <a:tc>
                  <a:txBody>
                    <a:bodyPr/>
                    <a:lstStyle/>
                    <a:p>
                      <a:r>
                        <a:rPr lang="en-GB" sz="1200" b="0"/>
                        <a:t>13.7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9134806"/>
                  </a:ext>
                </a:extLst>
              </a:tr>
              <a:tr h="432000">
                <a:tc>
                  <a:txBody>
                    <a:bodyPr/>
                    <a:lstStyle/>
                    <a:p>
                      <a:r>
                        <a:rPr lang="en-GB" sz="1200" b="0"/>
                        <a:t>1.37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5546988"/>
                  </a:ext>
                </a:extLst>
              </a:tr>
              <a:tr h="432000">
                <a:tc>
                  <a:txBody>
                    <a:bodyPr/>
                    <a:lstStyle/>
                    <a:p>
                      <a:r>
                        <a:rPr lang="en-GB" sz="1200" b="0"/>
                        <a:t>1.38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6451335"/>
                  </a:ext>
                </a:extLst>
              </a:tr>
            </a:tbl>
          </a:graphicData>
        </a:graphic>
      </p:graphicFrame>
      <p:sp>
        <p:nvSpPr>
          <p:cNvPr id="29" name="TextBox 28">
            <a:extLst>
              <a:ext uri="{FF2B5EF4-FFF2-40B4-BE49-F238E27FC236}">
                <a16:creationId xmlns:a16="http://schemas.microsoft.com/office/drawing/2014/main" id="{D0B39793-701A-750D-CD5E-13426B91A525}"/>
              </a:ext>
            </a:extLst>
          </p:cNvPr>
          <p:cNvSpPr txBox="1"/>
          <p:nvPr/>
        </p:nvSpPr>
        <p:spPr>
          <a:xfrm>
            <a:off x="48792" y="6799419"/>
            <a:ext cx="2463367" cy="276999"/>
          </a:xfrm>
          <a:prstGeom prst="rect">
            <a:avLst/>
          </a:prstGeom>
          <a:noFill/>
        </p:spPr>
        <p:txBody>
          <a:bodyPr wrap="none" rtlCol="0">
            <a:spAutoFit/>
          </a:bodyPr>
          <a:lstStyle/>
          <a:p>
            <a:r>
              <a:rPr lang="en-US" sz="1200"/>
              <a:t>Question 4 - Work out the following:</a:t>
            </a:r>
            <a:endParaRPr lang="en-GB" sz="1200"/>
          </a:p>
        </p:txBody>
      </p:sp>
      <p:sp>
        <p:nvSpPr>
          <p:cNvPr id="30" name="TextBox 29">
            <a:extLst>
              <a:ext uri="{FF2B5EF4-FFF2-40B4-BE49-F238E27FC236}">
                <a16:creationId xmlns:a16="http://schemas.microsoft.com/office/drawing/2014/main" id="{B7DC8B2C-7CCE-6098-A871-8215A7E4D793}"/>
              </a:ext>
            </a:extLst>
          </p:cNvPr>
          <p:cNvSpPr txBox="1"/>
          <p:nvPr/>
        </p:nvSpPr>
        <p:spPr>
          <a:xfrm>
            <a:off x="62188" y="7076418"/>
            <a:ext cx="1670010" cy="2462213"/>
          </a:xfrm>
          <a:prstGeom prst="rect">
            <a:avLst/>
          </a:prstGeom>
          <a:noFill/>
          <a:ln>
            <a:solidFill>
              <a:schemeClr val="tx1"/>
            </a:solidFill>
          </a:ln>
        </p:spPr>
        <p:txBody>
          <a:bodyPr wrap="square" rtlCol="0">
            <a:spAutoFit/>
          </a:bodyPr>
          <a:lstStyle/>
          <a:p>
            <a:pPr algn="l"/>
            <a:r>
              <a:rPr lang="en-GB" sz="1100" b="0" i="0" u="none" strike="noStrike" baseline="0">
                <a:solidFill>
                  <a:srgbClr val="000000"/>
                </a:solidFill>
              </a:rPr>
              <a:t>a) Upper and lower bounds of 286 metres to the nearest metre. </a:t>
            </a:r>
          </a:p>
          <a:p>
            <a:pPr algn="l"/>
            <a:endParaRPr lang="en-GB" sz="1100">
              <a:solidFill>
                <a:srgbClr val="000000"/>
              </a:solidFill>
            </a:endParaRPr>
          </a:p>
          <a:p>
            <a:pPr algn="l"/>
            <a:endParaRPr lang="en-GB" sz="1100" b="0" i="0" u="none" strike="noStrike" baseline="0">
              <a:solidFill>
                <a:srgbClr val="000000"/>
              </a:solidFill>
            </a:endParaRPr>
          </a:p>
          <a:p>
            <a:pPr algn="l"/>
            <a:endParaRPr lang="en-GB" sz="1100" b="0" i="0" u="none" strike="noStrike" baseline="0">
              <a:solidFill>
                <a:srgbClr val="000000"/>
              </a:solidFill>
            </a:endParaRPr>
          </a:p>
          <a:p>
            <a:pPr algn="l"/>
            <a:endParaRPr lang="en-GB" sz="1100" b="0" i="0" u="none" strike="noStrike" baseline="0">
              <a:solidFill>
                <a:srgbClr val="000000"/>
              </a:solidFill>
            </a:endParaRPr>
          </a:p>
          <a:p>
            <a:pPr algn="l"/>
            <a:endParaRPr lang="en-GB" sz="1100">
              <a:solidFill>
                <a:srgbClr val="000000"/>
              </a:solidFill>
            </a:endParaRPr>
          </a:p>
          <a:p>
            <a:pPr algn="l"/>
            <a:r>
              <a:rPr lang="en-GB" sz="1100" b="0" i="0" u="none" strike="noStrike" baseline="0">
                <a:solidFill>
                  <a:srgbClr val="000000"/>
                </a:solidFill>
              </a:rPr>
              <a:t>Upper bound = </a:t>
            </a:r>
          </a:p>
          <a:p>
            <a:pPr algn="l"/>
            <a:endParaRPr lang="en-GB" sz="1100">
              <a:solidFill>
                <a:srgbClr val="000000"/>
              </a:solidFill>
            </a:endParaRPr>
          </a:p>
          <a:p>
            <a:pPr algn="l"/>
            <a:endParaRPr lang="en-GB" sz="1100" b="0" i="0" u="none" strike="noStrike" baseline="0">
              <a:solidFill>
                <a:srgbClr val="000000"/>
              </a:solidFill>
            </a:endParaRPr>
          </a:p>
          <a:p>
            <a:pPr algn="l"/>
            <a:r>
              <a:rPr lang="en-GB" sz="1100">
                <a:solidFill>
                  <a:srgbClr val="000000"/>
                </a:solidFill>
              </a:rPr>
              <a:t>Lower bound = </a:t>
            </a:r>
            <a:r>
              <a:rPr lang="en-GB" sz="1100" b="0" i="0" u="none" strike="noStrike" baseline="0">
                <a:solidFill>
                  <a:srgbClr val="000000"/>
                </a:solidFill>
              </a:rPr>
              <a:t>	</a:t>
            </a:r>
          </a:p>
          <a:p>
            <a:endParaRPr lang="en-GB" sz="1100"/>
          </a:p>
          <a:p>
            <a:endParaRPr lang="en-GB" sz="1100"/>
          </a:p>
        </p:txBody>
      </p:sp>
      <p:sp>
        <p:nvSpPr>
          <p:cNvPr id="31" name="Rectangle 30">
            <a:extLst>
              <a:ext uri="{FF2B5EF4-FFF2-40B4-BE49-F238E27FC236}">
                <a16:creationId xmlns:a16="http://schemas.microsoft.com/office/drawing/2014/main" id="{40F4A583-B624-984D-0837-7A1C0D5D4205}"/>
              </a:ext>
            </a:extLst>
          </p:cNvPr>
          <p:cNvSpPr/>
          <p:nvPr/>
        </p:nvSpPr>
        <p:spPr>
          <a:xfrm>
            <a:off x="135122" y="8627464"/>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B032FB58-90AA-8AB4-9C90-27C6F94B46F9}"/>
              </a:ext>
            </a:extLst>
          </p:cNvPr>
          <p:cNvSpPr/>
          <p:nvPr/>
        </p:nvSpPr>
        <p:spPr>
          <a:xfrm>
            <a:off x="135122" y="9168985"/>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982FBB35-3341-863C-92D6-5CEC2CD598D9}"/>
              </a:ext>
            </a:extLst>
          </p:cNvPr>
          <p:cNvSpPr txBox="1"/>
          <p:nvPr/>
        </p:nvSpPr>
        <p:spPr>
          <a:xfrm>
            <a:off x="1745594" y="7076418"/>
            <a:ext cx="1670010" cy="2462213"/>
          </a:xfrm>
          <a:prstGeom prst="rect">
            <a:avLst/>
          </a:prstGeom>
          <a:noFill/>
          <a:ln>
            <a:solidFill>
              <a:schemeClr val="tx1"/>
            </a:solidFill>
          </a:ln>
        </p:spPr>
        <p:txBody>
          <a:bodyPr wrap="square" rtlCol="0">
            <a:spAutoFit/>
          </a:bodyPr>
          <a:lstStyle/>
          <a:p>
            <a:pPr algn="l"/>
            <a:r>
              <a:rPr lang="en-GB" sz="1100" b="0" i="0" u="none" strike="noStrike" baseline="0">
                <a:solidFill>
                  <a:srgbClr val="000000"/>
                </a:solidFill>
              </a:rPr>
              <a:t>b) Upper and lower bounds of 21cm to the nearest cm. </a:t>
            </a:r>
          </a:p>
          <a:p>
            <a:pPr algn="l"/>
            <a:endParaRPr lang="en-GB" sz="1100">
              <a:solidFill>
                <a:srgbClr val="000000"/>
              </a:solidFill>
            </a:endParaRPr>
          </a:p>
          <a:p>
            <a:pPr algn="l"/>
            <a:endParaRPr lang="en-GB" sz="1100" b="0" i="0" u="none" strike="noStrike" baseline="0">
              <a:solidFill>
                <a:srgbClr val="000000"/>
              </a:solidFill>
            </a:endParaRPr>
          </a:p>
          <a:p>
            <a:pPr algn="l"/>
            <a:endParaRPr lang="en-GB" sz="1100" b="0" i="0" u="none" strike="noStrike" baseline="0">
              <a:solidFill>
                <a:srgbClr val="000000"/>
              </a:solidFill>
            </a:endParaRPr>
          </a:p>
          <a:p>
            <a:pPr algn="l"/>
            <a:endParaRPr lang="en-GB" sz="1100" b="0" i="0" u="none" strike="noStrike" baseline="0">
              <a:solidFill>
                <a:srgbClr val="000000"/>
              </a:solidFill>
            </a:endParaRPr>
          </a:p>
          <a:p>
            <a:pPr algn="l"/>
            <a:endParaRPr lang="en-GB" sz="1100">
              <a:solidFill>
                <a:srgbClr val="000000"/>
              </a:solidFill>
            </a:endParaRPr>
          </a:p>
          <a:p>
            <a:pPr algn="l"/>
            <a:r>
              <a:rPr lang="en-GB" sz="1100" b="0" i="0" u="none" strike="noStrike" baseline="0">
                <a:solidFill>
                  <a:srgbClr val="000000"/>
                </a:solidFill>
              </a:rPr>
              <a:t>Upper bound = </a:t>
            </a:r>
          </a:p>
          <a:p>
            <a:pPr algn="l"/>
            <a:endParaRPr lang="en-GB" sz="1100">
              <a:solidFill>
                <a:srgbClr val="000000"/>
              </a:solidFill>
            </a:endParaRPr>
          </a:p>
          <a:p>
            <a:pPr algn="l"/>
            <a:endParaRPr lang="en-GB" sz="1100" b="0" i="0" u="none" strike="noStrike" baseline="0">
              <a:solidFill>
                <a:srgbClr val="000000"/>
              </a:solidFill>
            </a:endParaRPr>
          </a:p>
          <a:p>
            <a:pPr algn="l"/>
            <a:r>
              <a:rPr lang="en-GB" sz="1100">
                <a:solidFill>
                  <a:srgbClr val="000000"/>
                </a:solidFill>
              </a:rPr>
              <a:t>Lower bound = </a:t>
            </a:r>
            <a:r>
              <a:rPr lang="en-GB" sz="1100" b="0" i="0" u="none" strike="noStrike" baseline="0">
                <a:solidFill>
                  <a:srgbClr val="000000"/>
                </a:solidFill>
              </a:rPr>
              <a:t>	</a:t>
            </a:r>
          </a:p>
          <a:p>
            <a:endParaRPr lang="en-GB" sz="1100"/>
          </a:p>
          <a:p>
            <a:endParaRPr lang="en-GB" sz="1100"/>
          </a:p>
        </p:txBody>
      </p:sp>
      <p:sp>
        <p:nvSpPr>
          <p:cNvPr id="34" name="Rectangle 33">
            <a:extLst>
              <a:ext uri="{FF2B5EF4-FFF2-40B4-BE49-F238E27FC236}">
                <a16:creationId xmlns:a16="http://schemas.microsoft.com/office/drawing/2014/main" id="{8A076CA1-1672-1378-82B8-033648A2503D}"/>
              </a:ext>
            </a:extLst>
          </p:cNvPr>
          <p:cNvSpPr/>
          <p:nvPr/>
        </p:nvSpPr>
        <p:spPr>
          <a:xfrm>
            <a:off x="1818528" y="8627464"/>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546E9BB9-2C97-6682-1AED-D2657179A42D}"/>
              </a:ext>
            </a:extLst>
          </p:cNvPr>
          <p:cNvSpPr/>
          <p:nvPr/>
        </p:nvSpPr>
        <p:spPr>
          <a:xfrm>
            <a:off x="1818528" y="9168985"/>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8D01F984-0FE4-3E48-5749-1DCD558B3F2C}"/>
              </a:ext>
            </a:extLst>
          </p:cNvPr>
          <p:cNvSpPr txBox="1"/>
          <p:nvPr/>
        </p:nvSpPr>
        <p:spPr>
          <a:xfrm>
            <a:off x="3429000" y="7076418"/>
            <a:ext cx="1670010" cy="2462213"/>
          </a:xfrm>
          <a:prstGeom prst="rect">
            <a:avLst/>
          </a:prstGeom>
          <a:noFill/>
          <a:ln>
            <a:solidFill>
              <a:schemeClr val="tx1"/>
            </a:solidFill>
          </a:ln>
        </p:spPr>
        <p:txBody>
          <a:bodyPr wrap="square" rtlCol="0">
            <a:spAutoFit/>
          </a:bodyPr>
          <a:lstStyle/>
          <a:p>
            <a:pPr algn="l"/>
            <a:r>
              <a:rPr lang="en-GB" sz="1100" b="0" i="0" u="none" strike="noStrike" baseline="0">
                <a:solidFill>
                  <a:srgbClr val="000000"/>
                </a:solidFill>
              </a:rPr>
              <a:t>c) Upper and lower bounds of 7.8cm to 1 decimal place. </a:t>
            </a:r>
          </a:p>
          <a:p>
            <a:pPr algn="l"/>
            <a:endParaRPr lang="en-GB" sz="1100">
              <a:solidFill>
                <a:srgbClr val="000000"/>
              </a:solidFill>
            </a:endParaRPr>
          </a:p>
          <a:p>
            <a:pPr algn="l"/>
            <a:endParaRPr lang="en-GB" sz="1100" b="0" i="0" u="none" strike="noStrike" baseline="0">
              <a:solidFill>
                <a:srgbClr val="000000"/>
              </a:solidFill>
            </a:endParaRPr>
          </a:p>
          <a:p>
            <a:pPr algn="l"/>
            <a:endParaRPr lang="en-GB" sz="1100" b="0" i="0" u="none" strike="noStrike" baseline="0">
              <a:solidFill>
                <a:srgbClr val="000000"/>
              </a:solidFill>
            </a:endParaRPr>
          </a:p>
          <a:p>
            <a:pPr algn="l"/>
            <a:endParaRPr lang="en-GB" sz="1100" b="0" i="0" u="none" strike="noStrike" baseline="0">
              <a:solidFill>
                <a:srgbClr val="000000"/>
              </a:solidFill>
            </a:endParaRPr>
          </a:p>
          <a:p>
            <a:pPr algn="l"/>
            <a:endParaRPr lang="en-GB" sz="1100">
              <a:solidFill>
                <a:srgbClr val="000000"/>
              </a:solidFill>
            </a:endParaRPr>
          </a:p>
          <a:p>
            <a:pPr algn="l"/>
            <a:r>
              <a:rPr lang="en-GB" sz="1100" b="0" i="0" u="none" strike="noStrike" baseline="0">
                <a:solidFill>
                  <a:srgbClr val="000000"/>
                </a:solidFill>
              </a:rPr>
              <a:t>Upper bound = </a:t>
            </a:r>
          </a:p>
          <a:p>
            <a:pPr algn="l"/>
            <a:endParaRPr lang="en-GB" sz="1100">
              <a:solidFill>
                <a:srgbClr val="000000"/>
              </a:solidFill>
            </a:endParaRPr>
          </a:p>
          <a:p>
            <a:pPr algn="l"/>
            <a:endParaRPr lang="en-GB" sz="1100" b="0" i="0" u="none" strike="noStrike" baseline="0">
              <a:solidFill>
                <a:srgbClr val="000000"/>
              </a:solidFill>
            </a:endParaRPr>
          </a:p>
          <a:p>
            <a:pPr algn="l"/>
            <a:r>
              <a:rPr lang="en-GB" sz="1100">
                <a:solidFill>
                  <a:srgbClr val="000000"/>
                </a:solidFill>
              </a:rPr>
              <a:t>Lower bound = </a:t>
            </a:r>
            <a:r>
              <a:rPr lang="en-GB" sz="1100" b="0" i="0" u="none" strike="noStrike" baseline="0">
                <a:solidFill>
                  <a:srgbClr val="000000"/>
                </a:solidFill>
              </a:rPr>
              <a:t>	</a:t>
            </a:r>
          </a:p>
          <a:p>
            <a:endParaRPr lang="en-GB" sz="1100"/>
          </a:p>
          <a:p>
            <a:endParaRPr lang="en-GB" sz="1100"/>
          </a:p>
        </p:txBody>
      </p:sp>
      <p:sp>
        <p:nvSpPr>
          <p:cNvPr id="37" name="Rectangle 36">
            <a:extLst>
              <a:ext uri="{FF2B5EF4-FFF2-40B4-BE49-F238E27FC236}">
                <a16:creationId xmlns:a16="http://schemas.microsoft.com/office/drawing/2014/main" id="{ED68CB37-21E1-BF28-C5D3-E9CE78512384}"/>
              </a:ext>
            </a:extLst>
          </p:cNvPr>
          <p:cNvSpPr/>
          <p:nvPr/>
        </p:nvSpPr>
        <p:spPr>
          <a:xfrm>
            <a:off x="3501934" y="8627464"/>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A2768F64-CFE4-48CD-3444-748BEAE87D05}"/>
              </a:ext>
            </a:extLst>
          </p:cNvPr>
          <p:cNvSpPr/>
          <p:nvPr/>
        </p:nvSpPr>
        <p:spPr>
          <a:xfrm>
            <a:off x="3501934" y="9168985"/>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Box 38">
            <a:extLst>
              <a:ext uri="{FF2B5EF4-FFF2-40B4-BE49-F238E27FC236}">
                <a16:creationId xmlns:a16="http://schemas.microsoft.com/office/drawing/2014/main" id="{95A8A424-10B0-1305-9401-69F9A7556E01}"/>
              </a:ext>
            </a:extLst>
          </p:cNvPr>
          <p:cNvSpPr txBox="1"/>
          <p:nvPr/>
        </p:nvSpPr>
        <p:spPr>
          <a:xfrm>
            <a:off x="5112406" y="7076418"/>
            <a:ext cx="1670010" cy="2462213"/>
          </a:xfrm>
          <a:prstGeom prst="rect">
            <a:avLst/>
          </a:prstGeom>
          <a:noFill/>
          <a:ln>
            <a:solidFill>
              <a:schemeClr val="tx1"/>
            </a:solidFill>
          </a:ln>
        </p:spPr>
        <p:txBody>
          <a:bodyPr wrap="square" rtlCol="0">
            <a:spAutoFit/>
          </a:bodyPr>
          <a:lstStyle/>
          <a:p>
            <a:pPr algn="l"/>
            <a:r>
              <a:rPr lang="en-GB" sz="1100" b="0" i="0" u="none" strike="noStrike" baseline="0">
                <a:solidFill>
                  <a:srgbClr val="000000"/>
                </a:solidFill>
              </a:rPr>
              <a:t>d) Upper and lower bounds of 5.24kg to 2 decimal places. </a:t>
            </a:r>
          </a:p>
          <a:p>
            <a:pPr algn="l"/>
            <a:endParaRPr lang="en-GB" sz="1100" b="0" i="0" u="none" strike="noStrike" baseline="0">
              <a:solidFill>
                <a:srgbClr val="000000"/>
              </a:solidFill>
            </a:endParaRPr>
          </a:p>
          <a:p>
            <a:pPr algn="l"/>
            <a:endParaRPr lang="en-GB" sz="1100">
              <a:solidFill>
                <a:srgbClr val="000000"/>
              </a:solidFill>
            </a:endParaRPr>
          </a:p>
          <a:p>
            <a:pPr algn="l"/>
            <a:endParaRPr lang="en-GB" sz="1100" b="0" i="0" u="none" strike="noStrike" baseline="0">
              <a:solidFill>
                <a:srgbClr val="000000"/>
              </a:solidFill>
            </a:endParaRPr>
          </a:p>
          <a:p>
            <a:pPr algn="l"/>
            <a:endParaRPr lang="en-GB" sz="1100" b="0" i="0" u="none" strike="noStrike" baseline="0">
              <a:solidFill>
                <a:srgbClr val="000000"/>
              </a:solidFill>
            </a:endParaRPr>
          </a:p>
          <a:p>
            <a:pPr algn="l"/>
            <a:endParaRPr lang="en-GB" sz="1100">
              <a:solidFill>
                <a:srgbClr val="000000"/>
              </a:solidFill>
            </a:endParaRPr>
          </a:p>
          <a:p>
            <a:pPr algn="l"/>
            <a:r>
              <a:rPr lang="en-GB" sz="1100" b="0" i="0" u="none" strike="noStrike" baseline="0">
                <a:solidFill>
                  <a:srgbClr val="000000"/>
                </a:solidFill>
              </a:rPr>
              <a:t>Upper bound = </a:t>
            </a:r>
          </a:p>
          <a:p>
            <a:pPr algn="l"/>
            <a:endParaRPr lang="en-GB" sz="1100">
              <a:solidFill>
                <a:srgbClr val="000000"/>
              </a:solidFill>
            </a:endParaRPr>
          </a:p>
          <a:p>
            <a:pPr algn="l"/>
            <a:endParaRPr lang="en-GB" sz="1100" b="0" i="0" u="none" strike="noStrike" baseline="0">
              <a:solidFill>
                <a:srgbClr val="000000"/>
              </a:solidFill>
            </a:endParaRPr>
          </a:p>
          <a:p>
            <a:pPr algn="l"/>
            <a:r>
              <a:rPr lang="en-GB" sz="1100">
                <a:solidFill>
                  <a:srgbClr val="000000"/>
                </a:solidFill>
              </a:rPr>
              <a:t>Lower bound = </a:t>
            </a:r>
            <a:r>
              <a:rPr lang="en-GB" sz="1100" b="0" i="0" u="none" strike="noStrike" baseline="0">
                <a:solidFill>
                  <a:srgbClr val="000000"/>
                </a:solidFill>
              </a:rPr>
              <a:t>	</a:t>
            </a:r>
          </a:p>
          <a:p>
            <a:endParaRPr lang="en-GB" sz="1100"/>
          </a:p>
          <a:p>
            <a:endParaRPr lang="en-GB" sz="1100"/>
          </a:p>
        </p:txBody>
      </p:sp>
      <p:sp>
        <p:nvSpPr>
          <p:cNvPr id="40" name="Rectangle 39">
            <a:extLst>
              <a:ext uri="{FF2B5EF4-FFF2-40B4-BE49-F238E27FC236}">
                <a16:creationId xmlns:a16="http://schemas.microsoft.com/office/drawing/2014/main" id="{090E461F-01C2-13CF-0716-CB90A682C36C}"/>
              </a:ext>
            </a:extLst>
          </p:cNvPr>
          <p:cNvSpPr/>
          <p:nvPr/>
        </p:nvSpPr>
        <p:spPr>
          <a:xfrm>
            <a:off x="5185340" y="8627464"/>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9B78F63D-514E-18A3-090D-38C2A0B97B63}"/>
              </a:ext>
            </a:extLst>
          </p:cNvPr>
          <p:cNvSpPr/>
          <p:nvPr/>
        </p:nvSpPr>
        <p:spPr>
          <a:xfrm>
            <a:off x="5185340" y="9168985"/>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458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extBox 149"/>
          <p:cNvSpPr txBox="1"/>
          <p:nvPr/>
        </p:nvSpPr>
        <p:spPr>
          <a:xfrm>
            <a:off x="1385887" y="4412146"/>
            <a:ext cx="40862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Calibri" panose="020F0502020204030204"/>
              </a:rPr>
              <a:t>5</a:t>
            </a:r>
            <a:r>
              <a:rPr lang="en-US" sz="1200" b="1">
                <a:solidFill>
                  <a:prstClr val="black"/>
                </a:solidFill>
                <a:latin typeface="Calibri" panose="020F0502020204030204"/>
              </a:rPr>
              <a:t>.</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Fill in the blanks</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lide Number Placeholder 11"/>
          <p:cNvSpPr>
            <a:spLocks noGrp="1"/>
          </p:cNvSpPr>
          <p:nvPr>
            <p:ph type="sldNum" sz="quarter" idx="12"/>
          </p:nvPr>
        </p:nvSpPr>
        <p:spPr>
          <a:xfrm>
            <a:off x="5378450" y="9580707"/>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Rectangle 1">
            <a:extLst>
              <a:ext uri="{FF2B5EF4-FFF2-40B4-BE49-F238E27FC236}">
                <a16:creationId xmlns:a16="http://schemas.microsoft.com/office/drawing/2014/main" id="{B85E45F3-141A-9343-1B5F-7F1A6B203A62}"/>
              </a:ext>
            </a:extLst>
          </p:cNvPr>
          <p:cNvSpPr/>
          <p:nvPr/>
        </p:nvSpPr>
        <p:spPr>
          <a:xfrm>
            <a:off x="72327" y="4407868"/>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3" name="Rectangle 2">
            <a:extLst>
              <a:ext uri="{FF2B5EF4-FFF2-40B4-BE49-F238E27FC236}">
                <a16:creationId xmlns:a16="http://schemas.microsoft.com/office/drawing/2014/main" id="{EDFBA9B3-9C1E-08F6-370C-29C7C9C42E83}"/>
              </a:ext>
            </a:extLst>
          </p:cNvPr>
          <p:cNvSpPr/>
          <p:nvPr/>
        </p:nvSpPr>
        <p:spPr>
          <a:xfrm>
            <a:off x="-2848" y="-30862"/>
            <a:ext cx="6691138" cy="3908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a:solidFill>
                  <a:schemeClr val="bg1"/>
                </a:solidFill>
              </a:rPr>
              <a:t>Error intervals</a:t>
            </a:r>
            <a:endParaRPr lang="en-GB" sz="1600">
              <a:solidFill>
                <a:schemeClr val="bg1"/>
              </a:solidFill>
            </a:endParaRPr>
          </a:p>
        </p:txBody>
      </p:sp>
      <p:cxnSp>
        <p:nvCxnSpPr>
          <p:cNvPr id="4" name="Straight Connector 3">
            <a:extLst>
              <a:ext uri="{FF2B5EF4-FFF2-40B4-BE49-F238E27FC236}">
                <a16:creationId xmlns:a16="http://schemas.microsoft.com/office/drawing/2014/main" id="{873FBD00-493E-360E-27C7-F1F23B0B7B08}"/>
              </a:ext>
            </a:extLst>
          </p:cNvPr>
          <p:cNvCxnSpPr>
            <a:cxnSpLocks/>
          </p:cNvCxnSpPr>
          <p:nvPr/>
        </p:nvCxnSpPr>
        <p:spPr>
          <a:xfrm>
            <a:off x="862131" y="1945523"/>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5" name="Table 4">
            <a:extLst>
              <a:ext uri="{FF2B5EF4-FFF2-40B4-BE49-F238E27FC236}">
                <a16:creationId xmlns:a16="http://schemas.microsoft.com/office/drawing/2014/main" id="{9FB8CCA3-CA08-A6D0-E019-6841639D3CA9}"/>
              </a:ext>
            </a:extLst>
          </p:cNvPr>
          <p:cNvGraphicFramePr>
            <a:graphicFrameLocks noGrp="1"/>
          </p:cNvGraphicFramePr>
          <p:nvPr/>
        </p:nvGraphicFramePr>
        <p:xfrm>
          <a:off x="63872" y="650769"/>
          <a:ext cx="6543680" cy="3661329"/>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285669">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n-lt"/>
                          <a:ea typeface="+mn-ea"/>
                          <a:cs typeface="+mn-cs"/>
                        </a:rPr>
                        <a:t>Work out the error interval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658460">
                <a:tc>
                  <a:txBody>
                    <a:bodyPr/>
                    <a:lstStyle/>
                    <a:p>
                      <a:pPr marL="0" indent="0">
                        <a:buNone/>
                      </a:pPr>
                      <a:r>
                        <a:rPr lang="en-US" sz="1100"/>
                        <a:t>1. Identify the degree of accuracy stated.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What is the error interval of 62 kg, measured to the nearest kg?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mn-lt"/>
                        </a:rPr>
                        <a:t>Upper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mn-lt"/>
                        </a:rPr>
                        <a:t>Error interval</a:t>
                      </a:r>
                    </a:p>
                    <a:p>
                      <a:pPr marL="0" indent="0">
                        <a:buNone/>
                      </a:pPr>
                      <a:endParaRPr lang="en-US" sz="1200">
                        <a:solidFill>
                          <a:schemeClr val="tx1"/>
                        </a:solidFill>
                      </a:endParaRPr>
                    </a:p>
                    <a:p>
                      <a:pPr marL="0" indent="0">
                        <a:buNone/>
                      </a:pPr>
                      <a:endParaRPr lang="en-US" sz="1200">
                        <a:solidFill>
                          <a:schemeClr val="tx1"/>
                        </a:solidFill>
                      </a:endParaRPr>
                    </a:p>
                    <a:p>
                      <a:pPr marL="0" indent="0">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What is the error interval of </a:t>
                      </a:r>
                      <a:r>
                        <a:rPr lang="en-US" sz="1200">
                          <a:solidFill>
                            <a:prstClr val="black"/>
                          </a:solidFill>
                          <a:latin typeface="+mn-lt"/>
                        </a:rPr>
                        <a:t>285</a:t>
                      </a:r>
                      <a:r>
                        <a:rPr kumimoji="0" lang="en-US" sz="1200" b="0" i="0" u="none" strike="noStrike" kern="1200" cap="none" spc="0" normalizeH="0" baseline="0" noProof="0">
                          <a:ln>
                            <a:noFill/>
                          </a:ln>
                          <a:solidFill>
                            <a:prstClr val="black"/>
                          </a:solidFill>
                          <a:effectLst/>
                          <a:uLnTx/>
                          <a:uFillTx/>
                          <a:latin typeface="+mn-lt"/>
                          <a:ea typeface="+mn-ea"/>
                          <a:cs typeface="+mn-cs"/>
                        </a:rPr>
                        <a:t> g, measured to the nearest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What is the error interval of 800 cm, rounded</a:t>
                      </a:r>
                      <a:r>
                        <a:rPr kumimoji="0" lang="en-US" sz="1200" b="0" i="0" u="none" strike="noStrike" kern="1200" cap="none" spc="0" normalizeH="0" noProof="0">
                          <a:ln>
                            <a:noFill/>
                          </a:ln>
                          <a:solidFill>
                            <a:prstClr val="black"/>
                          </a:solidFill>
                          <a:effectLst/>
                          <a:uLnTx/>
                          <a:uFillTx/>
                          <a:latin typeface="+mn-lt"/>
                          <a:ea typeface="+mn-ea"/>
                          <a:cs typeface="+mn-cs"/>
                        </a:rPr>
                        <a:t> to the nearest 100?</a:t>
                      </a: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indent="0">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58460">
                <a:tc>
                  <a:txBody>
                    <a:bodyPr/>
                    <a:lstStyle/>
                    <a:p>
                      <a:pPr marL="0" indent="0">
                        <a:buNone/>
                      </a:pPr>
                      <a:r>
                        <a:rPr lang="en-US" sz="1100"/>
                        <a:t>2. For the lower bound, work out the lowest it could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922020">
                <a:tc>
                  <a:txBody>
                    <a:bodyPr/>
                    <a:lstStyle/>
                    <a:p>
                      <a:pPr marL="0" indent="0">
                        <a:buNone/>
                      </a:pPr>
                      <a:r>
                        <a:rPr lang="en-US" sz="1100"/>
                        <a:t>3. For the upper bound, work out the greatest it can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r h="922020">
                <a:tc>
                  <a:txBody>
                    <a:bodyPr/>
                    <a:lstStyle/>
                    <a:p>
                      <a:pPr marL="0" indent="0">
                        <a:buNone/>
                      </a:pPr>
                      <a:r>
                        <a:rPr lang="en-US" sz="1100"/>
                        <a:t>4. Write these as an error interval.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721016692"/>
                  </a:ext>
                </a:extLst>
              </a:tr>
            </a:tbl>
          </a:graphicData>
        </a:graphic>
      </p:graphicFrame>
      <p:sp>
        <p:nvSpPr>
          <p:cNvPr id="6" name="TextBox 5">
            <a:extLst>
              <a:ext uri="{FF2B5EF4-FFF2-40B4-BE49-F238E27FC236}">
                <a16:creationId xmlns:a16="http://schemas.microsoft.com/office/drawing/2014/main" id="{97D48F79-B88F-FC1D-5446-C1C96E963B0F}"/>
              </a:ext>
            </a:extLst>
          </p:cNvPr>
          <p:cNvSpPr txBox="1"/>
          <p:nvPr/>
        </p:nvSpPr>
        <p:spPr>
          <a:xfrm>
            <a:off x="1396758" y="332033"/>
            <a:ext cx="1410704" cy="276999"/>
          </a:xfrm>
          <a:prstGeom prst="rect">
            <a:avLst/>
          </a:prstGeom>
          <a:noFill/>
          <a:ln>
            <a:noFill/>
          </a:ln>
        </p:spPr>
        <p:txBody>
          <a:bodyPr wrap="square" rtlCol="0">
            <a:spAutoFit/>
          </a:bodyPr>
          <a:lstStyle/>
          <a:p>
            <a:r>
              <a:rPr lang="en-GB" sz="1200" b="1" i="1">
                <a:solidFill>
                  <a:srgbClr val="FF0000"/>
                </a:solidFill>
              </a:rPr>
              <a:t>Example 7 - I do…</a:t>
            </a:r>
          </a:p>
        </p:txBody>
      </p:sp>
      <p:sp>
        <p:nvSpPr>
          <p:cNvPr id="7" name="TextBox 6">
            <a:extLst>
              <a:ext uri="{FF2B5EF4-FFF2-40B4-BE49-F238E27FC236}">
                <a16:creationId xmlns:a16="http://schemas.microsoft.com/office/drawing/2014/main" id="{D88CE26C-766D-BB02-863F-884D793B310C}"/>
              </a:ext>
            </a:extLst>
          </p:cNvPr>
          <p:cNvSpPr txBox="1"/>
          <p:nvPr/>
        </p:nvSpPr>
        <p:spPr>
          <a:xfrm>
            <a:off x="4815340" y="326820"/>
            <a:ext cx="1643405" cy="276999"/>
          </a:xfrm>
          <a:prstGeom prst="rect">
            <a:avLst/>
          </a:prstGeom>
          <a:noFill/>
          <a:ln>
            <a:noFill/>
          </a:ln>
        </p:spPr>
        <p:txBody>
          <a:bodyPr wrap="square" rtlCol="0">
            <a:spAutoFit/>
          </a:bodyPr>
          <a:lstStyle/>
          <a:p>
            <a:r>
              <a:rPr lang="en-GB" sz="1200" b="1" i="1">
                <a:solidFill>
                  <a:srgbClr val="00B050"/>
                </a:solidFill>
              </a:rPr>
              <a:t>Example 9 – You do…</a:t>
            </a:r>
          </a:p>
        </p:txBody>
      </p:sp>
      <p:sp>
        <p:nvSpPr>
          <p:cNvPr id="8" name="TextBox 7">
            <a:extLst>
              <a:ext uri="{FF2B5EF4-FFF2-40B4-BE49-F238E27FC236}">
                <a16:creationId xmlns:a16="http://schemas.microsoft.com/office/drawing/2014/main" id="{6379E8A4-D975-7D1C-53B5-89913506AF50}"/>
              </a:ext>
            </a:extLst>
          </p:cNvPr>
          <p:cNvSpPr txBox="1"/>
          <p:nvPr/>
        </p:nvSpPr>
        <p:spPr>
          <a:xfrm>
            <a:off x="3027595" y="332032"/>
            <a:ext cx="1667605" cy="276999"/>
          </a:xfrm>
          <a:prstGeom prst="rect">
            <a:avLst/>
          </a:prstGeom>
          <a:noFill/>
          <a:ln>
            <a:noFill/>
          </a:ln>
        </p:spPr>
        <p:txBody>
          <a:bodyPr wrap="square" rtlCol="0">
            <a:spAutoFit/>
          </a:bodyPr>
          <a:lstStyle/>
          <a:p>
            <a:r>
              <a:rPr lang="en-GB" sz="1200" b="1" i="1">
                <a:solidFill>
                  <a:schemeClr val="accent2"/>
                </a:solidFill>
              </a:rPr>
              <a:t>Example 8 - We do…</a:t>
            </a:r>
          </a:p>
        </p:txBody>
      </p:sp>
      <p:sp>
        <p:nvSpPr>
          <p:cNvPr id="10" name="Rectangle 9">
            <a:extLst>
              <a:ext uri="{FF2B5EF4-FFF2-40B4-BE49-F238E27FC236}">
                <a16:creationId xmlns:a16="http://schemas.microsoft.com/office/drawing/2014/main" id="{B186E1D2-4C10-A3FE-9DEC-8C74B59087FD}"/>
              </a:ext>
            </a:extLst>
          </p:cNvPr>
          <p:cNvSpPr/>
          <p:nvPr/>
        </p:nvSpPr>
        <p:spPr>
          <a:xfrm>
            <a:off x="1253392" y="247762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8" name="Rectangle 17">
            <a:extLst>
              <a:ext uri="{FF2B5EF4-FFF2-40B4-BE49-F238E27FC236}">
                <a16:creationId xmlns:a16="http://schemas.microsoft.com/office/drawing/2014/main" id="{40C0851B-A73D-067A-79E2-B1D736F55979}"/>
              </a:ext>
            </a:extLst>
          </p:cNvPr>
          <p:cNvSpPr/>
          <p:nvPr/>
        </p:nvSpPr>
        <p:spPr>
          <a:xfrm>
            <a:off x="1253392" y="307910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4" name="Rectangle 23">
            <a:extLst>
              <a:ext uri="{FF2B5EF4-FFF2-40B4-BE49-F238E27FC236}">
                <a16:creationId xmlns:a16="http://schemas.microsoft.com/office/drawing/2014/main" id="{54D23599-2A16-0298-B585-E53AFBE8A817}"/>
              </a:ext>
            </a:extLst>
          </p:cNvPr>
          <p:cNvSpPr/>
          <p:nvPr/>
        </p:nvSpPr>
        <p:spPr>
          <a:xfrm>
            <a:off x="1210281" y="3851641"/>
            <a:ext cx="1659920"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 name="Rectangle 24">
            <a:extLst>
              <a:ext uri="{FF2B5EF4-FFF2-40B4-BE49-F238E27FC236}">
                <a16:creationId xmlns:a16="http://schemas.microsoft.com/office/drawing/2014/main" id="{F72982A7-2D3F-1DBA-4E3C-FC0EF71FF68E}"/>
              </a:ext>
            </a:extLst>
          </p:cNvPr>
          <p:cNvSpPr/>
          <p:nvPr/>
        </p:nvSpPr>
        <p:spPr>
          <a:xfrm>
            <a:off x="2968294" y="3863017"/>
            <a:ext cx="1659920"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6" name="Rectangle 25">
            <a:extLst>
              <a:ext uri="{FF2B5EF4-FFF2-40B4-BE49-F238E27FC236}">
                <a16:creationId xmlns:a16="http://schemas.microsoft.com/office/drawing/2014/main" id="{E5243336-CF1B-5DED-8B6D-811D422C5DAF}"/>
              </a:ext>
            </a:extLst>
          </p:cNvPr>
          <p:cNvSpPr/>
          <p:nvPr/>
        </p:nvSpPr>
        <p:spPr>
          <a:xfrm>
            <a:off x="4798825" y="3863017"/>
            <a:ext cx="1659920"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mc:AlternateContent xmlns:mc="http://schemas.openxmlformats.org/markup-compatibility/2006" xmlns:a14="http://schemas.microsoft.com/office/drawing/2010/main">
        <mc:Choice Requires="a14">
          <p:graphicFrame>
            <p:nvGraphicFramePr>
              <p:cNvPr id="27" name="Table 26">
                <a:extLst>
                  <a:ext uri="{FF2B5EF4-FFF2-40B4-BE49-F238E27FC236}">
                    <a16:creationId xmlns:a16="http://schemas.microsoft.com/office/drawing/2014/main" id="{E9CCF660-90AC-6786-E581-0ABAC584B45F}"/>
                  </a:ext>
                </a:extLst>
              </p:cNvPr>
              <p:cNvGraphicFramePr>
                <a:graphicFrameLocks noGrp="1"/>
              </p:cNvGraphicFramePr>
              <p:nvPr/>
            </p:nvGraphicFramePr>
            <p:xfrm>
              <a:off x="165529" y="4823795"/>
              <a:ext cx="6442023" cy="4756912"/>
            </p:xfrm>
            <a:graphic>
              <a:graphicData uri="http://schemas.openxmlformats.org/drawingml/2006/table">
                <a:tbl>
                  <a:tblPr firstRow="1" firstCol="1" bandRow="1">
                    <a:tableStyleId>{5C22544A-7EE6-4342-B048-85BDC9FD1C3A}</a:tableStyleId>
                  </a:tblPr>
                  <a:tblGrid>
                    <a:gridCol w="850054">
                      <a:extLst>
                        <a:ext uri="{9D8B030D-6E8A-4147-A177-3AD203B41FA5}">
                          <a16:colId xmlns:a16="http://schemas.microsoft.com/office/drawing/2014/main" val="3943433533"/>
                        </a:ext>
                      </a:extLst>
                    </a:gridCol>
                    <a:gridCol w="1668350">
                      <a:extLst>
                        <a:ext uri="{9D8B030D-6E8A-4147-A177-3AD203B41FA5}">
                          <a16:colId xmlns:a16="http://schemas.microsoft.com/office/drawing/2014/main" val="2174510615"/>
                        </a:ext>
                      </a:extLst>
                    </a:gridCol>
                    <a:gridCol w="996396">
                      <a:extLst>
                        <a:ext uri="{9D8B030D-6E8A-4147-A177-3AD203B41FA5}">
                          <a16:colId xmlns:a16="http://schemas.microsoft.com/office/drawing/2014/main" val="3660280050"/>
                        </a:ext>
                      </a:extLst>
                    </a:gridCol>
                    <a:gridCol w="959404">
                      <a:extLst>
                        <a:ext uri="{9D8B030D-6E8A-4147-A177-3AD203B41FA5}">
                          <a16:colId xmlns:a16="http://schemas.microsoft.com/office/drawing/2014/main" val="1884859641"/>
                        </a:ext>
                      </a:extLst>
                    </a:gridCol>
                    <a:gridCol w="1967819">
                      <a:extLst>
                        <a:ext uri="{9D8B030D-6E8A-4147-A177-3AD203B41FA5}">
                          <a16:colId xmlns:a16="http://schemas.microsoft.com/office/drawing/2014/main" val="1497501360"/>
                        </a:ext>
                      </a:extLst>
                    </a:gridCol>
                  </a:tblGrid>
                  <a:tr h="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x</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Level of Accuracy</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Lower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Upper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Error Interval</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9293543"/>
                      </a:ext>
                    </a:extLst>
                  </a:tr>
                  <a:tr h="214132">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30 </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10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25≤</m:t>
                                </m:r>
                                <m:r>
                                  <m:rPr>
                                    <m:sty m:val="p"/>
                                  </m:rPr>
                                  <a:rPr lang="en-US" sz="1200" i="0" smtClean="0">
                                    <a:solidFill>
                                      <a:schemeClr val="tx1"/>
                                    </a:solidFill>
                                    <a:effectLst/>
                                    <a:latin typeface="Cambria Math" panose="02040503050406030204" pitchFamily="18" charset="0"/>
                                  </a:rPr>
                                  <m:t>x</m:t>
                                </m:r>
                                <m:r>
                                  <a:rPr lang="en-US" sz="1200" i="0" smtClean="0">
                                    <a:solidFill>
                                      <a:schemeClr val="tx1"/>
                                    </a:solidFill>
                                    <a:effectLst/>
                                    <a:latin typeface="Cambria Math" panose="02040503050406030204" pitchFamily="18" charset="0"/>
                                  </a:rPr>
                                  <m:t>&lt;35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225743"/>
                      </a:ext>
                    </a:extLst>
                  </a:tr>
                  <a:tr h="12901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700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100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750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7275474"/>
                      </a:ext>
                    </a:extLst>
                  </a:tr>
                  <a:tr h="220651">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integer</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25.5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0157274"/>
                      </a:ext>
                    </a:extLst>
                  </a:tr>
                  <a:tr h="211211">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22.5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95204234"/>
                      </a:ext>
                    </a:extLst>
                  </a:tr>
                  <a:tr h="235637">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24000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1000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3329376"/>
                      </a:ext>
                    </a:extLst>
                  </a:tr>
                  <a:tr h="21773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7.8</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0.1</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7901999"/>
                      </a:ext>
                    </a:extLst>
                  </a:tr>
                  <a:tr h="191357">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360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20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88288776"/>
                      </a:ext>
                    </a:extLst>
                  </a:tr>
                  <a:tr h="215783">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360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integer</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6616019"/>
                      </a:ext>
                    </a:extLst>
                  </a:tr>
                  <a:tr h="138609">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6000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100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1900776"/>
                      </a:ext>
                    </a:extLst>
                  </a:tr>
                  <a:tr h="163036">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1902131"/>
                      </a:ext>
                    </a:extLst>
                  </a:tr>
                  <a:tr h="204395">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10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8207386"/>
                      </a:ext>
                    </a:extLst>
                  </a:tr>
                  <a:tr h="186488">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13</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tenth</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40458967"/>
                      </a:ext>
                    </a:extLst>
                  </a:tr>
                  <a:tr h="160115">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integer</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8.5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2513288"/>
                      </a:ext>
                    </a:extLst>
                  </a:tr>
                  <a:tr h="209941">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49500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50500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3234300"/>
                      </a:ext>
                    </a:extLst>
                  </a:tr>
                  <a:tr h="115834">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8</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7≤</m:t>
                                </m:r>
                                <m:r>
                                  <m:rPr>
                                    <m:sty m:val="p"/>
                                  </m:rPr>
                                  <a:rPr lang="en-US" sz="1200" i="0" smtClean="0">
                                    <a:solidFill>
                                      <a:schemeClr val="tx1"/>
                                    </a:solidFill>
                                    <a:effectLst/>
                                    <a:latin typeface="Cambria Math" panose="02040503050406030204" pitchFamily="18" charset="0"/>
                                  </a:rPr>
                                  <m:t>x</m:t>
                                </m:r>
                                <m:r>
                                  <a:rPr lang="en-US" sz="1200" i="0" smtClean="0">
                                    <a:solidFill>
                                      <a:schemeClr val="tx1"/>
                                    </a:solidFill>
                                    <a:effectLst/>
                                    <a:latin typeface="Cambria Math" panose="02040503050406030204" pitchFamily="18" charset="0"/>
                                  </a:rPr>
                                  <m:t>&lt;     </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8631454"/>
                      </a:ext>
                    </a:extLst>
                  </a:tr>
                </a:tbl>
              </a:graphicData>
            </a:graphic>
          </p:graphicFrame>
        </mc:Choice>
        <mc:Fallback xmlns="">
          <p:graphicFrame>
            <p:nvGraphicFramePr>
              <p:cNvPr id="27" name="Table 26">
                <a:extLst>
                  <a:ext uri="{FF2B5EF4-FFF2-40B4-BE49-F238E27FC236}">
                    <a16:creationId xmlns:a16="http://schemas.microsoft.com/office/drawing/2014/main" id="{E9CCF660-90AC-6786-E581-0ABAC584B45F}"/>
                  </a:ext>
                </a:extLst>
              </p:cNvPr>
              <p:cNvGraphicFramePr>
                <a:graphicFrameLocks noGrp="1"/>
              </p:cNvGraphicFramePr>
              <p:nvPr>
                <p:extLst>
                  <p:ext uri="{D42A27DB-BD31-4B8C-83A1-F6EECF244321}">
                    <p14:modId xmlns:p14="http://schemas.microsoft.com/office/powerpoint/2010/main" val="2222351853"/>
                  </p:ext>
                </p:extLst>
              </p:nvPr>
            </p:nvGraphicFramePr>
            <p:xfrm>
              <a:off x="165529" y="4823795"/>
              <a:ext cx="6442023" cy="4756912"/>
            </p:xfrm>
            <a:graphic>
              <a:graphicData uri="http://schemas.openxmlformats.org/drawingml/2006/table">
                <a:tbl>
                  <a:tblPr firstRow="1" firstCol="1" bandRow="1">
                    <a:tableStyleId>{5C22544A-7EE6-4342-B048-85BDC9FD1C3A}</a:tableStyleId>
                  </a:tblPr>
                  <a:tblGrid>
                    <a:gridCol w="850054">
                      <a:extLst>
                        <a:ext uri="{9D8B030D-6E8A-4147-A177-3AD203B41FA5}">
                          <a16:colId xmlns:a16="http://schemas.microsoft.com/office/drawing/2014/main" val="3943433533"/>
                        </a:ext>
                      </a:extLst>
                    </a:gridCol>
                    <a:gridCol w="1668350">
                      <a:extLst>
                        <a:ext uri="{9D8B030D-6E8A-4147-A177-3AD203B41FA5}">
                          <a16:colId xmlns:a16="http://schemas.microsoft.com/office/drawing/2014/main" val="2174510615"/>
                        </a:ext>
                      </a:extLst>
                    </a:gridCol>
                    <a:gridCol w="996396">
                      <a:extLst>
                        <a:ext uri="{9D8B030D-6E8A-4147-A177-3AD203B41FA5}">
                          <a16:colId xmlns:a16="http://schemas.microsoft.com/office/drawing/2014/main" val="3660280050"/>
                        </a:ext>
                      </a:extLst>
                    </a:gridCol>
                    <a:gridCol w="959404">
                      <a:extLst>
                        <a:ext uri="{9D8B030D-6E8A-4147-A177-3AD203B41FA5}">
                          <a16:colId xmlns:a16="http://schemas.microsoft.com/office/drawing/2014/main" val="1884859641"/>
                        </a:ext>
                      </a:extLst>
                    </a:gridCol>
                    <a:gridCol w="1967819">
                      <a:extLst>
                        <a:ext uri="{9D8B030D-6E8A-4147-A177-3AD203B41FA5}">
                          <a16:colId xmlns:a16="http://schemas.microsoft.com/office/drawing/2014/main" val="1497501360"/>
                        </a:ext>
                      </a:extLst>
                    </a:gridCol>
                  </a:tblGrid>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2041" r="-661871" b="-1497959"/>
                          </a:stretch>
                        </a:blipFill>
                      </a:tcPr>
                    </a:tc>
                    <a:tc>
                      <a:txBody>
                        <a:bodyPr/>
                        <a:lstStyle/>
                        <a:p>
                          <a:pPr algn="ctr">
                            <a:lnSpc>
                              <a:spcPct val="107000"/>
                            </a:lnSpc>
                            <a:spcAft>
                              <a:spcPts val="800"/>
                            </a:spcAft>
                          </a:pPr>
                          <a:r>
                            <a:rPr lang="en-US" sz="1200" i="0">
                              <a:solidFill>
                                <a:schemeClr val="tx1"/>
                              </a:solidFill>
                              <a:effectLst/>
                            </a:rPr>
                            <a:t>Level of Accuracy</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Lower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Upper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Error Interval</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9293543"/>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102041" r="-661871" b="-1397959"/>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102041" r="-235766" b="-1397959"/>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52439" t="-102041" r="-293902" b="-1397959"/>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7554" t="-102041" r="-619" b="-1397959"/>
                          </a:stretch>
                        </a:blipFill>
                      </a:tcPr>
                    </a:tc>
                    <a:extLst>
                      <a:ext uri="{0D108BD9-81ED-4DB2-BD59-A6C34878D82A}">
                        <a16:rowId xmlns:a16="http://schemas.microsoft.com/office/drawing/2014/main" val="106225743"/>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206250" r="-661871" b="-1327083"/>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206250" r="-235766" b="-1327083"/>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8153" t="-206250" r="-207006" b="-1327083"/>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7275474"/>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300000" r="-661871" b="-1200000"/>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300000" r="-235766" b="-1200000"/>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8153" t="-300000" r="-207006" b="-1200000"/>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0157274"/>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400000" r="-661871" b="-1100000"/>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400000" r="-235766" b="-1100000"/>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52439" t="-400000" r="-293902" b="-1100000"/>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95204234"/>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500000" r="-661871" b="-1000000"/>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500000" r="-235766" b="-1000000"/>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3329376"/>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600000" r="-661871" b="-900000"/>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600000" r="-235766" b="-900000"/>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7901999"/>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700000" r="-661871" b="-800000"/>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700000" r="-235766" b="-800000"/>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88288776"/>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816667" r="-661871" b="-716667"/>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816667" r="-235766" b="-716667"/>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6616019"/>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897959" r="-661871" b="-602041"/>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897959" r="-235766" b="-602041"/>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1900776"/>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997959" r="-661871" b="-502041"/>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997959" r="-235766" b="-502041"/>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1902131"/>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1097959" r="-661871" b="-402041"/>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1097959" r="-235766" b="-402041"/>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8207386"/>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1197959" r="-661871" b="-302041"/>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1197959" r="-235766" b="-302041"/>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40458967"/>
                      </a:ext>
                    </a:extLst>
                  </a:tr>
                  <a:tr h="297307">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1325000" r="-235766" b="-208333"/>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8153" t="-1325000" r="-207006" b="-208333"/>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2513288"/>
                      </a:ext>
                    </a:extLst>
                  </a:tr>
                  <a:tr h="297307">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52439" t="-1395918" r="-293902" b="-104082"/>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8153" t="-1395918" r="-207006" b="-104082"/>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3234300"/>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1495918" r="-661871" b="-4082"/>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7554" t="-1495918" r="-619" b="-4082"/>
                          </a:stretch>
                        </a:blipFill>
                      </a:tcPr>
                    </a:tc>
                    <a:extLst>
                      <a:ext uri="{0D108BD9-81ED-4DB2-BD59-A6C34878D82A}">
                        <a16:rowId xmlns:a16="http://schemas.microsoft.com/office/drawing/2014/main" val="2238631454"/>
                      </a:ext>
                    </a:extLst>
                  </a:tr>
                </a:tbl>
              </a:graphicData>
            </a:graphic>
          </p:graphicFrame>
        </mc:Fallback>
      </mc:AlternateContent>
    </p:spTree>
    <p:extLst>
      <p:ext uri="{BB962C8B-B14F-4D97-AF65-F5344CB8AC3E}">
        <p14:creationId xmlns:p14="http://schemas.microsoft.com/office/powerpoint/2010/main" val="2695163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extBox 149"/>
          <p:cNvSpPr txBox="1"/>
          <p:nvPr/>
        </p:nvSpPr>
        <p:spPr>
          <a:xfrm>
            <a:off x="1396494" y="4102031"/>
            <a:ext cx="40862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6.</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Fill in the blanks</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lide Number Placeholder 11"/>
          <p:cNvSpPr>
            <a:spLocks noGrp="1"/>
          </p:cNvSpPr>
          <p:nvPr>
            <p:ph type="sldNum" sz="quarter" idx="12"/>
          </p:nvPr>
        </p:nvSpPr>
        <p:spPr>
          <a:xfrm>
            <a:off x="5378450" y="9580707"/>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Rectangle 1">
            <a:extLst>
              <a:ext uri="{FF2B5EF4-FFF2-40B4-BE49-F238E27FC236}">
                <a16:creationId xmlns:a16="http://schemas.microsoft.com/office/drawing/2014/main" id="{B85E45F3-141A-9343-1B5F-7F1A6B203A62}"/>
              </a:ext>
            </a:extLst>
          </p:cNvPr>
          <p:cNvSpPr/>
          <p:nvPr/>
        </p:nvSpPr>
        <p:spPr>
          <a:xfrm>
            <a:off x="82934" y="409775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cxnSp>
        <p:nvCxnSpPr>
          <p:cNvPr id="4" name="Straight Connector 3">
            <a:extLst>
              <a:ext uri="{FF2B5EF4-FFF2-40B4-BE49-F238E27FC236}">
                <a16:creationId xmlns:a16="http://schemas.microsoft.com/office/drawing/2014/main" id="{873FBD00-493E-360E-27C7-F1F23B0B7B08}"/>
              </a:ext>
            </a:extLst>
          </p:cNvPr>
          <p:cNvCxnSpPr>
            <a:cxnSpLocks/>
          </p:cNvCxnSpPr>
          <p:nvPr/>
        </p:nvCxnSpPr>
        <p:spPr>
          <a:xfrm>
            <a:off x="911705" y="1626021"/>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5" name="Table 4">
            <a:extLst>
              <a:ext uri="{FF2B5EF4-FFF2-40B4-BE49-F238E27FC236}">
                <a16:creationId xmlns:a16="http://schemas.microsoft.com/office/drawing/2014/main" id="{9FB8CCA3-CA08-A6D0-E019-6841639D3CA9}"/>
              </a:ext>
            </a:extLst>
          </p:cNvPr>
          <p:cNvGraphicFramePr>
            <a:graphicFrameLocks noGrp="1"/>
          </p:cNvGraphicFramePr>
          <p:nvPr/>
        </p:nvGraphicFramePr>
        <p:xfrm>
          <a:off x="113446" y="331268"/>
          <a:ext cx="6543680" cy="3668605"/>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262175">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n-lt"/>
                          <a:ea typeface="+mn-ea"/>
                          <a:cs typeface="+mn-cs"/>
                        </a:rPr>
                        <a:t>Work out the upper bound and lower bound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699331">
                <a:tc>
                  <a:txBody>
                    <a:bodyPr/>
                    <a:lstStyle/>
                    <a:p>
                      <a:pPr marL="0" indent="0">
                        <a:buNone/>
                      </a:pPr>
                      <a:r>
                        <a:rPr lang="en-US" sz="1100"/>
                        <a:t>1. Identify the degree of accuracy stated.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What is the error interval of 620 kg, measured to two significant figures?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mn-lt"/>
                        </a:rPr>
                        <a:t>Upper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mn-lt"/>
                        </a:rPr>
                        <a:t>Error interval</a:t>
                      </a:r>
                    </a:p>
                    <a:p>
                      <a:pPr marL="0" indent="0">
                        <a:buNone/>
                      </a:pPr>
                      <a:endParaRPr lang="en-US" sz="1200">
                        <a:solidFill>
                          <a:schemeClr val="tx1"/>
                        </a:solidFill>
                      </a:endParaRPr>
                    </a:p>
                    <a:p>
                      <a:pPr marL="0" indent="0">
                        <a:buNone/>
                      </a:pPr>
                      <a:endParaRPr lang="en-US" sz="1200">
                        <a:solidFill>
                          <a:schemeClr val="tx1"/>
                        </a:solidFill>
                      </a:endParaRPr>
                    </a:p>
                    <a:p>
                      <a:pPr marL="0" indent="0">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What is the error interval of </a:t>
                      </a:r>
                      <a:r>
                        <a:rPr lang="en-US" sz="1200">
                          <a:solidFill>
                            <a:prstClr val="black"/>
                          </a:solidFill>
                          <a:latin typeface="+mn-lt"/>
                        </a:rPr>
                        <a:t>2.8</a:t>
                      </a:r>
                      <a:r>
                        <a:rPr kumimoji="0" lang="en-US" sz="1200" b="0" i="0" u="none" strike="noStrike" kern="1200" cap="none" spc="0" normalizeH="0" baseline="0" noProof="0">
                          <a:ln>
                            <a:noFill/>
                          </a:ln>
                          <a:solidFill>
                            <a:prstClr val="black"/>
                          </a:solidFill>
                          <a:effectLst/>
                          <a:uLnTx/>
                          <a:uFillTx/>
                          <a:latin typeface="+mn-lt"/>
                          <a:ea typeface="+mn-ea"/>
                          <a:cs typeface="+mn-cs"/>
                        </a:rPr>
                        <a:t> g, measured to one decimal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What is the error interval of 82cm, rounded</a:t>
                      </a:r>
                      <a:r>
                        <a:rPr kumimoji="0" lang="en-US" sz="1200" b="0" i="0" u="none" strike="noStrike" kern="1200" cap="none" spc="0" normalizeH="0" noProof="0">
                          <a:ln>
                            <a:noFill/>
                          </a:ln>
                          <a:solidFill>
                            <a:prstClr val="black"/>
                          </a:solidFill>
                          <a:effectLst/>
                          <a:uLnTx/>
                          <a:uFillTx/>
                          <a:latin typeface="+mn-lt"/>
                          <a:ea typeface="+mn-ea"/>
                          <a:cs typeface="+mn-cs"/>
                        </a:rPr>
                        <a:t> to two significant </a:t>
                      </a:r>
                      <a:r>
                        <a:rPr lang="en-US" sz="1200">
                          <a:solidFill>
                            <a:prstClr val="black"/>
                          </a:solidFill>
                          <a:latin typeface="+mn-lt"/>
                        </a:rPr>
                        <a:t>figures. </a:t>
                      </a: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indent="0">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99331">
                <a:tc>
                  <a:txBody>
                    <a:bodyPr/>
                    <a:lstStyle/>
                    <a:p>
                      <a:pPr marL="0" indent="0">
                        <a:buNone/>
                      </a:pPr>
                      <a:r>
                        <a:rPr lang="en-US" sz="1100"/>
                        <a:t>2. For the lower bound, work out the lowest it could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941215">
                <a:tc>
                  <a:txBody>
                    <a:bodyPr/>
                    <a:lstStyle/>
                    <a:p>
                      <a:pPr marL="0" indent="0">
                        <a:buNone/>
                      </a:pPr>
                      <a:r>
                        <a:rPr lang="en-US" sz="1100"/>
                        <a:t>3. For the upper bound, work out the greatest it can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r h="941215">
                <a:tc>
                  <a:txBody>
                    <a:bodyPr/>
                    <a:lstStyle/>
                    <a:p>
                      <a:pPr marL="0" indent="0">
                        <a:buNone/>
                      </a:pPr>
                      <a:r>
                        <a:rPr lang="en-US" sz="1100"/>
                        <a:t>4. Write these as an error interval.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904195854"/>
                  </a:ext>
                </a:extLst>
              </a:tr>
            </a:tbl>
          </a:graphicData>
        </a:graphic>
      </p:graphicFrame>
      <p:sp>
        <p:nvSpPr>
          <p:cNvPr id="6" name="TextBox 5">
            <a:extLst>
              <a:ext uri="{FF2B5EF4-FFF2-40B4-BE49-F238E27FC236}">
                <a16:creationId xmlns:a16="http://schemas.microsoft.com/office/drawing/2014/main" id="{97D48F79-B88F-FC1D-5446-C1C96E963B0F}"/>
              </a:ext>
            </a:extLst>
          </p:cNvPr>
          <p:cNvSpPr txBox="1"/>
          <p:nvPr/>
        </p:nvSpPr>
        <p:spPr>
          <a:xfrm>
            <a:off x="1446332" y="12531"/>
            <a:ext cx="1410704" cy="276999"/>
          </a:xfrm>
          <a:prstGeom prst="rect">
            <a:avLst/>
          </a:prstGeom>
          <a:noFill/>
          <a:ln>
            <a:noFill/>
          </a:ln>
        </p:spPr>
        <p:txBody>
          <a:bodyPr wrap="square" rtlCol="0">
            <a:spAutoFit/>
          </a:bodyPr>
          <a:lstStyle/>
          <a:p>
            <a:r>
              <a:rPr lang="en-GB" sz="1200" b="1" i="1" dirty="0">
                <a:solidFill>
                  <a:srgbClr val="FF0000"/>
                </a:solidFill>
              </a:rPr>
              <a:t>Example 10 - I do…</a:t>
            </a:r>
          </a:p>
        </p:txBody>
      </p:sp>
      <p:sp>
        <p:nvSpPr>
          <p:cNvPr id="7" name="TextBox 6">
            <a:extLst>
              <a:ext uri="{FF2B5EF4-FFF2-40B4-BE49-F238E27FC236}">
                <a16:creationId xmlns:a16="http://schemas.microsoft.com/office/drawing/2014/main" id="{D88CE26C-766D-BB02-863F-884D793B310C}"/>
              </a:ext>
            </a:extLst>
          </p:cNvPr>
          <p:cNvSpPr txBox="1"/>
          <p:nvPr/>
        </p:nvSpPr>
        <p:spPr>
          <a:xfrm>
            <a:off x="4864914" y="7318"/>
            <a:ext cx="1643405" cy="276999"/>
          </a:xfrm>
          <a:prstGeom prst="rect">
            <a:avLst/>
          </a:prstGeom>
          <a:noFill/>
          <a:ln>
            <a:noFill/>
          </a:ln>
        </p:spPr>
        <p:txBody>
          <a:bodyPr wrap="square" rtlCol="0">
            <a:spAutoFit/>
          </a:bodyPr>
          <a:lstStyle/>
          <a:p>
            <a:r>
              <a:rPr lang="en-GB" sz="1200" b="1" i="1" dirty="0">
                <a:solidFill>
                  <a:srgbClr val="00B050"/>
                </a:solidFill>
              </a:rPr>
              <a:t>Example 12 – You do…</a:t>
            </a:r>
          </a:p>
        </p:txBody>
      </p:sp>
      <p:sp>
        <p:nvSpPr>
          <p:cNvPr id="8" name="TextBox 7">
            <a:extLst>
              <a:ext uri="{FF2B5EF4-FFF2-40B4-BE49-F238E27FC236}">
                <a16:creationId xmlns:a16="http://schemas.microsoft.com/office/drawing/2014/main" id="{6379E8A4-D975-7D1C-53B5-89913506AF50}"/>
              </a:ext>
            </a:extLst>
          </p:cNvPr>
          <p:cNvSpPr txBox="1"/>
          <p:nvPr/>
        </p:nvSpPr>
        <p:spPr>
          <a:xfrm>
            <a:off x="3077169" y="12530"/>
            <a:ext cx="1667605" cy="276999"/>
          </a:xfrm>
          <a:prstGeom prst="rect">
            <a:avLst/>
          </a:prstGeom>
          <a:noFill/>
          <a:ln>
            <a:noFill/>
          </a:ln>
        </p:spPr>
        <p:txBody>
          <a:bodyPr wrap="square" rtlCol="0">
            <a:spAutoFit/>
          </a:bodyPr>
          <a:lstStyle/>
          <a:p>
            <a:r>
              <a:rPr lang="en-GB" sz="1200" b="1" i="1" dirty="0">
                <a:solidFill>
                  <a:schemeClr val="accent2"/>
                </a:solidFill>
              </a:rPr>
              <a:t>Example 11 - We do…</a:t>
            </a:r>
          </a:p>
        </p:txBody>
      </p:sp>
      <p:sp>
        <p:nvSpPr>
          <p:cNvPr id="10" name="Rectangle 9">
            <a:extLst>
              <a:ext uri="{FF2B5EF4-FFF2-40B4-BE49-F238E27FC236}">
                <a16:creationId xmlns:a16="http://schemas.microsoft.com/office/drawing/2014/main" id="{B186E1D2-4C10-A3FE-9DEC-8C74B59087FD}"/>
              </a:ext>
            </a:extLst>
          </p:cNvPr>
          <p:cNvSpPr/>
          <p:nvPr/>
        </p:nvSpPr>
        <p:spPr>
          <a:xfrm>
            <a:off x="1302966" y="215812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8" name="Rectangle 17">
            <a:extLst>
              <a:ext uri="{FF2B5EF4-FFF2-40B4-BE49-F238E27FC236}">
                <a16:creationId xmlns:a16="http://schemas.microsoft.com/office/drawing/2014/main" id="{40C0851B-A73D-067A-79E2-B1D736F55979}"/>
              </a:ext>
            </a:extLst>
          </p:cNvPr>
          <p:cNvSpPr/>
          <p:nvPr/>
        </p:nvSpPr>
        <p:spPr>
          <a:xfrm>
            <a:off x="1302966" y="275959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4" name="Rectangle 23">
            <a:extLst>
              <a:ext uri="{FF2B5EF4-FFF2-40B4-BE49-F238E27FC236}">
                <a16:creationId xmlns:a16="http://schemas.microsoft.com/office/drawing/2014/main" id="{54D23599-2A16-0298-B585-E53AFBE8A817}"/>
              </a:ext>
            </a:extLst>
          </p:cNvPr>
          <p:cNvSpPr/>
          <p:nvPr/>
        </p:nvSpPr>
        <p:spPr>
          <a:xfrm>
            <a:off x="1259855" y="3532139"/>
            <a:ext cx="1659920"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 name="Rectangle 24">
            <a:extLst>
              <a:ext uri="{FF2B5EF4-FFF2-40B4-BE49-F238E27FC236}">
                <a16:creationId xmlns:a16="http://schemas.microsoft.com/office/drawing/2014/main" id="{F72982A7-2D3F-1DBA-4E3C-FC0EF71FF68E}"/>
              </a:ext>
            </a:extLst>
          </p:cNvPr>
          <p:cNvSpPr/>
          <p:nvPr/>
        </p:nvSpPr>
        <p:spPr>
          <a:xfrm>
            <a:off x="3054127" y="3543515"/>
            <a:ext cx="1659920"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6" name="Rectangle 25">
            <a:extLst>
              <a:ext uri="{FF2B5EF4-FFF2-40B4-BE49-F238E27FC236}">
                <a16:creationId xmlns:a16="http://schemas.microsoft.com/office/drawing/2014/main" id="{E5243336-CF1B-5DED-8B6D-811D422C5DAF}"/>
              </a:ext>
            </a:extLst>
          </p:cNvPr>
          <p:cNvSpPr/>
          <p:nvPr/>
        </p:nvSpPr>
        <p:spPr>
          <a:xfrm>
            <a:off x="4848399" y="3543515"/>
            <a:ext cx="1659920"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mc:AlternateContent xmlns:mc="http://schemas.openxmlformats.org/markup-compatibility/2006" xmlns:a14="http://schemas.microsoft.com/office/drawing/2010/main">
        <mc:Choice Requires="a14">
          <p:graphicFrame>
            <p:nvGraphicFramePr>
              <p:cNvPr id="27" name="Table 26">
                <a:extLst>
                  <a:ext uri="{FF2B5EF4-FFF2-40B4-BE49-F238E27FC236}">
                    <a16:creationId xmlns:a16="http://schemas.microsoft.com/office/drawing/2014/main" id="{E9CCF660-90AC-6786-E581-0ABAC584B45F}"/>
                  </a:ext>
                </a:extLst>
              </p:cNvPr>
              <p:cNvGraphicFramePr>
                <a:graphicFrameLocks noGrp="1"/>
              </p:cNvGraphicFramePr>
              <p:nvPr/>
            </p:nvGraphicFramePr>
            <p:xfrm>
              <a:off x="176136" y="4513680"/>
              <a:ext cx="6442023" cy="4977307"/>
            </p:xfrm>
            <a:graphic>
              <a:graphicData uri="http://schemas.openxmlformats.org/drawingml/2006/table">
                <a:tbl>
                  <a:tblPr firstRow="1" firstCol="1" bandRow="1">
                    <a:tableStyleId>{5C22544A-7EE6-4342-B048-85BDC9FD1C3A}</a:tableStyleId>
                  </a:tblPr>
                  <a:tblGrid>
                    <a:gridCol w="850054">
                      <a:extLst>
                        <a:ext uri="{9D8B030D-6E8A-4147-A177-3AD203B41FA5}">
                          <a16:colId xmlns:a16="http://schemas.microsoft.com/office/drawing/2014/main" val="3943433533"/>
                        </a:ext>
                      </a:extLst>
                    </a:gridCol>
                    <a:gridCol w="1668350">
                      <a:extLst>
                        <a:ext uri="{9D8B030D-6E8A-4147-A177-3AD203B41FA5}">
                          <a16:colId xmlns:a16="http://schemas.microsoft.com/office/drawing/2014/main" val="2174510615"/>
                        </a:ext>
                      </a:extLst>
                    </a:gridCol>
                    <a:gridCol w="996396">
                      <a:extLst>
                        <a:ext uri="{9D8B030D-6E8A-4147-A177-3AD203B41FA5}">
                          <a16:colId xmlns:a16="http://schemas.microsoft.com/office/drawing/2014/main" val="3660280050"/>
                        </a:ext>
                      </a:extLst>
                    </a:gridCol>
                    <a:gridCol w="959404">
                      <a:extLst>
                        <a:ext uri="{9D8B030D-6E8A-4147-A177-3AD203B41FA5}">
                          <a16:colId xmlns:a16="http://schemas.microsoft.com/office/drawing/2014/main" val="1884859641"/>
                        </a:ext>
                      </a:extLst>
                    </a:gridCol>
                    <a:gridCol w="1967819">
                      <a:extLst>
                        <a:ext uri="{9D8B030D-6E8A-4147-A177-3AD203B41FA5}">
                          <a16:colId xmlns:a16="http://schemas.microsoft.com/office/drawing/2014/main" val="1497501360"/>
                        </a:ext>
                      </a:extLst>
                    </a:gridCol>
                  </a:tblGrid>
                  <a:tr h="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x</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Level of Accuracy</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Lower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Upper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Error Interval</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9293543"/>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6</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significant figure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225743"/>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17</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727547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32</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015727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238</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3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9520423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7.3</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332937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25.8</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7901999"/>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3.4</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8828877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87</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6616019"/>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4.23</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190077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2.19</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1902131"/>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12.67</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820738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25</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40458967"/>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40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significant figure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2513288"/>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600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3234300"/>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30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significant figure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863145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1000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0496989"/>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4.0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6828722"/>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7.04</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8827792"/>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12.0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7617928"/>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7.00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4321473"/>
                      </a:ext>
                    </a:extLst>
                  </a:tr>
                </a:tbl>
              </a:graphicData>
            </a:graphic>
          </p:graphicFrame>
        </mc:Choice>
        <mc:Fallback xmlns="">
          <p:graphicFrame>
            <p:nvGraphicFramePr>
              <p:cNvPr id="27" name="Table 26">
                <a:extLst>
                  <a:ext uri="{FF2B5EF4-FFF2-40B4-BE49-F238E27FC236}">
                    <a16:creationId xmlns:a16="http://schemas.microsoft.com/office/drawing/2014/main" id="{E9CCF660-90AC-6786-E581-0ABAC584B45F}"/>
                  </a:ext>
                </a:extLst>
              </p:cNvPr>
              <p:cNvGraphicFramePr>
                <a:graphicFrameLocks noGrp="1"/>
              </p:cNvGraphicFramePr>
              <p:nvPr>
                <p:extLst>
                  <p:ext uri="{D42A27DB-BD31-4B8C-83A1-F6EECF244321}">
                    <p14:modId xmlns:p14="http://schemas.microsoft.com/office/powerpoint/2010/main" val="1714328504"/>
                  </p:ext>
                </p:extLst>
              </p:nvPr>
            </p:nvGraphicFramePr>
            <p:xfrm>
              <a:off x="176136" y="4513680"/>
              <a:ext cx="6442023" cy="4977307"/>
            </p:xfrm>
            <a:graphic>
              <a:graphicData uri="http://schemas.openxmlformats.org/drawingml/2006/table">
                <a:tbl>
                  <a:tblPr firstRow="1" firstCol="1" bandRow="1">
                    <a:tableStyleId>{5C22544A-7EE6-4342-B048-85BDC9FD1C3A}</a:tableStyleId>
                  </a:tblPr>
                  <a:tblGrid>
                    <a:gridCol w="850054">
                      <a:extLst>
                        <a:ext uri="{9D8B030D-6E8A-4147-A177-3AD203B41FA5}">
                          <a16:colId xmlns:a16="http://schemas.microsoft.com/office/drawing/2014/main" val="3943433533"/>
                        </a:ext>
                      </a:extLst>
                    </a:gridCol>
                    <a:gridCol w="1668350">
                      <a:extLst>
                        <a:ext uri="{9D8B030D-6E8A-4147-A177-3AD203B41FA5}">
                          <a16:colId xmlns:a16="http://schemas.microsoft.com/office/drawing/2014/main" val="2174510615"/>
                        </a:ext>
                      </a:extLst>
                    </a:gridCol>
                    <a:gridCol w="996396">
                      <a:extLst>
                        <a:ext uri="{9D8B030D-6E8A-4147-A177-3AD203B41FA5}">
                          <a16:colId xmlns:a16="http://schemas.microsoft.com/office/drawing/2014/main" val="3660280050"/>
                        </a:ext>
                      </a:extLst>
                    </a:gridCol>
                    <a:gridCol w="959404">
                      <a:extLst>
                        <a:ext uri="{9D8B030D-6E8A-4147-A177-3AD203B41FA5}">
                          <a16:colId xmlns:a16="http://schemas.microsoft.com/office/drawing/2014/main" val="1884859641"/>
                        </a:ext>
                      </a:extLst>
                    </a:gridCol>
                    <a:gridCol w="1967819">
                      <a:extLst>
                        <a:ext uri="{9D8B030D-6E8A-4147-A177-3AD203B41FA5}">
                          <a16:colId xmlns:a16="http://schemas.microsoft.com/office/drawing/2014/main" val="1497501360"/>
                        </a:ext>
                      </a:extLst>
                    </a:gridCol>
                  </a:tblGrid>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4" t="-2041" r="-657143" b="-1591837"/>
                          </a:stretch>
                        </a:blipFill>
                      </a:tcPr>
                    </a:tc>
                    <a:tc>
                      <a:txBody>
                        <a:bodyPr/>
                        <a:lstStyle/>
                        <a:p>
                          <a:pPr algn="ctr">
                            <a:lnSpc>
                              <a:spcPct val="107000"/>
                            </a:lnSpc>
                            <a:spcAft>
                              <a:spcPts val="800"/>
                            </a:spcAft>
                          </a:pPr>
                          <a:r>
                            <a:rPr lang="en-US" sz="1200" i="0">
                              <a:solidFill>
                                <a:schemeClr val="tx1"/>
                              </a:solidFill>
                              <a:effectLst/>
                            </a:rPr>
                            <a:t>Level of Accuracy</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Lower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Upper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Error Interval</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9293543"/>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6</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significant figure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225743"/>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17</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727547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32</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015727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238</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3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9520423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7.3</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332937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25.8</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7901999"/>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3.4</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8828877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87</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6616019"/>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4.23</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190077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2.19</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1902131"/>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12.67</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820738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25</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40458967"/>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40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significant figure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2513288"/>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600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3234300"/>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30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significant figure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863145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1000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0496989"/>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4.0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6828722"/>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7.04</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8827792"/>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12.0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7617928"/>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7.00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4321473"/>
                      </a:ext>
                    </a:extLst>
                  </a:tr>
                </a:tbl>
              </a:graphicData>
            </a:graphic>
          </p:graphicFrame>
        </mc:Fallback>
      </mc:AlternateContent>
    </p:spTree>
    <p:extLst>
      <p:ext uri="{BB962C8B-B14F-4D97-AF65-F5344CB8AC3E}">
        <p14:creationId xmlns:p14="http://schemas.microsoft.com/office/powerpoint/2010/main" val="167216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3686" y="256697"/>
            <a:ext cx="6670627" cy="8156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Calibri" panose="020F0502020204030204"/>
              </a:rPr>
              <a:t>7</a:t>
            </a: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 bus has 53 seats, of which 37 are occupied.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The driver estimates that at the next bus stop 20 people, to the nearest 10, will get on and no one will get off. If she is correct, is it possible they will all get a seat?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37DF37BF-6AB6-6C47-B309-8BF11E51454D}"/>
              </a:ext>
            </a:extLst>
          </p:cNvPr>
          <p:cNvGrpSpPr/>
          <p:nvPr/>
        </p:nvGrpSpPr>
        <p:grpSpPr>
          <a:xfrm>
            <a:off x="201281" y="881261"/>
            <a:ext cx="6110172" cy="510111"/>
            <a:chOff x="3583295" y="1332179"/>
            <a:chExt cx="3154879" cy="1411023"/>
          </a:xfrm>
        </p:grpSpPr>
        <p:sp>
          <p:nvSpPr>
            <p:cNvPr id="5" name="Rectangle 4">
              <a:extLst>
                <a:ext uri="{FF2B5EF4-FFF2-40B4-BE49-F238E27FC236}">
                  <a16:creationId xmlns:a16="http://schemas.microsoft.com/office/drawing/2014/main" id="{EAF11235-D4E9-B140-9CD2-AD5D1FE015BC}"/>
                </a:ext>
              </a:extLst>
            </p:cNvPr>
            <p:cNvSpPr/>
            <p:nvPr/>
          </p:nvSpPr>
          <p:spPr>
            <a:xfrm>
              <a:off x="3583295" y="1332179"/>
              <a:ext cx="3154879" cy="14110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CC802164-877B-794B-B6F2-28318E9422F6}"/>
                </a:ext>
              </a:extLst>
            </p:cNvPr>
            <p:cNvSpPr/>
            <p:nvPr/>
          </p:nvSpPr>
          <p:spPr>
            <a:xfrm>
              <a:off x="5934658" y="1940484"/>
              <a:ext cx="803516" cy="8027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7" name="TextBox 6"/>
          <p:cNvSpPr txBox="1"/>
          <p:nvPr/>
        </p:nvSpPr>
        <p:spPr>
          <a:xfrm>
            <a:off x="60373" y="1518229"/>
            <a:ext cx="6096587" cy="155427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8.</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 chain is 30 m long, measured to the nearest </a:t>
            </a:r>
            <a:r>
              <a:rPr kumimoji="0" lang="en-US" sz="1200" b="0" i="0" u="none" strike="noStrike" kern="1200" cap="none" spc="0" normalizeH="0" baseline="0" noProof="0" err="1">
                <a:ln>
                  <a:noFill/>
                </a:ln>
                <a:solidFill>
                  <a:prstClr val="black"/>
                </a:solidFill>
                <a:effectLst/>
                <a:uLnTx/>
                <a:uFillTx/>
                <a:latin typeface="Calibri" panose="020F0502020204030204"/>
                <a:ea typeface="+mn-ea"/>
                <a:cs typeface="+mn-cs"/>
              </a:rPr>
              <a:t>metre</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It is needed to fasten a boat to a </a:t>
            </a:r>
            <a:r>
              <a:rPr kumimoji="0" lang="en-US" sz="1200" b="0" i="0" u="none" strike="noStrike" kern="1200" cap="none" spc="0" normalizeH="0" baseline="0" noProof="0" err="1">
                <a:ln>
                  <a:noFill/>
                </a:ln>
                <a:solidFill>
                  <a:prstClr val="black"/>
                </a:solidFill>
                <a:effectLst/>
                <a:uLnTx/>
                <a:uFillTx/>
                <a:latin typeface="Calibri" panose="020F0502020204030204"/>
                <a:ea typeface="+mn-ea"/>
                <a:cs typeface="+mn-cs"/>
              </a:rPr>
              <a:t>harbour</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wall, a distance that is also 30 m, to the nearest </a:t>
            </a:r>
            <a:r>
              <a:rPr kumimoji="0" lang="en-US" sz="1200" b="0" i="0" u="none" strike="noStrike" kern="1200" cap="none" spc="0" normalizeH="0" baseline="0" noProof="0" err="1">
                <a:ln>
                  <a:noFill/>
                </a:ln>
                <a:solidFill>
                  <a:prstClr val="black"/>
                </a:solidFill>
                <a:effectLst/>
                <a:uLnTx/>
                <a:uFillTx/>
                <a:latin typeface="Calibri" panose="020F0502020204030204"/>
                <a:ea typeface="+mn-ea"/>
                <a:cs typeface="+mn-cs"/>
              </a:rPr>
              <a:t>metre</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Which statement is definitely true? Explain your decision.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 The chain will be long enough.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B: The chain will not be long enough.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C: It is impossible to tell whether or not the chain is long enough.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37DF37BF-6AB6-6C47-B309-8BF11E51454D}"/>
              </a:ext>
            </a:extLst>
          </p:cNvPr>
          <p:cNvGrpSpPr/>
          <p:nvPr/>
        </p:nvGrpSpPr>
        <p:grpSpPr>
          <a:xfrm>
            <a:off x="191795" y="2906099"/>
            <a:ext cx="6110172" cy="657824"/>
            <a:chOff x="3583295" y="1332179"/>
            <a:chExt cx="3154879" cy="1411023"/>
          </a:xfrm>
        </p:grpSpPr>
        <p:sp>
          <p:nvSpPr>
            <p:cNvPr id="9" name="Rectangle 8">
              <a:extLst>
                <a:ext uri="{FF2B5EF4-FFF2-40B4-BE49-F238E27FC236}">
                  <a16:creationId xmlns:a16="http://schemas.microsoft.com/office/drawing/2014/main" id="{EAF11235-D4E9-B140-9CD2-AD5D1FE015BC}"/>
                </a:ext>
              </a:extLst>
            </p:cNvPr>
            <p:cNvSpPr/>
            <p:nvPr/>
          </p:nvSpPr>
          <p:spPr>
            <a:xfrm>
              <a:off x="3583295" y="1332179"/>
              <a:ext cx="3154879" cy="14110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CC802164-877B-794B-B6F2-28318E9422F6}"/>
                </a:ext>
              </a:extLst>
            </p:cNvPr>
            <p:cNvSpPr/>
            <p:nvPr/>
          </p:nvSpPr>
          <p:spPr>
            <a:xfrm>
              <a:off x="5934658" y="1940484"/>
              <a:ext cx="803516" cy="8027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TextBox 10"/>
          <p:cNvSpPr txBox="1"/>
          <p:nvPr/>
        </p:nvSpPr>
        <p:spPr>
          <a:xfrm>
            <a:off x="93686" y="3699396"/>
            <a:ext cx="589026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9.</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 bag contains 2.5 kg of soil, to the nearest 100 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What is the least amount of soil in the bag?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Give your answer in kilograms and grams.</a:t>
            </a:r>
          </a:p>
        </p:txBody>
      </p:sp>
      <p:grpSp>
        <p:nvGrpSpPr>
          <p:cNvPr id="12" name="Group 11">
            <a:extLst>
              <a:ext uri="{FF2B5EF4-FFF2-40B4-BE49-F238E27FC236}">
                <a16:creationId xmlns:a16="http://schemas.microsoft.com/office/drawing/2014/main" id="{37DF37BF-6AB6-6C47-B309-8BF11E51454D}"/>
              </a:ext>
            </a:extLst>
          </p:cNvPr>
          <p:cNvGrpSpPr/>
          <p:nvPr/>
        </p:nvGrpSpPr>
        <p:grpSpPr>
          <a:xfrm>
            <a:off x="210767" y="4400171"/>
            <a:ext cx="6110172" cy="510111"/>
            <a:chOff x="3583295" y="1332179"/>
            <a:chExt cx="3154879" cy="1411023"/>
          </a:xfrm>
        </p:grpSpPr>
        <p:sp>
          <p:nvSpPr>
            <p:cNvPr id="13" name="Rectangle 12">
              <a:extLst>
                <a:ext uri="{FF2B5EF4-FFF2-40B4-BE49-F238E27FC236}">
                  <a16:creationId xmlns:a16="http://schemas.microsoft.com/office/drawing/2014/main" id="{EAF11235-D4E9-B140-9CD2-AD5D1FE015BC}"/>
                </a:ext>
              </a:extLst>
            </p:cNvPr>
            <p:cNvSpPr/>
            <p:nvPr/>
          </p:nvSpPr>
          <p:spPr>
            <a:xfrm>
              <a:off x="3583295" y="1332179"/>
              <a:ext cx="3154879" cy="14110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CC802164-877B-794B-B6F2-28318E9422F6}"/>
                </a:ext>
              </a:extLst>
            </p:cNvPr>
            <p:cNvSpPr/>
            <p:nvPr/>
          </p:nvSpPr>
          <p:spPr>
            <a:xfrm>
              <a:off x="5934658" y="1940484"/>
              <a:ext cx="803516" cy="8027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 name="TextBox 14"/>
          <p:cNvSpPr txBox="1"/>
          <p:nvPr/>
        </p:nvSpPr>
        <p:spPr>
          <a:xfrm>
            <a:off x="69859" y="5130195"/>
            <a:ext cx="5802923"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10.</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Billy has 40 identical marbles. Each marble has a mass of 65 g (to the nearest gram).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 What is the greatest possible mass of one marble?</a:t>
            </a:r>
          </a:p>
          <a:p>
            <a:pPr marL="228600" marR="0" lvl="0" indent="-228600" algn="l" defTabSz="914400" rtl="0" eaLnBrk="1" fontAlgn="auto" latinLnBrk="0" hangingPunct="1">
              <a:lnSpc>
                <a:spcPct val="100000"/>
              </a:lnSpc>
              <a:spcBef>
                <a:spcPts val="0"/>
              </a:spcBef>
              <a:spcAft>
                <a:spcPts val="0"/>
              </a:spcAft>
              <a:buClrTx/>
              <a:buSzTx/>
              <a:buFontTx/>
              <a:buAutoNum type="alphaLcPeriod"/>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b. What is the least possible mass of one marble?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c. What is the greatest possible mass of all the marbles?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d. What is the least possible mass of all the marbles?</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CC802164-877B-794B-B6F2-28318E9422F6}"/>
              </a:ext>
            </a:extLst>
          </p:cNvPr>
          <p:cNvSpPr/>
          <p:nvPr/>
        </p:nvSpPr>
        <p:spPr>
          <a:xfrm>
            <a:off x="3687162" y="5430598"/>
            <a:ext cx="1556199" cy="290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CC802164-877B-794B-B6F2-28318E9422F6}"/>
              </a:ext>
            </a:extLst>
          </p:cNvPr>
          <p:cNvSpPr/>
          <p:nvPr/>
        </p:nvSpPr>
        <p:spPr>
          <a:xfrm>
            <a:off x="3687163" y="5841395"/>
            <a:ext cx="1556199" cy="290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CC802164-877B-794B-B6F2-28318E9422F6}"/>
              </a:ext>
            </a:extLst>
          </p:cNvPr>
          <p:cNvSpPr/>
          <p:nvPr/>
        </p:nvSpPr>
        <p:spPr>
          <a:xfrm>
            <a:off x="3687164" y="6224884"/>
            <a:ext cx="1556199" cy="290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CC802164-877B-794B-B6F2-28318E9422F6}"/>
              </a:ext>
            </a:extLst>
          </p:cNvPr>
          <p:cNvSpPr/>
          <p:nvPr/>
        </p:nvSpPr>
        <p:spPr>
          <a:xfrm>
            <a:off x="3687163" y="6616293"/>
            <a:ext cx="1556199" cy="290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p:cNvSpPr txBox="1"/>
          <p:nvPr/>
        </p:nvSpPr>
        <p:spPr>
          <a:xfrm>
            <a:off x="69859" y="7136855"/>
            <a:ext cx="641096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11.</a:t>
            </a: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A whole number, when rounded to 2 significant figures, is 350. When rounded to 1 significant figure it is 300. What is the range of values for the number?</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37DF37BF-6AB6-6C47-B309-8BF11E51454D}"/>
              </a:ext>
            </a:extLst>
          </p:cNvPr>
          <p:cNvGrpSpPr/>
          <p:nvPr/>
        </p:nvGrpSpPr>
        <p:grpSpPr>
          <a:xfrm>
            <a:off x="201281" y="7668556"/>
            <a:ext cx="6110172" cy="510111"/>
            <a:chOff x="3583295" y="1332179"/>
            <a:chExt cx="3154879" cy="1411023"/>
          </a:xfrm>
        </p:grpSpPr>
        <p:sp>
          <p:nvSpPr>
            <p:cNvPr id="22" name="Rectangle 21">
              <a:extLst>
                <a:ext uri="{FF2B5EF4-FFF2-40B4-BE49-F238E27FC236}">
                  <a16:creationId xmlns:a16="http://schemas.microsoft.com/office/drawing/2014/main" id="{EAF11235-D4E9-B140-9CD2-AD5D1FE015BC}"/>
                </a:ext>
              </a:extLst>
            </p:cNvPr>
            <p:cNvSpPr/>
            <p:nvPr/>
          </p:nvSpPr>
          <p:spPr>
            <a:xfrm>
              <a:off x="3583295" y="1332179"/>
              <a:ext cx="3154879" cy="14110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CC802164-877B-794B-B6F2-28318E9422F6}"/>
                </a:ext>
              </a:extLst>
            </p:cNvPr>
            <p:cNvSpPr/>
            <p:nvPr/>
          </p:nvSpPr>
          <p:spPr>
            <a:xfrm>
              <a:off x="5934658" y="1940484"/>
              <a:ext cx="803516" cy="8027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mc:AlternateContent xmlns:mc="http://schemas.openxmlformats.org/markup-compatibility/2006" xmlns:a14="http://schemas.microsoft.com/office/drawing/2010/main">
        <mc:Choice Requires="a14">
          <p:sp>
            <p:nvSpPr>
              <p:cNvPr id="25" name="TextBox 24"/>
              <p:cNvSpPr txBox="1"/>
              <p:nvPr/>
            </p:nvSpPr>
            <p:spPr>
              <a:xfrm>
                <a:off x="60373" y="8343798"/>
                <a:ext cx="624159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12.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Three students are describing a number a. Abe says it is in the range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3&lt;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𝑎</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⩽7</m:t>
                    </m:r>
                  </m:oMath>
                </a14:m>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 Bee says it is in the range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𝑎</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&lt;5 </m:t>
                    </m:r>
                  </m:oMath>
                </a14:m>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and Con says it is in the range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4&lt;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𝑎</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&lt;6</m:t>
                    </m:r>
                  </m:oMath>
                </a14:m>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Work out one possible value of the number a.</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60373" y="8343798"/>
                <a:ext cx="6241594" cy="646331"/>
              </a:xfrm>
              <a:prstGeom prst="rect">
                <a:avLst/>
              </a:prstGeom>
              <a:blipFill>
                <a:blip r:embed="rId2"/>
                <a:stretch>
                  <a:fillRect l="-98" t="-943" b="-6604"/>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37DF37BF-6AB6-6C47-B309-8BF11E51454D}"/>
              </a:ext>
            </a:extLst>
          </p:cNvPr>
          <p:cNvGrpSpPr/>
          <p:nvPr/>
        </p:nvGrpSpPr>
        <p:grpSpPr>
          <a:xfrm>
            <a:off x="191795" y="9021827"/>
            <a:ext cx="6110172" cy="510111"/>
            <a:chOff x="3583295" y="1332179"/>
            <a:chExt cx="3154879" cy="1411023"/>
          </a:xfrm>
        </p:grpSpPr>
        <p:sp>
          <p:nvSpPr>
            <p:cNvPr id="28" name="Rectangle 27">
              <a:extLst>
                <a:ext uri="{FF2B5EF4-FFF2-40B4-BE49-F238E27FC236}">
                  <a16:creationId xmlns:a16="http://schemas.microsoft.com/office/drawing/2014/main" id="{EAF11235-D4E9-B140-9CD2-AD5D1FE015BC}"/>
                </a:ext>
              </a:extLst>
            </p:cNvPr>
            <p:cNvSpPr/>
            <p:nvPr/>
          </p:nvSpPr>
          <p:spPr>
            <a:xfrm>
              <a:off x="3583295" y="1332179"/>
              <a:ext cx="3154879" cy="14110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CC802164-877B-794B-B6F2-28318E9422F6}"/>
                </a:ext>
              </a:extLst>
            </p:cNvPr>
            <p:cNvSpPr/>
            <p:nvPr/>
          </p:nvSpPr>
          <p:spPr>
            <a:xfrm>
              <a:off x="5934658" y="1940484"/>
              <a:ext cx="803516" cy="8027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6" name="Slide Number Placeholder 25"/>
          <p:cNvSpPr>
            <a:spLocks noGrp="1"/>
          </p:cNvSpPr>
          <p:nvPr>
            <p:ph type="sldNum" sz="quarter" idx="12"/>
          </p:nvPr>
        </p:nvSpPr>
        <p:spPr>
          <a:xfrm>
            <a:off x="5385435" y="9563636"/>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5301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1FBBFF-87B6-EA6A-A151-7076729E6CAF}"/>
              </a:ext>
            </a:extLst>
          </p:cNvPr>
          <p:cNvSpPr>
            <a:spLocks noGrp="1"/>
          </p:cNvSpPr>
          <p:nvPr>
            <p:ph type="sldNum" sz="quarter" idx="12"/>
          </p:nvPr>
        </p:nvSpPr>
        <p:spPr>
          <a:xfrm>
            <a:off x="5219067" y="9315244"/>
            <a:ext cx="1543050" cy="527403"/>
          </a:xfrm>
        </p:spPr>
        <p:txBody>
          <a:bodyPr/>
          <a:lstStyle/>
          <a:p>
            <a:fld id="{086C3A38-D272-42AA-9C88-F1FBEAE20D2C}" type="slidenum">
              <a:rPr lang="en-GB" smtClean="0"/>
              <a:t>10</a:t>
            </a:fld>
            <a:endParaRPr lang="en-GB"/>
          </a:p>
        </p:txBody>
      </p:sp>
      <p:sp>
        <p:nvSpPr>
          <p:cNvPr id="4" name="Rectangle 3">
            <a:extLst>
              <a:ext uri="{FF2B5EF4-FFF2-40B4-BE49-F238E27FC236}">
                <a16:creationId xmlns:a16="http://schemas.microsoft.com/office/drawing/2014/main" id="{9CC189D7-900A-D8F3-8AFB-C81C98AC4F19}"/>
              </a:ext>
            </a:extLst>
          </p:cNvPr>
          <p:cNvSpPr/>
          <p:nvPr/>
        </p:nvSpPr>
        <p:spPr>
          <a:xfrm>
            <a:off x="0" y="0"/>
            <a:ext cx="6858000" cy="29191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bg1"/>
                </a:solidFill>
              </a:rPr>
              <a:t>Truncation and Error Intervals</a:t>
            </a:r>
          </a:p>
        </p:txBody>
      </p:sp>
      <p:sp>
        <p:nvSpPr>
          <p:cNvPr id="8" name="Rectangle 7">
            <a:extLst>
              <a:ext uri="{FF2B5EF4-FFF2-40B4-BE49-F238E27FC236}">
                <a16:creationId xmlns:a16="http://schemas.microsoft.com/office/drawing/2014/main" id="{D85A7CE4-6EC4-4F53-3B39-1FD7AD005E2C}"/>
              </a:ext>
            </a:extLst>
          </p:cNvPr>
          <p:cNvSpPr/>
          <p:nvPr/>
        </p:nvSpPr>
        <p:spPr>
          <a:xfrm>
            <a:off x="34448" y="424589"/>
            <a:ext cx="6671317" cy="1119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9" name="TextBox 8">
            <a:extLst>
              <a:ext uri="{FF2B5EF4-FFF2-40B4-BE49-F238E27FC236}">
                <a16:creationId xmlns:a16="http://schemas.microsoft.com/office/drawing/2014/main" id="{755C94C7-D973-22B3-E829-B07AE80399F0}"/>
              </a:ext>
            </a:extLst>
          </p:cNvPr>
          <p:cNvSpPr txBox="1"/>
          <p:nvPr/>
        </p:nvSpPr>
        <p:spPr>
          <a:xfrm>
            <a:off x="-8643" y="387943"/>
            <a:ext cx="2778270" cy="276999"/>
          </a:xfrm>
          <a:prstGeom prst="rect">
            <a:avLst/>
          </a:prstGeom>
          <a:noFill/>
        </p:spPr>
        <p:txBody>
          <a:bodyPr wrap="square" rtlCol="0">
            <a:spAutoFit/>
          </a:bodyPr>
          <a:lstStyle/>
          <a:p>
            <a:pPr>
              <a:defRPr/>
            </a:pPr>
            <a:r>
              <a:rPr kumimoji="0" lang="en-GB" sz="1200" b="1" i="0" u="none" strike="noStrike" kern="1200" cap="none" spc="0" normalizeH="0" baseline="0" noProof="0">
                <a:ln>
                  <a:noFill/>
                </a:ln>
                <a:solidFill>
                  <a:sysClr val="windowText" lastClr="000000"/>
                </a:solidFill>
                <a:effectLst/>
                <a:uLnTx/>
                <a:uFillTx/>
                <a:latin typeface="Calibri" panose="020F0502020204030204"/>
                <a:ea typeface="+mn-ea"/>
                <a:cs typeface="+mn-cs"/>
              </a:rPr>
              <a:t>Introduction – Read and annotate: </a:t>
            </a:r>
          </a:p>
        </p:txBody>
      </p:sp>
      <p:sp>
        <p:nvSpPr>
          <p:cNvPr id="10" name="TextBox 9">
            <a:extLst>
              <a:ext uri="{FF2B5EF4-FFF2-40B4-BE49-F238E27FC236}">
                <a16:creationId xmlns:a16="http://schemas.microsoft.com/office/drawing/2014/main" id="{2ED4802A-083C-C5B6-18DF-06C7D6A87174}"/>
              </a:ext>
            </a:extLst>
          </p:cNvPr>
          <p:cNvSpPr txBox="1"/>
          <p:nvPr/>
        </p:nvSpPr>
        <p:spPr>
          <a:xfrm>
            <a:off x="18886" y="611540"/>
            <a:ext cx="6768000" cy="1015663"/>
          </a:xfrm>
          <a:prstGeom prst="rect">
            <a:avLst/>
          </a:prstGeom>
          <a:noFill/>
        </p:spPr>
        <p:txBody>
          <a:bodyPr wrap="square">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a:t>In </a:t>
            </a:r>
            <a:r>
              <a:rPr lang="en-US" sz="1200" err="1"/>
              <a:t>maths</a:t>
            </a:r>
            <a:r>
              <a:rPr lang="en-US" sz="1200"/>
              <a:t>, truncation means cutting off a number after a certain point, without rounding. It’s like</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a:t>stopping a number in its tracks! For example, if you have 3.14159 and truncate it to two decimal</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a:t>places, it becomes 3.14 — no rounding up or down, just chopping off the extra digits. It’s a simple way</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a:t>to simplify numbers when you don’t need them to be super precise. </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endParaRPr lang="en-US" sz="1200"/>
          </a:p>
        </p:txBody>
      </p:sp>
      <p:graphicFrame>
        <p:nvGraphicFramePr>
          <p:cNvPr id="41" name="Table 40">
            <a:extLst>
              <a:ext uri="{FF2B5EF4-FFF2-40B4-BE49-F238E27FC236}">
                <a16:creationId xmlns:a16="http://schemas.microsoft.com/office/drawing/2014/main" id="{CA1B78BD-6E98-B588-8A26-D710C20B43C6}"/>
              </a:ext>
            </a:extLst>
          </p:cNvPr>
          <p:cNvGraphicFramePr>
            <a:graphicFrameLocks noGrp="1"/>
          </p:cNvGraphicFramePr>
          <p:nvPr>
            <p:extLst>
              <p:ext uri="{D42A27DB-BD31-4B8C-83A1-F6EECF244321}">
                <p14:modId xmlns:p14="http://schemas.microsoft.com/office/powerpoint/2010/main" val="1795907750"/>
              </p:ext>
            </p:extLst>
          </p:nvPr>
        </p:nvGraphicFramePr>
        <p:xfrm>
          <a:off x="24299" y="2352403"/>
          <a:ext cx="6681466" cy="2377440"/>
        </p:xfrm>
        <a:graphic>
          <a:graphicData uri="http://schemas.openxmlformats.org/drawingml/2006/table">
            <a:tbl>
              <a:tblPr firstRow="1" bandRow="1">
                <a:tableStyleId>{5C22544A-7EE6-4342-B048-85BDC9FD1C3A}</a:tableStyleId>
              </a:tblPr>
              <a:tblGrid>
                <a:gridCol w="1123012">
                  <a:extLst>
                    <a:ext uri="{9D8B030D-6E8A-4147-A177-3AD203B41FA5}">
                      <a16:colId xmlns:a16="http://schemas.microsoft.com/office/drawing/2014/main" val="1568142362"/>
                    </a:ext>
                  </a:extLst>
                </a:gridCol>
                <a:gridCol w="1852818">
                  <a:extLst>
                    <a:ext uri="{9D8B030D-6E8A-4147-A177-3AD203B41FA5}">
                      <a16:colId xmlns:a16="http://schemas.microsoft.com/office/drawing/2014/main" val="3551711160"/>
                    </a:ext>
                  </a:extLst>
                </a:gridCol>
                <a:gridCol w="1852818">
                  <a:extLst>
                    <a:ext uri="{9D8B030D-6E8A-4147-A177-3AD203B41FA5}">
                      <a16:colId xmlns:a16="http://schemas.microsoft.com/office/drawing/2014/main" val="1712497518"/>
                    </a:ext>
                  </a:extLst>
                </a:gridCol>
                <a:gridCol w="1852818">
                  <a:extLst>
                    <a:ext uri="{9D8B030D-6E8A-4147-A177-3AD203B41FA5}">
                      <a16:colId xmlns:a16="http://schemas.microsoft.com/office/drawing/2014/main" val="886122921"/>
                    </a:ext>
                  </a:extLst>
                </a:gridCol>
              </a:tblGrid>
              <a:tr h="409249">
                <a:tc>
                  <a:txBody>
                    <a:bodyPr/>
                    <a:lstStyle/>
                    <a:p>
                      <a:r>
                        <a:rPr lang="en-US" sz="1200" b="1">
                          <a:solidFill>
                            <a:schemeClr val="tx1"/>
                          </a:solidFill>
                        </a:rPr>
                        <a:t>Steps</a:t>
                      </a:r>
                      <a:endParaRPr lang="en-GB"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Truncate to 4 decimal places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Truncate to 2 decimal places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Truncate to 1 decimal place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54677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1) Identify the required digits. This is the cut off.</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2) Rewrite the number without the digits after the cut off.</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aseline="0">
                          <a:solidFill>
                            <a:schemeClr val="tx1"/>
                          </a:solidFill>
                        </a:rPr>
                        <a:t>43.56346</a:t>
                      </a:r>
                    </a:p>
                    <a:p>
                      <a:pPr algn="ctr"/>
                      <a:endParaRPr lang="en-US" sz="12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baseline="0">
                          <a:solidFill>
                            <a:schemeClr val="tx1"/>
                          </a:solidFill>
                        </a:rPr>
                        <a:t>72.68439</a:t>
                      </a:r>
                    </a:p>
                    <a:p>
                      <a:pPr algn="ctr"/>
                      <a:endParaRPr lang="en-US" sz="12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rPr>
                        <a:t>43.56346</a:t>
                      </a:r>
                    </a:p>
                    <a:p>
                      <a:pPr algn="ctr"/>
                      <a:endParaRPr lang="en-US" sz="12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42" name="TextBox 41">
            <a:extLst>
              <a:ext uri="{FF2B5EF4-FFF2-40B4-BE49-F238E27FC236}">
                <a16:creationId xmlns:a16="http://schemas.microsoft.com/office/drawing/2014/main" id="{ECEB4222-DA9A-606A-DEC7-0EF0131F5B58}"/>
              </a:ext>
            </a:extLst>
          </p:cNvPr>
          <p:cNvSpPr txBox="1"/>
          <p:nvPr/>
        </p:nvSpPr>
        <p:spPr>
          <a:xfrm>
            <a:off x="1341307" y="2102337"/>
            <a:ext cx="1410704" cy="276999"/>
          </a:xfrm>
          <a:prstGeom prst="rect">
            <a:avLst/>
          </a:prstGeom>
          <a:noFill/>
          <a:ln>
            <a:noFill/>
          </a:ln>
        </p:spPr>
        <p:txBody>
          <a:bodyPr wrap="square" rtlCol="0">
            <a:spAutoFit/>
          </a:bodyPr>
          <a:lstStyle/>
          <a:p>
            <a:r>
              <a:rPr lang="en-GB" sz="1200" b="1" i="1">
                <a:solidFill>
                  <a:srgbClr val="FF0000"/>
                </a:solidFill>
              </a:rPr>
              <a:t>Example 1 - I do…</a:t>
            </a:r>
          </a:p>
        </p:txBody>
      </p:sp>
      <p:sp>
        <p:nvSpPr>
          <p:cNvPr id="43" name="TextBox 42">
            <a:extLst>
              <a:ext uri="{FF2B5EF4-FFF2-40B4-BE49-F238E27FC236}">
                <a16:creationId xmlns:a16="http://schemas.microsoft.com/office/drawing/2014/main" id="{3E86050C-45E6-99D4-6D82-6CE72DEE41E4}"/>
              </a:ext>
            </a:extLst>
          </p:cNvPr>
          <p:cNvSpPr txBox="1"/>
          <p:nvPr/>
        </p:nvSpPr>
        <p:spPr>
          <a:xfrm>
            <a:off x="5019991" y="2093396"/>
            <a:ext cx="1643405" cy="276999"/>
          </a:xfrm>
          <a:prstGeom prst="rect">
            <a:avLst/>
          </a:prstGeom>
          <a:noFill/>
          <a:ln>
            <a:noFill/>
          </a:ln>
        </p:spPr>
        <p:txBody>
          <a:bodyPr wrap="square" rtlCol="0">
            <a:spAutoFit/>
          </a:bodyPr>
          <a:lstStyle/>
          <a:p>
            <a:r>
              <a:rPr lang="en-GB" sz="1200" b="1" i="1">
                <a:solidFill>
                  <a:srgbClr val="00B050"/>
                </a:solidFill>
              </a:rPr>
              <a:t>Example 3 – You do…</a:t>
            </a:r>
          </a:p>
        </p:txBody>
      </p:sp>
      <p:sp>
        <p:nvSpPr>
          <p:cNvPr id="44" name="TextBox 43">
            <a:extLst>
              <a:ext uri="{FF2B5EF4-FFF2-40B4-BE49-F238E27FC236}">
                <a16:creationId xmlns:a16="http://schemas.microsoft.com/office/drawing/2014/main" id="{42414605-F9E9-57FA-2D3C-77C973E14EE2}"/>
              </a:ext>
            </a:extLst>
          </p:cNvPr>
          <p:cNvSpPr txBox="1"/>
          <p:nvPr/>
        </p:nvSpPr>
        <p:spPr>
          <a:xfrm>
            <a:off x="3048179" y="2098863"/>
            <a:ext cx="1643405" cy="276999"/>
          </a:xfrm>
          <a:prstGeom prst="rect">
            <a:avLst/>
          </a:prstGeom>
          <a:noFill/>
          <a:ln>
            <a:noFill/>
          </a:ln>
        </p:spPr>
        <p:txBody>
          <a:bodyPr wrap="square" rtlCol="0">
            <a:spAutoFit/>
          </a:bodyPr>
          <a:lstStyle/>
          <a:p>
            <a:r>
              <a:rPr lang="en-GB" sz="1200" b="1" i="1">
                <a:solidFill>
                  <a:schemeClr val="accent2"/>
                </a:solidFill>
              </a:rPr>
              <a:t>Example 2 – We do…</a:t>
            </a:r>
          </a:p>
        </p:txBody>
      </p:sp>
      <p:sp>
        <p:nvSpPr>
          <p:cNvPr id="45" name="Rectangle 44">
            <a:extLst>
              <a:ext uri="{FF2B5EF4-FFF2-40B4-BE49-F238E27FC236}">
                <a16:creationId xmlns:a16="http://schemas.microsoft.com/office/drawing/2014/main" id="{B5D1AB2C-DF35-F86A-9CB0-C4DD3ADFEF96}"/>
              </a:ext>
            </a:extLst>
          </p:cNvPr>
          <p:cNvSpPr/>
          <p:nvPr/>
        </p:nvSpPr>
        <p:spPr>
          <a:xfrm>
            <a:off x="9059" y="1727180"/>
            <a:ext cx="3833317" cy="27565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a:solidFill>
                  <a:schemeClr val="bg1"/>
                </a:solidFill>
              </a:rPr>
              <a:t>Truncating numbers</a:t>
            </a:r>
          </a:p>
        </p:txBody>
      </p:sp>
      <p:graphicFrame>
        <p:nvGraphicFramePr>
          <p:cNvPr id="23" name="Table 22">
            <a:extLst>
              <a:ext uri="{FF2B5EF4-FFF2-40B4-BE49-F238E27FC236}">
                <a16:creationId xmlns:a16="http://schemas.microsoft.com/office/drawing/2014/main" id="{D3907A29-9EE3-1A31-14B0-345E6D4E8125}"/>
              </a:ext>
            </a:extLst>
          </p:cNvPr>
          <p:cNvGraphicFramePr>
            <a:graphicFrameLocks noGrp="1"/>
          </p:cNvGraphicFramePr>
          <p:nvPr>
            <p:extLst>
              <p:ext uri="{D42A27DB-BD31-4B8C-83A1-F6EECF244321}">
                <p14:modId xmlns:p14="http://schemas.microsoft.com/office/powerpoint/2010/main" val="2106635275"/>
              </p:ext>
            </p:extLst>
          </p:nvPr>
        </p:nvGraphicFramePr>
        <p:xfrm>
          <a:off x="24299" y="4979909"/>
          <a:ext cx="6681466" cy="2377440"/>
        </p:xfrm>
        <a:graphic>
          <a:graphicData uri="http://schemas.openxmlformats.org/drawingml/2006/table">
            <a:tbl>
              <a:tblPr firstRow="1" bandRow="1">
                <a:tableStyleId>{5C22544A-7EE6-4342-B048-85BDC9FD1C3A}</a:tableStyleId>
              </a:tblPr>
              <a:tblGrid>
                <a:gridCol w="1123012">
                  <a:extLst>
                    <a:ext uri="{9D8B030D-6E8A-4147-A177-3AD203B41FA5}">
                      <a16:colId xmlns:a16="http://schemas.microsoft.com/office/drawing/2014/main" val="1568142362"/>
                    </a:ext>
                  </a:extLst>
                </a:gridCol>
                <a:gridCol w="1852818">
                  <a:extLst>
                    <a:ext uri="{9D8B030D-6E8A-4147-A177-3AD203B41FA5}">
                      <a16:colId xmlns:a16="http://schemas.microsoft.com/office/drawing/2014/main" val="3551711160"/>
                    </a:ext>
                  </a:extLst>
                </a:gridCol>
                <a:gridCol w="1852818">
                  <a:extLst>
                    <a:ext uri="{9D8B030D-6E8A-4147-A177-3AD203B41FA5}">
                      <a16:colId xmlns:a16="http://schemas.microsoft.com/office/drawing/2014/main" val="1712497518"/>
                    </a:ext>
                  </a:extLst>
                </a:gridCol>
                <a:gridCol w="1852818">
                  <a:extLst>
                    <a:ext uri="{9D8B030D-6E8A-4147-A177-3AD203B41FA5}">
                      <a16:colId xmlns:a16="http://schemas.microsoft.com/office/drawing/2014/main" val="886122921"/>
                    </a:ext>
                  </a:extLst>
                </a:gridCol>
              </a:tblGrid>
              <a:tr h="0">
                <a:tc>
                  <a:txBody>
                    <a:bodyPr/>
                    <a:lstStyle/>
                    <a:p>
                      <a:r>
                        <a:rPr lang="en-US" sz="1200" b="1">
                          <a:solidFill>
                            <a:schemeClr val="tx1"/>
                          </a:solidFill>
                        </a:rPr>
                        <a:t>Steps</a:t>
                      </a:r>
                      <a:endParaRPr lang="en-GB"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Truncate to the whole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Truncate to the whole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Truncate to the whole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54677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1) Identify the required digits. This is the cut off.</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2) Rewrite the number without the digits after the cut off.</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aseline="0">
                          <a:solidFill>
                            <a:schemeClr val="tx1"/>
                          </a:solidFill>
                        </a:rPr>
                        <a:t>43.56346</a:t>
                      </a:r>
                    </a:p>
                    <a:p>
                      <a:pPr algn="ctr"/>
                      <a:endParaRPr lang="en-US" sz="12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baseline="0">
                          <a:solidFill>
                            <a:schemeClr val="tx1"/>
                          </a:solidFill>
                        </a:rPr>
                        <a:t>726.8439</a:t>
                      </a:r>
                    </a:p>
                    <a:p>
                      <a:pPr algn="ctr"/>
                      <a:endParaRPr lang="en-US" sz="12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rPr>
                        <a:t>4.356346</a:t>
                      </a:r>
                    </a:p>
                    <a:p>
                      <a:pPr algn="ctr"/>
                      <a:endParaRPr lang="en-US" sz="12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24" name="TextBox 23">
            <a:extLst>
              <a:ext uri="{FF2B5EF4-FFF2-40B4-BE49-F238E27FC236}">
                <a16:creationId xmlns:a16="http://schemas.microsoft.com/office/drawing/2014/main" id="{5FFD8C4E-2DC2-D88D-0E9C-9A9767FD9305}"/>
              </a:ext>
            </a:extLst>
          </p:cNvPr>
          <p:cNvSpPr txBox="1"/>
          <p:nvPr/>
        </p:nvSpPr>
        <p:spPr>
          <a:xfrm>
            <a:off x="1341307" y="4729843"/>
            <a:ext cx="1410704" cy="276999"/>
          </a:xfrm>
          <a:prstGeom prst="rect">
            <a:avLst/>
          </a:prstGeom>
          <a:noFill/>
          <a:ln>
            <a:noFill/>
          </a:ln>
        </p:spPr>
        <p:txBody>
          <a:bodyPr wrap="square" rtlCol="0">
            <a:spAutoFit/>
          </a:bodyPr>
          <a:lstStyle/>
          <a:p>
            <a:r>
              <a:rPr lang="en-GB" sz="1200" b="1" i="1">
                <a:solidFill>
                  <a:srgbClr val="FF0000"/>
                </a:solidFill>
              </a:rPr>
              <a:t>Example 4 - I do…</a:t>
            </a:r>
          </a:p>
        </p:txBody>
      </p:sp>
      <p:sp>
        <p:nvSpPr>
          <p:cNvPr id="25" name="TextBox 24">
            <a:extLst>
              <a:ext uri="{FF2B5EF4-FFF2-40B4-BE49-F238E27FC236}">
                <a16:creationId xmlns:a16="http://schemas.microsoft.com/office/drawing/2014/main" id="{E79D0978-AC22-A998-B7CC-9571BE05FA23}"/>
              </a:ext>
            </a:extLst>
          </p:cNvPr>
          <p:cNvSpPr txBox="1"/>
          <p:nvPr/>
        </p:nvSpPr>
        <p:spPr>
          <a:xfrm>
            <a:off x="5019991" y="4720902"/>
            <a:ext cx="1643405" cy="276999"/>
          </a:xfrm>
          <a:prstGeom prst="rect">
            <a:avLst/>
          </a:prstGeom>
          <a:noFill/>
          <a:ln>
            <a:noFill/>
          </a:ln>
        </p:spPr>
        <p:txBody>
          <a:bodyPr wrap="square" rtlCol="0">
            <a:spAutoFit/>
          </a:bodyPr>
          <a:lstStyle/>
          <a:p>
            <a:r>
              <a:rPr lang="en-GB" sz="1200" b="1" i="1">
                <a:solidFill>
                  <a:srgbClr val="00B050"/>
                </a:solidFill>
              </a:rPr>
              <a:t>Example 6 – You do…</a:t>
            </a:r>
          </a:p>
        </p:txBody>
      </p:sp>
      <p:sp>
        <p:nvSpPr>
          <p:cNvPr id="26" name="TextBox 25">
            <a:extLst>
              <a:ext uri="{FF2B5EF4-FFF2-40B4-BE49-F238E27FC236}">
                <a16:creationId xmlns:a16="http://schemas.microsoft.com/office/drawing/2014/main" id="{D1BA95FC-3EB4-CD6A-2D60-C1E088107F7A}"/>
              </a:ext>
            </a:extLst>
          </p:cNvPr>
          <p:cNvSpPr txBox="1"/>
          <p:nvPr/>
        </p:nvSpPr>
        <p:spPr>
          <a:xfrm>
            <a:off x="3048179" y="4726369"/>
            <a:ext cx="1643405" cy="276999"/>
          </a:xfrm>
          <a:prstGeom prst="rect">
            <a:avLst/>
          </a:prstGeom>
          <a:noFill/>
          <a:ln>
            <a:noFill/>
          </a:ln>
        </p:spPr>
        <p:txBody>
          <a:bodyPr wrap="square" rtlCol="0">
            <a:spAutoFit/>
          </a:bodyPr>
          <a:lstStyle/>
          <a:p>
            <a:r>
              <a:rPr lang="en-GB" sz="1200" b="1" i="1">
                <a:solidFill>
                  <a:schemeClr val="accent2"/>
                </a:solidFill>
              </a:rPr>
              <a:t>Example 5 – We do…</a:t>
            </a:r>
          </a:p>
        </p:txBody>
      </p:sp>
      <p:graphicFrame>
        <p:nvGraphicFramePr>
          <p:cNvPr id="30" name="Table 29">
            <a:extLst>
              <a:ext uri="{FF2B5EF4-FFF2-40B4-BE49-F238E27FC236}">
                <a16:creationId xmlns:a16="http://schemas.microsoft.com/office/drawing/2014/main" id="{790031C9-629D-16B0-9152-7ADBE8DD103E}"/>
              </a:ext>
            </a:extLst>
          </p:cNvPr>
          <p:cNvGraphicFramePr>
            <a:graphicFrameLocks noGrp="1"/>
          </p:cNvGraphicFramePr>
          <p:nvPr>
            <p:extLst>
              <p:ext uri="{D42A27DB-BD31-4B8C-83A1-F6EECF244321}">
                <p14:modId xmlns:p14="http://schemas.microsoft.com/office/powerpoint/2010/main" val="4149038564"/>
              </p:ext>
            </p:extLst>
          </p:nvPr>
        </p:nvGraphicFramePr>
        <p:xfrm>
          <a:off x="34628" y="7762737"/>
          <a:ext cx="6516484" cy="2079910"/>
        </p:xfrm>
        <a:graphic>
          <a:graphicData uri="http://schemas.openxmlformats.org/drawingml/2006/table">
            <a:tbl>
              <a:tblPr firstRow="1" bandRow="1">
                <a:tableStyleId>{5C22544A-7EE6-4342-B048-85BDC9FD1C3A}</a:tableStyleId>
              </a:tblPr>
              <a:tblGrid>
                <a:gridCol w="1629121">
                  <a:extLst>
                    <a:ext uri="{9D8B030D-6E8A-4147-A177-3AD203B41FA5}">
                      <a16:colId xmlns:a16="http://schemas.microsoft.com/office/drawing/2014/main" val="2714077908"/>
                    </a:ext>
                  </a:extLst>
                </a:gridCol>
                <a:gridCol w="1629121">
                  <a:extLst>
                    <a:ext uri="{9D8B030D-6E8A-4147-A177-3AD203B41FA5}">
                      <a16:colId xmlns:a16="http://schemas.microsoft.com/office/drawing/2014/main" val="3852923885"/>
                    </a:ext>
                  </a:extLst>
                </a:gridCol>
                <a:gridCol w="1629121">
                  <a:extLst>
                    <a:ext uri="{9D8B030D-6E8A-4147-A177-3AD203B41FA5}">
                      <a16:colId xmlns:a16="http://schemas.microsoft.com/office/drawing/2014/main" val="492621245"/>
                    </a:ext>
                  </a:extLst>
                </a:gridCol>
                <a:gridCol w="1629121">
                  <a:extLst>
                    <a:ext uri="{9D8B030D-6E8A-4147-A177-3AD203B41FA5}">
                      <a16:colId xmlns:a16="http://schemas.microsoft.com/office/drawing/2014/main" val="3821570283"/>
                    </a:ext>
                  </a:extLst>
                </a:gridCol>
              </a:tblGrid>
              <a:tr h="407113">
                <a:tc>
                  <a:txBody>
                    <a:bodyPr/>
                    <a:lstStyle/>
                    <a:p>
                      <a:pPr algn="ctr"/>
                      <a:r>
                        <a:rPr lang="en-GB" sz="1200" b="0" dirty="0">
                          <a:solidFill>
                            <a:schemeClr val="tx1"/>
                          </a:solidFill>
                        </a:rPr>
                        <a:t>Number</a:t>
                      </a:r>
                      <a:endParaRPr 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b="0">
                          <a:solidFill>
                            <a:schemeClr val="tx1"/>
                          </a:solidFill>
                        </a:rPr>
                        <a:t>Truncate to 1 decimal place</a:t>
                      </a:r>
                      <a:endParaRPr lang="en-US"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b="0">
                          <a:solidFill>
                            <a:schemeClr val="tx1"/>
                          </a:solidFill>
                        </a:rPr>
                        <a:t>Truncate to 2 decimal places</a:t>
                      </a:r>
                      <a:endParaRPr lang="en-US"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b="0" dirty="0">
                          <a:solidFill>
                            <a:schemeClr val="tx1"/>
                          </a:solidFill>
                        </a:rPr>
                        <a:t>Truncate to the whole number</a:t>
                      </a:r>
                      <a:endParaRPr 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0269331"/>
                  </a:ext>
                </a:extLst>
              </a:tr>
              <a:tr h="301854">
                <a:tc>
                  <a:txBody>
                    <a:bodyPr/>
                    <a:lstStyle/>
                    <a:p>
                      <a:pPr algn="ctr"/>
                      <a:r>
                        <a:rPr lang="en-GB"/>
                        <a:t>89231.625</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36602"/>
                  </a:ext>
                </a:extLst>
              </a:tr>
              <a:tr h="330214">
                <a:tc>
                  <a:txBody>
                    <a:bodyPr/>
                    <a:lstStyle/>
                    <a:p>
                      <a:pPr algn="ctr"/>
                      <a:r>
                        <a:rPr lang="en-GB"/>
                        <a:t>0.05681</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1421886"/>
                  </a:ext>
                </a:extLst>
              </a:tr>
              <a:tr h="330214">
                <a:tc>
                  <a:txBody>
                    <a:bodyPr/>
                    <a:lstStyle/>
                    <a:p>
                      <a:pPr algn="ctr"/>
                      <a:r>
                        <a:rPr lang="en-GB"/>
                        <a:t>0.0002563</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3608114"/>
                  </a:ext>
                </a:extLst>
              </a:tr>
              <a:tr h="330214">
                <a:tc>
                  <a:txBody>
                    <a:bodyPr/>
                    <a:lstStyle/>
                    <a:p>
                      <a:pPr algn="ctr"/>
                      <a:r>
                        <a:rPr lang="en-GB"/>
                        <a:t>23.145</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3883874"/>
                  </a:ext>
                </a:extLst>
              </a:tr>
              <a:tr h="330214">
                <a:tc>
                  <a:txBody>
                    <a:bodyPr/>
                    <a:lstStyle/>
                    <a:p>
                      <a:pPr algn="ctr"/>
                      <a:r>
                        <a:rPr lang="en-GB"/>
                        <a:t>19.99999</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619225"/>
                  </a:ext>
                </a:extLst>
              </a:tr>
            </a:tbl>
          </a:graphicData>
        </a:graphic>
      </p:graphicFrame>
      <p:sp>
        <p:nvSpPr>
          <p:cNvPr id="31" name="Rectangle 30">
            <a:extLst>
              <a:ext uri="{FF2B5EF4-FFF2-40B4-BE49-F238E27FC236}">
                <a16:creationId xmlns:a16="http://schemas.microsoft.com/office/drawing/2014/main" id="{B757EEDA-BF16-7F65-5B3B-B55EDB9B0079}"/>
              </a:ext>
            </a:extLst>
          </p:cNvPr>
          <p:cNvSpPr/>
          <p:nvPr/>
        </p:nvSpPr>
        <p:spPr>
          <a:xfrm>
            <a:off x="18886" y="7388165"/>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32" name="TextBox 31">
            <a:extLst>
              <a:ext uri="{FF2B5EF4-FFF2-40B4-BE49-F238E27FC236}">
                <a16:creationId xmlns:a16="http://schemas.microsoft.com/office/drawing/2014/main" id="{66E13748-DACB-B2FF-F118-E1273BD29276}"/>
              </a:ext>
            </a:extLst>
          </p:cNvPr>
          <p:cNvSpPr txBox="1"/>
          <p:nvPr/>
        </p:nvSpPr>
        <p:spPr>
          <a:xfrm>
            <a:off x="1199899" y="7526664"/>
            <a:ext cx="4651621" cy="276999"/>
          </a:xfrm>
          <a:prstGeom prst="rect">
            <a:avLst/>
          </a:prstGeom>
          <a:noFill/>
        </p:spPr>
        <p:txBody>
          <a:bodyPr wrap="square" rtlCol="0">
            <a:spAutoFit/>
          </a:bodyPr>
          <a:lstStyle/>
          <a:p>
            <a:r>
              <a:rPr lang="en-GB" sz="1200" dirty="0"/>
              <a:t>1. Complete the table:</a:t>
            </a:r>
          </a:p>
        </p:txBody>
      </p:sp>
    </p:spTree>
    <p:extLst>
      <p:ext uri="{BB962C8B-B14F-4D97-AF65-F5344CB8AC3E}">
        <p14:creationId xmlns:p14="http://schemas.microsoft.com/office/powerpoint/2010/main" val="2936956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0FD133-30FC-A480-A812-584C724562D2}"/>
              </a:ext>
            </a:extLst>
          </p:cNvPr>
          <p:cNvSpPr>
            <a:spLocks noGrp="1"/>
          </p:cNvSpPr>
          <p:nvPr>
            <p:ph type="sldNum" sz="quarter" idx="12"/>
          </p:nvPr>
        </p:nvSpPr>
        <p:spPr>
          <a:xfrm>
            <a:off x="5261028" y="9500517"/>
            <a:ext cx="1543050" cy="527403"/>
          </a:xfrm>
        </p:spPr>
        <p:txBody>
          <a:bodyPr/>
          <a:lstStyle/>
          <a:p>
            <a:fld id="{086C3A38-D272-42AA-9C88-F1FBEAE20D2C}" type="slidenum">
              <a:rPr lang="en-GB" smtClean="0"/>
              <a:t>11</a:t>
            </a:fld>
            <a:endParaRPr lang="en-GB"/>
          </a:p>
        </p:txBody>
      </p:sp>
      <p:graphicFrame>
        <p:nvGraphicFramePr>
          <p:cNvPr id="3" name="Table 2">
            <a:extLst>
              <a:ext uri="{FF2B5EF4-FFF2-40B4-BE49-F238E27FC236}">
                <a16:creationId xmlns:a16="http://schemas.microsoft.com/office/drawing/2014/main" id="{CD3B5C5C-6ABC-209F-9A1D-4616B1F9D035}"/>
              </a:ext>
            </a:extLst>
          </p:cNvPr>
          <p:cNvGraphicFramePr>
            <a:graphicFrameLocks noGrp="1"/>
          </p:cNvGraphicFramePr>
          <p:nvPr>
            <p:extLst>
              <p:ext uri="{D42A27DB-BD31-4B8C-83A1-F6EECF244321}">
                <p14:modId xmlns:p14="http://schemas.microsoft.com/office/powerpoint/2010/main" val="3239517989"/>
              </p:ext>
            </p:extLst>
          </p:nvPr>
        </p:nvGraphicFramePr>
        <p:xfrm>
          <a:off x="117666" y="261201"/>
          <a:ext cx="6622667" cy="1920240"/>
        </p:xfrm>
        <a:graphic>
          <a:graphicData uri="http://schemas.openxmlformats.org/drawingml/2006/table">
            <a:tbl>
              <a:tblPr firstRow="1" bandRow="1">
                <a:tableStyleId>{5C22544A-7EE6-4342-B048-85BDC9FD1C3A}</a:tableStyleId>
              </a:tblPr>
              <a:tblGrid>
                <a:gridCol w="1319150">
                  <a:extLst>
                    <a:ext uri="{9D8B030D-6E8A-4147-A177-3AD203B41FA5}">
                      <a16:colId xmlns:a16="http://schemas.microsoft.com/office/drawing/2014/main" val="1568142362"/>
                    </a:ext>
                  </a:extLst>
                </a:gridCol>
                <a:gridCol w="1727199">
                  <a:extLst>
                    <a:ext uri="{9D8B030D-6E8A-4147-A177-3AD203B41FA5}">
                      <a16:colId xmlns:a16="http://schemas.microsoft.com/office/drawing/2014/main" val="3551711160"/>
                    </a:ext>
                  </a:extLst>
                </a:gridCol>
                <a:gridCol w="1788159">
                  <a:extLst>
                    <a:ext uri="{9D8B030D-6E8A-4147-A177-3AD203B41FA5}">
                      <a16:colId xmlns:a16="http://schemas.microsoft.com/office/drawing/2014/main" val="1712497518"/>
                    </a:ext>
                  </a:extLst>
                </a:gridCol>
                <a:gridCol w="1788159">
                  <a:extLst>
                    <a:ext uri="{9D8B030D-6E8A-4147-A177-3AD203B41FA5}">
                      <a16:colId xmlns:a16="http://schemas.microsoft.com/office/drawing/2014/main" val="886122921"/>
                    </a:ext>
                  </a:extLst>
                </a:gridCol>
              </a:tblGrid>
              <a:tr h="777379">
                <a:tc>
                  <a:txBody>
                    <a:bodyPr/>
                    <a:lstStyle/>
                    <a:p>
                      <a:r>
                        <a:rPr lang="en-US" sz="1200" b="1">
                          <a:solidFill>
                            <a:schemeClr val="tx1"/>
                          </a:solidFill>
                        </a:rPr>
                        <a:t>Steps</a:t>
                      </a:r>
                      <a:endParaRPr lang="en-GB"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A number, y, is truncated to an integer. Write down the error interval for y if the result is 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A number, y, is truncated to 2 decimal places. Write down the error interval for y if the result is 93.20.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A number, y, is truncated to an integer. Write down the error interval for y if the result is 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6603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1) The result is the lower bound.</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60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2) One increment above this is the upper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indent="-228600" algn="ctr">
                        <a:buAutoNum type="alphaLcParenR"/>
                      </a:pPr>
                      <a:endParaRPr lang="en-US" sz="12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4" name="TextBox 3">
            <a:extLst>
              <a:ext uri="{FF2B5EF4-FFF2-40B4-BE49-F238E27FC236}">
                <a16:creationId xmlns:a16="http://schemas.microsoft.com/office/drawing/2014/main" id="{88784C66-5FEA-05A8-6B26-3F0CC82A2475}"/>
              </a:ext>
            </a:extLst>
          </p:cNvPr>
          <p:cNvSpPr txBox="1"/>
          <p:nvPr/>
        </p:nvSpPr>
        <p:spPr>
          <a:xfrm>
            <a:off x="1615912" y="6004"/>
            <a:ext cx="1410704" cy="276999"/>
          </a:xfrm>
          <a:prstGeom prst="rect">
            <a:avLst/>
          </a:prstGeom>
          <a:noFill/>
          <a:ln>
            <a:noFill/>
          </a:ln>
        </p:spPr>
        <p:txBody>
          <a:bodyPr wrap="square" rtlCol="0">
            <a:spAutoFit/>
          </a:bodyPr>
          <a:lstStyle/>
          <a:p>
            <a:r>
              <a:rPr lang="en-GB" sz="1200" b="1" i="1" dirty="0">
                <a:solidFill>
                  <a:srgbClr val="FF0000"/>
                </a:solidFill>
              </a:rPr>
              <a:t>Example 4 - I do…</a:t>
            </a:r>
          </a:p>
        </p:txBody>
      </p:sp>
      <p:sp>
        <p:nvSpPr>
          <p:cNvPr id="5" name="TextBox 4">
            <a:extLst>
              <a:ext uri="{FF2B5EF4-FFF2-40B4-BE49-F238E27FC236}">
                <a16:creationId xmlns:a16="http://schemas.microsoft.com/office/drawing/2014/main" id="{1992F3BA-0431-EFE8-DDDA-BF828930AEDD}"/>
              </a:ext>
            </a:extLst>
          </p:cNvPr>
          <p:cNvSpPr txBox="1"/>
          <p:nvPr/>
        </p:nvSpPr>
        <p:spPr>
          <a:xfrm>
            <a:off x="5050756" y="7633"/>
            <a:ext cx="1643405" cy="276999"/>
          </a:xfrm>
          <a:prstGeom prst="rect">
            <a:avLst/>
          </a:prstGeom>
          <a:noFill/>
          <a:ln>
            <a:noFill/>
          </a:ln>
        </p:spPr>
        <p:txBody>
          <a:bodyPr wrap="square" rtlCol="0">
            <a:spAutoFit/>
          </a:bodyPr>
          <a:lstStyle/>
          <a:p>
            <a:r>
              <a:rPr lang="en-GB" sz="1200" b="1" i="1" dirty="0">
                <a:solidFill>
                  <a:srgbClr val="00B050"/>
                </a:solidFill>
              </a:rPr>
              <a:t>Example 6 – You do…</a:t>
            </a:r>
          </a:p>
        </p:txBody>
      </p:sp>
      <p:sp>
        <p:nvSpPr>
          <p:cNvPr id="6" name="TextBox 5">
            <a:extLst>
              <a:ext uri="{FF2B5EF4-FFF2-40B4-BE49-F238E27FC236}">
                <a16:creationId xmlns:a16="http://schemas.microsoft.com/office/drawing/2014/main" id="{29E63559-9D17-CB5E-BEEB-382DBF81224B}"/>
              </a:ext>
            </a:extLst>
          </p:cNvPr>
          <p:cNvSpPr txBox="1"/>
          <p:nvPr/>
        </p:nvSpPr>
        <p:spPr>
          <a:xfrm>
            <a:off x="3263801" y="0"/>
            <a:ext cx="1643405" cy="276999"/>
          </a:xfrm>
          <a:prstGeom prst="rect">
            <a:avLst/>
          </a:prstGeom>
          <a:noFill/>
          <a:ln>
            <a:noFill/>
          </a:ln>
        </p:spPr>
        <p:txBody>
          <a:bodyPr wrap="square" rtlCol="0">
            <a:spAutoFit/>
          </a:bodyPr>
          <a:lstStyle/>
          <a:p>
            <a:r>
              <a:rPr lang="en-GB" sz="1200" b="1" i="1" dirty="0">
                <a:solidFill>
                  <a:schemeClr val="accent2"/>
                </a:solidFill>
              </a:rPr>
              <a:t>Example 5 – We do…</a:t>
            </a:r>
          </a:p>
        </p:txBody>
      </p:sp>
      <p:sp>
        <p:nvSpPr>
          <p:cNvPr id="37" name="Rectangle 36">
            <a:extLst>
              <a:ext uri="{FF2B5EF4-FFF2-40B4-BE49-F238E27FC236}">
                <a16:creationId xmlns:a16="http://schemas.microsoft.com/office/drawing/2014/main" id="{61AA4B9D-68E7-84A7-4F0B-7C566CFF4A01}"/>
              </a:ext>
            </a:extLst>
          </p:cNvPr>
          <p:cNvSpPr/>
          <p:nvPr/>
        </p:nvSpPr>
        <p:spPr>
          <a:xfrm>
            <a:off x="90313" y="224865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39" name="TextBox 38">
            <a:extLst>
              <a:ext uri="{FF2B5EF4-FFF2-40B4-BE49-F238E27FC236}">
                <a16:creationId xmlns:a16="http://schemas.microsoft.com/office/drawing/2014/main" id="{839E5C50-76AB-BE22-538C-C7546C2C73AD}"/>
              </a:ext>
            </a:extLst>
          </p:cNvPr>
          <p:cNvSpPr txBox="1"/>
          <p:nvPr/>
        </p:nvSpPr>
        <p:spPr>
          <a:xfrm>
            <a:off x="1208725" y="2388307"/>
            <a:ext cx="4651621" cy="276999"/>
          </a:xfrm>
          <a:prstGeom prst="rect">
            <a:avLst/>
          </a:prstGeom>
          <a:noFill/>
        </p:spPr>
        <p:txBody>
          <a:bodyPr wrap="square" rtlCol="0">
            <a:spAutoFit/>
          </a:bodyPr>
          <a:lstStyle/>
          <a:p>
            <a:r>
              <a:rPr lang="en-GB" sz="1200"/>
              <a:t>11. Answer the following questions:</a:t>
            </a:r>
          </a:p>
        </p:txBody>
      </p:sp>
      <mc:AlternateContent xmlns:mc="http://schemas.openxmlformats.org/markup-compatibility/2006" xmlns:a14="http://schemas.microsoft.com/office/drawing/2010/main">
        <mc:Choice Requires="a14">
          <p:graphicFrame>
            <p:nvGraphicFramePr>
              <p:cNvPr id="41" name="Table 40">
                <a:extLst>
                  <a:ext uri="{FF2B5EF4-FFF2-40B4-BE49-F238E27FC236}">
                    <a16:creationId xmlns:a16="http://schemas.microsoft.com/office/drawing/2014/main" id="{2BD83A60-ECC3-495C-BAB5-80DF2DDA2390}"/>
                  </a:ext>
                </a:extLst>
              </p:cNvPr>
              <p:cNvGraphicFramePr>
                <a:graphicFrameLocks noGrp="1"/>
              </p:cNvGraphicFramePr>
              <p:nvPr>
                <p:extLst>
                  <p:ext uri="{D42A27DB-BD31-4B8C-83A1-F6EECF244321}">
                    <p14:modId xmlns:p14="http://schemas.microsoft.com/office/powerpoint/2010/main" val="2818695716"/>
                  </p:ext>
                </p:extLst>
              </p:nvPr>
            </p:nvGraphicFramePr>
            <p:xfrm>
              <a:off x="105553" y="2665306"/>
              <a:ext cx="6622668" cy="4162687"/>
            </p:xfrm>
            <a:graphic>
              <a:graphicData uri="http://schemas.openxmlformats.org/drawingml/2006/table">
                <a:tbl>
                  <a:tblPr firstRow="1" bandRow="1">
                    <a:tableStyleId>{5C22544A-7EE6-4342-B048-85BDC9FD1C3A}</a:tableStyleId>
                  </a:tblPr>
                  <a:tblGrid>
                    <a:gridCol w="1655667">
                      <a:extLst>
                        <a:ext uri="{9D8B030D-6E8A-4147-A177-3AD203B41FA5}">
                          <a16:colId xmlns:a16="http://schemas.microsoft.com/office/drawing/2014/main" val="277496291"/>
                        </a:ext>
                      </a:extLst>
                    </a:gridCol>
                    <a:gridCol w="1655667">
                      <a:extLst>
                        <a:ext uri="{9D8B030D-6E8A-4147-A177-3AD203B41FA5}">
                          <a16:colId xmlns:a16="http://schemas.microsoft.com/office/drawing/2014/main" val="4087287062"/>
                        </a:ext>
                      </a:extLst>
                    </a:gridCol>
                    <a:gridCol w="1655667">
                      <a:extLst>
                        <a:ext uri="{9D8B030D-6E8A-4147-A177-3AD203B41FA5}">
                          <a16:colId xmlns:a16="http://schemas.microsoft.com/office/drawing/2014/main" val="500154141"/>
                        </a:ext>
                      </a:extLst>
                    </a:gridCol>
                    <a:gridCol w="1655667">
                      <a:extLst>
                        <a:ext uri="{9D8B030D-6E8A-4147-A177-3AD203B41FA5}">
                          <a16:colId xmlns:a16="http://schemas.microsoft.com/office/drawing/2014/main" val="2257054046"/>
                        </a:ext>
                      </a:extLst>
                    </a:gridCol>
                  </a:tblGrid>
                  <a:tr h="286076">
                    <a:tc gridSpan="4">
                      <a:txBody>
                        <a:bodyPr/>
                        <a:lstStyle/>
                        <a:p>
                          <a:r>
                            <a:rPr lang="en-GB" sz="1200" b="0">
                              <a:solidFill>
                                <a:schemeClr val="tx1"/>
                              </a:solidFill>
                            </a:rPr>
                            <a:t>a) </a:t>
                          </a:r>
                          <a:r>
                            <a:rPr lang="en-US" sz="1200" b="0">
                              <a:solidFill>
                                <a:schemeClr val="tx1"/>
                              </a:solidFill>
                            </a:rPr>
                            <a:t>A number, 𝑥, is truncated to the hundreds. Write down the error interval for 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35848025"/>
                      </a:ext>
                    </a:extLst>
                  </a:tr>
                  <a:tr h="764051">
                    <a:tc>
                      <a:txBody>
                        <a:bodyPr/>
                        <a:lstStyle/>
                        <a:p>
                          <a:pPr marL="0" indent="0">
                            <a:buNone/>
                          </a:pPr>
                          <a:r>
                            <a:rPr lang="en-GB" sz="1200" b="0" err="1">
                              <a:solidFill>
                                <a:schemeClr val="tx1"/>
                              </a:solidFill>
                            </a:rPr>
                            <a:t>i</a:t>
                          </a:r>
                          <a:r>
                            <a:rPr lang="en-GB" sz="1200" b="0">
                              <a:solidFill>
                                <a:schemeClr val="tx1"/>
                              </a:solidFill>
                            </a:rPr>
                            <a:t>) 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93900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99900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iv) 1000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2751182"/>
                      </a:ext>
                    </a:extLst>
                  </a:tr>
                  <a:tr h="257029">
                    <a:tc gridSpan="4">
                      <a:txBody>
                        <a:bodyPr/>
                        <a:lstStyle/>
                        <a:p>
                          <a:r>
                            <a:rPr lang="en-GB" sz="1200" b="0">
                              <a:solidFill>
                                <a:schemeClr val="tx1"/>
                              </a:solidFill>
                            </a:rPr>
                            <a:t>b) </a:t>
                          </a:r>
                          <a:r>
                            <a:rPr lang="en-GB" sz="1200">
                              <a:solidFill>
                                <a:srgbClr val="000000"/>
                              </a:solidFill>
                              <a:latin typeface="+mn-lt"/>
                              <a:ea typeface="Calibri" panose="020F0502020204030204" pitchFamily="34" charset="0"/>
                              <a:cs typeface="Calibri" panose="020F0502020204030204" pitchFamily="34" charset="0"/>
                            </a:rPr>
                            <a:t>A number, </a:t>
                          </a:r>
                          <a14:m>
                            <m:oMath xmlns:m="http://schemas.openxmlformats.org/officeDocument/2006/math">
                              <m:r>
                                <a:rPr lang="en-GB" sz="12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𝑥</m:t>
                              </m:r>
                            </m:oMath>
                          </a14:m>
                          <a:r>
                            <a:rPr lang="en-GB" sz="1200">
                              <a:solidFill>
                                <a:srgbClr val="000000"/>
                              </a:solidFill>
                              <a:effectLst/>
                              <a:latin typeface="+mn-lt"/>
                              <a:ea typeface="Calibri" panose="020F0502020204030204" pitchFamily="34" charset="0"/>
                              <a:cs typeface="Calibri" panose="020F0502020204030204" pitchFamily="34" charset="0"/>
                            </a:rPr>
                            <a:t>, is </a:t>
                          </a:r>
                          <a:r>
                            <a:rPr lang="en-GB" sz="1200" b="1">
                              <a:latin typeface="+mn-lt"/>
                            </a:rPr>
                            <a:t>truncated</a:t>
                          </a:r>
                          <a:r>
                            <a:rPr lang="en-GB" sz="1200">
                              <a:solidFill>
                                <a:srgbClr val="000000"/>
                              </a:solidFill>
                              <a:effectLst/>
                              <a:latin typeface="+mn-lt"/>
                              <a:ea typeface="Calibri" panose="020F0502020204030204" pitchFamily="34" charset="0"/>
                              <a:cs typeface="Calibri" panose="020F0502020204030204" pitchFamily="34" charset="0"/>
                            </a:rPr>
                            <a:t> to the tens. Write down the error interval for </a:t>
                          </a:r>
                          <a14:m>
                            <m:oMath xmlns:m="http://schemas.openxmlformats.org/officeDocument/2006/math">
                              <m:r>
                                <a:rPr lang="en-GB" sz="12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𝑥</m:t>
                              </m:r>
                            </m:oMath>
                          </a14:m>
                          <a:r>
                            <a:rPr lang="en-GB" sz="1200">
                              <a:solidFill>
                                <a:srgbClr val="000000"/>
                              </a:solidFill>
                              <a:effectLst/>
                              <a:latin typeface="+mn-lt"/>
                              <a:ea typeface="Calibri" panose="020F0502020204030204" pitchFamily="34" charset="0"/>
                              <a:cs typeface="Calibri" panose="020F0502020204030204" pitchFamily="34" charset="0"/>
                            </a:rPr>
                            <a:t>.</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35361459"/>
                      </a:ext>
                    </a:extLst>
                  </a:tr>
                  <a:tr h="763200">
                    <a:tc>
                      <a:txBody>
                        <a:bodyPr/>
                        <a:lstStyle/>
                        <a:p>
                          <a:pPr marL="0" indent="0">
                            <a:buNone/>
                          </a:pPr>
                          <a:r>
                            <a:rPr lang="en-GB" sz="1200" b="0" err="1">
                              <a:solidFill>
                                <a:schemeClr val="tx1"/>
                              </a:solidFill>
                            </a:rPr>
                            <a:t>i</a:t>
                          </a:r>
                          <a:r>
                            <a:rPr lang="en-GB" sz="1200" b="0">
                              <a:solidFill>
                                <a:schemeClr val="tx1"/>
                              </a:solidFill>
                            </a:rPr>
                            <a:t>) 120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90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iv) 10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2885741"/>
                      </a:ext>
                    </a:extLst>
                  </a:tr>
                  <a:tr h="225349">
                    <a:tc gridSpan="4">
                      <a:txBody>
                        <a:bodyPr/>
                        <a:lstStyle/>
                        <a:p>
                          <a:r>
                            <a:rPr lang="en-GB" sz="1200" b="0">
                              <a:solidFill>
                                <a:schemeClr val="tx1"/>
                              </a:solidFill>
                            </a:rPr>
                            <a:t>c) </a:t>
                          </a:r>
                          <a:r>
                            <a:rPr lang="en-GB" sz="1200">
                              <a:solidFill>
                                <a:srgbClr val="000000"/>
                              </a:solidFill>
                              <a:latin typeface="+mn-lt"/>
                              <a:ea typeface="Calibri" panose="020F0502020204030204" pitchFamily="34" charset="0"/>
                              <a:cs typeface="Calibri" panose="020F0502020204030204" pitchFamily="34" charset="0"/>
                            </a:rPr>
                            <a:t>A number, </a:t>
                          </a:r>
                          <a14:m>
                            <m:oMath xmlns:m="http://schemas.openxmlformats.org/officeDocument/2006/math">
                              <m:r>
                                <a:rPr lang="en-GB" sz="12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𝑥</m:t>
                              </m:r>
                            </m:oMath>
                          </a14:m>
                          <a:r>
                            <a:rPr lang="en-GB" sz="1200">
                              <a:solidFill>
                                <a:srgbClr val="000000"/>
                              </a:solidFill>
                              <a:effectLst/>
                              <a:latin typeface="+mn-lt"/>
                              <a:ea typeface="Calibri" panose="020F0502020204030204" pitchFamily="34" charset="0"/>
                              <a:cs typeface="Calibri" panose="020F0502020204030204" pitchFamily="34" charset="0"/>
                            </a:rPr>
                            <a:t>, is </a:t>
                          </a:r>
                          <a:r>
                            <a:rPr lang="en-GB" sz="1200" b="1">
                              <a:latin typeface="+mn-lt"/>
                            </a:rPr>
                            <a:t>truncated </a:t>
                          </a:r>
                          <a:r>
                            <a:rPr lang="en-GB" sz="1200">
                              <a:solidFill>
                                <a:srgbClr val="000000"/>
                              </a:solidFill>
                              <a:effectLst/>
                              <a:latin typeface="+mn-lt"/>
                              <a:ea typeface="Calibri" panose="020F0502020204030204" pitchFamily="34" charset="0"/>
                              <a:cs typeface="Calibri" panose="020F0502020204030204" pitchFamily="34" charset="0"/>
                            </a:rPr>
                            <a:t>to one digit. Write down the error interval for </a:t>
                          </a:r>
                          <a14:m>
                            <m:oMath xmlns:m="http://schemas.openxmlformats.org/officeDocument/2006/math">
                              <m:r>
                                <a:rPr lang="en-GB" sz="12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𝑥</m:t>
                              </m:r>
                            </m:oMath>
                          </a14:m>
                          <a:r>
                            <a:rPr lang="en-GB" sz="1200">
                              <a:solidFill>
                                <a:srgbClr val="000000"/>
                              </a:solidFill>
                              <a:effectLst/>
                              <a:latin typeface="+mn-lt"/>
                              <a:ea typeface="Calibri" panose="020F0502020204030204" pitchFamily="34" charset="0"/>
                              <a:cs typeface="Calibri" panose="020F0502020204030204" pitchFamily="34" charset="0"/>
                            </a:rPr>
                            <a:t>.</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65628742"/>
                      </a:ext>
                    </a:extLst>
                  </a:tr>
                  <a:tr h="763200">
                    <a:tc>
                      <a:txBody>
                        <a:bodyPr/>
                        <a:lstStyle/>
                        <a:p>
                          <a:pPr marL="0" indent="0">
                            <a:buNone/>
                          </a:pPr>
                          <a:r>
                            <a:rPr lang="en-GB" sz="1200" b="0" err="1">
                              <a:solidFill>
                                <a:schemeClr val="tx1"/>
                              </a:solidFill>
                            </a:rPr>
                            <a:t>i</a:t>
                          </a:r>
                          <a:r>
                            <a:rPr lang="en-GB" sz="1200" b="0">
                              <a:solidFill>
                                <a:schemeClr val="tx1"/>
                              </a:solidFill>
                            </a:rPr>
                            <a:t>) 54</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50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100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iv) 1</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5838951"/>
                      </a:ext>
                    </a:extLst>
                  </a:tr>
                  <a:tr h="0">
                    <a:tc gridSpan="4">
                      <a:txBody>
                        <a:bodyPr/>
                        <a:lstStyle/>
                        <a:p>
                          <a:r>
                            <a:rPr lang="en-GB" sz="1200" b="0">
                              <a:solidFill>
                                <a:schemeClr val="tx1"/>
                              </a:solidFill>
                            </a:rPr>
                            <a:t>d) </a:t>
                          </a:r>
                          <a:r>
                            <a:rPr lang="en-GB" sz="1200">
                              <a:solidFill>
                                <a:srgbClr val="000000"/>
                              </a:solidFill>
                              <a:latin typeface="+mn-lt"/>
                              <a:ea typeface="Calibri" panose="020F0502020204030204" pitchFamily="34" charset="0"/>
                              <a:cs typeface="Calibri" panose="020F0502020204030204" pitchFamily="34" charset="0"/>
                            </a:rPr>
                            <a:t>A number, </a:t>
                          </a:r>
                          <a14:m>
                            <m:oMath xmlns:m="http://schemas.openxmlformats.org/officeDocument/2006/math">
                              <m:r>
                                <a:rPr lang="en-GB" sz="12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𝑥</m:t>
                              </m:r>
                            </m:oMath>
                          </a14:m>
                          <a:r>
                            <a:rPr lang="en-GB" sz="1200">
                              <a:solidFill>
                                <a:srgbClr val="000000"/>
                              </a:solidFill>
                              <a:effectLst/>
                              <a:latin typeface="+mn-lt"/>
                              <a:ea typeface="Calibri" panose="020F0502020204030204" pitchFamily="34" charset="0"/>
                              <a:cs typeface="Calibri" panose="020F0502020204030204" pitchFamily="34" charset="0"/>
                            </a:rPr>
                            <a:t>, </a:t>
                          </a:r>
                          <a:r>
                            <a:rPr lang="en-GB" sz="1200">
                              <a:solidFill>
                                <a:srgbClr val="000000"/>
                              </a:solidFill>
                              <a:latin typeface="+mn-lt"/>
                              <a:ea typeface="Calibri" panose="020F0502020204030204" pitchFamily="34" charset="0"/>
                              <a:cs typeface="Calibri" panose="020F0502020204030204" pitchFamily="34" charset="0"/>
                            </a:rPr>
                            <a:t>is </a:t>
                          </a:r>
                          <a:r>
                            <a:rPr lang="en-GB" sz="1200" b="1">
                              <a:latin typeface="+mn-lt"/>
                            </a:rPr>
                            <a:t>truncated</a:t>
                          </a:r>
                          <a:r>
                            <a:rPr lang="en-GB" sz="1200">
                              <a:solidFill>
                                <a:srgbClr val="000000"/>
                              </a:solidFill>
                              <a:latin typeface="+mn-lt"/>
                              <a:ea typeface="Calibri" panose="020F0502020204030204" pitchFamily="34" charset="0"/>
                              <a:cs typeface="Calibri" panose="020F0502020204030204" pitchFamily="34" charset="0"/>
                            </a:rPr>
                            <a:t> to </a:t>
                          </a:r>
                          <a:r>
                            <a:rPr lang="en-GB" sz="1200">
                              <a:solidFill>
                                <a:srgbClr val="000000"/>
                              </a:solidFill>
                              <a:effectLst/>
                              <a:latin typeface="+mn-lt"/>
                              <a:ea typeface="Calibri" panose="020F0502020204030204" pitchFamily="34" charset="0"/>
                              <a:cs typeface="Calibri" panose="020F0502020204030204" pitchFamily="34" charset="0"/>
                            </a:rPr>
                            <a:t>1 decimal place. Write down the error interval for </a:t>
                          </a:r>
                          <a14:m>
                            <m:oMath xmlns:m="http://schemas.openxmlformats.org/officeDocument/2006/math">
                              <m:r>
                                <a:rPr lang="en-GB" sz="12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𝑥</m:t>
                              </m:r>
                            </m:oMath>
                          </a14:m>
                          <a:r>
                            <a:rPr lang="en-GB" sz="1200">
                              <a:solidFill>
                                <a:srgbClr val="000000"/>
                              </a:solidFill>
                              <a:effectLst/>
                              <a:latin typeface="+mn-lt"/>
                              <a:ea typeface="Calibri" panose="020F0502020204030204" pitchFamily="34" charset="0"/>
                              <a:cs typeface="Calibri" panose="020F0502020204030204" pitchFamily="34" charset="0"/>
                            </a:rPr>
                            <a:t>.</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16893596"/>
                      </a:ext>
                    </a:extLst>
                  </a:tr>
                  <a:tr h="763200">
                    <a:tc>
                      <a:txBody>
                        <a:bodyPr/>
                        <a:lstStyle/>
                        <a:p>
                          <a:r>
                            <a:rPr lang="en-GB" sz="1200" b="0" err="1">
                              <a:solidFill>
                                <a:schemeClr val="tx1"/>
                              </a:solidFill>
                            </a:rPr>
                            <a:t>i</a:t>
                          </a:r>
                          <a:r>
                            <a:rPr lang="en-GB" sz="1200" b="0">
                              <a:solidFill>
                                <a:schemeClr val="tx1"/>
                              </a:solidFill>
                            </a:rPr>
                            <a:t>) 33.6</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5.1</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4.0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dirty="0">
                              <a:solidFill>
                                <a:schemeClr val="tx1"/>
                              </a:solidFill>
                            </a:rPr>
                            <a:t>iv) 0.1</a:t>
                          </a:r>
                          <a:endParaRPr 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8098303"/>
                      </a:ext>
                    </a:extLst>
                  </a:tr>
                </a:tbl>
              </a:graphicData>
            </a:graphic>
          </p:graphicFrame>
        </mc:Choice>
        <mc:Fallback xmlns="">
          <p:graphicFrame>
            <p:nvGraphicFramePr>
              <p:cNvPr id="41" name="Table 40">
                <a:extLst>
                  <a:ext uri="{FF2B5EF4-FFF2-40B4-BE49-F238E27FC236}">
                    <a16:creationId xmlns:a16="http://schemas.microsoft.com/office/drawing/2014/main" id="{2BD83A60-ECC3-495C-BAB5-80DF2DDA2390}"/>
                  </a:ext>
                </a:extLst>
              </p:cNvPr>
              <p:cNvGraphicFramePr>
                <a:graphicFrameLocks noGrp="1"/>
              </p:cNvGraphicFramePr>
              <p:nvPr>
                <p:extLst>
                  <p:ext uri="{D42A27DB-BD31-4B8C-83A1-F6EECF244321}">
                    <p14:modId xmlns:p14="http://schemas.microsoft.com/office/powerpoint/2010/main" val="2818695716"/>
                  </p:ext>
                </p:extLst>
              </p:nvPr>
            </p:nvGraphicFramePr>
            <p:xfrm>
              <a:off x="105553" y="2665306"/>
              <a:ext cx="6622668" cy="4162687"/>
            </p:xfrm>
            <a:graphic>
              <a:graphicData uri="http://schemas.openxmlformats.org/drawingml/2006/table">
                <a:tbl>
                  <a:tblPr firstRow="1" bandRow="1">
                    <a:tableStyleId>{5C22544A-7EE6-4342-B048-85BDC9FD1C3A}</a:tableStyleId>
                  </a:tblPr>
                  <a:tblGrid>
                    <a:gridCol w="1655667">
                      <a:extLst>
                        <a:ext uri="{9D8B030D-6E8A-4147-A177-3AD203B41FA5}">
                          <a16:colId xmlns:a16="http://schemas.microsoft.com/office/drawing/2014/main" val="277496291"/>
                        </a:ext>
                      </a:extLst>
                    </a:gridCol>
                    <a:gridCol w="1655667">
                      <a:extLst>
                        <a:ext uri="{9D8B030D-6E8A-4147-A177-3AD203B41FA5}">
                          <a16:colId xmlns:a16="http://schemas.microsoft.com/office/drawing/2014/main" val="4087287062"/>
                        </a:ext>
                      </a:extLst>
                    </a:gridCol>
                    <a:gridCol w="1655667">
                      <a:extLst>
                        <a:ext uri="{9D8B030D-6E8A-4147-A177-3AD203B41FA5}">
                          <a16:colId xmlns:a16="http://schemas.microsoft.com/office/drawing/2014/main" val="500154141"/>
                        </a:ext>
                      </a:extLst>
                    </a:gridCol>
                    <a:gridCol w="1655667">
                      <a:extLst>
                        <a:ext uri="{9D8B030D-6E8A-4147-A177-3AD203B41FA5}">
                          <a16:colId xmlns:a16="http://schemas.microsoft.com/office/drawing/2014/main" val="2257054046"/>
                        </a:ext>
                      </a:extLst>
                    </a:gridCol>
                  </a:tblGrid>
                  <a:tr h="286076">
                    <a:tc gridSpan="4">
                      <a:txBody>
                        <a:bodyPr/>
                        <a:lstStyle/>
                        <a:p>
                          <a:r>
                            <a:rPr lang="en-GB" sz="1200" b="0">
                              <a:solidFill>
                                <a:schemeClr val="tx1"/>
                              </a:solidFill>
                            </a:rPr>
                            <a:t>a) </a:t>
                          </a:r>
                          <a:r>
                            <a:rPr lang="en-US" sz="1200" b="0">
                              <a:solidFill>
                                <a:schemeClr val="tx1"/>
                              </a:solidFill>
                            </a:rPr>
                            <a:t>A number, 𝑥, is truncated to the hundreds. Write down the error interval for 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35848025"/>
                      </a:ext>
                    </a:extLst>
                  </a:tr>
                  <a:tr h="764051">
                    <a:tc>
                      <a:txBody>
                        <a:bodyPr/>
                        <a:lstStyle/>
                        <a:p>
                          <a:pPr marL="0" indent="0">
                            <a:buNone/>
                          </a:pPr>
                          <a:r>
                            <a:rPr lang="en-GB" sz="1200" b="0" err="1">
                              <a:solidFill>
                                <a:schemeClr val="tx1"/>
                              </a:solidFill>
                            </a:rPr>
                            <a:t>i</a:t>
                          </a:r>
                          <a:r>
                            <a:rPr lang="en-GB" sz="1200" b="0">
                              <a:solidFill>
                                <a:schemeClr val="tx1"/>
                              </a:solidFill>
                            </a:rPr>
                            <a:t>) 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93900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99900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iv) 1000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2751182"/>
                      </a:ext>
                    </a:extLst>
                  </a:tr>
                  <a:tr h="274320">
                    <a:tc gridSpan="4">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2" t="-386667" r="-184" b="-1040000"/>
                          </a:stretch>
                        </a:blip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35361459"/>
                      </a:ext>
                    </a:extLst>
                  </a:tr>
                  <a:tr h="763200">
                    <a:tc>
                      <a:txBody>
                        <a:bodyPr/>
                        <a:lstStyle/>
                        <a:p>
                          <a:pPr marL="0" indent="0">
                            <a:buNone/>
                          </a:pPr>
                          <a:r>
                            <a:rPr lang="en-GB" sz="1200" b="0" err="1">
                              <a:solidFill>
                                <a:schemeClr val="tx1"/>
                              </a:solidFill>
                            </a:rPr>
                            <a:t>i</a:t>
                          </a:r>
                          <a:r>
                            <a:rPr lang="en-GB" sz="1200" b="0">
                              <a:solidFill>
                                <a:schemeClr val="tx1"/>
                              </a:solidFill>
                            </a:rPr>
                            <a:t>) 120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90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iv) 10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2885741"/>
                      </a:ext>
                    </a:extLst>
                  </a:tr>
                  <a:tr h="274320">
                    <a:tc gridSpan="4">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2" t="-764444" r="-184" b="-662222"/>
                          </a:stretch>
                        </a:blip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65628742"/>
                      </a:ext>
                    </a:extLst>
                  </a:tr>
                  <a:tr h="763200">
                    <a:tc>
                      <a:txBody>
                        <a:bodyPr/>
                        <a:lstStyle/>
                        <a:p>
                          <a:pPr marL="0" indent="0">
                            <a:buNone/>
                          </a:pPr>
                          <a:r>
                            <a:rPr lang="en-GB" sz="1200" b="0" err="1">
                              <a:solidFill>
                                <a:schemeClr val="tx1"/>
                              </a:solidFill>
                            </a:rPr>
                            <a:t>i</a:t>
                          </a:r>
                          <a:r>
                            <a:rPr lang="en-GB" sz="1200" b="0">
                              <a:solidFill>
                                <a:schemeClr val="tx1"/>
                              </a:solidFill>
                            </a:rPr>
                            <a:t>) 54</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50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100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iv) 1</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5838951"/>
                      </a:ext>
                    </a:extLst>
                  </a:tr>
                  <a:tr h="274320">
                    <a:tc gridSpan="4">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2" t="-1144444" r="-184" b="-282222"/>
                          </a:stretch>
                        </a:blip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16893596"/>
                      </a:ext>
                    </a:extLst>
                  </a:tr>
                  <a:tr h="763200">
                    <a:tc>
                      <a:txBody>
                        <a:bodyPr/>
                        <a:lstStyle/>
                        <a:p>
                          <a:r>
                            <a:rPr lang="en-GB" sz="1200" b="0" err="1">
                              <a:solidFill>
                                <a:schemeClr val="tx1"/>
                              </a:solidFill>
                            </a:rPr>
                            <a:t>i</a:t>
                          </a:r>
                          <a:r>
                            <a:rPr lang="en-GB" sz="1200" b="0">
                              <a:solidFill>
                                <a:schemeClr val="tx1"/>
                              </a:solidFill>
                            </a:rPr>
                            <a:t>) 33.6</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5.1</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4.0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iv) 0.1</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8098303"/>
                      </a:ext>
                    </a:extLst>
                  </a:tr>
                </a:tbl>
              </a:graphicData>
            </a:graphic>
          </p:graphicFrame>
        </mc:Fallback>
      </mc:AlternateContent>
      <p:sp>
        <p:nvSpPr>
          <p:cNvPr id="43" name="Rectangle 42">
            <a:extLst>
              <a:ext uri="{FF2B5EF4-FFF2-40B4-BE49-F238E27FC236}">
                <a16:creationId xmlns:a16="http://schemas.microsoft.com/office/drawing/2014/main" id="{4EC25ED5-4654-7582-D83B-02CF1A8E45D1}"/>
              </a:ext>
            </a:extLst>
          </p:cNvPr>
          <p:cNvSpPr/>
          <p:nvPr/>
        </p:nvSpPr>
        <p:spPr>
          <a:xfrm>
            <a:off x="90313" y="6934673"/>
            <a:ext cx="3833317" cy="27565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a:solidFill>
                  <a:schemeClr val="bg1"/>
                </a:solidFill>
              </a:rPr>
              <a:t>Mixed Practice</a:t>
            </a:r>
          </a:p>
        </p:txBody>
      </p:sp>
      <p:graphicFrame>
        <p:nvGraphicFramePr>
          <p:cNvPr id="44" name="Table 43">
            <a:extLst>
              <a:ext uri="{FF2B5EF4-FFF2-40B4-BE49-F238E27FC236}">
                <a16:creationId xmlns:a16="http://schemas.microsoft.com/office/drawing/2014/main" id="{2E5D4471-93F1-BA14-E912-A2A4D4AFFF12}"/>
              </a:ext>
            </a:extLst>
          </p:cNvPr>
          <p:cNvGraphicFramePr>
            <a:graphicFrameLocks noGrp="1"/>
          </p:cNvGraphicFramePr>
          <p:nvPr>
            <p:extLst>
              <p:ext uri="{D42A27DB-BD31-4B8C-83A1-F6EECF244321}">
                <p14:modId xmlns:p14="http://schemas.microsoft.com/office/powerpoint/2010/main" val="636827991"/>
              </p:ext>
            </p:extLst>
          </p:nvPr>
        </p:nvGraphicFramePr>
        <p:xfrm>
          <a:off x="46880" y="7317009"/>
          <a:ext cx="6622668" cy="2112687"/>
        </p:xfrm>
        <a:graphic>
          <a:graphicData uri="http://schemas.openxmlformats.org/drawingml/2006/table">
            <a:tbl>
              <a:tblPr firstRow="1" bandRow="1">
                <a:tableStyleId>{5C22544A-7EE6-4342-B048-85BDC9FD1C3A}</a:tableStyleId>
              </a:tblPr>
              <a:tblGrid>
                <a:gridCol w="2207556">
                  <a:extLst>
                    <a:ext uri="{9D8B030D-6E8A-4147-A177-3AD203B41FA5}">
                      <a16:colId xmlns:a16="http://schemas.microsoft.com/office/drawing/2014/main" val="894772231"/>
                    </a:ext>
                  </a:extLst>
                </a:gridCol>
                <a:gridCol w="2207556">
                  <a:extLst>
                    <a:ext uri="{9D8B030D-6E8A-4147-A177-3AD203B41FA5}">
                      <a16:colId xmlns:a16="http://schemas.microsoft.com/office/drawing/2014/main" val="2951436920"/>
                    </a:ext>
                  </a:extLst>
                </a:gridCol>
                <a:gridCol w="2207556">
                  <a:extLst>
                    <a:ext uri="{9D8B030D-6E8A-4147-A177-3AD203B41FA5}">
                      <a16:colId xmlns:a16="http://schemas.microsoft.com/office/drawing/2014/main" val="2727485691"/>
                    </a:ext>
                  </a:extLst>
                </a:gridCol>
              </a:tblGrid>
              <a:tr h="2112687">
                <a:tc>
                  <a:txBody>
                    <a:bodyPr/>
                    <a:lstStyle/>
                    <a:p>
                      <a:r>
                        <a:rPr lang="en-GB" sz="1200" b="0" dirty="0">
                          <a:solidFill>
                            <a:schemeClr val="tx1"/>
                          </a:solidFill>
                        </a:rPr>
                        <a:t>a) A number, n is truncated to 1 decimal place. The result is 18.1. Write down the error interval for n.</a:t>
                      </a:r>
                      <a:endParaRPr 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a:solidFill>
                            <a:schemeClr val="tx1"/>
                          </a:solidFill>
                        </a:rPr>
                        <a:t>b) </a:t>
                      </a:r>
                      <a:r>
                        <a:rPr lang="en-US" sz="1200" b="0">
                          <a:solidFill>
                            <a:schemeClr val="tx1"/>
                          </a:solidFill>
                        </a:rPr>
                        <a:t>Oscar rounds a number, y, to the nearest integer. His result is 100. Write down the error interval for 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dirty="0">
                          <a:solidFill>
                            <a:schemeClr val="tx1"/>
                          </a:solidFill>
                        </a:rPr>
                        <a:t>c) The mass of a coin is 8 grams to the nearest gram. Write the error interval for the mass of the coin.</a:t>
                      </a:r>
                      <a:endParaRPr 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837493"/>
                  </a:ext>
                </a:extLst>
              </a:tr>
            </a:tbl>
          </a:graphicData>
        </a:graphic>
      </p:graphicFrame>
    </p:spTree>
    <p:extLst>
      <p:ext uri="{BB962C8B-B14F-4D97-AF65-F5344CB8AC3E}">
        <p14:creationId xmlns:p14="http://schemas.microsoft.com/office/powerpoint/2010/main" val="2276136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068567-A316-1B66-F9C1-93E03599E9D5}"/>
              </a:ext>
            </a:extLst>
          </p:cNvPr>
          <p:cNvSpPr>
            <a:spLocks noGrp="1"/>
          </p:cNvSpPr>
          <p:nvPr>
            <p:ph type="sldNum" sz="quarter" idx="12"/>
          </p:nvPr>
        </p:nvSpPr>
        <p:spPr>
          <a:xfrm>
            <a:off x="5378364" y="9574929"/>
            <a:ext cx="1543050" cy="527403"/>
          </a:xfrm>
        </p:spPr>
        <p:txBody>
          <a:bodyPr/>
          <a:lstStyle/>
          <a:p>
            <a:fld id="{086C3A38-D272-42AA-9C88-F1FBEAE20D2C}" type="slidenum">
              <a:rPr lang="en-GB" smtClean="0"/>
              <a:t>12</a:t>
            </a:fld>
            <a:endParaRPr lang="en-GB"/>
          </a:p>
        </p:txBody>
      </p:sp>
      <p:graphicFrame>
        <p:nvGraphicFramePr>
          <p:cNvPr id="3" name="Table 2">
            <a:extLst>
              <a:ext uri="{FF2B5EF4-FFF2-40B4-BE49-F238E27FC236}">
                <a16:creationId xmlns:a16="http://schemas.microsoft.com/office/drawing/2014/main" id="{325C2176-5E43-85B5-DD86-AD5867F1E589}"/>
              </a:ext>
            </a:extLst>
          </p:cNvPr>
          <p:cNvGraphicFramePr>
            <a:graphicFrameLocks noGrp="1"/>
          </p:cNvGraphicFramePr>
          <p:nvPr/>
        </p:nvGraphicFramePr>
        <p:xfrm>
          <a:off x="117666" y="44800"/>
          <a:ext cx="6622668" cy="3456000"/>
        </p:xfrm>
        <a:graphic>
          <a:graphicData uri="http://schemas.openxmlformats.org/drawingml/2006/table">
            <a:tbl>
              <a:tblPr firstRow="1" bandRow="1">
                <a:tableStyleId>{5C22544A-7EE6-4342-B048-85BDC9FD1C3A}</a:tableStyleId>
              </a:tblPr>
              <a:tblGrid>
                <a:gridCol w="2207556">
                  <a:extLst>
                    <a:ext uri="{9D8B030D-6E8A-4147-A177-3AD203B41FA5}">
                      <a16:colId xmlns:a16="http://schemas.microsoft.com/office/drawing/2014/main" val="894772231"/>
                    </a:ext>
                  </a:extLst>
                </a:gridCol>
                <a:gridCol w="2207556">
                  <a:extLst>
                    <a:ext uri="{9D8B030D-6E8A-4147-A177-3AD203B41FA5}">
                      <a16:colId xmlns:a16="http://schemas.microsoft.com/office/drawing/2014/main" val="2951436920"/>
                    </a:ext>
                  </a:extLst>
                </a:gridCol>
                <a:gridCol w="2207556">
                  <a:extLst>
                    <a:ext uri="{9D8B030D-6E8A-4147-A177-3AD203B41FA5}">
                      <a16:colId xmlns:a16="http://schemas.microsoft.com/office/drawing/2014/main" val="2727485691"/>
                    </a:ext>
                  </a:extLst>
                </a:gridCol>
              </a:tblGrid>
              <a:tr h="1728000">
                <a:tc>
                  <a:txBody>
                    <a:bodyPr/>
                    <a:lstStyle/>
                    <a:p>
                      <a:r>
                        <a:rPr lang="en-GB" sz="1200" b="0">
                          <a:solidFill>
                            <a:schemeClr val="tx1"/>
                          </a:solidFill>
                        </a:rPr>
                        <a:t>g) The people living in two villages are counted 300 and 800 to the nearest 100. Write down the error interval to show the total maximum and minimum number of villagers.</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a:solidFill>
                            <a:schemeClr val="tx1"/>
                          </a:solidFill>
                        </a:rPr>
                        <a:t>h) To the nearest gram, a doughnut has 7 grams of sugar, and a bun has 2 grams of sugar. Write down the error interval for the total sugars. </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err="1">
                          <a:solidFill>
                            <a:schemeClr val="tx1"/>
                          </a:solidFill>
                        </a:rPr>
                        <a:t>i</a:t>
                      </a:r>
                      <a:r>
                        <a:rPr lang="en-GB" sz="1200" b="0">
                          <a:solidFill>
                            <a:schemeClr val="tx1"/>
                          </a:solidFill>
                        </a:rPr>
                        <a:t>) Grace takes 9 minutes to the nearest minute to complete a crossword. George takes 11 minutes to the nearest minute. Show that the total time to complete could be 20 minutes 50 seconds.</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837493"/>
                  </a:ext>
                </a:extLst>
              </a:tr>
              <a:tr h="1728000">
                <a:tc>
                  <a:txBody>
                    <a:bodyPr/>
                    <a:lstStyle/>
                    <a:p>
                      <a:r>
                        <a:rPr lang="en-GB" sz="1200" b="0">
                          <a:solidFill>
                            <a:schemeClr val="tx1"/>
                          </a:solidFill>
                        </a:rPr>
                        <a:t>k) The length of each side of a regular hexagon is 4.7cm to 1 decimal place. Write the error interval for the perimeter, P.</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a:solidFill>
                            <a:schemeClr val="tx1"/>
                          </a:solidFill>
                        </a:rPr>
                        <a:t>l) Write down the error interval for the perimeter of this rectangle.</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a:solidFill>
                            <a:schemeClr val="tx1"/>
                          </a:solidFill>
                        </a:rPr>
                        <a:t>m) To the nearest 10cm, John is 150cm tall and Sally is 120cm tall. What is the greatest height difference between them?</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1133642"/>
                  </a:ext>
                </a:extLst>
              </a:tr>
            </a:tbl>
          </a:graphicData>
        </a:graphic>
      </p:graphicFrame>
      <p:graphicFrame>
        <p:nvGraphicFramePr>
          <p:cNvPr id="4" name="Table 3">
            <a:extLst>
              <a:ext uri="{FF2B5EF4-FFF2-40B4-BE49-F238E27FC236}">
                <a16:creationId xmlns:a16="http://schemas.microsoft.com/office/drawing/2014/main" id="{389F0A15-6CEF-2E26-FEE5-7EE21320B440}"/>
              </a:ext>
            </a:extLst>
          </p:cNvPr>
          <p:cNvGraphicFramePr>
            <a:graphicFrameLocks noGrp="1"/>
          </p:cNvGraphicFramePr>
          <p:nvPr/>
        </p:nvGraphicFramePr>
        <p:xfrm>
          <a:off x="117666" y="3564396"/>
          <a:ext cx="6622668" cy="6158724"/>
        </p:xfrm>
        <a:graphic>
          <a:graphicData uri="http://schemas.openxmlformats.org/drawingml/2006/table">
            <a:tbl>
              <a:tblPr firstRow="1" bandRow="1">
                <a:tableStyleId>{5C22544A-7EE6-4342-B048-85BDC9FD1C3A}</a:tableStyleId>
              </a:tblPr>
              <a:tblGrid>
                <a:gridCol w="6622668">
                  <a:extLst>
                    <a:ext uri="{9D8B030D-6E8A-4147-A177-3AD203B41FA5}">
                      <a16:colId xmlns:a16="http://schemas.microsoft.com/office/drawing/2014/main" val="3005828078"/>
                    </a:ext>
                  </a:extLst>
                </a:gridCol>
              </a:tblGrid>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400" b="1">
                          <a:solidFill>
                            <a:schemeClr val="bg1"/>
                          </a:solidFill>
                        </a:rPr>
                        <a:t>Skills Check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E2341"/>
                    </a:solidFill>
                  </a:tcPr>
                </a:tc>
                <a:extLst>
                  <a:ext uri="{0D108BD9-81ED-4DB2-BD59-A6C34878D82A}">
                    <a16:rowId xmlns:a16="http://schemas.microsoft.com/office/drawing/2014/main" val="1822999577"/>
                  </a:ext>
                </a:extLst>
              </a:tr>
              <a:tr h="960817">
                <a:tc>
                  <a:txBody>
                    <a:bodyPr/>
                    <a:lstStyle/>
                    <a:p>
                      <a:pPr algn="ctr"/>
                      <a:r>
                        <a:rPr lang="en-GB" sz="1200" b="0" dirty="0">
                          <a:solidFill>
                            <a:schemeClr val="tx1"/>
                          </a:solidFill>
                        </a:rPr>
                        <a:t>A number, n, has been truncated to the tens and the answer is 90. What is the lower bound for 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786166"/>
                  </a:ext>
                </a:extLst>
              </a:tr>
              <a:tr h="998290">
                <a:tc>
                  <a:txBody>
                    <a:bodyPr/>
                    <a:lstStyle/>
                    <a:p>
                      <a:pPr algn="ctr"/>
                      <a:r>
                        <a:rPr lang="en-GB" sz="1200" b="0">
                          <a:solidFill>
                            <a:schemeClr val="tx1"/>
                          </a:solidFill>
                        </a:rPr>
                        <a:t>A number, n, has been truncated to the tens and the answer is 40. What is the upper bound for 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3895432"/>
                  </a:ext>
                </a:extLst>
              </a:tr>
              <a:tr h="1073791">
                <a:tc>
                  <a:txBody>
                    <a:bodyPr/>
                    <a:lstStyle/>
                    <a:p>
                      <a:pPr algn="ctr"/>
                      <a:r>
                        <a:rPr lang="en-GB" sz="1200" b="0">
                          <a:solidFill>
                            <a:schemeClr val="tx1"/>
                          </a:solidFill>
                        </a:rPr>
                        <a:t>A tin of sweets says ‘this tin contains 800 sweets, to the nearest 10’. What is the greatest number of sweets that could be in the tin?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7272931"/>
                  </a:ext>
                </a:extLst>
              </a:tr>
              <a:tr h="880844">
                <a:tc>
                  <a:txBody>
                    <a:bodyPr/>
                    <a:lstStyle/>
                    <a:p>
                      <a:pPr algn="ctr"/>
                      <a:r>
                        <a:rPr lang="en-GB" sz="1200" b="0">
                          <a:solidFill>
                            <a:schemeClr val="tx1"/>
                          </a:solidFill>
                        </a:rPr>
                        <a:t>A room is measured as 4.7 metres to 1 decimal place. What is the smallest possible length of the room?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5535516"/>
                  </a:ext>
                </a:extLst>
              </a:tr>
              <a:tr h="93434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Which of the following is the correct error interval for 78cm rounded to the nearest cm?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7120722"/>
                  </a:ext>
                </a:extLst>
              </a:tr>
              <a:tr h="972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A number, n, has been truncated to 1 significant figure and the answer is 0.06. Which of the following represents the error interval for n?</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4948418"/>
                  </a:ext>
                </a:extLst>
              </a:tr>
            </a:tbl>
          </a:graphicData>
        </a:graphic>
      </p:graphicFrame>
      <p:pic>
        <p:nvPicPr>
          <p:cNvPr id="7" name="Picture 6">
            <a:extLst>
              <a:ext uri="{FF2B5EF4-FFF2-40B4-BE49-F238E27FC236}">
                <a16:creationId xmlns:a16="http://schemas.microsoft.com/office/drawing/2014/main" id="{E261BAAF-44BF-8D75-E138-B720F6CA1632}"/>
              </a:ext>
            </a:extLst>
          </p:cNvPr>
          <p:cNvPicPr>
            <a:picLocks noChangeAspect="1"/>
          </p:cNvPicPr>
          <p:nvPr/>
        </p:nvPicPr>
        <p:blipFill>
          <a:blip r:embed="rId2"/>
          <a:srcRect l="36012" t="10989" r="34945" b="67556"/>
          <a:stretch/>
        </p:blipFill>
        <p:spPr>
          <a:xfrm>
            <a:off x="3131560" y="2211061"/>
            <a:ext cx="1305425" cy="674915"/>
          </a:xfrm>
          <a:prstGeom prst="rect">
            <a:avLst/>
          </a:prstGeom>
        </p:spPr>
      </p:pic>
      <p:pic>
        <p:nvPicPr>
          <p:cNvPr id="12" name="Picture 11">
            <a:extLst>
              <a:ext uri="{FF2B5EF4-FFF2-40B4-BE49-F238E27FC236}">
                <a16:creationId xmlns:a16="http://schemas.microsoft.com/office/drawing/2014/main" id="{87052890-537B-CABE-81C2-134812106442}"/>
              </a:ext>
            </a:extLst>
          </p:cNvPr>
          <p:cNvPicPr>
            <a:picLocks noChangeAspect="1"/>
          </p:cNvPicPr>
          <p:nvPr/>
        </p:nvPicPr>
        <p:blipFill>
          <a:blip r:embed="rId3"/>
          <a:srcRect t="11406"/>
          <a:stretch/>
        </p:blipFill>
        <p:spPr>
          <a:xfrm>
            <a:off x="1446553" y="4099298"/>
            <a:ext cx="3981665" cy="713066"/>
          </a:xfrm>
          <a:prstGeom prst="rect">
            <a:avLst/>
          </a:prstGeom>
        </p:spPr>
      </p:pic>
      <p:pic>
        <p:nvPicPr>
          <p:cNvPr id="14" name="Picture 13">
            <a:extLst>
              <a:ext uri="{FF2B5EF4-FFF2-40B4-BE49-F238E27FC236}">
                <a16:creationId xmlns:a16="http://schemas.microsoft.com/office/drawing/2014/main" id="{61C5BE74-B9CE-3E11-FA38-A323DF70535E}"/>
              </a:ext>
            </a:extLst>
          </p:cNvPr>
          <p:cNvPicPr>
            <a:picLocks noChangeAspect="1"/>
          </p:cNvPicPr>
          <p:nvPr/>
        </p:nvPicPr>
        <p:blipFill>
          <a:blip r:embed="rId4"/>
          <a:srcRect t="2370" b="12531"/>
          <a:stretch/>
        </p:blipFill>
        <p:spPr>
          <a:xfrm>
            <a:off x="1438165" y="5077438"/>
            <a:ext cx="3981665" cy="713065"/>
          </a:xfrm>
          <a:prstGeom prst="rect">
            <a:avLst/>
          </a:prstGeom>
        </p:spPr>
      </p:pic>
      <p:grpSp>
        <p:nvGrpSpPr>
          <p:cNvPr id="21" name="Group 20">
            <a:extLst>
              <a:ext uri="{FF2B5EF4-FFF2-40B4-BE49-F238E27FC236}">
                <a16:creationId xmlns:a16="http://schemas.microsoft.com/office/drawing/2014/main" id="{C7DD6A5D-038F-5FEA-5B54-6D6EE53A9DF2}"/>
              </a:ext>
            </a:extLst>
          </p:cNvPr>
          <p:cNvGrpSpPr/>
          <p:nvPr/>
        </p:nvGrpSpPr>
        <p:grpSpPr>
          <a:xfrm>
            <a:off x="1438165" y="6208274"/>
            <a:ext cx="3981665" cy="740212"/>
            <a:chOff x="1438167" y="7730473"/>
            <a:chExt cx="3981665" cy="740212"/>
          </a:xfrm>
        </p:grpSpPr>
        <p:pic>
          <p:nvPicPr>
            <p:cNvPr id="15" name="Picture 14">
              <a:extLst>
                <a:ext uri="{FF2B5EF4-FFF2-40B4-BE49-F238E27FC236}">
                  <a16:creationId xmlns:a16="http://schemas.microsoft.com/office/drawing/2014/main" id="{86D56FEC-6D49-0A2F-5A85-2FA7871D13C2}"/>
                </a:ext>
              </a:extLst>
            </p:cNvPr>
            <p:cNvPicPr>
              <a:picLocks noChangeAspect="1"/>
            </p:cNvPicPr>
            <p:nvPr/>
          </p:nvPicPr>
          <p:blipFill>
            <a:blip r:embed="rId4"/>
            <a:srcRect b="37058"/>
            <a:stretch/>
          </p:blipFill>
          <p:spPr>
            <a:xfrm>
              <a:off x="1438167" y="7730473"/>
              <a:ext cx="3981665" cy="527404"/>
            </a:xfrm>
            <a:prstGeom prst="rect">
              <a:avLst/>
            </a:prstGeom>
          </p:spPr>
        </p:pic>
        <p:sp>
          <p:nvSpPr>
            <p:cNvPr id="17" name="TextBox 16">
              <a:extLst>
                <a:ext uri="{FF2B5EF4-FFF2-40B4-BE49-F238E27FC236}">
                  <a16:creationId xmlns:a16="http://schemas.microsoft.com/office/drawing/2014/main" id="{E6768D7B-E73D-F687-BACD-C25CB8628DC0}"/>
                </a:ext>
              </a:extLst>
            </p:cNvPr>
            <p:cNvSpPr txBox="1"/>
            <p:nvPr/>
          </p:nvSpPr>
          <p:spPr>
            <a:xfrm>
              <a:off x="1489925" y="8154055"/>
              <a:ext cx="439544" cy="292388"/>
            </a:xfrm>
            <a:prstGeom prst="rect">
              <a:avLst/>
            </a:prstGeom>
            <a:noFill/>
          </p:spPr>
          <p:txBody>
            <a:bodyPr wrap="none" rtlCol="0">
              <a:spAutoFit/>
            </a:bodyPr>
            <a:lstStyle/>
            <a:p>
              <a:r>
                <a:rPr lang="en-GB" sz="1300"/>
                <a:t>810</a:t>
              </a:r>
              <a:endParaRPr lang="en-US" sz="1300"/>
            </a:p>
          </p:txBody>
        </p:sp>
        <p:sp>
          <p:nvSpPr>
            <p:cNvPr id="18" name="TextBox 17">
              <a:extLst>
                <a:ext uri="{FF2B5EF4-FFF2-40B4-BE49-F238E27FC236}">
                  <a16:creationId xmlns:a16="http://schemas.microsoft.com/office/drawing/2014/main" id="{4F3525E3-D9A1-28C5-592C-F43337F5DC8C}"/>
                </a:ext>
              </a:extLst>
            </p:cNvPr>
            <p:cNvSpPr txBox="1"/>
            <p:nvPr/>
          </p:nvSpPr>
          <p:spPr>
            <a:xfrm>
              <a:off x="2638096" y="8158059"/>
              <a:ext cx="439544" cy="292388"/>
            </a:xfrm>
            <a:prstGeom prst="rect">
              <a:avLst/>
            </a:prstGeom>
            <a:noFill/>
          </p:spPr>
          <p:txBody>
            <a:bodyPr wrap="none" rtlCol="0">
              <a:spAutoFit/>
            </a:bodyPr>
            <a:lstStyle/>
            <a:p>
              <a:r>
                <a:rPr lang="en-GB" sz="1300"/>
                <a:t>805</a:t>
              </a:r>
              <a:endParaRPr lang="en-US" sz="1300"/>
            </a:p>
          </p:txBody>
        </p:sp>
        <p:sp>
          <p:nvSpPr>
            <p:cNvPr id="19" name="TextBox 18">
              <a:extLst>
                <a:ext uri="{FF2B5EF4-FFF2-40B4-BE49-F238E27FC236}">
                  <a16:creationId xmlns:a16="http://schemas.microsoft.com/office/drawing/2014/main" id="{45C9D2C7-10F2-69C7-CB75-B28DC68F4192}"/>
                </a:ext>
              </a:extLst>
            </p:cNvPr>
            <p:cNvSpPr txBox="1"/>
            <p:nvPr/>
          </p:nvSpPr>
          <p:spPr>
            <a:xfrm>
              <a:off x="3784275" y="8154055"/>
              <a:ext cx="439544" cy="292388"/>
            </a:xfrm>
            <a:prstGeom prst="rect">
              <a:avLst/>
            </a:prstGeom>
            <a:noFill/>
          </p:spPr>
          <p:txBody>
            <a:bodyPr wrap="none" rtlCol="0">
              <a:spAutoFit/>
            </a:bodyPr>
            <a:lstStyle/>
            <a:p>
              <a:r>
                <a:rPr lang="en-GB" sz="1300"/>
                <a:t>804</a:t>
              </a:r>
              <a:endParaRPr lang="en-US" sz="1300"/>
            </a:p>
          </p:txBody>
        </p:sp>
        <p:sp>
          <p:nvSpPr>
            <p:cNvPr id="20" name="TextBox 19">
              <a:extLst>
                <a:ext uri="{FF2B5EF4-FFF2-40B4-BE49-F238E27FC236}">
                  <a16:creationId xmlns:a16="http://schemas.microsoft.com/office/drawing/2014/main" id="{7A46A912-6B98-E7AE-4AF5-BE16B5ACF54A}"/>
                </a:ext>
              </a:extLst>
            </p:cNvPr>
            <p:cNvSpPr txBox="1"/>
            <p:nvPr/>
          </p:nvSpPr>
          <p:spPr>
            <a:xfrm>
              <a:off x="4911279" y="8178297"/>
              <a:ext cx="439544" cy="292388"/>
            </a:xfrm>
            <a:prstGeom prst="rect">
              <a:avLst/>
            </a:prstGeom>
            <a:noFill/>
          </p:spPr>
          <p:txBody>
            <a:bodyPr wrap="none" rtlCol="0">
              <a:spAutoFit/>
            </a:bodyPr>
            <a:lstStyle/>
            <a:p>
              <a:r>
                <a:rPr lang="en-GB" sz="1300"/>
                <a:t>849</a:t>
              </a:r>
              <a:endParaRPr lang="en-US" sz="1300"/>
            </a:p>
          </p:txBody>
        </p:sp>
      </p:grpSp>
      <p:grpSp>
        <p:nvGrpSpPr>
          <p:cNvPr id="22" name="Group 21">
            <a:extLst>
              <a:ext uri="{FF2B5EF4-FFF2-40B4-BE49-F238E27FC236}">
                <a16:creationId xmlns:a16="http://schemas.microsoft.com/office/drawing/2014/main" id="{75DCB35E-03D0-CAD4-E353-0F2749D4E4F3}"/>
              </a:ext>
            </a:extLst>
          </p:cNvPr>
          <p:cNvGrpSpPr/>
          <p:nvPr/>
        </p:nvGrpSpPr>
        <p:grpSpPr>
          <a:xfrm>
            <a:off x="1446553" y="7110230"/>
            <a:ext cx="4087383" cy="740212"/>
            <a:chOff x="1438167" y="7730473"/>
            <a:chExt cx="4087383" cy="740212"/>
          </a:xfrm>
        </p:grpSpPr>
        <p:pic>
          <p:nvPicPr>
            <p:cNvPr id="23" name="Picture 22">
              <a:extLst>
                <a:ext uri="{FF2B5EF4-FFF2-40B4-BE49-F238E27FC236}">
                  <a16:creationId xmlns:a16="http://schemas.microsoft.com/office/drawing/2014/main" id="{CA688D6F-5674-0087-1A7E-A7EF890C877A}"/>
                </a:ext>
              </a:extLst>
            </p:cNvPr>
            <p:cNvPicPr>
              <a:picLocks noChangeAspect="1"/>
            </p:cNvPicPr>
            <p:nvPr/>
          </p:nvPicPr>
          <p:blipFill>
            <a:blip r:embed="rId4"/>
            <a:srcRect b="37058"/>
            <a:stretch/>
          </p:blipFill>
          <p:spPr>
            <a:xfrm>
              <a:off x="1438167" y="7730473"/>
              <a:ext cx="3981665" cy="527404"/>
            </a:xfrm>
            <a:prstGeom prst="rect">
              <a:avLst/>
            </a:prstGeom>
          </p:spPr>
        </p:pic>
        <p:sp>
          <p:nvSpPr>
            <p:cNvPr id="24" name="TextBox 23">
              <a:extLst>
                <a:ext uri="{FF2B5EF4-FFF2-40B4-BE49-F238E27FC236}">
                  <a16:creationId xmlns:a16="http://schemas.microsoft.com/office/drawing/2014/main" id="{C4DA3852-8711-9583-EEFD-15D35662829C}"/>
                </a:ext>
              </a:extLst>
            </p:cNvPr>
            <p:cNvSpPr txBox="1"/>
            <p:nvPr/>
          </p:nvSpPr>
          <p:spPr>
            <a:xfrm>
              <a:off x="1489925" y="8154055"/>
              <a:ext cx="402674" cy="292388"/>
            </a:xfrm>
            <a:prstGeom prst="rect">
              <a:avLst/>
            </a:prstGeom>
            <a:noFill/>
          </p:spPr>
          <p:txBody>
            <a:bodyPr wrap="none" rtlCol="0">
              <a:spAutoFit/>
            </a:bodyPr>
            <a:lstStyle/>
            <a:p>
              <a:r>
                <a:rPr lang="en-GB" sz="1300"/>
                <a:t>4m</a:t>
              </a:r>
              <a:endParaRPr lang="en-US" sz="1300"/>
            </a:p>
          </p:txBody>
        </p:sp>
        <p:sp>
          <p:nvSpPr>
            <p:cNvPr id="25" name="TextBox 24">
              <a:extLst>
                <a:ext uri="{FF2B5EF4-FFF2-40B4-BE49-F238E27FC236}">
                  <a16:creationId xmlns:a16="http://schemas.microsoft.com/office/drawing/2014/main" id="{1143AEE5-D422-4031-F933-2FE3A48BE67C}"/>
                </a:ext>
              </a:extLst>
            </p:cNvPr>
            <p:cNvSpPr txBox="1"/>
            <p:nvPr/>
          </p:nvSpPr>
          <p:spPr>
            <a:xfrm>
              <a:off x="2638096" y="8158059"/>
              <a:ext cx="529312" cy="292388"/>
            </a:xfrm>
            <a:prstGeom prst="rect">
              <a:avLst/>
            </a:prstGeom>
            <a:noFill/>
          </p:spPr>
          <p:txBody>
            <a:bodyPr wrap="none" rtlCol="0">
              <a:spAutoFit/>
            </a:bodyPr>
            <a:lstStyle/>
            <a:p>
              <a:r>
                <a:rPr lang="en-GB" sz="1300"/>
                <a:t>4.7m</a:t>
              </a:r>
              <a:endParaRPr lang="en-US" sz="1300"/>
            </a:p>
          </p:txBody>
        </p:sp>
        <p:sp>
          <p:nvSpPr>
            <p:cNvPr id="26" name="TextBox 25">
              <a:extLst>
                <a:ext uri="{FF2B5EF4-FFF2-40B4-BE49-F238E27FC236}">
                  <a16:creationId xmlns:a16="http://schemas.microsoft.com/office/drawing/2014/main" id="{0C7ED866-8D6D-EF22-6149-68238C20EF46}"/>
                </a:ext>
              </a:extLst>
            </p:cNvPr>
            <p:cNvSpPr txBox="1"/>
            <p:nvPr/>
          </p:nvSpPr>
          <p:spPr>
            <a:xfrm>
              <a:off x="3784275" y="8154055"/>
              <a:ext cx="529312" cy="292388"/>
            </a:xfrm>
            <a:prstGeom prst="rect">
              <a:avLst/>
            </a:prstGeom>
            <a:noFill/>
          </p:spPr>
          <p:txBody>
            <a:bodyPr wrap="none" rtlCol="0">
              <a:spAutoFit/>
            </a:bodyPr>
            <a:lstStyle/>
            <a:p>
              <a:r>
                <a:rPr lang="en-GB" sz="1300"/>
                <a:t>4.6m</a:t>
              </a:r>
              <a:endParaRPr lang="en-US" sz="1300"/>
            </a:p>
          </p:txBody>
        </p:sp>
        <p:sp>
          <p:nvSpPr>
            <p:cNvPr id="27" name="TextBox 26">
              <a:extLst>
                <a:ext uri="{FF2B5EF4-FFF2-40B4-BE49-F238E27FC236}">
                  <a16:creationId xmlns:a16="http://schemas.microsoft.com/office/drawing/2014/main" id="{1C950B53-896B-51C1-4BA0-F554D0020BFD}"/>
                </a:ext>
              </a:extLst>
            </p:cNvPr>
            <p:cNvSpPr txBox="1"/>
            <p:nvPr/>
          </p:nvSpPr>
          <p:spPr>
            <a:xfrm>
              <a:off x="4911279" y="8178297"/>
              <a:ext cx="614271" cy="292388"/>
            </a:xfrm>
            <a:prstGeom prst="rect">
              <a:avLst/>
            </a:prstGeom>
            <a:noFill/>
          </p:spPr>
          <p:txBody>
            <a:bodyPr wrap="none" rtlCol="0">
              <a:spAutoFit/>
            </a:bodyPr>
            <a:lstStyle/>
            <a:p>
              <a:r>
                <a:rPr lang="en-GB" sz="1300"/>
                <a:t>4.65m</a:t>
              </a:r>
              <a:endParaRPr lang="en-US" sz="1300"/>
            </a:p>
          </p:txBody>
        </p:sp>
      </p:grpSp>
      <p:grpSp>
        <p:nvGrpSpPr>
          <p:cNvPr id="28" name="Group 27">
            <a:extLst>
              <a:ext uri="{FF2B5EF4-FFF2-40B4-BE49-F238E27FC236}">
                <a16:creationId xmlns:a16="http://schemas.microsoft.com/office/drawing/2014/main" id="{572E9477-B21D-B504-E497-1ABEB1B86467}"/>
              </a:ext>
            </a:extLst>
          </p:cNvPr>
          <p:cNvGrpSpPr/>
          <p:nvPr/>
        </p:nvGrpSpPr>
        <p:grpSpPr>
          <a:xfrm>
            <a:off x="1133398" y="7996172"/>
            <a:ext cx="4325779" cy="722755"/>
            <a:chOff x="1094053" y="7730473"/>
            <a:chExt cx="4325779" cy="722755"/>
          </a:xfrm>
        </p:grpSpPr>
        <p:pic>
          <p:nvPicPr>
            <p:cNvPr id="29" name="Picture 28">
              <a:extLst>
                <a:ext uri="{FF2B5EF4-FFF2-40B4-BE49-F238E27FC236}">
                  <a16:creationId xmlns:a16="http://schemas.microsoft.com/office/drawing/2014/main" id="{587E6DB8-C240-C40C-24A2-10847532D569}"/>
                </a:ext>
              </a:extLst>
            </p:cNvPr>
            <p:cNvPicPr>
              <a:picLocks noChangeAspect="1"/>
            </p:cNvPicPr>
            <p:nvPr/>
          </p:nvPicPr>
          <p:blipFill>
            <a:blip r:embed="rId4"/>
            <a:srcRect b="37058"/>
            <a:stretch/>
          </p:blipFill>
          <p:spPr>
            <a:xfrm>
              <a:off x="1438167" y="7730473"/>
              <a:ext cx="3981665" cy="527404"/>
            </a:xfrm>
            <a:prstGeom prst="rect">
              <a:avLst/>
            </a:prstGeom>
          </p:spPr>
        </p:pic>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C2FC9D9-8E43-24BC-7E00-FED6C9988EB7}"/>
                    </a:ext>
                  </a:extLst>
                </p:cNvPr>
                <p:cNvSpPr txBox="1"/>
                <p:nvPr/>
              </p:nvSpPr>
              <p:spPr>
                <a:xfrm>
                  <a:off x="1094053" y="8160840"/>
                  <a:ext cx="1212191" cy="292388"/>
                </a:xfrm>
                <a:prstGeom prst="rect">
                  <a:avLst/>
                </a:prstGeom>
                <a:noFill/>
              </p:spPr>
              <p:txBody>
                <a:bodyPr wrap="none" rtlCol="0">
                  <a:spAutoFit/>
                </a:bodyPr>
                <a:lstStyle/>
                <a:p>
                  <a:r>
                    <a:rPr lang="en-GB" sz="1300"/>
                    <a:t>77.5 &lt; x </a:t>
                  </a:r>
                  <a14:m>
                    <m:oMath xmlns:m="http://schemas.openxmlformats.org/officeDocument/2006/math">
                      <m:r>
                        <a:rPr lang="en-GB" sz="1300" i="1" dirty="0" smtClean="0">
                          <a:latin typeface="Cambria Math" panose="02040503050406030204" pitchFamily="18" charset="0"/>
                          <a:ea typeface="Cambria Math" panose="02040503050406030204" pitchFamily="18" charset="0"/>
                        </a:rPr>
                        <m:t>≤</m:t>
                      </m:r>
                    </m:oMath>
                  </a14:m>
                  <a:r>
                    <a:rPr lang="en-GB" sz="1300"/>
                    <a:t> 78.5</a:t>
                  </a:r>
                  <a:endParaRPr lang="en-US" sz="1300"/>
                </a:p>
              </p:txBody>
            </p:sp>
          </mc:Choice>
          <mc:Fallback xmlns="">
            <p:sp>
              <p:nvSpPr>
                <p:cNvPr id="30" name="TextBox 29">
                  <a:extLst>
                    <a:ext uri="{FF2B5EF4-FFF2-40B4-BE49-F238E27FC236}">
                      <a16:creationId xmlns:a16="http://schemas.microsoft.com/office/drawing/2014/main" id="{2C2FC9D9-8E43-24BC-7E00-FED6C9988EB7}"/>
                    </a:ext>
                  </a:extLst>
                </p:cNvPr>
                <p:cNvSpPr txBox="1">
                  <a:spLocks noRot="1" noChangeAspect="1" noMove="1" noResize="1" noEditPoints="1" noAdjustHandles="1" noChangeArrowheads="1" noChangeShapeType="1" noTextEdit="1"/>
                </p:cNvSpPr>
                <p:nvPr/>
              </p:nvSpPr>
              <p:spPr>
                <a:xfrm>
                  <a:off x="1094053" y="8160840"/>
                  <a:ext cx="1212191" cy="292388"/>
                </a:xfrm>
                <a:prstGeom prst="rect">
                  <a:avLst/>
                </a:prstGeom>
                <a:blipFill>
                  <a:blip r:embed="rId5"/>
                  <a:stretch>
                    <a:fillRect l="-1005" t="-2083" b="-16667"/>
                  </a:stretch>
                </a:blipFill>
              </p:spPr>
              <p:txBody>
                <a:bodyPr/>
                <a:lstStyle/>
                <a:p>
                  <a:r>
                    <a:rPr lang="en-US">
                      <a:noFill/>
                    </a:rPr>
                    <a:t> </a:t>
                  </a:r>
                </a:p>
              </p:txBody>
            </p:sp>
          </mc:Fallback>
        </mc:AlternateContent>
      </p:grpSp>
      <p:sp>
        <p:nvSpPr>
          <p:cNvPr id="34" name="TextBox 33">
            <a:extLst>
              <a:ext uri="{FF2B5EF4-FFF2-40B4-BE49-F238E27FC236}">
                <a16:creationId xmlns:a16="http://schemas.microsoft.com/office/drawing/2014/main" id="{C503BAF0-2E7E-E86E-77E4-4B09CC639780}"/>
              </a:ext>
            </a:extLst>
          </p:cNvPr>
          <p:cNvSpPr txBox="1"/>
          <p:nvPr/>
        </p:nvSpPr>
        <p:spPr>
          <a:xfrm>
            <a:off x="2345589" y="8428182"/>
            <a:ext cx="1170513" cy="292388"/>
          </a:xfrm>
          <a:prstGeom prst="rect">
            <a:avLst/>
          </a:prstGeom>
          <a:noFill/>
        </p:spPr>
        <p:txBody>
          <a:bodyPr wrap="none" rtlCol="0">
            <a:spAutoFit/>
          </a:bodyPr>
          <a:lstStyle/>
          <a:p>
            <a:r>
              <a:rPr lang="en-GB" sz="1300"/>
              <a:t>77.5 &lt; x &lt; 78.5</a:t>
            </a:r>
            <a:endParaRPr lang="en-US" sz="130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6D94EA2-A4DD-9CDC-38A3-D9512DD63CF6}"/>
                  </a:ext>
                </a:extLst>
              </p:cNvPr>
              <p:cNvSpPr txBox="1"/>
              <p:nvPr/>
            </p:nvSpPr>
            <p:spPr>
              <a:xfrm>
                <a:off x="3483470" y="8426539"/>
                <a:ext cx="1212191" cy="292388"/>
              </a:xfrm>
              <a:prstGeom prst="rect">
                <a:avLst/>
              </a:prstGeom>
              <a:noFill/>
            </p:spPr>
            <p:txBody>
              <a:bodyPr wrap="none" rtlCol="0">
                <a:spAutoFit/>
              </a:bodyPr>
              <a:lstStyle/>
              <a:p>
                <a:r>
                  <a:rPr lang="en-GB" sz="1300"/>
                  <a:t>77.5 </a:t>
                </a:r>
                <a14:m>
                  <m:oMath xmlns:m="http://schemas.openxmlformats.org/officeDocument/2006/math">
                    <m:r>
                      <a:rPr lang="en-GB" sz="1300" i="1" dirty="0" smtClean="0">
                        <a:latin typeface="Cambria Math" panose="02040503050406030204" pitchFamily="18" charset="0"/>
                        <a:ea typeface="Cambria Math" panose="02040503050406030204" pitchFamily="18" charset="0"/>
                      </a:rPr>
                      <m:t>≤</m:t>
                    </m:r>
                  </m:oMath>
                </a14:m>
                <a:r>
                  <a:rPr lang="en-GB" sz="1300"/>
                  <a:t> x &lt; 78.5</a:t>
                </a:r>
                <a:endParaRPr lang="en-US" sz="1300"/>
              </a:p>
            </p:txBody>
          </p:sp>
        </mc:Choice>
        <mc:Fallback xmlns="">
          <p:sp>
            <p:nvSpPr>
              <p:cNvPr id="35" name="TextBox 34">
                <a:extLst>
                  <a:ext uri="{FF2B5EF4-FFF2-40B4-BE49-F238E27FC236}">
                    <a16:creationId xmlns:a16="http://schemas.microsoft.com/office/drawing/2014/main" id="{66D94EA2-A4DD-9CDC-38A3-D9512DD63CF6}"/>
                  </a:ext>
                </a:extLst>
              </p:cNvPr>
              <p:cNvSpPr txBox="1">
                <a:spLocks noRot="1" noChangeAspect="1" noMove="1" noResize="1" noEditPoints="1" noAdjustHandles="1" noChangeArrowheads="1" noChangeShapeType="1" noTextEdit="1"/>
              </p:cNvSpPr>
              <p:nvPr/>
            </p:nvSpPr>
            <p:spPr>
              <a:xfrm>
                <a:off x="3483470" y="8426539"/>
                <a:ext cx="1212191" cy="292388"/>
              </a:xfrm>
              <a:prstGeom prst="rect">
                <a:avLst/>
              </a:prstGeom>
              <a:blipFill>
                <a:blip r:embed="rId6"/>
                <a:stretch>
                  <a:fillRect l="-503" t="-2083"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ECD08C7-E5E0-D742-1B1D-FBFEBA5CA603}"/>
                  </a:ext>
                </a:extLst>
              </p:cNvPr>
              <p:cNvSpPr txBox="1"/>
              <p:nvPr/>
            </p:nvSpPr>
            <p:spPr>
              <a:xfrm>
                <a:off x="4695661" y="8432835"/>
                <a:ext cx="1250663" cy="292388"/>
              </a:xfrm>
              <a:prstGeom prst="rect">
                <a:avLst/>
              </a:prstGeom>
              <a:noFill/>
            </p:spPr>
            <p:txBody>
              <a:bodyPr wrap="none" rtlCol="0">
                <a:spAutoFit/>
              </a:bodyPr>
              <a:lstStyle/>
              <a:p>
                <a:r>
                  <a:rPr lang="en-GB" sz="1300"/>
                  <a:t>77.5 </a:t>
                </a:r>
                <a14:m>
                  <m:oMath xmlns:m="http://schemas.openxmlformats.org/officeDocument/2006/math">
                    <m:r>
                      <a:rPr lang="en-GB" sz="1300" i="1" dirty="0" smtClean="0">
                        <a:latin typeface="Cambria Math" panose="02040503050406030204" pitchFamily="18" charset="0"/>
                        <a:ea typeface="Cambria Math" panose="02040503050406030204" pitchFamily="18" charset="0"/>
                      </a:rPr>
                      <m:t>≤</m:t>
                    </m:r>
                  </m:oMath>
                </a14:m>
                <a:r>
                  <a:rPr lang="en-GB" sz="1300"/>
                  <a:t> x &lt; 78.4 </a:t>
                </a:r>
                <a:endParaRPr lang="en-US" sz="1300"/>
              </a:p>
            </p:txBody>
          </p:sp>
        </mc:Choice>
        <mc:Fallback xmlns="">
          <p:sp>
            <p:nvSpPr>
              <p:cNvPr id="37" name="TextBox 36">
                <a:extLst>
                  <a:ext uri="{FF2B5EF4-FFF2-40B4-BE49-F238E27FC236}">
                    <a16:creationId xmlns:a16="http://schemas.microsoft.com/office/drawing/2014/main" id="{CECD08C7-E5E0-D742-1B1D-FBFEBA5CA603}"/>
                  </a:ext>
                </a:extLst>
              </p:cNvPr>
              <p:cNvSpPr txBox="1">
                <a:spLocks noRot="1" noChangeAspect="1" noMove="1" noResize="1" noEditPoints="1" noAdjustHandles="1" noChangeArrowheads="1" noChangeShapeType="1" noTextEdit="1"/>
              </p:cNvSpPr>
              <p:nvPr/>
            </p:nvSpPr>
            <p:spPr>
              <a:xfrm>
                <a:off x="4695661" y="8432835"/>
                <a:ext cx="1250663" cy="292388"/>
              </a:xfrm>
              <a:prstGeom prst="rect">
                <a:avLst/>
              </a:prstGeom>
              <a:blipFill>
                <a:blip r:embed="rId7"/>
                <a:stretch>
                  <a:fillRect l="-488" t="-2083" b="-16667"/>
                </a:stretch>
              </a:blipFill>
            </p:spPr>
            <p:txBody>
              <a:bodyPr/>
              <a:lstStyle/>
              <a:p>
                <a:r>
                  <a:rPr lang="en-US">
                    <a:noFill/>
                  </a:rPr>
                  <a:t> </a:t>
                </a:r>
              </a:p>
            </p:txBody>
          </p:sp>
        </mc:Fallback>
      </mc:AlternateContent>
      <p:grpSp>
        <p:nvGrpSpPr>
          <p:cNvPr id="38" name="Group 37">
            <a:extLst>
              <a:ext uri="{FF2B5EF4-FFF2-40B4-BE49-F238E27FC236}">
                <a16:creationId xmlns:a16="http://schemas.microsoft.com/office/drawing/2014/main" id="{2B71A9F6-FC5D-3C48-5D11-A31521DCACF3}"/>
              </a:ext>
            </a:extLst>
          </p:cNvPr>
          <p:cNvGrpSpPr/>
          <p:nvPr/>
        </p:nvGrpSpPr>
        <p:grpSpPr>
          <a:xfrm>
            <a:off x="1052585" y="9110532"/>
            <a:ext cx="4325779" cy="650531"/>
            <a:chOff x="1094053" y="7756977"/>
            <a:chExt cx="4325779" cy="650531"/>
          </a:xfrm>
        </p:grpSpPr>
        <p:pic>
          <p:nvPicPr>
            <p:cNvPr id="39" name="Picture 38">
              <a:extLst>
                <a:ext uri="{FF2B5EF4-FFF2-40B4-BE49-F238E27FC236}">
                  <a16:creationId xmlns:a16="http://schemas.microsoft.com/office/drawing/2014/main" id="{3B2EB5AA-52C2-0729-8EBE-4F433C35ACC3}"/>
                </a:ext>
              </a:extLst>
            </p:cNvPr>
            <p:cNvPicPr>
              <a:picLocks noChangeAspect="1"/>
            </p:cNvPicPr>
            <p:nvPr/>
          </p:nvPicPr>
          <p:blipFill>
            <a:blip r:embed="rId4"/>
            <a:srcRect b="37058"/>
            <a:stretch/>
          </p:blipFill>
          <p:spPr>
            <a:xfrm>
              <a:off x="1438167" y="7756977"/>
              <a:ext cx="3981665" cy="527404"/>
            </a:xfrm>
            <a:prstGeom prst="rect">
              <a:avLst/>
            </a:prstGeom>
          </p:spPr>
        </p:pic>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6D3891F-CD15-248A-AC60-C695D3A360DF}"/>
                    </a:ext>
                  </a:extLst>
                </p:cNvPr>
                <p:cNvSpPr txBox="1"/>
                <p:nvPr/>
              </p:nvSpPr>
              <p:spPr>
                <a:xfrm>
                  <a:off x="1094053" y="8115120"/>
                  <a:ext cx="1141466" cy="292388"/>
                </a:xfrm>
                <a:prstGeom prst="rect">
                  <a:avLst/>
                </a:prstGeom>
                <a:noFill/>
              </p:spPr>
              <p:txBody>
                <a:bodyPr wrap="none" rtlCol="0">
                  <a:spAutoFit/>
                </a:bodyPr>
                <a:lstStyle/>
                <a:p>
                  <a:r>
                    <a:rPr lang="en-GB" sz="1300"/>
                    <a:t>0</a:t>
                  </a:r>
                  <a14:m>
                    <m:oMath xmlns:m="http://schemas.openxmlformats.org/officeDocument/2006/math">
                      <m:r>
                        <a:rPr lang="en-GB" sz="1300" b="0" i="0" dirty="0" smtClean="0">
                          <a:latin typeface="Cambria Math" panose="02040503050406030204" pitchFamily="18" charset="0"/>
                          <a:ea typeface="Cambria Math" panose="02040503050406030204" pitchFamily="18" charset="0"/>
                        </a:rPr>
                        <m:t>.0 </m:t>
                      </m:r>
                      <m:r>
                        <a:rPr lang="en-GB" sz="1300" i="1" dirty="0">
                          <a:latin typeface="Cambria Math" panose="02040503050406030204" pitchFamily="18" charset="0"/>
                          <a:ea typeface="Cambria Math" panose="02040503050406030204" pitchFamily="18" charset="0"/>
                        </a:rPr>
                        <m:t>≤</m:t>
                      </m:r>
                    </m:oMath>
                  </a14:m>
                  <a:r>
                    <a:rPr lang="en-GB" sz="1300"/>
                    <a:t> n &lt; 0.1 </a:t>
                  </a:r>
                  <a:endParaRPr lang="en-US" sz="1300"/>
                </a:p>
              </p:txBody>
            </p:sp>
          </mc:Choice>
          <mc:Fallback xmlns="">
            <p:sp>
              <p:nvSpPr>
                <p:cNvPr id="40" name="TextBox 39">
                  <a:extLst>
                    <a:ext uri="{FF2B5EF4-FFF2-40B4-BE49-F238E27FC236}">
                      <a16:creationId xmlns:a16="http://schemas.microsoft.com/office/drawing/2014/main" id="{56D3891F-CD15-248A-AC60-C695D3A360DF}"/>
                    </a:ext>
                  </a:extLst>
                </p:cNvPr>
                <p:cNvSpPr txBox="1">
                  <a:spLocks noRot="1" noChangeAspect="1" noMove="1" noResize="1" noEditPoints="1" noAdjustHandles="1" noChangeArrowheads="1" noChangeShapeType="1" noTextEdit="1"/>
                </p:cNvSpPr>
                <p:nvPr/>
              </p:nvSpPr>
              <p:spPr>
                <a:xfrm>
                  <a:off x="1094053" y="8115120"/>
                  <a:ext cx="1141466" cy="292388"/>
                </a:xfrm>
                <a:prstGeom prst="rect">
                  <a:avLst/>
                </a:prstGeom>
                <a:blipFill>
                  <a:blip r:embed="rId8"/>
                  <a:stretch>
                    <a:fillRect l="-1070" t="-2083" b="-1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37F02FF-1037-B124-6CCE-022259D8EE75}"/>
                  </a:ext>
                </a:extLst>
              </p:cNvPr>
              <p:cNvSpPr txBox="1"/>
              <p:nvPr/>
            </p:nvSpPr>
            <p:spPr>
              <a:xfrm>
                <a:off x="2078172" y="9470318"/>
                <a:ext cx="1436612" cy="292388"/>
              </a:xfrm>
              <a:prstGeom prst="rect">
                <a:avLst/>
              </a:prstGeom>
              <a:noFill/>
            </p:spPr>
            <p:txBody>
              <a:bodyPr wrap="none" rtlCol="0">
                <a:spAutoFit/>
              </a:bodyPr>
              <a:lstStyle/>
              <a:p>
                <a:r>
                  <a:rPr lang="en-GB" sz="1300"/>
                  <a:t>0.055 </a:t>
                </a:r>
                <a14:m>
                  <m:oMath xmlns:m="http://schemas.openxmlformats.org/officeDocument/2006/math">
                    <m:r>
                      <a:rPr lang="en-GB" sz="1300" i="1" dirty="0" smtClean="0">
                        <a:latin typeface="Cambria Math" panose="02040503050406030204" pitchFamily="18" charset="0"/>
                        <a:ea typeface="Cambria Math" panose="02040503050406030204" pitchFamily="18" charset="0"/>
                      </a:rPr>
                      <m:t>≤</m:t>
                    </m:r>
                  </m:oMath>
                </a14:m>
                <a:r>
                  <a:rPr lang="en-GB" sz="1300"/>
                  <a:t> n &lt; 0.065 </a:t>
                </a:r>
                <a:endParaRPr lang="en-US" sz="1300"/>
              </a:p>
            </p:txBody>
          </p:sp>
        </mc:Choice>
        <mc:Fallback xmlns="">
          <p:sp>
            <p:nvSpPr>
              <p:cNvPr id="41" name="TextBox 40">
                <a:extLst>
                  <a:ext uri="{FF2B5EF4-FFF2-40B4-BE49-F238E27FC236}">
                    <a16:creationId xmlns:a16="http://schemas.microsoft.com/office/drawing/2014/main" id="{A37F02FF-1037-B124-6CCE-022259D8EE75}"/>
                  </a:ext>
                </a:extLst>
              </p:cNvPr>
              <p:cNvSpPr txBox="1">
                <a:spLocks noRot="1" noChangeAspect="1" noMove="1" noResize="1" noEditPoints="1" noAdjustHandles="1" noChangeArrowheads="1" noChangeShapeType="1" noTextEdit="1"/>
              </p:cNvSpPr>
              <p:nvPr/>
            </p:nvSpPr>
            <p:spPr>
              <a:xfrm>
                <a:off x="2078172" y="9470318"/>
                <a:ext cx="1436612" cy="292388"/>
              </a:xfrm>
              <a:prstGeom prst="rect">
                <a:avLst/>
              </a:prstGeom>
              <a:blipFill>
                <a:blip r:embed="rId9"/>
                <a:stretch>
                  <a:fillRect l="-847" t="-2128" b="-191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19ACDE9-FFBD-E376-8FA0-C14A5DCE3133}"/>
                  </a:ext>
                </a:extLst>
              </p:cNvPr>
              <p:cNvSpPr txBox="1"/>
              <p:nvPr/>
            </p:nvSpPr>
            <p:spPr>
              <a:xfrm>
                <a:off x="3359729" y="9468675"/>
                <a:ext cx="1266693" cy="292388"/>
              </a:xfrm>
              <a:prstGeom prst="rect">
                <a:avLst/>
              </a:prstGeom>
              <a:noFill/>
            </p:spPr>
            <p:txBody>
              <a:bodyPr wrap="none" rtlCol="0">
                <a:spAutoFit/>
              </a:bodyPr>
              <a:lstStyle/>
              <a:p>
                <a:r>
                  <a:rPr lang="en-GB" sz="1300"/>
                  <a:t>0.06 </a:t>
                </a:r>
                <a14:m>
                  <m:oMath xmlns:m="http://schemas.openxmlformats.org/officeDocument/2006/math">
                    <m:r>
                      <a:rPr lang="en-GB" sz="1300" i="1" dirty="0">
                        <a:latin typeface="Cambria Math" panose="02040503050406030204" pitchFamily="18" charset="0"/>
                        <a:ea typeface="Cambria Math" panose="02040503050406030204" pitchFamily="18" charset="0"/>
                      </a:rPr>
                      <m:t>≤</m:t>
                    </m:r>
                  </m:oMath>
                </a14:m>
                <a:r>
                  <a:rPr lang="en-GB" sz="1300"/>
                  <a:t> n &lt; 0.07 </a:t>
                </a:r>
                <a:endParaRPr lang="en-US" sz="1300"/>
              </a:p>
            </p:txBody>
          </p:sp>
        </mc:Choice>
        <mc:Fallback xmlns="">
          <p:sp>
            <p:nvSpPr>
              <p:cNvPr id="42" name="TextBox 41">
                <a:extLst>
                  <a:ext uri="{FF2B5EF4-FFF2-40B4-BE49-F238E27FC236}">
                    <a16:creationId xmlns:a16="http://schemas.microsoft.com/office/drawing/2014/main" id="{419ACDE9-FFBD-E376-8FA0-C14A5DCE3133}"/>
                  </a:ext>
                </a:extLst>
              </p:cNvPr>
              <p:cNvSpPr txBox="1">
                <a:spLocks noRot="1" noChangeAspect="1" noMove="1" noResize="1" noEditPoints="1" noAdjustHandles="1" noChangeArrowheads="1" noChangeShapeType="1" noTextEdit="1"/>
              </p:cNvSpPr>
              <p:nvPr/>
            </p:nvSpPr>
            <p:spPr>
              <a:xfrm>
                <a:off x="3359729" y="9468675"/>
                <a:ext cx="1266693" cy="292388"/>
              </a:xfrm>
              <a:prstGeom prst="rect">
                <a:avLst/>
              </a:prstGeom>
              <a:blipFill>
                <a:blip r:embed="rId10"/>
                <a:stretch>
                  <a:fillRect l="-481" t="-2083"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6AC9CF6-0C69-B3C7-C55A-3C3DCF971C46}"/>
                  </a:ext>
                </a:extLst>
              </p:cNvPr>
              <p:cNvSpPr txBox="1"/>
              <p:nvPr/>
            </p:nvSpPr>
            <p:spPr>
              <a:xfrm>
                <a:off x="4614848" y="9474971"/>
                <a:ext cx="1335622" cy="292388"/>
              </a:xfrm>
              <a:prstGeom prst="rect">
                <a:avLst/>
              </a:prstGeom>
              <a:noFill/>
            </p:spPr>
            <p:txBody>
              <a:bodyPr wrap="none" rtlCol="0">
                <a:spAutoFit/>
              </a:bodyPr>
              <a:lstStyle/>
              <a:p>
                <a:r>
                  <a:rPr lang="en-GB" sz="1300"/>
                  <a:t>0.06 </a:t>
                </a:r>
                <a14:m>
                  <m:oMath xmlns:m="http://schemas.openxmlformats.org/officeDocument/2006/math">
                    <m:r>
                      <a:rPr lang="en-GB" sz="1300" i="1" dirty="0">
                        <a:latin typeface="Cambria Math" panose="02040503050406030204" pitchFamily="18" charset="0"/>
                        <a:ea typeface="Cambria Math" panose="02040503050406030204" pitchFamily="18" charset="0"/>
                      </a:rPr>
                      <m:t>≤</m:t>
                    </m:r>
                  </m:oMath>
                </a14:m>
                <a:r>
                  <a:rPr lang="en-GB" sz="1300"/>
                  <a:t> x &lt; 0.069 </a:t>
                </a:r>
                <a:endParaRPr lang="en-US" sz="1300"/>
              </a:p>
            </p:txBody>
          </p:sp>
        </mc:Choice>
        <mc:Fallback xmlns="">
          <p:sp>
            <p:nvSpPr>
              <p:cNvPr id="43" name="TextBox 42">
                <a:extLst>
                  <a:ext uri="{FF2B5EF4-FFF2-40B4-BE49-F238E27FC236}">
                    <a16:creationId xmlns:a16="http://schemas.microsoft.com/office/drawing/2014/main" id="{C6AC9CF6-0C69-B3C7-C55A-3C3DCF971C46}"/>
                  </a:ext>
                </a:extLst>
              </p:cNvPr>
              <p:cNvSpPr txBox="1">
                <a:spLocks noRot="1" noChangeAspect="1" noMove="1" noResize="1" noEditPoints="1" noAdjustHandles="1" noChangeArrowheads="1" noChangeShapeType="1" noTextEdit="1"/>
              </p:cNvSpPr>
              <p:nvPr/>
            </p:nvSpPr>
            <p:spPr>
              <a:xfrm>
                <a:off x="4614848" y="9474971"/>
                <a:ext cx="1335622" cy="292388"/>
              </a:xfrm>
              <a:prstGeom prst="rect">
                <a:avLst/>
              </a:prstGeom>
              <a:blipFill>
                <a:blip r:embed="rId11"/>
                <a:stretch>
                  <a:fillRect l="-457" t="-2083" b="-16667"/>
                </a:stretch>
              </a:blipFill>
            </p:spPr>
            <p:txBody>
              <a:bodyPr/>
              <a:lstStyle/>
              <a:p>
                <a:r>
                  <a:rPr lang="en-US">
                    <a:noFill/>
                  </a:rPr>
                  <a:t> </a:t>
                </a:r>
              </a:p>
            </p:txBody>
          </p:sp>
        </mc:Fallback>
      </mc:AlternateContent>
    </p:spTree>
    <p:extLst>
      <p:ext uri="{BB962C8B-B14F-4D97-AF65-F5344CB8AC3E}">
        <p14:creationId xmlns:p14="http://schemas.microsoft.com/office/powerpoint/2010/main" val="2347654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ECBD35-2FA9-D94C-85CC-B269D46DFAF6}"/>
              </a:ext>
            </a:extLst>
          </p:cNvPr>
          <p:cNvSpPr/>
          <p:nvPr/>
        </p:nvSpPr>
        <p:spPr>
          <a:xfrm>
            <a:off x="0" y="0"/>
            <a:ext cx="6858000" cy="28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Problems involving limits of accuracy</a:t>
            </a:r>
            <a:endParaRPr kumimoji="0" lang="en-GB"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04BFD1EF-DBB4-2249-B998-BA5834451F7D}"/>
              </a:ext>
            </a:extLst>
          </p:cNvPr>
          <p:cNvSpPr/>
          <p:nvPr/>
        </p:nvSpPr>
        <p:spPr>
          <a:xfrm>
            <a:off x="72056" y="393426"/>
            <a:ext cx="6728829" cy="140930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40A63AA0-9785-7842-8746-181CA9DC5483}"/>
              </a:ext>
            </a:extLst>
          </p:cNvPr>
          <p:cNvSpPr txBox="1"/>
          <p:nvPr/>
        </p:nvSpPr>
        <p:spPr>
          <a:xfrm>
            <a:off x="149877" y="663498"/>
            <a:ext cx="114939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4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8D99EBB3-E635-9B48-A13A-F8FC9E5CF168}"/>
              </a:ext>
            </a:extLst>
          </p:cNvPr>
          <p:cNvSpPr txBox="1"/>
          <p:nvPr/>
        </p:nvSpPr>
        <p:spPr>
          <a:xfrm>
            <a:off x="540187" y="884200"/>
            <a:ext cx="6317813" cy="646331"/>
          </a:xfrm>
          <a:prstGeom prst="rect">
            <a:avLst/>
          </a:prstGeom>
          <a:noFill/>
        </p:spPr>
        <p:txBody>
          <a:bodyPr wrap="square" rtlCol="0">
            <a:spAutoFit/>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To find the limits of accuracy.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To find the limit of accuracy of two or more variables.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3.   To answer worded questions on limit of accuracy. </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F56BA6AD-76E4-264F-9E79-1A6D05899D87}"/>
              </a:ext>
            </a:extLst>
          </p:cNvPr>
          <p:cNvSpPr txBox="1"/>
          <p:nvPr/>
        </p:nvSpPr>
        <p:spPr>
          <a:xfrm>
            <a:off x="5519488" y="868745"/>
            <a:ext cx="1149391" cy="861774"/>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prstClr val="black"/>
                </a:solidFill>
                <a:effectLst/>
                <a:uLnTx/>
                <a:uFillTx/>
                <a:latin typeface="Calibri" panose="020F0502020204030204"/>
                <a:ea typeface="+mn-ea"/>
                <a:cs typeface="+mn-cs"/>
              </a:rPr>
              <a:t>Keywords: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-Error interval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-Limits of accuracy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-Lower bound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-Upper bound</a:t>
            </a:r>
            <a:endParaRPr kumimoji="0" lang="es-E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lide Number Placeholder 12"/>
          <p:cNvSpPr>
            <a:spLocks noGrp="1"/>
          </p:cNvSpPr>
          <p:nvPr>
            <p:ph type="sldNum" sz="quarter" idx="12"/>
          </p:nvPr>
        </p:nvSpPr>
        <p:spPr>
          <a:xfrm>
            <a:off x="5257835" y="9378597"/>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47A70F02-448A-1C4B-72D7-BE9EF20BFF53}"/>
              </a:ext>
            </a:extLst>
          </p:cNvPr>
          <p:cNvSpPr txBox="1"/>
          <p:nvPr/>
        </p:nvSpPr>
        <p:spPr>
          <a:xfrm>
            <a:off x="189121" y="392795"/>
            <a:ext cx="5786391"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To solve problems with upper and lower bounds.</a:t>
            </a:r>
          </a:p>
        </p:txBody>
      </p:sp>
      <p:sp>
        <p:nvSpPr>
          <p:cNvPr id="55" name="TextBox 54">
            <a:extLst>
              <a:ext uri="{FF2B5EF4-FFF2-40B4-BE49-F238E27FC236}">
                <a16:creationId xmlns:a16="http://schemas.microsoft.com/office/drawing/2014/main" id="{1946E5EA-287C-EDEB-E627-AFB38C419F24}"/>
              </a:ext>
            </a:extLst>
          </p:cNvPr>
          <p:cNvSpPr txBox="1"/>
          <p:nvPr/>
        </p:nvSpPr>
        <p:spPr>
          <a:xfrm>
            <a:off x="1447214" y="9033818"/>
            <a:ext cx="40862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Calibri" panose="020F0502020204030204"/>
              </a:rPr>
              <a:t>1</a:t>
            </a: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Fill in the blanks</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Rectangle 55">
            <a:extLst>
              <a:ext uri="{FF2B5EF4-FFF2-40B4-BE49-F238E27FC236}">
                <a16:creationId xmlns:a16="http://schemas.microsoft.com/office/drawing/2014/main" id="{861EE568-BA94-04B3-D8F9-9672F04CD9F5}"/>
              </a:ext>
            </a:extLst>
          </p:cNvPr>
          <p:cNvSpPr/>
          <p:nvPr/>
        </p:nvSpPr>
        <p:spPr>
          <a:xfrm>
            <a:off x="133654" y="902954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57" name="Rectangle 56">
            <a:extLst>
              <a:ext uri="{FF2B5EF4-FFF2-40B4-BE49-F238E27FC236}">
                <a16:creationId xmlns:a16="http://schemas.microsoft.com/office/drawing/2014/main" id="{5BCFF233-CC27-74CC-F726-7B46140AB8E6}"/>
              </a:ext>
            </a:extLst>
          </p:cNvPr>
          <p:cNvSpPr/>
          <p:nvPr/>
        </p:nvSpPr>
        <p:spPr>
          <a:xfrm>
            <a:off x="102298" y="4654831"/>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Adding with bounds</a:t>
            </a:r>
            <a:endParaRPr lang="en-GB" sz="1200">
              <a:solidFill>
                <a:schemeClr val="bg1"/>
              </a:solidFill>
            </a:endParaRPr>
          </a:p>
        </p:txBody>
      </p:sp>
      <p:cxnSp>
        <p:nvCxnSpPr>
          <p:cNvPr id="58" name="Straight Connector 57">
            <a:extLst>
              <a:ext uri="{FF2B5EF4-FFF2-40B4-BE49-F238E27FC236}">
                <a16:creationId xmlns:a16="http://schemas.microsoft.com/office/drawing/2014/main" id="{BCAFBC05-E255-4590-A8F2-B9EF0103271E}"/>
              </a:ext>
            </a:extLst>
          </p:cNvPr>
          <p:cNvCxnSpPr>
            <a:cxnSpLocks/>
          </p:cNvCxnSpPr>
          <p:nvPr/>
        </p:nvCxnSpPr>
        <p:spPr>
          <a:xfrm>
            <a:off x="923458" y="6567195"/>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59" name="Table 58">
            <a:extLst>
              <a:ext uri="{FF2B5EF4-FFF2-40B4-BE49-F238E27FC236}">
                <a16:creationId xmlns:a16="http://schemas.microsoft.com/office/drawing/2014/main" id="{F4912064-3328-1516-9DE8-AB43FBE6943D}"/>
              </a:ext>
            </a:extLst>
          </p:cNvPr>
          <p:cNvGraphicFramePr>
            <a:graphicFrameLocks noGrp="1"/>
          </p:cNvGraphicFramePr>
          <p:nvPr/>
        </p:nvGraphicFramePr>
        <p:xfrm>
          <a:off x="125199" y="5272443"/>
          <a:ext cx="6543680" cy="4129018"/>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241053">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20932">
                <a:tc>
                  <a:txBody>
                    <a:bodyPr/>
                    <a:lstStyle/>
                    <a:p>
                      <a:pPr algn="l"/>
                      <a:r>
                        <a:rPr lang="en-US" sz="1100"/>
                        <a:t>When we add with bounds, we need to find the upper bound and the lower bound.</a:t>
                      </a:r>
                      <a:endParaRPr lang="en-GB"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A rectangle has the width of 70mm and the length of 100mm both correct to the nearest 10mm. Find the upper and lower bounds for perimeter.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Upper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mn-lt"/>
                        </a:rPr>
                        <a:t>Lower bound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A rectangle has the width of 13cm and the length of 24cm both correct to the nearest cm. Find the upper and lower bounds for perimeter.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Upper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mn-lt"/>
                        </a:rPr>
                        <a:t>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A rectangle has the width of 7m and the length of 10m both correct to the nearest </a:t>
                      </a:r>
                      <a:r>
                        <a:rPr kumimoji="0" lang="en-US" sz="1200" b="0" i="0" u="none" strike="noStrike" kern="1200" cap="none" spc="0" normalizeH="0" baseline="0" noProof="0" err="1">
                          <a:ln>
                            <a:noFill/>
                          </a:ln>
                          <a:solidFill>
                            <a:prstClr val="black"/>
                          </a:solidFill>
                          <a:effectLst/>
                          <a:uLnTx/>
                          <a:uFillTx/>
                          <a:latin typeface="+mn-lt"/>
                          <a:ea typeface="+mn-ea"/>
                          <a:cs typeface="+mn-cs"/>
                        </a:rPr>
                        <a:t>metre</a:t>
                      </a:r>
                      <a:r>
                        <a:rPr kumimoji="0" lang="en-US" sz="1200" b="0" i="0" u="none" strike="noStrike" kern="1200" cap="none" spc="0" normalizeH="0" baseline="0" noProof="0">
                          <a:ln>
                            <a:noFill/>
                          </a:ln>
                          <a:solidFill>
                            <a:prstClr val="black"/>
                          </a:solidFill>
                          <a:effectLst/>
                          <a:uLnTx/>
                          <a:uFillTx/>
                          <a:latin typeface="+mn-lt"/>
                          <a:ea typeface="+mn-ea"/>
                          <a:cs typeface="+mn-cs"/>
                        </a:rPr>
                        <a:t>. Find the upper and lower bounds for perimeter.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Upper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mn-lt"/>
                        </a:rPr>
                        <a:t>Lower bound =</a:t>
                      </a:r>
                    </a:p>
                    <a:p>
                      <a:pPr marL="0" indent="0">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7690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t>The upper bound of a addition is always the two upper bounds added together.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150773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t>The lower bound of addition is always the two lower bounds added together</a:t>
                      </a:r>
                      <a:endParaRPr lang="en-US" sz="1100"/>
                    </a:p>
                    <a:p>
                      <a:pPr marL="0" indent="0" algn="l">
                        <a:buNone/>
                      </a:pP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bl>
          </a:graphicData>
        </a:graphic>
      </p:graphicFrame>
      <p:sp>
        <p:nvSpPr>
          <p:cNvPr id="60" name="TextBox 59">
            <a:extLst>
              <a:ext uri="{FF2B5EF4-FFF2-40B4-BE49-F238E27FC236}">
                <a16:creationId xmlns:a16="http://schemas.microsoft.com/office/drawing/2014/main" id="{94B76317-0047-2C5A-76F5-5E78E1090C11}"/>
              </a:ext>
            </a:extLst>
          </p:cNvPr>
          <p:cNvSpPr txBox="1"/>
          <p:nvPr/>
        </p:nvSpPr>
        <p:spPr>
          <a:xfrm>
            <a:off x="1458085" y="4953705"/>
            <a:ext cx="1410704" cy="276999"/>
          </a:xfrm>
          <a:prstGeom prst="rect">
            <a:avLst/>
          </a:prstGeom>
          <a:noFill/>
          <a:ln>
            <a:noFill/>
          </a:ln>
        </p:spPr>
        <p:txBody>
          <a:bodyPr wrap="square" rtlCol="0">
            <a:spAutoFit/>
          </a:bodyPr>
          <a:lstStyle/>
          <a:p>
            <a:r>
              <a:rPr lang="en-GB" sz="1200" b="1" i="1">
                <a:solidFill>
                  <a:srgbClr val="FF0000"/>
                </a:solidFill>
              </a:rPr>
              <a:t>Example 1 - I do…</a:t>
            </a:r>
          </a:p>
        </p:txBody>
      </p:sp>
      <p:sp>
        <p:nvSpPr>
          <p:cNvPr id="61" name="TextBox 60">
            <a:extLst>
              <a:ext uri="{FF2B5EF4-FFF2-40B4-BE49-F238E27FC236}">
                <a16:creationId xmlns:a16="http://schemas.microsoft.com/office/drawing/2014/main" id="{BE054588-1F3D-CC4C-5ECD-7ECB2BF01F41}"/>
              </a:ext>
            </a:extLst>
          </p:cNvPr>
          <p:cNvSpPr txBox="1"/>
          <p:nvPr/>
        </p:nvSpPr>
        <p:spPr>
          <a:xfrm>
            <a:off x="4876667" y="4948492"/>
            <a:ext cx="1643405" cy="276999"/>
          </a:xfrm>
          <a:prstGeom prst="rect">
            <a:avLst/>
          </a:prstGeom>
          <a:noFill/>
          <a:ln>
            <a:noFill/>
          </a:ln>
        </p:spPr>
        <p:txBody>
          <a:bodyPr wrap="square" rtlCol="0">
            <a:spAutoFit/>
          </a:bodyPr>
          <a:lstStyle/>
          <a:p>
            <a:r>
              <a:rPr lang="en-GB" sz="1200" b="1" i="1">
                <a:solidFill>
                  <a:srgbClr val="00B050"/>
                </a:solidFill>
              </a:rPr>
              <a:t>Example 3 – You do…</a:t>
            </a:r>
          </a:p>
        </p:txBody>
      </p:sp>
      <p:sp>
        <p:nvSpPr>
          <p:cNvPr id="62" name="TextBox 61">
            <a:extLst>
              <a:ext uri="{FF2B5EF4-FFF2-40B4-BE49-F238E27FC236}">
                <a16:creationId xmlns:a16="http://schemas.microsoft.com/office/drawing/2014/main" id="{63C64C55-7F17-3FFE-4DA2-D1FF4C7C0D0D}"/>
              </a:ext>
            </a:extLst>
          </p:cNvPr>
          <p:cNvSpPr txBox="1"/>
          <p:nvPr/>
        </p:nvSpPr>
        <p:spPr>
          <a:xfrm>
            <a:off x="3088922" y="4953704"/>
            <a:ext cx="1667605" cy="276999"/>
          </a:xfrm>
          <a:prstGeom prst="rect">
            <a:avLst/>
          </a:prstGeom>
          <a:noFill/>
          <a:ln>
            <a:noFill/>
          </a:ln>
        </p:spPr>
        <p:txBody>
          <a:bodyPr wrap="square" rtlCol="0">
            <a:spAutoFit/>
          </a:bodyPr>
          <a:lstStyle/>
          <a:p>
            <a:r>
              <a:rPr lang="en-GB" sz="1200" b="1" i="1">
                <a:solidFill>
                  <a:schemeClr val="accent2"/>
                </a:solidFill>
              </a:rPr>
              <a:t>Example 2 - We do…</a:t>
            </a:r>
          </a:p>
        </p:txBody>
      </p:sp>
      <p:sp>
        <p:nvSpPr>
          <p:cNvPr id="63" name="Rectangle 62">
            <a:extLst>
              <a:ext uri="{FF2B5EF4-FFF2-40B4-BE49-F238E27FC236}">
                <a16:creationId xmlns:a16="http://schemas.microsoft.com/office/drawing/2014/main" id="{4E92871D-39C7-5BC8-E592-AC730699D42C}"/>
              </a:ext>
            </a:extLst>
          </p:cNvPr>
          <p:cNvSpPr/>
          <p:nvPr/>
        </p:nvSpPr>
        <p:spPr>
          <a:xfrm>
            <a:off x="1314719" y="8492285"/>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4" name="Rectangle 63">
            <a:extLst>
              <a:ext uri="{FF2B5EF4-FFF2-40B4-BE49-F238E27FC236}">
                <a16:creationId xmlns:a16="http://schemas.microsoft.com/office/drawing/2014/main" id="{09A1AC20-356D-EFAA-BC91-86091027C922}"/>
              </a:ext>
            </a:extLst>
          </p:cNvPr>
          <p:cNvSpPr/>
          <p:nvPr/>
        </p:nvSpPr>
        <p:spPr>
          <a:xfrm>
            <a:off x="1314719" y="905382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5" name="Rectangle 64">
            <a:extLst>
              <a:ext uri="{FF2B5EF4-FFF2-40B4-BE49-F238E27FC236}">
                <a16:creationId xmlns:a16="http://schemas.microsoft.com/office/drawing/2014/main" id="{D6968CF9-4615-B060-7E82-2AEC84C76172}"/>
              </a:ext>
            </a:extLst>
          </p:cNvPr>
          <p:cNvSpPr/>
          <p:nvPr/>
        </p:nvSpPr>
        <p:spPr>
          <a:xfrm>
            <a:off x="3088922" y="850890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6" name="Rectangle 65">
            <a:extLst>
              <a:ext uri="{FF2B5EF4-FFF2-40B4-BE49-F238E27FC236}">
                <a16:creationId xmlns:a16="http://schemas.microsoft.com/office/drawing/2014/main" id="{5EF4786B-835C-7B6C-E5F2-8F80A9880D8C}"/>
              </a:ext>
            </a:extLst>
          </p:cNvPr>
          <p:cNvSpPr/>
          <p:nvPr/>
        </p:nvSpPr>
        <p:spPr>
          <a:xfrm>
            <a:off x="3095693" y="904664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4692A749-B6EA-0F8E-D4F9-99740C4B2F0D}"/>
              </a:ext>
            </a:extLst>
          </p:cNvPr>
          <p:cNvSpPr/>
          <p:nvPr/>
        </p:nvSpPr>
        <p:spPr>
          <a:xfrm>
            <a:off x="4876667" y="849607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Rectangle 67">
            <a:extLst>
              <a:ext uri="{FF2B5EF4-FFF2-40B4-BE49-F238E27FC236}">
                <a16:creationId xmlns:a16="http://schemas.microsoft.com/office/drawing/2014/main" id="{A8BB7037-A59F-F474-C528-E0892D44DE24}"/>
              </a:ext>
            </a:extLst>
          </p:cNvPr>
          <p:cNvSpPr/>
          <p:nvPr/>
        </p:nvSpPr>
        <p:spPr>
          <a:xfrm>
            <a:off x="4876667" y="905761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nvGrpSpPr>
          <p:cNvPr id="69" name="Group 68">
            <a:extLst>
              <a:ext uri="{FF2B5EF4-FFF2-40B4-BE49-F238E27FC236}">
                <a16:creationId xmlns:a16="http://schemas.microsoft.com/office/drawing/2014/main" id="{7E63DB5E-97DC-081A-E7E8-F0FA83B06CC6}"/>
              </a:ext>
            </a:extLst>
          </p:cNvPr>
          <p:cNvGrpSpPr/>
          <p:nvPr/>
        </p:nvGrpSpPr>
        <p:grpSpPr>
          <a:xfrm>
            <a:off x="90896" y="1884580"/>
            <a:ext cx="6713942" cy="2688400"/>
            <a:chOff x="79390" y="1883086"/>
            <a:chExt cx="6713942" cy="2688400"/>
          </a:xfrm>
        </p:grpSpPr>
        <p:cxnSp>
          <p:nvCxnSpPr>
            <p:cNvPr id="70" name="Straight Connector 69">
              <a:extLst>
                <a:ext uri="{FF2B5EF4-FFF2-40B4-BE49-F238E27FC236}">
                  <a16:creationId xmlns:a16="http://schemas.microsoft.com/office/drawing/2014/main" id="{3E78A05A-E9D0-A275-28CE-C1F6C37170AB}"/>
                </a:ext>
              </a:extLst>
            </p:cNvPr>
            <p:cNvCxnSpPr/>
            <p:nvPr/>
          </p:nvCxnSpPr>
          <p:spPr>
            <a:xfrm flipV="1">
              <a:off x="934071" y="384606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4F642548-42D4-C6B0-495C-19B235B92734}"/>
                </a:ext>
              </a:extLst>
            </p:cNvPr>
            <p:cNvSpPr/>
            <p:nvPr/>
          </p:nvSpPr>
          <p:spPr>
            <a:xfrm>
              <a:off x="79390" y="1915472"/>
              <a:ext cx="6699219" cy="26560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2" name="Straight Connector 71">
              <a:extLst>
                <a:ext uri="{FF2B5EF4-FFF2-40B4-BE49-F238E27FC236}">
                  <a16:creationId xmlns:a16="http://schemas.microsoft.com/office/drawing/2014/main" id="{A886F15F-3251-594A-8ECC-3AD255B82938}"/>
                </a:ext>
              </a:extLst>
            </p:cNvPr>
            <p:cNvCxnSpPr>
              <a:cxnSpLocks/>
              <a:stCxn id="71" idx="1"/>
              <a:endCxn id="71" idx="3"/>
            </p:cNvCxnSpPr>
            <p:nvPr/>
          </p:nvCxnSpPr>
          <p:spPr>
            <a:xfrm>
              <a:off x="79390" y="3243479"/>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73" name="Straight Connector 72">
              <a:extLst>
                <a:ext uri="{FF2B5EF4-FFF2-40B4-BE49-F238E27FC236}">
                  <a16:creationId xmlns:a16="http://schemas.microsoft.com/office/drawing/2014/main" id="{E8A472F3-FA29-18D7-5BD9-0DB3557DCB46}"/>
                </a:ext>
              </a:extLst>
            </p:cNvPr>
            <p:cNvCxnSpPr>
              <a:cxnSpLocks/>
              <a:stCxn id="71" idx="2"/>
              <a:endCxn id="71" idx="0"/>
            </p:cNvCxnSpPr>
            <p:nvPr/>
          </p:nvCxnSpPr>
          <p:spPr>
            <a:xfrm flipV="1">
              <a:off x="3429000" y="1915472"/>
              <a:ext cx="0" cy="2656014"/>
            </a:xfrm>
            <a:prstGeom prst="line">
              <a:avLst/>
            </a:prstGeom>
          </p:spPr>
          <p:style>
            <a:lnRef idx="1">
              <a:schemeClr val="dk1"/>
            </a:lnRef>
            <a:fillRef idx="0">
              <a:schemeClr val="dk1"/>
            </a:fillRef>
            <a:effectRef idx="0">
              <a:schemeClr val="dk1"/>
            </a:effectRef>
            <a:fontRef idx="minor">
              <a:schemeClr val="tx1"/>
            </a:fontRef>
          </p:style>
        </p:cxnSp>
        <p:sp>
          <p:nvSpPr>
            <p:cNvPr id="74" name="TextBox 73">
              <a:extLst>
                <a:ext uri="{FF2B5EF4-FFF2-40B4-BE49-F238E27FC236}">
                  <a16:creationId xmlns:a16="http://schemas.microsoft.com/office/drawing/2014/main" id="{629D9264-764C-15ED-EBDD-C94B8FA9F2D2}"/>
                </a:ext>
              </a:extLst>
            </p:cNvPr>
            <p:cNvSpPr txBox="1"/>
            <p:nvPr/>
          </p:nvSpPr>
          <p:spPr>
            <a:xfrm>
              <a:off x="97145" y="1915472"/>
              <a:ext cx="824713" cy="461665"/>
            </a:xfrm>
            <a:prstGeom prst="rect">
              <a:avLst/>
            </a:prstGeom>
            <a:noFill/>
          </p:spPr>
          <p:txBody>
            <a:bodyPr wrap="none" rtlCol="0">
              <a:spAutoFit/>
            </a:bodyPr>
            <a:lstStyle/>
            <a:p>
              <a:r>
                <a:rPr lang="en-US" sz="1200" b="1"/>
                <a:t>Definition</a:t>
              </a:r>
            </a:p>
            <a:p>
              <a:endParaRPr lang="en-US" sz="1200"/>
            </a:p>
          </p:txBody>
        </p:sp>
        <p:sp>
          <p:nvSpPr>
            <p:cNvPr id="75" name="TextBox 74">
              <a:extLst>
                <a:ext uri="{FF2B5EF4-FFF2-40B4-BE49-F238E27FC236}">
                  <a16:creationId xmlns:a16="http://schemas.microsoft.com/office/drawing/2014/main" id="{0B7E8547-2F5B-D9FA-01B8-B0881015D830}"/>
                </a:ext>
              </a:extLst>
            </p:cNvPr>
            <p:cNvSpPr txBox="1"/>
            <p:nvPr/>
          </p:nvSpPr>
          <p:spPr>
            <a:xfrm>
              <a:off x="5621196" y="1883086"/>
              <a:ext cx="1112228" cy="276999"/>
            </a:xfrm>
            <a:prstGeom prst="rect">
              <a:avLst/>
            </a:prstGeom>
            <a:noFill/>
          </p:spPr>
          <p:txBody>
            <a:bodyPr wrap="none" rtlCol="0">
              <a:spAutoFit/>
            </a:bodyPr>
            <a:lstStyle/>
            <a:p>
              <a:r>
                <a:rPr lang="en-US" sz="1200" b="1"/>
                <a:t>Characteristics</a:t>
              </a:r>
              <a:endParaRPr lang="en-GB" sz="1200" b="1"/>
            </a:p>
          </p:txBody>
        </p:sp>
        <p:sp>
          <p:nvSpPr>
            <p:cNvPr id="76" name="TextBox 75">
              <a:extLst>
                <a:ext uri="{FF2B5EF4-FFF2-40B4-BE49-F238E27FC236}">
                  <a16:creationId xmlns:a16="http://schemas.microsoft.com/office/drawing/2014/main" id="{80208434-07ED-8346-2E0B-383A4D0B9112}"/>
                </a:ext>
              </a:extLst>
            </p:cNvPr>
            <p:cNvSpPr txBox="1"/>
            <p:nvPr/>
          </p:nvSpPr>
          <p:spPr>
            <a:xfrm>
              <a:off x="112604" y="3220614"/>
              <a:ext cx="788164" cy="276999"/>
            </a:xfrm>
            <a:prstGeom prst="rect">
              <a:avLst/>
            </a:prstGeom>
            <a:noFill/>
          </p:spPr>
          <p:txBody>
            <a:bodyPr wrap="none" rtlCol="0">
              <a:spAutoFit/>
            </a:bodyPr>
            <a:lstStyle/>
            <a:p>
              <a:r>
                <a:rPr lang="en-US" sz="1200" b="1"/>
                <a:t>Examples</a:t>
              </a:r>
              <a:endParaRPr lang="en-GB" sz="1200" b="1"/>
            </a:p>
          </p:txBody>
        </p:sp>
        <p:sp>
          <p:nvSpPr>
            <p:cNvPr id="77" name="TextBox 76">
              <a:extLst>
                <a:ext uri="{FF2B5EF4-FFF2-40B4-BE49-F238E27FC236}">
                  <a16:creationId xmlns:a16="http://schemas.microsoft.com/office/drawing/2014/main" id="{0935DF0D-FC88-6518-8C1A-81D6953FA128}"/>
                </a:ext>
              </a:extLst>
            </p:cNvPr>
            <p:cNvSpPr txBox="1"/>
            <p:nvPr/>
          </p:nvSpPr>
          <p:spPr>
            <a:xfrm>
              <a:off x="5620447" y="3220615"/>
              <a:ext cx="1172885" cy="276999"/>
            </a:xfrm>
            <a:prstGeom prst="rect">
              <a:avLst/>
            </a:prstGeom>
            <a:noFill/>
          </p:spPr>
          <p:txBody>
            <a:bodyPr wrap="none" rtlCol="0">
              <a:spAutoFit/>
            </a:bodyPr>
            <a:lstStyle/>
            <a:p>
              <a:r>
                <a:rPr lang="en-US" sz="1200" b="1"/>
                <a:t>Non - Examples</a:t>
              </a:r>
              <a:endParaRPr lang="en-GB" sz="1200" b="1"/>
            </a:p>
          </p:txBody>
        </p:sp>
        <p:sp>
          <p:nvSpPr>
            <p:cNvPr id="78" name="TextBox 77">
              <a:extLst>
                <a:ext uri="{FF2B5EF4-FFF2-40B4-BE49-F238E27FC236}">
                  <a16:creationId xmlns:a16="http://schemas.microsoft.com/office/drawing/2014/main" id="{9BB5CA0F-3EE4-13D0-3567-0B56EDA57A95}"/>
                </a:ext>
              </a:extLst>
            </p:cNvPr>
            <p:cNvSpPr txBox="1"/>
            <p:nvPr/>
          </p:nvSpPr>
          <p:spPr>
            <a:xfrm>
              <a:off x="209445" y="2307385"/>
              <a:ext cx="3230335" cy="646331"/>
            </a:xfrm>
            <a:prstGeom prst="rect">
              <a:avLst/>
            </a:prstGeom>
            <a:noFill/>
          </p:spPr>
          <p:txBody>
            <a:bodyPr wrap="square" rtlCol="0">
              <a:spAutoFit/>
            </a:bodyPr>
            <a:lstStyle/>
            <a:p>
              <a:pPr algn="l"/>
              <a:r>
                <a:rPr lang="en-GB" sz="1200" b="0" i="0">
                  <a:solidFill>
                    <a:srgbClr val="0D0D0D"/>
                  </a:solidFill>
                  <a:effectLst/>
                  <a:latin typeface="ui-sans-serif"/>
                </a:rPr>
                <a:t>Values that define the upper and lower limits of a number or function, especially in rounding or error intervals.</a:t>
              </a:r>
            </a:p>
          </p:txBody>
        </p:sp>
        <p:sp>
          <p:nvSpPr>
            <p:cNvPr id="79" name="TextBox 78">
              <a:extLst>
                <a:ext uri="{FF2B5EF4-FFF2-40B4-BE49-F238E27FC236}">
                  <a16:creationId xmlns:a16="http://schemas.microsoft.com/office/drawing/2014/main" id="{2ECD1A80-90FB-B5D6-BD3E-2B9A7AB1E93E}"/>
                </a:ext>
              </a:extLst>
            </p:cNvPr>
            <p:cNvSpPr txBox="1"/>
            <p:nvPr/>
          </p:nvSpPr>
          <p:spPr>
            <a:xfrm>
              <a:off x="3494027" y="2068306"/>
              <a:ext cx="3230335" cy="830997"/>
            </a:xfrm>
            <a:prstGeom prst="rect">
              <a:avLst/>
            </a:prstGeom>
            <a:noFill/>
          </p:spPr>
          <p:txBody>
            <a:bodyPr wrap="square" rtlCol="0">
              <a:spAutoFit/>
            </a:bodyPr>
            <a:lstStyle/>
            <a:p>
              <a:pPr algn="l">
                <a:buFont typeface="Arial" panose="020B0604020202020204" pitchFamily="34" charset="0"/>
                <a:buChar char="•"/>
              </a:pPr>
              <a:r>
                <a:rPr lang="en-GB" sz="1200" b="1" i="0">
                  <a:solidFill>
                    <a:srgbClr val="0D0D0D"/>
                  </a:solidFill>
                  <a:effectLst/>
                </a:rPr>
                <a:t>Upper Bound</a:t>
              </a:r>
              <a:r>
                <a:rPr lang="en-GB" sz="1200" b="0" i="0">
                  <a:solidFill>
                    <a:srgbClr val="0D0D0D"/>
                  </a:solidFill>
                  <a:effectLst/>
                </a:rPr>
                <a:t>: The maximum value a number or measurement can be.</a:t>
              </a:r>
            </a:p>
            <a:p>
              <a:pPr algn="l">
                <a:buFont typeface="Arial" panose="020B0604020202020204" pitchFamily="34" charset="0"/>
                <a:buChar char="•"/>
              </a:pPr>
              <a:r>
                <a:rPr lang="en-GB" sz="1200" b="1" i="0">
                  <a:solidFill>
                    <a:srgbClr val="0D0D0D"/>
                  </a:solidFill>
                  <a:effectLst/>
                </a:rPr>
                <a:t>Lower Bound</a:t>
              </a:r>
              <a:r>
                <a:rPr lang="en-GB" sz="1200" b="0" i="0">
                  <a:solidFill>
                    <a:srgbClr val="0D0D0D"/>
                  </a:solidFill>
                  <a:effectLst/>
                </a:rPr>
                <a:t>: The minimum value a number or measurement can be.</a:t>
              </a:r>
            </a:p>
          </p:txBody>
        </p:sp>
        <p:sp>
          <p:nvSpPr>
            <p:cNvPr id="80" name="TextBox 79">
              <a:extLst>
                <a:ext uri="{FF2B5EF4-FFF2-40B4-BE49-F238E27FC236}">
                  <a16:creationId xmlns:a16="http://schemas.microsoft.com/office/drawing/2014/main" id="{9722B574-9707-4DD3-A0A9-D759480C7447}"/>
                </a:ext>
              </a:extLst>
            </p:cNvPr>
            <p:cNvSpPr txBox="1"/>
            <p:nvPr/>
          </p:nvSpPr>
          <p:spPr>
            <a:xfrm>
              <a:off x="2998667" y="2959114"/>
              <a:ext cx="886781" cy="369332"/>
            </a:xfrm>
            <a:prstGeom prst="rect">
              <a:avLst/>
            </a:prstGeom>
            <a:solidFill>
              <a:schemeClr val="bg1"/>
            </a:solidFill>
            <a:ln>
              <a:solidFill>
                <a:schemeClr val="tx1"/>
              </a:solidFill>
            </a:ln>
          </p:spPr>
          <p:txBody>
            <a:bodyPr wrap="none" rtlCol="0">
              <a:spAutoFit/>
            </a:bodyPr>
            <a:lstStyle/>
            <a:p>
              <a:r>
                <a:rPr lang="en-US"/>
                <a:t>Bounds</a:t>
              </a:r>
              <a:endParaRPr lang="en-GB"/>
            </a:p>
          </p:txBody>
        </p:sp>
        <p:sp>
          <p:nvSpPr>
            <p:cNvPr id="81" name="TextBox 80">
              <a:extLst>
                <a:ext uri="{FF2B5EF4-FFF2-40B4-BE49-F238E27FC236}">
                  <a16:creationId xmlns:a16="http://schemas.microsoft.com/office/drawing/2014/main" id="{D0BF9BDC-2960-DA17-0744-AE3E0157B512}"/>
                </a:ext>
              </a:extLst>
            </p:cNvPr>
            <p:cNvSpPr txBox="1"/>
            <p:nvPr/>
          </p:nvSpPr>
          <p:spPr>
            <a:xfrm>
              <a:off x="152000" y="3527845"/>
              <a:ext cx="3230335" cy="461665"/>
            </a:xfrm>
            <a:prstGeom prst="rect">
              <a:avLst/>
            </a:prstGeom>
            <a:noFill/>
          </p:spPr>
          <p:txBody>
            <a:bodyPr wrap="square" rtlCol="0">
              <a:spAutoFit/>
            </a:bodyPr>
            <a:lstStyle/>
            <a:p>
              <a:pPr algn="l"/>
              <a:r>
                <a:rPr lang="en-GB" sz="1200">
                  <a:solidFill>
                    <a:srgbClr val="0D0D0D"/>
                  </a:solidFill>
                  <a:latin typeface="ui-sans-serif"/>
                </a:rPr>
                <a:t>When 15 is rounded to the nearest integer, the lower bound is 14.5 and the upper bound is 15.5</a:t>
              </a:r>
              <a:endParaRPr lang="en-GB" sz="1200" b="0" i="0">
                <a:solidFill>
                  <a:srgbClr val="0D0D0D"/>
                </a:solidFill>
                <a:effectLst/>
                <a:latin typeface="ui-sans-serif"/>
              </a:endParaRPr>
            </a:p>
          </p:txBody>
        </p:sp>
        <p:sp>
          <p:nvSpPr>
            <p:cNvPr id="82" name="TextBox 81">
              <a:extLst>
                <a:ext uri="{FF2B5EF4-FFF2-40B4-BE49-F238E27FC236}">
                  <a16:creationId xmlns:a16="http://schemas.microsoft.com/office/drawing/2014/main" id="{FCDC4B5A-F546-B038-1104-2E5E3B24AD26}"/>
                </a:ext>
              </a:extLst>
            </p:cNvPr>
            <p:cNvSpPr txBox="1"/>
            <p:nvPr/>
          </p:nvSpPr>
          <p:spPr>
            <a:xfrm>
              <a:off x="3475666" y="3539279"/>
              <a:ext cx="3230335" cy="461665"/>
            </a:xfrm>
            <a:prstGeom prst="rect">
              <a:avLst/>
            </a:prstGeom>
            <a:noFill/>
          </p:spPr>
          <p:txBody>
            <a:bodyPr wrap="square" rtlCol="0">
              <a:spAutoFit/>
            </a:bodyPr>
            <a:lstStyle/>
            <a:p>
              <a:pPr algn="l"/>
              <a:r>
                <a:rPr lang="en-GB" sz="1200">
                  <a:solidFill>
                    <a:srgbClr val="0D0D0D"/>
                  </a:solidFill>
                  <a:latin typeface="ui-sans-serif"/>
                </a:rPr>
                <a:t>When 15 is rounded to the nearest integer, the lower bound is 14 and the upper bound is 15.4</a:t>
              </a:r>
              <a:endParaRPr lang="en-GB" sz="1200" b="0" i="0">
                <a:solidFill>
                  <a:srgbClr val="0D0D0D"/>
                </a:solidFill>
                <a:effectLst/>
                <a:latin typeface="ui-sans-serif"/>
              </a:endParaRPr>
            </a:p>
          </p:txBody>
        </p:sp>
      </p:grpSp>
    </p:spTree>
    <p:extLst>
      <p:ext uri="{BB962C8B-B14F-4D97-AF65-F5344CB8AC3E}">
        <p14:creationId xmlns:p14="http://schemas.microsoft.com/office/powerpoint/2010/main" val="3802529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a:xfrm>
            <a:off x="5378450" y="9580707"/>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AC344352-2C08-ACEF-1266-BF30891A91B9}"/>
              </a:ext>
            </a:extLst>
          </p:cNvPr>
          <p:cNvSpPr/>
          <p:nvPr/>
        </p:nvSpPr>
        <p:spPr>
          <a:xfrm>
            <a:off x="44707" y="130009"/>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14" name="TextBox 13">
            <a:extLst>
              <a:ext uri="{FF2B5EF4-FFF2-40B4-BE49-F238E27FC236}">
                <a16:creationId xmlns:a16="http://schemas.microsoft.com/office/drawing/2014/main" id="{D07F80AE-F56F-521A-7B3A-06ECDDAD56B3}"/>
              </a:ext>
            </a:extLst>
          </p:cNvPr>
          <p:cNvSpPr txBox="1"/>
          <p:nvPr/>
        </p:nvSpPr>
        <p:spPr>
          <a:xfrm>
            <a:off x="53162" y="646658"/>
            <a:ext cx="3297406" cy="4154984"/>
          </a:xfrm>
          <a:prstGeom prst="rect">
            <a:avLst/>
          </a:prstGeom>
          <a:noFill/>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1. Steve measures the length and width of a rectangle as 600mm and 400mm, both correct to 10mm.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rPr>
              <a:t>Find the upper and lower bounds for the perimeter of the rectangle.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Upper bound =                           </a:t>
            </a:r>
            <a:r>
              <a:rPr lang="en-US" sz="1200">
                <a:solidFill>
                  <a:prstClr val="black"/>
                </a:solidFill>
                <a:latin typeface="+mn-lt"/>
              </a:rPr>
              <a:t>Lower bound =</a:t>
            </a: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p:txBody>
      </p:sp>
      <p:sp>
        <p:nvSpPr>
          <p:cNvPr id="15" name="Rectangle 14">
            <a:extLst>
              <a:ext uri="{FF2B5EF4-FFF2-40B4-BE49-F238E27FC236}">
                <a16:creationId xmlns:a16="http://schemas.microsoft.com/office/drawing/2014/main" id="{600AB5D3-637B-060F-B37F-399EC14D2651}"/>
              </a:ext>
            </a:extLst>
          </p:cNvPr>
          <p:cNvSpPr/>
          <p:nvPr/>
        </p:nvSpPr>
        <p:spPr>
          <a:xfrm>
            <a:off x="125093" y="442371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6" name="Rectangle 15">
            <a:extLst>
              <a:ext uri="{FF2B5EF4-FFF2-40B4-BE49-F238E27FC236}">
                <a16:creationId xmlns:a16="http://schemas.microsoft.com/office/drawing/2014/main" id="{73A6570E-12D6-46E2-D591-986D2DE3CEEA}"/>
              </a:ext>
            </a:extLst>
          </p:cNvPr>
          <p:cNvSpPr/>
          <p:nvPr/>
        </p:nvSpPr>
        <p:spPr>
          <a:xfrm>
            <a:off x="1854075" y="441697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7" name="TextBox 16">
            <a:extLst>
              <a:ext uri="{FF2B5EF4-FFF2-40B4-BE49-F238E27FC236}">
                <a16:creationId xmlns:a16="http://schemas.microsoft.com/office/drawing/2014/main" id="{A9B98C50-5754-75E9-95F4-04F20C554FF1}"/>
              </a:ext>
            </a:extLst>
          </p:cNvPr>
          <p:cNvSpPr txBox="1"/>
          <p:nvPr/>
        </p:nvSpPr>
        <p:spPr>
          <a:xfrm>
            <a:off x="3429000" y="646658"/>
            <a:ext cx="3297406" cy="4154984"/>
          </a:xfrm>
          <a:prstGeom prst="rect">
            <a:avLst/>
          </a:prstGeom>
          <a:noFill/>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2. Ola’s weight is 47kg, correct to the nearest kg. Tia’s weight is 55kg, also correct to the nearest kg. Find the upper and the lower bounds of the total weight of the two girls.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Upper bound =                           </a:t>
            </a:r>
            <a:r>
              <a:rPr lang="en-US" sz="1200">
                <a:solidFill>
                  <a:prstClr val="black"/>
                </a:solidFill>
                <a:latin typeface="+mn-lt"/>
              </a:rPr>
              <a:t>Lower bound =</a:t>
            </a: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p:txBody>
      </p:sp>
      <p:sp>
        <p:nvSpPr>
          <p:cNvPr id="19" name="Rectangle 18">
            <a:extLst>
              <a:ext uri="{FF2B5EF4-FFF2-40B4-BE49-F238E27FC236}">
                <a16:creationId xmlns:a16="http://schemas.microsoft.com/office/drawing/2014/main" id="{B08C7CC8-5D75-A250-C441-5E4787B7A91C}"/>
              </a:ext>
            </a:extLst>
          </p:cNvPr>
          <p:cNvSpPr/>
          <p:nvPr/>
        </p:nvSpPr>
        <p:spPr>
          <a:xfrm>
            <a:off x="3500931" y="442371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0" name="Rectangle 19">
            <a:extLst>
              <a:ext uri="{FF2B5EF4-FFF2-40B4-BE49-F238E27FC236}">
                <a16:creationId xmlns:a16="http://schemas.microsoft.com/office/drawing/2014/main" id="{DEB6C9E1-D735-6F71-4592-520BEF1C7580}"/>
              </a:ext>
            </a:extLst>
          </p:cNvPr>
          <p:cNvSpPr/>
          <p:nvPr/>
        </p:nvSpPr>
        <p:spPr>
          <a:xfrm>
            <a:off x="5229913" y="441697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TextBox 9">
            <a:extLst>
              <a:ext uri="{FF2B5EF4-FFF2-40B4-BE49-F238E27FC236}">
                <a16:creationId xmlns:a16="http://schemas.microsoft.com/office/drawing/2014/main" id="{76885BC1-F34F-6577-D4F9-674BEF1008E9}"/>
              </a:ext>
            </a:extLst>
          </p:cNvPr>
          <p:cNvSpPr txBox="1"/>
          <p:nvPr/>
        </p:nvSpPr>
        <p:spPr>
          <a:xfrm>
            <a:off x="53162" y="5000625"/>
            <a:ext cx="3297406" cy="4524315"/>
          </a:xfrm>
          <a:prstGeom prst="rect">
            <a:avLst/>
          </a:prstGeom>
          <a:noFill/>
          <a:ln>
            <a:solidFill>
              <a:schemeClr val="tx1"/>
            </a:solidFill>
          </a:ln>
        </p:spPr>
        <p:txBody>
          <a:bodyPr wrap="square">
            <a:spAutoFit/>
          </a:bodyPr>
          <a:lstStyle/>
          <a:p>
            <a:pPr defTabSz="914400">
              <a:defRPr/>
            </a:pPr>
            <a:r>
              <a:rPr kumimoji="0" lang="en-GB" sz="1200" b="0" i="0" u="none" strike="noStrike" kern="1200" cap="none" spc="0" normalizeH="0" baseline="0" noProof="0">
                <a:ln>
                  <a:noFill/>
                </a:ln>
                <a:solidFill>
                  <a:prstClr val="black"/>
                </a:solidFill>
                <a:effectLst/>
                <a:uLnTx/>
                <a:uFillTx/>
                <a:latin typeface="+mn-lt"/>
                <a:ea typeface="+mn-ea"/>
                <a:cs typeface="+mn-cs"/>
              </a:rPr>
              <a:t>3. The length</a:t>
            </a:r>
            <a:r>
              <a:rPr lang="en-GB" sz="1200">
                <a:solidFill>
                  <a:prstClr val="black"/>
                </a:solidFill>
              </a:rPr>
              <a:t> </a:t>
            </a:r>
            <a:r>
              <a:rPr kumimoji="0" lang="en-GB" sz="1200" b="0" i="0" u="none" strike="noStrike" kern="1200" cap="none" spc="0" normalizeH="0" baseline="0" noProof="0">
                <a:ln>
                  <a:noFill/>
                </a:ln>
                <a:solidFill>
                  <a:prstClr val="black"/>
                </a:solidFill>
                <a:effectLst/>
                <a:uLnTx/>
                <a:uFillTx/>
                <a:latin typeface="+mn-lt"/>
                <a:ea typeface="+mn-ea"/>
                <a:cs typeface="+mn-cs"/>
              </a:rPr>
              <a:t>of each side of a regular hexagon</a:t>
            </a:r>
            <a:r>
              <a:rPr lang="en-GB" sz="1200">
                <a:solidFill>
                  <a:prstClr val="black"/>
                </a:solidFill>
              </a:rPr>
              <a:t> </a:t>
            </a:r>
            <a:r>
              <a:rPr kumimoji="0" lang="en-GB" sz="1200" b="0" i="0" u="none" strike="noStrike" kern="1200" cap="none" spc="0" normalizeH="0" baseline="0" noProof="0">
                <a:ln>
                  <a:noFill/>
                </a:ln>
                <a:solidFill>
                  <a:prstClr val="black"/>
                </a:solidFill>
                <a:effectLst/>
                <a:uLnTx/>
                <a:uFillTx/>
                <a:latin typeface="+mn-lt"/>
                <a:ea typeface="+mn-ea"/>
                <a:cs typeface="+mn-cs"/>
              </a:rPr>
              <a:t>is 4.7cm to 1 decimal place.</a:t>
            </a:r>
          </a:p>
          <a:p>
            <a:pPr marR="0" lvl="0" defTabSz="914400" rtl="0" eaLnBrk="1" fontAlgn="auto" latinLnBrk="0" hangingPunct="1">
              <a:lnSpc>
                <a:spcPct val="100000"/>
              </a:lnSpc>
              <a:spcBef>
                <a:spcPts val="0"/>
              </a:spcBef>
              <a:spcAft>
                <a:spcPts val="0"/>
              </a:spcAft>
              <a:buClrTx/>
              <a:buSzTx/>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R="0" lvl="0" defTabSz="914400" rtl="0" eaLnBrk="1" fontAlgn="auto" latinLnBrk="0" hangingPunct="1">
              <a:lnSpc>
                <a:spcPct val="100000"/>
              </a:lnSpc>
              <a:spcBef>
                <a:spcPts val="0"/>
              </a:spcBef>
              <a:spcAft>
                <a:spcPts val="0"/>
              </a:spcAft>
              <a:buClrTx/>
              <a:buSzTx/>
              <a:tabLst/>
              <a:defRPr/>
            </a:pPr>
            <a:r>
              <a:rPr lang="en-US" sz="1200">
                <a:solidFill>
                  <a:prstClr val="black"/>
                </a:solidFill>
              </a:rPr>
              <a:t>Work out the upper and lower bound of the perimeter.</a:t>
            </a: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Upper bound =                           </a:t>
            </a:r>
            <a:r>
              <a:rPr lang="en-US" sz="1200">
                <a:solidFill>
                  <a:prstClr val="black"/>
                </a:solidFill>
                <a:latin typeface="+mn-lt"/>
              </a:rPr>
              <a:t>Lower bound =</a:t>
            </a: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p:txBody>
      </p:sp>
      <p:sp>
        <p:nvSpPr>
          <p:cNvPr id="13" name="Rectangle 12">
            <a:extLst>
              <a:ext uri="{FF2B5EF4-FFF2-40B4-BE49-F238E27FC236}">
                <a16:creationId xmlns:a16="http://schemas.microsoft.com/office/drawing/2014/main" id="{5F7D066D-33B8-D1CD-F65B-C61149E03523}"/>
              </a:ext>
            </a:extLst>
          </p:cNvPr>
          <p:cNvSpPr/>
          <p:nvPr/>
        </p:nvSpPr>
        <p:spPr>
          <a:xfrm>
            <a:off x="125093" y="911543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8" name="Rectangle 17">
            <a:extLst>
              <a:ext uri="{FF2B5EF4-FFF2-40B4-BE49-F238E27FC236}">
                <a16:creationId xmlns:a16="http://schemas.microsoft.com/office/drawing/2014/main" id="{BD5D4731-6931-ECD9-C0A3-391DB3457330}"/>
              </a:ext>
            </a:extLst>
          </p:cNvPr>
          <p:cNvSpPr/>
          <p:nvPr/>
        </p:nvSpPr>
        <p:spPr>
          <a:xfrm>
            <a:off x="1854075" y="910869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 name="TextBox 20">
            <a:extLst>
              <a:ext uri="{FF2B5EF4-FFF2-40B4-BE49-F238E27FC236}">
                <a16:creationId xmlns:a16="http://schemas.microsoft.com/office/drawing/2014/main" id="{6C703401-63C8-FEF6-E7A0-46A6203CC3A9}"/>
              </a:ext>
            </a:extLst>
          </p:cNvPr>
          <p:cNvSpPr txBox="1"/>
          <p:nvPr/>
        </p:nvSpPr>
        <p:spPr>
          <a:xfrm>
            <a:off x="3429000" y="5000625"/>
            <a:ext cx="3297406" cy="4524315"/>
          </a:xfrm>
          <a:prstGeom prst="rect">
            <a:avLst/>
          </a:prstGeom>
          <a:noFill/>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rPr>
              <a:t>4. Grace and George complete a crossword. It takes Grace 9 minutes to complete	the crossword	to the nearest minute. It takes George 11 minutes to complete the crossword to the nearest minute.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rPr>
              <a:t>Work out the upper and lower bound of the total time taken to complete the crossword.	</a:t>
            </a: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Upper bound =                           </a:t>
            </a:r>
            <a:r>
              <a:rPr lang="en-US" sz="1200">
                <a:solidFill>
                  <a:prstClr val="black"/>
                </a:solidFill>
                <a:latin typeface="+mn-lt"/>
              </a:rPr>
              <a:t>Lower bound =</a:t>
            </a: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p:txBody>
      </p:sp>
      <p:sp>
        <p:nvSpPr>
          <p:cNvPr id="22" name="Rectangle 21">
            <a:extLst>
              <a:ext uri="{FF2B5EF4-FFF2-40B4-BE49-F238E27FC236}">
                <a16:creationId xmlns:a16="http://schemas.microsoft.com/office/drawing/2014/main" id="{44B190CB-6394-DF51-8B51-1CF95A7167FD}"/>
              </a:ext>
            </a:extLst>
          </p:cNvPr>
          <p:cNvSpPr/>
          <p:nvPr/>
        </p:nvSpPr>
        <p:spPr>
          <a:xfrm>
            <a:off x="3500931" y="912217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3" name="Rectangle 22">
            <a:extLst>
              <a:ext uri="{FF2B5EF4-FFF2-40B4-BE49-F238E27FC236}">
                <a16:creationId xmlns:a16="http://schemas.microsoft.com/office/drawing/2014/main" id="{B2936179-25CF-910E-D084-DA970F897166}"/>
              </a:ext>
            </a:extLst>
          </p:cNvPr>
          <p:cNvSpPr/>
          <p:nvPr/>
        </p:nvSpPr>
        <p:spPr>
          <a:xfrm>
            <a:off x="5229913" y="911543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Tree>
    <p:extLst>
      <p:ext uri="{BB962C8B-B14F-4D97-AF65-F5344CB8AC3E}">
        <p14:creationId xmlns:p14="http://schemas.microsoft.com/office/powerpoint/2010/main" val="201419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4D68C-F0CF-DDD7-7F1F-D32E9F491A2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10863A-0353-201B-1E0C-59D30AA9ECB6}"/>
              </a:ext>
            </a:extLst>
          </p:cNvPr>
          <p:cNvSpPr>
            <a:spLocks noGrp="1"/>
          </p:cNvSpPr>
          <p:nvPr>
            <p:ph type="sldNum" sz="quarter" idx="12"/>
          </p:nvPr>
        </p:nvSpPr>
        <p:spPr/>
        <p:txBody>
          <a:bodyPr/>
          <a:lstStyle/>
          <a:p>
            <a:fld id="{19F1D9CC-7119-45EC-A96C-D8C0660F3AAB}" type="slidenum">
              <a:rPr lang="en-GB" smtClean="0"/>
              <a:t>15</a:t>
            </a:fld>
            <a:endParaRPr lang="en-GB"/>
          </a:p>
        </p:txBody>
      </p:sp>
      <p:sp>
        <p:nvSpPr>
          <p:cNvPr id="5" name="Rectangle 4">
            <a:extLst>
              <a:ext uri="{FF2B5EF4-FFF2-40B4-BE49-F238E27FC236}">
                <a16:creationId xmlns:a16="http://schemas.microsoft.com/office/drawing/2014/main" id="{8A3A6291-DECF-4370-A32D-4DC6D4FFDCC7}"/>
              </a:ext>
            </a:extLst>
          </p:cNvPr>
          <p:cNvSpPr/>
          <p:nvPr/>
        </p:nvSpPr>
        <p:spPr>
          <a:xfrm>
            <a:off x="-1" y="1"/>
            <a:ext cx="6858001" cy="40755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t>GCSE Past Paper Questions</a:t>
            </a:r>
          </a:p>
        </p:txBody>
      </p:sp>
      <p:pic>
        <p:nvPicPr>
          <p:cNvPr id="6" name="Picture 5" descr="A paper with text on it&#10;&#10;AI-generated content may be incorrect.">
            <a:extLst>
              <a:ext uri="{FF2B5EF4-FFF2-40B4-BE49-F238E27FC236}">
                <a16:creationId xmlns:a16="http://schemas.microsoft.com/office/drawing/2014/main" id="{53A19373-CFDD-09F3-5841-2CC93A982D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17217"/>
            <a:ext cx="6548131" cy="8323895"/>
          </a:xfrm>
          <a:prstGeom prst="rect">
            <a:avLst/>
          </a:prstGeom>
        </p:spPr>
      </p:pic>
    </p:spTree>
    <p:extLst>
      <p:ext uri="{BB962C8B-B14F-4D97-AF65-F5344CB8AC3E}">
        <p14:creationId xmlns:p14="http://schemas.microsoft.com/office/powerpoint/2010/main" val="1428088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9C9C8-A464-E43E-7E79-3CFCA23C51A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8E7D13-66E6-3823-A22E-42636AEFD46A}"/>
              </a:ext>
            </a:extLst>
          </p:cNvPr>
          <p:cNvSpPr>
            <a:spLocks noGrp="1"/>
          </p:cNvSpPr>
          <p:nvPr>
            <p:ph type="sldNum" sz="quarter" idx="12"/>
          </p:nvPr>
        </p:nvSpPr>
        <p:spPr/>
        <p:txBody>
          <a:bodyPr/>
          <a:lstStyle/>
          <a:p>
            <a:fld id="{19F1D9CC-7119-45EC-A96C-D8C0660F3AAB}" type="slidenum">
              <a:rPr lang="en-GB" smtClean="0"/>
              <a:t>16</a:t>
            </a:fld>
            <a:endParaRPr lang="en-GB"/>
          </a:p>
        </p:txBody>
      </p:sp>
      <p:pic>
        <p:nvPicPr>
          <p:cNvPr id="4" name="Picture 3" descr="A paper with text and numbers&#10;&#10;AI-generated content may be incorrect.">
            <a:extLst>
              <a:ext uri="{FF2B5EF4-FFF2-40B4-BE49-F238E27FC236}">
                <a16:creationId xmlns:a16="http://schemas.microsoft.com/office/drawing/2014/main" id="{0B5B497D-EF3F-93F8-16AE-6C7071A12E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224" y="197200"/>
            <a:ext cx="6665551" cy="8193501"/>
          </a:xfrm>
          <a:prstGeom prst="rect">
            <a:avLst/>
          </a:prstGeom>
        </p:spPr>
      </p:pic>
    </p:spTree>
    <p:extLst>
      <p:ext uri="{BB962C8B-B14F-4D97-AF65-F5344CB8AC3E}">
        <p14:creationId xmlns:p14="http://schemas.microsoft.com/office/powerpoint/2010/main" val="19925988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5" ma:contentTypeDescription="Create a new document." ma:contentTypeScope="" ma:versionID="e238da7da78697d1fe4891d3ac25b45a">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372ff361b2b60b6ed47f8a13d178c3d7"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6D76E5-7287-49DC-AF93-B1F4EB3F8258}">
  <ds:schemaRefs>
    <ds:schemaRef ds:uri="http://purl.org/dc/terms/"/>
    <ds:schemaRef ds:uri="http://purl.org/dc/dcmitype/"/>
    <ds:schemaRef ds:uri="http://schemas.microsoft.com/office/2006/documentManagement/types"/>
    <ds:schemaRef ds:uri="http://schemas.microsoft.com/office/2006/metadata/properties"/>
    <ds:schemaRef ds:uri="608ebbb4-e88b-4c99-b506-21d9362781c6"/>
    <ds:schemaRef ds:uri="http://purl.org/dc/elements/1.1/"/>
    <ds:schemaRef ds:uri="http://schemas.microsoft.com/office/infopath/2007/PartnerControls"/>
    <ds:schemaRef ds:uri="http://schemas.openxmlformats.org/package/2006/metadata/core-properties"/>
    <ds:schemaRef ds:uri="e30b71df-48f4-4db7-95c3-a9033c265cb9"/>
    <ds:schemaRef ds:uri="http://www.w3.org/XML/1998/namespace"/>
  </ds:schemaRefs>
</ds:datastoreItem>
</file>

<file path=customXml/itemProps2.xml><?xml version="1.0" encoding="utf-8"?>
<ds:datastoreItem xmlns:ds="http://schemas.openxmlformats.org/officeDocument/2006/customXml" ds:itemID="{608CC0EE-6BD2-49A5-B9D5-849A50B03AF3}">
  <ds:schemaRefs>
    <ds:schemaRef ds:uri="http://schemas.microsoft.com/sharepoint/v3/contenttype/forms"/>
  </ds:schemaRefs>
</ds:datastoreItem>
</file>

<file path=customXml/itemProps3.xml><?xml version="1.0" encoding="utf-8"?>
<ds:datastoreItem xmlns:ds="http://schemas.openxmlformats.org/officeDocument/2006/customXml" ds:itemID="{62B657D7-1B2E-41F7-8460-E8227C013EF7}"/>
</file>

<file path=docProps/app.xml><?xml version="1.0" encoding="utf-8"?>
<Properties xmlns="http://schemas.openxmlformats.org/officeDocument/2006/extended-properties" xmlns:vt="http://schemas.openxmlformats.org/officeDocument/2006/docPropsVTypes">
  <Template>Office Theme</Template>
  <TotalTime>0</TotalTime>
  <Words>3521</Words>
  <Application>Microsoft Office PowerPoint</Application>
  <PresentationFormat>A4 Paper (210x297 mm)</PresentationFormat>
  <Paragraphs>858</Paragraphs>
  <Slides>16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Cambria Math</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Wasiq Razaq (Astrea Academy Sheffield)</dc:creator>
  <cp:lastModifiedBy>Adam Brown (Astrea Central)</cp:lastModifiedBy>
  <cp:revision>8</cp:revision>
  <cp:lastPrinted>2021-07-09T14:20:41Z</cp:lastPrinted>
  <dcterms:created xsi:type="dcterms:W3CDTF">2020-02-27T07:22:26Z</dcterms:created>
  <dcterms:modified xsi:type="dcterms:W3CDTF">2025-10-02T11:06:56Z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y fmtid="{D5CDD505-2E9C-101B-9397-08002B2CF9AE}" pid="3" name="Order">
    <vt:r8>12500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ComplianceAssetId">
    <vt:lpwstr/>
  </property>
  <property fmtid="{D5CDD505-2E9C-101B-9397-08002B2CF9AE}" pid="9" name="TemplateUrl">
    <vt:lpwstr/>
  </property>
</Properties>
</file>